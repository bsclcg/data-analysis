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672" r:id="rId5"/>
  </p:sldMasterIdLst>
  <p:notesMasterIdLst>
    <p:notesMasterId r:id="rId28"/>
  </p:notesMasterIdLst>
  <p:sldIdLst>
    <p:sldId id="376" r:id="rId6"/>
    <p:sldId id="429" r:id="rId7"/>
    <p:sldId id="430" r:id="rId8"/>
    <p:sldId id="431" r:id="rId9"/>
    <p:sldId id="381" r:id="rId10"/>
    <p:sldId id="387" r:id="rId11"/>
    <p:sldId id="433" r:id="rId12"/>
    <p:sldId id="434" r:id="rId13"/>
    <p:sldId id="435" r:id="rId14"/>
    <p:sldId id="436" r:id="rId15"/>
    <p:sldId id="438" r:id="rId16"/>
    <p:sldId id="441" r:id="rId17"/>
    <p:sldId id="388" r:id="rId18"/>
    <p:sldId id="442" r:id="rId19"/>
    <p:sldId id="437" r:id="rId20"/>
    <p:sldId id="439" r:id="rId21"/>
    <p:sldId id="440" r:id="rId22"/>
    <p:sldId id="443" r:id="rId23"/>
    <p:sldId id="445" r:id="rId24"/>
    <p:sldId id="446" r:id="rId25"/>
    <p:sldId id="447" r:id="rId26"/>
    <p:sldId id="397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6BF1E331-C3E1-437F-80DF-544E86021793}">
          <p14:sldIdLst>
            <p14:sldId id="376"/>
            <p14:sldId id="429"/>
            <p14:sldId id="430"/>
            <p14:sldId id="431"/>
            <p14:sldId id="381"/>
            <p14:sldId id="387"/>
            <p14:sldId id="433"/>
            <p14:sldId id="434"/>
            <p14:sldId id="435"/>
            <p14:sldId id="436"/>
            <p14:sldId id="438"/>
            <p14:sldId id="441"/>
            <p14:sldId id="388"/>
            <p14:sldId id="442"/>
            <p14:sldId id="437"/>
            <p14:sldId id="439"/>
            <p14:sldId id="440"/>
            <p14:sldId id="443"/>
            <p14:sldId id="445"/>
            <p14:sldId id="446"/>
            <p14:sldId id="447"/>
            <p14:sldId id="39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FAC228"/>
    <a:srgbClr val="D44842"/>
    <a:srgbClr val="9F2A63"/>
    <a:srgbClr val="FFC000"/>
    <a:srgbClr val="DF102C"/>
    <a:srgbClr val="FBEFEF"/>
    <a:srgbClr val="FDE5D0"/>
    <a:srgbClr val="F26665"/>
    <a:srgbClr val="FFCC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0AD983D-72F1-2393-9E1F-F8C78866846D}" v="1" dt="2026-02-24T21:34:55.30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7" d="100"/>
          <a:sy n="147" d="100"/>
        </p:scale>
        <p:origin x="696" y="11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34" Type="http://schemas.microsoft.com/office/2015/10/relationships/revisionInfo" Target="revisionInfo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viewProps" Target="viewProps.xml"/><Relationship Id="rId8" Type="http://schemas.openxmlformats.org/officeDocument/2006/relationships/slide" Target="slides/slide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is Carlos Guevara Hernandez" userId="946bcc4c-b146-4724-978c-751fab731e0a" providerId="ADAL" clId="{E8E95438-7D72-4151-95E2-CCAFE31D1FDF}"/>
    <pc:docChg chg="undo custSel modSld">
      <pc:chgData name="Luis Carlos Guevara Hernandez" userId="946bcc4c-b146-4724-978c-751fab731e0a" providerId="ADAL" clId="{E8E95438-7D72-4151-95E2-CCAFE31D1FDF}" dt="2026-02-08T22:46:38.579" v="6"/>
      <pc:docMkLst>
        <pc:docMk/>
      </pc:docMkLst>
      <pc:sldChg chg="addSp delSp modSp mod">
        <pc:chgData name="Luis Carlos Guevara Hernandez" userId="946bcc4c-b146-4724-978c-751fab731e0a" providerId="ADAL" clId="{E8E95438-7D72-4151-95E2-CCAFE31D1FDF}" dt="2026-02-08T22:46:38.579" v="6"/>
        <pc:sldMkLst>
          <pc:docMk/>
          <pc:sldMk cId="79635848" sldId="397"/>
        </pc:sldMkLst>
        <pc:picChg chg="mod">
          <ac:chgData name="Luis Carlos Guevara Hernandez" userId="946bcc4c-b146-4724-978c-751fab731e0a" providerId="ADAL" clId="{E8E95438-7D72-4151-95E2-CCAFE31D1FDF}" dt="2026-02-08T22:46:33.876" v="4"/>
          <ac:picMkLst>
            <pc:docMk/>
            <pc:sldMk cId="79635848" sldId="397"/>
            <ac:picMk id="7" creationId="{51090CF5-35AF-8012-7451-0BA06505C867}"/>
          </ac:picMkLst>
        </pc:picChg>
        <pc:picChg chg="add del mod">
          <ac:chgData name="Luis Carlos Guevara Hernandez" userId="946bcc4c-b146-4724-978c-751fab731e0a" providerId="ADAL" clId="{E8E95438-7D72-4151-95E2-CCAFE31D1FDF}" dt="2026-02-08T22:46:38.579" v="6"/>
          <ac:picMkLst>
            <pc:docMk/>
            <pc:sldMk cId="79635848" sldId="397"/>
            <ac:picMk id="10" creationId="{91238C1F-C295-F285-7D44-D16BF47A07F3}"/>
          </ac:picMkLst>
        </pc:picChg>
      </pc:sldChg>
    </pc:docChg>
  </pc:docChgLst>
  <pc:docChgLst>
    <pc:chgData name="Sara Catalina Castrillón Benjumea" userId="S::sara.castrillon@est.uexternado.edu.co::4c451f3b-3cfe-4c03-87e8-507a978e1a8e" providerId="AD" clId="Web-{60AD983D-72F1-2393-9E1F-F8C78866846D}"/>
    <pc:docChg chg="sldOrd">
      <pc:chgData name="Sara Catalina Castrillón Benjumea" userId="S::sara.castrillon@est.uexternado.edu.co::4c451f3b-3cfe-4c03-87e8-507a978e1a8e" providerId="AD" clId="Web-{60AD983D-72F1-2393-9E1F-F8C78866846D}" dt="2026-02-24T21:34:55.305" v="0"/>
      <pc:docMkLst>
        <pc:docMk/>
      </pc:docMkLst>
      <pc:sldChg chg="ord">
        <pc:chgData name="Sara Catalina Castrillón Benjumea" userId="S::sara.castrillon@est.uexternado.edu.co::4c451f3b-3cfe-4c03-87e8-507a978e1a8e" providerId="AD" clId="Web-{60AD983D-72F1-2393-9E1F-F8C78866846D}" dt="2026-02-24T21:34:55.305" v="0"/>
        <pc:sldMkLst>
          <pc:docMk/>
          <pc:sldMk cId="1033980793" sldId="381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4FB681-422F-492A-A538-67B2BCA02B73}" type="datetimeFigureOut">
              <a:rPr lang="en-GB" smtClean="0"/>
              <a:t>24/02/2026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28808D-F8FF-4F45-9B49-F778C5ECCDC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858911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14FE5E-275E-CD26-A231-E68B74E96F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D5C074-8917-C434-5410-1D2D5D1957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A9A3A8-5087-E63A-0564-E49B956982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D23BFF-7FB5-FE9D-C575-30796524A7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528808D-F8FF-4F45-9B49-F778C5ECCDCA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975100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5E8BEB-CE78-E241-2B6F-CA851A7872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E4766F-C934-37B1-7DD1-1A6448301C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C71ACE-83B7-FDA1-8387-0F8034672F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F16B75-5CFE-6703-22A8-62439BFF60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528808D-F8FF-4F45-9B49-F778C5ECCDCA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70482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1D6472-5A95-0A55-5444-D7473CFA12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47DD44-91C2-DA92-942F-BE13F61D91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36CECC-52CB-6197-BCC2-BCFA9309D4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5D7A86-166F-40BF-CCF5-5267174D06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528808D-F8FF-4F45-9B49-F778C5ECCDCA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733441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481C3A-8DE0-316B-C1C5-F57BA83784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B0CF99-A874-84A0-D087-E2F0E14E5B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BB649F-7607-551B-6B6F-03345D0514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BBF614-CAEB-4809-3CAE-3D09478C5C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528808D-F8FF-4F45-9B49-F778C5ECCDCA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632949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DDAF08-5361-8645-E9B5-D505D4CBC1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0C5C4F-D130-8F23-A077-9EF2D6D930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297DA7-6F89-67A0-3EBE-D23A3E661E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AD818B-1506-4C0D-ADF1-4F7228AB76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528808D-F8FF-4F45-9B49-F778C5ECCDCA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851921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206F40-838A-6D53-4234-BCDC2E5EA8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F45A52-3652-CC01-6B21-F80632E5ED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09C24F-EBD1-2AFD-D8AF-9A44393795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CD8F65-B640-B4A8-08AF-A0B6066A3E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528808D-F8FF-4F45-9B49-F778C5ECCDCA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208819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4280D1-5D93-1710-8869-F1B3B077AF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129F8E-31BB-431E-8F5C-F64AB21805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83ED95-ED3B-E79F-CF18-E651B50E1E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E4652D-3D04-5110-91FF-E567FA3ED4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528808D-F8FF-4F45-9B49-F778C5ECCDCA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1937304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338159-82ED-ABE6-0386-FE074FC0BC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51072B-0CD4-0508-CD8F-EA6F34BF45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CE8219-07D9-DAF3-B4EA-DAB97A9F5F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D02137-5FE6-59E4-9631-94225F5563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528808D-F8FF-4F45-9B49-F778C5ECCDCA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2699758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BF272F-0038-8783-241B-505143E499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5A0CD4-F77B-077C-6A92-1A2FA06CB2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27A5DF-F4DE-1A68-2CC3-097CB2D128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153CA2-058C-AA01-715F-A3C04CFCA8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528808D-F8FF-4F45-9B49-F778C5ECCDCA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0244717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63278E-956B-C6A2-42D0-C8A316AB6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D3B039-2353-9FF6-7EBF-F059CE02AC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046891-AB89-58EA-EEC9-528045AE55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D48772-76E4-475A-601E-C908EE5344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528808D-F8FF-4F45-9B49-F778C5ECCDCA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2904700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8617D6-8382-B6BA-CF8D-B8609CE4E6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8F4267-C66E-B664-8FAE-5932E199E7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71BB43-6D05-5FCA-4E3B-1BD164AB38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E41B80-A5C1-8141-1CBF-AD0B0A3C56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528808D-F8FF-4F45-9B49-F778C5ECCDCA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4605723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1AB307-88CA-96A1-BF28-A8D0FF82F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8D64D8-B9D7-51D8-49B7-784DBB1D05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1680C4-C9F2-AC1B-6EBC-9A31BA81F8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074EB6-8F1B-6B6A-BCE9-99FBDAC55B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528808D-F8FF-4F45-9B49-F778C5ECCDCA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8161513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A918CD-D0EC-123D-B5EB-8BF6F91122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BBFD03-31E4-4569-7B02-59AC3FEF56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F7E94A-E3BF-3ED4-C591-01C76E94D9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C0DBA4-C8CD-E5E2-AC7A-25E45309C3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528808D-F8FF-4F45-9B49-F778C5ECCDCA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6894530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3EAA47-2620-0001-2773-876D1373C5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F3E2BA-F70C-1C30-1AF3-E721E52C87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497B18-7855-42EF-B00A-5D285273EF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7B3B38-8EE1-B116-58F0-FEF8FCC1C5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528808D-F8FF-4F45-9B49-F778C5ECCDCA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1693385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239994-128D-53D5-11A6-EAC1F66F7B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A1FAFC-9E26-1F1B-C95F-E0AA970774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8310B9-E904-DFB3-2A0A-0F080884BB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31580E-2E47-DBD8-E7D8-329DBB6071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528808D-F8FF-4F45-9B49-F778C5ECCDCA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3415337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57D3E1-1E2B-25F3-5D71-1B35AA030F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769EEC-9FE9-2FD3-F6BC-BD882501AE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394803-7466-DDA9-2F94-4F73C27182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1A01DC-9298-E0B6-4536-BE6C2C5AFD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528808D-F8FF-4F45-9B49-F778C5ECCDCA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498542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6A36B9-6085-C34B-219B-19006EC378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CF8BBC9-0ADC-E62E-265A-E5E316C121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002C22-CB04-54DB-0DA2-E76647DE8F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C85644-A6EB-3446-CAF1-AF55257901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528808D-F8FF-4F45-9B49-F778C5ECCDCA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0492861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04D9F9-0AB6-9A85-6E7A-661207DBAB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332B646-4462-7C0E-74DC-C1940A1352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A0FC8DF-99CA-B1EF-915B-6AD0ED2186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1889AC-046B-687A-5240-CA89ADBEE1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528808D-F8FF-4F45-9B49-F778C5ECCDCA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722200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7BCD8-9180-F631-EB5F-4721559BE3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CE46AD-E98B-EBD6-0C54-378E2CD4E9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935D07-EF91-0A62-37FD-A02FD56925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E4EEF2-B51F-97BF-7E6F-97E1D9353A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528808D-F8FF-4F45-9B49-F778C5ECCDCA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7453919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4D0DCF-024F-AD47-2E79-52D7F75E6A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EAA176-D438-66FA-221C-FB9BCCABE0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F454CC-AF63-C798-0764-70B9599D07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98F5D0-6309-FE3D-8934-6D2D0F9BD2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528808D-F8FF-4F45-9B49-F778C5ECCDCA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48329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5CB20C-0B62-9F05-5F91-5AB96930BA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F1BCEF-B66D-80ED-6D52-BCFB3315A0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B89818-90F5-D635-D76F-C31615C097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9ACDB4-26FB-1D2A-3491-10D90AE6BF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528808D-F8FF-4F45-9B49-F778C5ECCDCA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4819709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DA250B-68A6-A679-C1AE-8D27C0E72D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4EAE09-7539-730D-03EF-8BFEDF7BB0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C0EBD7-2563-5B5B-65C4-A792AAF925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95196C-49EC-0D95-09A7-DCB19C0EF9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528808D-F8FF-4F45-9B49-F778C5ECCDCA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345308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771900" y="6356348"/>
            <a:ext cx="2219325" cy="365125"/>
          </a:xfrm>
        </p:spPr>
        <p:txBody>
          <a:bodyPr/>
          <a:lstStyle>
            <a:lvl1pPr>
              <a:defRPr/>
            </a:lvl1pPr>
          </a:lstStyle>
          <a:p>
            <a:pPr algn="l"/>
            <a:r>
              <a:rPr lang="es-CO"/>
              <a:t>Análisis de datos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4" descr="No hay ninguna descripción de la foto disponible.">
            <a:extLst>
              <a:ext uri="{FF2B5EF4-FFF2-40B4-BE49-F238E27FC236}">
                <a16:creationId xmlns:a16="http://schemas.microsoft.com/office/drawing/2014/main" id="{E28E3B34-B9FC-FA25-0EAB-BE6EF4ACA06F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grayscl/>
            <a:alphaModFix amt="6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703" b="28790"/>
          <a:stretch/>
        </p:blipFill>
        <p:spPr bwMode="auto">
          <a:xfrm>
            <a:off x="843835" y="6356349"/>
            <a:ext cx="267089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F0B7291D-A788-CC25-C55E-112D8F557E3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003616" y="136525"/>
            <a:ext cx="1117563" cy="365125"/>
          </a:xfrm>
        </p:spPr>
        <p:txBody>
          <a:bodyPr/>
          <a:lstStyle/>
          <a:p>
            <a:fld id="{27AB8C26-330F-4C13-A9D7-A5B1D2394DAC}" type="datetime1">
              <a:rPr lang="es-CO" smtClean="0"/>
              <a:t>24/02/2026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71F87-C591-4714-854C-3CA86352FD58}" type="datetime1">
              <a:rPr lang="es-CO" smtClean="0"/>
              <a:t>24/02/2026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s-CO"/>
              <a:t>Análisis de datos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0EB3F-1BCD-4DD3-9CD7-D2E330B0B7B7}" type="datetime1">
              <a:rPr lang="es-CO" smtClean="0"/>
              <a:t>24/02/2026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s-CO"/>
              <a:t>Análisis de datos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202A2-6653-4181-A784-865996406F73}" type="datetime1">
              <a:rPr lang="es-CO" smtClean="0"/>
              <a:t>24/02/2026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s-CO"/>
              <a:t>Análisis de datos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FD1B6-D0CC-4B10-AB91-7EFFCEBA57CD}" type="datetime1">
              <a:rPr lang="es-CO" smtClean="0"/>
              <a:t>24/02/2026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s-CO"/>
              <a:t>Análisis de datos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CA19-BCF1-4C0F-A446-7F22B1505ABE}" type="datetime1">
              <a:rPr lang="es-CO" smtClean="0"/>
              <a:t>24/02/2026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s-CO"/>
              <a:t>Análisis de datos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FE650-671F-41ED-9F8D-C15C02353ABB}" type="datetime1">
              <a:rPr lang="es-CO" smtClean="0"/>
              <a:t>24/02/2026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Métodos cuantitativos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043851-C385-434D-96BC-35CEBC800085}" type="datetime1">
              <a:rPr lang="es-CO" smtClean="0"/>
              <a:t>24/02/2026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Métodos cuantitativos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CD80EE-F88A-471E-8595-71B363ABF8DF}" type="datetime1">
              <a:rPr lang="es-CO" smtClean="0"/>
              <a:t>24/02/2026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s-CO"/>
              <a:t>Análisis de datos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1A355F-924E-48DA-BA19-BB1737F1CEAA}" type="datetime1">
              <a:rPr lang="es-CO" smtClean="0"/>
              <a:t>24/02/2026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s-CO"/>
              <a:t>Análisis de datos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19B51F-332D-4F93-BF63-DCF118E76AC9}" type="datetime1">
              <a:rPr lang="es-CO" smtClean="0"/>
              <a:t>24/02/2026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s-CO"/>
              <a:t>Análisis de datos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377979" y="6355745"/>
            <a:ext cx="2743200" cy="365125"/>
          </a:xfrm>
        </p:spPr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4" descr="No hay ninguna descripción de la foto disponible.">
            <a:extLst>
              <a:ext uri="{FF2B5EF4-FFF2-40B4-BE49-F238E27FC236}">
                <a16:creationId xmlns:a16="http://schemas.microsoft.com/office/drawing/2014/main" id="{E28E3B34-B9FC-FA25-0EAB-BE6EF4ACA06F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 amt="65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703" b="28790"/>
          <a:stretch/>
        </p:blipFill>
        <p:spPr bwMode="auto">
          <a:xfrm>
            <a:off x="165202" y="6360118"/>
            <a:ext cx="267089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F0B7291D-A788-CC25-C55E-112D8F557E3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003616" y="136525"/>
            <a:ext cx="1117563" cy="365125"/>
          </a:xfrm>
        </p:spPr>
        <p:txBody>
          <a:bodyPr/>
          <a:lstStyle/>
          <a:p>
            <a:fld id="{27AB8C26-330F-4C13-A9D7-A5B1D2394DAC}" type="datetime1">
              <a:rPr lang="es-CO" smtClean="0"/>
              <a:t>24/02/2026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708420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71F87-C591-4714-854C-3CA86352FD58}" type="datetime1">
              <a:rPr lang="es-CO" smtClean="0"/>
              <a:t>24/02/2026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s-CO"/>
              <a:t>Data </a:t>
            </a:r>
            <a:r>
              <a:rPr lang="es-CO" err="1"/>
              <a:t>analysis</a:t>
            </a:r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8884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0EB3F-1BCD-4DD3-9CD7-D2E330B0B7B7}" type="datetime1">
              <a:rPr lang="es-CO" smtClean="0"/>
              <a:t>24/02/2026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noProof="0"/>
              <a:t>Data analysis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72076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202A2-6653-4181-A784-865996406F73}" type="datetime1">
              <a:rPr lang="es-CO" smtClean="0"/>
              <a:t>24/02/2026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821618DE-C54F-193B-DBCC-D6A939FBA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pPr algn="l"/>
            <a:r>
              <a:rPr lang="en-US" noProof="0"/>
              <a:t>Data analysis</a:t>
            </a:r>
          </a:p>
        </p:txBody>
      </p:sp>
    </p:spTree>
    <p:extLst>
      <p:ext uri="{BB962C8B-B14F-4D97-AF65-F5344CB8AC3E}">
        <p14:creationId xmlns:p14="http://schemas.microsoft.com/office/powerpoint/2010/main" val="20664973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FD1B6-D0CC-4B10-AB91-7EFFCEBA57CD}" type="datetime1">
              <a:rPr lang="es-CO" smtClean="0"/>
              <a:t>24/02/2026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274ED399-6FD4-2535-A835-ACCAD9E6CE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pPr algn="l"/>
            <a:r>
              <a:rPr lang="en-US" noProof="0"/>
              <a:t>Data analysis</a:t>
            </a:r>
          </a:p>
        </p:txBody>
      </p:sp>
    </p:spTree>
    <p:extLst>
      <p:ext uri="{BB962C8B-B14F-4D97-AF65-F5344CB8AC3E}">
        <p14:creationId xmlns:p14="http://schemas.microsoft.com/office/powerpoint/2010/main" val="365652265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CA19-BCF1-4C0F-A446-7F22B1505ABE}" type="datetime1">
              <a:rPr lang="es-CO" smtClean="0"/>
              <a:t>24/02/2026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B0C23ED-7B40-1209-1274-53B29E23C1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pPr algn="l"/>
            <a:r>
              <a:rPr lang="en-US" noProof="0"/>
              <a:t>Data analysis</a:t>
            </a:r>
          </a:p>
        </p:txBody>
      </p:sp>
    </p:spTree>
    <p:extLst>
      <p:ext uri="{BB962C8B-B14F-4D97-AF65-F5344CB8AC3E}">
        <p14:creationId xmlns:p14="http://schemas.microsoft.com/office/powerpoint/2010/main" val="155200854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FE650-671F-41ED-9F8D-C15C02353ABB}" type="datetime1">
              <a:rPr lang="es-CO" smtClean="0"/>
              <a:t>24/02/2026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0E503D-13EA-A43F-9429-828FB64E46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pPr algn="l"/>
            <a:r>
              <a:rPr lang="en-US" noProof="0"/>
              <a:t>Data analysis</a:t>
            </a:r>
          </a:p>
        </p:txBody>
      </p:sp>
    </p:spTree>
    <p:extLst>
      <p:ext uri="{BB962C8B-B14F-4D97-AF65-F5344CB8AC3E}">
        <p14:creationId xmlns:p14="http://schemas.microsoft.com/office/powerpoint/2010/main" val="139788635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043851-C385-434D-96BC-35CEBC800085}" type="datetime1">
              <a:rPr lang="es-CO" smtClean="0"/>
              <a:t>24/02/2026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57C0C2EF-D2C8-DD6B-2319-FAFD5B820F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pPr algn="l"/>
            <a:r>
              <a:rPr lang="en-US" noProof="0"/>
              <a:t>Data analysis</a:t>
            </a:r>
          </a:p>
        </p:txBody>
      </p:sp>
    </p:spTree>
    <p:extLst>
      <p:ext uri="{BB962C8B-B14F-4D97-AF65-F5344CB8AC3E}">
        <p14:creationId xmlns:p14="http://schemas.microsoft.com/office/powerpoint/2010/main" val="66922829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CD80EE-F88A-471E-8595-71B363ABF8DF}" type="datetime1">
              <a:rPr lang="es-CO" smtClean="0"/>
              <a:t>24/02/2026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F69FFDD5-6692-2401-BAB9-B10D497207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pPr algn="l"/>
            <a:r>
              <a:rPr lang="en-US" noProof="0"/>
              <a:t>Data analysis</a:t>
            </a:r>
          </a:p>
        </p:txBody>
      </p:sp>
    </p:spTree>
    <p:extLst>
      <p:ext uri="{BB962C8B-B14F-4D97-AF65-F5344CB8AC3E}">
        <p14:creationId xmlns:p14="http://schemas.microsoft.com/office/powerpoint/2010/main" val="65270332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1A355F-924E-48DA-BA19-BB1737F1CEAA}" type="datetime1">
              <a:rPr lang="es-CO" smtClean="0"/>
              <a:t>24/02/2026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AAF9FF4A-A10B-6320-ECE3-A7B5A7117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pPr algn="l"/>
            <a:r>
              <a:rPr lang="en-US" noProof="0"/>
              <a:t>Data analysis</a:t>
            </a:r>
          </a:p>
        </p:txBody>
      </p:sp>
    </p:spTree>
    <p:extLst>
      <p:ext uri="{BB962C8B-B14F-4D97-AF65-F5344CB8AC3E}">
        <p14:creationId xmlns:p14="http://schemas.microsoft.com/office/powerpoint/2010/main" val="338172950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19B51F-332D-4F93-BF63-DCF118E76AC9}" type="datetime1">
              <a:rPr lang="es-CO" smtClean="0"/>
              <a:t>24/02/2026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D5E806EC-8377-227F-578A-BEE63E0170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pPr algn="l"/>
            <a:r>
              <a:rPr lang="en-US" noProof="0"/>
              <a:t>Data analysis</a:t>
            </a:r>
          </a:p>
        </p:txBody>
      </p:sp>
    </p:spTree>
    <p:extLst>
      <p:ext uri="{BB962C8B-B14F-4D97-AF65-F5344CB8AC3E}">
        <p14:creationId xmlns:p14="http://schemas.microsoft.com/office/powerpoint/2010/main" val="300092385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771900" y="6356348"/>
            <a:ext cx="2219325" cy="365125"/>
          </a:xfrm>
        </p:spPr>
        <p:txBody>
          <a:bodyPr/>
          <a:lstStyle>
            <a:lvl1pPr>
              <a:defRPr/>
            </a:lvl1pPr>
          </a:lstStyle>
          <a:p>
            <a:pPr algn="l"/>
            <a:r>
              <a:rPr lang="es-CO"/>
              <a:t>Análisis de datos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4" descr="No hay ninguna descripción de la foto disponible.">
            <a:extLst>
              <a:ext uri="{FF2B5EF4-FFF2-40B4-BE49-F238E27FC236}">
                <a16:creationId xmlns:a16="http://schemas.microsoft.com/office/drawing/2014/main" id="{E28E3B34-B9FC-FA25-0EAB-BE6EF4ACA06F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grayscl/>
            <a:alphaModFix amt="6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703" b="28790"/>
          <a:stretch/>
        </p:blipFill>
        <p:spPr bwMode="auto">
          <a:xfrm>
            <a:off x="843835" y="6356349"/>
            <a:ext cx="267089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F0B7291D-A788-CC25-C55E-112D8F557E3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003616" y="136525"/>
            <a:ext cx="1117563" cy="365125"/>
          </a:xfrm>
        </p:spPr>
        <p:txBody>
          <a:bodyPr/>
          <a:lstStyle/>
          <a:p>
            <a:fld id="{27AB8C26-330F-4C13-A9D7-A5B1D2394DAC}" type="datetime1">
              <a:rPr lang="es-CO" smtClean="0"/>
              <a:t>24/02/2026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70739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B334D46-9BD9-44D2-809B-EEF0D00AD165}" type="datetime1">
              <a:rPr lang="es-CO" smtClean="0"/>
              <a:t>24/02/2026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algn="l"/>
            <a:r>
              <a:rPr lang="es-CO"/>
              <a:t>Análisis de datos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B334D46-9BD9-44D2-809B-EEF0D00AD165}" type="datetime1">
              <a:rPr lang="es-CO" smtClean="0"/>
              <a:t>24/02/2026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algn="l"/>
            <a:r>
              <a:rPr lang="en-US" noProof="0"/>
              <a:t>Data analysis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18326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microsoft.com/office/2007/relationships/hdphoto" Target="../media/hdphoto2.wdp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microsoft.com/office/2007/relationships/hdphoto" Target="../media/hdphoto2.wdp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microsoft.com/office/2007/relationships/hdphoto" Target="../media/hdphoto2.wdp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7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microsoft.com/office/2007/relationships/hdphoto" Target="../media/hdphoto2.wdp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microsoft.com/office/2007/relationships/hdphoto" Target="../media/hdphoto2.wdp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proquest.com/https:/www.proquest.com/" TargetMode="External"/><Relationship Id="rId13" Type="http://schemas.openxmlformats.org/officeDocument/2006/relationships/image" Target="../media/image12.png"/><Relationship Id="rId18" Type="http://schemas.openxmlformats.org/officeDocument/2006/relationships/hyperlink" Target="https://www.uexternado.edu.co/biblioteca/recursos-digitales/" TargetMode="External"/><Relationship Id="rId3" Type="http://schemas.openxmlformats.org/officeDocument/2006/relationships/hyperlink" Target="https://eric.ed.gov/" TargetMode="External"/><Relationship Id="rId7" Type="http://schemas.openxmlformats.org/officeDocument/2006/relationships/hyperlink" Target="https://www.proquest.com/" TargetMode="External"/><Relationship Id="rId12" Type="http://schemas.openxmlformats.org/officeDocument/2006/relationships/hyperlink" Target="https://www.scopus.com/home.uri;" TargetMode="External"/><Relationship Id="rId17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6" Type="http://schemas.openxmlformats.org/officeDocument/2006/relationships/hyperlink" Target="https://www.jstor.org/" TargetMode="Externa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.png"/><Relationship Id="rId11" Type="http://schemas.openxmlformats.org/officeDocument/2006/relationships/image" Target="../media/image11.png"/><Relationship Id="rId5" Type="http://schemas.openxmlformats.org/officeDocument/2006/relationships/hyperlink" Target="https://scholar.google.com/" TargetMode="External"/><Relationship Id="rId15" Type="http://schemas.openxmlformats.org/officeDocument/2006/relationships/image" Target="../media/image13.jpeg"/><Relationship Id="rId10" Type="http://schemas.openxmlformats.org/officeDocument/2006/relationships/hyperlink" Target="https://www.ebsco.com/" TargetMode="External"/><Relationship Id="rId19" Type="http://schemas.openxmlformats.org/officeDocument/2006/relationships/image" Target="../media/image15.png"/><Relationship Id="rId4" Type="http://schemas.openxmlformats.org/officeDocument/2006/relationships/image" Target="../media/image8.png"/><Relationship Id="rId9" Type="http://schemas.openxmlformats.org/officeDocument/2006/relationships/image" Target="../media/image10.png"/><Relationship Id="rId14" Type="http://schemas.openxmlformats.org/officeDocument/2006/relationships/hyperlink" Target="https://doaj.org/" TargetMode="Externa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hyperlink" Target="https://app.researchrabbit.ai/" TargetMode="External"/><Relationship Id="rId7" Type="http://schemas.openxmlformats.org/officeDocument/2006/relationships/hyperlink" Target="https://www.connectedpapers.com/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6" Type="http://schemas.microsoft.com/office/2007/relationships/hdphoto" Target="../media/hdphoto3.wdp"/><Relationship Id="rId11" Type="http://schemas.openxmlformats.org/officeDocument/2006/relationships/image" Target="../media/image20.png"/><Relationship Id="rId5" Type="http://schemas.openxmlformats.org/officeDocument/2006/relationships/image" Target="../media/image17.png"/><Relationship Id="rId10" Type="http://schemas.openxmlformats.org/officeDocument/2006/relationships/image" Target="../media/image19.png"/><Relationship Id="rId4" Type="http://schemas.openxmlformats.org/officeDocument/2006/relationships/image" Target="../media/image16.png"/><Relationship Id="rId9" Type="http://schemas.openxmlformats.org/officeDocument/2006/relationships/hyperlink" Target="https://elicit.com/" TargetMode="Externa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microsoft.com/office/2007/relationships/hdphoto" Target="../media/hdphoto2.wdp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hyperlink" Target="https://methods.sagepub.com/video/srmpromo/PDuI8U/steps-in-planning-and-conducting-research" TargetMode="External"/><Relationship Id="rId4" Type="http://schemas.microsoft.com/office/2007/relationships/hdphoto" Target="../media/hdphoto2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72000">
              <a:srgbClr val="F22D1C"/>
            </a:gs>
            <a:gs pos="0">
              <a:srgbClr val="DF102C"/>
            </a:gs>
            <a:gs pos="100000">
              <a:srgbClr val="F26665"/>
            </a:gs>
          </a:gsLst>
          <a:lin ang="30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7EBABEB-0C88-0E51-DD5B-4D3272C986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03C65A37-3009-0D41-3A50-36E7B5DBC8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9389" y="6356348"/>
            <a:ext cx="2743200" cy="365125"/>
          </a:xfrm>
        </p:spPr>
        <p:txBody>
          <a:bodyPr/>
          <a:lstStyle/>
          <a:p>
            <a:fld id="{330EA680-D336-4FF7-8B7A-9848BB0A1C32}" type="slidenum">
              <a:rPr lang="en-US" noProof="0" smtClean="0">
                <a:solidFill>
                  <a:schemeClr val="bg1"/>
                </a:solidFill>
              </a:rPr>
              <a:t>1</a:t>
            </a:fld>
            <a:endParaRPr lang="en-US" noProof="0" dirty="0">
              <a:solidFill>
                <a:schemeClr val="bg1"/>
              </a:solidFill>
            </a:endParaRP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AF4B6974-99FE-E959-1307-10CF0CBA73F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003616" y="136525"/>
            <a:ext cx="1117563" cy="365125"/>
          </a:xfrm>
        </p:spPr>
        <p:txBody>
          <a:bodyPr/>
          <a:lstStyle/>
          <a:p>
            <a:fld id="{26E845D0-70B0-405D-A6BF-798C9CBE9027}" type="datetime1">
              <a:rPr lang="en-US" noProof="0" smtClean="0">
                <a:solidFill>
                  <a:schemeClr val="bg1"/>
                </a:solidFill>
              </a:rPr>
              <a:t>2/24/2026</a:t>
            </a:fld>
            <a:endParaRPr lang="en-US" noProof="0" dirty="0">
              <a:solidFill>
                <a:schemeClr val="bg1"/>
              </a:solidFill>
            </a:endParaRPr>
          </a:p>
        </p:txBody>
      </p:sp>
      <p:sp>
        <p:nvSpPr>
          <p:cNvPr id="8" name="Footer Placeholder 1">
            <a:extLst>
              <a:ext uri="{FF2B5EF4-FFF2-40B4-BE49-F238E27FC236}">
                <a16:creationId xmlns:a16="http://schemas.microsoft.com/office/drawing/2014/main" id="{D3BD479C-6371-F7B0-6AB6-210663743E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771900" y="6356348"/>
            <a:ext cx="2219325" cy="365125"/>
          </a:xfrm>
        </p:spPr>
        <p:txBody>
          <a:bodyPr/>
          <a:lstStyle/>
          <a:p>
            <a:pPr algn="l"/>
            <a:r>
              <a:rPr lang="en-US" noProof="0" dirty="0">
                <a:solidFill>
                  <a:schemeClr val="bg1"/>
                </a:solidFill>
              </a:rPr>
              <a:t>Data analysis</a:t>
            </a:r>
          </a:p>
        </p:txBody>
      </p:sp>
      <p:pic>
        <p:nvPicPr>
          <p:cNvPr id="2050" name="Picture 2" descr="Foro Enseñanza e Investigación de las Políticas Públicas en Colombia – En  homenaje a Luis Fernando Aguilar Villanueva">
            <a:extLst>
              <a:ext uri="{FF2B5EF4-FFF2-40B4-BE49-F238E27FC236}">
                <a16:creationId xmlns:a16="http://schemas.microsoft.com/office/drawing/2014/main" id="{1C937258-17B1-E649-1CFD-35A858BBD5B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" b="39588"/>
          <a:stretch/>
        </p:blipFill>
        <p:spPr bwMode="auto">
          <a:xfrm>
            <a:off x="1071562" y="357805"/>
            <a:ext cx="1843086" cy="6019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ECDC2C7-D149-8CAC-9016-2EBC9CAF71B6}"/>
              </a:ext>
            </a:extLst>
          </p:cNvPr>
          <p:cNvSpPr txBox="1"/>
          <p:nvPr/>
        </p:nvSpPr>
        <p:spPr>
          <a:xfrm>
            <a:off x="1071561" y="1839366"/>
            <a:ext cx="5626693" cy="12951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4600"/>
              </a:lnSpc>
            </a:pPr>
            <a:r>
              <a:rPr lang="en-US" sz="4800" noProof="0" dirty="0">
                <a:solidFill>
                  <a:schemeClr val="bg1"/>
                </a:solidFill>
                <a:latin typeface="Aptos Black" panose="020F0502020204030204" pitchFamily="34" charset="0"/>
              </a:rPr>
              <a:t>Literature</a:t>
            </a:r>
            <a:br>
              <a:rPr lang="en-US" sz="4800" noProof="0" dirty="0">
                <a:solidFill>
                  <a:schemeClr val="bg1"/>
                </a:solidFill>
                <a:latin typeface="Aptos Black" panose="020F0502020204030204" pitchFamily="34" charset="0"/>
              </a:rPr>
            </a:br>
            <a:r>
              <a:rPr lang="en-US" sz="4800" noProof="0" dirty="0">
                <a:solidFill>
                  <a:schemeClr val="bg1"/>
                </a:solidFill>
                <a:latin typeface="Aptos Black" panose="020F0502020204030204" pitchFamily="34" charset="0"/>
              </a:rPr>
              <a:t>Review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03D9888-A0CC-797B-46FC-BB93EACA9E33}"/>
              </a:ext>
            </a:extLst>
          </p:cNvPr>
          <p:cNvSpPr/>
          <p:nvPr/>
        </p:nvSpPr>
        <p:spPr>
          <a:xfrm>
            <a:off x="1274717" y="3429075"/>
            <a:ext cx="373322" cy="369830"/>
          </a:xfrm>
          <a:custGeom>
            <a:avLst/>
            <a:gdLst>
              <a:gd name="connsiteX0" fmla="*/ 273786 w 672354"/>
              <a:gd name="connsiteY0" fmla="*/ 560045 h 666065"/>
              <a:gd name="connsiteX1" fmla="*/ 273786 w 672354"/>
              <a:gd name="connsiteY1" fmla="*/ 666065 h 666065"/>
              <a:gd name="connsiteX2" fmla="*/ 268426 w 672354"/>
              <a:gd name="connsiteY2" fmla="*/ 665524 h 666065"/>
              <a:gd name="connsiteX3" fmla="*/ 205322 w 672354"/>
              <a:gd name="connsiteY3" fmla="*/ 645936 h 666065"/>
              <a:gd name="connsiteX4" fmla="*/ 199831 w 672354"/>
              <a:gd name="connsiteY4" fmla="*/ 642955 h 666065"/>
              <a:gd name="connsiteX5" fmla="*/ 218437 w 672354"/>
              <a:gd name="connsiteY5" fmla="*/ 612031 h 666065"/>
              <a:gd name="connsiteX6" fmla="*/ 273786 w 672354"/>
              <a:gd name="connsiteY6" fmla="*/ 560045 h 666065"/>
              <a:gd name="connsiteX7" fmla="*/ 305515 w 672354"/>
              <a:gd name="connsiteY7" fmla="*/ 339627 h 666065"/>
              <a:gd name="connsiteX8" fmla="*/ 248365 w 672354"/>
              <a:gd name="connsiteY8" fmla="*/ 396777 h 666065"/>
              <a:gd name="connsiteX9" fmla="*/ 305515 w 672354"/>
              <a:gd name="connsiteY9" fmla="*/ 453927 h 666065"/>
              <a:gd name="connsiteX10" fmla="*/ 362665 w 672354"/>
              <a:gd name="connsiteY10" fmla="*/ 396777 h 666065"/>
              <a:gd name="connsiteX11" fmla="*/ 305515 w 672354"/>
              <a:gd name="connsiteY11" fmla="*/ 339627 h 666065"/>
              <a:gd name="connsiteX12" fmla="*/ 358807 w 672354"/>
              <a:gd name="connsiteY12" fmla="*/ 218335 h 666065"/>
              <a:gd name="connsiteX13" fmla="*/ 356635 w 672354"/>
              <a:gd name="connsiteY13" fmla="*/ 220517 h 666065"/>
              <a:gd name="connsiteX14" fmla="*/ 355445 w 672354"/>
              <a:gd name="connsiteY14" fmla="*/ 229441 h 666065"/>
              <a:gd name="connsiteX15" fmla="*/ 353425 w 672354"/>
              <a:gd name="connsiteY15" fmla="*/ 231594 h 666065"/>
              <a:gd name="connsiteX16" fmla="*/ 344805 w 672354"/>
              <a:gd name="connsiteY16" fmla="*/ 233242 h 666065"/>
              <a:gd name="connsiteX17" fmla="*/ 342786 w 672354"/>
              <a:gd name="connsiteY17" fmla="*/ 235395 h 666065"/>
              <a:gd name="connsiteX18" fmla="*/ 344110 w 672354"/>
              <a:gd name="connsiteY18" fmla="*/ 238043 h 666065"/>
              <a:gd name="connsiteX19" fmla="*/ 347606 w 672354"/>
              <a:gd name="connsiteY19" fmla="*/ 240100 h 666065"/>
              <a:gd name="connsiteX20" fmla="*/ 352035 w 672354"/>
              <a:gd name="connsiteY20" fmla="*/ 242796 h 666065"/>
              <a:gd name="connsiteX21" fmla="*/ 353063 w 672354"/>
              <a:gd name="connsiteY21" fmla="*/ 243881 h 666065"/>
              <a:gd name="connsiteX22" fmla="*/ 353330 w 672354"/>
              <a:gd name="connsiteY22" fmla="*/ 245282 h 666065"/>
              <a:gd name="connsiteX23" fmla="*/ 352378 w 672354"/>
              <a:gd name="connsiteY23" fmla="*/ 254635 h 666065"/>
              <a:gd name="connsiteX24" fmla="*/ 353863 w 672354"/>
              <a:gd name="connsiteY24" fmla="*/ 257254 h 666065"/>
              <a:gd name="connsiteX25" fmla="*/ 356845 w 672354"/>
              <a:gd name="connsiteY25" fmla="*/ 256683 h 666065"/>
              <a:gd name="connsiteX26" fmla="*/ 363341 w 672354"/>
              <a:gd name="connsiteY26" fmla="*/ 250015 h 666065"/>
              <a:gd name="connsiteX27" fmla="*/ 366322 w 672354"/>
              <a:gd name="connsiteY27" fmla="*/ 249454 h 666065"/>
              <a:gd name="connsiteX28" fmla="*/ 374895 w 672354"/>
              <a:gd name="connsiteY28" fmla="*/ 253264 h 666065"/>
              <a:gd name="connsiteX29" fmla="*/ 377866 w 672354"/>
              <a:gd name="connsiteY29" fmla="*/ 252692 h 666065"/>
              <a:gd name="connsiteX30" fmla="*/ 378266 w 672354"/>
              <a:gd name="connsiteY30" fmla="*/ 249720 h 666065"/>
              <a:gd name="connsiteX31" fmla="*/ 373875 w 672354"/>
              <a:gd name="connsiteY31" fmla="*/ 241376 h 666065"/>
              <a:gd name="connsiteX32" fmla="*/ 374152 w 672354"/>
              <a:gd name="connsiteY32" fmla="*/ 238585 h 666065"/>
              <a:gd name="connsiteX33" fmla="*/ 379867 w 672354"/>
              <a:gd name="connsiteY33" fmla="*/ 231375 h 666065"/>
              <a:gd name="connsiteX34" fmla="*/ 379514 w 672354"/>
              <a:gd name="connsiteY34" fmla="*/ 227728 h 666065"/>
              <a:gd name="connsiteX35" fmla="*/ 377428 w 672354"/>
              <a:gd name="connsiteY35" fmla="*/ 227175 h 666065"/>
              <a:gd name="connsiteX36" fmla="*/ 368799 w 672354"/>
              <a:gd name="connsiteY36" fmla="*/ 228822 h 666065"/>
              <a:gd name="connsiteX37" fmla="*/ 366122 w 672354"/>
              <a:gd name="connsiteY37" fmla="*/ 227556 h 666065"/>
              <a:gd name="connsiteX38" fmla="*/ 361664 w 672354"/>
              <a:gd name="connsiteY38" fmla="*/ 219716 h 666065"/>
              <a:gd name="connsiteX39" fmla="*/ 358807 w 672354"/>
              <a:gd name="connsiteY39" fmla="*/ 218335 h 666065"/>
              <a:gd name="connsiteX40" fmla="*/ 536362 w 672354"/>
              <a:gd name="connsiteY40" fmla="*/ 199590 h 666065"/>
              <a:gd name="connsiteX41" fmla="*/ 533266 w 672354"/>
              <a:gd name="connsiteY41" fmla="*/ 199819 h 666065"/>
              <a:gd name="connsiteX42" fmla="*/ 526437 w 672354"/>
              <a:gd name="connsiteY42" fmla="*/ 205753 h 666065"/>
              <a:gd name="connsiteX43" fmla="*/ 523484 w 672354"/>
              <a:gd name="connsiteY43" fmla="*/ 206067 h 666065"/>
              <a:gd name="connsiteX44" fmla="*/ 515864 w 672354"/>
              <a:gd name="connsiteY44" fmla="*/ 201676 h 666065"/>
              <a:gd name="connsiteX45" fmla="*/ 512911 w 672354"/>
              <a:gd name="connsiteY45" fmla="*/ 201990 h 666065"/>
              <a:gd name="connsiteX46" fmla="*/ 512149 w 672354"/>
              <a:gd name="connsiteY46" fmla="*/ 204848 h 666065"/>
              <a:gd name="connsiteX47" fmla="*/ 513407 w 672354"/>
              <a:gd name="connsiteY47" fmla="*/ 208658 h 666065"/>
              <a:gd name="connsiteX48" fmla="*/ 514940 w 672354"/>
              <a:gd name="connsiteY48" fmla="*/ 213573 h 666065"/>
              <a:gd name="connsiteX49" fmla="*/ 514940 w 672354"/>
              <a:gd name="connsiteY49" fmla="*/ 215068 h 666065"/>
              <a:gd name="connsiteX50" fmla="*/ 514216 w 672354"/>
              <a:gd name="connsiteY50" fmla="*/ 216297 h 666065"/>
              <a:gd name="connsiteX51" fmla="*/ 507292 w 672354"/>
              <a:gd name="connsiteY51" fmla="*/ 222726 h 666065"/>
              <a:gd name="connsiteX52" fmla="*/ 506663 w 672354"/>
              <a:gd name="connsiteY52" fmla="*/ 225660 h 666065"/>
              <a:gd name="connsiteX53" fmla="*/ 509292 w 672354"/>
              <a:gd name="connsiteY53" fmla="*/ 227175 h 666065"/>
              <a:gd name="connsiteX54" fmla="*/ 518645 w 672354"/>
              <a:gd name="connsiteY54" fmla="*/ 226355 h 666065"/>
              <a:gd name="connsiteX55" fmla="*/ 521265 w 672354"/>
              <a:gd name="connsiteY55" fmla="*/ 227870 h 666065"/>
              <a:gd name="connsiteX56" fmla="*/ 525151 w 672354"/>
              <a:gd name="connsiteY56" fmla="*/ 236338 h 666065"/>
              <a:gd name="connsiteX57" fmla="*/ 527770 w 672354"/>
              <a:gd name="connsiteY57" fmla="*/ 237852 h 666065"/>
              <a:gd name="connsiteX58" fmla="*/ 530047 w 672354"/>
              <a:gd name="connsiteY58" fmla="*/ 235871 h 666065"/>
              <a:gd name="connsiteX59" fmla="*/ 532285 w 672354"/>
              <a:gd name="connsiteY59" fmla="*/ 226736 h 666065"/>
              <a:gd name="connsiteX60" fmla="*/ 534343 w 672354"/>
              <a:gd name="connsiteY60" fmla="*/ 224831 h 666065"/>
              <a:gd name="connsiteX61" fmla="*/ 543468 w 672354"/>
              <a:gd name="connsiteY61" fmla="*/ 223146 h 666065"/>
              <a:gd name="connsiteX62" fmla="*/ 545725 w 672354"/>
              <a:gd name="connsiteY62" fmla="*/ 221088 h 666065"/>
              <a:gd name="connsiteX63" fmla="*/ 544496 w 672354"/>
              <a:gd name="connsiteY63" fmla="*/ 218393 h 666065"/>
              <a:gd name="connsiteX64" fmla="*/ 536876 w 672354"/>
              <a:gd name="connsiteY64" fmla="*/ 214011 h 666065"/>
              <a:gd name="connsiteX65" fmla="*/ 535695 w 672354"/>
              <a:gd name="connsiteY65" fmla="*/ 211306 h 666065"/>
              <a:gd name="connsiteX66" fmla="*/ 537600 w 672354"/>
              <a:gd name="connsiteY66" fmla="*/ 202505 h 666065"/>
              <a:gd name="connsiteX67" fmla="*/ 536362 w 672354"/>
              <a:gd name="connsiteY67" fmla="*/ 199590 h 666065"/>
              <a:gd name="connsiteX68" fmla="*/ 443465 w 672354"/>
              <a:gd name="connsiteY68" fmla="*/ 139907 h 666065"/>
              <a:gd name="connsiteX69" fmla="*/ 437598 w 672354"/>
              <a:gd name="connsiteY69" fmla="*/ 143898 h 666065"/>
              <a:gd name="connsiteX70" fmla="*/ 430987 w 672354"/>
              <a:gd name="connsiteY70" fmla="*/ 163519 h 666065"/>
              <a:gd name="connsiteX71" fmla="*/ 425491 w 672354"/>
              <a:gd name="connsiteY71" fmla="*/ 167520 h 666065"/>
              <a:gd name="connsiteX72" fmla="*/ 405308 w 672354"/>
              <a:gd name="connsiteY72" fmla="*/ 167520 h 666065"/>
              <a:gd name="connsiteX73" fmla="*/ 399802 w 672354"/>
              <a:gd name="connsiteY73" fmla="*/ 171520 h 666065"/>
              <a:gd name="connsiteX74" fmla="*/ 401631 w 672354"/>
              <a:gd name="connsiteY74" fmla="*/ 178055 h 666065"/>
              <a:gd name="connsiteX75" fmla="*/ 408603 w 672354"/>
              <a:gd name="connsiteY75" fmla="*/ 184236 h 666065"/>
              <a:gd name="connsiteX76" fmla="*/ 417414 w 672354"/>
              <a:gd name="connsiteY76" fmla="*/ 192228 h 666065"/>
              <a:gd name="connsiteX77" fmla="*/ 419252 w 672354"/>
              <a:gd name="connsiteY77" fmla="*/ 195085 h 666065"/>
              <a:gd name="connsiteX78" fmla="*/ 419252 w 672354"/>
              <a:gd name="connsiteY78" fmla="*/ 198352 h 666065"/>
              <a:gd name="connsiteX79" fmla="*/ 413014 w 672354"/>
              <a:gd name="connsiteY79" fmla="*/ 219069 h 666065"/>
              <a:gd name="connsiteX80" fmla="*/ 415233 w 672354"/>
              <a:gd name="connsiteY80" fmla="*/ 225632 h 666065"/>
              <a:gd name="connsiteX81" fmla="*/ 422205 w 672354"/>
              <a:gd name="connsiteY81" fmla="*/ 225632 h 666065"/>
              <a:gd name="connsiteX82" fmla="*/ 439817 w 672354"/>
              <a:gd name="connsiteY82" fmla="*/ 213250 h 666065"/>
              <a:gd name="connsiteX83" fmla="*/ 446789 w 672354"/>
              <a:gd name="connsiteY83" fmla="*/ 213250 h 666065"/>
              <a:gd name="connsiteX84" fmla="*/ 464382 w 672354"/>
              <a:gd name="connsiteY84" fmla="*/ 225632 h 666065"/>
              <a:gd name="connsiteX85" fmla="*/ 471354 w 672354"/>
              <a:gd name="connsiteY85" fmla="*/ 225632 h 666065"/>
              <a:gd name="connsiteX86" fmla="*/ 473554 w 672354"/>
              <a:gd name="connsiteY86" fmla="*/ 219098 h 666065"/>
              <a:gd name="connsiteX87" fmla="*/ 467316 w 672354"/>
              <a:gd name="connsiteY87" fmla="*/ 198381 h 666065"/>
              <a:gd name="connsiteX88" fmla="*/ 469154 w 672354"/>
              <a:gd name="connsiteY88" fmla="*/ 192209 h 666065"/>
              <a:gd name="connsiteX89" fmla="*/ 485346 w 672354"/>
              <a:gd name="connsiteY89" fmla="*/ 178398 h 666065"/>
              <a:gd name="connsiteX90" fmla="*/ 487185 w 672354"/>
              <a:gd name="connsiteY90" fmla="*/ 171863 h 666065"/>
              <a:gd name="connsiteX91" fmla="*/ 481632 w 672354"/>
              <a:gd name="connsiteY91" fmla="*/ 167882 h 666065"/>
              <a:gd name="connsiteX92" fmla="*/ 461448 w 672354"/>
              <a:gd name="connsiteY92" fmla="*/ 167882 h 666065"/>
              <a:gd name="connsiteX93" fmla="*/ 455943 w 672354"/>
              <a:gd name="connsiteY93" fmla="*/ 163891 h 666065"/>
              <a:gd name="connsiteX94" fmla="*/ 449342 w 672354"/>
              <a:gd name="connsiteY94" fmla="*/ 144269 h 666065"/>
              <a:gd name="connsiteX95" fmla="*/ 443465 w 672354"/>
              <a:gd name="connsiteY95" fmla="*/ 139907 h 666065"/>
              <a:gd name="connsiteX96" fmla="*/ 336177 w 672354"/>
              <a:gd name="connsiteY96" fmla="*/ 0 h 666065"/>
              <a:gd name="connsiteX97" fmla="*/ 672354 w 672354"/>
              <a:gd name="connsiteY97" fmla="*/ 336177 h 666065"/>
              <a:gd name="connsiteX98" fmla="*/ 467032 w 672354"/>
              <a:gd name="connsiteY98" fmla="*/ 645936 h 666065"/>
              <a:gd name="connsiteX99" fmla="*/ 407327 w 672354"/>
              <a:gd name="connsiteY99" fmla="*/ 664469 h 666065"/>
              <a:gd name="connsiteX100" fmla="*/ 407327 w 672354"/>
              <a:gd name="connsiteY100" fmla="*/ 503962 h 666065"/>
              <a:gd name="connsiteX101" fmla="*/ 471354 w 672354"/>
              <a:gd name="connsiteY101" fmla="*/ 280953 h 666065"/>
              <a:gd name="connsiteX102" fmla="*/ 441126 w 672354"/>
              <a:gd name="connsiteY102" fmla="*/ 254126 h 666065"/>
              <a:gd name="connsiteX103" fmla="*/ 414299 w 672354"/>
              <a:gd name="connsiteY103" fmla="*/ 284353 h 666065"/>
              <a:gd name="connsiteX104" fmla="*/ 362274 w 672354"/>
              <a:gd name="connsiteY104" fmla="*/ 468519 h 666065"/>
              <a:gd name="connsiteX105" fmla="*/ 349891 w 672354"/>
              <a:gd name="connsiteY105" fmla="*/ 468519 h 666065"/>
              <a:gd name="connsiteX106" fmla="*/ 322564 w 672354"/>
              <a:gd name="connsiteY106" fmla="*/ 472900 h 666065"/>
              <a:gd name="connsiteX107" fmla="*/ 315763 w 672354"/>
              <a:gd name="connsiteY107" fmla="*/ 474967 h 666065"/>
              <a:gd name="connsiteX108" fmla="*/ 159205 w 672354"/>
              <a:gd name="connsiteY108" fmla="*/ 595804 h 666065"/>
              <a:gd name="connsiteX109" fmla="*/ 148435 w 672354"/>
              <a:gd name="connsiteY109" fmla="*/ 615058 h 666065"/>
              <a:gd name="connsiteX110" fmla="*/ 148218 w 672354"/>
              <a:gd name="connsiteY110" fmla="*/ 614940 h 666065"/>
              <a:gd name="connsiteX111" fmla="*/ 0 w 672354"/>
              <a:gd name="connsiteY111" fmla="*/ 336177 h 666065"/>
              <a:gd name="connsiteX112" fmla="*/ 336177 w 672354"/>
              <a:gd name="connsiteY112" fmla="*/ 0 h 666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</a:cxnLst>
            <a:rect l="l" t="t" r="r" b="b"/>
            <a:pathLst>
              <a:path w="672354" h="666065">
                <a:moveTo>
                  <a:pt x="273786" y="560045"/>
                </a:moveTo>
                <a:lnTo>
                  <a:pt x="273786" y="666065"/>
                </a:lnTo>
                <a:lnTo>
                  <a:pt x="268426" y="665524"/>
                </a:lnTo>
                <a:cubicBezTo>
                  <a:pt x="246542" y="661046"/>
                  <a:pt x="225432" y="654441"/>
                  <a:pt x="205322" y="645936"/>
                </a:cubicBezTo>
                <a:lnTo>
                  <a:pt x="199831" y="642955"/>
                </a:lnTo>
                <a:lnTo>
                  <a:pt x="218437" y="612031"/>
                </a:lnTo>
                <a:cubicBezTo>
                  <a:pt x="234746" y="591523"/>
                  <a:pt x="253093" y="574295"/>
                  <a:pt x="273786" y="560045"/>
                </a:cubicBezTo>
                <a:close/>
                <a:moveTo>
                  <a:pt x="305515" y="339627"/>
                </a:moveTo>
                <a:cubicBezTo>
                  <a:pt x="273952" y="339627"/>
                  <a:pt x="248365" y="365214"/>
                  <a:pt x="248365" y="396777"/>
                </a:cubicBezTo>
                <a:cubicBezTo>
                  <a:pt x="248365" y="428340"/>
                  <a:pt x="273952" y="453927"/>
                  <a:pt x="305515" y="453927"/>
                </a:cubicBezTo>
                <a:cubicBezTo>
                  <a:pt x="337078" y="453927"/>
                  <a:pt x="362665" y="428340"/>
                  <a:pt x="362665" y="396777"/>
                </a:cubicBezTo>
                <a:cubicBezTo>
                  <a:pt x="362665" y="365214"/>
                  <a:pt x="337078" y="339627"/>
                  <a:pt x="305515" y="339627"/>
                </a:cubicBezTo>
                <a:close/>
                <a:moveTo>
                  <a:pt x="358807" y="218335"/>
                </a:moveTo>
                <a:cubicBezTo>
                  <a:pt x="357733" y="218602"/>
                  <a:pt x="356897" y="219442"/>
                  <a:pt x="356635" y="220517"/>
                </a:cubicBezTo>
                <a:lnTo>
                  <a:pt x="355445" y="229441"/>
                </a:lnTo>
                <a:cubicBezTo>
                  <a:pt x="355347" y="230539"/>
                  <a:pt x="354514" y="231427"/>
                  <a:pt x="353425" y="231594"/>
                </a:cubicBezTo>
                <a:lnTo>
                  <a:pt x="344805" y="233242"/>
                </a:lnTo>
                <a:cubicBezTo>
                  <a:pt x="343716" y="233409"/>
                  <a:pt x="342883" y="234297"/>
                  <a:pt x="342786" y="235395"/>
                </a:cubicBezTo>
                <a:cubicBezTo>
                  <a:pt x="342667" y="236461"/>
                  <a:pt x="343186" y="237498"/>
                  <a:pt x="344110" y="238043"/>
                </a:cubicBezTo>
                <a:lnTo>
                  <a:pt x="347606" y="240100"/>
                </a:lnTo>
                <a:lnTo>
                  <a:pt x="352035" y="242796"/>
                </a:lnTo>
                <a:cubicBezTo>
                  <a:pt x="352452" y="243079"/>
                  <a:pt x="352802" y="243450"/>
                  <a:pt x="353063" y="243881"/>
                </a:cubicBezTo>
                <a:cubicBezTo>
                  <a:pt x="353306" y="244305"/>
                  <a:pt x="353401" y="244798"/>
                  <a:pt x="353330" y="245282"/>
                </a:cubicBezTo>
                <a:lnTo>
                  <a:pt x="352378" y="254635"/>
                </a:lnTo>
                <a:cubicBezTo>
                  <a:pt x="352231" y="255742"/>
                  <a:pt x="352838" y="256813"/>
                  <a:pt x="353863" y="257254"/>
                </a:cubicBezTo>
                <a:cubicBezTo>
                  <a:pt x="354879" y="257703"/>
                  <a:pt x="356067" y="257475"/>
                  <a:pt x="356845" y="256683"/>
                </a:cubicBezTo>
                <a:lnTo>
                  <a:pt x="363341" y="250015"/>
                </a:lnTo>
                <a:cubicBezTo>
                  <a:pt x="364118" y="249221"/>
                  <a:pt x="365309" y="248996"/>
                  <a:pt x="366322" y="249454"/>
                </a:cubicBezTo>
                <a:lnTo>
                  <a:pt x="374895" y="253264"/>
                </a:lnTo>
                <a:cubicBezTo>
                  <a:pt x="375907" y="253711"/>
                  <a:pt x="377092" y="253483"/>
                  <a:pt x="377866" y="252692"/>
                </a:cubicBezTo>
                <a:cubicBezTo>
                  <a:pt x="378641" y="251898"/>
                  <a:pt x="378803" y="250691"/>
                  <a:pt x="378266" y="249720"/>
                </a:cubicBezTo>
                <a:lnTo>
                  <a:pt x="373875" y="241376"/>
                </a:lnTo>
                <a:cubicBezTo>
                  <a:pt x="373384" y="240478"/>
                  <a:pt x="373494" y="239370"/>
                  <a:pt x="374152" y="238585"/>
                </a:cubicBezTo>
                <a:lnTo>
                  <a:pt x="379867" y="231375"/>
                </a:lnTo>
                <a:cubicBezTo>
                  <a:pt x="380776" y="230270"/>
                  <a:pt x="380618" y="228638"/>
                  <a:pt x="379514" y="227728"/>
                </a:cubicBezTo>
                <a:cubicBezTo>
                  <a:pt x="378932" y="227249"/>
                  <a:pt x="378171" y="227047"/>
                  <a:pt x="377428" y="227175"/>
                </a:cubicBezTo>
                <a:lnTo>
                  <a:pt x="368799" y="228822"/>
                </a:lnTo>
                <a:cubicBezTo>
                  <a:pt x="367730" y="228996"/>
                  <a:pt x="366665" y="228492"/>
                  <a:pt x="366122" y="227556"/>
                </a:cubicBezTo>
                <a:lnTo>
                  <a:pt x="361664" y="219716"/>
                </a:lnTo>
                <a:cubicBezTo>
                  <a:pt x="361079" y="218721"/>
                  <a:pt x="359951" y="218176"/>
                  <a:pt x="358807" y="218335"/>
                </a:cubicBezTo>
                <a:close/>
                <a:moveTo>
                  <a:pt x="536362" y="199590"/>
                </a:moveTo>
                <a:cubicBezTo>
                  <a:pt x="535367" y="199090"/>
                  <a:pt x="534177" y="199177"/>
                  <a:pt x="533266" y="199819"/>
                </a:cubicBezTo>
                <a:lnTo>
                  <a:pt x="526437" y="205753"/>
                </a:lnTo>
                <a:cubicBezTo>
                  <a:pt x="525641" y="206520"/>
                  <a:pt x="524424" y="206650"/>
                  <a:pt x="523484" y="206067"/>
                </a:cubicBezTo>
                <a:lnTo>
                  <a:pt x="515864" y="201676"/>
                </a:lnTo>
                <a:cubicBezTo>
                  <a:pt x="514924" y="201094"/>
                  <a:pt x="513708" y="201223"/>
                  <a:pt x="512911" y="201990"/>
                </a:cubicBezTo>
                <a:cubicBezTo>
                  <a:pt x="512120" y="202712"/>
                  <a:pt x="511822" y="203828"/>
                  <a:pt x="512149" y="204848"/>
                </a:cubicBezTo>
                <a:lnTo>
                  <a:pt x="513407" y="208658"/>
                </a:lnTo>
                <a:lnTo>
                  <a:pt x="514940" y="213573"/>
                </a:lnTo>
                <a:cubicBezTo>
                  <a:pt x="515050" y="214065"/>
                  <a:pt x="515050" y="214576"/>
                  <a:pt x="514940" y="215068"/>
                </a:cubicBezTo>
                <a:cubicBezTo>
                  <a:pt x="514841" y="215546"/>
                  <a:pt x="514587" y="215979"/>
                  <a:pt x="514216" y="216297"/>
                </a:cubicBezTo>
                <a:lnTo>
                  <a:pt x="507292" y="222726"/>
                </a:lnTo>
                <a:cubicBezTo>
                  <a:pt x="506440" y="223448"/>
                  <a:pt x="506182" y="224653"/>
                  <a:pt x="506663" y="225660"/>
                </a:cubicBezTo>
                <a:cubicBezTo>
                  <a:pt x="507136" y="226665"/>
                  <a:pt x="508185" y="227269"/>
                  <a:pt x="509292" y="227175"/>
                </a:cubicBezTo>
                <a:lnTo>
                  <a:pt x="518645" y="226355"/>
                </a:lnTo>
                <a:cubicBezTo>
                  <a:pt x="519749" y="226263"/>
                  <a:pt x="520794" y="226867"/>
                  <a:pt x="521265" y="227870"/>
                </a:cubicBezTo>
                <a:lnTo>
                  <a:pt x="525151" y="236338"/>
                </a:lnTo>
                <a:cubicBezTo>
                  <a:pt x="525622" y="237341"/>
                  <a:pt x="526666" y="237944"/>
                  <a:pt x="527770" y="237852"/>
                </a:cubicBezTo>
                <a:cubicBezTo>
                  <a:pt x="528879" y="237756"/>
                  <a:pt x="529798" y="236956"/>
                  <a:pt x="530047" y="235871"/>
                </a:cubicBezTo>
                <a:lnTo>
                  <a:pt x="532285" y="226736"/>
                </a:lnTo>
                <a:cubicBezTo>
                  <a:pt x="532516" y="225740"/>
                  <a:pt x="533331" y="224985"/>
                  <a:pt x="534343" y="224831"/>
                </a:cubicBezTo>
                <a:lnTo>
                  <a:pt x="543468" y="223146"/>
                </a:lnTo>
                <a:cubicBezTo>
                  <a:pt x="544554" y="222953"/>
                  <a:pt x="545433" y="222152"/>
                  <a:pt x="545725" y="221088"/>
                </a:cubicBezTo>
                <a:cubicBezTo>
                  <a:pt x="545885" y="220026"/>
                  <a:pt x="545403" y="218969"/>
                  <a:pt x="544496" y="218393"/>
                </a:cubicBezTo>
                <a:lnTo>
                  <a:pt x="536876" y="214011"/>
                </a:lnTo>
                <a:cubicBezTo>
                  <a:pt x="535949" y="213451"/>
                  <a:pt x="535475" y="212367"/>
                  <a:pt x="535695" y="211306"/>
                </a:cubicBezTo>
                <a:lnTo>
                  <a:pt x="537600" y="202505"/>
                </a:lnTo>
                <a:cubicBezTo>
                  <a:pt x="537813" y="201372"/>
                  <a:pt x="537325" y="200223"/>
                  <a:pt x="536362" y="199590"/>
                </a:cubicBezTo>
                <a:close/>
                <a:moveTo>
                  <a:pt x="443465" y="139907"/>
                </a:moveTo>
                <a:cubicBezTo>
                  <a:pt x="440922" y="140052"/>
                  <a:pt x="438666" y="141586"/>
                  <a:pt x="437598" y="143898"/>
                </a:cubicBezTo>
                <a:lnTo>
                  <a:pt x="430987" y="163519"/>
                </a:lnTo>
                <a:cubicBezTo>
                  <a:pt x="430296" y="165960"/>
                  <a:pt x="428026" y="167612"/>
                  <a:pt x="425491" y="167520"/>
                </a:cubicBezTo>
                <a:lnTo>
                  <a:pt x="405308" y="167520"/>
                </a:lnTo>
                <a:cubicBezTo>
                  <a:pt x="402769" y="167424"/>
                  <a:pt x="400495" y="169077"/>
                  <a:pt x="399802" y="171520"/>
                </a:cubicBezTo>
                <a:cubicBezTo>
                  <a:pt x="399078" y="173869"/>
                  <a:pt x="399794" y="176423"/>
                  <a:pt x="401631" y="178055"/>
                </a:cubicBezTo>
                <a:lnTo>
                  <a:pt x="408603" y="184236"/>
                </a:lnTo>
                <a:lnTo>
                  <a:pt x="417414" y="192228"/>
                </a:lnTo>
                <a:cubicBezTo>
                  <a:pt x="418225" y="193037"/>
                  <a:pt x="418851" y="194012"/>
                  <a:pt x="419252" y="195085"/>
                </a:cubicBezTo>
                <a:cubicBezTo>
                  <a:pt x="419614" y="196144"/>
                  <a:pt x="419614" y="197294"/>
                  <a:pt x="419252" y="198352"/>
                </a:cubicBezTo>
                <a:lnTo>
                  <a:pt x="413014" y="219069"/>
                </a:lnTo>
                <a:cubicBezTo>
                  <a:pt x="412168" y="221507"/>
                  <a:pt x="413081" y="224208"/>
                  <a:pt x="415233" y="225632"/>
                </a:cubicBezTo>
                <a:cubicBezTo>
                  <a:pt x="417328" y="227089"/>
                  <a:pt x="420110" y="227089"/>
                  <a:pt x="422205" y="225632"/>
                </a:cubicBezTo>
                <a:lnTo>
                  <a:pt x="439817" y="213250"/>
                </a:lnTo>
                <a:cubicBezTo>
                  <a:pt x="441916" y="211803"/>
                  <a:pt x="444690" y="211803"/>
                  <a:pt x="446789" y="213250"/>
                </a:cubicBezTo>
                <a:lnTo>
                  <a:pt x="464382" y="225632"/>
                </a:lnTo>
                <a:cubicBezTo>
                  <a:pt x="466477" y="227089"/>
                  <a:pt x="469259" y="227089"/>
                  <a:pt x="471354" y="225632"/>
                </a:cubicBezTo>
                <a:cubicBezTo>
                  <a:pt x="473437" y="224170"/>
                  <a:pt x="474329" y="221523"/>
                  <a:pt x="473554" y="219098"/>
                </a:cubicBezTo>
                <a:lnTo>
                  <a:pt x="467316" y="198381"/>
                </a:lnTo>
                <a:cubicBezTo>
                  <a:pt x="466600" y="196141"/>
                  <a:pt x="467330" y="193692"/>
                  <a:pt x="469154" y="192209"/>
                </a:cubicBezTo>
                <a:lnTo>
                  <a:pt x="485346" y="178398"/>
                </a:lnTo>
                <a:cubicBezTo>
                  <a:pt x="487150" y="176746"/>
                  <a:pt x="487863" y="174214"/>
                  <a:pt x="487185" y="171863"/>
                </a:cubicBezTo>
                <a:cubicBezTo>
                  <a:pt x="486262" y="169572"/>
                  <a:pt x="484098" y="168021"/>
                  <a:pt x="481632" y="167882"/>
                </a:cubicBezTo>
                <a:lnTo>
                  <a:pt x="461448" y="167882"/>
                </a:lnTo>
                <a:cubicBezTo>
                  <a:pt x="458960" y="167831"/>
                  <a:pt x="456765" y="166240"/>
                  <a:pt x="455943" y="163891"/>
                </a:cubicBezTo>
                <a:lnTo>
                  <a:pt x="449342" y="144269"/>
                </a:lnTo>
                <a:cubicBezTo>
                  <a:pt x="448427" y="141774"/>
                  <a:pt x="446119" y="140060"/>
                  <a:pt x="443465" y="139907"/>
                </a:cubicBezTo>
                <a:close/>
                <a:moveTo>
                  <a:pt x="336177" y="0"/>
                </a:moveTo>
                <a:cubicBezTo>
                  <a:pt x="521842" y="0"/>
                  <a:pt x="672354" y="150512"/>
                  <a:pt x="672354" y="336177"/>
                </a:cubicBezTo>
                <a:cubicBezTo>
                  <a:pt x="672354" y="475426"/>
                  <a:pt x="587691" y="594901"/>
                  <a:pt x="467032" y="645936"/>
                </a:cubicBezTo>
                <a:lnTo>
                  <a:pt x="407327" y="664469"/>
                </a:lnTo>
                <a:lnTo>
                  <a:pt x="407327" y="503962"/>
                </a:lnTo>
                <a:cubicBezTo>
                  <a:pt x="454013" y="439362"/>
                  <a:pt x="476660" y="360480"/>
                  <a:pt x="471354" y="280953"/>
                </a:cubicBezTo>
                <a:cubicBezTo>
                  <a:pt x="470415" y="265197"/>
                  <a:pt x="456882" y="253186"/>
                  <a:pt x="441126" y="254126"/>
                </a:cubicBezTo>
                <a:cubicBezTo>
                  <a:pt x="425371" y="255065"/>
                  <a:pt x="413360" y="268598"/>
                  <a:pt x="414299" y="284353"/>
                </a:cubicBezTo>
                <a:cubicBezTo>
                  <a:pt x="418917" y="349925"/>
                  <a:pt x="400518" y="415055"/>
                  <a:pt x="362274" y="468519"/>
                </a:cubicBezTo>
                <a:lnTo>
                  <a:pt x="349891" y="468519"/>
                </a:lnTo>
                <a:cubicBezTo>
                  <a:pt x="340633" y="468815"/>
                  <a:pt x="331451" y="470288"/>
                  <a:pt x="322564" y="472900"/>
                </a:cubicBezTo>
                <a:cubicBezTo>
                  <a:pt x="319840" y="473624"/>
                  <a:pt x="318144" y="474101"/>
                  <a:pt x="315763" y="474967"/>
                </a:cubicBezTo>
                <a:cubicBezTo>
                  <a:pt x="249634" y="499014"/>
                  <a:pt x="198715" y="538077"/>
                  <a:pt x="159205" y="595804"/>
                </a:cubicBezTo>
                <a:lnTo>
                  <a:pt x="148435" y="615058"/>
                </a:lnTo>
                <a:lnTo>
                  <a:pt x="148218" y="614940"/>
                </a:lnTo>
                <a:cubicBezTo>
                  <a:pt x="58794" y="554527"/>
                  <a:pt x="0" y="452218"/>
                  <a:pt x="0" y="336177"/>
                </a:cubicBezTo>
                <a:cubicBezTo>
                  <a:pt x="0" y="150512"/>
                  <a:pt x="150512" y="0"/>
                  <a:pt x="336177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endParaRPr lang="en-US" sz="2400" noProof="0" dirty="0">
              <a:solidFill>
                <a:schemeClr val="tx1">
                  <a:lumMod val="95000"/>
                  <a:lumOff val="5000"/>
                </a:schemeClr>
              </a:solidFill>
              <a:latin typeface="Aptos Black" panose="020B00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D4F8BAB-A788-90E8-1C22-CD78B2C15AA3}"/>
              </a:ext>
            </a:extLst>
          </p:cNvPr>
          <p:cNvSpPr txBox="1"/>
          <p:nvPr/>
        </p:nvSpPr>
        <p:spPr>
          <a:xfrm>
            <a:off x="1993104" y="3423905"/>
            <a:ext cx="7933093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0" dirty="0">
                <a:solidFill>
                  <a:schemeClr val="bg1"/>
                </a:solidFill>
              </a:rPr>
              <a:t>Explain the reasons for conducting a literature review to justify its use.</a:t>
            </a:r>
            <a:br>
              <a:rPr lang="en-US" noProof="0" dirty="0">
                <a:solidFill>
                  <a:schemeClr val="bg1"/>
                </a:solidFill>
              </a:rPr>
            </a:br>
            <a:endParaRPr lang="en-US" noProof="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0" dirty="0">
                <a:solidFill>
                  <a:schemeClr val="bg1"/>
                </a:solidFill>
              </a:rPr>
              <a:t>Organise a literature review consistent with a quantitative, qualitative, or mixed‑methods approach.</a:t>
            </a:r>
            <a:br>
              <a:rPr lang="en-US" noProof="0" dirty="0">
                <a:solidFill>
                  <a:schemeClr val="bg1"/>
                </a:solidFill>
              </a:rPr>
            </a:br>
            <a:endParaRPr lang="en-US" noProof="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0" dirty="0">
                <a:solidFill>
                  <a:schemeClr val="bg1"/>
                </a:solidFill>
              </a:rPr>
              <a:t>Describe the steps typically taken when carrying out a literature </a:t>
            </a:r>
            <a:r>
              <a:rPr lang="en-US" noProof="0" dirty="0" err="1">
                <a:solidFill>
                  <a:schemeClr val="bg1"/>
                </a:solidFill>
              </a:rPr>
              <a:t>review.Identify</a:t>
            </a:r>
            <a:r>
              <a:rPr lang="en-US" noProof="0" dirty="0">
                <a:solidFill>
                  <a:schemeClr val="bg1"/>
                </a:solidFill>
              </a:rPr>
              <a:t> the types of terms that need to be defined in an academic research report.</a:t>
            </a:r>
          </a:p>
        </p:txBody>
      </p:sp>
      <p:pic>
        <p:nvPicPr>
          <p:cNvPr id="14" name="Picture 4" descr="No hay ninguna descripción de la foto disponible.">
            <a:extLst>
              <a:ext uri="{FF2B5EF4-FFF2-40B4-BE49-F238E27FC236}">
                <a16:creationId xmlns:a16="http://schemas.microsoft.com/office/drawing/2014/main" id="{3F4684AD-4791-EB5B-1620-857478F09C4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biLevel thresh="25000"/>
            <a:alphaModFix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colorTemperature colorTemp="11200"/>
                    </a14:imgEffect>
                    <a14:imgEffect>
                      <a14:brightnessContrast bright="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26703" b="28790"/>
          <a:stretch/>
        </p:blipFill>
        <p:spPr bwMode="auto">
          <a:xfrm>
            <a:off x="843835" y="6356349"/>
            <a:ext cx="267089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501118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ED551A-B727-4310-0E5A-F19D2C4237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A5D127-D8DB-4A9A-D982-9D797CD928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6E845D0-70B0-405D-A6BF-798C9CBE9027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2/24/2026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36" name="Título 1">
            <a:extLst>
              <a:ext uri="{FF2B5EF4-FFF2-40B4-BE49-F238E27FC236}">
                <a16:creationId xmlns:a16="http://schemas.microsoft.com/office/drawing/2014/main" id="{6E606454-B0D4-AF96-58C4-756C89B1153C}"/>
              </a:ext>
            </a:extLst>
          </p:cNvPr>
          <p:cNvSpPr txBox="1">
            <a:spLocks/>
          </p:cNvSpPr>
          <p:nvPr/>
        </p:nvSpPr>
        <p:spPr>
          <a:xfrm>
            <a:off x="891590" y="501651"/>
            <a:ext cx="7170486" cy="475354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Verdana" panose="020B0604030504040204" pitchFamily="34" charset="0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tos SemiBold" panose="020F0502020204030204" pitchFamily="34" charset="0"/>
                <a:ea typeface="+mj-ea"/>
                <a:cs typeface="+mj-cs"/>
              </a:rPr>
              <a:t>Steps in the process of developing a research proposal</a:t>
            </a: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7B8614AD-55CA-3CE1-40AE-B6E1B54631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9389" y="6356348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0EA680-D336-4FF7-8B7A-9848BB0A1C3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FD90BA18-5DB8-6458-E2DA-823C66057A9D}"/>
              </a:ext>
            </a:extLst>
          </p:cNvPr>
          <p:cNvSpPr txBox="1">
            <a:spLocks/>
          </p:cNvSpPr>
          <p:nvPr/>
        </p:nvSpPr>
        <p:spPr>
          <a:xfrm>
            <a:off x="11003616" y="136525"/>
            <a:ext cx="11175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6E845D0-70B0-405D-A6BF-798C9CBE9027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2/24/2026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1A9E7CE3-CC0E-0595-5A7A-A82DB7AD711F}"/>
              </a:ext>
            </a:extLst>
          </p:cNvPr>
          <p:cNvSpPr txBox="1">
            <a:spLocks/>
          </p:cNvSpPr>
          <p:nvPr/>
        </p:nvSpPr>
        <p:spPr>
          <a:xfrm>
            <a:off x="2707689" y="6355745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Data analysis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1AC625C-549A-4333-B35C-BEEDE95A970A}"/>
              </a:ext>
            </a:extLst>
          </p:cNvPr>
          <p:cNvSpPr txBox="1"/>
          <p:nvPr/>
        </p:nvSpPr>
        <p:spPr>
          <a:xfrm>
            <a:off x="1028886" y="1617452"/>
            <a:ext cx="496233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1600" noProof="0" dirty="0"/>
              <a:t>The topic (of the research) is the subject or matter proposed for study. </a:t>
            </a:r>
            <a:r>
              <a:rPr lang="en-US" sz="1600" b="1" noProof="0" dirty="0">
                <a:highlight>
                  <a:srgbClr val="FFC000"/>
                </a:highlight>
              </a:rPr>
              <a:t>It is the central idea to learn about or explore in a study</a:t>
            </a:r>
            <a:r>
              <a:rPr lang="en-US" sz="1600" b="1" noProof="0" dirty="0"/>
              <a:t>.</a:t>
            </a:r>
            <a:endParaRPr kumimoji="0" lang="en-US" sz="16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6A22F8B-44A8-408C-954D-33B101745C9B}"/>
              </a:ext>
            </a:extLst>
          </p:cNvPr>
          <p:cNvSpPr/>
          <p:nvPr/>
        </p:nvSpPr>
        <p:spPr>
          <a:xfrm>
            <a:off x="6404705" y="3204581"/>
            <a:ext cx="220098" cy="220098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B6F96287-95F3-C7AC-8178-9B4115D1908E}"/>
              </a:ext>
            </a:extLst>
          </p:cNvPr>
          <p:cNvSpPr/>
          <p:nvPr/>
        </p:nvSpPr>
        <p:spPr>
          <a:xfrm>
            <a:off x="2204386" y="3728149"/>
            <a:ext cx="458398" cy="45839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BAF63FC-65BD-BEBC-46E9-DF52382AEA79}"/>
              </a:ext>
            </a:extLst>
          </p:cNvPr>
          <p:cNvCxnSpPr>
            <a:cxnSpLocks/>
            <a:stCxn id="16" idx="2"/>
            <a:endCxn id="11" idx="6"/>
          </p:cNvCxnSpPr>
          <p:nvPr/>
        </p:nvCxnSpPr>
        <p:spPr>
          <a:xfrm flipH="1">
            <a:off x="2662784" y="3956943"/>
            <a:ext cx="2895313" cy="405"/>
          </a:xfrm>
          <a:prstGeom prst="line">
            <a:avLst/>
          </a:prstGeom>
          <a:ln w="9525">
            <a:solidFill>
              <a:srgbClr val="F266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30C4A8BB-2802-AA44-4E88-D7CBDA8C0306}"/>
              </a:ext>
            </a:extLst>
          </p:cNvPr>
          <p:cNvSpPr/>
          <p:nvPr/>
        </p:nvSpPr>
        <p:spPr>
          <a:xfrm>
            <a:off x="8911808" y="3727744"/>
            <a:ext cx="458398" cy="458398"/>
          </a:xfrm>
          <a:prstGeom prst="ellipse">
            <a:avLst/>
          </a:prstGeom>
          <a:solidFill>
            <a:srgbClr val="FDE5D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05D3248C-0C4C-4A38-729D-F5DCE5DC8160}"/>
              </a:ext>
            </a:extLst>
          </p:cNvPr>
          <p:cNvSpPr/>
          <p:nvPr/>
        </p:nvSpPr>
        <p:spPr>
          <a:xfrm>
            <a:off x="5558097" y="3727744"/>
            <a:ext cx="458398" cy="458398"/>
          </a:xfrm>
          <a:prstGeom prst="ellipse">
            <a:avLst/>
          </a:prstGeom>
          <a:solidFill>
            <a:srgbClr val="F2666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39BEB29-1CE3-EA2C-7A1B-C2089BB254E5}"/>
              </a:ext>
            </a:extLst>
          </p:cNvPr>
          <p:cNvSpPr txBox="1"/>
          <p:nvPr/>
        </p:nvSpPr>
        <p:spPr>
          <a:xfrm>
            <a:off x="1720035" y="3168228"/>
            <a:ext cx="1593604" cy="32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b="1" noProof="0" dirty="0"/>
              <a:t>Title</a:t>
            </a:r>
            <a:endParaRPr lang="en-US" b="1" noProof="0" dirty="0">
              <a:solidFill>
                <a:schemeClr val="accent5"/>
              </a:solidFill>
              <a:latin typeface="Corbel" panose="020B0503020204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3BF493C-7500-419C-A24B-A6F61821377D}"/>
              </a:ext>
            </a:extLst>
          </p:cNvPr>
          <p:cNvSpPr txBox="1"/>
          <p:nvPr/>
        </p:nvSpPr>
        <p:spPr>
          <a:xfrm>
            <a:off x="8344205" y="3166481"/>
            <a:ext cx="1593604" cy="559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b="1" noProof="0" dirty="0"/>
              <a:t>Object of review</a:t>
            </a:r>
            <a:endParaRPr lang="en-US" b="1" noProof="0" dirty="0">
              <a:solidFill>
                <a:schemeClr val="accent5"/>
              </a:solidFill>
              <a:latin typeface="Corbel" panose="020B050302020402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AEA840D-3A24-A011-6CDC-DD0C303D0EE2}"/>
              </a:ext>
            </a:extLst>
          </p:cNvPr>
          <p:cNvSpPr txBox="1"/>
          <p:nvPr/>
        </p:nvSpPr>
        <p:spPr>
          <a:xfrm>
            <a:off x="5032120" y="3166481"/>
            <a:ext cx="1593604" cy="32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b="1" noProof="0" dirty="0"/>
              <a:t>Significance</a:t>
            </a:r>
            <a:endParaRPr lang="en-US" b="1" noProof="0" dirty="0">
              <a:solidFill>
                <a:schemeClr val="accent5"/>
              </a:solidFill>
              <a:latin typeface="Corbel" panose="020B050302020402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5C1DC44-60F0-7542-6F2D-9840CD263C7C}"/>
              </a:ext>
            </a:extLst>
          </p:cNvPr>
          <p:cNvSpPr txBox="1"/>
          <p:nvPr/>
        </p:nvSpPr>
        <p:spPr>
          <a:xfrm>
            <a:off x="4326889" y="4373172"/>
            <a:ext cx="2920814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ClrTx/>
              <a:buSzTx/>
              <a:tabLst/>
              <a:defRPr/>
            </a:pPr>
            <a:r>
              <a:rPr lang="en-US" sz="1400" b="1" noProof="0" dirty="0"/>
              <a:t>¿</a:t>
            </a:r>
            <a:r>
              <a:rPr lang="en-US" sz="1400" b="1" noProof="0" dirty="0">
                <a:highlight>
                  <a:srgbClr val="FFC000"/>
                </a:highlight>
              </a:rPr>
              <a:t>Should</a:t>
            </a:r>
            <a:r>
              <a:rPr lang="en-US" sz="1400" b="1" noProof="0" dirty="0"/>
              <a:t> the problem be studied?</a:t>
            </a:r>
          </a:p>
          <a:p>
            <a:pPr>
              <a:defRPr/>
            </a:pPr>
            <a:r>
              <a:rPr lang="en-US" sz="1400" b="1" noProof="0" dirty="0"/>
              <a:t>¿</a:t>
            </a:r>
            <a:r>
              <a:rPr lang="en-US" sz="1400" b="1" noProof="0" dirty="0">
                <a:highlight>
                  <a:srgbClr val="FFC000"/>
                </a:highlight>
              </a:rPr>
              <a:t>Can</a:t>
            </a:r>
            <a:r>
              <a:rPr lang="en-US" sz="1400" b="1" noProof="0" dirty="0"/>
              <a:t> de problem be studied?</a:t>
            </a:r>
          </a:p>
          <a:p>
            <a:pPr marL="285750" lvl="0" indent="-285750">
              <a:buFont typeface="Arial" panose="020B0604020202020204" pitchFamily="34" charset="0"/>
              <a:buChar char="•"/>
              <a:defRPr/>
            </a:pPr>
            <a:r>
              <a:rPr lang="en-US" sz="1200" noProof="0" dirty="0">
                <a:solidFill>
                  <a:schemeClr val="bg1">
                    <a:lumMod val="75000"/>
                  </a:schemeClr>
                </a:solidFill>
              </a:rPr>
              <a:t>Availability of data</a:t>
            </a:r>
          </a:p>
          <a:p>
            <a:pPr marL="285750" lvl="0" indent="-285750">
              <a:buFont typeface="Arial" panose="020B0604020202020204" pitchFamily="34" charset="0"/>
              <a:buChar char="•"/>
              <a:defRPr/>
            </a:pPr>
            <a:r>
              <a:rPr lang="en-US" sz="1200" noProof="0" dirty="0">
                <a:solidFill>
                  <a:schemeClr val="bg1">
                    <a:lumMod val="75000"/>
                  </a:schemeClr>
                </a:solidFill>
              </a:rPr>
              <a:t>Availability of resources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FC55D1C-6EC5-5019-BBC8-41217524E30C}"/>
              </a:ext>
            </a:extLst>
          </p:cNvPr>
          <p:cNvSpPr txBox="1"/>
          <p:nvPr/>
        </p:nvSpPr>
        <p:spPr>
          <a:xfrm>
            <a:off x="7909799" y="4373172"/>
            <a:ext cx="292081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spcBef>
                <a:spcPts val="600"/>
              </a:spcBef>
              <a:defRPr/>
            </a:pPr>
            <a:r>
              <a:rPr lang="en-US" sz="1400" b="1" dirty="0"/>
              <a:t>Detailed examination of the research topic. 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26D2150B-82ED-D970-5300-97F4D5A65DB9}"/>
              </a:ext>
            </a:extLst>
          </p:cNvPr>
          <p:cNvCxnSpPr>
            <a:cxnSpLocks/>
            <a:stCxn id="15" idx="2"/>
            <a:endCxn id="16" idx="6"/>
          </p:cNvCxnSpPr>
          <p:nvPr/>
        </p:nvCxnSpPr>
        <p:spPr>
          <a:xfrm flipH="1">
            <a:off x="6016495" y="3956943"/>
            <a:ext cx="2895313" cy="0"/>
          </a:xfrm>
          <a:prstGeom prst="line">
            <a:avLst/>
          </a:prstGeom>
          <a:ln w="9525">
            <a:solidFill>
              <a:srgbClr val="F266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85942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5" grpId="0" animBg="1"/>
      <p:bldP spid="16" grpId="0" animBg="1"/>
      <p:bldP spid="19" grpId="0"/>
      <p:bldP spid="24" grpId="0"/>
      <p:bldP spid="25" grpId="0"/>
      <p:bldP spid="2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903447-2721-115F-F9BD-C767FB362C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19C293-96E3-BEB3-88B0-FC9CF77770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6E845D0-70B0-405D-A6BF-798C9CBE9027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2/24/2026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36" name="Título 1">
            <a:extLst>
              <a:ext uri="{FF2B5EF4-FFF2-40B4-BE49-F238E27FC236}">
                <a16:creationId xmlns:a16="http://schemas.microsoft.com/office/drawing/2014/main" id="{921CC9D3-1208-B97C-7E2F-A903276C1EA1}"/>
              </a:ext>
            </a:extLst>
          </p:cNvPr>
          <p:cNvSpPr txBox="1">
            <a:spLocks/>
          </p:cNvSpPr>
          <p:nvPr/>
        </p:nvSpPr>
        <p:spPr>
          <a:xfrm>
            <a:off x="891590" y="501651"/>
            <a:ext cx="6221186" cy="475354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Verdana" panose="020B0604030504040204" pitchFamily="34" charset="0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tos SemiBold" panose="020F0502020204030204" pitchFamily="34" charset="0"/>
                <a:ea typeface="+mj-ea"/>
                <a:cs typeface="+mj-cs"/>
              </a:rPr>
              <a:t>Steps in the process of developing a research proposal</a:t>
            </a: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58DB7ACF-5A01-6F0C-8947-304B044C5C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9389" y="6356348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0EA680-D336-4FF7-8B7A-9848BB0A1C3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C230D88C-B83D-1FB8-4659-51AA8A3A4801}"/>
              </a:ext>
            </a:extLst>
          </p:cNvPr>
          <p:cNvSpPr txBox="1">
            <a:spLocks/>
          </p:cNvSpPr>
          <p:nvPr/>
        </p:nvSpPr>
        <p:spPr>
          <a:xfrm>
            <a:off x="11003616" y="136525"/>
            <a:ext cx="11175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6E845D0-70B0-405D-A6BF-798C9CBE9027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2/24/2026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5A7E9D2D-D491-89BE-C65E-3E658714ACB2}"/>
              </a:ext>
            </a:extLst>
          </p:cNvPr>
          <p:cNvSpPr txBox="1">
            <a:spLocks/>
          </p:cNvSpPr>
          <p:nvPr/>
        </p:nvSpPr>
        <p:spPr>
          <a:xfrm>
            <a:off x="2707689" y="6355745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Data analysis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C34BB1C-4E63-2A84-AAAC-005E5E746FAF}"/>
              </a:ext>
            </a:extLst>
          </p:cNvPr>
          <p:cNvSpPr txBox="1"/>
          <p:nvPr/>
        </p:nvSpPr>
        <p:spPr>
          <a:xfrm>
            <a:off x="1028887" y="2436155"/>
            <a:ext cx="5793602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</a:pPr>
            <a:r>
              <a:rPr lang="en-US" sz="1600" dirty="0"/>
              <a:t>This is the case when the topic contributes to the body of research knowledge in the available literature.</a:t>
            </a:r>
            <a:endParaRPr lang="en-US" sz="1600" noProof="0" dirty="0">
              <a:solidFill>
                <a:schemeClr val="accent5"/>
              </a:solidFill>
              <a:latin typeface="Corbel" panose="020B0503020204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DE3FF40-3664-415C-58F5-0312879312FA}"/>
              </a:ext>
            </a:extLst>
          </p:cNvPr>
          <p:cNvSpPr txBox="1"/>
          <p:nvPr/>
        </p:nvSpPr>
        <p:spPr>
          <a:xfrm>
            <a:off x="1091707" y="3076602"/>
            <a:ext cx="5936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noProof="0" dirty="0">
                <a:solidFill>
                  <a:srgbClr val="FF0000"/>
                </a:solidFill>
                <a:latin typeface="Aptos Black" panose="020B0004020202020204" pitchFamily="34" charset="0"/>
              </a:rPr>
              <a:t>1.</a:t>
            </a:r>
            <a:endParaRPr lang="en-US" sz="3600" b="1" noProof="0" dirty="0">
              <a:solidFill>
                <a:srgbClr val="FF0000"/>
              </a:solidFill>
              <a:latin typeface="Aptos Black" panose="020B00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2CAC029-7B07-8C20-C3FC-78839D5241C3}"/>
              </a:ext>
            </a:extLst>
          </p:cNvPr>
          <p:cNvSpPr txBox="1"/>
          <p:nvPr/>
        </p:nvSpPr>
        <p:spPr>
          <a:xfrm>
            <a:off x="1091707" y="3922468"/>
            <a:ext cx="5936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>
                <a:solidFill>
                  <a:srgbClr val="FF0000"/>
                </a:solidFill>
                <a:latin typeface="Aptos Black" panose="020B0004020202020204" pitchFamily="34" charset="0"/>
              </a:rPr>
              <a:t>2</a:t>
            </a:r>
            <a:r>
              <a:rPr lang="en-US" sz="3600" noProof="0" dirty="0">
                <a:solidFill>
                  <a:srgbClr val="FF0000"/>
                </a:solidFill>
                <a:latin typeface="Aptos Black" panose="020B0004020202020204" pitchFamily="34" charset="0"/>
              </a:rPr>
              <a:t>.</a:t>
            </a:r>
            <a:endParaRPr lang="en-US" sz="3600" b="1" noProof="0" dirty="0">
              <a:solidFill>
                <a:srgbClr val="FF0000"/>
              </a:solidFill>
              <a:latin typeface="Aptos Black" panose="020B00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0164EE5-B9CB-4560-EBDD-A19240E33937}"/>
              </a:ext>
            </a:extLst>
          </p:cNvPr>
          <p:cNvSpPr txBox="1"/>
          <p:nvPr/>
        </p:nvSpPr>
        <p:spPr>
          <a:xfrm>
            <a:off x="1091707" y="4655248"/>
            <a:ext cx="5936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>
                <a:solidFill>
                  <a:srgbClr val="FF0000"/>
                </a:solidFill>
                <a:latin typeface="Aptos Black" panose="020B0004020202020204" pitchFamily="34" charset="0"/>
              </a:rPr>
              <a:t>3</a:t>
            </a:r>
            <a:r>
              <a:rPr lang="en-US" sz="3600" noProof="0" dirty="0">
                <a:solidFill>
                  <a:srgbClr val="FF0000"/>
                </a:solidFill>
                <a:latin typeface="Aptos Black" panose="020B0004020202020204" pitchFamily="34" charset="0"/>
              </a:rPr>
              <a:t>.</a:t>
            </a:r>
            <a:endParaRPr lang="en-US" sz="3600" b="1" noProof="0" dirty="0">
              <a:solidFill>
                <a:srgbClr val="FF0000"/>
              </a:solidFill>
              <a:latin typeface="Aptos Black" panose="020B00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C89D27A-02AF-F450-E36A-F74F57FCD50A}"/>
              </a:ext>
            </a:extLst>
          </p:cNvPr>
          <p:cNvSpPr txBox="1"/>
          <p:nvPr/>
        </p:nvSpPr>
        <p:spPr>
          <a:xfrm>
            <a:off x="1663283" y="3138157"/>
            <a:ext cx="208881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Replicate previous studies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2909C0C-1716-7D67-A45C-F24352A496CC}"/>
              </a:ext>
            </a:extLst>
          </p:cNvPr>
          <p:cNvSpPr txBox="1"/>
          <p:nvPr/>
        </p:nvSpPr>
        <p:spPr>
          <a:xfrm>
            <a:off x="1663282" y="3953245"/>
            <a:ext cx="320188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Give voice to underrepresented groups or individuals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2EE9E38-A494-409E-2FE4-67649E5CFBC9}"/>
              </a:ext>
            </a:extLst>
          </p:cNvPr>
          <p:cNvSpPr txBox="1"/>
          <p:nvPr/>
        </p:nvSpPr>
        <p:spPr>
          <a:xfrm>
            <a:off x="1663282" y="4716804"/>
            <a:ext cx="345317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600" b="1"/>
            </a:lvl1pPr>
          </a:lstStyle>
          <a:p>
            <a:r>
              <a:rPr lang="en-US" dirty="0"/>
              <a:t>Address social justice or transform researchers’ ideas and beliefs</a:t>
            </a:r>
          </a:p>
        </p:txBody>
      </p:sp>
      <p:sp>
        <p:nvSpPr>
          <p:cNvPr id="29" name="Left Brace 28">
            <a:extLst>
              <a:ext uri="{FF2B5EF4-FFF2-40B4-BE49-F238E27FC236}">
                <a16:creationId xmlns:a16="http://schemas.microsoft.com/office/drawing/2014/main" id="{26C0D152-7C40-D010-56A8-A0AA44EE0EC4}"/>
              </a:ext>
            </a:extLst>
          </p:cNvPr>
          <p:cNvSpPr/>
          <p:nvPr/>
        </p:nvSpPr>
        <p:spPr>
          <a:xfrm rot="10800000">
            <a:off x="6433540" y="2476544"/>
            <a:ext cx="508000" cy="2953401"/>
          </a:xfrm>
          <a:prstGeom prst="leftBrace">
            <a:avLst>
              <a:gd name="adj1" fmla="val 58333"/>
              <a:gd name="adj2" fmla="val 48817"/>
            </a:avLst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C65A66C-7E1E-A308-2150-5F349242D6C8}"/>
              </a:ext>
            </a:extLst>
          </p:cNvPr>
          <p:cNvSpPr txBox="1"/>
          <p:nvPr/>
        </p:nvSpPr>
        <p:spPr>
          <a:xfrm>
            <a:off x="7384158" y="3491579"/>
            <a:ext cx="271046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highlight>
                  <a:srgbClr val="FFC000"/>
                </a:highlight>
              </a:rPr>
              <a:t>How does this project contribute to the literature?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72705EC-4CF2-B194-6B79-F43672BE1931}"/>
              </a:ext>
            </a:extLst>
          </p:cNvPr>
          <p:cNvSpPr txBox="1"/>
          <p:nvPr/>
        </p:nvSpPr>
        <p:spPr>
          <a:xfrm>
            <a:off x="1028886" y="2011152"/>
            <a:ext cx="49623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b="1" noProof="0" dirty="0">
                <a:highlight>
                  <a:srgbClr val="FFC000"/>
                </a:highlight>
              </a:rPr>
              <a:t>Should the topic be studied?</a:t>
            </a:r>
            <a:endParaRPr kumimoji="0" lang="en-US" b="1" i="0" u="none" strike="noStrike" kern="1200" cap="none" spc="0" normalizeH="0" baseline="0" noProof="0" dirty="0">
              <a:ln>
                <a:noFill/>
              </a:ln>
              <a:effectLst/>
              <a:highlight>
                <a:srgbClr val="FFC000"/>
              </a:highlight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820145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927715-1F63-43D7-3159-9999743C97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3BD06B-28D2-B80C-1829-4485198E6A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6E845D0-70B0-405D-A6BF-798C9CBE9027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2/24/2026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36" name="Título 1">
            <a:extLst>
              <a:ext uri="{FF2B5EF4-FFF2-40B4-BE49-F238E27FC236}">
                <a16:creationId xmlns:a16="http://schemas.microsoft.com/office/drawing/2014/main" id="{0B57211D-C9AD-257B-50AB-563BCEDC02F8}"/>
              </a:ext>
            </a:extLst>
          </p:cNvPr>
          <p:cNvSpPr txBox="1">
            <a:spLocks/>
          </p:cNvSpPr>
          <p:nvPr/>
        </p:nvSpPr>
        <p:spPr>
          <a:xfrm>
            <a:off x="891590" y="501651"/>
            <a:ext cx="6221186" cy="475354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Verdana" panose="020B0604030504040204" pitchFamily="34" charset="0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tos SemiBold" panose="020F0502020204030204" pitchFamily="34" charset="0"/>
                <a:ea typeface="+mj-ea"/>
                <a:cs typeface="+mj-cs"/>
              </a:rPr>
              <a:t>Steps in the process of developing a research proposal</a:t>
            </a: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5A68DD24-0296-1065-E886-B42ED12C84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9389" y="6356348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0EA680-D336-4FF7-8B7A-9848BB0A1C3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BF0CABAF-53F3-39A3-B715-35D62029093E}"/>
              </a:ext>
            </a:extLst>
          </p:cNvPr>
          <p:cNvSpPr txBox="1">
            <a:spLocks/>
          </p:cNvSpPr>
          <p:nvPr/>
        </p:nvSpPr>
        <p:spPr>
          <a:xfrm>
            <a:off x="11003616" y="136525"/>
            <a:ext cx="11175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6E845D0-70B0-405D-A6BF-798C9CBE9027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2/24/2026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69E75CBF-5812-CE8F-4FDB-6717EF88960E}"/>
              </a:ext>
            </a:extLst>
          </p:cNvPr>
          <p:cNvSpPr txBox="1">
            <a:spLocks/>
          </p:cNvSpPr>
          <p:nvPr/>
        </p:nvSpPr>
        <p:spPr>
          <a:xfrm>
            <a:off x="2707689" y="6355745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Data analysis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01127E7-38F9-CFB2-D870-CF8F81DA74E9}"/>
              </a:ext>
            </a:extLst>
          </p:cNvPr>
          <p:cNvSpPr txBox="1"/>
          <p:nvPr/>
        </p:nvSpPr>
        <p:spPr>
          <a:xfrm>
            <a:off x="1028886" y="2011152"/>
            <a:ext cx="49623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b="1" noProof="0" dirty="0">
                <a:highlight>
                  <a:srgbClr val="FFC000"/>
                </a:highlight>
              </a:rPr>
              <a:t>Should the topic be studied?</a:t>
            </a:r>
            <a:endParaRPr kumimoji="0" lang="en-US" b="1" i="0" u="none" strike="noStrike" kern="1200" cap="none" spc="0" normalizeH="0" baseline="0" noProof="0" dirty="0">
              <a:ln>
                <a:noFill/>
              </a:ln>
              <a:effectLst/>
              <a:highlight>
                <a:srgbClr val="FFC000"/>
              </a:highlight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695E8BE-DE85-1D0F-5880-B778ED82F42E}"/>
              </a:ext>
            </a:extLst>
          </p:cNvPr>
          <p:cNvSpPr txBox="1"/>
          <p:nvPr/>
        </p:nvSpPr>
        <p:spPr>
          <a:xfrm>
            <a:off x="1028887" y="2436155"/>
            <a:ext cx="5793602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</a:pPr>
            <a:r>
              <a:rPr lang="en-US" sz="1600" dirty="0"/>
              <a:t>This is the case when the topic contributes to the body of research knowledge in the available literature.</a:t>
            </a:r>
            <a:endParaRPr lang="en-US" sz="1600" noProof="0" dirty="0">
              <a:solidFill>
                <a:schemeClr val="accent5"/>
              </a:solidFill>
              <a:latin typeface="Corbel" panose="020B0503020204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D08E73A-90CC-A1BA-8287-E774238EE78B}"/>
              </a:ext>
            </a:extLst>
          </p:cNvPr>
          <p:cNvSpPr txBox="1"/>
          <p:nvPr/>
        </p:nvSpPr>
        <p:spPr>
          <a:xfrm>
            <a:off x="1091707" y="3076602"/>
            <a:ext cx="5936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noProof="0" dirty="0">
                <a:solidFill>
                  <a:srgbClr val="FF0000"/>
                </a:solidFill>
                <a:latin typeface="Aptos Black" panose="020B0004020202020204" pitchFamily="34" charset="0"/>
              </a:rPr>
              <a:t>1.</a:t>
            </a:r>
            <a:endParaRPr lang="en-US" sz="3600" b="1" noProof="0" dirty="0">
              <a:solidFill>
                <a:srgbClr val="FF0000"/>
              </a:solidFill>
              <a:latin typeface="Aptos Black" panose="020B00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691829A-C74C-B0C5-3735-81D538F60195}"/>
              </a:ext>
            </a:extLst>
          </p:cNvPr>
          <p:cNvSpPr txBox="1"/>
          <p:nvPr/>
        </p:nvSpPr>
        <p:spPr>
          <a:xfrm>
            <a:off x="1091707" y="3922468"/>
            <a:ext cx="5936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>
                <a:solidFill>
                  <a:srgbClr val="FF0000"/>
                </a:solidFill>
                <a:latin typeface="Aptos Black" panose="020B0004020202020204" pitchFamily="34" charset="0"/>
              </a:rPr>
              <a:t>2</a:t>
            </a:r>
            <a:r>
              <a:rPr lang="en-US" sz="3600" noProof="0" dirty="0">
                <a:solidFill>
                  <a:srgbClr val="FF0000"/>
                </a:solidFill>
                <a:latin typeface="Aptos Black" panose="020B0004020202020204" pitchFamily="34" charset="0"/>
              </a:rPr>
              <a:t>.</a:t>
            </a:r>
            <a:endParaRPr lang="en-US" sz="3600" b="1" noProof="0" dirty="0">
              <a:solidFill>
                <a:srgbClr val="FF0000"/>
              </a:solidFill>
              <a:latin typeface="Aptos Black" panose="020B00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427AD65-5734-B983-7832-50127E54149B}"/>
              </a:ext>
            </a:extLst>
          </p:cNvPr>
          <p:cNvSpPr txBox="1"/>
          <p:nvPr/>
        </p:nvSpPr>
        <p:spPr>
          <a:xfrm>
            <a:off x="1091707" y="4655248"/>
            <a:ext cx="5936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>
                <a:solidFill>
                  <a:srgbClr val="FF0000"/>
                </a:solidFill>
                <a:latin typeface="Aptos Black" panose="020B0004020202020204" pitchFamily="34" charset="0"/>
              </a:rPr>
              <a:t>3</a:t>
            </a:r>
            <a:r>
              <a:rPr lang="en-US" sz="3600" noProof="0" dirty="0">
                <a:solidFill>
                  <a:srgbClr val="FF0000"/>
                </a:solidFill>
                <a:latin typeface="Aptos Black" panose="020B0004020202020204" pitchFamily="34" charset="0"/>
              </a:rPr>
              <a:t>.</a:t>
            </a:r>
            <a:endParaRPr lang="en-US" sz="3600" b="1" noProof="0" dirty="0">
              <a:solidFill>
                <a:srgbClr val="FF0000"/>
              </a:solidFill>
              <a:latin typeface="Aptos Black" panose="020B00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D1DC2B9-929D-DA14-876F-03DE1FFBF005}"/>
              </a:ext>
            </a:extLst>
          </p:cNvPr>
          <p:cNvSpPr txBox="1"/>
          <p:nvPr/>
        </p:nvSpPr>
        <p:spPr>
          <a:xfrm>
            <a:off x="1663283" y="3138157"/>
            <a:ext cx="208881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Replicate previous studies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BA8B287-635A-BB92-A430-FF87A3CC0945}"/>
              </a:ext>
            </a:extLst>
          </p:cNvPr>
          <p:cNvSpPr txBox="1"/>
          <p:nvPr/>
        </p:nvSpPr>
        <p:spPr>
          <a:xfrm>
            <a:off x="1663282" y="3953245"/>
            <a:ext cx="320188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Give voice to underrepresented groups or individuals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EB09681-5C73-6666-72C7-57F2620FC9F3}"/>
              </a:ext>
            </a:extLst>
          </p:cNvPr>
          <p:cNvSpPr txBox="1"/>
          <p:nvPr/>
        </p:nvSpPr>
        <p:spPr>
          <a:xfrm>
            <a:off x="1663282" y="4716804"/>
            <a:ext cx="345317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600" b="1"/>
            </a:lvl1pPr>
          </a:lstStyle>
          <a:p>
            <a:r>
              <a:rPr lang="en-US" dirty="0"/>
              <a:t>Address social justice or transform researchers’ ideas and beliefs</a:t>
            </a:r>
          </a:p>
        </p:txBody>
      </p:sp>
      <p:sp>
        <p:nvSpPr>
          <p:cNvPr id="29" name="Left Brace 28">
            <a:extLst>
              <a:ext uri="{FF2B5EF4-FFF2-40B4-BE49-F238E27FC236}">
                <a16:creationId xmlns:a16="http://schemas.microsoft.com/office/drawing/2014/main" id="{699168E4-36AC-1A70-13A0-7D56B0026618}"/>
              </a:ext>
            </a:extLst>
          </p:cNvPr>
          <p:cNvSpPr/>
          <p:nvPr/>
        </p:nvSpPr>
        <p:spPr>
          <a:xfrm rot="10800000">
            <a:off x="6433540" y="2476544"/>
            <a:ext cx="508000" cy="2953401"/>
          </a:xfrm>
          <a:prstGeom prst="leftBrace">
            <a:avLst>
              <a:gd name="adj1" fmla="val 58333"/>
              <a:gd name="adj2" fmla="val 48817"/>
            </a:avLst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64BA3D5-06A6-2C2B-B2E8-39AF8534974A}"/>
              </a:ext>
            </a:extLst>
          </p:cNvPr>
          <p:cNvSpPr txBox="1"/>
          <p:nvPr/>
        </p:nvSpPr>
        <p:spPr>
          <a:xfrm>
            <a:off x="7090033" y="3076602"/>
            <a:ext cx="4369813" cy="244682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🌏 Studying an unusual location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🧑🏻‍🦽‍➡️ Examining a new/unusual group of participants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👓 Taking an unexpected perspective that challenges expectations in the field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📊 Providing novel means of data collection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📈 Presenting results in new ways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⌛ Studying a timely or current issue</a:t>
            </a:r>
            <a:endParaRPr lang="en-US" sz="1600" u="sng" noProof="0" dirty="0">
              <a:solidFill>
                <a:srgbClr val="DF102C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DF4F14-3BF6-9104-EFD9-75F57089AC99}"/>
              </a:ext>
            </a:extLst>
          </p:cNvPr>
          <p:cNvSpPr txBox="1"/>
          <p:nvPr/>
        </p:nvSpPr>
        <p:spPr>
          <a:xfrm>
            <a:off x="7090033" y="2011152"/>
            <a:ext cx="428310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highlight>
                  <a:srgbClr val="FFC000"/>
                </a:highlight>
              </a:rPr>
              <a:t>How does this project contribute to the literature?</a:t>
            </a:r>
          </a:p>
        </p:txBody>
      </p:sp>
    </p:spTree>
    <p:extLst>
      <p:ext uri="{BB962C8B-B14F-4D97-AF65-F5344CB8AC3E}">
        <p14:creationId xmlns:p14="http://schemas.microsoft.com/office/powerpoint/2010/main" val="35897365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72000">
              <a:srgbClr val="F22D1C"/>
            </a:gs>
            <a:gs pos="0">
              <a:srgbClr val="DF102C"/>
            </a:gs>
            <a:gs pos="100000">
              <a:srgbClr val="F26665"/>
            </a:gs>
          </a:gsLst>
          <a:lin ang="30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3A538A3-C303-4B23-E67E-0660F8DC62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ED07F548-2347-575B-3EAF-48BCF5FB78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9389" y="6356348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0EA680-D336-4FF7-8B7A-9848BB0A1C3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3DDBBD97-EFF9-30EA-8020-D44E46977EB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003616" y="136525"/>
            <a:ext cx="1117563" cy="36512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6E845D0-70B0-405D-A6BF-798C9CBE9027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2/24/2026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pic>
        <p:nvPicPr>
          <p:cNvPr id="14" name="Picture 4" descr="No hay ninguna descripción de la foto disponible.">
            <a:extLst>
              <a:ext uri="{FF2B5EF4-FFF2-40B4-BE49-F238E27FC236}">
                <a16:creationId xmlns:a16="http://schemas.microsoft.com/office/drawing/2014/main" id="{A1CC4F3B-40F6-4778-96B4-C7BEA192265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biLevel thresh="25000"/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11200"/>
                    </a14:imgEffect>
                    <a14:imgEffect>
                      <a14:brightnessContrast bright="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26703" b="28790"/>
          <a:stretch/>
        </p:blipFill>
        <p:spPr bwMode="auto">
          <a:xfrm>
            <a:off x="843835" y="6356349"/>
            <a:ext cx="267089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3F93D7A0-6839-870F-B91F-2E6364A24D33}"/>
              </a:ext>
            </a:extLst>
          </p:cNvPr>
          <p:cNvSpPr txBox="1">
            <a:spLocks/>
          </p:cNvSpPr>
          <p:nvPr/>
        </p:nvSpPr>
        <p:spPr>
          <a:xfrm>
            <a:off x="891589" y="501650"/>
            <a:ext cx="4480511" cy="1338391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Verdana" panose="020B0604030504040204" pitchFamily="34" charset="0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Aptos SemiBold" panose="020F0502020204030204" pitchFamily="34" charset="0"/>
                <a:ea typeface="+mj-ea"/>
                <a:cs typeface="+mj-cs"/>
              </a:rPr>
              <a:t>Purpose of a Literature Review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7D6AD9A-EAA2-41D5-972D-80F7B8FC2E3A}"/>
              </a:ext>
            </a:extLst>
          </p:cNvPr>
          <p:cNvSpPr txBox="1"/>
          <p:nvPr/>
        </p:nvSpPr>
        <p:spPr>
          <a:xfrm>
            <a:off x="1174159" y="2320858"/>
            <a:ext cx="5936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noProof="0" dirty="0">
                <a:solidFill>
                  <a:srgbClr val="FFFF00"/>
                </a:solidFill>
                <a:latin typeface="Aptos Black" panose="020B0004020202020204" pitchFamily="34" charset="0"/>
              </a:rPr>
              <a:t>1.</a:t>
            </a:r>
            <a:endParaRPr lang="en-US" sz="3600" b="1" noProof="0" dirty="0">
              <a:solidFill>
                <a:srgbClr val="FFFF00"/>
              </a:solidFill>
              <a:latin typeface="Aptos Black" panose="020B00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E75805C-74A0-7164-F11A-CF1CBA7A8125}"/>
              </a:ext>
            </a:extLst>
          </p:cNvPr>
          <p:cNvSpPr txBox="1"/>
          <p:nvPr/>
        </p:nvSpPr>
        <p:spPr>
          <a:xfrm>
            <a:off x="1767833" y="2362853"/>
            <a:ext cx="4223392" cy="7134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00"/>
              </a:lnSpc>
            </a:pPr>
            <a:r>
              <a:rPr lang="en-US" sz="1600" dirty="0">
                <a:solidFill>
                  <a:schemeClr val="bg1"/>
                </a:solidFill>
              </a:rPr>
              <a:t>Share with the reader the results of other studies that are </a:t>
            </a:r>
            <a:r>
              <a:rPr lang="en-US" sz="1600" b="1" dirty="0">
                <a:solidFill>
                  <a:schemeClr val="bg1"/>
                </a:solidFill>
                <a:highlight>
                  <a:srgbClr val="000000"/>
                </a:highlight>
              </a:rPr>
              <a:t>closely related to the topic being investigated</a:t>
            </a:r>
            <a:r>
              <a:rPr lang="en-US" sz="1600" dirty="0">
                <a:solidFill>
                  <a:schemeClr val="bg1"/>
                </a:solidFill>
              </a:rPr>
              <a:t>.</a:t>
            </a:r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5877C32-AC98-7C27-899C-1517A91221BD}"/>
              </a:ext>
            </a:extLst>
          </p:cNvPr>
          <p:cNvSpPr txBox="1"/>
          <p:nvPr/>
        </p:nvSpPr>
        <p:spPr>
          <a:xfrm>
            <a:off x="1174159" y="3540207"/>
            <a:ext cx="5936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noProof="0" dirty="0">
                <a:solidFill>
                  <a:srgbClr val="FFFF00"/>
                </a:solidFill>
                <a:latin typeface="Aptos Black" panose="020B0004020202020204" pitchFamily="34" charset="0"/>
              </a:rPr>
              <a:t>2.</a:t>
            </a:r>
            <a:endParaRPr lang="en-US" sz="3600" b="1" noProof="0" dirty="0">
              <a:solidFill>
                <a:srgbClr val="FFFF00"/>
              </a:solidFill>
              <a:latin typeface="Aptos Black" panose="020B00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F9BD520-0A50-4465-FFC5-5A7771B70E69}"/>
              </a:ext>
            </a:extLst>
          </p:cNvPr>
          <p:cNvSpPr txBox="1"/>
          <p:nvPr/>
        </p:nvSpPr>
        <p:spPr>
          <a:xfrm>
            <a:off x="1767833" y="3579314"/>
            <a:ext cx="4223393" cy="7134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00"/>
              </a:lnSpc>
            </a:pPr>
            <a:r>
              <a:rPr lang="en-US" sz="1600" dirty="0">
                <a:solidFill>
                  <a:schemeClr val="bg1"/>
                </a:solidFill>
              </a:rPr>
              <a:t>Relate the study to the existing literature, </a:t>
            </a:r>
            <a:r>
              <a:rPr lang="en-US" sz="1600" b="1" dirty="0">
                <a:solidFill>
                  <a:schemeClr val="bg1"/>
                </a:solidFill>
                <a:highlight>
                  <a:srgbClr val="000000"/>
                </a:highlight>
              </a:rPr>
              <a:t>filling gaps and expanding on previous studies</a:t>
            </a:r>
            <a:r>
              <a:rPr lang="en-US" sz="1600" dirty="0">
                <a:solidFill>
                  <a:schemeClr val="bg1"/>
                </a:solidFill>
              </a:rPr>
              <a:t>.</a:t>
            </a:r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B9DD801-5B70-269F-06CE-C546B0FAB408}"/>
              </a:ext>
            </a:extLst>
          </p:cNvPr>
          <p:cNvSpPr txBox="1"/>
          <p:nvPr/>
        </p:nvSpPr>
        <p:spPr>
          <a:xfrm>
            <a:off x="1174159" y="4629106"/>
            <a:ext cx="5936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noProof="0" dirty="0">
                <a:solidFill>
                  <a:srgbClr val="FFFF00"/>
                </a:solidFill>
                <a:latin typeface="Aptos Black" panose="020B0004020202020204" pitchFamily="34" charset="0"/>
              </a:rPr>
              <a:t>3.</a:t>
            </a:r>
            <a:endParaRPr lang="en-US" sz="3600" b="1" noProof="0" dirty="0">
              <a:solidFill>
                <a:srgbClr val="FFFF00"/>
              </a:solidFill>
              <a:latin typeface="Aptos Black" panose="020B00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A4097CD-9B72-FE79-7B01-FEDA7B34580E}"/>
              </a:ext>
            </a:extLst>
          </p:cNvPr>
          <p:cNvSpPr txBox="1"/>
          <p:nvPr/>
        </p:nvSpPr>
        <p:spPr>
          <a:xfrm>
            <a:off x="1767833" y="4671101"/>
            <a:ext cx="4223392" cy="9186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00"/>
              </a:lnSpc>
            </a:pPr>
            <a:r>
              <a:rPr lang="en-US" sz="1600" b="1" dirty="0">
                <a:solidFill>
                  <a:schemeClr val="bg1"/>
                </a:solidFill>
                <a:highlight>
                  <a:srgbClr val="000000"/>
                </a:highlight>
              </a:rPr>
              <a:t>Provide a framework to establish the importance of the study </a:t>
            </a:r>
            <a:r>
              <a:rPr lang="en-US" sz="1600" dirty="0">
                <a:solidFill>
                  <a:schemeClr val="bg1"/>
                </a:solidFill>
              </a:rPr>
              <a:t>and a point of reference to compare the results with other findings.</a:t>
            </a:r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3C656633-835D-9C94-A4C5-09916C47B72B}"/>
              </a:ext>
            </a:extLst>
          </p:cNvPr>
          <p:cNvSpPr/>
          <p:nvPr/>
        </p:nvSpPr>
        <p:spPr>
          <a:xfrm>
            <a:off x="7089511" y="2252054"/>
            <a:ext cx="3337697" cy="913547"/>
          </a:xfrm>
          <a:custGeom>
            <a:avLst/>
            <a:gdLst>
              <a:gd name="connsiteX0" fmla="*/ 0 w 3616967"/>
              <a:gd name="connsiteY0" fmla="*/ 0 h 989985"/>
              <a:gd name="connsiteX1" fmla="*/ 3616967 w 3616967"/>
              <a:gd name="connsiteY1" fmla="*/ 0 h 989985"/>
              <a:gd name="connsiteX2" fmla="*/ 3121975 w 3616967"/>
              <a:gd name="connsiteY2" fmla="*/ 989985 h 989985"/>
              <a:gd name="connsiteX3" fmla="*/ 494993 w 3616967"/>
              <a:gd name="connsiteY3" fmla="*/ 989985 h 989985"/>
              <a:gd name="connsiteX4" fmla="*/ 0 w 3616967"/>
              <a:gd name="connsiteY4" fmla="*/ 0 h 98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616967" h="989985">
                <a:moveTo>
                  <a:pt x="0" y="0"/>
                </a:moveTo>
                <a:lnTo>
                  <a:pt x="3616967" y="0"/>
                </a:lnTo>
                <a:lnTo>
                  <a:pt x="3121975" y="989985"/>
                </a:lnTo>
                <a:lnTo>
                  <a:pt x="494993" y="98998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42A01E44-ABB2-2F2F-D638-C85839B42544}"/>
              </a:ext>
            </a:extLst>
          </p:cNvPr>
          <p:cNvSpPr/>
          <p:nvPr/>
        </p:nvSpPr>
        <p:spPr>
          <a:xfrm>
            <a:off x="7625721" y="3324474"/>
            <a:ext cx="2265276" cy="1004825"/>
          </a:xfrm>
          <a:custGeom>
            <a:avLst/>
            <a:gdLst>
              <a:gd name="connsiteX0" fmla="*/ 0 w 2454815"/>
              <a:gd name="connsiteY0" fmla="*/ 0 h 1088900"/>
              <a:gd name="connsiteX1" fmla="*/ 2454815 w 2454815"/>
              <a:gd name="connsiteY1" fmla="*/ 0 h 1088900"/>
              <a:gd name="connsiteX2" fmla="*/ 1910365 w 2454815"/>
              <a:gd name="connsiteY2" fmla="*/ 1088900 h 1088900"/>
              <a:gd name="connsiteX3" fmla="*/ 544451 w 2454815"/>
              <a:gd name="connsiteY3" fmla="*/ 1088900 h 1088900"/>
              <a:gd name="connsiteX4" fmla="*/ 0 w 2454815"/>
              <a:gd name="connsiteY4" fmla="*/ 0 h 1088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54815" h="1088900">
                <a:moveTo>
                  <a:pt x="0" y="0"/>
                </a:moveTo>
                <a:lnTo>
                  <a:pt x="2454815" y="0"/>
                </a:lnTo>
                <a:lnTo>
                  <a:pt x="1910365" y="1088900"/>
                </a:lnTo>
                <a:lnTo>
                  <a:pt x="544451" y="10889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23F41C4-A778-C479-C0DC-F5A1FF0E1CD0}"/>
              </a:ext>
            </a:extLst>
          </p:cNvPr>
          <p:cNvSpPr txBox="1"/>
          <p:nvPr/>
        </p:nvSpPr>
        <p:spPr>
          <a:xfrm>
            <a:off x="7688383" y="2454686"/>
            <a:ext cx="2139951" cy="5082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00"/>
              </a:lnSpc>
            </a:pPr>
            <a:r>
              <a:rPr lang="en-US" sz="1600" dirty="0"/>
              <a:t>Broad review of the problem</a:t>
            </a:r>
            <a:endParaRPr lang="en-US" sz="1600" noProof="0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A84CE42-5EBE-718B-60D6-A5E194165961}"/>
              </a:ext>
            </a:extLst>
          </p:cNvPr>
          <p:cNvSpPr txBox="1"/>
          <p:nvPr/>
        </p:nvSpPr>
        <p:spPr>
          <a:xfrm>
            <a:off x="7688382" y="3538026"/>
            <a:ext cx="2139951" cy="5082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00"/>
              </a:lnSpc>
            </a:pPr>
            <a:r>
              <a:rPr lang="en-US" sz="1600" dirty="0"/>
              <a:t>Focused problematization</a:t>
            </a:r>
            <a:endParaRPr lang="en-US" sz="1600" noProof="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C3E1BD2-B670-1569-4C25-54EB383E1399}"/>
              </a:ext>
            </a:extLst>
          </p:cNvPr>
          <p:cNvSpPr txBox="1"/>
          <p:nvPr/>
        </p:nvSpPr>
        <p:spPr>
          <a:xfrm>
            <a:off x="7989062" y="4516053"/>
            <a:ext cx="1530804" cy="1045815"/>
          </a:xfrm>
          <a:custGeom>
            <a:avLst/>
            <a:gdLst/>
            <a:ahLst/>
            <a:cxnLst/>
            <a:rect l="l" t="t" r="r" b="b"/>
            <a:pathLst>
              <a:path w="1530804" h="1045815">
                <a:moveTo>
                  <a:pt x="713877" y="690364"/>
                </a:moveTo>
                <a:cubicBezTo>
                  <a:pt x="720453" y="690364"/>
                  <a:pt x="725906" y="692105"/>
                  <a:pt x="730236" y="695589"/>
                </a:cubicBezTo>
                <a:cubicBezTo>
                  <a:pt x="734566" y="699072"/>
                  <a:pt x="738066" y="703484"/>
                  <a:pt x="740736" y="708823"/>
                </a:cubicBezTo>
                <a:lnTo>
                  <a:pt x="740736" y="745449"/>
                </a:lnTo>
                <a:cubicBezTo>
                  <a:pt x="737871" y="750072"/>
                  <a:pt x="734127" y="754027"/>
                  <a:pt x="729504" y="757315"/>
                </a:cubicBezTo>
                <a:cubicBezTo>
                  <a:pt x="724881" y="760604"/>
                  <a:pt x="719086" y="762248"/>
                  <a:pt x="712119" y="762248"/>
                </a:cubicBezTo>
                <a:cubicBezTo>
                  <a:pt x="704110" y="762248"/>
                  <a:pt x="698038" y="759155"/>
                  <a:pt x="693904" y="752969"/>
                </a:cubicBezTo>
                <a:cubicBezTo>
                  <a:pt x="689769" y="746783"/>
                  <a:pt x="687702" y="737798"/>
                  <a:pt x="687702" y="726013"/>
                </a:cubicBezTo>
                <a:cubicBezTo>
                  <a:pt x="687702" y="714618"/>
                  <a:pt x="689899" y="705828"/>
                  <a:pt x="694294" y="699642"/>
                </a:cubicBezTo>
                <a:cubicBezTo>
                  <a:pt x="698690" y="693457"/>
                  <a:pt x="705217" y="690364"/>
                  <a:pt x="713877" y="690364"/>
                </a:cubicBezTo>
                <a:close/>
                <a:moveTo>
                  <a:pt x="494802" y="690364"/>
                </a:moveTo>
                <a:cubicBezTo>
                  <a:pt x="486142" y="690364"/>
                  <a:pt x="479615" y="693457"/>
                  <a:pt x="475220" y="699642"/>
                </a:cubicBezTo>
                <a:cubicBezTo>
                  <a:pt x="470824" y="705828"/>
                  <a:pt x="468627" y="714618"/>
                  <a:pt x="468627" y="726013"/>
                </a:cubicBezTo>
                <a:cubicBezTo>
                  <a:pt x="468627" y="737798"/>
                  <a:pt x="470694" y="746783"/>
                  <a:pt x="474829" y="752969"/>
                </a:cubicBezTo>
                <a:cubicBezTo>
                  <a:pt x="478963" y="759155"/>
                  <a:pt x="485035" y="762248"/>
                  <a:pt x="493044" y="762248"/>
                </a:cubicBezTo>
                <a:cubicBezTo>
                  <a:pt x="500011" y="762248"/>
                  <a:pt x="505806" y="760604"/>
                  <a:pt x="510429" y="757315"/>
                </a:cubicBezTo>
                <a:cubicBezTo>
                  <a:pt x="515052" y="754027"/>
                  <a:pt x="518796" y="750072"/>
                  <a:pt x="521661" y="745449"/>
                </a:cubicBezTo>
                <a:lnTo>
                  <a:pt x="521661" y="708823"/>
                </a:lnTo>
                <a:cubicBezTo>
                  <a:pt x="518991" y="703484"/>
                  <a:pt x="515491" y="699072"/>
                  <a:pt x="511162" y="695589"/>
                </a:cubicBezTo>
                <a:cubicBezTo>
                  <a:pt x="506832" y="692105"/>
                  <a:pt x="501378" y="690364"/>
                  <a:pt x="494802" y="690364"/>
                </a:cubicBezTo>
                <a:close/>
                <a:moveTo>
                  <a:pt x="873798" y="690266"/>
                </a:moveTo>
                <a:cubicBezTo>
                  <a:pt x="881741" y="690266"/>
                  <a:pt x="887764" y="693359"/>
                  <a:pt x="891866" y="699545"/>
                </a:cubicBezTo>
                <a:cubicBezTo>
                  <a:pt x="895968" y="705730"/>
                  <a:pt x="898019" y="714651"/>
                  <a:pt x="898019" y="726306"/>
                </a:cubicBezTo>
                <a:cubicBezTo>
                  <a:pt x="898019" y="737831"/>
                  <a:pt x="895822" y="746702"/>
                  <a:pt x="891427" y="752920"/>
                </a:cubicBezTo>
                <a:cubicBezTo>
                  <a:pt x="887032" y="759139"/>
                  <a:pt x="880504" y="762248"/>
                  <a:pt x="871844" y="762248"/>
                </a:cubicBezTo>
                <a:cubicBezTo>
                  <a:pt x="865398" y="762248"/>
                  <a:pt x="859961" y="760701"/>
                  <a:pt x="855533" y="757608"/>
                </a:cubicBezTo>
                <a:cubicBezTo>
                  <a:pt x="851106" y="754516"/>
                  <a:pt x="847590" y="750495"/>
                  <a:pt x="844985" y="745546"/>
                </a:cubicBezTo>
                <a:lnTo>
                  <a:pt x="844985" y="708823"/>
                </a:lnTo>
                <a:cubicBezTo>
                  <a:pt x="847655" y="703874"/>
                  <a:pt x="851383" y="699545"/>
                  <a:pt x="856168" y="695833"/>
                </a:cubicBezTo>
                <a:cubicBezTo>
                  <a:pt x="860954" y="692122"/>
                  <a:pt x="866830" y="690266"/>
                  <a:pt x="873798" y="690266"/>
                </a:cubicBezTo>
                <a:close/>
                <a:moveTo>
                  <a:pt x="1168780" y="690168"/>
                </a:moveTo>
                <a:cubicBezTo>
                  <a:pt x="1161943" y="690168"/>
                  <a:pt x="1156164" y="691991"/>
                  <a:pt x="1151443" y="695638"/>
                </a:cubicBezTo>
                <a:cubicBezTo>
                  <a:pt x="1146723" y="699284"/>
                  <a:pt x="1142995" y="703712"/>
                  <a:pt x="1140260" y="708921"/>
                </a:cubicBezTo>
                <a:lnTo>
                  <a:pt x="1140260" y="745546"/>
                </a:lnTo>
                <a:cubicBezTo>
                  <a:pt x="1142800" y="750365"/>
                  <a:pt x="1146283" y="754353"/>
                  <a:pt x="1150711" y="757511"/>
                </a:cubicBezTo>
                <a:cubicBezTo>
                  <a:pt x="1155138" y="760669"/>
                  <a:pt x="1160608" y="762248"/>
                  <a:pt x="1167119" y="762248"/>
                </a:cubicBezTo>
                <a:cubicBezTo>
                  <a:pt x="1175714" y="762248"/>
                  <a:pt x="1182225" y="759139"/>
                  <a:pt x="1186653" y="752920"/>
                </a:cubicBezTo>
                <a:cubicBezTo>
                  <a:pt x="1191080" y="746702"/>
                  <a:pt x="1193294" y="737896"/>
                  <a:pt x="1193294" y="726501"/>
                </a:cubicBezTo>
                <a:cubicBezTo>
                  <a:pt x="1193294" y="714781"/>
                  <a:pt x="1191227" y="705795"/>
                  <a:pt x="1187092" y="699545"/>
                </a:cubicBezTo>
                <a:cubicBezTo>
                  <a:pt x="1182958" y="693294"/>
                  <a:pt x="1176854" y="690168"/>
                  <a:pt x="1168780" y="690168"/>
                </a:cubicBezTo>
                <a:close/>
                <a:moveTo>
                  <a:pt x="44830" y="690168"/>
                </a:moveTo>
                <a:cubicBezTo>
                  <a:pt x="37993" y="690168"/>
                  <a:pt x="32214" y="691991"/>
                  <a:pt x="27494" y="695638"/>
                </a:cubicBezTo>
                <a:cubicBezTo>
                  <a:pt x="22773" y="699284"/>
                  <a:pt x="19045" y="703712"/>
                  <a:pt x="16311" y="708921"/>
                </a:cubicBezTo>
                <a:lnTo>
                  <a:pt x="16311" y="745546"/>
                </a:lnTo>
                <a:cubicBezTo>
                  <a:pt x="18850" y="750365"/>
                  <a:pt x="22333" y="754353"/>
                  <a:pt x="26761" y="757511"/>
                </a:cubicBezTo>
                <a:cubicBezTo>
                  <a:pt x="31189" y="760669"/>
                  <a:pt x="36658" y="762248"/>
                  <a:pt x="43169" y="762248"/>
                </a:cubicBezTo>
                <a:cubicBezTo>
                  <a:pt x="51764" y="762248"/>
                  <a:pt x="58275" y="759139"/>
                  <a:pt x="62703" y="752920"/>
                </a:cubicBezTo>
                <a:cubicBezTo>
                  <a:pt x="67131" y="746702"/>
                  <a:pt x="69344" y="737896"/>
                  <a:pt x="69344" y="726501"/>
                </a:cubicBezTo>
                <a:cubicBezTo>
                  <a:pt x="69344" y="714781"/>
                  <a:pt x="67277" y="705795"/>
                  <a:pt x="63143" y="699545"/>
                </a:cubicBezTo>
                <a:cubicBezTo>
                  <a:pt x="59008" y="693294"/>
                  <a:pt x="52904" y="690168"/>
                  <a:pt x="44830" y="690168"/>
                </a:cubicBezTo>
                <a:close/>
                <a:moveTo>
                  <a:pt x="1048619" y="689875"/>
                </a:moveTo>
                <a:cubicBezTo>
                  <a:pt x="1041783" y="689875"/>
                  <a:pt x="1036362" y="691454"/>
                  <a:pt x="1032358" y="694612"/>
                </a:cubicBezTo>
                <a:cubicBezTo>
                  <a:pt x="1028353" y="697770"/>
                  <a:pt x="1025472" y="702116"/>
                  <a:pt x="1023714" y="707651"/>
                </a:cubicBezTo>
                <a:cubicBezTo>
                  <a:pt x="1021956" y="713186"/>
                  <a:pt x="1021077" y="719469"/>
                  <a:pt x="1021077" y="726501"/>
                </a:cubicBezTo>
                <a:cubicBezTo>
                  <a:pt x="1021077" y="733403"/>
                  <a:pt x="1021956" y="739572"/>
                  <a:pt x="1023714" y="745009"/>
                </a:cubicBezTo>
                <a:cubicBezTo>
                  <a:pt x="1025472" y="750446"/>
                  <a:pt x="1028353" y="754711"/>
                  <a:pt x="1032358" y="757804"/>
                </a:cubicBezTo>
                <a:cubicBezTo>
                  <a:pt x="1036362" y="760897"/>
                  <a:pt x="1041783" y="762443"/>
                  <a:pt x="1048619" y="762443"/>
                </a:cubicBezTo>
                <a:cubicBezTo>
                  <a:pt x="1055652" y="762443"/>
                  <a:pt x="1061251" y="760897"/>
                  <a:pt x="1065418" y="757804"/>
                </a:cubicBezTo>
                <a:cubicBezTo>
                  <a:pt x="1069586" y="754711"/>
                  <a:pt x="1072581" y="750446"/>
                  <a:pt x="1074404" y="745009"/>
                </a:cubicBezTo>
                <a:cubicBezTo>
                  <a:pt x="1076227" y="739572"/>
                  <a:pt x="1077139" y="733403"/>
                  <a:pt x="1077139" y="726501"/>
                </a:cubicBezTo>
                <a:cubicBezTo>
                  <a:pt x="1077139" y="719469"/>
                  <a:pt x="1076227" y="713186"/>
                  <a:pt x="1074404" y="707651"/>
                </a:cubicBezTo>
                <a:cubicBezTo>
                  <a:pt x="1072581" y="702116"/>
                  <a:pt x="1069586" y="697770"/>
                  <a:pt x="1065418" y="694612"/>
                </a:cubicBezTo>
                <a:cubicBezTo>
                  <a:pt x="1061251" y="691454"/>
                  <a:pt x="1055652" y="689875"/>
                  <a:pt x="1048619" y="689875"/>
                </a:cubicBezTo>
                <a:close/>
                <a:moveTo>
                  <a:pt x="153270" y="689875"/>
                </a:moveTo>
                <a:cubicBezTo>
                  <a:pt x="146433" y="689875"/>
                  <a:pt x="141012" y="691454"/>
                  <a:pt x="137008" y="694612"/>
                </a:cubicBezTo>
                <a:cubicBezTo>
                  <a:pt x="133003" y="697770"/>
                  <a:pt x="130122" y="702116"/>
                  <a:pt x="128364" y="707651"/>
                </a:cubicBezTo>
                <a:cubicBezTo>
                  <a:pt x="126606" y="713186"/>
                  <a:pt x="125727" y="719469"/>
                  <a:pt x="125727" y="726501"/>
                </a:cubicBezTo>
                <a:cubicBezTo>
                  <a:pt x="125727" y="733403"/>
                  <a:pt x="126606" y="739572"/>
                  <a:pt x="128364" y="745009"/>
                </a:cubicBezTo>
                <a:cubicBezTo>
                  <a:pt x="130122" y="750446"/>
                  <a:pt x="133003" y="754711"/>
                  <a:pt x="137008" y="757804"/>
                </a:cubicBezTo>
                <a:cubicBezTo>
                  <a:pt x="141012" y="760897"/>
                  <a:pt x="146433" y="762443"/>
                  <a:pt x="153270" y="762443"/>
                </a:cubicBezTo>
                <a:cubicBezTo>
                  <a:pt x="160302" y="762443"/>
                  <a:pt x="165901" y="760897"/>
                  <a:pt x="170069" y="757804"/>
                </a:cubicBezTo>
                <a:cubicBezTo>
                  <a:pt x="174236" y="754711"/>
                  <a:pt x="177231" y="750446"/>
                  <a:pt x="179054" y="745009"/>
                </a:cubicBezTo>
                <a:cubicBezTo>
                  <a:pt x="180877" y="739572"/>
                  <a:pt x="181789" y="733403"/>
                  <a:pt x="181789" y="726501"/>
                </a:cubicBezTo>
                <a:cubicBezTo>
                  <a:pt x="181789" y="719469"/>
                  <a:pt x="180877" y="713186"/>
                  <a:pt x="179054" y="707651"/>
                </a:cubicBezTo>
                <a:cubicBezTo>
                  <a:pt x="177231" y="702116"/>
                  <a:pt x="174236" y="697770"/>
                  <a:pt x="170069" y="694612"/>
                </a:cubicBezTo>
                <a:cubicBezTo>
                  <a:pt x="165901" y="691454"/>
                  <a:pt x="160302" y="689875"/>
                  <a:pt x="153270" y="689875"/>
                </a:cubicBezTo>
                <a:close/>
                <a:moveTo>
                  <a:pt x="1323477" y="689582"/>
                </a:moveTo>
                <a:cubicBezTo>
                  <a:pt x="1315533" y="689582"/>
                  <a:pt x="1309299" y="691910"/>
                  <a:pt x="1304774" y="696566"/>
                </a:cubicBezTo>
                <a:cubicBezTo>
                  <a:pt x="1300248" y="701221"/>
                  <a:pt x="1297628" y="708009"/>
                  <a:pt x="1296911" y="716930"/>
                </a:cubicBezTo>
                <a:lnTo>
                  <a:pt x="1348871" y="716930"/>
                </a:lnTo>
                <a:cubicBezTo>
                  <a:pt x="1348676" y="708074"/>
                  <a:pt x="1346364" y="701303"/>
                  <a:pt x="1341936" y="696614"/>
                </a:cubicBezTo>
                <a:cubicBezTo>
                  <a:pt x="1337509" y="691926"/>
                  <a:pt x="1331356" y="689582"/>
                  <a:pt x="1323477" y="689582"/>
                </a:cubicBezTo>
                <a:close/>
                <a:moveTo>
                  <a:pt x="609102" y="689582"/>
                </a:moveTo>
                <a:cubicBezTo>
                  <a:pt x="616981" y="689582"/>
                  <a:pt x="623134" y="691926"/>
                  <a:pt x="627561" y="696614"/>
                </a:cubicBezTo>
                <a:cubicBezTo>
                  <a:pt x="631989" y="701303"/>
                  <a:pt x="634300" y="708074"/>
                  <a:pt x="634496" y="716930"/>
                </a:cubicBezTo>
                <a:lnTo>
                  <a:pt x="614169" y="716930"/>
                </a:lnTo>
                <a:lnTo>
                  <a:pt x="601804" y="692307"/>
                </a:lnTo>
                <a:close/>
                <a:moveTo>
                  <a:pt x="595875" y="680501"/>
                </a:moveTo>
                <a:lnTo>
                  <a:pt x="601804" y="692307"/>
                </a:lnTo>
                <a:lnTo>
                  <a:pt x="590398" y="696566"/>
                </a:lnTo>
                <a:cubicBezTo>
                  <a:pt x="585873" y="701221"/>
                  <a:pt x="583252" y="708009"/>
                  <a:pt x="582536" y="716930"/>
                </a:cubicBezTo>
                <a:lnTo>
                  <a:pt x="614169" y="716930"/>
                </a:lnTo>
                <a:lnTo>
                  <a:pt x="620154" y="728845"/>
                </a:lnTo>
                <a:lnTo>
                  <a:pt x="582438" y="728845"/>
                </a:lnTo>
                <a:cubicBezTo>
                  <a:pt x="582504" y="735031"/>
                  <a:pt x="583497" y="740712"/>
                  <a:pt x="585417" y="745888"/>
                </a:cubicBezTo>
                <a:cubicBezTo>
                  <a:pt x="587338" y="751065"/>
                  <a:pt x="590382" y="755216"/>
                  <a:pt x="594549" y="758341"/>
                </a:cubicBezTo>
                <a:cubicBezTo>
                  <a:pt x="598717" y="761466"/>
                  <a:pt x="604219" y="763029"/>
                  <a:pt x="611055" y="763029"/>
                </a:cubicBezTo>
                <a:cubicBezTo>
                  <a:pt x="618348" y="763029"/>
                  <a:pt x="624045" y="761320"/>
                  <a:pt x="628147" y="757901"/>
                </a:cubicBezTo>
                <a:lnTo>
                  <a:pt x="631212" y="750865"/>
                </a:lnTo>
                <a:lnTo>
                  <a:pt x="638799" y="765972"/>
                </a:lnTo>
                <a:lnTo>
                  <a:pt x="631859" y="771673"/>
                </a:lnTo>
                <a:cubicBezTo>
                  <a:pt x="625999" y="774310"/>
                  <a:pt x="619064" y="775628"/>
                  <a:pt x="611055" y="775628"/>
                </a:cubicBezTo>
                <a:cubicBezTo>
                  <a:pt x="600702" y="775628"/>
                  <a:pt x="592222" y="773463"/>
                  <a:pt x="585613" y="769133"/>
                </a:cubicBezTo>
                <a:cubicBezTo>
                  <a:pt x="579004" y="764803"/>
                  <a:pt x="574104" y="758911"/>
                  <a:pt x="570914" y="751455"/>
                </a:cubicBezTo>
                <a:cubicBezTo>
                  <a:pt x="567723" y="744000"/>
                  <a:pt x="566128" y="735617"/>
                  <a:pt x="566128" y="726306"/>
                </a:cubicBezTo>
                <a:cubicBezTo>
                  <a:pt x="566128" y="716604"/>
                  <a:pt x="567674" y="708058"/>
                  <a:pt x="570767" y="700668"/>
                </a:cubicBezTo>
                <a:cubicBezTo>
                  <a:pt x="573860" y="693277"/>
                  <a:pt x="578581" y="687499"/>
                  <a:pt x="584929" y="683332"/>
                </a:cubicBezTo>
                <a:close/>
                <a:moveTo>
                  <a:pt x="227623" y="678741"/>
                </a:moveTo>
                <a:lnTo>
                  <a:pt x="244032" y="678741"/>
                </a:lnTo>
                <a:lnTo>
                  <a:pt x="244032" y="738612"/>
                </a:lnTo>
                <a:cubicBezTo>
                  <a:pt x="244032" y="742909"/>
                  <a:pt x="244520" y="746751"/>
                  <a:pt x="245497" y="750137"/>
                </a:cubicBezTo>
                <a:cubicBezTo>
                  <a:pt x="246473" y="753523"/>
                  <a:pt x="248329" y="756160"/>
                  <a:pt x="251064" y="758048"/>
                </a:cubicBezTo>
                <a:cubicBezTo>
                  <a:pt x="253798" y="759936"/>
                  <a:pt x="257738" y="760880"/>
                  <a:pt x="262882" y="760880"/>
                </a:cubicBezTo>
                <a:cubicBezTo>
                  <a:pt x="270044" y="760880"/>
                  <a:pt x="276034" y="759399"/>
                  <a:pt x="280853" y="756436"/>
                </a:cubicBezTo>
                <a:cubicBezTo>
                  <a:pt x="285671" y="753474"/>
                  <a:pt x="289545" y="750039"/>
                  <a:pt x="292475" y="746132"/>
                </a:cubicBezTo>
                <a:lnTo>
                  <a:pt x="292475" y="678741"/>
                </a:lnTo>
                <a:lnTo>
                  <a:pt x="308883" y="678741"/>
                </a:lnTo>
                <a:lnTo>
                  <a:pt x="308883" y="773870"/>
                </a:lnTo>
                <a:lnTo>
                  <a:pt x="293159" y="773870"/>
                </a:lnTo>
                <a:lnTo>
                  <a:pt x="292670" y="759220"/>
                </a:lnTo>
                <a:cubicBezTo>
                  <a:pt x="289610" y="762996"/>
                  <a:pt x="285296" y="766626"/>
                  <a:pt x="279729" y="770110"/>
                </a:cubicBezTo>
                <a:cubicBezTo>
                  <a:pt x="274162" y="773593"/>
                  <a:pt x="267179" y="775335"/>
                  <a:pt x="258779" y="775335"/>
                </a:cubicBezTo>
                <a:cubicBezTo>
                  <a:pt x="247775" y="775335"/>
                  <a:pt x="239832" y="772275"/>
                  <a:pt x="234948" y="766154"/>
                </a:cubicBezTo>
                <a:cubicBezTo>
                  <a:pt x="230065" y="760034"/>
                  <a:pt x="227623" y="751602"/>
                  <a:pt x="227623" y="740858"/>
                </a:cubicBezTo>
                <a:close/>
                <a:moveTo>
                  <a:pt x="988586" y="677569"/>
                </a:moveTo>
                <a:lnTo>
                  <a:pt x="990539" y="677569"/>
                </a:lnTo>
                <a:lnTo>
                  <a:pt x="990539" y="692512"/>
                </a:lnTo>
                <a:lnTo>
                  <a:pt x="988293" y="692512"/>
                </a:lnTo>
                <a:cubicBezTo>
                  <a:pt x="983540" y="692512"/>
                  <a:pt x="979372" y="693131"/>
                  <a:pt x="975791" y="694368"/>
                </a:cubicBezTo>
                <a:cubicBezTo>
                  <a:pt x="972210" y="695605"/>
                  <a:pt x="969085" y="697314"/>
                  <a:pt x="966415" y="699496"/>
                </a:cubicBezTo>
                <a:cubicBezTo>
                  <a:pt x="963746" y="701677"/>
                  <a:pt x="961369" y="704200"/>
                  <a:pt x="959285" y="707065"/>
                </a:cubicBezTo>
                <a:lnTo>
                  <a:pt x="959285" y="773870"/>
                </a:lnTo>
                <a:lnTo>
                  <a:pt x="942975" y="773870"/>
                </a:lnTo>
                <a:lnTo>
                  <a:pt x="942975" y="707028"/>
                </a:lnTo>
                <a:lnTo>
                  <a:pt x="956638" y="678741"/>
                </a:lnTo>
                <a:lnTo>
                  <a:pt x="958309" y="678741"/>
                </a:lnTo>
                <a:lnTo>
                  <a:pt x="958895" y="694954"/>
                </a:lnTo>
                <a:cubicBezTo>
                  <a:pt x="961564" y="690006"/>
                  <a:pt x="965276" y="685871"/>
                  <a:pt x="970029" y="682550"/>
                </a:cubicBezTo>
                <a:cubicBezTo>
                  <a:pt x="974782" y="679229"/>
                  <a:pt x="980968" y="677569"/>
                  <a:pt x="988586" y="677569"/>
                </a:cubicBezTo>
                <a:close/>
                <a:moveTo>
                  <a:pt x="1439386" y="677374"/>
                </a:moveTo>
                <a:cubicBezTo>
                  <a:pt x="1449934" y="677374"/>
                  <a:pt x="1457520" y="680467"/>
                  <a:pt x="1462143" y="686652"/>
                </a:cubicBezTo>
                <a:lnTo>
                  <a:pt x="1466279" y="695488"/>
                </a:lnTo>
                <a:lnTo>
                  <a:pt x="1466050" y="694368"/>
                </a:lnTo>
                <a:cubicBezTo>
                  <a:pt x="1469826" y="690201"/>
                  <a:pt x="1474596" y="686327"/>
                  <a:pt x="1480358" y="682746"/>
                </a:cubicBezTo>
                <a:cubicBezTo>
                  <a:pt x="1486121" y="679164"/>
                  <a:pt x="1493039" y="677374"/>
                  <a:pt x="1501113" y="677374"/>
                </a:cubicBezTo>
                <a:cubicBezTo>
                  <a:pt x="1511661" y="677374"/>
                  <a:pt x="1519246" y="680467"/>
                  <a:pt x="1523870" y="686652"/>
                </a:cubicBezTo>
                <a:cubicBezTo>
                  <a:pt x="1528492" y="692838"/>
                  <a:pt x="1530804" y="701465"/>
                  <a:pt x="1530804" y="712534"/>
                </a:cubicBezTo>
                <a:lnTo>
                  <a:pt x="1530804" y="773870"/>
                </a:lnTo>
                <a:lnTo>
                  <a:pt x="1514493" y="773870"/>
                </a:lnTo>
                <a:lnTo>
                  <a:pt x="1514493" y="714878"/>
                </a:lnTo>
                <a:cubicBezTo>
                  <a:pt x="1514493" y="710255"/>
                  <a:pt x="1514021" y="706153"/>
                  <a:pt x="1513077" y="702572"/>
                </a:cubicBezTo>
                <a:cubicBezTo>
                  <a:pt x="1512133" y="698991"/>
                  <a:pt x="1510391" y="696175"/>
                  <a:pt x="1507852" y="694124"/>
                </a:cubicBezTo>
                <a:cubicBezTo>
                  <a:pt x="1505312" y="692073"/>
                  <a:pt x="1501699" y="691047"/>
                  <a:pt x="1497011" y="691047"/>
                </a:cubicBezTo>
                <a:cubicBezTo>
                  <a:pt x="1490239" y="691047"/>
                  <a:pt x="1484542" y="692626"/>
                  <a:pt x="1479919" y="695784"/>
                </a:cubicBezTo>
                <a:cubicBezTo>
                  <a:pt x="1475296" y="698942"/>
                  <a:pt x="1471487" y="702442"/>
                  <a:pt x="1468492" y="706284"/>
                </a:cubicBezTo>
                <a:lnTo>
                  <a:pt x="1468146" y="704599"/>
                </a:lnTo>
                <a:lnTo>
                  <a:pt x="1469078" y="712534"/>
                </a:lnTo>
                <a:lnTo>
                  <a:pt x="1469078" y="773870"/>
                </a:lnTo>
                <a:lnTo>
                  <a:pt x="1452669" y="773870"/>
                </a:lnTo>
                <a:lnTo>
                  <a:pt x="1452669" y="714878"/>
                </a:lnTo>
                <a:cubicBezTo>
                  <a:pt x="1452669" y="710255"/>
                  <a:pt x="1452197" y="706153"/>
                  <a:pt x="1451253" y="702572"/>
                </a:cubicBezTo>
                <a:cubicBezTo>
                  <a:pt x="1450309" y="698991"/>
                  <a:pt x="1448567" y="696175"/>
                  <a:pt x="1446028" y="694124"/>
                </a:cubicBezTo>
                <a:cubicBezTo>
                  <a:pt x="1443488" y="692073"/>
                  <a:pt x="1439842" y="691047"/>
                  <a:pt x="1435089" y="691047"/>
                </a:cubicBezTo>
                <a:cubicBezTo>
                  <a:pt x="1428382" y="691047"/>
                  <a:pt x="1422718" y="692659"/>
                  <a:pt x="1418094" y="695882"/>
                </a:cubicBezTo>
                <a:cubicBezTo>
                  <a:pt x="1413472" y="699105"/>
                  <a:pt x="1409760" y="702637"/>
                  <a:pt x="1406960" y="706479"/>
                </a:cubicBezTo>
                <a:lnTo>
                  <a:pt x="1406960" y="773870"/>
                </a:lnTo>
                <a:lnTo>
                  <a:pt x="1390650" y="773870"/>
                </a:lnTo>
                <a:lnTo>
                  <a:pt x="1390650" y="678741"/>
                </a:lnTo>
                <a:lnTo>
                  <a:pt x="1406277" y="678741"/>
                </a:lnTo>
                <a:lnTo>
                  <a:pt x="1406863" y="693391"/>
                </a:lnTo>
                <a:cubicBezTo>
                  <a:pt x="1409662" y="689550"/>
                  <a:pt x="1413764" y="685920"/>
                  <a:pt x="1419169" y="682501"/>
                </a:cubicBezTo>
                <a:cubicBezTo>
                  <a:pt x="1424573" y="679083"/>
                  <a:pt x="1431312" y="677374"/>
                  <a:pt x="1439386" y="677374"/>
                </a:cubicBezTo>
                <a:close/>
                <a:moveTo>
                  <a:pt x="392711" y="677374"/>
                </a:moveTo>
                <a:cubicBezTo>
                  <a:pt x="403128" y="677374"/>
                  <a:pt x="410714" y="680450"/>
                  <a:pt x="415467" y="686603"/>
                </a:cubicBezTo>
                <a:cubicBezTo>
                  <a:pt x="420220" y="692757"/>
                  <a:pt x="422597" y="701400"/>
                  <a:pt x="422597" y="712534"/>
                </a:cubicBezTo>
                <a:lnTo>
                  <a:pt x="422597" y="773870"/>
                </a:lnTo>
                <a:lnTo>
                  <a:pt x="406286" y="773870"/>
                </a:lnTo>
                <a:lnTo>
                  <a:pt x="406286" y="714878"/>
                </a:lnTo>
                <a:cubicBezTo>
                  <a:pt x="406286" y="710255"/>
                  <a:pt x="405798" y="706153"/>
                  <a:pt x="404821" y="702572"/>
                </a:cubicBezTo>
                <a:cubicBezTo>
                  <a:pt x="403845" y="698991"/>
                  <a:pt x="402103" y="696175"/>
                  <a:pt x="399596" y="694124"/>
                </a:cubicBezTo>
                <a:cubicBezTo>
                  <a:pt x="397090" y="692073"/>
                  <a:pt x="393460" y="691047"/>
                  <a:pt x="388706" y="691047"/>
                </a:cubicBezTo>
                <a:cubicBezTo>
                  <a:pt x="381609" y="691047"/>
                  <a:pt x="375651" y="692659"/>
                  <a:pt x="370833" y="695882"/>
                </a:cubicBezTo>
                <a:cubicBezTo>
                  <a:pt x="366015" y="699105"/>
                  <a:pt x="362141" y="702637"/>
                  <a:pt x="359210" y="706479"/>
                </a:cubicBezTo>
                <a:lnTo>
                  <a:pt x="359210" y="773870"/>
                </a:lnTo>
                <a:lnTo>
                  <a:pt x="342900" y="773870"/>
                </a:lnTo>
                <a:lnTo>
                  <a:pt x="342900" y="678741"/>
                </a:lnTo>
                <a:lnTo>
                  <a:pt x="358527" y="678741"/>
                </a:lnTo>
                <a:lnTo>
                  <a:pt x="359113" y="693391"/>
                </a:lnTo>
                <a:cubicBezTo>
                  <a:pt x="362043" y="689550"/>
                  <a:pt x="366243" y="685920"/>
                  <a:pt x="371712" y="682501"/>
                </a:cubicBezTo>
                <a:cubicBezTo>
                  <a:pt x="377181" y="679083"/>
                  <a:pt x="384181" y="677374"/>
                  <a:pt x="392711" y="677374"/>
                </a:cubicBezTo>
                <a:close/>
                <a:moveTo>
                  <a:pt x="1323477" y="677081"/>
                </a:moveTo>
                <a:cubicBezTo>
                  <a:pt x="1336434" y="677081"/>
                  <a:pt x="1346592" y="680988"/>
                  <a:pt x="1353950" y="688801"/>
                </a:cubicBezTo>
                <a:cubicBezTo>
                  <a:pt x="1361307" y="696614"/>
                  <a:pt x="1364986" y="707846"/>
                  <a:pt x="1364986" y="722497"/>
                </a:cubicBezTo>
                <a:cubicBezTo>
                  <a:pt x="1364986" y="723473"/>
                  <a:pt x="1364954" y="724629"/>
                  <a:pt x="1364888" y="725964"/>
                </a:cubicBezTo>
                <a:cubicBezTo>
                  <a:pt x="1364823" y="727299"/>
                  <a:pt x="1364726" y="728259"/>
                  <a:pt x="1364596" y="728845"/>
                </a:cubicBezTo>
                <a:lnTo>
                  <a:pt x="1296814" y="728845"/>
                </a:lnTo>
                <a:cubicBezTo>
                  <a:pt x="1296879" y="735031"/>
                  <a:pt x="1297872" y="740712"/>
                  <a:pt x="1299792" y="745888"/>
                </a:cubicBezTo>
                <a:cubicBezTo>
                  <a:pt x="1301713" y="751065"/>
                  <a:pt x="1304757" y="755216"/>
                  <a:pt x="1308924" y="758341"/>
                </a:cubicBezTo>
                <a:cubicBezTo>
                  <a:pt x="1313092" y="761466"/>
                  <a:pt x="1318594" y="763029"/>
                  <a:pt x="1325430" y="763029"/>
                </a:cubicBezTo>
                <a:cubicBezTo>
                  <a:pt x="1332723" y="763029"/>
                  <a:pt x="1338420" y="761320"/>
                  <a:pt x="1342522" y="757901"/>
                </a:cubicBezTo>
                <a:cubicBezTo>
                  <a:pt x="1346624" y="754483"/>
                  <a:pt x="1348773" y="749551"/>
                  <a:pt x="1348968" y="743105"/>
                </a:cubicBezTo>
                <a:lnTo>
                  <a:pt x="1365084" y="743105"/>
                </a:lnTo>
                <a:cubicBezTo>
                  <a:pt x="1364888" y="749811"/>
                  <a:pt x="1363163" y="755590"/>
                  <a:pt x="1359907" y="760441"/>
                </a:cubicBezTo>
                <a:cubicBezTo>
                  <a:pt x="1356652" y="765292"/>
                  <a:pt x="1352094" y="769036"/>
                  <a:pt x="1346234" y="771673"/>
                </a:cubicBezTo>
                <a:cubicBezTo>
                  <a:pt x="1340374" y="774310"/>
                  <a:pt x="1333439" y="775628"/>
                  <a:pt x="1325430" y="775628"/>
                </a:cubicBezTo>
                <a:cubicBezTo>
                  <a:pt x="1315078" y="775628"/>
                  <a:pt x="1306597" y="773463"/>
                  <a:pt x="1299988" y="769133"/>
                </a:cubicBezTo>
                <a:cubicBezTo>
                  <a:pt x="1293379" y="764803"/>
                  <a:pt x="1288479" y="758911"/>
                  <a:pt x="1285289" y="751455"/>
                </a:cubicBezTo>
                <a:cubicBezTo>
                  <a:pt x="1282098" y="744000"/>
                  <a:pt x="1280503" y="735617"/>
                  <a:pt x="1280503" y="726306"/>
                </a:cubicBezTo>
                <a:cubicBezTo>
                  <a:pt x="1280503" y="716604"/>
                  <a:pt x="1282049" y="708058"/>
                  <a:pt x="1285142" y="700668"/>
                </a:cubicBezTo>
                <a:cubicBezTo>
                  <a:pt x="1288235" y="693277"/>
                  <a:pt x="1292956" y="687499"/>
                  <a:pt x="1299304" y="683332"/>
                </a:cubicBezTo>
                <a:cubicBezTo>
                  <a:pt x="1305652" y="679164"/>
                  <a:pt x="1313710" y="677081"/>
                  <a:pt x="1323477" y="677081"/>
                </a:cubicBezTo>
                <a:close/>
                <a:moveTo>
                  <a:pt x="876825" y="677081"/>
                </a:moveTo>
                <a:cubicBezTo>
                  <a:pt x="869728" y="677081"/>
                  <a:pt x="863493" y="678676"/>
                  <a:pt x="858122" y="681867"/>
                </a:cubicBezTo>
                <a:cubicBezTo>
                  <a:pt x="852750" y="685057"/>
                  <a:pt x="848371" y="689192"/>
                  <a:pt x="844985" y="694270"/>
                </a:cubicBezTo>
                <a:lnTo>
                  <a:pt x="844497" y="678741"/>
                </a:lnTo>
                <a:lnTo>
                  <a:pt x="828675" y="678741"/>
                </a:lnTo>
                <a:lnTo>
                  <a:pt x="828675" y="808836"/>
                </a:lnTo>
                <a:lnTo>
                  <a:pt x="844888" y="808836"/>
                </a:lnTo>
                <a:lnTo>
                  <a:pt x="844888" y="760490"/>
                </a:lnTo>
                <a:cubicBezTo>
                  <a:pt x="847948" y="765178"/>
                  <a:pt x="852017" y="768873"/>
                  <a:pt x="857096" y="771575"/>
                </a:cubicBezTo>
                <a:cubicBezTo>
                  <a:pt x="862175" y="774277"/>
                  <a:pt x="868100" y="775628"/>
                  <a:pt x="874872" y="775628"/>
                </a:cubicBezTo>
                <a:cubicBezTo>
                  <a:pt x="882946" y="775628"/>
                  <a:pt x="889978" y="773756"/>
                  <a:pt x="895968" y="770012"/>
                </a:cubicBezTo>
                <a:cubicBezTo>
                  <a:pt x="901958" y="766268"/>
                  <a:pt x="906598" y="760734"/>
                  <a:pt x="909886" y="753409"/>
                </a:cubicBezTo>
                <a:cubicBezTo>
                  <a:pt x="913174" y="746084"/>
                  <a:pt x="914818" y="737049"/>
                  <a:pt x="914818" y="726306"/>
                </a:cubicBezTo>
                <a:cubicBezTo>
                  <a:pt x="914818" y="715432"/>
                  <a:pt x="913272" y="706349"/>
                  <a:pt x="910179" y="699056"/>
                </a:cubicBezTo>
                <a:cubicBezTo>
                  <a:pt x="907086" y="691764"/>
                  <a:pt x="902707" y="686278"/>
                  <a:pt x="897042" y="682599"/>
                </a:cubicBezTo>
                <a:cubicBezTo>
                  <a:pt x="891378" y="678920"/>
                  <a:pt x="884639" y="677081"/>
                  <a:pt x="876825" y="677081"/>
                </a:cubicBezTo>
                <a:close/>
                <a:moveTo>
                  <a:pt x="1048619" y="676885"/>
                </a:moveTo>
                <a:cubicBezTo>
                  <a:pt x="1058126" y="676885"/>
                  <a:pt x="1066248" y="678871"/>
                  <a:pt x="1072988" y="682843"/>
                </a:cubicBezTo>
                <a:cubicBezTo>
                  <a:pt x="1079727" y="686815"/>
                  <a:pt x="1084903" y="692496"/>
                  <a:pt x="1088517" y="699886"/>
                </a:cubicBezTo>
                <a:cubicBezTo>
                  <a:pt x="1092131" y="707277"/>
                  <a:pt x="1093938" y="716148"/>
                  <a:pt x="1093938" y="726501"/>
                </a:cubicBezTo>
                <a:cubicBezTo>
                  <a:pt x="1093938" y="736593"/>
                  <a:pt x="1092131" y="745302"/>
                  <a:pt x="1088517" y="752627"/>
                </a:cubicBezTo>
                <a:cubicBezTo>
                  <a:pt x="1084903" y="759952"/>
                  <a:pt x="1079727" y="765585"/>
                  <a:pt x="1072988" y="769524"/>
                </a:cubicBezTo>
                <a:cubicBezTo>
                  <a:pt x="1066248" y="773463"/>
                  <a:pt x="1058126" y="775433"/>
                  <a:pt x="1048619" y="775433"/>
                </a:cubicBezTo>
                <a:cubicBezTo>
                  <a:pt x="1039308" y="775433"/>
                  <a:pt x="1031332" y="773463"/>
                  <a:pt x="1024690" y="769524"/>
                </a:cubicBezTo>
                <a:cubicBezTo>
                  <a:pt x="1018049" y="765585"/>
                  <a:pt x="1012987" y="759952"/>
                  <a:pt x="1009503" y="752627"/>
                </a:cubicBezTo>
                <a:cubicBezTo>
                  <a:pt x="1006020" y="745302"/>
                  <a:pt x="1004278" y="736593"/>
                  <a:pt x="1004278" y="726501"/>
                </a:cubicBezTo>
                <a:cubicBezTo>
                  <a:pt x="1004278" y="716148"/>
                  <a:pt x="1006020" y="707277"/>
                  <a:pt x="1009503" y="699886"/>
                </a:cubicBezTo>
                <a:cubicBezTo>
                  <a:pt x="1012987" y="692496"/>
                  <a:pt x="1018049" y="686815"/>
                  <a:pt x="1024690" y="682843"/>
                </a:cubicBezTo>
                <a:cubicBezTo>
                  <a:pt x="1031332" y="678871"/>
                  <a:pt x="1039308" y="676885"/>
                  <a:pt x="1048619" y="676885"/>
                </a:cubicBezTo>
                <a:close/>
                <a:moveTo>
                  <a:pt x="153270" y="676885"/>
                </a:moveTo>
                <a:cubicBezTo>
                  <a:pt x="162776" y="676885"/>
                  <a:pt x="170899" y="678871"/>
                  <a:pt x="177638" y="682843"/>
                </a:cubicBezTo>
                <a:cubicBezTo>
                  <a:pt x="184377" y="686815"/>
                  <a:pt x="189553" y="692496"/>
                  <a:pt x="193167" y="699886"/>
                </a:cubicBezTo>
                <a:cubicBezTo>
                  <a:pt x="196781" y="707277"/>
                  <a:pt x="198588" y="716148"/>
                  <a:pt x="198588" y="726501"/>
                </a:cubicBezTo>
                <a:cubicBezTo>
                  <a:pt x="198588" y="736593"/>
                  <a:pt x="196781" y="745302"/>
                  <a:pt x="193167" y="752627"/>
                </a:cubicBezTo>
                <a:cubicBezTo>
                  <a:pt x="189553" y="759952"/>
                  <a:pt x="184377" y="765585"/>
                  <a:pt x="177638" y="769524"/>
                </a:cubicBezTo>
                <a:cubicBezTo>
                  <a:pt x="170899" y="773463"/>
                  <a:pt x="162776" y="775433"/>
                  <a:pt x="153270" y="775433"/>
                </a:cubicBezTo>
                <a:cubicBezTo>
                  <a:pt x="143959" y="775433"/>
                  <a:pt x="135982" y="773463"/>
                  <a:pt x="129341" y="769524"/>
                </a:cubicBezTo>
                <a:cubicBezTo>
                  <a:pt x="122699" y="765585"/>
                  <a:pt x="117637" y="759952"/>
                  <a:pt x="114153" y="752627"/>
                </a:cubicBezTo>
                <a:cubicBezTo>
                  <a:pt x="110670" y="745302"/>
                  <a:pt x="108928" y="736593"/>
                  <a:pt x="108928" y="726501"/>
                </a:cubicBezTo>
                <a:cubicBezTo>
                  <a:pt x="108928" y="716148"/>
                  <a:pt x="110670" y="707277"/>
                  <a:pt x="114153" y="699886"/>
                </a:cubicBezTo>
                <a:cubicBezTo>
                  <a:pt x="117637" y="692496"/>
                  <a:pt x="122699" y="686815"/>
                  <a:pt x="129341" y="682843"/>
                </a:cubicBezTo>
                <a:cubicBezTo>
                  <a:pt x="135982" y="678871"/>
                  <a:pt x="143959" y="676885"/>
                  <a:pt x="153270" y="676885"/>
                </a:cubicBezTo>
                <a:close/>
                <a:moveTo>
                  <a:pt x="1237175" y="642408"/>
                </a:moveTo>
                <a:lnTo>
                  <a:pt x="1253388" y="642408"/>
                </a:lnTo>
                <a:lnTo>
                  <a:pt x="1253388" y="742323"/>
                </a:lnTo>
                <a:cubicBezTo>
                  <a:pt x="1253388" y="748249"/>
                  <a:pt x="1254153" y="752774"/>
                  <a:pt x="1255684" y="755899"/>
                </a:cubicBezTo>
                <a:cubicBezTo>
                  <a:pt x="1257214" y="759025"/>
                  <a:pt x="1260876" y="760587"/>
                  <a:pt x="1266671" y="760587"/>
                </a:cubicBezTo>
                <a:lnTo>
                  <a:pt x="1271066" y="760587"/>
                </a:lnTo>
                <a:lnTo>
                  <a:pt x="1271066" y="773870"/>
                </a:lnTo>
                <a:lnTo>
                  <a:pt x="1265597" y="773870"/>
                </a:lnTo>
                <a:cubicBezTo>
                  <a:pt x="1257848" y="773870"/>
                  <a:pt x="1251923" y="772649"/>
                  <a:pt x="1247821" y="770208"/>
                </a:cubicBezTo>
                <a:cubicBezTo>
                  <a:pt x="1243719" y="767766"/>
                  <a:pt x="1240919" y="764250"/>
                  <a:pt x="1239422" y="759659"/>
                </a:cubicBezTo>
                <a:cubicBezTo>
                  <a:pt x="1237924" y="755069"/>
                  <a:pt x="1237175" y="749551"/>
                  <a:pt x="1237175" y="743105"/>
                </a:cubicBezTo>
                <a:close/>
                <a:moveTo>
                  <a:pt x="1123950" y="642408"/>
                </a:moveTo>
                <a:lnTo>
                  <a:pt x="1140260" y="642408"/>
                </a:lnTo>
                <a:lnTo>
                  <a:pt x="1140260" y="693977"/>
                </a:lnTo>
                <a:cubicBezTo>
                  <a:pt x="1143581" y="688964"/>
                  <a:pt x="1147927" y="684894"/>
                  <a:pt x="1153299" y="681769"/>
                </a:cubicBezTo>
                <a:cubicBezTo>
                  <a:pt x="1158671" y="678643"/>
                  <a:pt x="1164970" y="677081"/>
                  <a:pt x="1172198" y="677081"/>
                </a:cubicBezTo>
                <a:cubicBezTo>
                  <a:pt x="1179946" y="677081"/>
                  <a:pt x="1186653" y="678920"/>
                  <a:pt x="1192318" y="682599"/>
                </a:cubicBezTo>
                <a:cubicBezTo>
                  <a:pt x="1197982" y="686278"/>
                  <a:pt x="1202361" y="691764"/>
                  <a:pt x="1205454" y="699056"/>
                </a:cubicBezTo>
                <a:cubicBezTo>
                  <a:pt x="1208547" y="706349"/>
                  <a:pt x="1210093" y="715432"/>
                  <a:pt x="1210093" y="726306"/>
                </a:cubicBezTo>
                <a:cubicBezTo>
                  <a:pt x="1210093" y="737114"/>
                  <a:pt x="1208449" y="746181"/>
                  <a:pt x="1205161" y="753506"/>
                </a:cubicBezTo>
                <a:cubicBezTo>
                  <a:pt x="1201873" y="760831"/>
                  <a:pt x="1197234" y="766350"/>
                  <a:pt x="1191243" y="770061"/>
                </a:cubicBezTo>
                <a:cubicBezTo>
                  <a:pt x="1185253" y="773773"/>
                  <a:pt x="1178221" y="775628"/>
                  <a:pt x="1170147" y="775628"/>
                </a:cubicBezTo>
                <a:cubicBezTo>
                  <a:pt x="1163115" y="775628"/>
                  <a:pt x="1157124" y="774277"/>
                  <a:pt x="1152176" y="771575"/>
                </a:cubicBezTo>
                <a:cubicBezTo>
                  <a:pt x="1147227" y="768873"/>
                  <a:pt x="1143190" y="765145"/>
                  <a:pt x="1140065" y="760392"/>
                </a:cubicBezTo>
                <a:lnTo>
                  <a:pt x="1139186" y="773870"/>
                </a:lnTo>
                <a:lnTo>
                  <a:pt x="1123950" y="773870"/>
                </a:lnTo>
                <a:close/>
                <a:moveTo>
                  <a:pt x="740736" y="642408"/>
                </a:moveTo>
                <a:lnTo>
                  <a:pt x="740736" y="693587"/>
                </a:lnTo>
                <a:cubicBezTo>
                  <a:pt x="737676" y="688508"/>
                  <a:pt x="733639" y="684487"/>
                  <a:pt x="728625" y="681525"/>
                </a:cubicBezTo>
                <a:cubicBezTo>
                  <a:pt x="723611" y="678562"/>
                  <a:pt x="717719" y="677081"/>
                  <a:pt x="710947" y="677081"/>
                </a:cubicBezTo>
                <a:cubicBezTo>
                  <a:pt x="702808" y="677081"/>
                  <a:pt x="695743" y="678920"/>
                  <a:pt x="689753" y="682599"/>
                </a:cubicBezTo>
                <a:cubicBezTo>
                  <a:pt x="683763" y="686278"/>
                  <a:pt x="679123" y="691731"/>
                  <a:pt x="675835" y="698959"/>
                </a:cubicBezTo>
                <a:cubicBezTo>
                  <a:pt x="672547" y="706186"/>
                  <a:pt x="670903" y="715204"/>
                  <a:pt x="670903" y="726013"/>
                </a:cubicBezTo>
                <a:cubicBezTo>
                  <a:pt x="670903" y="736886"/>
                  <a:pt x="672449" y="746018"/>
                  <a:pt x="675542" y="753409"/>
                </a:cubicBezTo>
                <a:cubicBezTo>
                  <a:pt x="678635" y="760799"/>
                  <a:pt x="683014" y="766350"/>
                  <a:pt x="688678" y="770061"/>
                </a:cubicBezTo>
                <a:cubicBezTo>
                  <a:pt x="694343" y="773773"/>
                  <a:pt x="701050" y="775628"/>
                  <a:pt x="708798" y="775628"/>
                </a:cubicBezTo>
                <a:cubicBezTo>
                  <a:pt x="716026" y="775628"/>
                  <a:pt x="722309" y="774179"/>
                  <a:pt x="727648" y="771282"/>
                </a:cubicBezTo>
                <a:cubicBezTo>
                  <a:pt x="732987" y="768384"/>
                  <a:pt x="737350" y="764624"/>
                  <a:pt x="740736" y="760001"/>
                </a:cubicBezTo>
                <a:lnTo>
                  <a:pt x="741615" y="773870"/>
                </a:lnTo>
                <a:lnTo>
                  <a:pt x="757046" y="773870"/>
                </a:lnTo>
                <a:lnTo>
                  <a:pt x="757046" y="642408"/>
                </a:lnTo>
                <a:close/>
                <a:moveTo>
                  <a:pt x="521661" y="642408"/>
                </a:moveTo>
                <a:lnTo>
                  <a:pt x="537972" y="642408"/>
                </a:lnTo>
                <a:lnTo>
                  <a:pt x="537972" y="773870"/>
                </a:lnTo>
                <a:lnTo>
                  <a:pt x="522540" y="773870"/>
                </a:lnTo>
                <a:lnTo>
                  <a:pt x="521661" y="760001"/>
                </a:lnTo>
                <a:cubicBezTo>
                  <a:pt x="518275" y="764624"/>
                  <a:pt x="513912" y="768384"/>
                  <a:pt x="508573" y="771282"/>
                </a:cubicBezTo>
                <a:cubicBezTo>
                  <a:pt x="503234" y="774179"/>
                  <a:pt x="496951" y="775628"/>
                  <a:pt x="489723" y="775628"/>
                </a:cubicBezTo>
                <a:cubicBezTo>
                  <a:pt x="481975" y="775628"/>
                  <a:pt x="475268" y="773773"/>
                  <a:pt x="469604" y="770061"/>
                </a:cubicBezTo>
                <a:cubicBezTo>
                  <a:pt x="463939" y="766350"/>
                  <a:pt x="459560" y="760799"/>
                  <a:pt x="456467" y="753409"/>
                </a:cubicBezTo>
                <a:cubicBezTo>
                  <a:pt x="453374" y="746018"/>
                  <a:pt x="451828" y="736886"/>
                  <a:pt x="451828" y="726013"/>
                </a:cubicBezTo>
                <a:cubicBezTo>
                  <a:pt x="451828" y="715204"/>
                  <a:pt x="453472" y="706186"/>
                  <a:pt x="456760" y="698959"/>
                </a:cubicBezTo>
                <a:cubicBezTo>
                  <a:pt x="460048" y="691731"/>
                  <a:pt x="464688" y="686278"/>
                  <a:pt x="470678" y="682599"/>
                </a:cubicBezTo>
                <a:cubicBezTo>
                  <a:pt x="476668" y="678920"/>
                  <a:pt x="483733" y="677081"/>
                  <a:pt x="491872" y="677081"/>
                </a:cubicBezTo>
                <a:cubicBezTo>
                  <a:pt x="498644" y="677081"/>
                  <a:pt x="504536" y="678562"/>
                  <a:pt x="509550" y="681525"/>
                </a:cubicBezTo>
                <a:cubicBezTo>
                  <a:pt x="514564" y="684487"/>
                  <a:pt x="518600" y="688508"/>
                  <a:pt x="521661" y="693587"/>
                </a:cubicBezTo>
                <a:close/>
                <a:moveTo>
                  <a:pt x="0" y="642408"/>
                </a:moveTo>
                <a:lnTo>
                  <a:pt x="16311" y="642408"/>
                </a:lnTo>
                <a:lnTo>
                  <a:pt x="16311" y="693977"/>
                </a:lnTo>
                <a:cubicBezTo>
                  <a:pt x="19631" y="688964"/>
                  <a:pt x="23977" y="684894"/>
                  <a:pt x="29349" y="681769"/>
                </a:cubicBezTo>
                <a:cubicBezTo>
                  <a:pt x="34721" y="678643"/>
                  <a:pt x="41021" y="677081"/>
                  <a:pt x="48248" y="677081"/>
                </a:cubicBezTo>
                <a:cubicBezTo>
                  <a:pt x="55996" y="677081"/>
                  <a:pt x="62703" y="678920"/>
                  <a:pt x="68368" y="682599"/>
                </a:cubicBezTo>
                <a:cubicBezTo>
                  <a:pt x="74033" y="686278"/>
                  <a:pt x="78411" y="691764"/>
                  <a:pt x="81504" y="699056"/>
                </a:cubicBezTo>
                <a:cubicBezTo>
                  <a:pt x="84597" y="706349"/>
                  <a:pt x="86143" y="715432"/>
                  <a:pt x="86143" y="726306"/>
                </a:cubicBezTo>
                <a:cubicBezTo>
                  <a:pt x="86143" y="737114"/>
                  <a:pt x="84499" y="746181"/>
                  <a:pt x="81211" y="753506"/>
                </a:cubicBezTo>
                <a:cubicBezTo>
                  <a:pt x="77923" y="760831"/>
                  <a:pt x="73284" y="766350"/>
                  <a:pt x="67293" y="770061"/>
                </a:cubicBezTo>
                <a:cubicBezTo>
                  <a:pt x="61303" y="773773"/>
                  <a:pt x="54271" y="775628"/>
                  <a:pt x="46197" y="775628"/>
                </a:cubicBezTo>
                <a:cubicBezTo>
                  <a:pt x="39165" y="775628"/>
                  <a:pt x="33175" y="774277"/>
                  <a:pt x="28226" y="771575"/>
                </a:cubicBezTo>
                <a:cubicBezTo>
                  <a:pt x="23278" y="768873"/>
                  <a:pt x="19241" y="765145"/>
                  <a:pt x="16115" y="760392"/>
                </a:cubicBezTo>
                <a:lnTo>
                  <a:pt x="15236" y="773870"/>
                </a:lnTo>
                <a:lnTo>
                  <a:pt x="0" y="773870"/>
                </a:lnTo>
                <a:close/>
                <a:moveTo>
                  <a:pt x="1029183" y="528544"/>
                </a:moveTo>
                <a:lnTo>
                  <a:pt x="1029183" y="532773"/>
                </a:lnTo>
                <a:cubicBezTo>
                  <a:pt x="1029183" y="538699"/>
                  <a:pt x="1029948" y="543240"/>
                  <a:pt x="1031478" y="546398"/>
                </a:cubicBezTo>
                <a:cubicBezTo>
                  <a:pt x="1033009" y="549556"/>
                  <a:pt x="1036671" y="551135"/>
                  <a:pt x="1042466" y="551135"/>
                </a:cubicBezTo>
                <a:lnTo>
                  <a:pt x="1052819" y="551135"/>
                </a:lnTo>
                <a:lnTo>
                  <a:pt x="1052819" y="564320"/>
                </a:lnTo>
                <a:lnTo>
                  <a:pt x="1041392" y="564320"/>
                </a:lnTo>
                <a:cubicBezTo>
                  <a:pt x="1033709" y="564320"/>
                  <a:pt x="1027816" y="563099"/>
                  <a:pt x="1023714" y="560658"/>
                </a:cubicBezTo>
                <a:lnTo>
                  <a:pt x="1017450" y="552836"/>
                </a:lnTo>
                <a:close/>
                <a:moveTo>
                  <a:pt x="1029183" y="482376"/>
                </a:moveTo>
                <a:lnTo>
                  <a:pt x="1051482" y="482376"/>
                </a:lnTo>
                <a:lnTo>
                  <a:pt x="1029183" y="528544"/>
                </a:lnTo>
                <a:close/>
                <a:moveTo>
                  <a:pt x="580527" y="480814"/>
                </a:moveTo>
                <a:cubicBezTo>
                  <a:pt x="587103" y="480814"/>
                  <a:pt x="592556" y="482555"/>
                  <a:pt x="596886" y="486039"/>
                </a:cubicBezTo>
                <a:cubicBezTo>
                  <a:pt x="601216" y="489522"/>
                  <a:pt x="604716" y="493934"/>
                  <a:pt x="607386" y="499273"/>
                </a:cubicBezTo>
                <a:lnTo>
                  <a:pt x="607386" y="535899"/>
                </a:lnTo>
                <a:cubicBezTo>
                  <a:pt x="604521" y="540522"/>
                  <a:pt x="600777" y="544477"/>
                  <a:pt x="596154" y="547765"/>
                </a:cubicBezTo>
                <a:cubicBezTo>
                  <a:pt x="591531" y="551054"/>
                  <a:pt x="585736" y="552698"/>
                  <a:pt x="578769" y="552698"/>
                </a:cubicBezTo>
                <a:cubicBezTo>
                  <a:pt x="570760" y="552698"/>
                  <a:pt x="564688" y="549605"/>
                  <a:pt x="560554" y="543419"/>
                </a:cubicBezTo>
                <a:cubicBezTo>
                  <a:pt x="556419" y="537234"/>
                  <a:pt x="554352" y="528248"/>
                  <a:pt x="554352" y="516463"/>
                </a:cubicBezTo>
                <a:cubicBezTo>
                  <a:pt x="554352" y="505068"/>
                  <a:pt x="556549" y="496278"/>
                  <a:pt x="560944" y="490092"/>
                </a:cubicBezTo>
                <a:cubicBezTo>
                  <a:pt x="565340" y="483907"/>
                  <a:pt x="571867" y="480814"/>
                  <a:pt x="580527" y="480814"/>
                </a:cubicBezTo>
                <a:close/>
                <a:moveTo>
                  <a:pt x="829544" y="480325"/>
                </a:moveTo>
                <a:cubicBezTo>
                  <a:pt x="836576" y="480325"/>
                  <a:pt x="842176" y="481904"/>
                  <a:pt x="846343" y="485062"/>
                </a:cubicBezTo>
                <a:cubicBezTo>
                  <a:pt x="850510" y="488220"/>
                  <a:pt x="853506" y="492566"/>
                  <a:pt x="855329" y="498101"/>
                </a:cubicBezTo>
                <a:cubicBezTo>
                  <a:pt x="857152" y="503636"/>
                  <a:pt x="858064" y="509919"/>
                  <a:pt x="858064" y="516951"/>
                </a:cubicBezTo>
                <a:cubicBezTo>
                  <a:pt x="858064" y="523853"/>
                  <a:pt x="857152" y="530022"/>
                  <a:pt x="855329" y="535459"/>
                </a:cubicBezTo>
                <a:cubicBezTo>
                  <a:pt x="853506" y="540896"/>
                  <a:pt x="850510" y="545161"/>
                  <a:pt x="846343" y="548254"/>
                </a:cubicBezTo>
                <a:cubicBezTo>
                  <a:pt x="842176" y="551347"/>
                  <a:pt x="836576" y="552893"/>
                  <a:pt x="829544" y="552893"/>
                </a:cubicBezTo>
                <a:cubicBezTo>
                  <a:pt x="822708" y="552893"/>
                  <a:pt x="817287" y="551347"/>
                  <a:pt x="813283" y="548254"/>
                </a:cubicBezTo>
                <a:cubicBezTo>
                  <a:pt x="809278" y="545161"/>
                  <a:pt x="806397" y="540896"/>
                  <a:pt x="804639" y="535459"/>
                </a:cubicBezTo>
                <a:cubicBezTo>
                  <a:pt x="802881" y="530022"/>
                  <a:pt x="802002" y="523853"/>
                  <a:pt x="802002" y="516951"/>
                </a:cubicBezTo>
                <a:cubicBezTo>
                  <a:pt x="802002" y="509919"/>
                  <a:pt x="802881" y="503636"/>
                  <a:pt x="804639" y="498101"/>
                </a:cubicBezTo>
                <a:cubicBezTo>
                  <a:pt x="806397" y="492566"/>
                  <a:pt x="809278" y="488220"/>
                  <a:pt x="813283" y="485062"/>
                </a:cubicBezTo>
                <a:cubicBezTo>
                  <a:pt x="817287" y="481904"/>
                  <a:pt x="822708" y="480325"/>
                  <a:pt x="829544" y="480325"/>
                </a:cubicBezTo>
                <a:close/>
                <a:moveTo>
                  <a:pt x="1228227" y="480032"/>
                </a:moveTo>
                <a:cubicBezTo>
                  <a:pt x="1220283" y="480032"/>
                  <a:pt x="1214049" y="482360"/>
                  <a:pt x="1209524" y="487016"/>
                </a:cubicBezTo>
                <a:cubicBezTo>
                  <a:pt x="1204998" y="491671"/>
                  <a:pt x="1202378" y="498459"/>
                  <a:pt x="1201661" y="507380"/>
                </a:cubicBezTo>
                <a:lnTo>
                  <a:pt x="1253621" y="507380"/>
                </a:lnTo>
                <a:cubicBezTo>
                  <a:pt x="1253426" y="498524"/>
                  <a:pt x="1251114" y="491753"/>
                  <a:pt x="1246686" y="487064"/>
                </a:cubicBezTo>
                <a:cubicBezTo>
                  <a:pt x="1242259" y="482376"/>
                  <a:pt x="1236106" y="480032"/>
                  <a:pt x="1228227" y="480032"/>
                </a:cubicBezTo>
                <a:close/>
                <a:moveTo>
                  <a:pt x="1052624" y="480013"/>
                </a:moveTo>
                <a:lnTo>
                  <a:pt x="1052624" y="482376"/>
                </a:lnTo>
                <a:lnTo>
                  <a:pt x="1051482" y="482376"/>
                </a:lnTo>
                <a:close/>
                <a:moveTo>
                  <a:pt x="641500" y="469191"/>
                </a:moveTo>
                <a:lnTo>
                  <a:pt x="679493" y="564320"/>
                </a:lnTo>
                <a:lnTo>
                  <a:pt x="675782" y="572915"/>
                </a:lnTo>
                <a:cubicBezTo>
                  <a:pt x="673958" y="577538"/>
                  <a:pt x="671761" y="580842"/>
                  <a:pt x="669189" y="582828"/>
                </a:cubicBezTo>
                <a:cubicBezTo>
                  <a:pt x="666617" y="584814"/>
                  <a:pt x="663476" y="585807"/>
                  <a:pt x="659764" y="585807"/>
                </a:cubicBezTo>
                <a:lnTo>
                  <a:pt x="651755" y="585807"/>
                </a:lnTo>
                <a:lnTo>
                  <a:pt x="651755" y="599286"/>
                </a:lnTo>
                <a:lnTo>
                  <a:pt x="661424" y="599286"/>
                </a:lnTo>
                <a:cubicBezTo>
                  <a:pt x="667089" y="599286"/>
                  <a:pt x="671745" y="598520"/>
                  <a:pt x="675391" y="596990"/>
                </a:cubicBezTo>
                <a:cubicBezTo>
                  <a:pt x="679037" y="595460"/>
                  <a:pt x="682114" y="592970"/>
                  <a:pt x="684621" y="589519"/>
                </a:cubicBezTo>
                <a:cubicBezTo>
                  <a:pt x="687128" y="586068"/>
                  <a:pt x="689488" y="581510"/>
                  <a:pt x="691702" y="575845"/>
                </a:cubicBezTo>
                <a:lnTo>
                  <a:pt x="696194" y="564320"/>
                </a:lnTo>
                <a:lnTo>
                  <a:pt x="731941" y="469191"/>
                </a:lnTo>
                <a:lnTo>
                  <a:pt x="715337" y="469191"/>
                </a:lnTo>
                <a:lnTo>
                  <a:pt x="688186" y="547033"/>
                </a:lnTo>
                <a:lnTo>
                  <a:pt x="658787" y="469191"/>
                </a:lnTo>
                <a:close/>
                <a:moveTo>
                  <a:pt x="427648" y="469191"/>
                </a:moveTo>
                <a:lnTo>
                  <a:pt x="444056" y="469191"/>
                </a:lnTo>
                <a:lnTo>
                  <a:pt x="444056" y="529062"/>
                </a:lnTo>
                <a:cubicBezTo>
                  <a:pt x="444056" y="533359"/>
                  <a:pt x="444545" y="537201"/>
                  <a:pt x="445521" y="540587"/>
                </a:cubicBezTo>
                <a:cubicBezTo>
                  <a:pt x="446498" y="543973"/>
                  <a:pt x="448354" y="546610"/>
                  <a:pt x="451088" y="548498"/>
                </a:cubicBezTo>
                <a:cubicBezTo>
                  <a:pt x="453823" y="550386"/>
                  <a:pt x="457762" y="551330"/>
                  <a:pt x="462906" y="551330"/>
                </a:cubicBezTo>
                <a:cubicBezTo>
                  <a:pt x="470069" y="551330"/>
                  <a:pt x="476059" y="549849"/>
                  <a:pt x="480877" y="546886"/>
                </a:cubicBezTo>
                <a:cubicBezTo>
                  <a:pt x="485696" y="543924"/>
                  <a:pt x="489570" y="540489"/>
                  <a:pt x="492500" y="536582"/>
                </a:cubicBezTo>
                <a:lnTo>
                  <a:pt x="492500" y="474663"/>
                </a:lnTo>
                <a:lnTo>
                  <a:pt x="508908" y="507335"/>
                </a:lnTo>
                <a:lnTo>
                  <a:pt x="508908" y="564320"/>
                </a:lnTo>
                <a:lnTo>
                  <a:pt x="493183" y="564320"/>
                </a:lnTo>
                <a:lnTo>
                  <a:pt x="492695" y="549670"/>
                </a:lnTo>
                <a:cubicBezTo>
                  <a:pt x="489635" y="553446"/>
                  <a:pt x="485321" y="557076"/>
                  <a:pt x="479754" y="560560"/>
                </a:cubicBezTo>
                <a:cubicBezTo>
                  <a:pt x="474187" y="564043"/>
                  <a:pt x="467204" y="565785"/>
                  <a:pt x="458804" y="565785"/>
                </a:cubicBezTo>
                <a:cubicBezTo>
                  <a:pt x="447800" y="565785"/>
                  <a:pt x="439856" y="562725"/>
                  <a:pt x="434973" y="556604"/>
                </a:cubicBezTo>
                <a:cubicBezTo>
                  <a:pt x="430090" y="550484"/>
                  <a:pt x="427648" y="542052"/>
                  <a:pt x="427648" y="531308"/>
                </a:cubicBezTo>
                <a:close/>
                <a:moveTo>
                  <a:pt x="1228227" y="467531"/>
                </a:moveTo>
                <a:cubicBezTo>
                  <a:pt x="1241184" y="467531"/>
                  <a:pt x="1251342" y="471438"/>
                  <a:pt x="1258700" y="479251"/>
                </a:cubicBezTo>
                <a:cubicBezTo>
                  <a:pt x="1266057" y="487064"/>
                  <a:pt x="1269736" y="498296"/>
                  <a:pt x="1269736" y="512947"/>
                </a:cubicBezTo>
                <a:cubicBezTo>
                  <a:pt x="1269736" y="513923"/>
                  <a:pt x="1269704" y="515079"/>
                  <a:pt x="1269638" y="516414"/>
                </a:cubicBezTo>
                <a:cubicBezTo>
                  <a:pt x="1269573" y="517749"/>
                  <a:pt x="1269476" y="518709"/>
                  <a:pt x="1269346" y="519295"/>
                </a:cubicBezTo>
                <a:lnTo>
                  <a:pt x="1201564" y="519295"/>
                </a:lnTo>
                <a:cubicBezTo>
                  <a:pt x="1201629" y="525481"/>
                  <a:pt x="1202622" y="531162"/>
                  <a:pt x="1204542" y="536338"/>
                </a:cubicBezTo>
                <a:cubicBezTo>
                  <a:pt x="1206463" y="541515"/>
                  <a:pt x="1209507" y="545666"/>
                  <a:pt x="1213674" y="548791"/>
                </a:cubicBezTo>
                <a:cubicBezTo>
                  <a:pt x="1217842" y="551916"/>
                  <a:pt x="1223344" y="553479"/>
                  <a:pt x="1230180" y="553479"/>
                </a:cubicBezTo>
                <a:cubicBezTo>
                  <a:pt x="1237473" y="553479"/>
                  <a:pt x="1243170" y="551770"/>
                  <a:pt x="1247272" y="548351"/>
                </a:cubicBezTo>
                <a:cubicBezTo>
                  <a:pt x="1251374" y="544933"/>
                  <a:pt x="1253523" y="540001"/>
                  <a:pt x="1253718" y="533555"/>
                </a:cubicBezTo>
                <a:lnTo>
                  <a:pt x="1269834" y="533555"/>
                </a:lnTo>
                <a:cubicBezTo>
                  <a:pt x="1269638" y="540261"/>
                  <a:pt x="1267913" y="546040"/>
                  <a:pt x="1264657" y="550891"/>
                </a:cubicBezTo>
                <a:cubicBezTo>
                  <a:pt x="1261402" y="555742"/>
                  <a:pt x="1256844" y="559486"/>
                  <a:pt x="1250984" y="562123"/>
                </a:cubicBezTo>
                <a:cubicBezTo>
                  <a:pt x="1245124" y="564760"/>
                  <a:pt x="1238189" y="566078"/>
                  <a:pt x="1230180" y="566078"/>
                </a:cubicBezTo>
                <a:cubicBezTo>
                  <a:pt x="1219828" y="566078"/>
                  <a:pt x="1211347" y="563913"/>
                  <a:pt x="1204738" y="559583"/>
                </a:cubicBezTo>
                <a:cubicBezTo>
                  <a:pt x="1198129" y="555253"/>
                  <a:pt x="1193229" y="549361"/>
                  <a:pt x="1190039" y="541905"/>
                </a:cubicBezTo>
                <a:cubicBezTo>
                  <a:pt x="1186848" y="534450"/>
                  <a:pt x="1185253" y="526067"/>
                  <a:pt x="1185253" y="516756"/>
                </a:cubicBezTo>
                <a:cubicBezTo>
                  <a:pt x="1185253" y="507054"/>
                  <a:pt x="1186799" y="498508"/>
                  <a:pt x="1189892" y="491118"/>
                </a:cubicBezTo>
                <a:cubicBezTo>
                  <a:pt x="1192985" y="483727"/>
                  <a:pt x="1197706" y="477949"/>
                  <a:pt x="1204054" y="473782"/>
                </a:cubicBezTo>
                <a:cubicBezTo>
                  <a:pt x="1210402" y="469614"/>
                  <a:pt x="1218460" y="467531"/>
                  <a:pt x="1228227" y="467531"/>
                </a:cubicBezTo>
                <a:close/>
                <a:moveTo>
                  <a:pt x="299321" y="467531"/>
                </a:moveTo>
                <a:cubicBezTo>
                  <a:pt x="304335" y="467531"/>
                  <a:pt x="309039" y="468117"/>
                  <a:pt x="313434" y="469289"/>
                </a:cubicBezTo>
                <a:cubicBezTo>
                  <a:pt x="317829" y="470461"/>
                  <a:pt x="321704" y="472284"/>
                  <a:pt x="325057" y="474758"/>
                </a:cubicBezTo>
                <a:cubicBezTo>
                  <a:pt x="328410" y="477233"/>
                  <a:pt x="331063" y="480423"/>
                  <a:pt x="333017" y="484330"/>
                </a:cubicBezTo>
                <a:cubicBezTo>
                  <a:pt x="334970" y="488236"/>
                  <a:pt x="335947" y="492925"/>
                  <a:pt x="335947" y="498394"/>
                </a:cubicBezTo>
                <a:lnTo>
                  <a:pt x="320124" y="498394"/>
                </a:lnTo>
                <a:cubicBezTo>
                  <a:pt x="320124" y="491622"/>
                  <a:pt x="318106" y="486837"/>
                  <a:pt x="314069" y="484037"/>
                </a:cubicBezTo>
                <a:cubicBezTo>
                  <a:pt x="310032" y="481237"/>
                  <a:pt x="305116" y="479837"/>
                  <a:pt x="299321" y="479837"/>
                </a:cubicBezTo>
                <a:cubicBezTo>
                  <a:pt x="293461" y="479837"/>
                  <a:pt x="288708" y="480879"/>
                  <a:pt x="285062" y="482962"/>
                </a:cubicBezTo>
                <a:cubicBezTo>
                  <a:pt x="281415" y="485046"/>
                  <a:pt x="279592" y="488302"/>
                  <a:pt x="279592" y="492729"/>
                </a:cubicBezTo>
                <a:cubicBezTo>
                  <a:pt x="279592" y="495269"/>
                  <a:pt x="280406" y="497417"/>
                  <a:pt x="282034" y="499175"/>
                </a:cubicBezTo>
                <a:cubicBezTo>
                  <a:pt x="283662" y="500933"/>
                  <a:pt x="286396" y="502512"/>
                  <a:pt x="290238" y="503912"/>
                </a:cubicBezTo>
                <a:cubicBezTo>
                  <a:pt x="294080" y="505312"/>
                  <a:pt x="299256" y="506794"/>
                  <a:pt x="305767" y="508356"/>
                </a:cubicBezTo>
                <a:cubicBezTo>
                  <a:pt x="312865" y="510049"/>
                  <a:pt x="318822" y="512068"/>
                  <a:pt x="323641" y="514412"/>
                </a:cubicBezTo>
                <a:cubicBezTo>
                  <a:pt x="328459" y="516756"/>
                  <a:pt x="332089" y="519767"/>
                  <a:pt x="334531" y="523446"/>
                </a:cubicBezTo>
                <a:cubicBezTo>
                  <a:pt x="336972" y="527125"/>
                  <a:pt x="338193" y="531829"/>
                  <a:pt x="338193" y="537559"/>
                </a:cubicBezTo>
                <a:cubicBezTo>
                  <a:pt x="338193" y="542508"/>
                  <a:pt x="337233" y="546789"/>
                  <a:pt x="335312" y="550402"/>
                </a:cubicBezTo>
                <a:cubicBezTo>
                  <a:pt x="333391" y="554016"/>
                  <a:pt x="330722" y="556979"/>
                  <a:pt x="327303" y="559290"/>
                </a:cubicBezTo>
                <a:cubicBezTo>
                  <a:pt x="323885" y="561602"/>
                  <a:pt x="319880" y="563311"/>
                  <a:pt x="315290" y="564418"/>
                </a:cubicBezTo>
                <a:cubicBezTo>
                  <a:pt x="310699" y="565525"/>
                  <a:pt x="305735" y="566078"/>
                  <a:pt x="300396" y="566078"/>
                </a:cubicBezTo>
                <a:cubicBezTo>
                  <a:pt x="295056" y="566078"/>
                  <a:pt x="289994" y="565492"/>
                  <a:pt x="285208" y="564320"/>
                </a:cubicBezTo>
                <a:cubicBezTo>
                  <a:pt x="280422" y="563148"/>
                  <a:pt x="276206" y="561293"/>
                  <a:pt x="272560" y="558753"/>
                </a:cubicBezTo>
                <a:cubicBezTo>
                  <a:pt x="268914" y="556214"/>
                  <a:pt x="266065" y="552877"/>
                  <a:pt x="264014" y="548742"/>
                </a:cubicBezTo>
                <a:cubicBezTo>
                  <a:pt x="261963" y="544607"/>
                  <a:pt x="260937" y="539610"/>
                  <a:pt x="260937" y="533750"/>
                </a:cubicBezTo>
                <a:lnTo>
                  <a:pt x="276662" y="533750"/>
                </a:lnTo>
                <a:cubicBezTo>
                  <a:pt x="276662" y="541173"/>
                  <a:pt x="278957" y="546398"/>
                  <a:pt x="283548" y="549426"/>
                </a:cubicBezTo>
                <a:cubicBezTo>
                  <a:pt x="288138" y="552454"/>
                  <a:pt x="293884" y="553967"/>
                  <a:pt x="300786" y="553967"/>
                </a:cubicBezTo>
                <a:cubicBezTo>
                  <a:pt x="306972" y="553967"/>
                  <a:pt x="312067" y="552779"/>
                  <a:pt x="316071" y="550402"/>
                </a:cubicBezTo>
                <a:cubicBezTo>
                  <a:pt x="320076" y="548026"/>
                  <a:pt x="322078" y="544103"/>
                  <a:pt x="322078" y="538633"/>
                </a:cubicBezTo>
                <a:cubicBezTo>
                  <a:pt x="322078" y="533945"/>
                  <a:pt x="320271" y="530462"/>
                  <a:pt x="316657" y="528183"/>
                </a:cubicBezTo>
                <a:cubicBezTo>
                  <a:pt x="313044" y="525904"/>
                  <a:pt x="306679" y="523690"/>
                  <a:pt x="297563" y="521541"/>
                </a:cubicBezTo>
                <a:cubicBezTo>
                  <a:pt x="290140" y="519783"/>
                  <a:pt x="283890" y="517749"/>
                  <a:pt x="278811" y="515437"/>
                </a:cubicBezTo>
                <a:cubicBezTo>
                  <a:pt x="273732" y="513126"/>
                  <a:pt x="269923" y="510196"/>
                  <a:pt x="267384" y="506647"/>
                </a:cubicBezTo>
                <a:cubicBezTo>
                  <a:pt x="264844" y="503098"/>
                  <a:pt x="263574" y="498622"/>
                  <a:pt x="263574" y="493218"/>
                </a:cubicBezTo>
                <a:cubicBezTo>
                  <a:pt x="263574" y="488985"/>
                  <a:pt x="264470" y="485258"/>
                  <a:pt x="266260" y="482035"/>
                </a:cubicBezTo>
                <a:cubicBezTo>
                  <a:pt x="268051" y="478811"/>
                  <a:pt x="270558" y="476126"/>
                  <a:pt x="273781" y="473977"/>
                </a:cubicBezTo>
                <a:cubicBezTo>
                  <a:pt x="277004" y="471828"/>
                  <a:pt x="280797" y="470217"/>
                  <a:pt x="285159" y="469142"/>
                </a:cubicBezTo>
                <a:cubicBezTo>
                  <a:pt x="289522" y="468068"/>
                  <a:pt x="294242" y="467531"/>
                  <a:pt x="299321" y="467531"/>
                </a:cubicBezTo>
                <a:close/>
                <a:moveTo>
                  <a:pt x="829544" y="467335"/>
                </a:moveTo>
                <a:cubicBezTo>
                  <a:pt x="820233" y="467335"/>
                  <a:pt x="812257" y="469321"/>
                  <a:pt x="805616" y="473293"/>
                </a:cubicBezTo>
                <a:cubicBezTo>
                  <a:pt x="798974" y="477265"/>
                  <a:pt x="793912" y="482946"/>
                  <a:pt x="790428" y="490336"/>
                </a:cubicBezTo>
                <a:cubicBezTo>
                  <a:pt x="786945" y="497727"/>
                  <a:pt x="785203" y="506598"/>
                  <a:pt x="785203" y="516951"/>
                </a:cubicBezTo>
                <a:cubicBezTo>
                  <a:pt x="785203" y="527043"/>
                  <a:pt x="786945" y="535752"/>
                  <a:pt x="790428" y="543077"/>
                </a:cubicBezTo>
                <a:cubicBezTo>
                  <a:pt x="793912" y="550402"/>
                  <a:pt x="798974" y="556035"/>
                  <a:pt x="805616" y="559974"/>
                </a:cubicBezTo>
                <a:cubicBezTo>
                  <a:pt x="812257" y="563913"/>
                  <a:pt x="820233" y="565883"/>
                  <a:pt x="829544" y="565883"/>
                </a:cubicBezTo>
                <a:cubicBezTo>
                  <a:pt x="839051" y="565883"/>
                  <a:pt x="847174" y="563913"/>
                  <a:pt x="853913" y="559974"/>
                </a:cubicBezTo>
                <a:cubicBezTo>
                  <a:pt x="860652" y="556035"/>
                  <a:pt x="865828" y="550402"/>
                  <a:pt x="869442" y="543077"/>
                </a:cubicBezTo>
                <a:cubicBezTo>
                  <a:pt x="873056" y="535752"/>
                  <a:pt x="874862" y="527043"/>
                  <a:pt x="874862" y="516951"/>
                </a:cubicBezTo>
                <a:cubicBezTo>
                  <a:pt x="874862" y="506598"/>
                  <a:pt x="873056" y="497727"/>
                  <a:pt x="869442" y="490336"/>
                </a:cubicBezTo>
                <a:cubicBezTo>
                  <a:pt x="865828" y="482946"/>
                  <a:pt x="860652" y="477265"/>
                  <a:pt x="853913" y="473293"/>
                </a:cubicBezTo>
                <a:cubicBezTo>
                  <a:pt x="847174" y="469321"/>
                  <a:pt x="839051" y="467335"/>
                  <a:pt x="829544" y="467335"/>
                </a:cubicBezTo>
                <a:close/>
                <a:moveTo>
                  <a:pt x="365271" y="447411"/>
                </a:moveTo>
                <a:lnTo>
                  <a:pt x="381484" y="447411"/>
                </a:lnTo>
                <a:lnTo>
                  <a:pt x="381484" y="469191"/>
                </a:lnTo>
                <a:lnTo>
                  <a:pt x="404924" y="469191"/>
                </a:lnTo>
                <a:lnTo>
                  <a:pt x="404924" y="482376"/>
                </a:lnTo>
                <a:lnTo>
                  <a:pt x="381484" y="482376"/>
                </a:lnTo>
                <a:lnTo>
                  <a:pt x="381484" y="532773"/>
                </a:lnTo>
                <a:cubicBezTo>
                  <a:pt x="381484" y="538699"/>
                  <a:pt x="382249" y="543240"/>
                  <a:pt x="383779" y="546398"/>
                </a:cubicBezTo>
                <a:cubicBezTo>
                  <a:pt x="385309" y="549556"/>
                  <a:pt x="388971" y="551135"/>
                  <a:pt x="394766" y="551135"/>
                </a:cubicBezTo>
                <a:lnTo>
                  <a:pt x="405119" y="551135"/>
                </a:lnTo>
                <a:lnTo>
                  <a:pt x="405119" y="564320"/>
                </a:lnTo>
                <a:lnTo>
                  <a:pt x="393692" y="564320"/>
                </a:lnTo>
                <a:cubicBezTo>
                  <a:pt x="386009" y="564320"/>
                  <a:pt x="380116" y="563099"/>
                  <a:pt x="376014" y="560658"/>
                </a:cubicBezTo>
                <a:cubicBezTo>
                  <a:pt x="371912" y="558216"/>
                  <a:pt x="369096" y="554700"/>
                  <a:pt x="367566" y="550109"/>
                </a:cubicBezTo>
                <a:cubicBezTo>
                  <a:pt x="366036" y="545519"/>
                  <a:pt x="365271" y="540001"/>
                  <a:pt x="365271" y="533555"/>
                </a:cubicBezTo>
                <a:lnTo>
                  <a:pt x="365271" y="482376"/>
                </a:lnTo>
                <a:lnTo>
                  <a:pt x="349351" y="482376"/>
                </a:lnTo>
                <a:lnTo>
                  <a:pt x="349351" y="469191"/>
                </a:lnTo>
                <a:lnTo>
                  <a:pt x="365271" y="469191"/>
                </a:lnTo>
                <a:close/>
                <a:moveTo>
                  <a:pt x="1076325" y="432858"/>
                </a:moveTo>
                <a:lnTo>
                  <a:pt x="1092538" y="432858"/>
                </a:lnTo>
                <a:lnTo>
                  <a:pt x="1092538" y="483841"/>
                </a:lnTo>
                <a:cubicBezTo>
                  <a:pt x="1095468" y="480000"/>
                  <a:pt x="1099668" y="476370"/>
                  <a:pt x="1105137" y="472951"/>
                </a:cubicBezTo>
                <a:cubicBezTo>
                  <a:pt x="1110606" y="469533"/>
                  <a:pt x="1117573" y="467824"/>
                  <a:pt x="1126038" y="467824"/>
                </a:cubicBezTo>
                <a:cubicBezTo>
                  <a:pt x="1136716" y="467824"/>
                  <a:pt x="1144383" y="470884"/>
                  <a:pt x="1149039" y="477005"/>
                </a:cubicBezTo>
                <a:cubicBezTo>
                  <a:pt x="1153694" y="483125"/>
                  <a:pt x="1156022" y="491785"/>
                  <a:pt x="1156022" y="502984"/>
                </a:cubicBezTo>
                <a:lnTo>
                  <a:pt x="1156022" y="564320"/>
                </a:lnTo>
                <a:lnTo>
                  <a:pt x="1139712" y="564320"/>
                </a:lnTo>
                <a:lnTo>
                  <a:pt x="1139712" y="505231"/>
                </a:lnTo>
                <a:cubicBezTo>
                  <a:pt x="1139712" y="500673"/>
                  <a:pt x="1139240" y="496603"/>
                  <a:pt x="1138295" y="493022"/>
                </a:cubicBezTo>
                <a:cubicBezTo>
                  <a:pt x="1137351" y="489441"/>
                  <a:pt x="1135610" y="486625"/>
                  <a:pt x="1133070" y="484574"/>
                </a:cubicBezTo>
                <a:cubicBezTo>
                  <a:pt x="1130531" y="482523"/>
                  <a:pt x="1126884" y="481497"/>
                  <a:pt x="1122131" y="481497"/>
                </a:cubicBezTo>
                <a:cubicBezTo>
                  <a:pt x="1115034" y="481497"/>
                  <a:pt x="1109076" y="483109"/>
                  <a:pt x="1104258" y="486332"/>
                </a:cubicBezTo>
                <a:cubicBezTo>
                  <a:pt x="1099440" y="489555"/>
                  <a:pt x="1095565" y="493087"/>
                  <a:pt x="1092635" y="496929"/>
                </a:cubicBezTo>
                <a:lnTo>
                  <a:pt x="1092635" y="564320"/>
                </a:lnTo>
                <a:lnTo>
                  <a:pt x="1076325" y="564320"/>
                </a:lnTo>
                <a:close/>
                <a:moveTo>
                  <a:pt x="936617" y="432858"/>
                </a:moveTo>
                <a:cubicBezTo>
                  <a:pt x="930757" y="432858"/>
                  <a:pt x="925987" y="433558"/>
                  <a:pt x="922308" y="434958"/>
                </a:cubicBezTo>
                <a:cubicBezTo>
                  <a:pt x="918630" y="436358"/>
                  <a:pt x="915765" y="438377"/>
                  <a:pt x="913714" y="441014"/>
                </a:cubicBezTo>
                <a:cubicBezTo>
                  <a:pt x="911663" y="443651"/>
                  <a:pt x="910230" y="446890"/>
                  <a:pt x="909416" y="450732"/>
                </a:cubicBezTo>
                <a:cubicBezTo>
                  <a:pt x="908602" y="454573"/>
                  <a:pt x="908195" y="458903"/>
                  <a:pt x="908195" y="463722"/>
                </a:cubicBezTo>
                <a:lnTo>
                  <a:pt x="908195" y="469191"/>
                </a:lnTo>
                <a:lnTo>
                  <a:pt x="892275" y="469191"/>
                </a:lnTo>
                <a:lnTo>
                  <a:pt x="892275" y="482376"/>
                </a:lnTo>
                <a:lnTo>
                  <a:pt x="908195" y="482376"/>
                </a:lnTo>
                <a:lnTo>
                  <a:pt x="908195" y="564320"/>
                </a:lnTo>
                <a:lnTo>
                  <a:pt x="924408" y="564320"/>
                </a:lnTo>
                <a:lnTo>
                  <a:pt x="924408" y="482376"/>
                </a:lnTo>
                <a:lnTo>
                  <a:pt x="946579" y="482376"/>
                </a:lnTo>
                <a:lnTo>
                  <a:pt x="946579" y="469191"/>
                </a:lnTo>
                <a:lnTo>
                  <a:pt x="924408" y="469191"/>
                </a:lnTo>
                <a:lnTo>
                  <a:pt x="924408" y="463917"/>
                </a:lnTo>
                <a:cubicBezTo>
                  <a:pt x="924408" y="457992"/>
                  <a:pt x="925173" y="453467"/>
                  <a:pt x="926704" y="450341"/>
                </a:cubicBezTo>
                <a:cubicBezTo>
                  <a:pt x="928234" y="447216"/>
                  <a:pt x="931896" y="445653"/>
                  <a:pt x="937691" y="445653"/>
                </a:cubicBezTo>
                <a:lnTo>
                  <a:pt x="946481" y="445653"/>
                </a:lnTo>
                <a:lnTo>
                  <a:pt x="946481" y="432858"/>
                </a:lnTo>
                <a:close/>
                <a:moveTo>
                  <a:pt x="607386" y="432858"/>
                </a:moveTo>
                <a:lnTo>
                  <a:pt x="607386" y="484037"/>
                </a:lnTo>
                <a:cubicBezTo>
                  <a:pt x="604326" y="478958"/>
                  <a:pt x="600289" y="474937"/>
                  <a:pt x="595275" y="471975"/>
                </a:cubicBezTo>
                <a:cubicBezTo>
                  <a:pt x="590261" y="469012"/>
                  <a:pt x="584369" y="467531"/>
                  <a:pt x="577597" y="467531"/>
                </a:cubicBezTo>
                <a:cubicBezTo>
                  <a:pt x="569458" y="467531"/>
                  <a:pt x="562393" y="469370"/>
                  <a:pt x="556403" y="473049"/>
                </a:cubicBezTo>
                <a:cubicBezTo>
                  <a:pt x="550413" y="476728"/>
                  <a:pt x="545773" y="482181"/>
                  <a:pt x="542485" y="489409"/>
                </a:cubicBezTo>
                <a:cubicBezTo>
                  <a:pt x="539197" y="496636"/>
                  <a:pt x="537553" y="505654"/>
                  <a:pt x="537553" y="516463"/>
                </a:cubicBezTo>
                <a:cubicBezTo>
                  <a:pt x="537553" y="527336"/>
                  <a:pt x="539099" y="536468"/>
                  <a:pt x="542192" y="543859"/>
                </a:cubicBezTo>
                <a:cubicBezTo>
                  <a:pt x="545285" y="551249"/>
                  <a:pt x="549664" y="556800"/>
                  <a:pt x="555328" y="560511"/>
                </a:cubicBezTo>
                <a:cubicBezTo>
                  <a:pt x="560993" y="564223"/>
                  <a:pt x="567700" y="566078"/>
                  <a:pt x="575448" y="566078"/>
                </a:cubicBezTo>
                <a:cubicBezTo>
                  <a:pt x="582676" y="566078"/>
                  <a:pt x="588959" y="564630"/>
                  <a:pt x="594298" y="561732"/>
                </a:cubicBezTo>
                <a:cubicBezTo>
                  <a:pt x="599637" y="558835"/>
                  <a:pt x="604000" y="555074"/>
                  <a:pt x="607386" y="550451"/>
                </a:cubicBezTo>
                <a:lnTo>
                  <a:pt x="608265" y="564320"/>
                </a:lnTo>
                <a:lnTo>
                  <a:pt x="623696" y="564320"/>
                </a:lnTo>
                <a:lnTo>
                  <a:pt x="623696" y="432858"/>
                </a:lnTo>
                <a:close/>
                <a:moveTo>
                  <a:pt x="428625" y="347476"/>
                </a:moveTo>
                <a:lnTo>
                  <a:pt x="437072" y="364295"/>
                </a:lnTo>
                <a:lnTo>
                  <a:pt x="428625" y="364295"/>
                </a:lnTo>
                <a:close/>
                <a:moveTo>
                  <a:pt x="694827" y="280789"/>
                </a:moveTo>
                <a:cubicBezTo>
                  <a:pt x="701403" y="280789"/>
                  <a:pt x="706856" y="282530"/>
                  <a:pt x="711186" y="286014"/>
                </a:cubicBezTo>
                <a:cubicBezTo>
                  <a:pt x="715516" y="289497"/>
                  <a:pt x="719016" y="293909"/>
                  <a:pt x="721686" y="299248"/>
                </a:cubicBezTo>
                <a:lnTo>
                  <a:pt x="721686" y="335874"/>
                </a:lnTo>
                <a:cubicBezTo>
                  <a:pt x="718821" y="340497"/>
                  <a:pt x="715077" y="344452"/>
                  <a:pt x="710454" y="347740"/>
                </a:cubicBezTo>
                <a:cubicBezTo>
                  <a:pt x="705831" y="351029"/>
                  <a:pt x="700036" y="352673"/>
                  <a:pt x="693069" y="352673"/>
                </a:cubicBezTo>
                <a:cubicBezTo>
                  <a:pt x="685060" y="352673"/>
                  <a:pt x="678988" y="349580"/>
                  <a:pt x="674854" y="343394"/>
                </a:cubicBezTo>
                <a:cubicBezTo>
                  <a:pt x="670719" y="337209"/>
                  <a:pt x="668652" y="328223"/>
                  <a:pt x="668652" y="316438"/>
                </a:cubicBezTo>
                <a:cubicBezTo>
                  <a:pt x="668652" y="305043"/>
                  <a:pt x="670849" y="296253"/>
                  <a:pt x="675244" y="290067"/>
                </a:cubicBezTo>
                <a:cubicBezTo>
                  <a:pt x="679640" y="283882"/>
                  <a:pt x="686167" y="280789"/>
                  <a:pt x="694827" y="280789"/>
                </a:cubicBezTo>
                <a:close/>
                <a:moveTo>
                  <a:pt x="1000994" y="280300"/>
                </a:moveTo>
                <a:cubicBezTo>
                  <a:pt x="1008026" y="280300"/>
                  <a:pt x="1013626" y="281879"/>
                  <a:pt x="1017793" y="285037"/>
                </a:cubicBezTo>
                <a:cubicBezTo>
                  <a:pt x="1021960" y="288195"/>
                  <a:pt x="1024956" y="292541"/>
                  <a:pt x="1026779" y="298076"/>
                </a:cubicBezTo>
                <a:cubicBezTo>
                  <a:pt x="1028602" y="303611"/>
                  <a:pt x="1029514" y="309894"/>
                  <a:pt x="1029514" y="316926"/>
                </a:cubicBezTo>
                <a:cubicBezTo>
                  <a:pt x="1029514" y="323828"/>
                  <a:pt x="1028602" y="329997"/>
                  <a:pt x="1026779" y="335434"/>
                </a:cubicBezTo>
                <a:cubicBezTo>
                  <a:pt x="1024956" y="340871"/>
                  <a:pt x="1021960" y="345136"/>
                  <a:pt x="1017793" y="348229"/>
                </a:cubicBezTo>
                <a:cubicBezTo>
                  <a:pt x="1013626" y="351322"/>
                  <a:pt x="1008026" y="352868"/>
                  <a:pt x="1000994" y="352868"/>
                </a:cubicBezTo>
                <a:cubicBezTo>
                  <a:pt x="994158" y="352868"/>
                  <a:pt x="988737" y="351322"/>
                  <a:pt x="984732" y="348229"/>
                </a:cubicBezTo>
                <a:cubicBezTo>
                  <a:pt x="980728" y="345136"/>
                  <a:pt x="977847" y="340871"/>
                  <a:pt x="976089" y="335434"/>
                </a:cubicBezTo>
                <a:cubicBezTo>
                  <a:pt x="974331" y="329997"/>
                  <a:pt x="973452" y="323828"/>
                  <a:pt x="973452" y="316926"/>
                </a:cubicBezTo>
                <a:cubicBezTo>
                  <a:pt x="973452" y="309894"/>
                  <a:pt x="974331" y="303611"/>
                  <a:pt x="976089" y="298076"/>
                </a:cubicBezTo>
                <a:cubicBezTo>
                  <a:pt x="977847" y="292541"/>
                  <a:pt x="980728" y="288195"/>
                  <a:pt x="984732" y="285037"/>
                </a:cubicBezTo>
                <a:cubicBezTo>
                  <a:pt x="988737" y="281879"/>
                  <a:pt x="994158" y="280300"/>
                  <a:pt x="1000994" y="280300"/>
                </a:cubicBezTo>
                <a:close/>
                <a:moveTo>
                  <a:pt x="581894" y="280300"/>
                </a:moveTo>
                <a:cubicBezTo>
                  <a:pt x="588926" y="280300"/>
                  <a:pt x="594526" y="281879"/>
                  <a:pt x="598693" y="285037"/>
                </a:cubicBezTo>
                <a:cubicBezTo>
                  <a:pt x="602860" y="288195"/>
                  <a:pt x="605856" y="292541"/>
                  <a:pt x="607679" y="298076"/>
                </a:cubicBezTo>
                <a:cubicBezTo>
                  <a:pt x="609502" y="303611"/>
                  <a:pt x="610414" y="309894"/>
                  <a:pt x="610414" y="316926"/>
                </a:cubicBezTo>
                <a:cubicBezTo>
                  <a:pt x="610414" y="323828"/>
                  <a:pt x="609502" y="329997"/>
                  <a:pt x="607679" y="335434"/>
                </a:cubicBezTo>
                <a:cubicBezTo>
                  <a:pt x="605856" y="340871"/>
                  <a:pt x="602860" y="345136"/>
                  <a:pt x="598693" y="348229"/>
                </a:cubicBezTo>
                <a:cubicBezTo>
                  <a:pt x="594526" y="351322"/>
                  <a:pt x="588926" y="352868"/>
                  <a:pt x="581894" y="352868"/>
                </a:cubicBezTo>
                <a:cubicBezTo>
                  <a:pt x="575058" y="352868"/>
                  <a:pt x="569637" y="351322"/>
                  <a:pt x="565633" y="348229"/>
                </a:cubicBezTo>
                <a:cubicBezTo>
                  <a:pt x="561628" y="345136"/>
                  <a:pt x="558747" y="340871"/>
                  <a:pt x="556989" y="335434"/>
                </a:cubicBezTo>
                <a:cubicBezTo>
                  <a:pt x="555231" y="329997"/>
                  <a:pt x="554352" y="323828"/>
                  <a:pt x="554352" y="316926"/>
                </a:cubicBezTo>
                <a:cubicBezTo>
                  <a:pt x="554352" y="309894"/>
                  <a:pt x="555231" y="303611"/>
                  <a:pt x="556989" y="298076"/>
                </a:cubicBezTo>
                <a:cubicBezTo>
                  <a:pt x="558747" y="292541"/>
                  <a:pt x="561628" y="288195"/>
                  <a:pt x="565633" y="285037"/>
                </a:cubicBezTo>
                <a:cubicBezTo>
                  <a:pt x="569637" y="281879"/>
                  <a:pt x="575058" y="280300"/>
                  <a:pt x="581894" y="280300"/>
                </a:cubicBezTo>
                <a:close/>
                <a:moveTo>
                  <a:pt x="1409202" y="280007"/>
                </a:moveTo>
                <a:cubicBezTo>
                  <a:pt x="1401258" y="280007"/>
                  <a:pt x="1395024" y="282335"/>
                  <a:pt x="1390498" y="286991"/>
                </a:cubicBezTo>
                <a:cubicBezTo>
                  <a:pt x="1385973" y="291646"/>
                  <a:pt x="1383352" y="298434"/>
                  <a:pt x="1382636" y="307355"/>
                </a:cubicBezTo>
                <a:lnTo>
                  <a:pt x="1434596" y="307355"/>
                </a:lnTo>
                <a:cubicBezTo>
                  <a:pt x="1434400" y="298499"/>
                  <a:pt x="1432089" y="291728"/>
                  <a:pt x="1427661" y="287039"/>
                </a:cubicBezTo>
                <a:cubicBezTo>
                  <a:pt x="1423234" y="282351"/>
                  <a:pt x="1417081" y="280007"/>
                  <a:pt x="1409202" y="280007"/>
                </a:cubicBezTo>
                <a:close/>
                <a:moveTo>
                  <a:pt x="294777" y="280007"/>
                </a:moveTo>
                <a:cubicBezTo>
                  <a:pt x="286834" y="280007"/>
                  <a:pt x="280599" y="282335"/>
                  <a:pt x="276074" y="286991"/>
                </a:cubicBezTo>
                <a:cubicBezTo>
                  <a:pt x="271548" y="291646"/>
                  <a:pt x="268928" y="298434"/>
                  <a:pt x="268211" y="307355"/>
                </a:cubicBezTo>
                <a:lnTo>
                  <a:pt x="320171" y="307355"/>
                </a:lnTo>
                <a:cubicBezTo>
                  <a:pt x="319976" y="298499"/>
                  <a:pt x="317664" y="291728"/>
                  <a:pt x="313237" y="287039"/>
                </a:cubicBezTo>
                <a:cubicBezTo>
                  <a:pt x="308809" y="282351"/>
                  <a:pt x="302656" y="280007"/>
                  <a:pt x="294777" y="280007"/>
                </a:cubicBezTo>
                <a:close/>
                <a:moveTo>
                  <a:pt x="1121936" y="267994"/>
                </a:moveTo>
                <a:cubicBezTo>
                  <a:pt x="1114318" y="267994"/>
                  <a:pt x="1108132" y="269655"/>
                  <a:pt x="1103379" y="272975"/>
                </a:cubicBezTo>
                <a:cubicBezTo>
                  <a:pt x="1098626" y="276296"/>
                  <a:pt x="1094914" y="280431"/>
                  <a:pt x="1092244" y="285379"/>
                </a:cubicBezTo>
                <a:lnTo>
                  <a:pt x="1091659" y="269166"/>
                </a:lnTo>
                <a:lnTo>
                  <a:pt x="1076325" y="269166"/>
                </a:lnTo>
                <a:lnTo>
                  <a:pt x="1076325" y="364295"/>
                </a:lnTo>
                <a:lnTo>
                  <a:pt x="1092635" y="364295"/>
                </a:lnTo>
                <a:lnTo>
                  <a:pt x="1092635" y="297490"/>
                </a:lnTo>
                <a:cubicBezTo>
                  <a:pt x="1094719" y="294625"/>
                  <a:pt x="1097096" y="292102"/>
                  <a:pt x="1099765" y="289921"/>
                </a:cubicBezTo>
                <a:cubicBezTo>
                  <a:pt x="1102435" y="287739"/>
                  <a:pt x="1105560" y="286030"/>
                  <a:pt x="1109141" y="284793"/>
                </a:cubicBezTo>
                <a:cubicBezTo>
                  <a:pt x="1112722" y="283556"/>
                  <a:pt x="1116890" y="282937"/>
                  <a:pt x="1121643" y="282937"/>
                </a:cubicBezTo>
                <a:lnTo>
                  <a:pt x="1123889" y="282937"/>
                </a:lnTo>
                <a:lnTo>
                  <a:pt x="1123889" y="267994"/>
                </a:lnTo>
                <a:close/>
                <a:moveTo>
                  <a:pt x="1409202" y="267506"/>
                </a:moveTo>
                <a:cubicBezTo>
                  <a:pt x="1422159" y="267506"/>
                  <a:pt x="1432317" y="271413"/>
                  <a:pt x="1439675" y="279226"/>
                </a:cubicBezTo>
                <a:cubicBezTo>
                  <a:pt x="1447032" y="287039"/>
                  <a:pt x="1450711" y="298271"/>
                  <a:pt x="1450711" y="312922"/>
                </a:cubicBezTo>
                <a:cubicBezTo>
                  <a:pt x="1450711" y="313898"/>
                  <a:pt x="1450679" y="315054"/>
                  <a:pt x="1450614" y="316389"/>
                </a:cubicBezTo>
                <a:cubicBezTo>
                  <a:pt x="1450548" y="317724"/>
                  <a:pt x="1450451" y="318684"/>
                  <a:pt x="1450320" y="319270"/>
                </a:cubicBezTo>
                <a:lnTo>
                  <a:pt x="1382538" y="319270"/>
                </a:lnTo>
                <a:cubicBezTo>
                  <a:pt x="1382604" y="325456"/>
                  <a:pt x="1383597" y="331137"/>
                  <a:pt x="1385518" y="336313"/>
                </a:cubicBezTo>
                <a:cubicBezTo>
                  <a:pt x="1387438" y="341490"/>
                  <a:pt x="1390482" y="345641"/>
                  <a:pt x="1394650" y="348766"/>
                </a:cubicBezTo>
                <a:cubicBezTo>
                  <a:pt x="1398817" y="351891"/>
                  <a:pt x="1404319" y="353454"/>
                  <a:pt x="1411155" y="353454"/>
                </a:cubicBezTo>
                <a:cubicBezTo>
                  <a:pt x="1418448" y="353454"/>
                  <a:pt x="1424145" y="351745"/>
                  <a:pt x="1428247" y="348326"/>
                </a:cubicBezTo>
                <a:cubicBezTo>
                  <a:pt x="1432350" y="344908"/>
                  <a:pt x="1434498" y="339976"/>
                  <a:pt x="1434694" y="333530"/>
                </a:cubicBezTo>
                <a:lnTo>
                  <a:pt x="1450809" y="333530"/>
                </a:lnTo>
                <a:cubicBezTo>
                  <a:pt x="1450614" y="340236"/>
                  <a:pt x="1448888" y="346015"/>
                  <a:pt x="1445632" y="350866"/>
                </a:cubicBezTo>
                <a:cubicBezTo>
                  <a:pt x="1442377" y="355717"/>
                  <a:pt x="1437819" y="359461"/>
                  <a:pt x="1431959" y="362098"/>
                </a:cubicBezTo>
                <a:cubicBezTo>
                  <a:pt x="1426099" y="364735"/>
                  <a:pt x="1419164" y="366053"/>
                  <a:pt x="1411155" y="366053"/>
                </a:cubicBezTo>
                <a:cubicBezTo>
                  <a:pt x="1400802" y="366053"/>
                  <a:pt x="1392322" y="363888"/>
                  <a:pt x="1385713" y="359558"/>
                </a:cubicBezTo>
                <a:cubicBezTo>
                  <a:pt x="1379104" y="355228"/>
                  <a:pt x="1374204" y="349336"/>
                  <a:pt x="1371014" y="341880"/>
                </a:cubicBezTo>
                <a:cubicBezTo>
                  <a:pt x="1367823" y="334425"/>
                  <a:pt x="1366228" y="326042"/>
                  <a:pt x="1366228" y="316731"/>
                </a:cubicBezTo>
                <a:cubicBezTo>
                  <a:pt x="1366228" y="307029"/>
                  <a:pt x="1367774" y="298483"/>
                  <a:pt x="1370867" y="291093"/>
                </a:cubicBezTo>
                <a:cubicBezTo>
                  <a:pt x="1373960" y="283702"/>
                  <a:pt x="1378681" y="277924"/>
                  <a:pt x="1385029" y="273757"/>
                </a:cubicBezTo>
                <a:cubicBezTo>
                  <a:pt x="1391378" y="269589"/>
                  <a:pt x="1399435" y="267506"/>
                  <a:pt x="1409202" y="267506"/>
                </a:cubicBezTo>
                <a:close/>
                <a:moveTo>
                  <a:pt x="804146" y="267506"/>
                </a:moveTo>
                <a:cubicBezTo>
                  <a:pt x="799067" y="267506"/>
                  <a:pt x="794346" y="268043"/>
                  <a:pt x="789984" y="269117"/>
                </a:cubicBezTo>
                <a:cubicBezTo>
                  <a:pt x="785621" y="270192"/>
                  <a:pt x="781829" y="271803"/>
                  <a:pt x="778606" y="273952"/>
                </a:cubicBezTo>
                <a:cubicBezTo>
                  <a:pt x="775382" y="276101"/>
                  <a:pt x="772876" y="278787"/>
                  <a:pt x="771085" y="282010"/>
                </a:cubicBezTo>
                <a:cubicBezTo>
                  <a:pt x="769294" y="285233"/>
                  <a:pt x="768399" y="288960"/>
                  <a:pt x="768399" y="293193"/>
                </a:cubicBezTo>
                <a:cubicBezTo>
                  <a:pt x="768399" y="298597"/>
                  <a:pt x="769669" y="303073"/>
                  <a:pt x="772208" y="306622"/>
                </a:cubicBezTo>
                <a:cubicBezTo>
                  <a:pt x="774748" y="310171"/>
                  <a:pt x="778557" y="313101"/>
                  <a:pt x="783636" y="315412"/>
                </a:cubicBezTo>
                <a:cubicBezTo>
                  <a:pt x="788714" y="317724"/>
                  <a:pt x="794965" y="319758"/>
                  <a:pt x="802388" y="321516"/>
                </a:cubicBezTo>
                <a:cubicBezTo>
                  <a:pt x="811504" y="323665"/>
                  <a:pt x="817868" y="325879"/>
                  <a:pt x="821482" y="328158"/>
                </a:cubicBezTo>
                <a:cubicBezTo>
                  <a:pt x="825096" y="330437"/>
                  <a:pt x="826903" y="333920"/>
                  <a:pt x="826903" y="338608"/>
                </a:cubicBezTo>
                <a:cubicBezTo>
                  <a:pt x="826903" y="344078"/>
                  <a:pt x="824900" y="348001"/>
                  <a:pt x="820896" y="350377"/>
                </a:cubicBezTo>
                <a:cubicBezTo>
                  <a:pt x="816892" y="352754"/>
                  <a:pt x="811797" y="353942"/>
                  <a:pt x="805611" y="353942"/>
                </a:cubicBezTo>
                <a:cubicBezTo>
                  <a:pt x="798709" y="353942"/>
                  <a:pt x="792963" y="352429"/>
                  <a:pt x="788372" y="349401"/>
                </a:cubicBezTo>
                <a:cubicBezTo>
                  <a:pt x="783782" y="346373"/>
                  <a:pt x="781487" y="341148"/>
                  <a:pt x="781487" y="333725"/>
                </a:cubicBezTo>
                <a:lnTo>
                  <a:pt x="765762" y="333725"/>
                </a:lnTo>
                <a:cubicBezTo>
                  <a:pt x="765762" y="339585"/>
                  <a:pt x="766788" y="344582"/>
                  <a:pt x="768839" y="348717"/>
                </a:cubicBezTo>
                <a:cubicBezTo>
                  <a:pt x="770890" y="352852"/>
                  <a:pt x="773738" y="356189"/>
                  <a:pt x="777385" y="358728"/>
                </a:cubicBezTo>
                <a:cubicBezTo>
                  <a:pt x="781031" y="361268"/>
                  <a:pt x="785247" y="363123"/>
                  <a:pt x="790033" y="364295"/>
                </a:cubicBezTo>
                <a:cubicBezTo>
                  <a:pt x="794819" y="365467"/>
                  <a:pt x="799881" y="366053"/>
                  <a:pt x="805220" y="366053"/>
                </a:cubicBezTo>
                <a:cubicBezTo>
                  <a:pt x="810559" y="366053"/>
                  <a:pt x="815524" y="365500"/>
                  <a:pt x="820115" y="364393"/>
                </a:cubicBezTo>
                <a:cubicBezTo>
                  <a:pt x="824705" y="363286"/>
                  <a:pt x="828710" y="361577"/>
                  <a:pt x="832128" y="359265"/>
                </a:cubicBezTo>
                <a:cubicBezTo>
                  <a:pt x="835546" y="356954"/>
                  <a:pt x="838216" y="353991"/>
                  <a:pt x="840137" y="350377"/>
                </a:cubicBezTo>
                <a:cubicBezTo>
                  <a:pt x="842058" y="346764"/>
                  <a:pt x="843018" y="342483"/>
                  <a:pt x="843018" y="337534"/>
                </a:cubicBezTo>
                <a:cubicBezTo>
                  <a:pt x="843018" y="331804"/>
                  <a:pt x="841797" y="327100"/>
                  <a:pt x="839355" y="323421"/>
                </a:cubicBezTo>
                <a:cubicBezTo>
                  <a:pt x="836914" y="319742"/>
                  <a:pt x="833284" y="316731"/>
                  <a:pt x="828465" y="314387"/>
                </a:cubicBezTo>
                <a:cubicBezTo>
                  <a:pt x="823647" y="312043"/>
                  <a:pt x="817689" y="310024"/>
                  <a:pt x="810592" y="308331"/>
                </a:cubicBezTo>
                <a:cubicBezTo>
                  <a:pt x="804081" y="306769"/>
                  <a:pt x="798904" y="305287"/>
                  <a:pt x="795063" y="303887"/>
                </a:cubicBezTo>
                <a:cubicBezTo>
                  <a:pt x="791221" y="302487"/>
                  <a:pt x="788486" y="300908"/>
                  <a:pt x="786859" y="299150"/>
                </a:cubicBezTo>
                <a:cubicBezTo>
                  <a:pt x="785231" y="297392"/>
                  <a:pt x="784417" y="295244"/>
                  <a:pt x="784417" y="292704"/>
                </a:cubicBezTo>
                <a:cubicBezTo>
                  <a:pt x="784417" y="288277"/>
                  <a:pt x="786240" y="285021"/>
                  <a:pt x="789886" y="282937"/>
                </a:cubicBezTo>
                <a:cubicBezTo>
                  <a:pt x="793533" y="280854"/>
                  <a:pt x="798286" y="279812"/>
                  <a:pt x="804146" y="279812"/>
                </a:cubicBezTo>
                <a:cubicBezTo>
                  <a:pt x="809941" y="279812"/>
                  <a:pt x="814857" y="281212"/>
                  <a:pt x="818894" y="284012"/>
                </a:cubicBezTo>
                <a:cubicBezTo>
                  <a:pt x="822931" y="286812"/>
                  <a:pt x="824949" y="291597"/>
                  <a:pt x="824949" y="298369"/>
                </a:cubicBezTo>
                <a:lnTo>
                  <a:pt x="840772" y="298369"/>
                </a:lnTo>
                <a:cubicBezTo>
                  <a:pt x="840772" y="292900"/>
                  <a:pt x="839795" y="288212"/>
                  <a:pt x="837842" y="284305"/>
                </a:cubicBezTo>
                <a:cubicBezTo>
                  <a:pt x="835888" y="280398"/>
                  <a:pt x="833235" y="277208"/>
                  <a:pt x="829882" y="274733"/>
                </a:cubicBezTo>
                <a:cubicBezTo>
                  <a:pt x="826528" y="272259"/>
                  <a:pt x="822654" y="270436"/>
                  <a:pt x="818259" y="269264"/>
                </a:cubicBezTo>
                <a:cubicBezTo>
                  <a:pt x="813864" y="268092"/>
                  <a:pt x="809160" y="267506"/>
                  <a:pt x="804146" y="267506"/>
                </a:cubicBezTo>
                <a:close/>
                <a:moveTo>
                  <a:pt x="294777" y="267506"/>
                </a:moveTo>
                <a:cubicBezTo>
                  <a:pt x="307735" y="267506"/>
                  <a:pt x="317892" y="271413"/>
                  <a:pt x="325250" y="279226"/>
                </a:cubicBezTo>
                <a:cubicBezTo>
                  <a:pt x="332607" y="287039"/>
                  <a:pt x="336286" y="298271"/>
                  <a:pt x="336286" y="312922"/>
                </a:cubicBezTo>
                <a:cubicBezTo>
                  <a:pt x="336286" y="313898"/>
                  <a:pt x="336254" y="315054"/>
                  <a:pt x="336189" y="316389"/>
                </a:cubicBezTo>
                <a:cubicBezTo>
                  <a:pt x="336124" y="317724"/>
                  <a:pt x="336026" y="318684"/>
                  <a:pt x="335896" y="319270"/>
                </a:cubicBezTo>
                <a:lnTo>
                  <a:pt x="268114" y="319270"/>
                </a:lnTo>
                <a:cubicBezTo>
                  <a:pt x="268179" y="325456"/>
                  <a:pt x="269172" y="331137"/>
                  <a:pt x="271093" y="336313"/>
                </a:cubicBezTo>
                <a:cubicBezTo>
                  <a:pt x="273013" y="341490"/>
                  <a:pt x="276057" y="345641"/>
                  <a:pt x="280225" y="348766"/>
                </a:cubicBezTo>
                <a:cubicBezTo>
                  <a:pt x="284392" y="351891"/>
                  <a:pt x="289894" y="353454"/>
                  <a:pt x="296731" y="353454"/>
                </a:cubicBezTo>
                <a:cubicBezTo>
                  <a:pt x="304023" y="353454"/>
                  <a:pt x="309721" y="351745"/>
                  <a:pt x="313823" y="348326"/>
                </a:cubicBezTo>
                <a:cubicBezTo>
                  <a:pt x="317925" y="344908"/>
                  <a:pt x="320073" y="339976"/>
                  <a:pt x="320269" y="333530"/>
                </a:cubicBezTo>
                <a:lnTo>
                  <a:pt x="336384" y="333530"/>
                </a:lnTo>
                <a:cubicBezTo>
                  <a:pt x="336189" y="340236"/>
                  <a:pt x="334463" y="346015"/>
                  <a:pt x="331208" y="350866"/>
                </a:cubicBezTo>
                <a:cubicBezTo>
                  <a:pt x="327952" y="355717"/>
                  <a:pt x="323394" y="359461"/>
                  <a:pt x="317534" y="362098"/>
                </a:cubicBezTo>
                <a:cubicBezTo>
                  <a:pt x="311674" y="364735"/>
                  <a:pt x="304739" y="366053"/>
                  <a:pt x="296731" y="366053"/>
                </a:cubicBezTo>
                <a:cubicBezTo>
                  <a:pt x="286378" y="366053"/>
                  <a:pt x="277897" y="363888"/>
                  <a:pt x="271288" y="359558"/>
                </a:cubicBezTo>
                <a:cubicBezTo>
                  <a:pt x="264679" y="355228"/>
                  <a:pt x="259779" y="349336"/>
                  <a:pt x="256589" y="341880"/>
                </a:cubicBezTo>
                <a:cubicBezTo>
                  <a:pt x="253398" y="334425"/>
                  <a:pt x="251803" y="326042"/>
                  <a:pt x="251803" y="316731"/>
                </a:cubicBezTo>
                <a:cubicBezTo>
                  <a:pt x="251803" y="307029"/>
                  <a:pt x="253350" y="298483"/>
                  <a:pt x="256442" y="291093"/>
                </a:cubicBezTo>
                <a:cubicBezTo>
                  <a:pt x="259535" y="283702"/>
                  <a:pt x="264256" y="277924"/>
                  <a:pt x="270604" y="273757"/>
                </a:cubicBezTo>
                <a:cubicBezTo>
                  <a:pt x="276953" y="269589"/>
                  <a:pt x="285010" y="267506"/>
                  <a:pt x="294777" y="267506"/>
                </a:cubicBezTo>
                <a:close/>
                <a:moveTo>
                  <a:pt x="1000994" y="267310"/>
                </a:moveTo>
                <a:cubicBezTo>
                  <a:pt x="991683" y="267310"/>
                  <a:pt x="983707" y="269296"/>
                  <a:pt x="977066" y="273268"/>
                </a:cubicBezTo>
                <a:cubicBezTo>
                  <a:pt x="970424" y="277240"/>
                  <a:pt x="965362" y="282921"/>
                  <a:pt x="961878" y="290311"/>
                </a:cubicBezTo>
                <a:cubicBezTo>
                  <a:pt x="958395" y="297702"/>
                  <a:pt x="956653" y="306573"/>
                  <a:pt x="956653" y="316926"/>
                </a:cubicBezTo>
                <a:cubicBezTo>
                  <a:pt x="956653" y="327018"/>
                  <a:pt x="958395" y="335727"/>
                  <a:pt x="961878" y="343052"/>
                </a:cubicBezTo>
                <a:cubicBezTo>
                  <a:pt x="965362" y="350377"/>
                  <a:pt x="970424" y="356010"/>
                  <a:pt x="977066" y="359949"/>
                </a:cubicBezTo>
                <a:cubicBezTo>
                  <a:pt x="983707" y="363888"/>
                  <a:pt x="991683" y="365858"/>
                  <a:pt x="1000994" y="365858"/>
                </a:cubicBezTo>
                <a:cubicBezTo>
                  <a:pt x="1010501" y="365858"/>
                  <a:pt x="1018624" y="363888"/>
                  <a:pt x="1025363" y="359949"/>
                </a:cubicBezTo>
                <a:cubicBezTo>
                  <a:pt x="1032102" y="356010"/>
                  <a:pt x="1037278" y="350377"/>
                  <a:pt x="1040892" y="343052"/>
                </a:cubicBezTo>
                <a:cubicBezTo>
                  <a:pt x="1044506" y="335727"/>
                  <a:pt x="1046313" y="327018"/>
                  <a:pt x="1046313" y="316926"/>
                </a:cubicBezTo>
                <a:cubicBezTo>
                  <a:pt x="1046313" y="306573"/>
                  <a:pt x="1044506" y="297702"/>
                  <a:pt x="1040892" y="290311"/>
                </a:cubicBezTo>
                <a:cubicBezTo>
                  <a:pt x="1037278" y="282921"/>
                  <a:pt x="1032102" y="277240"/>
                  <a:pt x="1025363" y="273268"/>
                </a:cubicBezTo>
                <a:cubicBezTo>
                  <a:pt x="1018624" y="269296"/>
                  <a:pt x="1010501" y="267310"/>
                  <a:pt x="1000994" y="267310"/>
                </a:cubicBezTo>
                <a:close/>
                <a:moveTo>
                  <a:pt x="581894" y="267310"/>
                </a:moveTo>
                <a:cubicBezTo>
                  <a:pt x="572583" y="267310"/>
                  <a:pt x="564607" y="269296"/>
                  <a:pt x="557966" y="273268"/>
                </a:cubicBezTo>
                <a:cubicBezTo>
                  <a:pt x="551324" y="277240"/>
                  <a:pt x="546262" y="282921"/>
                  <a:pt x="542778" y="290311"/>
                </a:cubicBezTo>
                <a:cubicBezTo>
                  <a:pt x="539295" y="297702"/>
                  <a:pt x="537553" y="306573"/>
                  <a:pt x="537553" y="316926"/>
                </a:cubicBezTo>
                <a:cubicBezTo>
                  <a:pt x="537553" y="327018"/>
                  <a:pt x="539295" y="335727"/>
                  <a:pt x="542778" y="343052"/>
                </a:cubicBezTo>
                <a:cubicBezTo>
                  <a:pt x="546262" y="350377"/>
                  <a:pt x="551324" y="356010"/>
                  <a:pt x="557966" y="359949"/>
                </a:cubicBezTo>
                <a:cubicBezTo>
                  <a:pt x="564607" y="363888"/>
                  <a:pt x="572583" y="365858"/>
                  <a:pt x="581894" y="365858"/>
                </a:cubicBezTo>
                <a:cubicBezTo>
                  <a:pt x="591401" y="365858"/>
                  <a:pt x="599524" y="363888"/>
                  <a:pt x="606263" y="359949"/>
                </a:cubicBezTo>
                <a:cubicBezTo>
                  <a:pt x="613002" y="356010"/>
                  <a:pt x="618178" y="350377"/>
                  <a:pt x="621792" y="343052"/>
                </a:cubicBezTo>
                <a:cubicBezTo>
                  <a:pt x="625406" y="335727"/>
                  <a:pt x="627212" y="327018"/>
                  <a:pt x="627212" y="316926"/>
                </a:cubicBezTo>
                <a:cubicBezTo>
                  <a:pt x="627212" y="306573"/>
                  <a:pt x="625406" y="297702"/>
                  <a:pt x="621792" y="290311"/>
                </a:cubicBezTo>
                <a:cubicBezTo>
                  <a:pt x="618178" y="282921"/>
                  <a:pt x="613002" y="277240"/>
                  <a:pt x="606263" y="273268"/>
                </a:cubicBezTo>
                <a:cubicBezTo>
                  <a:pt x="599524" y="269296"/>
                  <a:pt x="591401" y="267310"/>
                  <a:pt x="581894" y="267310"/>
                </a:cubicBezTo>
                <a:close/>
                <a:moveTo>
                  <a:pt x="1193945" y="247386"/>
                </a:moveTo>
                <a:lnTo>
                  <a:pt x="1210158" y="247386"/>
                </a:lnTo>
                <a:lnTo>
                  <a:pt x="1210158" y="269166"/>
                </a:lnTo>
                <a:lnTo>
                  <a:pt x="1233599" y="269166"/>
                </a:lnTo>
                <a:lnTo>
                  <a:pt x="1233599" y="282351"/>
                </a:lnTo>
                <a:lnTo>
                  <a:pt x="1210158" y="282351"/>
                </a:lnTo>
                <a:lnTo>
                  <a:pt x="1210158" y="332748"/>
                </a:lnTo>
                <a:cubicBezTo>
                  <a:pt x="1210158" y="338674"/>
                  <a:pt x="1210924" y="343215"/>
                  <a:pt x="1212454" y="346373"/>
                </a:cubicBezTo>
                <a:cubicBezTo>
                  <a:pt x="1213984" y="349531"/>
                  <a:pt x="1217646" y="351110"/>
                  <a:pt x="1223441" y="351110"/>
                </a:cubicBezTo>
                <a:lnTo>
                  <a:pt x="1233794" y="351110"/>
                </a:lnTo>
                <a:lnTo>
                  <a:pt x="1233794" y="364295"/>
                </a:lnTo>
                <a:lnTo>
                  <a:pt x="1222367" y="364295"/>
                </a:lnTo>
                <a:cubicBezTo>
                  <a:pt x="1214684" y="364295"/>
                  <a:pt x="1208791" y="363074"/>
                  <a:pt x="1204689" y="360633"/>
                </a:cubicBezTo>
                <a:cubicBezTo>
                  <a:pt x="1200587" y="358191"/>
                  <a:pt x="1197771" y="354675"/>
                  <a:pt x="1196241" y="350084"/>
                </a:cubicBezTo>
                <a:cubicBezTo>
                  <a:pt x="1194710" y="345494"/>
                  <a:pt x="1193945" y="339976"/>
                  <a:pt x="1193945" y="333530"/>
                </a:cubicBezTo>
                <a:lnTo>
                  <a:pt x="1193945" y="282351"/>
                </a:lnTo>
                <a:lnTo>
                  <a:pt x="1178026" y="282351"/>
                </a:lnTo>
                <a:lnTo>
                  <a:pt x="1178026" y="269166"/>
                </a:lnTo>
                <a:lnTo>
                  <a:pt x="1193945" y="269166"/>
                </a:lnTo>
                <a:close/>
                <a:moveTo>
                  <a:pt x="365271" y="247386"/>
                </a:moveTo>
                <a:lnTo>
                  <a:pt x="378359" y="247386"/>
                </a:lnTo>
                <a:lnTo>
                  <a:pt x="381484" y="253609"/>
                </a:lnTo>
                <a:lnTo>
                  <a:pt x="381484" y="269166"/>
                </a:lnTo>
                <a:lnTo>
                  <a:pt x="389297" y="269166"/>
                </a:lnTo>
                <a:lnTo>
                  <a:pt x="395919" y="282351"/>
                </a:lnTo>
                <a:lnTo>
                  <a:pt x="381484" y="282351"/>
                </a:lnTo>
                <a:lnTo>
                  <a:pt x="381484" y="332748"/>
                </a:lnTo>
                <a:cubicBezTo>
                  <a:pt x="381484" y="338674"/>
                  <a:pt x="382249" y="343215"/>
                  <a:pt x="383779" y="346373"/>
                </a:cubicBezTo>
                <a:cubicBezTo>
                  <a:pt x="385309" y="349531"/>
                  <a:pt x="388971" y="351110"/>
                  <a:pt x="394766" y="351110"/>
                </a:cubicBezTo>
                <a:lnTo>
                  <a:pt x="405119" y="351110"/>
                </a:lnTo>
                <a:lnTo>
                  <a:pt x="405119" y="364295"/>
                </a:lnTo>
                <a:lnTo>
                  <a:pt x="393692" y="364295"/>
                </a:lnTo>
                <a:cubicBezTo>
                  <a:pt x="386009" y="364295"/>
                  <a:pt x="380116" y="363074"/>
                  <a:pt x="376014" y="360633"/>
                </a:cubicBezTo>
                <a:cubicBezTo>
                  <a:pt x="371912" y="358191"/>
                  <a:pt x="369096" y="354675"/>
                  <a:pt x="367566" y="350084"/>
                </a:cubicBezTo>
                <a:cubicBezTo>
                  <a:pt x="366036" y="345494"/>
                  <a:pt x="365271" y="339976"/>
                  <a:pt x="365271" y="333530"/>
                </a:cubicBezTo>
                <a:lnTo>
                  <a:pt x="365271" y="282351"/>
                </a:lnTo>
                <a:lnTo>
                  <a:pt x="349351" y="282351"/>
                </a:lnTo>
                <a:lnTo>
                  <a:pt x="349351" y="269166"/>
                </a:lnTo>
                <a:lnTo>
                  <a:pt x="365271" y="269166"/>
                </a:lnTo>
                <a:close/>
                <a:moveTo>
                  <a:pt x="1257300" y="232834"/>
                </a:moveTo>
                <a:lnTo>
                  <a:pt x="1273513" y="232834"/>
                </a:lnTo>
                <a:lnTo>
                  <a:pt x="1273513" y="283816"/>
                </a:lnTo>
                <a:cubicBezTo>
                  <a:pt x="1276443" y="279975"/>
                  <a:pt x="1280642" y="276345"/>
                  <a:pt x="1286112" y="272926"/>
                </a:cubicBezTo>
                <a:cubicBezTo>
                  <a:pt x="1291581" y="269508"/>
                  <a:pt x="1298548" y="267799"/>
                  <a:pt x="1307013" y="267799"/>
                </a:cubicBezTo>
                <a:cubicBezTo>
                  <a:pt x="1317691" y="267799"/>
                  <a:pt x="1325358" y="270859"/>
                  <a:pt x="1330014" y="276980"/>
                </a:cubicBezTo>
                <a:cubicBezTo>
                  <a:pt x="1334669" y="283100"/>
                  <a:pt x="1336997" y="291760"/>
                  <a:pt x="1336997" y="302959"/>
                </a:cubicBezTo>
                <a:lnTo>
                  <a:pt x="1336997" y="364295"/>
                </a:lnTo>
                <a:lnTo>
                  <a:pt x="1320686" y="364295"/>
                </a:lnTo>
                <a:lnTo>
                  <a:pt x="1320686" y="305206"/>
                </a:lnTo>
                <a:cubicBezTo>
                  <a:pt x="1320686" y="300648"/>
                  <a:pt x="1320214" y="296578"/>
                  <a:pt x="1319270" y="292997"/>
                </a:cubicBezTo>
                <a:cubicBezTo>
                  <a:pt x="1318326" y="289416"/>
                  <a:pt x="1316584" y="286600"/>
                  <a:pt x="1314045" y="284549"/>
                </a:cubicBezTo>
                <a:cubicBezTo>
                  <a:pt x="1311506" y="282498"/>
                  <a:pt x="1307859" y="281472"/>
                  <a:pt x="1303106" y="281472"/>
                </a:cubicBezTo>
                <a:cubicBezTo>
                  <a:pt x="1296009" y="281472"/>
                  <a:pt x="1290051" y="283084"/>
                  <a:pt x="1285233" y="286307"/>
                </a:cubicBezTo>
                <a:cubicBezTo>
                  <a:pt x="1280414" y="289530"/>
                  <a:pt x="1276540" y="293062"/>
                  <a:pt x="1273610" y="296904"/>
                </a:cubicBezTo>
                <a:lnTo>
                  <a:pt x="1273610" y="364295"/>
                </a:lnTo>
                <a:lnTo>
                  <a:pt x="1257300" y="364295"/>
                </a:lnTo>
                <a:close/>
                <a:moveTo>
                  <a:pt x="936617" y="232834"/>
                </a:moveTo>
                <a:cubicBezTo>
                  <a:pt x="930757" y="232834"/>
                  <a:pt x="925987" y="233533"/>
                  <a:pt x="922308" y="234933"/>
                </a:cubicBezTo>
                <a:cubicBezTo>
                  <a:pt x="918630" y="236333"/>
                  <a:pt x="915765" y="238352"/>
                  <a:pt x="913714" y="240989"/>
                </a:cubicBezTo>
                <a:cubicBezTo>
                  <a:pt x="911663" y="243626"/>
                  <a:pt x="910230" y="246865"/>
                  <a:pt x="909416" y="250707"/>
                </a:cubicBezTo>
                <a:cubicBezTo>
                  <a:pt x="908602" y="254548"/>
                  <a:pt x="908195" y="258878"/>
                  <a:pt x="908195" y="263697"/>
                </a:cubicBezTo>
                <a:lnTo>
                  <a:pt x="908195" y="269166"/>
                </a:lnTo>
                <a:lnTo>
                  <a:pt x="892275" y="269166"/>
                </a:lnTo>
                <a:lnTo>
                  <a:pt x="892275" y="282351"/>
                </a:lnTo>
                <a:lnTo>
                  <a:pt x="908195" y="282351"/>
                </a:lnTo>
                <a:lnTo>
                  <a:pt x="908195" y="364295"/>
                </a:lnTo>
                <a:lnTo>
                  <a:pt x="924408" y="364295"/>
                </a:lnTo>
                <a:lnTo>
                  <a:pt x="924408" y="282351"/>
                </a:lnTo>
                <a:lnTo>
                  <a:pt x="946579" y="282351"/>
                </a:lnTo>
                <a:lnTo>
                  <a:pt x="946579" y="269166"/>
                </a:lnTo>
                <a:lnTo>
                  <a:pt x="924408" y="269166"/>
                </a:lnTo>
                <a:lnTo>
                  <a:pt x="924408" y="263892"/>
                </a:lnTo>
                <a:cubicBezTo>
                  <a:pt x="924408" y="257967"/>
                  <a:pt x="925173" y="253442"/>
                  <a:pt x="926704" y="250316"/>
                </a:cubicBezTo>
                <a:cubicBezTo>
                  <a:pt x="928234" y="247191"/>
                  <a:pt x="931896" y="245628"/>
                  <a:pt x="937691" y="245628"/>
                </a:cubicBezTo>
                <a:lnTo>
                  <a:pt x="946481" y="245628"/>
                </a:lnTo>
                <a:lnTo>
                  <a:pt x="946481" y="232834"/>
                </a:lnTo>
                <a:close/>
                <a:moveTo>
                  <a:pt x="721686" y="232834"/>
                </a:moveTo>
                <a:lnTo>
                  <a:pt x="721686" y="284012"/>
                </a:lnTo>
                <a:cubicBezTo>
                  <a:pt x="718626" y="278933"/>
                  <a:pt x="714589" y="274912"/>
                  <a:pt x="709575" y="271950"/>
                </a:cubicBezTo>
                <a:cubicBezTo>
                  <a:pt x="704561" y="268987"/>
                  <a:pt x="698669" y="267506"/>
                  <a:pt x="691897" y="267506"/>
                </a:cubicBezTo>
                <a:cubicBezTo>
                  <a:pt x="683758" y="267506"/>
                  <a:pt x="676693" y="269345"/>
                  <a:pt x="670703" y="273024"/>
                </a:cubicBezTo>
                <a:cubicBezTo>
                  <a:pt x="664713" y="276703"/>
                  <a:pt x="660073" y="282156"/>
                  <a:pt x="656785" y="289384"/>
                </a:cubicBezTo>
                <a:cubicBezTo>
                  <a:pt x="653497" y="296611"/>
                  <a:pt x="651853" y="305629"/>
                  <a:pt x="651853" y="316438"/>
                </a:cubicBezTo>
                <a:cubicBezTo>
                  <a:pt x="651853" y="327311"/>
                  <a:pt x="653399" y="336443"/>
                  <a:pt x="656492" y="343834"/>
                </a:cubicBezTo>
                <a:cubicBezTo>
                  <a:pt x="659585" y="351224"/>
                  <a:pt x="663964" y="356775"/>
                  <a:pt x="669628" y="360486"/>
                </a:cubicBezTo>
                <a:cubicBezTo>
                  <a:pt x="675293" y="364198"/>
                  <a:pt x="682000" y="366053"/>
                  <a:pt x="689748" y="366053"/>
                </a:cubicBezTo>
                <a:cubicBezTo>
                  <a:pt x="696976" y="366053"/>
                  <a:pt x="703259" y="364605"/>
                  <a:pt x="708598" y="361707"/>
                </a:cubicBezTo>
                <a:cubicBezTo>
                  <a:pt x="713937" y="358810"/>
                  <a:pt x="718300" y="355049"/>
                  <a:pt x="721686" y="350426"/>
                </a:cubicBezTo>
                <a:lnTo>
                  <a:pt x="722565" y="364295"/>
                </a:lnTo>
                <a:lnTo>
                  <a:pt x="737996" y="364295"/>
                </a:lnTo>
                <a:lnTo>
                  <a:pt x="737996" y="232834"/>
                </a:lnTo>
                <a:close/>
                <a:moveTo>
                  <a:pt x="96715" y="232834"/>
                </a:moveTo>
                <a:lnTo>
                  <a:pt x="115956" y="232834"/>
                </a:lnTo>
                <a:lnTo>
                  <a:pt x="159140" y="304327"/>
                </a:lnTo>
                <a:lnTo>
                  <a:pt x="201513" y="232834"/>
                </a:lnTo>
                <a:lnTo>
                  <a:pt x="220265" y="232834"/>
                </a:lnTo>
                <a:lnTo>
                  <a:pt x="220265" y="364295"/>
                </a:lnTo>
                <a:lnTo>
                  <a:pt x="202978" y="364295"/>
                </a:lnTo>
                <a:lnTo>
                  <a:pt x="202978" y="257726"/>
                </a:lnTo>
                <a:lnTo>
                  <a:pt x="164399" y="322981"/>
                </a:lnTo>
                <a:lnTo>
                  <a:pt x="152874" y="322981"/>
                </a:lnTo>
                <a:lnTo>
                  <a:pt x="113612" y="257572"/>
                </a:lnTo>
                <a:lnTo>
                  <a:pt x="113612" y="364295"/>
                </a:lnTo>
                <a:lnTo>
                  <a:pt x="96715" y="364295"/>
                </a:lnTo>
                <a:close/>
                <a:moveTo>
                  <a:pt x="254118" y="0"/>
                </a:moveTo>
                <a:lnTo>
                  <a:pt x="1284471" y="0"/>
                </a:lnTo>
                <a:lnTo>
                  <a:pt x="1052624" y="480013"/>
                </a:lnTo>
                <a:lnTo>
                  <a:pt x="1052624" y="469191"/>
                </a:lnTo>
                <a:lnTo>
                  <a:pt x="1029183" y="469191"/>
                </a:lnTo>
                <a:lnTo>
                  <a:pt x="1029183" y="447411"/>
                </a:lnTo>
                <a:lnTo>
                  <a:pt x="1012970" y="447411"/>
                </a:lnTo>
                <a:lnTo>
                  <a:pt x="1012970" y="469191"/>
                </a:lnTo>
                <a:lnTo>
                  <a:pt x="997050" y="469191"/>
                </a:lnTo>
                <a:lnTo>
                  <a:pt x="997050" y="482376"/>
                </a:lnTo>
                <a:lnTo>
                  <a:pt x="1012970" y="482376"/>
                </a:lnTo>
                <a:lnTo>
                  <a:pt x="1012970" y="533555"/>
                </a:lnTo>
                <a:cubicBezTo>
                  <a:pt x="1012970" y="540001"/>
                  <a:pt x="1013735" y="545519"/>
                  <a:pt x="1015266" y="550109"/>
                </a:cubicBezTo>
                <a:lnTo>
                  <a:pt x="1017450" y="552836"/>
                </a:lnTo>
                <a:lnTo>
                  <a:pt x="956638" y="678741"/>
                </a:lnTo>
                <a:lnTo>
                  <a:pt x="942975" y="678741"/>
                </a:lnTo>
                <a:lnTo>
                  <a:pt x="942975" y="707028"/>
                </a:lnTo>
                <a:lnTo>
                  <a:pt x="779340" y="1045815"/>
                </a:lnTo>
                <a:lnTo>
                  <a:pt x="638799" y="765972"/>
                </a:lnTo>
                <a:lnTo>
                  <a:pt x="645532" y="760441"/>
                </a:lnTo>
                <a:cubicBezTo>
                  <a:pt x="648788" y="755590"/>
                  <a:pt x="650513" y="749811"/>
                  <a:pt x="650709" y="743105"/>
                </a:cubicBezTo>
                <a:lnTo>
                  <a:pt x="634593" y="743105"/>
                </a:lnTo>
                <a:lnTo>
                  <a:pt x="631212" y="750865"/>
                </a:lnTo>
                <a:lnTo>
                  <a:pt x="620154" y="728845"/>
                </a:lnTo>
                <a:lnTo>
                  <a:pt x="650220" y="728845"/>
                </a:lnTo>
                <a:cubicBezTo>
                  <a:pt x="650351" y="728259"/>
                  <a:pt x="650448" y="727299"/>
                  <a:pt x="650513" y="725964"/>
                </a:cubicBezTo>
                <a:cubicBezTo>
                  <a:pt x="650578" y="724629"/>
                  <a:pt x="650611" y="723473"/>
                  <a:pt x="650611" y="722497"/>
                </a:cubicBezTo>
                <a:cubicBezTo>
                  <a:pt x="650611" y="707846"/>
                  <a:pt x="646932" y="696614"/>
                  <a:pt x="639575" y="688801"/>
                </a:cubicBezTo>
                <a:cubicBezTo>
                  <a:pt x="632217" y="680988"/>
                  <a:pt x="622059" y="677081"/>
                  <a:pt x="609102" y="677081"/>
                </a:cubicBezTo>
                <a:lnTo>
                  <a:pt x="595875" y="680501"/>
                </a:lnTo>
                <a:lnTo>
                  <a:pt x="508908" y="507335"/>
                </a:lnTo>
                <a:lnTo>
                  <a:pt x="508908" y="469191"/>
                </a:lnTo>
                <a:lnTo>
                  <a:pt x="492500" y="469191"/>
                </a:lnTo>
                <a:lnTo>
                  <a:pt x="492500" y="474663"/>
                </a:lnTo>
                <a:lnTo>
                  <a:pt x="437072" y="364295"/>
                </a:lnTo>
                <a:lnTo>
                  <a:pt x="444935" y="364295"/>
                </a:lnTo>
                <a:lnTo>
                  <a:pt x="444935" y="296904"/>
                </a:lnTo>
                <a:cubicBezTo>
                  <a:pt x="447865" y="293062"/>
                  <a:pt x="451740" y="289530"/>
                  <a:pt x="456558" y="286307"/>
                </a:cubicBezTo>
                <a:cubicBezTo>
                  <a:pt x="461376" y="283084"/>
                  <a:pt x="467334" y="281472"/>
                  <a:pt x="474431" y="281472"/>
                </a:cubicBezTo>
                <a:cubicBezTo>
                  <a:pt x="479184" y="281472"/>
                  <a:pt x="482831" y="282498"/>
                  <a:pt x="485370" y="284549"/>
                </a:cubicBezTo>
                <a:cubicBezTo>
                  <a:pt x="487909" y="286600"/>
                  <a:pt x="489651" y="289416"/>
                  <a:pt x="490595" y="292997"/>
                </a:cubicBezTo>
                <a:cubicBezTo>
                  <a:pt x="491539" y="296578"/>
                  <a:pt x="492011" y="300648"/>
                  <a:pt x="492011" y="305206"/>
                </a:cubicBezTo>
                <a:lnTo>
                  <a:pt x="492011" y="364295"/>
                </a:lnTo>
                <a:lnTo>
                  <a:pt x="508322" y="364295"/>
                </a:lnTo>
                <a:lnTo>
                  <a:pt x="508322" y="302959"/>
                </a:lnTo>
                <a:cubicBezTo>
                  <a:pt x="508322" y="291760"/>
                  <a:pt x="505994" y="283100"/>
                  <a:pt x="501339" y="276980"/>
                </a:cubicBezTo>
                <a:cubicBezTo>
                  <a:pt x="496683" y="270859"/>
                  <a:pt x="489016" y="267799"/>
                  <a:pt x="478338" y="267799"/>
                </a:cubicBezTo>
                <a:cubicBezTo>
                  <a:pt x="469873" y="267799"/>
                  <a:pt x="462906" y="269508"/>
                  <a:pt x="457437" y="272926"/>
                </a:cubicBezTo>
                <a:cubicBezTo>
                  <a:pt x="451967" y="276345"/>
                  <a:pt x="447768" y="279975"/>
                  <a:pt x="444838" y="283816"/>
                </a:cubicBezTo>
                <a:lnTo>
                  <a:pt x="444838" y="232834"/>
                </a:lnTo>
                <a:lnTo>
                  <a:pt x="428625" y="232834"/>
                </a:lnTo>
                <a:lnTo>
                  <a:pt x="428625" y="347476"/>
                </a:lnTo>
                <a:lnTo>
                  <a:pt x="395919" y="282351"/>
                </a:lnTo>
                <a:lnTo>
                  <a:pt x="404924" y="282351"/>
                </a:lnTo>
                <a:lnTo>
                  <a:pt x="404924" y="269166"/>
                </a:lnTo>
                <a:lnTo>
                  <a:pt x="389297" y="269166"/>
                </a:lnTo>
                <a:lnTo>
                  <a:pt x="381484" y="253609"/>
                </a:lnTo>
                <a:lnTo>
                  <a:pt x="381484" y="247386"/>
                </a:lnTo>
                <a:lnTo>
                  <a:pt x="378359" y="247386"/>
                </a:lnTo>
                <a:close/>
              </a:path>
            </a:pathLst>
          </a:custGeom>
          <a:solidFill>
            <a:srgbClr val="FFFF00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algn="ctr">
              <a:lnSpc>
                <a:spcPts val="1600"/>
              </a:lnSpc>
              <a:defRPr sz="1600"/>
            </a:lvl1pPr>
          </a:lstStyle>
          <a:p>
            <a:endParaRPr lang="en-GB" dirty="0"/>
          </a:p>
        </p:txBody>
      </p:sp>
      <p:sp>
        <p:nvSpPr>
          <p:cNvPr id="18" name="Footer Placeholder 1">
            <a:extLst>
              <a:ext uri="{FF2B5EF4-FFF2-40B4-BE49-F238E27FC236}">
                <a16:creationId xmlns:a16="http://schemas.microsoft.com/office/drawing/2014/main" id="{888A9F9B-A726-B34B-1F51-BC3841EB60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771900" y="6356348"/>
            <a:ext cx="2219325" cy="365125"/>
          </a:xfrm>
        </p:spPr>
        <p:txBody>
          <a:bodyPr/>
          <a:lstStyle/>
          <a:p>
            <a:pPr algn="l"/>
            <a:r>
              <a:rPr lang="en-US" noProof="0" dirty="0">
                <a:solidFill>
                  <a:schemeClr val="bg1"/>
                </a:solidFill>
              </a:rPr>
              <a:t>Data analysis</a:t>
            </a:r>
          </a:p>
        </p:txBody>
      </p:sp>
    </p:spTree>
    <p:extLst>
      <p:ext uri="{BB962C8B-B14F-4D97-AF65-F5344CB8AC3E}">
        <p14:creationId xmlns:p14="http://schemas.microsoft.com/office/powerpoint/2010/main" val="10339807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6" grpId="0"/>
      <p:bldP spid="10" grpId="0"/>
      <p:bldP spid="11" grpId="0"/>
      <p:bldP spid="15" grpId="0"/>
      <p:bldP spid="33" grpId="0" animBg="1"/>
      <p:bldP spid="30" grpId="0" animBg="1"/>
      <p:bldP spid="37" grpId="0"/>
      <p:bldP spid="38" grpId="0"/>
      <p:bldP spid="1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72000">
              <a:srgbClr val="F22D1C"/>
            </a:gs>
            <a:gs pos="0">
              <a:srgbClr val="DF102C"/>
            </a:gs>
            <a:gs pos="100000">
              <a:srgbClr val="F26665"/>
            </a:gs>
          </a:gsLst>
          <a:lin ang="30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1125A74-A16D-7C39-5D29-2E40B40C7F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7ADE3A6A-1A36-C012-37A2-39A530D22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9389" y="6356348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0EA680-D336-4FF7-8B7A-9848BB0A1C3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92FB02ED-0067-1CB8-998F-39CF3B26EDB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003616" y="136525"/>
            <a:ext cx="1117563" cy="36512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6E845D0-70B0-405D-A6BF-798C9CBE9027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2/24/2026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pic>
        <p:nvPicPr>
          <p:cNvPr id="14" name="Picture 4" descr="No hay ninguna descripción de la foto disponible.">
            <a:extLst>
              <a:ext uri="{FF2B5EF4-FFF2-40B4-BE49-F238E27FC236}">
                <a16:creationId xmlns:a16="http://schemas.microsoft.com/office/drawing/2014/main" id="{D1828D98-461B-43ED-ADE1-619C1AB1A6F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biLevel thresh="25000"/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11200"/>
                    </a14:imgEffect>
                    <a14:imgEffect>
                      <a14:brightnessContrast bright="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26703" b="28790"/>
          <a:stretch/>
        </p:blipFill>
        <p:spPr bwMode="auto">
          <a:xfrm>
            <a:off x="843835" y="6356349"/>
            <a:ext cx="267089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0CC0AB7-D91F-C2E6-3852-A6AD3C9669F4}"/>
              </a:ext>
            </a:extLst>
          </p:cNvPr>
          <p:cNvSpPr txBox="1"/>
          <p:nvPr/>
        </p:nvSpPr>
        <p:spPr>
          <a:xfrm>
            <a:off x="946429" y="1517524"/>
            <a:ext cx="779521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A literature review </a:t>
            </a:r>
            <a:r>
              <a:rPr lang="en-US" sz="2400" b="1" dirty="0">
                <a:solidFill>
                  <a:schemeClr val="bg1"/>
                </a:solidFill>
                <a:highlight>
                  <a:srgbClr val="000000"/>
                </a:highlight>
              </a:rPr>
              <a:t>means locating and summarizing studies on a topic</a:t>
            </a:r>
            <a:endParaRPr lang="en-US" sz="2400" b="1" noProof="0" dirty="0">
              <a:solidFill>
                <a:schemeClr val="bg1"/>
              </a:solidFill>
              <a:highlight>
                <a:srgbClr val="000000"/>
              </a:highlight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E94F5FD-5294-7071-B2CC-69B6D21C2A24}"/>
              </a:ext>
            </a:extLst>
          </p:cNvPr>
          <p:cNvSpPr txBox="1"/>
          <p:nvPr/>
        </p:nvSpPr>
        <p:spPr>
          <a:xfrm>
            <a:off x="891589" y="2375193"/>
            <a:ext cx="982713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These are often research studies, but they may also include:</a:t>
            </a:r>
          </a:p>
          <a:p>
            <a:endParaRPr lang="en-US" noProof="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Conceptual articles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Opinion pieces that provide frameworks for thinking about the</a:t>
            </a:r>
            <a:endParaRPr lang="en-US" sz="1800" noProof="0" dirty="0">
              <a:solidFill>
                <a:schemeClr val="bg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0704DA5-A115-0180-F78A-4E657E476502}"/>
              </a:ext>
            </a:extLst>
          </p:cNvPr>
          <p:cNvSpPr txBox="1"/>
          <p:nvPr/>
        </p:nvSpPr>
        <p:spPr>
          <a:xfrm>
            <a:off x="946429" y="3602194"/>
            <a:ext cx="977229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FFFF00"/>
                </a:solidFill>
              </a:rPr>
              <a:t>There is no single way to conduct a literature review, but in academia the process is carried out systematically to capture, evaluate, and summarize the literature.</a:t>
            </a:r>
            <a:endParaRPr lang="en-US" sz="2000" b="1" noProof="0" dirty="0">
              <a:solidFill>
                <a:srgbClr val="FFFF00"/>
              </a:solidFill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B4D33F48-550B-BD74-129B-66365C09E58D}"/>
              </a:ext>
            </a:extLst>
          </p:cNvPr>
          <p:cNvGrpSpPr/>
          <p:nvPr/>
        </p:nvGrpSpPr>
        <p:grpSpPr>
          <a:xfrm>
            <a:off x="2543331" y="4625475"/>
            <a:ext cx="1248038" cy="1248038"/>
            <a:chOff x="10234551" y="2151076"/>
            <a:chExt cx="1248038" cy="1248038"/>
          </a:xfrm>
        </p:grpSpPr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9191B4B8-7E09-5A00-6E9C-CABB12AB794B}"/>
                </a:ext>
              </a:extLst>
            </p:cNvPr>
            <p:cNvSpPr/>
            <p:nvPr/>
          </p:nvSpPr>
          <p:spPr>
            <a:xfrm>
              <a:off x="10234551" y="2151076"/>
              <a:ext cx="1248038" cy="1248038"/>
            </a:xfrm>
            <a:prstGeom prst="ellipse">
              <a:avLst/>
            </a:prstGeom>
            <a:solidFill>
              <a:srgbClr val="F26665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>
                <a:solidFill>
                  <a:schemeClr val="bg1"/>
                </a:solidFill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DFF3B925-B65B-BBAB-A480-1E670F1C5345}"/>
                </a:ext>
              </a:extLst>
            </p:cNvPr>
            <p:cNvSpPr txBox="1"/>
            <p:nvPr/>
          </p:nvSpPr>
          <p:spPr>
            <a:xfrm>
              <a:off x="10437925" y="2345392"/>
              <a:ext cx="841290" cy="738327"/>
            </a:xfrm>
            <a:prstGeom prst="rect">
              <a:avLst/>
            </a:prstGeom>
            <a:noFill/>
          </p:spPr>
          <p:txBody>
            <a:bodyPr wrap="none" rtlCol="0">
              <a:prstTxWarp prst="textArchUp">
                <a:avLst>
                  <a:gd name="adj" fmla="val 10889563"/>
                </a:avLst>
              </a:prstTxWarp>
              <a:spAutoFit/>
            </a:bodyPr>
            <a:lstStyle/>
            <a:p>
              <a:pPr algn="ctr"/>
              <a:r>
                <a:rPr lang="en-US" noProof="0" dirty="0">
                  <a:solidFill>
                    <a:schemeClr val="bg1"/>
                  </a:solidFill>
                </a:rPr>
                <a:t>Steps</a:t>
              </a: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932B75E8-1817-0151-5CB6-CEE4F70C02EF}"/>
              </a:ext>
            </a:extLst>
          </p:cNvPr>
          <p:cNvGrpSpPr/>
          <p:nvPr/>
        </p:nvGrpSpPr>
        <p:grpSpPr>
          <a:xfrm>
            <a:off x="994358" y="4625475"/>
            <a:ext cx="1248038" cy="1248038"/>
            <a:chOff x="718594" y="4663575"/>
            <a:chExt cx="1248038" cy="1248038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56618D64-A309-D820-CBE8-F5206CC62A39}"/>
                </a:ext>
              </a:extLst>
            </p:cNvPr>
            <p:cNvGrpSpPr/>
            <p:nvPr/>
          </p:nvGrpSpPr>
          <p:grpSpPr>
            <a:xfrm>
              <a:off x="718594" y="4663575"/>
              <a:ext cx="1248038" cy="1248038"/>
              <a:chOff x="10234551" y="2151076"/>
              <a:chExt cx="1248038" cy="1248038"/>
            </a:xfrm>
          </p:grpSpPr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24F95F17-30DD-9C56-7E49-EA2201F0F63F}"/>
                  </a:ext>
                </a:extLst>
              </p:cNvPr>
              <p:cNvSpPr/>
              <p:nvPr/>
            </p:nvSpPr>
            <p:spPr>
              <a:xfrm>
                <a:off x="10234551" y="2151076"/>
                <a:ext cx="1248038" cy="1248038"/>
              </a:xfrm>
              <a:prstGeom prst="ellipse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47981798-2E6B-057D-E71F-208EB89B7844}"/>
                  </a:ext>
                </a:extLst>
              </p:cNvPr>
              <p:cNvSpPr txBox="1"/>
              <p:nvPr/>
            </p:nvSpPr>
            <p:spPr>
              <a:xfrm>
                <a:off x="10437925" y="2345392"/>
                <a:ext cx="841290" cy="738327"/>
              </a:xfrm>
              <a:prstGeom prst="rect">
                <a:avLst/>
              </a:prstGeom>
              <a:noFill/>
            </p:spPr>
            <p:txBody>
              <a:bodyPr wrap="none" rtlCol="0">
                <a:prstTxWarp prst="textArchUp">
                  <a:avLst>
                    <a:gd name="adj" fmla="val 10889563"/>
                  </a:avLst>
                </a:prstTxWarp>
                <a:spAutoFit/>
              </a:bodyPr>
              <a:lstStyle/>
              <a:p>
                <a:pPr algn="ctr"/>
                <a:r>
                  <a:rPr lang="en-US" noProof="0" dirty="0"/>
                  <a:t>Organization</a:t>
                </a:r>
              </a:p>
            </p:txBody>
          </p:sp>
        </p:grp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3A126A1F-2865-5283-5BE8-52808AD519A3}"/>
                </a:ext>
              </a:extLst>
            </p:cNvPr>
            <p:cNvSpPr txBox="1"/>
            <p:nvPr/>
          </p:nvSpPr>
          <p:spPr>
            <a:xfrm>
              <a:off x="1104413" y="5002399"/>
              <a:ext cx="593674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3600" noProof="0" dirty="0">
                  <a:latin typeface="Aptos Black" panose="020B0004020202020204" pitchFamily="34" charset="0"/>
                </a:rPr>
                <a:t>1</a:t>
              </a:r>
              <a:endParaRPr lang="en-US" sz="3600" b="1" noProof="0" dirty="0">
                <a:latin typeface="Aptos Black" panose="020B0004020202020204" pitchFamily="34" charset="0"/>
              </a:endParaRPr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1C583E4D-94C7-55A5-69C7-470553EFB39D}"/>
              </a:ext>
            </a:extLst>
          </p:cNvPr>
          <p:cNvSpPr txBox="1"/>
          <p:nvPr/>
        </p:nvSpPr>
        <p:spPr>
          <a:xfrm>
            <a:off x="2934013" y="4960061"/>
            <a:ext cx="5936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noProof="0" dirty="0">
                <a:solidFill>
                  <a:schemeClr val="bg1"/>
                </a:solidFill>
                <a:latin typeface="Aptos Black" panose="020B0004020202020204" pitchFamily="34" charset="0"/>
              </a:rPr>
              <a:t>2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7D24D2DC-0B98-9ADA-B8FF-51E6E1A6C679}"/>
              </a:ext>
            </a:extLst>
          </p:cNvPr>
          <p:cNvSpPr txBox="1">
            <a:spLocks/>
          </p:cNvSpPr>
          <p:nvPr/>
        </p:nvSpPr>
        <p:spPr>
          <a:xfrm>
            <a:off x="891589" y="501650"/>
            <a:ext cx="4480511" cy="1338391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Verdana" panose="020B0604030504040204" pitchFamily="34" charset="0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Aptos SemiBold" panose="020F0502020204030204" pitchFamily="34" charset="0"/>
                <a:ea typeface="+mj-ea"/>
                <a:cs typeface="+mj-cs"/>
              </a:rPr>
              <a:t>Purpose of a Literature Review</a:t>
            </a:r>
          </a:p>
        </p:txBody>
      </p:sp>
      <p:sp>
        <p:nvSpPr>
          <p:cNvPr id="6" name="Footer Placeholder 1">
            <a:extLst>
              <a:ext uri="{FF2B5EF4-FFF2-40B4-BE49-F238E27FC236}">
                <a16:creationId xmlns:a16="http://schemas.microsoft.com/office/drawing/2014/main" id="{CF5ADFDD-63C1-E31F-C914-C69D182593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771900" y="6356348"/>
            <a:ext cx="2219325" cy="365125"/>
          </a:xfrm>
        </p:spPr>
        <p:txBody>
          <a:bodyPr/>
          <a:lstStyle/>
          <a:p>
            <a:pPr algn="l"/>
            <a:r>
              <a:rPr lang="en-US" noProof="0" dirty="0">
                <a:solidFill>
                  <a:schemeClr val="bg1"/>
                </a:solidFill>
              </a:rPr>
              <a:t>Data analysis</a:t>
            </a:r>
          </a:p>
        </p:txBody>
      </p:sp>
    </p:spTree>
    <p:extLst>
      <p:ext uri="{BB962C8B-B14F-4D97-AF65-F5344CB8AC3E}">
        <p14:creationId xmlns:p14="http://schemas.microsoft.com/office/powerpoint/2010/main" val="8182498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3" grpId="0"/>
      <p:bldP spid="16" grpId="0"/>
      <p:bldP spid="2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E1C33C-DF52-506D-A713-4E3055B637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2FF1A9-D381-B2C8-54DA-1DC7F3CD7E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6E845D0-70B0-405D-A6BF-798C9CBE9027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2/24/2026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F95697A3-6444-B3C9-BABC-F9E20FF616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9389" y="6356348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0EA680-D336-4FF7-8B7A-9848BB0A1C3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FA416DF2-003A-3C52-D5FD-3AEEA6AF3247}"/>
              </a:ext>
            </a:extLst>
          </p:cNvPr>
          <p:cNvSpPr txBox="1">
            <a:spLocks/>
          </p:cNvSpPr>
          <p:nvPr/>
        </p:nvSpPr>
        <p:spPr>
          <a:xfrm>
            <a:off x="11003616" y="136525"/>
            <a:ext cx="11175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6E845D0-70B0-405D-A6BF-798C9CBE9027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2/24/2026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9278E16B-462B-C7D0-6D72-D5CC6901417A}"/>
              </a:ext>
            </a:extLst>
          </p:cNvPr>
          <p:cNvSpPr txBox="1">
            <a:spLocks/>
          </p:cNvSpPr>
          <p:nvPr/>
        </p:nvSpPr>
        <p:spPr>
          <a:xfrm>
            <a:off x="2707689" y="6355745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Data analysis</a:t>
            </a:r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9C1133EF-708C-EAFD-6FFA-25441266BF1D}"/>
              </a:ext>
            </a:extLst>
          </p:cNvPr>
          <p:cNvSpPr txBox="1">
            <a:spLocks/>
          </p:cNvSpPr>
          <p:nvPr/>
        </p:nvSpPr>
        <p:spPr>
          <a:xfrm>
            <a:off x="891590" y="501651"/>
            <a:ext cx="4212974" cy="933450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Verdana" panose="020B0604030504040204" pitchFamily="34" charset="0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tos SemiBold" panose="020F0502020204030204" pitchFamily="34" charset="0"/>
                <a:ea typeface="+mj-ea"/>
                <a:cs typeface="+mj-cs"/>
              </a:rPr>
              <a:t>Organization of the Literature Review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A3278099-BBE8-69D0-387F-0D39AB0AB7E4}"/>
              </a:ext>
            </a:extLst>
          </p:cNvPr>
          <p:cNvSpPr/>
          <p:nvPr/>
        </p:nvSpPr>
        <p:spPr>
          <a:xfrm>
            <a:off x="891590" y="1568033"/>
            <a:ext cx="458398" cy="458398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73B9541-E8CE-AD5C-6A02-27DB0BD2B05E}"/>
              </a:ext>
            </a:extLst>
          </p:cNvPr>
          <p:cNvCxnSpPr>
            <a:cxnSpLocks/>
            <a:stCxn id="16" idx="0"/>
            <a:endCxn id="13" idx="4"/>
          </p:cNvCxnSpPr>
          <p:nvPr/>
        </p:nvCxnSpPr>
        <p:spPr>
          <a:xfrm flipV="1">
            <a:off x="1120789" y="2026431"/>
            <a:ext cx="0" cy="647699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B6713561-CA4E-4482-CEC2-A389B7A36E37}"/>
              </a:ext>
            </a:extLst>
          </p:cNvPr>
          <p:cNvSpPr/>
          <p:nvPr/>
        </p:nvSpPr>
        <p:spPr>
          <a:xfrm>
            <a:off x="891590" y="3886056"/>
            <a:ext cx="458398" cy="45839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A63C2C52-0D4F-6CE6-21C9-8454A9EB3DF1}"/>
              </a:ext>
            </a:extLst>
          </p:cNvPr>
          <p:cNvSpPr/>
          <p:nvPr/>
        </p:nvSpPr>
        <p:spPr>
          <a:xfrm>
            <a:off x="891590" y="2674130"/>
            <a:ext cx="458398" cy="458398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1FF0577-772A-E9D6-2223-394AA8F3B414}"/>
              </a:ext>
            </a:extLst>
          </p:cNvPr>
          <p:cNvCxnSpPr>
            <a:cxnSpLocks/>
            <a:stCxn id="15" idx="0"/>
            <a:endCxn id="16" idx="4"/>
          </p:cNvCxnSpPr>
          <p:nvPr/>
        </p:nvCxnSpPr>
        <p:spPr>
          <a:xfrm flipV="1">
            <a:off x="1120789" y="3132528"/>
            <a:ext cx="0" cy="753528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4E2C99DD-F0EC-010B-517E-6F1425B318CE}"/>
              </a:ext>
            </a:extLst>
          </p:cNvPr>
          <p:cNvSpPr txBox="1"/>
          <p:nvPr/>
        </p:nvSpPr>
        <p:spPr>
          <a:xfrm>
            <a:off x="1349988" y="1519878"/>
            <a:ext cx="2909658" cy="32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</a:pP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General Forms</a:t>
            </a:r>
            <a:endParaRPr lang="en-US" b="1" noProof="0" dirty="0">
              <a:solidFill>
                <a:schemeClr val="tx1">
                  <a:lumMod val="85000"/>
                  <a:lumOff val="15000"/>
                </a:schemeClr>
              </a:solidFill>
              <a:latin typeface="Corbel" panose="020B0503020204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0D7F338-5679-DA8A-5135-6CFB229C0D4D}"/>
              </a:ext>
            </a:extLst>
          </p:cNvPr>
          <p:cNvSpPr txBox="1"/>
          <p:nvPr/>
        </p:nvSpPr>
        <p:spPr>
          <a:xfrm>
            <a:off x="1349988" y="2542175"/>
            <a:ext cx="2909658" cy="32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</a:pP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Qualitative Structure</a:t>
            </a:r>
            <a:endParaRPr lang="en-US" b="1" noProof="0" dirty="0">
              <a:solidFill>
                <a:schemeClr val="tx1">
                  <a:lumMod val="85000"/>
                  <a:lumOff val="15000"/>
                </a:schemeClr>
              </a:solidFill>
              <a:latin typeface="Corbel" panose="020B0503020204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3B63C27-65B5-20E4-F1F6-2ED02755771B}"/>
              </a:ext>
            </a:extLst>
          </p:cNvPr>
          <p:cNvSpPr txBox="1"/>
          <p:nvPr/>
        </p:nvSpPr>
        <p:spPr>
          <a:xfrm>
            <a:off x="1349988" y="3786531"/>
            <a:ext cx="2909658" cy="32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</a:pP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Quantitative Structure</a:t>
            </a:r>
            <a:endParaRPr lang="en-US" b="1" noProof="0" dirty="0">
              <a:solidFill>
                <a:schemeClr val="tx1">
                  <a:lumMod val="85000"/>
                  <a:lumOff val="15000"/>
                </a:schemeClr>
              </a:solidFill>
              <a:latin typeface="Corbel" panose="020B0503020204020204" pitchFamily="34" charset="0"/>
            </a:endParaRP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3D464D16-31E7-7C0C-6990-06A8BC9A5C95}"/>
              </a:ext>
            </a:extLst>
          </p:cNvPr>
          <p:cNvCxnSpPr>
            <a:cxnSpLocks/>
            <a:stCxn id="26" idx="0"/>
            <a:endCxn id="15" idx="4"/>
          </p:cNvCxnSpPr>
          <p:nvPr/>
        </p:nvCxnSpPr>
        <p:spPr>
          <a:xfrm flipV="1">
            <a:off x="1120789" y="4344454"/>
            <a:ext cx="0" cy="866993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>
            <a:extLst>
              <a:ext uri="{FF2B5EF4-FFF2-40B4-BE49-F238E27FC236}">
                <a16:creationId xmlns:a16="http://schemas.microsoft.com/office/drawing/2014/main" id="{F21CCBD3-ECAC-6A5D-CA61-CA5D5BCABC6F}"/>
              </a:ext>
            </a:extLst>
          </p:cNvPr>
          <p:cNvSpPr/>
          <p:nvPr/>
        </p:nvSpPr>
        <p:spPr>
          <a:xfrm>
            <a:off x="891590" y="5211447"/>
            <a:ext cx="458398" cy="458398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5DD1D27-10FF-EEE8-FAE6-AF088C67E49A}"/>
              </a:ext>
            </a:extLst>
          </p:cNvPr>
          <p:cNvSpPr txBox="1"/>
          <p:nvPr/>
        </p:nvSpPr>
        <p:spPr>
          <a:xfrm>
            <a:off x="1349977" y="5071535"/>
            <a:ext cx="4172629" cy="32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</a:pP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Mixed‑Methods Structure</a:t>
            </a:r>
            <a:endParaRPr lang="en-US" b="1" noProof="0" dirty="0">
              <a:solidFill>
                <a:schemeClr val="tx1">
                  <a:lumMod val="85000"/>
                  <a:lumOff val="15000"/>
                </a:schemeClr>
              </a:solidFill>
              <a:latin typeface="Corbel" panose="020B05030202040202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9885812-C7A5-F9C5-8779-480EBC5DFC09}"/>
              </a:ext>
            </a:extLst>
          </p:cNvPr>
          <p:cNvSpPr txBox="1"/>
          <p:nvPr/>
        </p:nvSpPr>
        <p:spPr>
          <a:xfrm>
            <a:off x="1433309" y="2870855"/>
            <a:ext cx="937883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spcBef>
                <a:spcPts val="600"/>
              </a:spcBef>
              <a:defRPr/>
            </a:pPr>
            <a:r>
              <a:rPr lang="en-US" sz="1200" b="1" dirty="0">
                <a:highlight>
                  <a:srgbClr val="FFC000"/>
                </a:highlight>
              </a:rPr>
              <a:t>The literature is used to learn from participants without imposing questions from the researcher’s perspective</a:t>
            </a:r>
            <a:r>
              <a:rPr lang="en-US" sz="1200" dirty="0">
                <a:solidFill>
                  <a:schemeClr val="bg1">
                    <a:lumMod val="75000"/>
                  </a:schemeClr>
                </a:solidFill>
              </a:rPr>
              <a:t>. Qualitative studies are exploratory; there is usually little prior research on the topic or population, so the focus is on listening to and understanding participants.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090D417-DD01-2852-5BCD-DC235EAE3543}"/>
              </a:ext>
            </a:extLst>
          </p:cNvPr>
          <p:cNvSpPr txBox="1"/>
          <p:nvPr/>
        </p:nvSpPr>
        <p:spPr>
          <a:xfrm>
            <a:off x="1433732" y="4092668"/>
            <a:ext cx="956987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spcBef>
                <a:spcPts val="600"/>
              </a:spcBef>
              <a:defRPr/>
            </a:pPr>
            <a:r>
              <a:rPr lang="en-US" sz="1200" dirty="0">
                <a:solidFill>
                  <a:schemeClr val="bg1">
                    <a:lumMod val="75000"/>
                  </a:schemeClr>
                </a:solidFill>
              </a:rPr>
              <a:t>It serves to introduce the problem, detail the existing literature, and </a:t>
            </a:r>
            <a:r>
              <a:rPr lang="en-US" sz="1200" b="1" dirty="0">
                <a:highlight>
                  <a:srgbClr val="FFC000"/>
                </a:highlight>
              </a:rPr>
              <a:t>present theories that explain expected relationships, justifying their relevance to the study, as well as to support the study’s hypotheses</a:t>
            </a:r>
            <a:r>
              <a:rPr lang="en-US" sz="1200" dirty="0">
                <a:highlight>
                  <a:srgbClr val="FFC000"/>
                </a:highlight>
              </a:rPr>
              <a:t>.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C857F5C-DE40-09CF-841C-539756681EB4}"/>
              </a:ext>
            </a:extLst>
          </p:cNvPr>
          <p:cNvSpPr txBox="1"/>
          <p:nvPr/>
        </p:nvSpPr>
        <p:spPr>
          <a:xfrm>
            <a:off x="1433299" y="5381274"/>
            <a:ext cx="957035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spcBef>
                <a:spcPts val="600"/>
              </a:spcBef>
              <a:defRPr/>
            </a:pPr>
            <a:r>
              <a:rPr lang="en-US" sz="1200" dirty="0">
                <a:solidFill>
                  <a:schemeClr val="bg1">
                    <a:lumMod val="75000"/>
                  </a:schemeClr>
                </a:solidFill>
              </a:rPr>
              <a:t>The researcher adopts a qualitative or quantitative approach to the literature depending on the strategy employed. For example, in sequential approaches, </a:t>
            </a:r>
            <a:r>
              <a:rPr lang="en-US" sz="1200" b="1" dirty="0">
                <a:highlight>
                  <a:srgbClr val="FFC000"/>
                </a:highlight>
              </a:rPr>
              <a:t>the literature is presented in each phase according to the method applied in that stage.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CEAF9B5-02C6-4ECB-FA41-3DF451496271}"/>
              </a:ext>
            </a:extLst>
          </p:cNvPr>
          <p:cNvSpPr txBox="1"/>
          <p:nvPr/>
        </p:nvSpPr>
        <p:spPr>
          <a:xfrm>
            <a:off x="1433308" y="1807323"/>
            <a:ext cx="937883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spcBef>
                <a:spcPts val="600"/>
              </a:spcBef>
              <a:defRPr/>
            </a:pPr>
            <a:r>
              <a:rPr lang="en-US" sz="1200" dirty="0">
                <a:solidFill>
                  <a:schemeClr val="bg1">
                    <a:lumMod val="75000"/>
                  </a:schemeClr>
                </a:solidFill>
              </a:rPr>
              <a:t>From a general perspective, the literature review </a:t>
            </a:r>
            <a:r>
              <a:rPr lang="en-US" sz="1200" b="1" dirty="0">
                <a:highlight>
                  <a:srgbClr val="FFC000"/>
                </a:highlight>
              </a:rPr>
              <a:t>consists of information that supplements the introduction of the study</a:t>
            </a:r>
            <a:r>
              <a:rPr lang="en-US" sz="1200" dirty="0">
                <a:solidFill>
                  <a:schemeClr val="bg1">
                    <a:lumMod val="75000"/>
                  </a:schemeClr>
                </a:solidFill>
              </a:rPr>
              <a:t>. Alternatively, it may have its own section within the document.”</a:t>
            </a:r>
            <a:endParaRPr lang="en-US" sz="1200" noProof="0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70097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5" grpId="0" animBg="1"/>
      <p:bldP spid="16" grpId="0" animBg="1"/>
      <p:bldP spid="21" grpId="0"/>
      <p:bldP spid="22" grpId="0"/>
      <p:bldP spid="24" grpId="0"/>
      <p:bldP spid="26" grpId="0" animBg="1"/>
      <p:bldP spid="27" grpId="0"/>
      <p:bldP spid="28" grpId="0"/>
      <p:bldP spid="30" grpId="0"/>
      <p:bldP spid="31" grpId="0"/>
      <p:bldP spid="3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3A09C6-5188-7373-B4C9-488247B4F2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289F96-471B-7C47-12EA-AE41C0191A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6E845D0-70B0-405D-A6BF-798C9CBE9027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2/24/2026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54805916-991C-F251-8E85-4742534A2D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9389" y="6356348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0EA680-D336-4FF7-8B7A-9848BB0A1C3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6D66C1AB-30C0-7351-F03D-6A322D83A540}"/>
              </a:ext>
            </a:extLst>
          </p:cNvPr>
          <p:cNvSpPr txBox="1">
            <a:spLocks/>
          </p:cNvSpPr>
          <p:nvPr/>
        </p:nvSpPr>
        <p:spPr>
          <a:xfrm>
            <a:off x="11003616" y="136525"/>
            <a:ext cx="11175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6E845D0-70B0-405D-A6BF-798C9CBE9027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2/24/2026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72B6E5B9-A240-2480-D663-DBAE7889BD3F}"/>
              </a:ext>
            </a:extLst>
          </p:cNvPr>
          <p:cNvSpPr txBox="1">
            <a:spLocks/>
          </p:cNvSpPr>
          <p:nvPr/>
        </p:nvSpPr>
        <p:spPr>
          <a:xfrm>
            <a:off x="2707689" y="6355745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Data analysis</a:t>
            </a:r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84E6960E-6DD7-61EC-6B81-C51DB1BD04AC}"/>
              </a:ext>
            </a:extLst>
          </p:cNvPr>
          <p:cNvSpPr txBox="1">
            <a:spLocks/>
          </p:cNvSpPr>
          <p:nvPr/>
        </p:nvSpPr>
        <p:spPr>
          <a:xfrm>
            <a:off x="891590" y="501651"/>
            <a:ext cx="4212974" cy="933450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Verdana" panose="020B0604030504040204" pitchFamily="34" charset="0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tos SemiBold" panose="020F0502020204030204" pitchFamily="34" charset="0"/>
                <a:ea typeface="+mj-ea"/>
                <a:cs typeface="+mj-cs"/>
              </a:rPr>
              <a:t>Organization of the Literature Review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DF11C05-6F83-B8FE-140D-F2A7B821FCEC}"/>
              </a:ext>
            </a:extLst>
          </p:cNvPr>
          <p:cNvSpPr txBox="1"/>
          <p:nvPr/>
        </p:nvSpPr>
        <p:spPr>
          <a:xfrm>
            <a:off x="891590" y="1661467"/>
            <a:ext cx="2909658" cy="349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</a:pPr>
            <a:r>
              <a:rPr lang="en-US" sz="2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General Forms</a:t>
            </a:r>
            <a:endParaRPr lang="en-US" sz="2400" b="1" noProof="0" dirty="0">
              <a:solidFill>
                <a:schemeClr val="tx1">
                  <a:lumMod val="85000"/>
                  <a:lumOff val="15000"/>
                </a:schemeClr>
              </a:solidFill>
              <a:latin typeface="Corbel" panose="020B0503020204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FEB47BA-C8AF-711C-1967-B450BB6FCA51}"/>
              </a:ext>
            </a:extLst>
          </p:cNvPr>
          <p:cNvSpPr txBox="1"/>
          <p:nvPr/>
        </p:nvSpPr>
        <p:spPr>
          <a:xfrm>
            <a:off x="891589" y="2142222"/>
            <a:ext cx="9115439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</a:pPr>
            <a:r>
              <a:rPr lang="en-US" sz="1600" b="1" dirty="0">
                <a:highlight>
                  <a:srgbClr val="FFC000"/>
                </a:highlight>
              </a:rPr>
              <a:t>From a general perspective, the literature review consists of information that supplements the introduction of the study</a:t>
            </a:r>
            <a:r>
              <a:rPr lang="en-US" sz="1600" dirty="0">
                <a:highlight>
                  <a:srgbClr val="FFC000"/>
                </a:highlight>
              </a:rPr>
              <a:t>. </a:t>
            </a:r>
            <a:r>
              <a:rPr lang="en-US" sz="1600" dirty="0"/>
              <a:t>Alternatively, it may have its own section within the document.</a:t>
            </a:r>
            <a:endParaRPr lang="en-US" sz="1600" noProof="0" dirty="0">
              <a:solidFill>
                <a:schemeClr val="accent5"/>
              </a:solidFill>
              <a:latin typeface="Corbel" panose="020B0503020204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EBD5691-8F03-B45C-AB72-2A76EA013A79}"/>
              </a:ext>
            </a:extLst>
          </p:cNvPr>
          <p:cNvSpPr txBox="1"/>
          <p:nvPr/>
        </p:nvSpPr>
        <p:spPr>
          <a:xfrm>
            <a:off x="891590" y="3152538"/>
            <a:ext cx="5936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noProof="0" dirty="0">
                <a:solidFill>
                  <a:srgbClr val="FF0000"/>
                </a:solidFill>
                <a:latin typeface="Aptos Black" panose="020B0004020202020204" pitchFamily="34" charset="0"/>
              </a:rPr>
              <a:t>1.</a:t>
            </a:r>
            <a:endParaRPr lang="en-US" sz="3600" b="1" noProof="0" dirty="0">
              <a:solidFill>
                <a:srgbClr val="FF0000"/>
              </a:solidFill>
              <a:latin typeface="Aptos Black" panose="020B00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25158D9-E404-60B7-F7CE-CF54C8F3F243}"/>
              </a:ext>
            </a:extLst>
          </p:cNvPr>
          <p:cNvSpPr txBox="1"/>
          <p:nvPr/>
        </p:nvSpPr>
        <p:spPr>
          <a:xfrm>
            <a:off x="1463166" y="3214093"/>
            <a:ext cx="316020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Integrating methods and findings from other studies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0633649-4936-56C0-4AC9-B956FE673B7F}"/>
              </a:ext>
            </a:extLst>
          </p:cNvPr>
          <p:cNvSpPr txBox="1"/>
          <p:nvPr/>
        </p:nvSpPr>
        <p:spPr>
          <a:xfrm>
            <a:off x="913688" y="4024355"/>
            <a:ext cx="5936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>
                <a:solidFill>
                  <a:srgbClr val="FF0000"/>
                </a:solidFill>
                <a:latin typeface="Aptos Black" panose="020B0004020202020204" pitchFamily="34" charset="0"/>
              </a:rPr>
              <a:t>2</a:t>
            </a:r>
            <a:r>
              <a:rPr lang="en-US" sz="3600" noProof="0" dirty="0">
                <a:solidFill>
                  <a:srgbClr val="FF0000"/>
                </a:solidFill>
                <a:latin typeface="Aptos Black" panose="020B0004020202020204" pitchFamily="34" charset="0"/>
              </a:rPr>
              <a:t>.</a:t>
            </a:r>
            <a:endParaRPr lang="en-US" sz="3600" b="1" noProof="0" dirty="0">
              <a:solidFill>
                <a:srgbClr val="FF0000"/>
              </a:solidFill>
              <a:latin typeface="Aptos Black" panose="020B00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5F59138-F390-A9BC-8416-313649654D22}"/>
              </a:ext>
            </a:extLst>
          </p:cNvPr>
          <p:cNvSpPr txBox="1"/>
          <p:nvPr/>
        </p:nvSpPr>
        <p:spPr>
          <a:xfrm>
            <a:off x="1485264" y="4085910"/>
            <a:ext cx="316020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Critiquing methods and findings from other studies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86333BB-4F8F-505D-7711-C53520A1325A}"/>
              </a:ext>
            </a:extLst>
          </p:cNvPr>
          <p:cNvSpPr txBox="1"/>
          <p:nvPr/>
        </p:nvSpPr>
        <p:spPr>
          <a:xfrm>
            <a:off x="5194947" y="3214093"/>
            <a:ext cx="5936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noProof="0" dirty="0">
                <a:solidFill>
                  <a:srgbClr val="FF0000"/>
                </a:solidFill>
                <a:latin typeface="Aptos Black" panose="020B0004020202020204" pitchFamily="34" charset="0"/>
              </a:rPr>
              <a:t>3.</a:t>
            </a:r>
            <a:endParaRPr lang="en-US" sz="3600" b="1" noProof="0" dirty="0">
              <a:solidFill>
                <a:srgbClr val="FF0000"/>
              </a:solidFill>
              <a:latin typeface="Aptos Black" panose="020B00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AAAE5AB-C6C8-D44F-3FBC-B0DBDA7AFF99}"/>
              </a:ext>
            </a:extLst>
          </p:cNvPr>
          <p:cNvSpPr txBox="1"/>
          <p:nvPr/>
        </p:nvSpPr>
        <p:spPr>
          <a:xfrm>
            <a:off x="5766523" y="3275648"/>
            <a:ext cx="204183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Connecting themes or areas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CDB4084-A9C1-362F-0EE6-ABFB55C45949}"/>
              </a:ext>
            </a:extLst>
          </p:cNvPr>
          <p:cNvSpPr txBox="1"/>
          <p:nvPr/>
        </p:nvSpPr>
        <p:spPr>
          <a:xfrm>
            <a:off x="5194947" y="4024355"/>
            <a:ext cx="5936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>
                <a:solidFill>
                  <a:srgbClr val="FF0000"/>
                </a:solidFill>
                <a:latin typeface="Aptos Black" panose="020B0004020202020204" pitchFamily="34" charset="0"/>
              </a:rPr>
              <a:t>4</a:t>
            </a:r>
            <a:r>
              <a:rPr lang="en-US" sz="3600" noProof="0" dirty="0">
                <a:solidFill>
                  <a:srgbClr val="FF0000"/>
                </a:solidFill>
                <a:latin typeface="Aptos Black" panose="020B0004020202020204" pitchFamily="34" charset="0"/>
              </a:rPr>
              <a:t>.</a:t>
            </a:r>
            <a:endParaRPr lang="en-US" sz="3600" b="1" noProof="0" dirty="0">
              <a:solidFill>
                <a:srgbClr val="FF0000"/>
              </a:solidFill>
              <a:latin typeface="Aptos Black" panose="020B00040202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1F26E0E-49BA-7895-8292-6D4378C47C8E}"/>
              </a:ext>
            </a:extLst>
          </p:cNvPr>
          <p:cNvSpPr txBox="1"/>
          <p:nvPr/>
        </p:nvSpPr>
        <p:spPr>
          <a:xfrm>
            <a:off x="5766523" y="4085910"/>
            <a:ext cx="316020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Identifying a central problem within the field of knowledge</a:t>
            </a:r>
          </a:p>
        </p:txBody>
      </p:sp>
    </p:spTree>
    <p:extLst>
      <p:ext uri="{BB962C8B-B14F-4D97-AF65-F5344CB8AC3E}">
        <p14:creationId xmlns:p14="http://schemas.microsoft.com/office/powerpoint/2010/main" val="10322380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9ADBB3-1A7E-FBCE-692A-B2854155FB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2E766A3B-1B30-F278-9DA6-BA3CEF31B8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003616" y="136525"/>
            <a:ext cx="1117563" cy="36512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6E845D0-70B0-405D-A6BF-798C9CBE9027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2/24/2026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14" name="Slide Number Placeholder 2">
            <a:extLst>
              <a:ext uri="{FF2B5EF4-FFF2-40B4-BE49-F238E27FC236}">
                <a16:creationId xmlns:a16="http://schemas.microsoft.com/office/drawing/2014/main" id="{D6CBF357-9304-570B-6A9C-E425192567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9389" y="6356348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0EA680-D336-4FF7-8B7A-9848BB0A1C3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15" name="Date Placeholder 3">
            <a:extLst>
              <a:ext uri="{FF2B5EF4-FFF2-40B4-BE49-F238E27FC236}">
                <a16:creationId xmlns:a16="http://schemas.microsoft.com/office/drawing/2014/main" id="{F5C37720-E945-7E9C-C50C-D080937FF912}"/>
              </a:ext>
            </a:extLst>
          </p:cNvPr>
          <p:cNvSpPr txBox="1">
            <a:spLocks/>
          </p:cNvSpPr>
          <p:nvPr/>
        </p:nvSpPr>
        <p:spPr>
          <a:xfrm>
            <a:off x="11003616" y="136525"/>
            <a:ext cx="11175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6E845D0-70B0-405D-A6BF-798C9CBE9027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2/24/2026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3A743E0-5ED6-6077-A6F1-4D6348A94D7A}"/>
              </a:ext>
            </a:extLst>
          </p:cNvPr>
          <p:cNvSpPr txBox="1"/>
          <p:nvPr/>
        </p:nvSpPr>
        <p:spPr>
          <a:xfrm>
            <a:off x="891590" y="1653662"/>
            <a:ext cx="2909658" cy="32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</a:pPr>
            <a:r>
              <a:rPr lang="en-US" b="1" noProof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Qualitative Structure</a:t>
            </a:r>
            <a:endParaRPr lang="en-US" b="1" noProof="0" dirty="0">
              <a:solidFill>
                <a:schemeClr val="tx1">
                  <a:lumMod val="85000"/>
                  <a:lumOff val="15000"/>
                </a:schemeClr>
              </a:solidFill>
              <a:latin typeface="Corbel" panose="020B0503020204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4142E61-5464-69EF-74F1-F7CB4664659B}"/>
              </a:ext>
            </a:extLst>
          </p:cNvPr>
          <p:cNvSpPr txBox="1"/>
          <p:nvPr/>
        </p:nvSpPr>
        <p:spPr>
          <a:xfrm>
            <a:off x="981088" y="1976480"/>
            <a:ext cx="912990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spcBef>
                <a:spcPts val="600"/>
              </a:spcBef>
              <a:defRPr/>
            </a:pPr>
            <a:r>
              <a:rPr lang="en-US" sz="1400" noProof="0" dirty="0">
                <a:solidFill>
                  <a:schemeClr val="bg1">
                    <a:lumMod val="75000"/>
                  </a:schemeClr>
                </a:solidFill>
              </a:rPr>
              <a:t>Qualitative studies are exploratory; there is usually little prior literature on the topic or population, so the focus is on listening to and understanding participants.</a:t>
            </a:r>
          </a:p>
        </p:txBody>
      </p: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B08A6FE8-6945-ACB1-9275-E99C6008F2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5898368"/>
              </p:ext>
            </p:extLst>
          </p:nvPr>
        </p:nvGraphicFramePr>
        <p:xfrm>
          <a:off x="1098355" y="2822518"/>
          <a:ext cx="9798245" cy="2825788"/>
        </p:xfrm>
        <a:graphic>
          <a:graphicData uri="http://schemas.openxmlformats.org/drawingml/2006/table">
            <a:tbl>
              <a:tblPr firstRow="1" bandRow="1">
                <a:tableStyleId>{91EBBBCC-DAD2-459C-BE2E-F6DE35CF9A28}</a:tableStyleId>
              </a:tblPr>
              <a:tblGrid>
                <a:gridCol w="3586881">
                  <a:extLst>
                    <a:ext uri="{9D8B030D-6E8A-4147-A177-3AD203B41FA5}">
                      <a16:colId xmlns:a16="http://schemas.microsoft.com/office/drawing/2014/main" val="3978554397"/>
                    </a:ext>
                  </a:extLst>
                </a:gridCol>
                <a:gridCol w="3497977">
                  <a:extLst>
                    <a:ext uri="{9D8B030D-6E8A-4147-A177-3AD203B41FA5}">
                      <a16:colId xmlns:a16="http://schemas.microsoft.com/office/drawing/2014/main" val="1332179662"/>
                    </a:ext>
                  </a:extLst>
                </a:gridCol>
                <a:gridCol w="2713387">
                  <a:extLst>
                    <a:ext uri="{9D8B030D-6E8A-4147-A177-3AD203B41FA5}">
                      <a16:colId xmlns:a16="http://schemas.microsoft.com/office/drawing/2014/main" val="1487821415"/>
                    </a:ext>
                  </a:extLst>
                </a:gridCol>
              </a:tblGrid>
              <a:tr h="415758">
                <a:tc>
                  <a:txBody>
                    <a:bodyPr/>
                    <a:lstStyle/>
                    <a:p>
                      <a:pPr algn="ctr"/>
                      <a:r>
                        <a:rPr lang="en-US" sz="1600" noProof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Use of the Literature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noProof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Criteria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noProof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Examples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3038983"/>
                  </a:ext>
                </a:extLst>
              </a:tr>
              <a:tr h="780066">
                <a:tc>
                  <a:txBody>
                    <a:bodyPr/>
                    <a:lstStyle/>
                    <a:p>
                      <a:r>
                        <a:rPr lang="en-US" sz="1400" b="1" noProof="0" dirty="0">
                          <a:highlight>
                            <a:srgbClr val="FFC000"/>
                          </a:highlight>
                        </a:rPr>
                        <a:t>Framing the problem in the introduction of the study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noProof="0" dirty="0"/>
                        <a:t>There must be some literature available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noProof="0" dirty="0"/>
                        <a:t>Used in all types of qualitative studies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1570290"/>
                  </a:ext>
                </a:extLst>
              </a:tr>
              <a:tr h="780066">
                <a:tc>
                  <a:txBody>
                    <a:bodyPr/>
                    <a:lstStyle/>
                    <a:p>
                      <a:r>
                        <a:rPr lang="en-US" sz="1400" b="1" noProof="0" dirty="0">
                          <a:highlight>
                            <a:srgbClr val="FFC000"/>
                          </a:highlight>
                        </a:rPr>
                        <a:t>Different section from the introduction</a:t>
                      </a:r>
                      <a:endParaRPr lang="en-US" sz="1400" noProof="0" dirty="0">
                        <a:highlight>
                          <a:srgbClr val="FFC000"/>
                        </a:highlight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noProof="0" dirty="0"/>
                        <a:t>Post‑positivist traditional approach to literature reviews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noProof="0" dirty="0"/>
                        <a:t>Studies with a quantitative approach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1450971"/>
                  </a:ext>
                </a:extLst>
              </a:tr>
              <a:tr h="849898">
                <a:tc>
                  <a:txBody>
                    <a:bodyPr/>
                    <a:lstStyle/>
                    <a:p>
                      <a:r>
                        <a:rPr lang="en-US" sz="1400" b="1" noProof="0" dirty="0">
                          <a:highlight>
                            <a:srgbClr val="FFC000"/>
                          </a:highlight>
                        </a:rPr>
                        <a:t>Presented at the end of the document to compare the study’s findings</a:t>
                      </a:r>
                      <a:endParaRPr lang="en-US" sz="1400" noProof="0" dirty="0">
                        <a:highlight>
                          <a:srgbClr val="FFC000"/>
                        </a:highlight>
                      </a:endParaRP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noProof="0" dirty="0"/>
                        <a:t>Does not guide or direct the study. It supports the work after identifying patterns or categories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noProof="0" dirty="0"/>
                        <a:t>Studies with a qualitative approach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9574906"/>
                  </a:ext>
                </a:extLst>
              </a:tr>
            </a:tbl>
          </a:graphicData>
        </a:graphic>
      </p:graphicFrame>
      <p:grpSp>
        <p:nvGrpSpPr>
          <p:cNvPr id="24" name="Group 23">
            <a:extLst>
              <a:ext uri="{FF2B5EF4-FFF2-40B4-BE49-F238E27FC236}">
                <a16:creationId xmlns:a16="http://schemas.microsoft.com/office/drawing/2014/main" id="{E38A5B6A-4B9F-3BB4-A869-EF2A0AA501D7}"/>
              </a:ext>
            </a:extLst>
          </p:cNvPr>
          <p:cNvGrpSpPr/>
          <p:nvPr/>
        </p:nvGrpSpPr>
        <p:grpSpPr>
          <a:xfrm>
            <a:off x="10247499" y="4827613"/>
            <a:ext cx="1248038" cy="1248038"/>
            <a:chOff x="10048981" y="2395114"/>
            <a:chExt cx="1248038" cy="1248038"/>
          </a:xfrm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50A77BDA-52F2-E6AC-9C4C-8E2BB0099BF7}"/>
                </a:ext>
              </a:extLst>
            </p:cNvPr>
            <p:cNvGrpSpPr/>
            <p:nvPr/>
          </p:nvGrpSpPr>
          <p:grpSpPr>
            <a:xfrm>
              <a:off x="10048981" y="2395114"/>
              <a:ext cx="1248038" cy="1248038"/>
              <a:chOff x="10234551" y="2151076"/>
              <a:chExt cx="1248038" cy="1248038"/>
            </a:xfrm>
          </p:grpSpPr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72577FA8-F304-FCF3-5C0C-C2DE3CF4998E}"/>
                  </a:ext>
                </a:extLst>
              </p:cNvPr>
              <p:cNvSpPr/>
              <p:nvPr/>
            </p:nvSpPr>
            <p:spPr>
              <a:xfrm>
                <a:off x="10234551" y="2151076"/>
                <a:ext cx="1248038" cy="1248038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8DE743B5-E029-69D0-1BBA-83F34837A797}"/>
                  </a:ext>
                </a:extLst>
              </p:cNvPr>
              <p:cNvSpPr txBox="1"/>
              <p:nvPr/>
            </p:nvSpPr>
            <p:spPr>
              <a:xfrm>
                <a:off x="10437925" y="2345392"/>
                <a:ext cx="841290" cy="738327"/>
              </a:xfrm>
              <a:prstGeom prst="rect">
                <a:avLst/>
              </a:prstGeom>
              <a:noFill/>
            </p:spPr>
            <p:txBody>
              <a:bodyPr wrap="none" rtlCol="0">
                <a:prstTxWarp prst="textArchUp">
                  <a:avLst>
                    <a:gd name="adj" fmla="val 10889563"/>
                  </a:avLst>
                </a:prstTxWarp>
                <a:spAutoFit/>
              </a:bodyPr>
              <a:lstStyle/>
              <a:p>
                <a:pPr algn="ctr"/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Inductive</a:t>
                </a:r>
                <a:endParaRPr lang="en-US" noProof="0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0247BE66-D40E-037B-28AC-6B1F8DCD0DD6}"/>
                  </a:ext>
                </a:extLst>
              </p:cNvPr>
              <p:cNvSpPr txBox="1"/>
              <p:nvPr/>
            </p:nvSpPr>
            <p:spPr>
              <a:xfrm>
                <a:off x="10415420" y="2746812"/>
                <a:ext cx="895349" cy="496595"/>
              </a:xfrm>
              <a:prstGeom prst="rect">
                <a:avLst/>
              </a:prstGeom>
              <a:noFill/>
            </p:spPr>
            <p:txBody>
              <a:bodyPr wrap="none" rtlCol="0">
                <a:prstTxWarp prst="textArchDown">
                  <a:avLst>
                    <a:gd name="adj" fmla="val 660421"/>
                  </a:avLst>
                </a:prstTxWarp>
                <a:spAutoFit/>
              </a:bodyPr>
              <a:lstStyle/>
              <a:p>
                <a:pPr algn="ctr"/>
                <a:r>
                  <a:rPr lang="en-US" noProof="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Approach</a:t>
                </a:r>
              </a:p>
            </p:txBody>
          </p:sp>
        </p:grpSp>
        <p:pic>
          <p:nvPicPr>
            <p:cNvPr id="26" name="Graphic 25" descr="Cause And Effect with solid fill">
              <a:extLst>
                <a:ext uri="{FF2B5EF4-FFF2-40B4-BE49-F238E27FC236}">
                  <a16:creationId xmlns:a16="http://schemas.microsoft.com/office/drawing/2014/main" id="{EE06AB29-5A20-D254-F507-049415CF052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0413164" y="2718468"/>
              <a:ext cx="571845" cy="571845"/>
            </a:xfrm>
            <a:prstGeom prst="rect">
              <a:avLst/>
            </a:prstGeom>
          </p:spPr>
        </p:pic>
      </p:grpSp>
      <p:sp>
        <p:nvSpPr>
          <p:cNvPr id="30" name="Título 1">
            <a:extLst>
              <a:ext uri="{FF2B5EF4-FFF2-40B4-BE49-F238E27FC236}">
                <a16:creationId xmlns:a16="http://schemas.microsoft.com/office/drawing/2014/main" id="{81CBFD4E-1CFF-B98A-1072-4B675FF602B4}"/>
              </a:ext>
            </a:extLst>
          </p:cNvPr>
          <p:cNvSpPr txBox="1">
            <a:spLocks/>
          </p:cNvSpPr>
          <p:nvPr/>
        </p:nvSpPr>
        <p:spPr>
          <a:xfrm>
            <a:off x="891590" y="501651"/>
            <a:ext cx="4212974" cy="933450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Verdana" panose="020B0604030504040204" pitchFamily="34" charset="0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tos SemiBold" panose="020F0502020204030204" pitchFamily="34" charset="0"/>
                <a:ea typeface="+mj-ea"/>
                <a:cs typeface="+mj-cs"/>
              </a:rPr>
              <a:t>Organization of the Literature Review</a:t>
            </a:r>
          </a:p>
        </p:txBody>
      </p:sp>
      <p:sp>
        <p:nvSpPr>
          <p:cNvPr id="31" name="Footer Placeholder 4">
            <a:extLst>
              <a:ext uri="{FF2B5EF4-FFF2-40B4-BE49-F238E27FC236}">
                <a16:creationId xmlns:a16="http://schemas.microsoft.com/office/drawing/2014/main" id="{815597E2-D73F-BDC4-3A4A-5A408D2DD69E}"/>
              </a:ext>
            </a:extLst>
          </p:cNvPr>
          <p:cNvSpPr txBox="1">
            <a:spLocks/>
          </p:cNvSpPr>
          <p:nvPr/>
        </p:nvSpPr>
        <p:spPr>
          <a:xfrm>
            <a:off x="2707689" y="6355745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Data analysis</a:t>
            </a:r>
          </a:p>
        </p:txBody>
      </p:sp>
    </p:spTree>
    <p:extLst>
      <p:ext uri="{BB962C8B-B14F-4D97-AF65-F5344CB8AC3E}">
        <p14:creationId xmlns:p14="http://schemas.microsoft.com/office/powerpoint/2010/main" val="36445371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9D71D9-5BCD-DDE0-1205-72A9D600A2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079803DC-1EA0-405D-EBC8-44365E2C5B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003616" y="136525"/>
            <a:ext cx="1117563" cy="36512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6E845D0-70B0-405D-A6BF-798C9CBE9027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2/24/2026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14" name="Slide Number Placeholder 2">
            <a:extLst>
              <a:ext uri="{FF2B5EF4-FFF2-40B4-BE49-F238E27FC236}">
                <a16:creationId xmlns:a16="http://schemas.microsoft.com/office/drawing/2014/main" id="{57BB801C-32E2-7BF6-C8C1-3690446B1F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9389" y="6356348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0EA680-D336-4FF7-8B7A-9848BB0A1C3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15" name="Date Placeholder 3">
            <a:extLst>
              <a:ext uri="{FF2B5EF4-FFF2-40B4-BE49-F238E27FC236}">
                <a16:creationId xmlns:a16="http://schemas.microsoft.com/office/drawing/2014/main" id="{46F7701D-55F9-E35E-B11E-FF4F71B53C1E}"/>
              </a:ext>
            </a:extLst>
          </p:cNvPr>
          <p:cNvSpPr txBox="1">
            <a:spLocks/>
          </p:cNvSpPr>
          <p:nvPr/>
        </p:nvSpPr>
        <p:spPr>
          <a:xfrm>
            <a:off x="11003616" y="136525"/>
            <a:ext cx="11175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6E845D0-70B0-405D-A6BF-798C9CBE9027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2/24/2026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B02A6FB-F711-B3C4-F093-70A62BE2E0BB}"/>
              </a:ext>
            </a:extLst>
          </p:cNvPr>
          <p:cNvSpPr txBox="1"/>
          <p:nvPr/>
        </p:nvSpPr>
        <p:spPr>
          <a:xfrm>
            <a:off x="891590" y="1653662"/>
            <a:ext cx="2909658" cy="32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</a:pPr>
            <a:r>
              <a:rPr lang="en-US" b="1" noProof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Quantitative Structure</a:t>
            </a:r>
            <a:endParaRPr lang="en-US" b="1" noProof="0" dirty="0">
              <a:solidFill>
                <a:schemeClr val="tx1">
                  <a:lumMod val="85000"/>
                  <a:lumOff val="15000"/>
                </a:schemeClr>
              </a:solidFill>
              <a:latin typeface="Corbel" panose="020B0503020204020204" pitchFamily="34" charset="0"/>
            </a:endParaRPr>
          </a:p>
        </p:txBody>
      </p: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D3CEE77F-EA33-E457-9B20-36AD293FF5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7351483"/>
              </p:ext>
            </p:extLst>
          </p:nvPr>
        </p:nvGraphicFramePr>
        <p:xfrm>
          <a:off x="4572000" y="2146139"/>
          <a:ext cx="6630834" cy="3649417"/>
        </p:xfrm>
        <a:graphic>
          <a:graphicData uri="http://schemas.openxmlformats.org/drawingml/2006/table">
            <a:tbl>
              <a:tblPr firstRow="1" bandRow="1">
                <a:tableStyleId>{91EBBBCC-DAD2-459C-BE2E-F6DE35CF9A28}</a:tableStyleId>
              </a:tblPr>
              <a:tblGrid>
                <a:gridCol w="1918020">
                  <a:extLst>
                    <a:ext uri="{9D8B030D-6E8A-4147-A177-3AD203B41FA5}">
                      <a16:colId xmlns:a16="http://schemas.microsoft.com/office/drawing/2014/main" val="3978554397"/>
                    </a:ext>
                  </a:extLst>
                </a:gridCol>
                <a:gridCol w="4712814">
                  <a:extLst>
                    <a:ext uri="{9D8B030D-6E8A-4147-A177-3AD203B41FA5}">
                      <a16:colId xmlns:a16="http://schemas.microsoft.com/office/drawing/2014/main" val="1332179662"/>
                    </a:ext>
                  </a:extLst>
                </a:gridCol>
              </a:tblGrid>
              <a:tr h="296932">
                <a:tc>
                  <a:txBody>
                    <a:bodyPr/>
                    <a:lstStyle/>
                    <a:p>
                      <a:pPr algn="ctr"/>
                      <a:r>
                        <a:rPr lang="en-US" sz="1600" noProof="0" dirty="0">
                          <a:solidFill>
                            <a:schemeClr val="bg1"/>
                          </a:solidFill>
                        </a:rPr>
                        <a:t>Step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noProof="0" dirty="0">
                          <a:solidFill>
                            <a:schemeClr val="bg1"/>
                          </a:solidFill>
                        </a:rPr>
                        <a:t>Contents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3038983"/>
                  </a:ext>
                </a:extLst>
              </a:tr>
              <a:tr h="513780">
                <a:tc>
                  <a:txBody>
                    <a:bodyPr/>
                    <a:lstStyle/>
                    <a:p>
                      <a:r>
                        <a:rPr lang="en-US" sz="1400" b="1" noProof="0" dirty="0"/>
                        <a:t>Introduction</a:t>
                      </a:r>
                      <a:endParaRPr lang="en-US" sz="1400" b="1" noProof="0" dirty="0">
                        <a:highlight>
                          <a:srgbClr val="FFC000"/>
                        </a:highlight>
                      </a:endParaRPr>
                    </a:p>
                  </a:txBody>
                  <a:tcPr anchor="ctr">
                    <a:solidFill>
                      <a:srgbClr val="FBEF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noProof="0" dirty="0"/>
                        <a:t>Description of the contents of the review (subsections).</a:t>
                      </a:r>
                    </a:p>
                  </a:txBody>
                  <a:tcPr anchor="ctr">
                    <a:solidFill>
                      <a:srgbClr val="FB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1570290"/>
                  </a:ext>
                </a:extLst>
              </a:tr>
              <a:tr h="647852">
                <a:tc>
                  <a:txBody>
                    <a:bodyPr/>
                    <a:lstStyle/>
                    <a:p>
                      <a:r>
                        <a:rPr lang="en-US" sz="1400" b="1" noProof="0" dirty="0"/>
                        <a:t>Dependent Variable</a:t>
                      </a:r>
                      <a:endParaRPr lang="en-US" sz="1400" b="1" noProof="0" dirty="0">
                        <a:highlight>
                          <a:srgbClr val="FFC000"/>
                        </a:highlight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noProof="0" dirty="0"/>
                        <a:t>Review of studies related to the dependent variable.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1450971"/>
                  </a:ext>
                </a:extLst>
              </a:tr>
              <a:tr h="647852">
                <a:tc>
                  <a:txBody>
                    <a:bodyPr/>
                    <a:lstStyle/>
                    <a:p>
                      <a:r>
                        <a:rPr lang="en-US" sz="1400" b="1" noProof="0" dirty="0"/>
                        <a:t>Independent Variable</a:t>
                      </a:r>
                      <a:endParaRPr lang="en-US" sz="1400" b="1" noProof="0" dirty="0">
                        <a:highlight>
                          <a:srgbClr val="FFC000"/>
                        </a:highlight>
                      </a:endParaRPr>
                    </a:p>
                  </a:txBody>
                  <a:tcPr anchor="ctr">
                    <a:solidFill>
                      <a:srgbClr val="FBEF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noProof="0" dirty="0"/>
                        <a:t>Review of studies related to the independent variable (with subsections if there are multiple ones).</a:t>
                      </a:r>
                    </a:p>
                  </a:txBody>
                  <a:tcPr anchor="ctr">
                    <a:solidFill>
                      <a:srgbClr val="FB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9574906"/>
                  </a:ext>
                </a:extLst>
              </a:tr>
              <a:tr h="559773">
                <a:tc>
                  <a:txBody>
                    <a:bodyPr/>
                    <a:lstStyle/>
                    <a:p>
                      <a:r>
                        <a:rPr lang="en-US" sz="1400" b="1" noProof="0" dirty="0"/>
                        <a:t>Variable Relationships</a:t>
                      </a:r>
                      <a:endParaRPr lang="en-US" sz="1400" b="1" noProof="0" dirty="0">
                        <a:highlight>
                          <a:srgbClr val="FFC000"/>
                        </a:highlight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noProof="0" dirty="0"/>
                        <a:t>This section should be relatively short and contain studies that are extremely related to the proposed study topic.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0654899"/>
                  </a:ext>
                </a:extLst>
              </a:tr>
              <a:tr h="559773">
                <a:tc>
                  <a:txBody>
                    <a:bodyPr/>
                    <a:lstStyle/>
                    <a:p>
                      <a:r>
                        <a:rPr lang="en-US" sz="1400" b="1" noProof="0" dirty="0"/>
                        <a:t>Summary</a:t>
                      </a:r>
                      <a:endParaRPr lang="en-US" sz="1400" b="1" noProof="0" dirty="0">
                        <a:highlight>
                          <a:srgbClr val="FFC000"/>
                        </a:highlight>
                      </a:endParaRPr>
                    </a:p>
                  </a:txBody>
                  <a:tcPr anchor="ctr">
                    <a:solidFill>
                      <a:srgbClr val="FBEF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noProof="0" dirty="0"/>
                        <a:t>Presents the most important studies and </a:t>
                      </a:r>
                      <a:br>
                        <a:rPr lang="en-US" sz="1400" b="0" noProof="0" dirty="0"/>
                      </a:br>
                      <a:r>
                        <a:rPr lang="en-US" sz="1400" b="0" noProof="0" dirty="0"/>
                        <a:t>suggests the reason for investigating the </a:t>
                      </a:r>
                      <a:br>
                        <a:rPr lang="en-US" sz="1400" b="0" noProof="0" dirty="0"/>
                      </a:br>
                      <a:r>
                        <a:rPr lang="en-US" sz="1400" b="0" noProof="0" dirty="0"/>
                        <a:t>topic and how the research seeks to </a:t>
                      </a:r>
                      <a:br>
                        <a:rPr lang="en-US" sz="1400" b="0" noProof="0" dirty="0"/>
                      </a:br>
                      <a:r>
                        <a:rPr lang="en-US" sz="1400" b="0" noProof="0" dirty="0"/>
                        <a:t>contribute to that need.</a:t>
                      </a:r>
                    </a:p>
                  </a:txBody>
                  <a:tcPr anchor="ctr">
                    <a:solidFill>
                      <a:srgbClr val="FB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9542726"/>
                  </a:ext>
                </a:extLst>
              </a:tr>
            </a:tbl>
          </a:graphicData>
        </a:graphic>
      </p:graphicFrame>
      <p:sp>
        <p:nvSpPr>
          <p:cNvPr id="30" name="Título 1">
            <a:extLst>
              <a:ext uri="{FF2B5EF4-FFF2-40B4-BE49-F238E27FC236}">
                <a16:creationId xmlns:a16="http://schemas.microsoft.com/office/drawing/2014/main" id="{D3C09B66-5EFD-92BA-385D-A830BD27864F}"/>
              </a:ext>
            </a:extLst>
          </p:cNvPr>
          <p:cNvSpPr txBox="1">
            <a:spLocks/>
          </p:cNvSpPr>
          <p:nvPr/>
        </p:nvSpPr>
        <p:spPr>
          <a:xfrm>
            <a:off x="891590" y="501651"/>
            <a:ext cx="4212974" cy="933450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Verdana" panose="020B0604030504040204" pitchFamily="34" charset="0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tos SemiBold" panose="020F0502020204030204" pitchFamily="34" charset="0"/>
                <a:ea typeface="+mj-ea"/>
                <a:cs typeface="+mj-cs"/>
              </a:rPr>
              <a:t>Organization of the Literature Review</a:t>
            </a:r>
          </a:p>
        </p:txBody>
      </p:sp>
      <p:sp>
        <p:nvSpPr>
          <p:cNvPr id="31" name="Footer Placeholder 4">
            <a:extLst>
              <a:ext uri="{FF2B5EF4-FFF2-40B4-BE49-F238E27FC236}">
                <a16:creationId xmlns:a16="http://schemas.microsoft.com/office/drawing/2014/main" id="{01EFAD8D-FE70-1274-6175-D128D64B7852}"/>
              </a:ext>
            </a:extLst>
          </p:cNvPr>
          <p:cNvSpPr txBox="1">
            <a:spLocks/>
          </p:cNvSpPr>
          <p:nvPr/>
        </p:nvSpPr>
        <p:spPr>
          <a:xfrm>
            <a:off x="2707689" y="6355745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Data analysis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2CB6BAE-F7CB-9B23-9CA1-049F2D63E047}"/>
              </a:ext>
            </a:extLst>
          </p:cNvPr>
          <p:cNvSpPr txBox="1"/>
          <p:nvPr/>
        </p:nvSpPr>
        <p:spPr>
          <a:xfrm>
            <a:off x="981088" y="2157248"/>
            <a:ext cx="331151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C000"/>
                </a:highlight>
              </a:rPr>
              <a:t>Use in the introduction</a:t>
            </a:r>
          </a:p>
          <a:p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Developed at the beginning of the study to provide direction for the research questions and hypotheses.</a:t>
            </a:r>
            <a:endParaRPr lang="en-US" sz="1400" b="1" noProof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624F115-4B52-3B62-1333-6A5EDAB4166E}"/>
              </a:ext>
            </a:extLst>
          </p:cNvPr>
          <p:cNvSpPr txBox="1"/>
          <p:nvPr/>
        </p:nvSpPr>
        <p:spPr>
          <a:xfrm>
            <a:off x="981088" y="3371419"/>
            <a:ext cx="331151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C000"/>
                </a:highlight>
              </a:rPr>
              <a:t>Use in a separate section</a:t>
            </a:r>
          </a:p>
          <a:p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Developed at the beginning of the study to provide direction for the research questions and hypotheses.</a:t>
            </a:r>
            <a:endParaRPr lang="en-US" sz="1400" b="1" noProof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FC4175E-A83A-CC8E-6F38-1742E2214333}"/>
              </a:ext>
            </a:extLst>
          </p:cNvPr>
          <p:cNvSpPr txBox="1"/>
          <p:nvPr/>
        </p:nvSpPr>
        <p:spPr>
          <a:xfrm>
            <a:off x="989166" y="4585590"/>
            <a:ext cx="3311512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C000"/>
                </a:highlight>
              </a:rPr>
              <a:t>Use at the end</a:t>
            </a:r>
          </a:p>
          <a:p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Comparison of the study’s results with the findings of the existing literature.</a:t>
            </a:r>
            <a:endParaRPr lang="en-US" sz="1400" b="1" noProof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72524154-D94D-6262-74D3-09874B17FC38}"/>
              </a:ext>
            </a:extLst>
          </p:cNvPr>
          <p:cNvGrpSpPr/>
          <p:nvPr/>
        </p:nvGrpSpPr>
        <p:grpSpPr>
          <a:xfrm>
            <a:off x="10226118" y="4827613"/>
            <a:ext cx="1248038" cy="1248038"/>
            <a:chOff x="10234551" y="2151076"/>
            <a:chExt cx="1248038" cy="1248038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2279D5F3-9FA2-E850-9E8A-04407849781C}"/>
                </a:ext>
              </a:extLst>
            </p:cNvPr>
            <p:cNvSpPr/>
            <p:nvPr/>
          </p:nvSpPr>
          <p:spPr>
            <a:xfrm>
              <a:off x="10234551" y="2151076"/>
              <a:ext cx="1248038" cy="124803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>
                <a:solidFill>
                  <a:schemeClr val="bg1"/>
                </a:solidFill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BC337406-2B4E-5E3A-9989-F27A7ECAB1FF}"/>
                </a:ext>
              </a:extLst>
            </p:cNvPr>
            <p:cNvSpPr txBox="1"/>
            <p:nvPr/>
          </p:nvSpPr>
          <p:spPr>
            <a:xfrm>
              <a:off x="10437925" y="2345392"/>
              <a:ext cx="841290" cy="738327"/>
            </a:xfrm>
            <a:prstGeom prst="rect">
              <a:avLst/>
            </a:prstGeom>
            <a:noFill/>
          </p:spPr>
          <p:txBody>
            <a:bodyPr wrap="none" rtlCol="0">
              <a:prstTxWarp prst="textArchUp">
                <a:avLst>
                  <a:gd name="adj" fmla="val 10889563"/>
                </a:avLst>
              </a:prstTxWarp>
              <a:spAutoFit/>
            </a:bodyPr>
            <a:lstStyle/>
            <a:p>
              <a:pPr algn="ctr"/>
              <a:r>
                <a:rPr lang="en-US" noProof="0" dirty="0">
                  <a:solidFill>
                    <a:schemeClr val="bg1"/>
                  </a:solidFill>
                </a:rPr>
                <a:t>Deductive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20E4BE2C-92B8-EBE2-9AAB-1963B6FD71DA}"/>
                </a:ext>
              </a:extLst>
            </p:cNvPr>
            <p:cNvSpPr txBox="1"/>
            <p:nvPr/>
          </p:nvSpPr>
          <p:spPr>
            <a:xfrm>
              <a:off x="10437925" y="2775095"/>
              <a:ext cx="841290" cy="463550"/>
            </a:xfrm>
            <a:prstGeom prst="rect">
              <a:avLst/>
            </a:prstGeom>
            <a:noFill/>
          </p:spPr>
          <p:txBody>
            <a:bodyPr wrap="none" rtlCol="0">
              <a:prstTxWarp prst="textArchDown">
                <a:avLst>
                  <a:gd name="adj" fmla="val 660421"/>
                </a:avLst>
              </a:prstTxWarp>
              <a:spAutoFit/>
            </a:bodyPr>
            <a:lstStyle/>
            <a:p>
              <a:pPr algn="ctr"/>
              <a:r>
                <a:rPr lang="en-US" noProof="0" dirty="0">
                  <a:solidFill>
                    <a:schemeClr val="bg1"/>
                  </a:solidFill>
                </a:rPr>
                <a:t>Approach</a:t>
              </a:r>
            </a:p>
          </p:txBody>
        </p:sp>
        <p:pic>
          <p:nvPicPr>
            <p:cNvPr id="16" name="Graphic 15" descr="Arrow circle with solid fill">
              <a:extLst>
                <a:ext uri="{FF2B5EF4-FFF2-40B4-BE49-F238E27FC236}">
                  <a16:creationId xmlns:a16="http://schemas.microsoft.com/office/drawing/2014/main" id="{150C125E-B988-5C87-AB73-01D960ECB7B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0437925" y="2368732"/>
              <a:ext cx="792450" cy="7924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511303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D532CC-7A23-E1FD-7796-440A3A6A53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570DFE1A-9964-AE85-A483-DF07225D84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003616" y="136525"/>
            <a:ext cx="1117563" cy="36512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6E845D0-70B0-405D-A6BF-798C9CBE9027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2/24/2026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14" name="Slide Number Placeholder 2">
            <a:extLst>
              <a:ext uri="{FF2B5EF4-FFF2-40B4-BE49-F238E27FC236}">
                <a16:creationId xmlns:a16="http://schemas.microsoft.com/office/drawing/2014/main" id="{DA086027-2A08-A43E-366B-894A4262E6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9389" y="6356348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0EA680-D336-4FF7-8B7A-9848BB0A1C3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15" name="Date Placeholder 3">
            <a:extLst>
              <a:ext uri="{FF2B5EF4-FFF2-40B4-BE49-F238E27FC236}">
                <a16:creationId xmlns:a16="http://schemas.microsoft.com/office/drawing/2014/main" id="{41D1AAC0-2C82-3EB0-EDC4-042C79F4D3AA}"/>
              </a:ext>
            </a:extLst>
          </p:cNvPr>
          <p:cNvSpPr txBox="1">
            <a:spLocks/>
          </p:cNvSpPr>
          <p:nvPr/>
        </p:nvSpPr>
        <p:spPr>
          <a:xfrm>
            <a:off x="11003616" y="136525"/>
            <a:ext cx="11175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6E845D0-70B0-405D-A6BF-798C9CBE9027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2/24/2026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87A50CD-8EC1-0170-7BCC-CF9D2942369F}"/>
              </a:ext>
            </a:extLst>
          </p:cNvPr>
          <p:cNvSpPr txBox="1"/>
          <p:nvPr/>
        </p:nvSpPr>
        <p:spPr>
          <a:xfrm>
            <a:off x="891590" y="1653662"/>
            <a:ext cx="2909658" cy="32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</a:pPr>
            <a:r>
              <a:rPr lang="en-US" b="1" noProof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Mixed-methods Structure</a:t>
            </a:r>
            <a:endParaRPr lang="en-US" b="1" noProof="0" dirty="0">
              <a:solidFill>
                <a:schemeClr val="tx1">
                  <a:lumMod val="85000"/>
                  <a:lumOff val="15000"/>
                </a:schemeClr>
              </a:solidFill>
              <a:latin typeface="Corbel" panose="020B0503020204020204" pitchFamily="34" charset="0"/>
            </a:endParaRPr>
          </a:p>
        </p:txBody>
      </p:sp>
      <p:sp>
        <p:nvSpPr>
          <p:cNvPr id="30" name="Título 1">
            <a:extLst>
              <a:ext uri="{FF2B5EF4-FFF2-40B4-BE49-F238E27FC236}">
                <a16:creationId xmlns:a16="http://schemas.microsoft.com/office/drawing/2014/main" id="{7B9F4374-55E7-CABA-B607-E7FF51D14E97}"/>
              </a:ext>
            </a:extLst>
          </p:cNvPr>
          <p:cNvSpPr txBox="1">
            <a:spLocks/>
          </p:cNvSpPr>
          <p:nvPr/>
        </p:nvSpPr>
        <p:spPr>
          <a:xfrm>
            <a:off x="891590" y="501651"/>
            <a:ext cx="4212974" cy="933450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Verdana" panose="020B0604030504040204" pitchFamily="34" charset="0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tos SemiBold" panose="020F0502020204030204" pitchFamily="34" charset="0"/>
                <a:ea typeface="+mj-ea"/>
                <a:cs typeface="+mj-cs"/>
              </a:rPr>
              <a:t>Organization of the Literature Review</a:t>
            </a:r>
          </a:p>
        </p:txBody>
      </p:sp>
      <p:sp>
        <p:nvSpPr>
          <p:cNvPr id="31" name="Footer Placeholder 4">
            <a:extLst>
              <a:ext uri="{FF2B5EF4-FFF2-40B4-BE49-F238E27FC236}">
                <a16:creationId xmlns:a16="http://schemas.microsoft.com/office/drawing/2014/main" id="{9F4B5B5D-FD87-F2CB-BD1E-0149A2F6DCF3}"/>
              </a:ext>
            </a:extLst>
          </p:cNvPr>
          <p:cNvSpPr txBox="1">
            <a:spLocks/>
          </p:cNvSpPr>
          <p:nvPr/>
        </p:nvSpPr>
        <p:spPr>
          <a:xfrm>
            <a:off x="2707689" y="6355745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Data analysis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5E4D5BC-0743-31BD-69C2-E1F3B02DC175}"/>
              </a:ext>
            </a:extLst>
          </p:cNvPr>
          <p:cNvSpPr txBox="1"/>
          <p:nvPr/>
        </p:nvSpPr>
        <p:spPr>
          <a:xfrm>
            <a:off x="891589" y="2035484"/>
            <a:ext cx="105909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noProof="0" dirty="0">
                <a:solidFill>
                  <a:schemeClr val="bg1">
                    <a:lumMod val="75000"/>
                  </a:schemeClr>
                </a:solidFill>
              </a:rPr>
              <a:t>A qualitative or quantitative approach to the literature is used depending on the type of strategy employed.</a:t>
            </a:r>
            <a:endParaRPr lang="en-US" sz="1400" noProof="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4D51354-2858-70A3-9A0B-27B9DC91365C}"/>
              </a:ext>
            </a:extLst>
          </p:cNvPr>
          <p:cNvSpPr txBox="1"/>
          <p:nvPr/>
        </p:nvSpPr>
        <p:spPr>
          <a:xfrm>
            <a:off x="1034377" y="2991229"/>
            <a:ext cx="438981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highlight>
                  <a:srgbClr val="FFC000"/>
                </a:highlight>
              </a:rPr>
              <a:t>Quantitative start</a:t>
            </a:r>
            <a:r>
              <a:rPr lang="en-US" dirty="0"/>
              <a:t>: include a review that helps establish justification for the research questions or hypotheses.</a:t>
            </a:r>
            <a:endParaRPr lang="en-US" noProof="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89C8651-DB29-E04A-6EC8-2D4EFADA0D98}"/>
              </a:ext>
            </a:extLst>
          </p:cNvPr>
          <p:cNvSpPr txBox="1"/>
          <p:nvPr/>
        </p:nvSpPr>
        <p:spPr>
          <a:xfrm>
            <a:off x="6102985" y="2928156"/>
            <a:ext cx="5272808" cy="14157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highlight>
                  <a:srgbClr val="FFC000"/>
                </a:highlight>
              </a:rPr>
              <a:t>In a sequential approach</a:t>
            </a:r>
            <a:r>
              <a:rPr lang="en-US" b="1" dirty="0"/>
              <a:t>, the literature is presented in each phase according to the method used. </a:t>
            </a:r>
            <a:r>
              <a:rPr lang="en-US" sz="1600" dirty="0">
                <a:solidFill>
                  <a:schemeClr val="bg1">
                    <a:lumMod val="75000"/>
                  </a:schemeClr>
                </a:solidFill>
              </a:rPr>
              <a:t>The literature used must be consistent with the primary design type and with the most prevalent qualitative or quantitative approach in the design. </a:t>
            </a:r>
            <a:endParaRPr lang="en-US" sz="1600" noProof="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8" name="Left Brace 17">
            <a:extLst>
              <a:ext uri="{FF2B5EF4-FFF2-40B4-BE49-F238E27FC236}">
                <a16:creationId xmlns:a16="http://schemas.microsoft.com/office/drawing/2014/main" id="{D9DC6841-3A9C-6415-2936-E7D00B00A7E7}"/>
              </a:ext>
            </a:extLst>
          </p:cNvPr>
          <p:cNvSpPr/>
          <p:nvPr/>
        </p:nvSpPr>
        <p:spPr>
          <a:xfrm rot="10800000">
            <a:off x="5308452" y="2983778"/>
            <a:ext cx="508000" cy="2578881"/>
          </a:xfrm>
          <a:prstGeom prst="leftBrace">
            <a:avLst>
              <a:gd name="adj1" fmla="val 58333"/>
              <a:gd name="adj2" fmla="val 48817"/>
            </a:avLst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DE520FAF-BB57-015D-3C64-DD288A68BDFB}"/>
              </a:ext>
            </a:extLst>
          </p:cNvPr>
          <p:cNvGrpSpPr/>
          <p:nvPr/>
        </p:nvGrpSpPr>
        <p:grpSpPr>
          <a:xfrm>
            <a:off x="8571761" y="4718446"/>
            <a:ext cx="1248038" cy="1248038"/>
            <a:chOff x="10234551" y="2151076"/>
            <a:chExt cx="1248038" cy="1248038"/>
          </a:xfrm>
        </p:grpSpPr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F91986A3-EE2A-12B1-BCD3-24E13A686FA1}"/>
                </a:ext>
              </a:extLst>
            </p:cNvPr>
            <p:cNvSpPr/>
            <p:nvPr/>
          </p:nvSpPr>
          <p:spPr>
            <a:xfrm>
              <a:off x="10234551" y="2151076"/>
              <a:ext cx="1248038" cy="124803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>
                <a:solidFill>
                  <a:schemeClr val="bg1"/>
                </a:solidFill>
              </a:endParaRP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CA38A72A-F8D9-D9C5-C5AD-CE418FF4421C}"/>
                </a:ext>
              </a:extLst>
            </p:cNvPr>
            <p:cNvSpPr txBox="1"/>
            <p:nvPr/>
          </p:nvSpPr>
          <p:spPr>
            <a:xfrm>
              <a:off x="10437925" y="2345392"/>
              <a:ext cx="841290" cy="738327"/>
            </a:xfrm>
            <a:prstGeom prst="rect">
              <a:avLst/>
            </a:prstGeom>
            <a:noFill/>
          </p:spPr>
          <p:txBody>
            <a:bodyPr wrap="none" rtlCol="0">
              <a:prstTxWarp prst="textArchUp">
                <a:avLst>
                  <a:gd name="adj" fmla="val 10889563"/>
                </a:avLst>
              </a:prstTxWarp>
              <a:spAutoFit/>
            </a:bodyPr>
            <a:lstStyle/>
            <a:p>
              <a:pPr algn="ctr"/>
              <a:r>
                <a:rPr lang="en-US" noProof="0" dirty="0">
                  <a:solidFill>
                    <a:schemeClr val="bg1"/>
                  </a:solidFill>
                </a:rPr>
                <a:t>Deductive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BEA764A3-0DFA-2942-99A7-1D854F967D3B}"/>
                </a:ext>
              </a:extLst>
            </p:cNvPr>
            <p:cNvSpPr txBox="1"/>
            <p:nvPr/>
          </p:nvSpPr>
          <p:spPr>
            <a:xfrm>
              <a:off x="10437925" y="2775095"/>
              <a:ext cx="841290" cy="463550"/>
            </a:xfrm>
            <a:prstGeom prst="rect">
              <a:avLst/>
            </a:prstGeom>
            <a:noFill/>
          </p:spPr>
          <p:txBody>
            <a:bodyPr wrap="none" rtlCol="0">
              <a:prstTxWarp prst="textArchDown">
                <a:avLst>
                  <a:gd name="adj" fmla="val 660421"/>
                </a:avLst>
              </a:prstTxWarp>
              <a:spAutoFit/>
            </a:bodyPr>
            <a:lstStyle/>
            <a:p>
              <a:pPr algn="ctr"/>
              <a:r>
                <a:rPr lang="en-US" noProof="0" dirty="0">
                  <a:solidFill>
                    <a:schemeClr val="bg1"/>
                  </a:solidFill>
                </a:rPr>
                <a:t>Approach</a:t>
              </a:r>
            </a:p>
          </p:txBody>
        </p:sp>
        <p:pic>
          <p:nvPicPr>
            <p:cNvPr id="42" name="Graphic 41" descr="Arrow circle with solid fill">
              <a:extLst>
                <a:ext uri="{FF2B5EF4-FFF2-40B4-BE49-F238E27FC236}">
                  <a16:creationId xmlns:a16="http://schemas.microsoft.com/office/drawing/2014/main" id="{9E9B48AE-8AC9-C9D5-7676-1D71D4E2016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0437925" y="2368732"/>
              <a:ext cx="792450" cy="792450"/>
            </a:xfrm>
            <a:prstGeom prst="rect">
              <a:avLst/>
            </a:prstGeom>
          </p:spPr>
        </p:pic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57D07100-51DA-B844-BC26-3223A3F26EBC}"/>
              </a:ext>
            </a:extLst>
          </p:cNvPr>
          <p:cNvGrpSpPr/>
          <p:nvPr/>
        </p:nvGrpSpPr>
        <p:grpSpPr>
          <a:xfrm>
            <a:off x="7047208" y="4733189"/>
            <a:ext cx="1248038" cy="1248038"/>
            <a:chOff x="10048981" y="2395114"/>
            <a:chExt cx="1248038" cy="1248038"/>
          </a:xfrm>
        </p:grpSpPr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1063C4D2-2460-4BAF-8015-72910F093963}"/>
                </a:ext>
              </a:extLst>
            </p:cNvPr>
            <p:cNvGrpSpPr/>
            <p:nvPr/>
          </p:nvGrpSpPr>
          <p:grpSpPr>
            <a:xfrm>
              <a:off x="10048981" y="2395114"/>
              <a:ext cx="1248038" cy="1248038"/>
              <a:chOff x="10234551" y="2151076"/>
              <a:chExt cx="1248038" cy="1248038"/>
            </a:xfrm>
          </p:grpSpPr>
          <p:sp>
            <p:nvSpPr>
              <p:cNvPr id="52" name="Oval 51">
                <a:extLst>
                  <a:ext uri="{FF2B5EF4-FFF2-40B4-BE49-F238E27FC236}">
                    <a16:creationId xmlns:a16="http://schemas.microsoft.com/office/drawing/2014/main" id="{3FEEA664-8E98-F45F-B76C-10C5F18C9B34}"/>
                  </a:ext>
                </a:extLst>
              </p:cNvPr>
              <p:cNvSpPr/>
              <p:nvPr/>
            </p:nvSpPr>
            <p:spPr>
              <a:xfrm>
                <a:off x="10234551" y="2151076"/>
                <a:ext cx="1248038" cy="1248038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95F46F64-6312-63E9-CA80-70E12913FB65}"/>
                  </a:ext>
                </a:extLst>
              </p:cNvPr>
              <p:cNvSpPr txBox="1"/>
              <p:nvPr/>
            </p:nvSpPr>
            <p:spPr>
              <a:xfrm>
                <a:off x="10437925" y="2345392"/>
                <a:ext cx="841290" cy="738327"/>
              </a:xfrm>
              <a:prstGeom prst="rect">
                <a:avLst/>
              </a:prstGeom>
              <a:noFill/>
            </p:spPr>
            <p:txBody>
              <a:bodyPr wrap="none" rtlCol="0">
                <a:prstTxWarp prst="textArchUp">
                  <a:avLst>
                    <a:gd name="adj" fmla="val 10889563"/>
                  </a:avLst>
                </a:prstTxWarp>
                <a:spAutoFit/>
              </a:bodyPr>
              <a:lstStyle/>
              <a:p>
                <a:pPr algn="ctr"/>
                <a:r>
                  <a:rPr 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Inductive</a:t>
                </a:r>
                <a:endParaRPr lang="en-US" noProof="0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E375B989-E7E5-F884-FCDA-FA9B9E1ABA03}"/>
                  </a:ext>
                </a:extLst>
              </p:cNvPr>
              <p:cNvSpPr txBox="1"/>
              <p:nvPr/>
            </p:nvSpPr>
            <p:spPr>
              <a:xfrm>
                <a:off x="10415420" y="2746812"/>
                <a:ext cx="895349" cy="496595"/>
              </a:xfrm>
              <a:prstGeom prst="rect">
                <a:avLst/>
              </a:prstGeom>
              <a:noFill/>
            </p:spPr>
            <p:txBody>
              <a:bodyPr wrap="none" rtlCol="0">
                <a:prstTxWarp prst="textArchDown">
                  <a:avLst>
                    <a:gd name="adj" fmla="val 660421"/>
                  </a:avLst>
                </a:prstTxWarp>
                <a:spAutoFit/>
              </a:bodyPr>
              <a:lstStyle/>
              <a:p>
                <a:pPr algn="ctr"/>
                <a:r>
                  <a:rPr lang="en-US" noProof="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Approach</a:t>
                </a:r>
              </a:p>
            </p:txBody>
          </p:sp>
        </p:grpSp>
        <p:pic>
          <p:nvPicPr>
            <p:cNvPr id="51" name="Graphic 50" descr="Cause And Effect with solid fill">
              <a:extLst>
                <a:ext uri="{FF2B5EF4-FFF2-40B4-BE49-F238E27FC236}">
                  <a16:creationId xmlns:a16="http://schemas.microsoft.com/office/drawing/2014/main" id="{EF4D2476-149D-6A71-1178-00AE56CE03B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413164" y="2718468"/>
              <a:ext cx="571845" cy="571845"/>
            </a:xfrm>
            <a:prstGeom prst="rect">
              <a:avLst/>
            </a:prstGeom>
          </p:spPr>
        </p:pic>
      </p:grpSp>
      <p:sp>
        <p:nvSpPr>
          <p:cNvPr id="55" name="TextBox 54">
            <a:extLst>
              <a:ext uri="{FF2B5EF4-FFF2-40B4-BE49-F238E27FC236}">
                <a16:creationId xmlns:a16="http://schemas.microsoft.com/office/drawing/2014/main" id="{857C9E03-A572-3B4F-5B27-4D5F425739DD}"/>
              </a:ext>
            </a:extLst>
          </p:cNvPr>
          <p:cNvSpPr txBox="1"/>
          <p:nvPr/>
        </p:nvSpPr>
        <p:spPr>
          <a:xfrm>
            <a:off x="1034376" y="4281008"/>
            <a:ext cx="438981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highlight>
                  <a:srgbClr val="FFC000"/>
                </a:highlight>
              </a:rPr>
              <a:t>Qualitative start</a:t>
            </a:r>
            <a:r>
              <a:rPr lang="en-US" dirty="0"/>
              <a:t>: the literature is substantially reduced, incorporate it at the end of the study, adopting an inductive approach. 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747866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/>
      <p:bldP spid="18" grpId="0" animBg="1"/>
      <p:bldP spid="5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72000">
              <a:srgbClr val="F22D1C"/>
            </a:gs>
            <a:gs pos="0">
              <a:srgbClr val="DF102C"/>
            </a:gs>
            <a:gs pos="100000">
              <a:srgbClr val="F26665"/>
            </a:gs>
          </a:gsLst>
          <a:lin ang="30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FEA9559-A827-0672-C72F-F0BA960FE5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Rectangle 58">
            <a:extLst>
              <a:ext uri="{FF2B5EF4-FFF2-40B4-BE49-F238E27FC236}">
                <a16:creationId xmlns:a16="http://schemas.microsoft.com/office/drawing/2014/main" id="{3F6D8F4F-CD22-D754-3CEE-061BE30B5124}"/>
              </a:ext>
            </a:extLst>
          </p:cNvPr>
          <p:cNvSpPr/>
          <p:nvPr/>
        </p:nvSpPr>
        <p:spPr>
          <a:xfrm>
            <a:off x="2819398" y="5243500"/>
            <a:ext cx="6049011" cy="76091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DCDE975F-7409-6457-746D-93CC1F553D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9389" y="6356348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0EA680-D336-4FF7-8B7A-9848BB0A1C3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803BDCD-5B91-50A2-8894-299148A0CB26}"/>
              </a:ext>
            </a:extLst>
          </p:cNvPr>
          <p:cNvSpPr txBox="1">
            <a:spLocks/>
          </p:cNvSpPr>
          <p:nvPr/>
        </p:nvSpPr>
        <p:spPr>
          <a:xfrm>
            <a:off x="891589" y="501650"/>
            <a:ext cx="4480511" cy="1338391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Verdana" panose="020B0604030504040204" pitchFamily="34" charset="0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Aptos SemiBold" panose="020F0502020204030204" pitchFamily="34" charset="0"/>
              <a:ea typeface="+mj-ea"/>
              <a:cs typeface="+mj-cs"/>
            </a:endParaRPr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42444A22-BA43-0F16-9699-1F010AD67641}"/>
              </a:ext>
            </a:extLst>
          </p:cNvPr>
          <p:cNvSpPr txBox="1">
            <a:spLocks/>
          </p:cNvSpPr>
          <p:nvPr/>
        </p:nvSpPr>
        <p:spPr>
          <a:xfrm>
            <a:off x="11003616" y="136525"/>
            <a:ext cx="11175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6E845D0-70B0-405D-A6BF-798C9CBE9027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2/24/2026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549E6F20-E32A-EB74-B4A7-2D2634E307BB}"/>
              </a:ext>
            </a:extLst>
          </p:cNvPr>
          <p:cNvSpPr txBox="1">
            <a:spLocks/>
          </p:cNvSpPr>
          <p:nvPr/>
        </p:nvSpPr>
        <p:spPr>
          <a:xfrm>
            <a:off x="891590" y="501651"/>
            <a:ext cx="10590997" cy="516362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Verdana" panose="020B0604030504040204" pitchFamily="34" charset="0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Aptos SemiBold" panose="020F0502020204030204" pitchFamily="34" charset="0"/>
                <a:ea typeface="+mj-ea"/>
                <a:cs typeface="+mj-cs"/>
              </a:rPr>
              <a:t>(Suggested ) steps for a literature review</a:t>
            </a:r>
          </a:p>
        </p:txBody>
      </p:sp>
      <p:pic>
        <p:nvPicPr>
          <p:cNvPr id="81" name="Picture 4" descr="No hay ninguna descripción de la foto disponible.">
            <a:extLst>
              <a:ext uri="{FF2B5EF4-FFF2-40B4-BE49-F238E27FC236}">
                <a16:creationId xmlns:a16="http://schemas.microsoft.com/office/drawing/2014/main" id="{60B14792-CADA-D708-D272-FAFFE789B10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biLevel thresh="25000"/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11200"/>
                    </a14:imgEffect>
                    <a14:imgEffect>
                      <a14:brightnessContrast bright="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26703" b="28790"/>
          <a:stretch/>
        </p:blipFill>
        <p:spPr bwMode="auto">
          <a:xfrm>
            <a:off x="843835" y="6356349"/>
            <a:ext cx="267089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C954FF85-BE03-36E0-BBB0-9EEB2F22796C}"/>
              </a:ext>
            </a:extLst>
          </p:cNvPr>
          <p:cNvSpPr/>
          <p:nvPr/>
        </p:nvSpPr>
        <p:spPr>
          <a:xfrm>
            <a:off x="2819398" y="1279093"/>
            <a:ext cx="6049011" cy="107194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B8D2BEC-04EA-4354-35A1-9F5FEB0BB5D0}"/>
              </a:ext>
            </a:extLst>
          </p:cNvPr>
          <p:cNvSpPr txBox="1"/>
          <p:nvPr/>
        </p:nvSpPr>
        <p:spPr>
          <a:xfrm>
            <a:off x="1148676" y="1262808"/>
            <a:ext cx="167072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highlight>
                  <a:srgbClr val="FFC000"/>
                </a:highlight>
              </a:rPr>
              <a:t>Planning the review</a:t>
            </a:r>
            <a:endParaRPr lang="en-US" noProof="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A702ECC-78E8-F0DA-ACE9-60BF65DF09D9}"/>
              </a:ext>
            </a:extLst>
          </p:cNvPr>
          <p:cNvSpPr txBox="1"/>
          <p:nvPr/>
        </p:nvSpPr>
        <p:spPr>
          <a:xfrm>
            <a:off x="3440009" y="1470161"/>
            <a:ext cx="29976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Formulate the problem</a:t>
            </a:r>
            <a:endParaRPr lang="en-US" sz="1100" noProof="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E71AB8E-1372-4038-7056-53BEA03F9B89}"/>
              </a:ext>
            </a:extLst>
          </p:cNvPr>
          <p:cNvSpPr txBox="1"/>
          <p:nvPr/>
        </p:nvSpPr>
        <p:spPr>
          <a:xfrm>
            <a:off x="3072308" y="1408606"/>
            <a:ext cx="52538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noProof="0" dirty="0">
                <a:latin typeface="Aptos Black" panose="020B0004020202020204" pitchFamily="34" charset="0"/>
              </a:rPr>
              <a:t>1.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92BA5A6B-A190-8A4F-3D7A-46E9C54308C7}"/>
              </a:ext>
            </a:extLst>
          </p:cNvPr>
          <p:cNvGrpSpPr/>
          <p:nvPr/>
        </p:nvGrpSpPr>
        <p:grpSpPr>
          <a:xfrm>
            <a:off x="3072308" y="1766083"/>
            <a:ext cx="3365321" cy="400110"/>
            <a:chOff x="3675558" y="2024890"/>
            <a:chExt cx="3365321" cy="400110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A50A8DA3-981F-F440-3374-9E22340D3AF7}"/>
                </a:ext>
              </a:extLst>
            </p:cNvPr>
            <p:cNvSpPr txBox="1"/>
            <p:nvPr/>
          </p:nvSpPr>
          <p:spPr>
            <a:xfrm>
              <a:off x="4043258" y="2086445"/>
              <a:ext cx="2997621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200" dirty="0"/>
                <a:t>Develop and validate the review protocol</a:t>
              </a:r>
              <a:endParaRPr lang="en-US" sz="1100" noProof="0" dirty="0">
                <a:solidFill>
                  <a:schemeClr val="bg1">
                    <a:lumMod val="75000"/>
                  </a:schemeClr>
                </a:solidFill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279A8D18-4224-17BB-81C7-21F7E08058DC}"/>
                </a:ext>
              </a:extLst>
            </p:cNvPr>
            <p:cNvSpPr txBox="1"/>
            <p:nvPr/>
          </p:nvSpPr>
          <p:spPr>
            <a:xfrm>
              <a:off x="3675558" y="2024890"/>
              <a:ext cx="525381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000" b="1" dirty="0">
                  <a:latin typeface="Aptos Black" panose="020B0004020202020204" pitchFamily="34" charset="0"/>
                </a:rPr>
                <a:t>2</a:t>
              </a:r>
              <a:r>
                <a:rPr lang="en-US" sz="2000" b="1" noProof="0" dirty="0">
                  <a:latin typeface="Aptos Black" panose="020B0004020202020204" pitchFamily="34" charset="0"/>
                </a:rPr>
                <a:t>.</a:t>
              </a:r>
            </a:p>
          </p:txBody>
        </p:sp>
      </p:grpSp>
      <p:sp>
        <p:nvSpPr>
          <p:cNvPr id="25" name="Rectangle 24">
            <a:extLst>
              <a:ext uri="{FF2B5EF4-FFF2-40B4-BE49-F238E27FC236}">
                <a16:creationId xmlns:a16="http://schemas.microsoft.com/office/drawing/2014/main" id="{19462574-23E6-6871-84A2-E6BD4192BC45}"/>
              </a:ext>
            </a:extLst>
          </p:cNvPr>
          <p:cNvSpPr/>
          <p:nvPr/>
        </p:nvSpPr>
        <p:spPr>
          <a:xfrm>
            <a:off x="2819398" y="2412597"/>
            <a:ext cx="6049011" cy="275692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4031FE2-F397-6258-EAC0-04AAFCBE8583}"/>
              </a:ext>
            </a:extLst>
          </p:cNvPr>
          <p:cNvSpPr txBox="1"/>
          <p:nvPr/>
        </p:nvSpPr>
        <p:spPr>
          <a:xfrm>
            <a:off x="1148674" y="2386758"/>
            <a:ext cx="167072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highlight>
                  <a:srgbClr val="FFC000"/>
                </a:highlight>
              </a:rPr>
              <a:t>Conducting the review</a:t>
            </a:r>
            <a:endParaRPr lang="en-US" noProof="0" dirty="0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8083CC34-F099-A238-89AA-2FF61E514134}"/>
              </a:ext>
            </a:extLst>
          </p:cNvPr>
          <p:cNvGrpSpPr/>
          <p:nvPr/>
        </p:nvGrpSpPr>
        <p:grpSpPr>
          <a:xfrm>
            <a:off x="3072308" y="2535891"/>
            <a:ext cx="5363667" cy="400110"/>
            <a:chOff x="3675558" y="2024890"/>
            <a:chExt cx="3365321" cy="400110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FA39F864-CACE-92B9-4E54-A25767AA017F}"/>
                </a:ext>
              </a:extLst>
            </p:cNvPr>
            <p:cNvSpPr txBox="1"/>
            <p:nvPr/>
          </p:nvSpPr>
          <p:spPr>
            <a:xfrm>
              <a:off x="4043258" y="2086445"/>
              <a:ext cx="2997621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200" dirty="0"/>
                <a:t>Search the literature</a:t>
              </a:r>
              <a:endParaRPr lang="en-US" sz="1100" noProof="0" dirty="0">
                <a:solidFill>
                  <a:schemeClr val="bg1">
                    <a:lumMod val="75000"/>
                  </a:schemeClr>
                </a:solidFill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390503F8-CCB6-A50B-CEA2-65A98F374278}"/>
                </a:ext>
              </a:extLst>
            </p:cNvPr>
            <p:cNvSpPr txBox="1"/>
            <p:nvPr/>
          </p:nvSpPr>
          <p:spPr>
            <a:xfrm>
              <a:off x="3675558" y="2024890"/>
              <a:ext cx="525381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000" b="1" noProof="0" dirty="0">
                  <a:latin typeface="Aptos Black" panose="020B0004020202020204" pitchFamily="34" charset="0"/>
                </a:rPr>
                <a:t>3.</a:t>
              </a: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3D4B9399-193D-B069-298C-BB7932A00D3F}"/>
              </a:ext>
            </a:extLst>
          </p:cNvPr>
          <p:cNvGrpSpPr/>
          <p:nvPr/>
        </p:nvGrpSpPr>
        <p:grpSpPr>
          <a:xfrm>
            <a:off x="3072308" y="3071355"/>
            <a:ext cx="5363667" cy="400110"/>
            <a:chOff x="3675558" y="2024890"/>
            <a:chExt cx="3365321" cy="400110"/>
          </a:xfrm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03B815B0-4F6A-1ECE-755B-CFA60FA71CDA}"/>
                </a:ext>
              </a:extLst>
            </p:cNvPr>
            <p:cNvSpPr txBox="1"/>
            <p:nvPr/>
          </p:nvSpPr>
          <p:spPr>
            <a:xfrm>
              <a:off x="4043258" y="2086445"/>
              <a:ext cx="2997621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200" dirty="0"/>
                <a:t>Screen for inclusion</a:t>
              </a:r>
              <a:endParaRPr lang="en-US" sz="1100" noProof="0" dirty="0">
                <a:solidFill>
                  <a:schemeClr val="bg1">
                    <a:lumMod val="75000"/>
                  </a:schemeClr>
                </a:solidFill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48C02BCF-6E48-E69B-01C7-639F196DE7CC}"/>
                </a:ext>
              </a:extLst>
            </p:cNvPr>
            <p:cNvSpPr txBox="1"/>
            <p:nvPr/>
          </p:nvSpPr>
          <p:spPr>
            <a:xfrm>
              <a:off x="3675558" y="2024890"/>
              <a:ext cx="525381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000" b="1" dirty="0">
                  <a:latin typeface="Aptos Black" panose="020B0004020202020204" pitchFamily="34" charset="0"/>
                </a:rPr>
                <a:t>4</a:t>
              </a:r>
              <a:r>
                <a:rPr lang="en-US" sz="2000" b="1" noProof="0" dirty="0">
                  <a:latin typeface="Aptos Black" panose="020B0004020202020204" pitchFamily="34" charset="0"/>
                </a:rPr>
                <a:t>.</a:t>
              </a: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F872A87F-A32A-33EC-A9A9-E4A255157DD2}"/>
              </a:ext>
            </a:extLst>
          </p:cNvPr>
          <p:cNvGrpSpPr/>
          <p:nvPr/>
        </p:nvGrpSpPr>
        <p:grpSpPr>
          <a:xfrm>
            <a:off x="3072308" y="3550537"/>
            <a:ext cx="5363667" cy="400110"/>
            <a:chOff x="3675558" y="2024890"/>
            <a:chExt cx="3365321" cy="400110"/>
          </a:xfrm>
        </p:grpSpPr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1757BC56-20D1-F619-3014-3B9C9BD7F62E}"/>
                </a:ext>
              </a:extLst>
            </p:cNvPr>
            <p:cNvSpPr txBox="1"/>
            <p:nvPr/>
          </p:nvSpPr>
          <p:spPr>
            <a:xfrm>
              <a:off x="4043258" y="2086445"/>
              <a:ext cx="2997621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200" dirty="0"/>
                <a:t>Assess quality</a:t>
              </a:r>
              <a:endParaRPr lang="en-US" sz="1100" noProof="0" dirty="0">
                <a:solidFill>
                  <a:schemeClr val="bg1">
                    <a:lumMod val="75000"/>
                  </a:schemeClr>
                </a:solidFill>
              </a:endParaRP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D9E11496-D1FC-2A02-5B1E-45CDE5122822}"/>
                </a:ext>
              </a:extLst>
            </p:cNvPr>
            <p:cNvSpPr txBox="1"/>
            <p:nvPr/>
          </p:nvSpPr>
          <p:spPr>
            <a:xfrm>
              <a:off x="3675558" y="2024890"/>
              <a:ext cx="525381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000" b="1" noProof="0" dirty="0">
                  <a:latin typeface="Aptos Black" panose="020B0004020202020204" pitchFamily="34" charset="0"/>
                </a:rPr>
                <a:t>5.</a:t>
              </a: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3B972346-CED5-53E2-9840-12354C246475}"/>
              </a:ext>
            </a:extLst>
          </p:cNvPr>
          <p:cNvGrpSpPr/>
          <p:nvPr/>
        </p:nvGrpSpPr>
        <p:grpSpPr>
          <a:xfrm>
            <a:off x="3072308" y="4105595"/>
            <a:ext cx="5363667" cy="400110"/>
            <a:chOff x="3675558" y="2024890"/>
            <a:chExt cx="3365321" cy="400110"/>
          </a:xfrm>
        </p:grpSpPr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DA9213AC-C622-2B2F-A1D2-B945BF41E49E}"/>
                </a:ext>
              </a:extLst>
            </p:cNvPr>
            <p:cNvSpPr txBox="1"/>
            <p:nvPr/>
          </p:nvSpPr>
          <p:spPr>
            <a:xfrm>
              <a:off x="4043258" y="2086445"/>
              <a:ext cx="2997621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200" dirty="0"/>
                <a:t>Extract data</a:t>
              </a:r>
              <a:endParaRPr lang="en-US" sz="1100" noProof="0" dirty="0">
                <a:solidFill>
                  <a:schemeClr val="bg1">
                    <a:lumMod val="75000"/>
                  </a:schemeClr>
                </a:solidFill>
              </a:endParaRP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99C5BBE2-2325-CC14-4DD1-87B85A453E02}"/>
                </a:ext>
              </a:extLst>
            </p:cNvPr>
            <p:cNvSpPr txBox="1"/>
            <p:nvPr/>
          </p:nvSpPr>
          <p:spPr>
            <a:xfrm>
              <a:off x="3675558" y="2024890"/>
              <a:ext cx="525381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000" b="1" dirty="0">
                  <a:latin typeface="Aptos Black" panose="020B0004020202020204" pitchFamily="34" charset="0"/>
                </a:rPr>
                <a:t>6</a:t>
              </a:r>
              <a:r>
                <a:rPr lang="en-US" sz="2000" b="1" noProof="0" dirty="0">
                  <a:latin typeface="Aptos Black" panose="020B0004020202020204" pitchFamily="34" charset="0"/>
                </a:rPr>
                <a:t>.</a:t>
              </a:r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A7326B91-9954-7D41-C612-DC9D6C333BAB}"/>
              </a:ext>
            </a:extLst>
          </p:cNvPr>
          <p:cNvGrpSpPr/>
          <p:nvPr/>
        </p:nvGrpSpPr>
        <p:grpSpPr>
          <a:xfrm>
            <a:off x="3072308" y="4623810"/>
            <a:ext cx="5363667" cy="400110"/>
            <a:chOff x="3675558" y="2024890"/>
            <a:chExt cx="3365321" cy="400110"/>
          </a:xfrm>
        </p:grpSpPr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42A64CC2-E9F4-9504-02FF-C93AA200BD0C}"/>
                </a:ext>
              </a:extLst>
            </p:cNvPr>
            <p:cNvSpPr txBox="1"/>
            <p:nvPr/>
          </p:nvSpPr>
          <p:spPr>
            <a:xfrm>
              <a:off x="4043258" y="2086445"/>
              <a:ext cx="2997621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r>
                <a:rPr lang="en-US" sz="1200" dirty="0"/>
                <a:t>Synthesize data</a:t>
              </a:r>
              <a:endParaRPr lang="en-US" sz="1100" noProof="0" dirty="0">
                <a:solidFill>
                  <a:schemeClr val="bg1">
                    <a:lumMod val="75000"/>
                  </a:schemeClr>
                </a:solidFill>
              </a:endParaRP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A9E986FC-528F-A654-6A0A-A5306A85D9E6}"/>
                </a:ext>
              </a:extLst>
            </p:cNvPr>
            <p:cNvSpPr txBox="1"/>
            <p:nvPr/>
          </p:nvSpPr>
          <p:spPr>
            <a:xfrm>
              <a:off x="3675558" y="2024890"/>
              <a:ext cx="525381" cy="4001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r>
                <a:rPr lang="en-US" sz="2000" b="1" noProof="0" dirty="0">
                  <a:latin typeface="Aptos Black" panose="020B0004020202020204" pitchFamily="34" charset="0"/>
                </a:rPr>
                <a:t>7.</a:t>
              </a:r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03EDB164-CB1E-19A2-09A0-BD4913806D9C}"/>
              </a:ext>
            </a:extLst>
          </p:cNvPr>
          <p:cNvSpPr txBox="1"/>
          <p:nvPr/>
        </p:nvSpPr>
        <p:spPr>
          <a:xfrm>
            <a:off x="1148674" y="5211155"/>
            <a:ext cx="167072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highlight>
                  <a:srgbClr val="FFC000"/>
                </a:highlight>
              </a:rPr>
              <a:t>Report findings</a:t>
            </a:r>
            <a:endParaRPr lang="en-US" noProof="0" dirty="0"/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E3E386E7-8C8B-8BD1-DA54-8200173447F3}"/>
              </a:ext>
            </a:extLst>
          </p:cNvPr>
          <p:cNvGrpSpPr/>
          <p:nvPr/>
        </p:nvGrpSpPr>
        <p:grpSpPr>
          <a:xfrm>
            <a:off x="3022486" y="5386020"/>
            <a:ext cx="5363667" cy="400110"/>
            <a:chOff x="3675558" y="2024890"/>
            <a:chExt cx="3365321" cy="400110"/>
          </a:xfrm>
        </p:grpSpPr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7BA7A4FB-EE83-2DFD-96A8-97C0D3FA44F0}"/>
                </a:ext>
              </a:extLst>
            </p:cNvPr>
            <p:cNvSpPr txBox="1"/>
            <p:nvPr/>
          </p:nvSpPr>
          <p:spPr>
            <a:xfrm>
              <a:off x="4043258" y="2086445"/>
              <a:ext cx="2997621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200" dirty="0"/>
                <a:t>Report findings</a:t>
              </a:r>
              <a:endParaRPr lang="en-US" sz="1100" noProof="0" dirty="0">
                <a:solidFill>
                  <a:schemeClr val="bg1">
                    <a:lumMod val="75000"/>
                  </a:schemeClr>
                </a:solidFill>
              </a:endParaRP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32A8B7AE-B446-D815-2AAA-91F344A28CA5}"/>
                </a:ext>
              </a:extLst>
            </p:cNvPr>
            <p:cNvSpPr txBox="1"/>
            <p:nvPr/>
          </p:nvSpPr>
          <p:spPr>
            <a:xfrm>
              <a:off x="3675558" y="2024890"/>
              <a:ext cx="525381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000" b="1" dirty="0">
                  <a:latin typeface="Aptos Black" panose="020B0004020202020204" pitchFamily="34" charset="0"/>
                </a:rPr>
                <a:t>8</a:t>
              </a:r>
              <a:r>
                <a:rPr lang="en-US" sz="2000" b="1" noProof="0" dirty="0">
                  <a:latin typeface="Aptos Black" panose="020B0004020202020204" pitchFamily="34" charset="0"/>
                </a:rPr>
                <a:t>.</a:t>
              </a:r>
            </a:p>
          </p:txBody>
        </p:sp>
      </p:grpSp>
      <p:sp>
        <p:nvSpPr>
          <p:cNvPr id="51" name="TextBox 50">
            <a:extLst>
              <a:ext uri="{FF2B5EF4-FFF2-40B4-BE49-F238E27FC236}">
                <a16:creationId xmlns:a16="http://schemas.microsoft.com/office/drawing/2014/main" id="{AB42C56E-B23C-A7D7-9B78-45653228F677}"/>
              </a:ext>
            </a:extLst>
          </p:cNvPr>
          <p:cNvSpPr txBox="1"/>
          <p:nvPr/>
        </p:nvSpPr>
        <p:spPr>
          <a:xfrm>
            <a:off x="6087109" y="2609507"/>
            <a:ext cx="2430781" cy="28344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1200" b="1" dirty="0"/>
              <a:t>Review titles</a:t>
            </a:r>
            <a:endParaRPr lang="en-US" sz="1100" b="1" noProof="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515A358-DFEC-6CB5-C74C-06E6D3AAF89D}"/>
              </a:ext>
            </a:extLst>
          </p:cNvPr>
          <p:cNvSpPr txBox="1"/>
          <p:nvPr/>
        </p:nvSpPr>
        <p:spPr>
          <a:xfrm>
            <a:off x="6515101" y="3120965"/>
            <a:ext cx="1574800" cy="28344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1200" b="1" dirty="0"/>
              <a:t>Review abstracts</a:t>
            </a:r>
            <a:endParaRPr lang="en-US" sz="1100" b="1" noProof="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F1D5E91-3083-5BC3-4111-EA78BC87B485}"/>
              </a:ext>
            </a:extLst>
          </p:cNvPr>
          <p:cNvSpPr txBox="1"/>
          <p:nvPr/>
        </p:nvSpPr>
        <p:spPr>
          <a:xfrm>
            <a:off x="6832600" y="3521889"/>
            <a:ext cx="939800" cy="46166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1200" b="1" dirty="0"/>
              <a:t>Review full text</a:t>
            </a:r>
            <a:endParaRPr lang="en-US" sz="1100" b="1" noProof="0" dirty="0">
              <a:solidFill>
                <a:schemeClr val="bg1">
                  <a:lumMod val="75000"/>
                </a:schemeClr>
              </a:solidFill>
            </a:endParaRPr>
          </a:p>
        </p:txBody>
      </p: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615E3529-1657-9BDB-0E40-E0B823DFE451}"/>
              </a:ext>
            </a:extLst>
          </p:cNvPr>
          <p:cNvCxnSpPr/>
          <p:nvPr/>
        </p:nvCxnSpPr>
        <p:spPr>
          <a:xfrm>
            <a:off x="3115425" y="1773216"/>
            <a:ext cx="548640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10CEB16C-AB93-E8EB-67EC-52A61CBF2AC4}"/>
              </a:ext>
            </a:extLst>
          </p:cNvPr>
          <p:cNvCxnSpPr>
            <a:cxnSpLocks/>
          </p:cNvCxnSpPr>
          <p:nvPr/>
        </p:nvCxnSpPr>
        <p:spPr>
          <a:xfrm>
            <a:off x="3128125" y="3005116"/>
            <a:ext cx="515239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9366625C-35F5-BE25-9797-C9DB62122655}"/>
              </a:ext>
            </a:extLst>
          </p:cNvPr>
          <p:cNvCxnSpPr/>
          <p:nvPr/>
        </p:nvCxnSpPr>
        <p:spPr>
          <a:xfrm>
            <a:off x="3128125" y="3532166"/>
            <a:ext cx="484632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28AA5267-DF26-20A9-708D-769E0E151755}"/>
              </a:ext>
            </a:extLst>
          </p:cNvPr>
          <p:cNvCxnSpPr/>
          <p:nvPr/>
        </p:nvCxnSpPr>
        <p:spPr>
          <a:xfrm>
            <a:off x="3109075" y="3950647"/>
            <a:ext cx="466344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753A46CD-E5AC-F50E-1056-55AD1DF3CD04}"/>
              </a:ext>
            </a:extLst>
          </p:cNvPr>
          <p:cNvCxnSpPr>
            <a:cxnSpLocks/>
          </p:cNvCxnSpPr>
          <p:nvPr/>
        </p:nvCxnSpPr>
        <p:spPr>
          <a:xfrm>
            <a:off x="3128125" y="4553897"/>
            <a:ext cx="4644275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: Elbow 70">
            <a:extLst>
              <a:ext uri="{FF2B5EF4-FFF2-40B4-BE49-F238E27FC236}">
                <a16:creationId xmlns:a16="http://schemas.microsoft.com/office/drawing/2014/main" id="{28906D65-9572-73AE-94F8-B340EC99FECD}"/>
              </a:ext>
            </a:extLst>
          </p:cNvPr>
          <p:cNvCxnSpPr>
            <a:stCxn id="7" idx="3"/>
            <a:endCxn id="25" idx="3"/>
          </p:cNvCxnSpPr>
          <p:nvPr/>
        </p:nvCxnSpPr>
        <p:spPr>
          <a:xfrm>
            <a:off x="8868409" y="1815068"/>
            <a:ext cx="12700" cy="1975990"/>
          </a:xfrm>
          <a:prstGeom prst="bentConnector3">
            <a:avLst>
              <a:gd name="adj1" fmla="val 1800000"/>
            </a:avLst>
          </a:prstGeom>
          <a:ln w="28575">
            <a:solidFill>
              <a:schemeClr val="accent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: Elbow 71">
            <a:extLst>
              <a:ext uri="{FF2B5EF4-FFF2-40B4-BE49-F238E27FC236}">
                <a16:creationId xmlns:a16="http://schemas.microsoft.com/office/drawing/2014/main" id="{ADBB5570-4A4B-03BB-F2FE-100BF0F2320F}"/>
              </a:ext>
            </a:extLst>
          </p:cNvPr>
          <p:cNvCxnSpPr>
            <a:cxnSpLocks/>
            <a:endCxn id="59" idx="3"/>
          </p:cNvCxnSpPr>
          <p:nvPr/>
        </p:nvCxnSpPr>
        <p:spPr>
          <a:xfrm rot="16200000" flipH="1">
            <a:off x="8245485" y="5001031"/>
            <a:ext cx="1179807" cy="66041"/>
          </a:xfrm>
          <a:prstGeom prst="bentConnector4">
            <a:avLst>
              <a:gd name="adj1" fmla="val 33876"/>
              <a:gd name="adj2" fmla="val 446149"/>
            </a:avLst>
          </a:prstGeom>
          <a:ln w="28575">
            <a:solidFill>
              <a:schemeClr val="accent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: Elbow 75">
            <a:extLst>
              <a:ext uri="{FF2B5EF4-FFF2-40B4-BE49-F238E27FC236}">
                <a16:creationId xmlns:a16="http://schemas.microsoft.com/office/drawing/2014/main" id="{4062C2CD-D3C4-F2EE-64B7-451D3BCC4980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7684258" y="2750770"/>
            <a:ext cx="2352082" cy="16220"/>
          </a:xfrm>
          <a:prstGeom prst="bentConnector4">
            <a:avLst>
              <a:gd name="adj1" fmla="val -2739"/>
              <a:gd name="adj2" fmla="val 3835949"/>
            </a:avLst>
          </a:prstGeom>
          <a:ln w="28575">
            <a:solidFill>
              <a:schemeClr val="accent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Freeform: Shape 82">
            <a:extLst>
              <a:ext uri="{FF2B5EF4-FFF2-40B4-BE49-F238E27FC236}">
                <a16:creationId xmlns:a16="http://schemas.microsoft.com/office/drawing/2014/main" id="{93B7B673-38EF-C709-091B-9F0275804207}"/>
              </a:ext>
            </a:extLst>
          </p:cNvPr>
          <p:cNvSpPr/>
          <p:nvPr/>
        </p:nvSpPr>
        <p:spPr>
          <a:xfrm rot="10800000">
            <a:off x="6087107" y="2597446"/>
            <a:ext cx="2430780" cy="2572072"/>
          </a:xfrm>
          <a:custGeom>
            <a:avLst/>
            <a:gdLst>
              <a:gd name="csX0" fmla="*/ 2430780 w 2430780"/>
              <a:gd name="csY0" fmla="*/ 2572072 h 2572072"/>
              <a:gd name="csX1" fmla="*/ 0 w 2430780"/>
              <a:gd name="csY1" fmla="*/ 2572072 h 2572072"/>
              <a:gd name="csX2" fmla="*/ 753400 w 2430780"/>
              <a:gd name="csY2" fmla="*/ 1209116 h 2572072"/>
              <a:gd name="csX3" fmla="*/ 753400 w 2430780"/>
              <a:gd name="csY3" fmla="*/ 0 h 2572072"/>
              <a:gd name="csX4" fmla="*/ 1686346 w 2430780"/>
              <a:gd name="csY4" fmla="*/ 0 h 2572072"/>
              <a:gd name="csX5" fmla="*/ 1686346 w 2430780"/>
              <a:gd name="csY5" fmla="*/ 1222930 h 2572072"/>
              <a:gd name="csX6" fmla="*/ 1685017 w 2430780"/>
              <a:gd name="csY6" fmla="*/ 1222930 h 257207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2430780" h="2572072">
                <a:moveTo>
                  <a:pt x="2430780" y="2572072"/>
                </a:moveTo>
                <a:lnTo>
                  <a:pt x="0" y="2572072"/>
                </a:lnTo>
                <a:lnTo>
                  <a:pt x="753400" y="1209116"/>
                </a:lnTo>
                <a:lnTo>
                  <a:pt x="753400" y="0"/>
                </a:lnTo>
                <a:lnTo>
                  <a:pt x="1686346" y="0"/>
                </a:lnTo>
                <a:lnTo>
                  <a:pt x="1686346" y="1222930"/>
                </a:lnTo>
                <a:lnTo>
                  <a:pt x="1685017" y="1222930"/>
                </a:lnTo>
                <a:close/>
              </a:path>
            </a:pathLst>
          </a:cu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38617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7" grpId="0"/>
      <p:bldP spid="26" grpId="0"/>
      <p:bldP spid="4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72000">
              <a:srgbClr val="F22D1C"/>
            </a:gs>
            <a:gs pos="0">
              <a:srgbClr val="DF102C"/>
            </a:gs>
            <a:gs pos="100000">
              <a:srgbClr val="F26665"/>
            </a:gs>
          </a:gsLst>
          <a:lin ang="30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F6D7C7-5EAA-D18F-C27B-F4B380F156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BDA1DF49-0207-C811-7986-D3206B3C7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9389" y="6356348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0EA680-D336-4FF7-8B7A-9848BB0A1C3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8AAE692-0EAE-9E91-1155-00FB8D0CF3DC}"/>
              </a:ext>
            </a:extLst>
          </p:cNvPr>
          <p:cNvSpPr txBox="1">
            <a:spLocks/>
          </p:cNvSpPr>
          <p:nvPr/>
        </p:nvSpPr>
        <p:spPr>
          <a:xfrm>
            <a:off x="891589" y="501650"/>
            <a:ext cx="4480511" cy="1338391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Verdana" panose="020B0604030504040204" pitchFamily="34" charset="0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Aptos SemiBold" panose="020F0502020204030204" pitchFamily="34" charset="0"/>
              <a:ea typeface="+mj-ea"/>
              <a:cs typeface="+mj-cs"/>
            </a:endParaRPr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96756FED-FC2F-845D-D87E-570781230A10}"/>
              </a:ext>
            </a:extLst>
          </p:cNvPr>
          <p:cNvSpPr txBox="1">
            <a:spLocks/>
          </p:cNvSpPr>
          <p:nvPr/>
        </p:nvSpPr>
        <p:spPr>
          <a:xfrm>
            <a:off x="11003616" y="136525"/>
            <a:ext cx="11175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6E845D0-70B0-405D-A6BF-798C9CBE9027}" type="datetime1">
              <a:rPr lang="en-US" noProof="0" smtClean="0">
                <a:solidFill>
                  <a:schemeClr val="bg1"/>
                </a:solidFill>
              </a:rPr>
              <a:pPr/>
              <a:t>2/24/2026</a:t>
            </a:fld>
            <a:endParaRPr lang="en-US" noProof="0" dirty="0">
              <a:solidFill>
                <a:schemeClr val="bg1"/>
              </a:solidFill>
            </a:endParaRPr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ABBA34F3-4220-A6DC-4EE1-B7C39AFED929}"/>
              </a:ext>
            </a:extLst>
          </p:cNvPr>
          <p:cNvSpPr txBox="1">
            <a:spLocks/>
          </p:cNvSpPr>
          <p:nvPr/>
        </p:nvSpPr>
        <p:spPr>
          <a:xfrm>
            <a:off x="891590" y="501651"/>
            <a:ext cx="10590997" cy="516362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Verdana" panose="020B0604030504040204" pitchFamily="34" charset="0"/>
                <a:ea typeface="+mj-ea"/>
                <a:cs typeface="+mj-cs"/>
              </a:defRPr>
            </a:lvl1pPr>
          </a:lstStyle>
          <a:p>
            <a:pPr lvl="0">
              <a:lnSpc>
                <a:spcPct val="80000"/>
              </a:lnSpc>
              <a:defRPr/>
            </a:pPr>
            <a:r>
              <a:rPr lang="en-US" sz="3200" b="1" noProof="0" dirty="0">
                <a:solidFill>
                  <a:prstClr val="white">
                    <a:lumMod val="95000"/>
                  </a:prstClr>
                </a:solidFill>
                <a:latin typeface="Aptos SemiBold" panose="020F0502020204030204" pitchFamily="34" charset="0"/>
              </a:rPr>
              <a:t>(Suggested ) steps for a literature review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4B8CBA92-B2E0-F84D-EEF8-050B807FCEFB}"/>
              </a:ext>
            </a:extLst>
          </p:cNvPr>
          <p:cNvCxnSpPr>
            <a:cxnSpLocks/>
          </p:cNvCxnSpPr>
          <p:nvPr/>
        </p:nvCxnSpPr>
        <p:spPr>
          <a:xfrm flipH="1">
            <a:off x="1337682" y="1493813"/>
            <a:ext cx="2058563" cy="0"/>
          </a:xfrm>
          <a:prstGeom prst="line">
            <a:avLst/>
          </a:prstGeom>
          <a:ln w="9525">
            <a:solidFill>
              <a:srgbClr val="F26665"/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7C6C2B0D-5516-6255-2A3F-1D5035471A0B}"/>
              </a:ext>
            </a:extLst>
          </p:cNvPr>
          <p:cNvCxnSpPr>
            <a:cxnSpLocks/>
            <a:stCxn id="123" idx="0"/>
            <a:endCxn id="126" idx="2"/>
          </p:cNvCxnSpPr>
          <p:nvPr/>
        </p:nvCxnSpPr>
        <p:spPr>
          <a:xfrm flipV="1">
            <a:off x="5520434" y="3244562"/>
            <a:ext cx="5049" cy="855296"/>
          </a:xfrm>
          <a:prstGeom prst="line">
            <a:avLst/>
          </a:prstGeom>
          <a:ln w="635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8F364DDE-7342-5AEE-9AEE-8A34C37EF6A4}"/>
              </a:ext>
            </a:extLst>
          </p:cNvPr>
          <p:cNvCxnSpPr>
            <a:cxnSpLocks/>
            <a:stCxn id="118" idx="2"/>
            <a:endCxn id="112" idx="6"/>
          </p:cNvCxnSpPr>
          <p:nvPr/>
        </p:nvCxnSpPr>
        <p:spPr>
          <a:xfrm flipH="1">
            <a:off x="3807095" y="2566588"/>
            <a:ext cx="1597014" cy="0"/>
          </a:xfrm>
          <a:prstGeom prst="line">
            <a:avLst/>
          </a:prstGeom>
          <a:ln w="9525">
            <a:solidFill>
              <a:srgbClr val="FDE5D0"/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1" name="Picture 4" descr="No hay ninguna descripción de la foto disponible.">
            <a:extLst>
              <a:ext uri="{FF2B5EF4-FFF2-40B4-BE49-F238E27FC236}">
                <a16:creationId xmlns:a16="http://schemas.microsoft.com/office/drawing/2014/main" id="{56EBC825-3FCD-820F-7B0B-337D970557F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biLevel thresh="25000"/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11200"/>
                    </a14:imgEffect>
                    <a14:imgEffect>
                      <a14:brightnessContrast bright="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26703" b="28790"/>
          <a:stretch/>
        </p:blipFill>
        <p:spPr bwMode="auto">
          <a:xfrm>
            <a:off x="843835" y="6356349"/>
            <a:ext cx="267089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8" name="Oval 117">
            <a:extLst>
              <a:ext uri="{FF2B5EF4-FFF2-40B4-BE49-F238E27FC236}">
                <a16:creationId xmlns:a16="http://schemas.microsoft.com/office/drawing/2014/main" id="{B280CBB6-119E-8E59-805C-3892D88466FF}"/>
              </a:ext>
            </a:extLst>
          </p:cNvPr>
          <p:cNvSpPr/>
          <p:nvPr/>
        </p:nvSpPr>
        <p:spPr>
          <a:xfrm>
            <a:off x="5404109" y="2444097"/>
            <a:ext cx="244982" cy="244982"/>
          </a:xfrm>
          <a:prstGeom prst="ellipse">
            <a:avLst/>
          </a:prstGeom>
          <a:solidFill>
            <a:srgbClr val="FDE5D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BF894E1D-5526-6C0A-A2B4-2160FE598927}"/>
              </a:ext>
            </a:extLst>
          </p:cNvPr>
          <p:cNvSpPr/>
          <p:nvPr/>
        </p:nvSpPr>
        <p:spPr>
          <a:xfrm>
            <a:off x="5225876" y="4099858"/>
            <a:ext cx="589115" cy="266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noProof="0" dirty="0">
                <a:solidFill>
                  <a:schemeClr val="bg1"/>
                </a:solidFill>
              </a:rPr>
              <a:t>Steps 4 and 5</a:t>
            </a:r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DD9C55B0-789D-D855-14A0-66C0D17CB4A2}"/>
              </a:ext>
            </a:extLst>
          </p:cNvPr>
          <p:cNvSpPr/>
          <p:nvPr/>
        </p:nvSpPr>
        <p:spPr>
          <a:xfrm>
            <a:off x="4919524" y="2783092"/>
            <a:ext cx="1211918" cy="46147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noProof="0" dirty="0">
                <a:solidFill>
                  <a:schemeClr val="bg1"/>
                </a:solidFill>
              </a:rPr>
              <a:t>Prioritization of articles </a:t>
            </a:r>
          </a:p>
        </p:txBody>
      </p:sp>
      <p:cxnSp>
        <p:nvCxnSpPr>
          <p:cNvPr id="128" name="Straight Connector 127">
            <a:extLst>
              <a:ext uri="{FF2B5EF4-FFF2-40B4-BE49-F238E27FC236}">
                <a16:creationId xmlns:a16="http://schemas.microsoft.com/office/drawing/2014/main" id="{3FC103B4-F921-48EF-8E9D-F12BDA14BE1E}"/>
              </a:ext>
            </a:extLst>
          </p:cNvPr>
          <p:cNvCxnSpPr>
            <a:cxnSpLocks/>
            <a:stCxn id="126" idx="0"/>
            <a:endCxn id="118" idx="4"/>
          </p:cNvCxnSpPr>
          <p:nvPr/>
        </p:nvCxnSpPr>
        <p:spPr>
          <a:xfrm flipV="1">
            <a:off x="5525483" y="2689079"/>
            <a:ext cx="1117" cy="94013"/>
          </a:xfrm>
          <a:prstGeom prst="line">
            <a:avLst/>
          </a:prstGeom>
          <a:ln w="635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Connector 132">
            <a:extLst>
              <a:ext uri="{FF2B5EF4-FFF2-40B4-BE49-F238E27FC236}">
                <a16:creationId xmlns:a16="http://schemas.microsoft.com/office/drawing/2014/main" id="{B40C4DD4-4C17-C42F-E9B3-C2C89A6D7047}"/>
              </a:ext>
            </a:extLst>
          </p:cNvPr>
          <p:cNvCxnSpPr>
            <a:cxnSpLocks/>
            <a:stCxn id="134" idx="2"/>
            <a:endCxn id="118" idx="6"/>
          </p:cNvCxnSpPr>
          <p:nvPr/>
        </p:nvCxnSpPr>
        <p:spPr>
          <a:xfrm flipH="1" flipV="1">
            <a:off x="5649091" y="2566588"/>
            <a:ext cx="1769156" cy="1167"/>
          </a:xfrm>
          <a:prstGeom prst="line">
            <a:avLst/>
          </a:prstGeom>
          <a:ln w="9525">
            <a:solidFill>
              <a:srgbClr val="FDE5D0"/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4" name="Oval 133">
            <a:extLst>
              <a:ext uri="{FF2B5EF4-FFF2-40B4-BE49-F238E27FC236}">
                <a16:creationId xmlns:a16="http://schemas.microsoft.com/office/drawing/2014/main" id="{A60006D2-E28E-BE85-3A81-CE2D2307A348}"/>
              </a:ext>
            </a:extLst>
          </p:cNvPr>
          <p:cNvSpPr/>
          <p:nvPr/>
        </p:nvSpPr>
        <p:spPr>
          <a:xfrm>
            <a:off x="7418247" y="2445264"/>
            <a:ext cx="244982" cy="244982"/>
          </a:xfrm>
          <a:prstGeom prst="ellipse">
            <a:avLst/>
          </a:prstGeom>
          <a:solidFill>
            <a:srgbClr val="FDE5D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144" name="Straight Connector 143">
            <a:extLst>
              <a:ext uri="{FF2B5EF4-FFF2-40B4-BE49-F238E27FC236}">
                <a16:creationId xmlns:a16="http://schemas.microsoft.com/office/drawing/2014/main" id="{67F2F89B-7AD4-A9B6-4D31-31497A2968C1}"/>
              </a:ext>
            </a:extLst>
          </p:cNvPr>
          <p:cNvCxnSpPr>
            <a:cxnSpLocks/>
            <a:stCxn id="145" idx="0"/>
            <a:endCxn id="146" idx="2"/>
          </p:cNvCxnSpPr>
          <p:nvPr/>
        </p:nvCxnSpPr>
        <p:spPr>
          <a:xfrm flipH="1" flipV="1">
            <a:off x="7546639" y="3251739"/>
            <a:ext cx="7471" cy="855296"/>
          </a:xfrm>
          <a:prstGeom prst="line">
            <a:avLst/>
          </a:prstGeom>
          <a:ln w="635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5" name="Rectangle 144">
            <a:extLst>
              <a:ext uri="{FF2B5EF4-FFF2-40B4-BE49-F238E27FC236}">
                <a16:creationId xmlns:a16="http://schemas.microsoft.com/office/drawing/2014/main" id="{597342BD-7281-0961-309D-226B3ADFBD61}"/>
              </a:ext>
            </a:extLst>
          </p:cNvPr>
          <p:cNvSpPr/>
          <p:nvPr/>
        </p:nvSpPr>
        <p:spPr>
          <a:xfrm>
            <a:off x="7116744" y="4107035"/>
            <a:ext cx="874731" cy="266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Step 6</a:t>
            </a:r>
            <a:endParaRPr lang="en-US" sz="1000" noProof="0" dirty="0">
              <a:solidFill>
                <a:schemeClr val="bg1"/>
              </a:solidFill>
            </a:endParaRPr>
          </a:p>
        </p:txBody>
      </p:sp>
      <p:sp>
        <p:nvSpPr>
          <p:cNvPr id="146" name="Rectangle 145">
            <a:extLst>
              <a:ext uri="{FF2B5EF4-FFF2-40B4-BE49-F238E27FC236}">
                <a16:creationId xmlns:a16="http://schemas.microsoft.com/office/drawing/2014/main" id="{362656BA-6E2B-9EB9-721C-6E94CCB529D3}"/>
              </a:ext>
            </a:extLst>
          </p:cNvPr>
          <p:cNvSpPr/>
          <p:nvPr/>
        </p:nvSpPr>
        <p:spPr>
          <a:xfrm>
            <a:off x="6940680" y="2790269"/>
            <a:ext cx="1211918" cy="46147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noProof="0" dirty="0">
                <a:solidFill>
                  <a:schemeClr val="bg1"/>
                </a:solidFill>
              </a:rPr>
              <a:t>Literature </a:t>
            </a:r>
            <a:br>
              <a:rPr lang="en-US" sz="900" noProof="0" dirty="0">
                <a:solidFill>
                  <a:schemeClr val="bg1"/>
                </a:solidFill>
              </a:rPr>
            </a:br>
            <a:r>
              <a:rPr lang="en-US" sz="900" noProof="0" dirty="0">
                <a:solidFill>
                  <a:schemeClr val="bg1"/>
                </a:solidFill>
              </a:rPr>
              <a:t>map</a:t>
            </a:r>
          </a:p>
        </p:txBody>
      </p:sp>
      <p:cxnSp>
        <p:nvCxnSpPr>
          <p:cNvPr id="147" name="Straight Connector 146">
            <a:extLst>
              <a:ext uri="{FF2B5EF4-FFF2-40B4-BE49-F238E27FC236}">
                <a16:creationId xmlns:a16="http://schemas.microsoft.com/office/drawing/2014/main" id="{A0A234BC-3F71-CAC6-2FEE-878D748C0EAF}"/>
              </a:ext>
            </a:extLst>
          </p:cNvPr>
          <p:cNvCxnSpPr>
            <a:cxnSpLocks/>
            <a:stCxn id="146" idx="0"/>
          </p:cNvCxnSpPr>
          <p:nvPr/>
        </p:nvCxnSpPr>
        <p:spPr>
          <a:xfrm flipH="1" flipV="1">
            <a:off x="7543787" y="2696256"/>
            <a:ext cx="2852" cy="94013"/>
          </a:xfrm>
          <a:prstGeom prst="line">
            <a:avLst/>
          </a:prstGeom>
          <a:ln w="635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Straight Connector 147">
            <a:extLst>
              <a:ext uri="{FF2B5EF4-FFF2-40B4-BE49-F238E27FC236}">
                <a16:creationId xmlns:a16="http://schemas.microsoft.com/office/drawing/2014/main" id="{621EA6CB-ED71-2C63-D96D-8E0679F05A2E}"/>
              </a:ext>
            </a:extLst>
          </p:cNvPr>
          <p:cNvCxnSpPr>
            <a:cxnSpLocks/>
            <a:stCxn id="149" idx="2"/>
          </p:cNvCxnSpPr>
          <p:nvPr/>
        </p:nvCxnSpPr>
        <p:spPr>
          <a:xfrm flipH="1" flipV="1">
            <a:off x="7674510" y="2566588"/>
            <a:ext cx="1346246" cy="1167"/>
          </a:xfrm>
          <a:prstGeom prst="line">
            <a:avLst/>
          </a:prstGeom>
          <a:ln w="9525">
            <a:solidFill>
              <a:srgbClr val="FDE5D0"/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9" name="Oval 148">
            <a:extLst>
              <a:ext uri="{FF2B5EF4-FFF2-40B4-BE49-F238E27FC236}">
                <a16:creationId xmlns:a16="http://schemas.microsoft.com/office/drawing/2014/main" id="{6DDA3310-E203-AA35-6668-2F74F3F9C862}"/>
              </a:ext>
            </a:extLst>
          </p:cNvPr>
          <p:cNvSpPr/>
          <p:nvPr/>
        </p:nvSpPr>
        <p:spPr>
          <a:xfrm>
            <a:off x="9020756" y="2445264"/>
            <a:ext cx="244982" cy="244982"/>
          </a:xfrm>
          <a:prstGeom prst="ellipse">
            <a:avLst/>
          </a:prstGeom>
          <a:solidFill>
            <a:srgbClr val="FDE5D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150" name="Straight Connector 149">
            <a:extLst>
              <a:ext uri="{FF2B5EF4-FFF2-40B4-BE49-F238E27FC236}">
                <a16:creationId xmlns:a16="http://schemas.microsoft.com/office/drawing/2014/main" id="{7B5D7F49-C33F-C069-AE64-3DE2B439BD8B}"/>
              </a:ext>
            </a:extLst>
          </p:cNvPr>
          <p:cNvCxnSpPr>
            <a:cxnSpLocks/>
            <a:stCxn id="151" idx="0"/>
            <a:endCxn id="152" idx="2"/>
          </p:cNvCxnSpPr>
          <p:nvPr/>
        </p:nvCxnSpPr>
        <p:spPr>
          <a:xfrm flipH="1" flipV="1">
            <a:off x="9149148" y="3251739"/>
            <a:ext cx="1149" cy="855296"/>
          </a:xfrm>
          <a:prstGeom prst="line">
            <a:avLst/>
          </a:prstGeom>
          <a:ln w="635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1" name="Rectangle 150">
            <a:extLst>
              <a:ext uri="{FF2B5EF4-FFF2-40B4-BE49-F238E27FC236}">
                <a16:creationId xmlns:a16="http://schemas.microsoft.com/office/drawing/2014/main" id="{9DE95601-AF20-2AC3-FB24-B1DDAEBCF4D3}"/>
              </a:ext>
            </a:extLst>
          </p:cNvPr>
          <p:cNvSpPr/>
          <p:nvPr/>
        </p:nvSpPr>
        <p:spPr>
          <a:xfrm>
            <a:off x="8861938" y="4107035"/>
            <a:ext cx="576718" cy="266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noProof="0" dirty="0">
                <a:solidFill>
                  <a:schemeClr val="bg1"/>
                </a:solidFill>
              </a:rPr>
              <a:t>Step 7</a:t>
            </a:r>
          </a:p>
        </p:txBody>
      </p:sp>
      <p:sp>
        <p:nvSpPr>
          <p:cNvPr id="152" name="Rectangle 151">
            <a:extLst>
              <a:ext uri="{FF2B5EF4-FFF2-40B4-BE49-F238E27FC236}">
                <a16:creationId xmlns:a16="http://schemas.microsoft.com/office/drawing/2014/main" id="{8D963E4D-9204-DDD6-CDD7-AAAC4E44BDD0}"/>
              </a:ext>
            </a:extLst>
          </p:cNvPr>
          <p:cNvSpPr/>
          <p:nvPr/>
        </p:nvSpPr>
        <p:spPr>
          <a:xfrm>
            <a:off x="8543189" y="2790269"/>
            <a:ext cx="1211918" cy="46147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noProof="0" dirty="0">
                <a:solidFill>
                  <a:schemeClr val="bg1"/>
                </a:solidFill>
              </a:rPr>
              <a:t>Summaries of Relevant Articles</a:t>
            </a:r>
          </a:p>
        </p:txBody>
      </p:sp>
      <p:cxnSp>
        <p:nvCxnSpPr>
          <p:cNvPr id="153" name="Straight Connector 152">
            <a:extLst>
              <a:ext uri="{FF2B5EF4-FFF2-40B4-BE49-F238E27FC236}">
                <a16:creationId xmlns:a16="http://schemas.microsoft.com/office/drawing/2014/main" id="{4EE02066-9EB7-3388-4AA9-5F7DE7F5D4C0}"/>
              </a:ext>
            </a:extLst>
          </p:cNvPr>
          <p:cNvCxnSpPr>
            <a:cxnSpLocks/>
            <a:stCxn id="152" idx="0"/>
          </p:cNvCxnSpPr>
          <p:nvPr/>
        </p:nvCxnSpPr>
        <p:spPr>
          <a:xfrm flipH="1" flipV="1">
            <a:off x="9146296" y="2696256"/>
            <a:ext cx="2852" cy="94013"/>
          </a:xfrm>
          <a:prstGeom prst="line">
            <a:avLst/>
          </a:prstGeom>
          <a:ln w="635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55" name="Group 154">
            <a:extLst>
              <a:ext uri="{FF2B5EF4-FFF2-40B4-BE49-F238E27FC236}">
                <a16:creationId xmlns:a16="http://schemas.microsoft.com/office/drawing/2014/main" id="{9DD7931D-72B4-B988-C580-DCB887B523A6}"/>
              </a:ext>
            </a:extLst>
          </p:cNvPr>
          <p:cNvGrpSpPr/>
          <p:nvPr/>
        </p:nvGrpSpPr>
        <p:grpSpPr>
          <a:xfrm>
            <a:off x="8861938" y="3346825"/>
            <a:ext cx="576718" cy="576718"/>
            <a:chOff x="10234551" y="2151076"/>
            <a:chExt cx="1248038" cy="1248038"/>
          </a:xfrm>
        </p:grpSpPr>
        <p:sp>
          <p:nvSpPr>
            <p:cNvPr id="157" name="Oval 156">
              <a:extLst>
                <a:ext uri="{FF2B5EF4-FFF2-40B4-BE49-F238E27FC236}">
                  <a16:creationId xmlns:a16="http://schemas.microsoft.com/office/drawing/2014/main" id="{02C3B1CB-C92F-A713-0126-4503E8C45F84}"/>
                </a:ext>
              </a:extLst>
            </p:cNvPr>
            <p:cNvSpPr/>
            <p:nvPr/>
          </p:nvSpPr>
          <p:spPr>
            <a:xfrm>
              <a:off x="10234551" y="2151076"/>
              <a:ext cx="1248038" cy="1248038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noProof="0" dirty="0">
                <a:solidFill>
                  <a:schemeClr val="tx1"/>
                </a:solidFill>
              </a:endParaRPr>
            </a:p>
          </p:txBody>
        </p:sp>
        <p:sp>
          <p:nvSpPr>
            <p:cNvPr id="158" name="TextBox 157">
              <a:extLst>
                <a:ext uri="{FF2B5EF4-FFF2-40B4-BE49-F238E27FC236}">
                  <a16:creationId xmlns:a16="http://schemas.microsoft.com/office/drawing/2014/main" id="{00DC37DF-F2DA-8F80-4475-2906EA80536C}"/>
                </a:ext>
              </a:extLst>
            </p:cNvPr>
            <p:cNvSpPr txBox="1"/>
            <p:nvPr/>
          </p:nvSpPr>
          <p:spPr>
            <a:xfrm>
              <a:off x="10461530" y="2446744"/>
              <a:ext cx="841290" cy="738328"/>
            </a:xfrm>
            <a:prstGeom prst="rect">
              <a:avLst/>
            </a:prstGeom>
            <a:noFill/>
          </p:spPr>
          <p:txBody>
            <a:bodyPr wrap="none" rtlCol="0">
              <a:prstTxWarp prst="textArchUp">
                <a:avLst>
                  <a:gd name="adj" fmla="val 10889563"/>
                </a:avLst>
              </a:prstTxWarp>
              <a:spAutoFit/>
            </a:bodyPr>
            <a:lstStyle/>
            <a:p>
              <a:pPr algn="ctr"/>
              <a:r>
                <a:rPr lang="en-US" sz="1050" noProof="0" dirty="0"/>
                <a:t>Synthesis</a:t>
              </a:r>
            </a:p>
          </p:txBody>
        </p:sp>
      </p:grpSp>
      <p:cxnSp>
        <p:nvCxnSpPr>
          <p:cNvPr id="159" name="Straight Connector 158">
            <a:extLst>
              <a:ext uri="{FF2B5EF4-FFF2-40B4-BE49-F238E27FC236}">
                <a16:creationId xmlns:a16="http://schemas.microsoft.com/office/drawing/2014/main" id="{E66857A8-9FAD-AFB3-4800-508A5F68295A}"/>
              </a:ext>
            </a:extLst>
          </p:cNvPr>
          <p:cNvCxnSpPr>
            <a:cxnSpLocks/>
            <a:stCxn id="160" idx="2"/>
          </p:cNvCxnSpPr>
          <p:nvPr/>
        </p:nvCxnSpPr>
        <p:spPr>
          <a:xfrm flipH="1" flipV="1">
            <a:off x="9431538" y="3604777"/>
            <a:ext cx="1346246" cy="1167"/>
          </a:xfrm>
          <a:prstGeom prst="line">
            <a:avLst/>
          </a:prstGeom>
          <a:ln w="9525">
            <a:solidFill>
              <a:srgbClr val="FFFF00"/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0" name="Oval 159">
            <a:extLst>
              <a:ext uri="{FF2B5EF4-FFF2-40B4-BE49-F238E27FC236}">
                <a16:creationId xmlns:a16="http://schemas.microsoft.com/office/drawing/2014/main" id="{CD50C032-E76E-9D70-6F2B-52FAF49C2BCE}"/>
              </a:ext>
            </a:extLst>
          </p:cNvPr>
          <p:cNvSpPr/>
          <p:nvPr/>
        </p:nvSpPr>
        <p:spPr>
          <a:xfrm>
            <a:off x="10777784" y="3483453"/>
            <a:ext cx="244982" cy="244982"/>
          </a:xfrm>
          <a:prstGeom prst="ellipse">
            <a:avLst/>
          </a:prstGeom>
          <a:solidFill>
            <a:srgbClr val="FFFF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highlight>
                <a:srgbClr val="FFFF00"/>
              </a:highlight>
            </a:endParaRPr>
          </a:p>
        </p:txBody>
      </p:sp>
      <p:sp>
        <p:nvSpPr>
          <p:cNvPr id="161" name="Rectangle 160">
            <a:extLst>
              <a:ext uri="{FF2B5EF4-FFF2-40B4-BE49-F238E27FC236}">
                <a16:creationId xmlns:a16="http://schemas.microsoft.com/office/drawing/2014/main" id="{24A71307-22A5-28A7-BC37-216AF754876D}"/>
              </a:ext>
            </a:extLst>
          </p:cNvPr>
          <p:cNvSpPr/>
          <p:nvPr/>
        </p:nvSpPr>
        <p:spPr>
          <a:xfrm>
            <a:off x="10237018" y="3708154"/>
            <a:ext cx="1325886" cy="46147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noProof="0" dirty="0">
                <a:solidFill>
                  <a:schemeClr val="bg1"/>
                </a:solidFill>
              </a:rPr>
              <a:t>Step 8 Structured literature review</a:t>
            </a:r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CF2DDB78-D5F1-D30C-7F9F-A44780086E0B}"/>
              </a:ext>
            </a:extLst>
          </p:cNvPr>
          <p:cNvSpPr txBox="1"/>
          <p:nvPr/>
        </p:nvSpPr>
        <p:spPr>
          <a:xfrm>
            <a:off x="2543109" y="4445080"/>
            <a:ext cx="1901409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 sz="1100" dirty="0"/>
              <a:t>Search for Keywords in databases such as ERIC, Google Scholar, Web of Science, EBSCO, ProQuest, and JSTOR.</a:t>
            </a:r>
          </a:p>
          <a:p>
            <a:endParaRPr lang="en-US" sz="1100" dirty="0"/>
          </a:p>
          <a:p>
            <a:r>
              <a:rPr lang="en-US" sz="1100" b="1" dirty="0">
                <a:highlight>
                  <a:srgbClr val="000000"/>
                </a:highlight>
              </a:rPr>
              <a:t>Locate 50 relevant articles that are accessible.</a:t>
            </a:r>
            <a:endParaRPr lang="en-US" sz="1100" b="1" noProof="0" dirty="0">
              <a:highlight>
                <a:srgbClr val="000000"/>
              </a:highlight>
            </a:endParaRPr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54CEE1A1-05D5-A9D9-C426-9ED962AD7E79}"/>
              </a:ext>
            </a:extLst>
          </p:cNvPr>
          <p:cNvSpPr txBox="1"/>
          <p:nvPr/>
        </p:nvSpPr>
        <p:spPr>
          <a:xfrm>
            <a:off x="4690992" y="4445080"/>
            <a:ext cx="2219325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 sz="1100" dirty="0"/>
              <a:t>Review the articles and collect those that are central to your topic.</a:t>
            </a:r>
          </a:p>
          <a:p>
            <a:br>
              <a:rPr lang="en-US" sz="1100" dirty="0"/>
            </a:br>
            <a:r>
              <a:rPr lang="en-US" sz="1100" b="1" dirty="0">
                <a:highlight>
                  <a:srgbClr val="000000"/>
                </a:highlight>
              </a:rPr>
              <a:t>Determine whether each article will make a meaningful contribution </a:t>
            </a:r>
            <a:r>
              <a:rPr lang="en-US" sz="1100" dirty="0"/>
              <a:t>to your understanding of the literature.</a:t>
            </a:r>
            <a:endParaRPr lang="en-US" sz="1100" noProof="0" dirty="0"/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F9F64205-2BD0-7FBF-3D67-19E796F23F59}"/>
              </a:ext>
            </a:extLst>
          </p:cNvPr>
          <p:cNvSpPr txBox="1"/>
          <p:nvPr/>
        </p:nvSpPr>
        <p:spPr>
          <a:xfrm>
            <a:off x="6910317" y="4518309"/>
            <a:ext cx="1769155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 sz="1100" dirty="0"/>
              <a:t>A literature map provides a </a:t>
            </a:r>
            <a:r>
              <a:rPr lang="en-US" sz="1100" b="1" dirty="0">
                <a:highlight>
                  <a:srgbClr val="000000"/>
                </a:highlight>
              </a:rPr>
              <a:t>visual image of clusters of literature on the topic, showing how your particular study will contribute</a:t>
            </a:r>
            <a:r>
              <a:rPr lang="en-US" sz="1100" dirty="0"/>
              <a:t>, expand, or replicate existing research.</a:t>
            </a:r>
            <a:endParaRPr lang="en-US" sz="1100" noProof="0" dirty="0"/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00056B5C-F511-59AB-3427-FFD7FE71D038}"/>
              </a:ext>
            </a:extLst>
          </p:cNvPr>
          <p:cNvSpPr txBox="1"/>
          <p:nvPr/>
        </p:nvSpPr>
        <p:spPr>
          <a:xfrm>
            <a:off x="8698486" y="4518309"/>
            <a:ext cx="3077064" cy="127727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 sz="1100" dirty="0"/>
              <a:t>Combine these summaries in the final literature review that you prepare for your research proposal or study. Include accurate references.</a:t>
            </a:r>
          </a:p>
          <a:p>
            <a:endParaRPr lang="en-US" sz="1100" noProof="0" dirty="0"/>
          </a:p>
          <a:p>
            <a:r>
              <a:rPr lang="en-US" sz="1100" dirty="0"/>
              <a:t>Assemble the literature review, </a:t>
            </a:r>
            <a:r>
              <a:rPr lang="en-US" sz="1100" b="1" dirty="0">
                <a:highlight>
                  <a:srgbClr val="000000"/>
                </a:highlight>
              </a:rPr>
              <a:t>structuring it thematically or organizing it according to important concepts.</a:t>
            </a:r>
            <a:endParaRPr lang="en-US" sz="1100" b="1" noProof="0" dirty="0">
              <a:highlight>
                <a:srgbClr val="000000"/>
              </a:highlight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D0EDB22-C811-B42F-13E7-D2116EBB6BA0}"/>
              </a:ext>
            </a:extLst>
          </p:cNvPr>
          <p:cNvSpPr/>
          <p:nvPr/>
        </p:nvSpPr>
        <p:spPr>
          <a:xfrm>
            <a:off x="3151459" y="4093261"/>
            <a:ext cx="772664" cy="266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Steps 2 and 3</a:t>
            </a:r>
            <a:endParaRPr lang="en-US" sz="1000" noProof="0" dirty="0">
              <a:solidFill>
                <a:schemeClr val="bg1"/>
              </a:solidFill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E8E3044B-064C-21A7-17D8-FB115FD714FA}"/>
              </a:ext>
            </a:extLst>
          </p:cNvPr>
          <p:cNvSpPr/>
          <p:nvPr/>
        </p:nvSpPr>
        <p:spPr>
          <a:xfrm>
            <a:off x="3396245" y="1371322"/>
            <a:ext cx="244982" cy="244982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32DDA8D-C7EF-E1C2-DFE6-CACC2D324180}"/>
              </a:ext>
            </a:extLst>
          </p:cNvPr>
          <p:cNvSpPr/>
          <p:nvPr/>
        </p:nvSpPr>
        <p:spPr>
          <a:xfrm>
            <a:off x="2912777" y="1731881"/>
            <a:ext cx="1211918" cy="46147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noProof="0" dirty="0">
                <a:solidFill>
                  <a:schemeClr val="bg1"/>
                </a:solidFill>
              </a:rPr>
              <a:t>Keywords search in data bases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683A341-C685-8A60-780C-7CE2FE4B888A}"/>
              </a:ext>
            </a:extLst>
          </p:cNvPr>
          <p:cNvCxnSpPr>
            <a:cxnSpLocks/>
            <a:stCxn id="16" idx="0"/>
            <a:endCxn id="20" idx="2"/>
          </p:cNvCxnSpPr>
          <p:nvPr/>
        </p:nvCxnSpPr>
        <p:spPr>
          <a:xfrm flipH="1" flipV="1">
            <a:off x="3518736" y="2193351"/>
            <a:ext cx="19055" cy="1899910"/>
          </a:xfrm>
          <a:prstGeom prst="line">
            <a:avLst/>
          </a:prstGeom>
          <a:ln w="635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679A41DE-7BD6-8F78-C93A-B2D9BAC66A34}"/>
              </a:ext>
            </a:extLst>
          </p:cNvPr>
          <p:cNvCxnSpPr>
            <a:cxnSpLocks/>
            <a:stCxn id="20" idx="0"/>
            <a:endCxn id="18" idx="4"/>
          </p:cNvCxnSpPr>
          <p:nvPr/>
        </p:nvCxnSpPr>
        <p:spPr>
          <a:xfrm flipV="1">
            <a:off x="3518736" y="1616304"/>
            <a:ext cx="0" cy="115577"/>
          </a:xfrm>
          <a:prstGeom prst="line">
            <a:avLst/>
          </a:prstGeom>
          <a:ln w="635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2180AF1C-C132-E431-BCC0-7047A514CDD8}"/>
              </a:ext>
            </a:extLst>
          </p:cNvPr>
          <p:cNvGrpSpPr/>
          <p:nvPr/>
        </p:nvGrpSpPr>
        <p:grpSpPr>
          <a:xfrm>
            <a:off x="3230377" y="2278229"/>
            <a:ext cx="576718" cy="576718"/>
            <a:chOff x="718594" y="4663575"/>
            <a:chExt cx="1248038" cy="1248038"/>
          </a:xfrm>
        </p:grpSpPr>
        <p:grpSp>
          <p:nvGrpSpPr>
            <p:cNvPr id="110" name="Group 109">
              <a:extLst>
                <a:ext uri="{FF2B5EF4-FFF2-40B4-BE49-F238E27FC236}">
                  <a16:creationId xmlns:a16="http://schemas.microsoft.com/office/drawing/2014/main" id="{539D5138-BB3C-563C-7B73-AC6FB61C4EC9}"/>
                </a:ext>
              </a:extLst>
            </p:cNvPr>
            <p:cNvGrpSpPr/>
            <p:nvPr/>
          </p:nvGrpSpPr>
          <p:grpSpPr>
            <a:xfrm>
              <a:off x="718594" y="4663575"/>
              <a:ext cx="1248038" cy="1248038"/>
              <a:chOff x="10234551" y="2151076"/>
              <a:chExt cx="1248038" cy="1248038"/>
            </a:xfrm>
          </p:grpSpPr>
          <p:sp>
            <p:nvSpPr>
              <p:cNvPr id="112" name="Oval 111">
                <a:extLst>
                  <a:ext uri="{FF2B5EF4-FFF2-40B4-BE49-F238E27FC236}">
                    <a16:creationId xmlns:a16="http://schemas.microsoft.com/office/drawing/2014/main" id="{26196FE0-B3E2-D8BF-413C-2B9CC5AA7C45}"/>
                  </a:ext>
                </a:extLst>
              </p:cNvPr>
              <p:cNvSpPr/>
              <p:nvPr/>
            </p:nvSpPr>
            <p:spPr>
              <a:xfrm>
                <a:off x="10234551" y="2151076"/>
                <a:ext cx="1248038" cy="1248038"/>
              </a:xfrm>
              <a:prstGeom prst="ellipse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 noProof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13" name="TextBox 112">
                <a:extLst>
                  <a:ext uri="{FF2B5EF4-FFF2-40B4-BE49-F238E27FC236}">
                    <a16:creationId xmlns:a16="http://schemas.microsoft.com/office/drawing/2014/main" id="{58479B97-CD4E-7CE6-13D3-306CC513058E}"/>
                  </a:ext>
                </a:extLst>
              </p:cNvPr>
              <p:cNvSpPr txBox="1"/>
              <p:nvPr/>
            </p:nvSpPr>
            <p:spPr>
              <a:xfrm>
                <a:off x="10461530" y="2446744"/>
                <a:ext cx="841290" cy="738328"/>
              </a:xfrm>
              <a:prstGeom prst="rect">
                <a:avLst/>
              </a:prstGeom>
              <a:noFill/>
            </p:spPr>
            <p:txBody>
              <a:bodyPr wrap="none" rtlCol="0">
                <a:prstTxWarp prst="textArchUp">
                  <a:avLst>
                    <a:gd name="adj" fmla="val 10889563"/>
                  </a:avLst>
                </a:prstTxWarp>
                <a:spAutoFit/>
              </a:bodyPr>
              <a:lstStyle/>
              <a:p>
                <a:pPr algn="ctr"/>
                <a:r>
                  <a:rPr lang="en-US" sz="1050" noProof="0" dirty="0"/>
                  <a:t>Sources</a:t>
                </a:r>
              </a:p>
            </p:txBody>
          </p:sp>
        </p:grp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3371130C-FCB4-9B45-04A5-BA50B9D7B706}"/>
                </a:ext>
              </a:extLst>
            </p:cNvPr>
            <p:cNvSpPr txBox="1"/>
            <p:nvPr/>
          </p:nvSpPr>
          <p:spPr>
            <a:xfrm>
              <a:off x="867498" y="5002399"/>
              <a:ext cx="99744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b="1" noProof="0" dirty="0">
                  <a:latin typeface="Aptos Black" panose="020B0004020202020204" pitchFamily="34" charset="0"/>
                </a:rPr>
                <a:t>50</a:t>
              </a: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E89BC867-1059-6819-9FDD-8D26F8F2678F}"/>
              </a:ext>
            </a:extLst>
          </p:cNvPr>
          <p:cNvGrpSpPr/>
          <p:nvPr/>
        </p:nvGrpSpPr>
        <p:grpSpPr>
          <a:xfrm>
            <a:off x="233692" y="1371322"/>
            <a:ext cx="2374030" cy="4254982"/>
            <a:chOff x="233692" y="1371322"/>
            <a:chExt cx="2374030" cy="4254982"/>
          </a:xfrm>
        </p:grpSpPr>
        <p:sp>
          <p:nvSpPr>
            <p:cNvPr id="163" name="TextBox 162">
              <a:extLst>
                <a:ext uri="{FF2B5EF4-FFF2-40B4-BE49-F238E27FC236}">
                  <a16:creationId xmlns:a16="http://schemas.microsoft.com/office/drawing/2014/main" id="{5E40EB62-6168-880B-2A3E-D1998736D259}"/>
                </a:ext>
              </a:extLst>
            </p:cNvPr>
            <p:cNvSpPr txBox="1"/>
            <p:nvPr/>
          </p:nvSpPr>
          <p:spPr>
            <a:xfrm>
              <a:off x="233692" y="4518308"/>
              <a:ext cx="2374030" cy="110799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100" dirty="0">
                  <a:solidFill>
                    <a:schemeClr val="bg1"/>
                  </a:solidFill>
                </a:rPr>
                <a:t>Identify keywords to locate materials in a database.</a:t>
              </a:r>
            </a:p>
            <a:p>
              <a:endParaRPr lang="en-US" sz="1100" dirty="0">
                <a:solidFill>
                  <a:schemeClr val="bg1"/>
                </a:solidFill>
              </a:endParaRPr>
            </a:p>
            <a:p>
              <a:r>
                <a:rPr lang="en-US" sz="1100" dirty="0">
                  <a:solidFill>
                    <a:schemeClr val="bg1"/>
                  </a:solidFill>
                </a:rPr>
                <a:t>These keywords </a:t>
              </a:r>
              <a:r>
                <a:rPr lang="en-US" sz="1100" b="1" dirty="0">
                  <a:solidFill>
                    <a:schemeClr val="bg1"/>
                  </a:solidFill>
                  <a:highlight>
                    <a:srgbClr val="000000"/>
                  </a:highlight>
                </a:rPr>
                <a:t>may arise from defining a topic or from preliminary readings</a:t>
              </a:r>
              <a:r>
                <a:rPr lang="en-US" sz="1100" dirty="0">
                  <a:solidFill>
                    <a:schemeClr val="bg1"/>
                  </a:solidFill>
                </a:rPr>
                <a:t>.</a:t>
              </a:r>
              <a:endParaRPr lang="en-US" sz="1100" noProof="0" dirty="0">
                <a:solidFill>
                  <a:schemeClr val="bg1"/>
                </a:solidFill>
              </a:endParaRPr>
            </a:p>
          </p:txBody>
        </p:sp>
        <p:cxnSp>
          <p:nvCxnSpPr>
            <p:cNvPr id="3" name="Straight Connector 2">
              <a:extLst>
                <a:ext uri="{FF2B5EF4-FFF2-40B4-BE49-F238E27FC236}">
                  <a16:creationId xmlns:a16="http://schemas.microsoft.com/office/drawing/2014/main" id="{842D826A-98CB-7A00-3558-075E3E727B0B}"/>
                </a:ext>
              </a:extLst>
            </p:cNvPr>
            <p:cNvCxnSpPr>
              <a:cxnSpLocks/>
              <a:stCxn id="6" idx="0"/>
              <a:endCxn id="14" idx="2"/>
            </p:cNvCxnSpPr>
            <p:nvPr/>
          </p:nvCxnSpPr>
          <p:spPr>
            <a:xfrm flipV="1">
              <a:off x="1212410" y="3244562"/>
              <a:ext cx="6221" cy="862473"/>
            </a:xfrm>
            <a:prstGeom prst="line">
              <a:avLst/>
            </a:prstGeom>
            <a:ln w="6350">
              <a:solidFill>
                <a:srgbClr val="FFFF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9F338FD8-5E9A-3A93-0C29-7C715FE743FA}"/>
                </a:ext>
              </a:extLst>
            </p:cNvPr>
            <p:cNvSpPr/>
            <p:nvPr/>
          </p:nvSpPr>
          <p:spPr>
            <a:xfrm>
              <a:off x="924051" y="4107035"/>
              <a:ext cx="576718" cy="2667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noProof="0" dirty="0">
                  <a:solidFill>
                    <a:schemeClr val="bg1"/>
                  </a:solidFill>
                </a:rPr>
                <a:t>Step 1</a:t>
              </a: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9E57619D-584D-1B97-8B7D-B56D4D928653}"/>
                </a:ext>
              </a:extLst>
            </p:cNvPr>
            <p:cNvSpPr/>
            <p:nvPr/>
          </p:nvSpPr>
          <p:spPr>
            <a:xfrm>
              <a:off x="1092700" y="1371322"/>
              <a:ext cx="244982" cy="244982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0D35FE8-D232-3EFD-8ACF-7293F9D79793}"/>
                </a:ext>
              </a:extLst>
            </p:cNvPr>
            <p:cNvSpPr/>
            <p:nvPr/>
          </p:nvSpPr>
          <p:spPr>
            <a:xfrm>
              <a:off x="612672" y="2977862"/>
              <a:ext cx="1211918" cy="2667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>
                  <a:solidFill>
                    <a:schemeClr val="bg1"/>
                  </a:solidFill>
                </a:rPr>
                <a:t>Identification of Keywords</a:t>
              </a:r>
              <a:endParaRPr lang="en-US" sz="900" noProof="0" dirty="0">
                <a:solidFill>
                  <a:schemeClr val="bg1"/>
                </a:solidFill>
              </a:endParaRPr>
            </a:p>
          </p:txBody>
        </p: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E63BA737-7DE3-0A66-B7F2-D46760E49EEC}"/>
                </a:ext>
              </a:extLst>
            </p:cNvPr>
            <p:cNvCxnSpPr>
              <a:cxnSpLocks/>
              <a:stCxn id="14" idx="0"/>
              <a:endCxn id="13" idx="4"/>
            </p:cNvCxnSpPr>
            <p:nvPr/>
          </p:nvCxnSpPr>
          <p:spPr>
            <a:xfrm flipH="1" flipV="1">
              <a:off x="1215191" y="1616304"/>
              <a:ext cx="3440" cy="1361558"/>
            </a:xfrm>
            <a:prstGeom prst="line">
              <a:avLst/>
            </a:prstGeom>
            <a:ln w="6350">
              <a:solidFill>
                <a:srgbClr val="FFFF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B8DD2415-6C16-E266-7EE1-A43294691464}"/>
                </a:ext>
              </a:extLst>
            </p:cNvPr>
            <p:cNvGrpSpPr/>
            <p:nvPr/>
          </p:nvGrpSpPr>
          <p:grpSpPr>
            <a:xfrm>
              <a:off x="943580" y="2278229"/>
              <a:ext cx="576718" cy="576718"/>
              <a:chOff x="10234551" y="2151076"/>
              <a:chExt cx="1248038" cy="1248038"/>
            </a:xfrm>
          </p:grpSpPr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FD0A0A7A-B68F-8CE5-1584-E85FD6506EF3}"/>
                  </a:ext>
                </a:extLst>
              </p:cNvPr>
              <p:cNvSpPr/>
              <p:nvPr/>
            </p:nvSpPr>
            <p:spPr>
              <a:xfrm>
                <a:off x="10234551" y="2151076"/>
                <a:ext cx="1248038" cy="1248038"/>
              </a:xfrm>
              <a:prstGeom prst="ellipse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 noProof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029AA75-3734-7B61-272C-A83DD0D13E58}"/>
                  </a:ext>
                </a:extLst>
              </p:cNvPr>
              <p:cNvSpPr txBox="1"/>
              <p:nvPr/>
            </p:nvSpPr>
            <p:spPr>
              <a:xfrm>
                <a:off x="10461530" y="2446744"/>
                <a:ext cx="841290" cy="738328"/>
              </a:xfrm>
              <a:prstGeom prst="rect">
                <a:avLst/>
              </a:prstGeom>
              <a:noFill/>
            </p:spPr>
            <p:txBody>
              <a:bodyPr wrap="none" rtlCol="0">
                <a:prstTxWarp prst="textArchUp">
                  <a:avLst>
                    <a:gd name="adj" fmla="val 10889563"/>
                  </a:avLst>
                </a:prstTxWarp>
                <a:spAutoFit/>
              </a:bodyPr>
              <a:lstStyle/>
              <a:p>
                <a:pPr algn="ctr"/>
                <a:r>
                  <a:rPr lang="en-US" sz="1050" noProof="0" dirty="0"/>
                  <a:t>Protocol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0978942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indefinite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8" grpId="0" animBg="1"/>
      <p:bldP spid="123" grpId="0"/>
      <p:bldP spid="126" grpId="0"/>
      <p:bldP spid="134" grpId="0" animBg="1"/>
      <p:bldP spid="145" grpId="0"/>
      <p:bldP spid="146" grpId="0"/>
      <p:bldP spid="149" grpId="0" animBg="1"/>
      <p:bldP spid="151" grpId="0"/>
      <p:bldP spid="152" grpId="0"/>
      <p:bldP spid="160" grpId="0" animBg="1"/>
      <p:bldP spid="161" grpId="0"/>
      <p:bldP spid="165" grpId="0"/>
      <p:bldP spid="167" grpId="0"/>
      <p:bldP spid="169" grpId="0"/>
      <p:bldP spid="171" grpId="0"/>
      <p:bldP spid="16" grpId="0"/>
      <p:bldP spid="18" grpId="0" animBg="1"/>
      <p:bldP spid="20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AA2FC5-3D1E-6A82-BC5D-31C3D9FC64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65215036-1962-CD5C-CA1C-1BD24519C05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003616" y="136525"/>
            <a:ext cx="1117563" cy="36512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6E845D0-70B0-405D-A6BF-798C9CBE9027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2/24/2026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14" name="Slide Number Placeholder 2">
            <a:extLst>
              <a:ext uri="{FF2B5EF4-FFF2-40B4-BE49-F238E27FC236}">
                <a16:creationId xmlns:a16="http://schemas.microsoft.com/office/drawing/2014/main" id="{5BF5316E-4C3F-C105-8E2F-1C2396ACD6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9389" y="6356348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0EA680-D336-4FF7-8B7A-9848BB0A1C3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15" name="Date Placeholder 3">
            <a:extLst>
              <a:ext uri="{FF2B5EF4-FFF2-40B4-BE49-F238E27FC236}">
                <a16:creationId xmlns:a16="http://schemas.microsoft.com/office/drawing/2014/main" id="{BA446CD6-91B0-2B74-52C8-72A6D67C097B}"/>
              </a:ext>
            </a:extLst>
          </p:cNvPr>
          <p:cNvSpPr txBox="1">
            <a:spLocks/>
          </p:cNvSpPr>
          <p:nvPr/>
        </p:nvSpPr>
        <p:spPr>
          <a:xfrm>
            <a:off x="11003616" y="136525"/>
            <a:ext cx="11175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6E845D0-70B0-405D-A6BF-798C9CBE9027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2/24/2026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30" name="Título 1">
            <a:extLst>
              <a:ext uri="{FF2B5EF4-FFF2-40B4-BE49-F238E27FC236}">
                <a16:creationId xmlns:a16="http://schemas.microsoft.com/office/drawing/2014/main" id="{1FB1AD80-E1C8-2B68-1398-E95E86A72E84}"/>
              </a:ext>
            </a:extLst>
          </p:cNvPr>
          <p:cNvSpPr txBox="1">
            <a:spLocks/>
          </p:cNvSpPr>
          <p:nvPr/>
        </p:nvSpPr>
        <p:spPr>
          <a:xfrm>
            <a:off x="891590" y="501651"/>
            <a:ext cx="4212974" cy="933450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Verdana" panose="020B0604030504040204" pitchFamily="34" charset="0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tos SemiBold" panose="020F0502020204030204" pitchFamily="34" charset="0"/>
                <a:ea typeface="+mj-ea"/>
                <a:cs typeface="+mj-cs"/>
              </a:rPr>
              <a:t>Step 1 </a:t>
            </a:r>
          </a:p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tos SemiBold" panose="020F0502020204030204" pitchFamily="34" charset="0"/>
                <a:ea typeface="+mj-ea"/>
                <a:cs typeface="+mj-cs"/>
              </a:rPr>
              <a:t>Review protocol</a:t>
            </a:r>
          </a:p>
        </p:txBody>
      </p:sp>
      <p:sp>
        <p:nvSpPr>
          <p:cNvPr id="31" name="Footer Placeholder 4">
            <a:extLst>
              <a:ext uri="{FF2B5EF4-FFF2-40B4-BE49-F238E27FC236}">
                <a16:creationId xmlns:a16="http://schemas.microsoft.com/office/drawing/2014/main" id="{A240938D-50B7-E4F7-7162-EAFBBB8C86A8}"/>
              </a:ext>
            </a:extLst>
          </p:cNvPr>
          <p:cNvSpPr txBox="1">
            <a:spLocks/>
          </p:cNvSpPr>
          <p:nvPr/>
        </p:nvSpPr>
        <p:spPr>
          <a:xfrm>
            <a:off x="2707689" y="6355745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Data analysis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7788222-4E5B-A0A5-BD9D-FC03E3FE0759}"/>
              </a:ext>
            </a:extLst>
          </p:cNvPr>
          <p:cNvSpPr txBox="1"/>
          <p:nvPr/>
        </p:nvSpPr>
        <p:spPr>
          <a:xfrm>
            <a:off x="891590" y="1459718"/>
            <a:ext cx="4032835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The review protocol is comparable to a research design in social science studies</a:t>
            </a:r>
          </a:p>
          <a:p>
            <a:endParaRPr lang="en-US" sz="1600" noProof="0" dirty="0">
              <a:solidFill>
                <a:srgbClr val="DF102C"/>
              </a:solidFill>
            </a:endParaRPr>
          </a:p>
          <a:p>
            <a:r>
              <a:rPr lang="en-US" sz="1600" b="1" dirty="0">
                <a:highlight>
                  <a:srgbClr val="FFC000"/>
                </a:highlight>
              </a:rPr>
              <a:t>It is a preset plan that specifies the methods utilized in conducting the review</a:t>
            </a:r>
          </a:p>
          <a:p>
            <a:endParaRPr lang="en-US" sz="1600" b="1" noProof="0" dirty="0">
              <a:solidFill>
                <a:srgbClr val="DF102C"/>
              </a:solidFill>
              <a:highlight>
                <a:srgbClr val="FFC000"/>
              </a:highlight>
            </a:endParaRP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prstClr val="black"/>
                </a:solidFill>
              </a:rPr>
              <a:t>It reduces the possibility of research bias </a:t>
            </a:r>
            <a:r>
              <a:rPr lang="en-US" sz="1600" dirty="0">
                <a:solidFill>
                  <a:prstClr val="black"/>
                </a:solidFill>
              </a:rPr>
              <a:t>in data selection and analysis .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prstClr val="black"/>
                </a:solidFill>
              </a:rPr>
              <a:t>It increases the reliability of the review </a:t>
            </a:r>
            <a:r>
              <a:rPr lang="en-US" sz="1600" dirty="0">
                <a:solidFill>
                  <a:prstClr val="black"/>
                </a:solidFill>
              </a:rPr>
              <a:t>because others can use the same protocol cross-check and verification.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ECB52AA-94B4-EBD0-65B2-83A7C7E66CBF}"/>
              </a:ext>
            </a:extLst>
          </p:cNvPr>
          <p:cNvSpPr/>
          <p:nvPr/>
        </p:nvSpPr>
        <p:spPr>
          <a:xfrm>
            <a:off x="5943257" y="2416355"/>
            <a:ext cx="4893276" cy="3238271"/>
          </a:xfrm>
          <a:prstGeom prst="roundRect">
            <a:avLst>
              <a:gd name="adj" fmla="val 60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3560CDBF-0E21-35AD-1365-E7E5F9691ABE}"/>
              </a:ext>
            </a:extLst>
          </p:cNvPr>
          <p:cNvSpPr/>
          <p:nvPr/>
        </p:nvSpPr>
        <p:spPr>
          <a:xfrm>
            <a:off x="6223023" y="2581366"/>
            <a:ext cx="248304" cy="248304"/>
          </a:xfrm>
          <a:custGeom>
            <a:avLst/>
            <a:gdLst>
              <a:gd name="connsiteX0" fmla="*/ 124152 w 248304"/>
              <a:gd name="connsiteY0" fmla="*/ 0 h 248304"/>
              <a:gd name="connsiteX1" fmla="*/ 0 w 248304"/>
              <a:gd name="connsiteY1" fmla="*/ 124152 h 248304"/>
              <a:gd name="connsiteX2" fmla="*/ 124152 w 248304"/>
              <a:gd name="connsiteY2" fmla="*/ 248305 h 248304"/>
              <a:gd name="connsiteX3" fmla="*/ 248305 w 248304"/>
              <a:gd name="connsiteY3" fmla="*/ 124152 h 248304"/>
              <a:gd name="connsiteX4" fmla="*/ 124152 w 248304"/>
              <a:gd name="connsiteY4" fmla="*/ 0 h 248304"/>
              <a:gd name="connsiteX5" fmla="*/ 106501 w 248304"/>
              <a:gd name="connsiteY5" fmla="*/ 174699 h 248304"/>
              <a:gd name="connsiteX6" fmla="*/ 52398 w 248304"/>
              <a:gd name="connsiteY6" fmla="*/ 120590 h 248304"/>
              <a:gd name="connsiteX7" fmla="*/ 70783 w 248304"/>
              <a:gd name="connsiteY7" fmla="*/ 102204 h 248304"/>
              <a:gd name="connsiteX8" fmla="*/ 106501 w 248304"/>
              <a:gd name="connsiteY8" fmla="*/ 137922 h 248304"/>
              <a:gd name="connsiteX9" fmla="*/ 179654 w 248304"/>
              <a:gd name="connsiteY9" fmla="*/ 64775 h 248304"/>
              <a:gd name="connsiteX10" fmla="*/ 198039 w 248304"/>
              <a:gd name="connsiteY10" fmla="*/ 83160 h 248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48304" h="248304">
                <a:moveTo>
                  <a:pt x="124152" y="0"/>
                </a:moveTo>
                <a:cubicBezTo>
                  <a:pt x="55585" y="0"/>
                  <a:pt x="0" y="55585"/>
                  <a:pt x="0" y="124152"/>
                </a:cubicBezTo>
                <a:cubicBezTo>
                  <a:pt x="0" y="192719"/>
                  <a:pt x="55585" y="248305"/>
                  <a:pt x="124152" y="248305"/>
                </a:cubicBezTo>
                <a:cubicBezTo>
                  <a:pt x="192720" y="248305"/>
                  <a:pt x="248305" y="192719"/>
                  <a:pt x="248305" y="124152"/>
                </a:cubicBezTo>
                <a:cubicBezTo>
                  <a:pt x="248227" y="55617"/>
                  <a:pt x="192688" y="77"/>
                  <a:pt x="124152" y="0"/>
                </a:cubicBezTo>
                <a:close/>
                <a:moveTo>
                  <a:pt x="106501" y="174699"/>
                </a:moveTo>
                <a:lnTo>
                  <a:pt x="52398" y="120590"/>
                </a:lnTo>
                <a:lnTo>
                  <a:pt x="70783" y="102204"/>
                </a:lnTo>
                <a:lnTo>
                  <a:pt x="106501" y="137922"/>
                </a:lnTo>
                <a:lnTo>
                  <a:pt x="179654" y="64775"/>
                </a:lnTo>
                <a:lnTo>
                  <a:pt x="198039" y="83160"/>
                </a:lnTo>
                <a:close/>
              </a:path>
            </a:pathLst>
          </a:custGeom>
          <a:solidFill>
            <a:srgbClr val="FF0000"/>
          </a:solidFill>
          <a:ln w="535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noProof="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96CB759-96D7-3ABD-18F6-47C98ECADC60}"/>
              </a:ext>
            </a:extLst>
          </p:cNvPr>
          <p:cNvSpPr txBox="1"/>
          <p:nvPr/>
        </p:nvSpPr>
        <p:spPr>
          <a:xfrm>
            <a:off x="6471327" y="2520852"/>
            <a:ext cx="41674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prstClr val="black"/>
                </a:solidFill>
              </a:rPr>
              <a:t>T</a:t>
            </a:r>
            <a:r>
              <a:rPr lang="en-US" sz="1800" dirty="0">
                <a:solidFill>
                  <a:prstClr val="black"/>
                </a:solidFill>
              </a:rPr>
              <a:t>he purpose of the study</a:t>
            </a:r>
            <a:endParaRPr lang="en-US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5364D9D-2296-D213-8DB7-1807322E67A5}"/>
              </a:ext>
            </a:extLst>
          </p:cNvPr>
          <p:cNvSpPr/>
          <p:nvPr/>
        </p:nvSpPr>
        <p:spPr>
          <a:xfrm>
            <a:off x="6223023" y="3055194"/>
            <a:ext cx="248304" cy="248304"/>
          </a:xfrm>
          <a:custGeom>
            <a:avLst/>
            <a:gdLst>
              <a:gd name="connsiteX0" fmla="*/ 124152 w 248304"/>
              <a:gd name="connsiteY0" fmla="*/ 0 h 248304"/>
              <a:gd name="connsiteX1" fmla="*/ 0 w 248304"/>
              <a:gd name="connsiteY1" fmla="*/ 124152 h 248304"/>
              <a:gd name="connsiteX2" fmla="*/ 124152 w 248304"/>
              <a:gd name="connsiteY2" fmla="*/ 248305 h 248304"/>
              <a:gd name="connsiteX3" fmla="*/ 248305 w 248304"/>
              <a:gd name="connsiteY3" fmla="*/ 124152 h 248304"/>
              <a:gd name="connsiteX4" fmla="*/ 124152 w 248304"/>
              <a:gd name="connsiteY4" fmla="*/ 0 h 248304"/>
              <a:gd name="connsiteX5" fmla="*/ 106501 w 248304"/>
              <a:gd name="connsiteY5" fmla="*/ 174699 h 248304"/>
              <a:gd name="connsiteX6" fmla="*/ 52398 w 248304"/>
              <a:gd name="connsiteY6" fmla="*/ 120590 h 248304"/>
              <a:gd name="connsiteX7" fmla="*/ 70783 w 248304"/>
              <a:gd name="connsiteY7" fmla="*/ 102204 h 248304"/>
              <a:gd name="connsiteX8" fmla="*/ 106501 w 248304"/>
              <a:gd name="connsiteY8" fmla="*/ 137922 h 248304"/>
              <a:gd name="connsiteX9" fmla="*/ 179654 w 248304"/>
              <a:gd name="connsiteY9" fmla="*/ 64775 h 248304"/>
              <a:gd name="connsiteX10" fmla="*/ 198039 w 248304"/>
              <a:gd name="connsiteY10" fmla="*/ 83160 h 248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48304" h="248304">
                <a:moveTo>
                  <a:pt x="124152" y="0"/>
                </a:moveTo>
                <a:cubicBezTo>
                  <a:pt x="55585" y="0"/>
                  <a:pt x="0" y="55585"/>
                  <a:pt x="0" y="124152"/>
                </a:cubicBezTo>
                <a:cubicBezTo>
                  <a:pt x="0" y="192719"/>
                  <a:pt x="55585" y="248305"/>
                  <a:pt x="124152" y="248305"/>
                </a:cubicBezTo>
                <a:cubicBezTo>
                  <a:pt x="192720" y="248305"/>
                  <a:pt x="248305" y="192719"/>
                  <a:pt x="248305" y="124152"/>
                </a:cubicBezTo>
                <a:cubicBezTo>
                  <a:pt x="248227" y="55617"/>
                  <a:pt x="192688" y="77"/>
                  <a:pt x="124152" y="0"/>
                </a:cubicBezTo>
                <a:close/>
                <a:moveTo>
                  <a:pt x="106501" y="174699"/>
                </a:moveTo>
                <a:lnTo>
                  <a:pt x="52398" y="120590"/>
                </a:lnTo>
                <a:lnTo>
                  <a:pt x="70783" y="102204"/>
                </a:lnTo>
                <a:lnTo>
                  <a:pt x="106501" y="137922"/>
                </a:lnTo>
                <a:lnTo>
                  <a:pt x="179654" y="64775"/>
                </a:lnTo>
                <a:lnTo>
                  <a:pt x="198039" y="83160"/>
                </a:lnTo>
                <a:close/>
              </a:path>
            </a:pathLst>
          </a:custGeom>
          <a:solidFill>
            <a:srgbClr val="FF0000"/>
          </a:solidFill>
          <a:ln w="535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noProof="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148AE49-0BFF-C713-212E-D7A9D8ECBFAA}"/>
              </a:ext>
            </a:extLst>
          </p:cNvPr>
          <p:cNvSpPr txBox="1"/>
          <p:nvPr/>
        </p:nvSpPr>
        <p:spPr>
          <a:xfrm>
            <a:off x="6471327" y="2994680"/>
            <a:ext cx="41674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prstClr val="black"/>
                </a:solidFill>
              </a:rPr>
              <a:t>Research questions</a:t>
            </a:r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B9DD7DF-4958-0993-E0BE-297ED7B1F67B}"/>
              </a:ext>
            </a:extLst>
          </p:cNvPr>
          <p:cNvSpPr/>
          <p:nvPr/>
        </p:nvSpPr>
        <p:spPr>
          <a:xfrm>
            <a:off x="6223023" y="3485040"/>
            <a:ext cx="248304" cy="248304"/>
          </a:xfrm>
          <a:custGeom>
            <a:avLst/>
            <a:gdLst>
              <a:gd name="connsiteX0" fmla="*/ 124152 w 248304"/>
              <a:gd name="connsiteY0" fmla="*/ 0 h 248304"/>
              <a:gd name="connsiteX1" fmla="*/ 0 w 248304"/>
              <a:gd name="connsiteY1" fmla="*/ 124152 h 248304"/>
              <a:gd name="connsiteX2" fmla="*/ 124152 w 248304"/>
              <a:gd name="connsiteY2" fmla="*/ 248305 h 248304"/>
              <a:gd name="connsiteX3" fmla="*/ 248305 w 248304"/>
              <a:gd name="connsiteY3" fmla="*/ 124152 h 248304"/>
              <a:gd name="connsiteX4" fmla="*/ 124152 w 248304"/>
              <a:gd name="connsiteY4" fmla="*/ 0 h 248304"/>
              <a:gd name="connsiteX5" fmla="*/ 106501 w 248304"/>
              <a:gd name="connsiteY5" fmla="*/ 174699 h 248304"/>
              <a:gd name="connsiteX6" fmla="*/ 52398 w 248304"/>
              <a:gd name="connsiteY6" fmla="*/ 120590 h 248304"/>
              <a:gd name="connsiteX7" fmla="*/ 70783 w 248304"/>
              <a:gd name="connsiteY7" fmla="*/ 102204 h 248304"/>
              <a:gd name="connsiteX8" fmla="*/ 106501 w 248304"/>
              <a:gd name="connsiteY8" fmla="*/ 137922 h 248304"/>
              <a:gd name="connsiteX9" fmla="*/ 179654 w 248304"/>
              <a:gd name="connsiteY9" fmla="*/ 64775 h 248304"/>
              <a:gd name="connsiteX10" fmla="*/ 198039 w 248304"/>
              <a:gd name="connsiteY10" fmla="*/ 83160 h 248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48304" h="248304">
                <a:moveTo>
                  <a:pt x="124152" y="0"/>
                </a:moveTo>
                <a:cubicBezTo>
                  <a:pt x="55585" y="0"/>
                  <a:pt x="0" y="55585"/>
                  <a:pt x="0" y="124152"/>
                </a:cubicBezTo>
                <a:cubicBezTo>
                  <a:pt x="0" y="192719"/>
                  <a:pt x="55585" y="248305"/>
                  <a:pt x="124152" y="248305"/>
                </a:cubicBezTo>
                <a:cubicBezTo>
                  <a:pt x="192720" y="248305"/>
                  <a:pt x="248305" y="192719"/>
                  <a:pt x="248305" y="124152"/>
                </a:cubicBezTo>
                <a:cubicBezTo>
                  <a:pt x="248227" y="55617"/>
                  <a:pt x="192688" y="77"/>
                  <a:pt x="124152" y="0"/>
                </a:cubicBezTo>
                <a:close/>
                <a:moveTo>
                  <a:pt x="106501" y="174699"/>
                </a:moveTo>
                <a:lnTo>
                  <a:pt x="52398" y="120590"/>
                </a:lnTo>
                <a:lnTo>
                  <a:pt x="70783" y="102204"/>
                </a:lnTo>
                <a:lnTo>
                  <a:pt x="106501" y="137922"/>
                </a:lnTo>
                <a:lnTo>
                  <a:pt x="179654" y="64775"/>
                </a:lnTo>
                <a:lnTo>
                  <a:pt x="198039" y="83160"/>
                </a:lnTo>
                <a:close/>
              </a:path>
            </a:pathLst>
          </a:custGeom>
          <a:solidFill>
            <a:srgbClr val="FF0000"/>
          </a:solidFill>
          <a:ln w="535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noProof="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A8F0A40-78A3-0040-92E1-319ECE8613A9}"/>
              </a:ext>
            </a:extLst>
          </p:cNvPr>
          <p:cNvSpPr txBox="1"/>
          <p:nvPr/>
        </p:nvSpPr>
        <p:spPr>
          <a:xfrm>
            <a:off x="6471327" y="3424526"/>
            <a:ext cx="41674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prstClr val="black"/>
                </a:solidFill>
              </a:rPr>
              <a:t>Inclusion criteria</a:t>
            </a:r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7AA1B925-6E12-60E4-14D2-916635106C17}"/>
              </a:ext>
            </a:extLst>
          </p:cNvPr>
          <p:cNvSpPr/>
          <p:nvPr/>
        </p:nvSpPr>
        <p:spPr>
          <a:xfrm>
            <a:off x="6223023" y="3884629"/>
            <a:ext cx="248304" cy="248304"/>
          </a:xfrm>
          <a:custGeom>
            <a:avLst/>
            <a:gdLst>
              <a:gd name="connsiteX0" fmla="*/ 124152 w 248304"/>
              <a:gd name="connsiteY0" fmla="*/ 0 h 248304"/>
              <a:gd name="connsiteX1" fmla="*/ 0 w 248304"/>
              <a:gd name="connsiteY1" fmla="*/ 124152 h 248304"/>
              <a:gd name="connsiteX2" fmla="*/ 124152 w 248304"/>
              <a:gd name="connsiteY2" fmla="*/ 248305 h 248304"/>
              <a:gd name="connsiteX3" fmla="*/ 248305 w 248304"/>
              <a:gd name="connsiteY3" fmla="*/ 124152 h 248304"/>
              <a:gd name="connsiteX4" fmla="*/ 124152 w 248304"/>
              <a:gd name="connsiteY4" fmla="*/ 0 h 248304"/>
              <a:gd name="connsiteX5" fmla="*/ 106501 w 248304"/>
              <a:gd name="connsiteY5" fmla="*/ 174699 h 248304"/>
              <a:gd name="connsiteX6" fmla="*/ 52398 w 248304"/>
              <a:gd name="connsiteY6" fmla="*/ 120590 h 248304"/>
              <a:gd name="connsiteX7" fmla="*/ 70783 w 248304"/>
              <a:gd name="connsiteY7" fmla="*/ 102204 h 248304"/>
              <a:gd name="connsiteX8" fmla="*/ 106501 w 248304"/>
              <a:gd name="connsiteY8" fmla="*/ 137922 h 248304"/>
              <a:gd name="connsiteX9" fmla="*/ 179654 w 248304"/>
              <a:gd name="connsiteY9" fmla="*/ 64775 h 248304"/>
              <a:gd name="connsiteX10" fmla="*/ 198039 w 248304"/>
              <a:gd name="connsiteY10" fmla="*/ 83160 h 248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48304" h="248304">
                <a:moveTo>
                  <a:pt x="124152" y="0"/>
                </a:moveTo>
                <a:cubicBezTo>
                  <a:pt x="55585" y="0"/>
                  <a:pt x="0" y="55585"/>
                  <a:pt x="0" y="124152"/>
                </a:cubicBezTo>
                <a:cubicBezTo>
                  <a:pt x="0" y="192719"/>
                  <a:pt x="55585" y="248305"/>
                  <a:pt x="124152" y="248305"/>
                </a:cubicBezTo>
                <a:cubicBezTo>
                  <a:pt x="192720" y="248305"/>
                  <a:pt x="248305" y="192719"/>
                  <a:pt x="248305" y="124152"/>
                </a:cubicBezTo>
                <a:cubicBezTo>
                  <a:pt x="248227" y="55617"/>
                  <a:pt x="192688" y="77"/>
                  <a:pt x="124152" y="0"/>
                </a:cubicBezTo>
                <a:close/>
                <a:moveTo>
                  <a:pt x="106501" y="174699"/>
                </a:moveTo>
                <a:lnTo>
                  <a:pt x="52398" y="120590"/>
                </a:lnTo>
                <a:lnTo>
                  <a:pt x="70783" y="102204"/>
                </a:lnTo>
                <a:lnTo>
                  <a:pt x="106501" y="137922"/>
                </a:lnTo>
                <a:lnTo>
                  <a:pt x="179654" y="64775"/>
                </a:lnTo>
                <a:lnTo>
                  <a:pt x="198039" y="83160"/>
                </a:lnTo>
                <a:close/>
              </a:path>
            </a:pathLst>
          </a:custGeom>
          <a:solidFill>
            <a:srgbClr val="FF0000"/>
          </a:solidFill>
          <a:ln w="535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noProof="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758A0A9-116E-C4FA-243A-B0D5E5BDAC4A}"/>
              </a:ext>
            </a:extLst>
          </p:cNvPr>
          <p:cNvSpPr txBox="1"/>
          <p:nvPr/>
        </p:nvSpPr>
        <p:spPr>
          <a:xfrm>
            <a:off x="6471327" y="3824115"/>
            <a:ext cx="41674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prstClr val="black"/>
                </a:solidFill>
              </a:rPr>
              <a:t>Search strategies</a:t>
            </a:r>
            <a:endParaRPr lang="en-US" dirty="0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CFF2267F-C6F5-023B-A9F4-3F1851F92A7A}"/>
              </a:ext>
            </a:extLst>
          </p:cNvPr>
          <p:cNvSpPr/>
          <p:nvPr/>
        </p:nvSpPr>
        <p:spPr>
          <a:xfrm>
            <a:off x="6223023" y="4284218"/>
            <a:ext cx="248304" cy="248304"/>
          </a:xfrm>
          <a:custGeom>
            <a:avLst/>
            <a:gdLst>
              <a:gd name="connsiteX0" fmla="*/ 124152 w 248304"/>
              <a:gd name="connsiteY0" fmla="*/ 0 h 248304"/>
              <a:gd name="connsiteX1" fmla="*/ 0 w 248304"/>
              <a:gd name="connsiteY1" fmla="*/ 124152 h 248304"/>
              <a:gd name="connsiteX2" fmla="*/ 124152 w 248304"/>
              <a:gd name="connsiteY2" fmla="*/ 248305 h 248304"/>
              <a:gd name="connsiteX3" fmla="*/ 248305 w 248304"/>
              <a:gd name="connsiteY3" fmla="*/ 124152 h 248304"/>
              <a:gd name="connsiteX4" fmla="*/ 124152 w 248304"/>
              <a:gd name="connsiteY4" fmla="*/ 0 h 248304"/>
              <a:gd name="connsiteX5" fmla="*/ 106501 w 248304"/>
              <a:gd name="connsiteY5" fmla="*/ 174699 h 248304"/>
              <a:gd name="connsiteX6" fmla="*/ 52398 w 248304"/>
              <a:gd name="connsiteY6" fmla="*/ 120590 h 248304"/>
              <a:gd name="connsiteX7" fmla="*/ 70783 w 248304"/>
              <a:gd name="connsiteY7" fmla="*/ 102204 h 248304"/>
              <a:gd name="connsiteX8" fmla="*/ 106501 w 248304"/>
              <a:gd name="connsiteY8" fmla="*/ 137922 h 248304"/>
              <a:gd name="connsiteX9" fmla="*/ 179654 w 248304"/>
              <a:gd name="connsiteY9" fmla="*/ 64775 h 248304"/>
              <a:gd name="connsiteX10" fmla="*/ 198039 w 248304"/>
              <a:gd name="connsiteY10" fmla="*/ 83160 h 248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48304" h="248304">
                <a:moveTo>
                  <a:pt x="124152" y="0"/>
                </a:moveTo>
                <a:cubicBezTo>
                  <a:pt x="55585" y="0"/>
                  <a:pt x="0" y="55585"/>
                  <a:pt x="0" y="124152"/>
                </a:cubicBezTo>
                <a:cubicBezTo>
                  <a:pt x="0" y="192719"/>
                  <a:pt x="55585" y="248305"/>
                  <a:pt x="124152" y="248305"/>
                </a:cubicBezTo>
                <a:cubicBezTo>
                  <a:pt x="192720" y="248305"/>
                  <a:pt x="248305" y="192719"/>
                  <a:pt x="248305" y="124152"/>
                </a:cubicBezTo>
                <a:cubicBezTo>
                  <a:pt x="248227" y="55617"/>
                  <a:pt x="192688" y="77"/>
                  <a:pt x="124152" y="0"/>
                </a:cubicBezTo>
                <a:close/>
                <a:moveTo>
                  <a:pt x="106501" y="174699"/>
                </a:moveTo>
                <a:lnTo>
                  <a:pt x="52398" y="120590"/>
                </a:lnTo>
                <a:lnTo>
                  <a:pt x="70783" y="102204"/>
                </a:lnTo>
                <a:lnTo>
                  <a:pt x="106501" y="137922"/>
                </a:lnTo>
                <a:lnTo>
                  <a:pt x="179654" y="64775"/>
                </a:lnTo>
                <a:lnTo>
                  <a:pt x="198039" y="83160"/>
                </a:lnTo>
                <a:close/>
              </a:path>
            </a:pathLst>
          </a:custGeom>
          <a:solidFill>
            <a:srgbClr val="FF0000"/>
          </a:solidFill>
          <a:ln w="535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noProof="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5529212-C95F-D349-BDCF-A0B7009FA329}"/>
              </a:ext>
            </a:extLst>
          </p:cNvPr>
          <p:cNvSpPr txBox="1"/>
          <p:nvPr/>
        </p:nvSpPr>
        <p:spPr>
          <a:xfrm>
            <a:off x="6471327" y="4223704"/>
            <a:ext cx="416749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prstClr val="black"/>
                </a:solidFill>
              </a:rPr>
              <a:t>Quality assessment criteria and screening procedures</a:t>
            </a:r>
            <a:endParaRPr lang="en-US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C8AFFFF1-94F6-3C87-B5A2-6F4EBF1328A1}"/>
              </a:ext>
            </a:extLst>
          </p:cNvPr>
          <p:cNvSpPr/>
          <p:nvPr/>
        </p:nvSpPr>
        <p:spPr>
          <a:xfrm>
            <a:off x="6223023" y="4991063"/>
            <a:ext cx="248304" cy="248304"/>
          </a:xfrm>
          <a:custGeom>
            <a:avLst/>
            <a:gdLst>
              <a:gd name="connsiteX0" fmla="*/ 124152 w 248304"/>
              <a:gd name="connsiteY0" fmla="*/ 0 h 248304"/>
              <a:gd name="connsiteX1" fmla="*/ 0 w 248304"/>
              <a:gd name="connsiteY1" fmla="*/ 124152 h 248304"/>
              <a:gd name="connsiteX2" fmla="*/ 124152 w 248304"/>
              <a:gd name="connsiteY2" fmla="*/ 248305 h 248304"/>
              <a:gd name="connsiteX3" fmla="*/ 248305 w 248304"/>
              <a:gd name="connsiteY3" fmla="*/ 124152 h 248304"/>
              <a:gd name="connsiteX4" fmla="*/ 124152 w 248304"/>
              <a:gd name="connsiteY4" fmla="*/ 0 h 248304"/>
              <a:gd name="connsiteX5" fmla="*/ 106501 w 248304"/>
              <a:gd name="connsiteY5" fmla="*/ 174699 h 248304"/>
              <a:gd name="connsiteX6" fmla="*/ 52398 w 248304"/>
              <a:gd name="connsiteY6" fmla="*/ 120590 h 248304"/>
              <a:gd name="connsiteX7" fmla="*/ 70783 w 248304"/>
              <a:gd name="connsiteY7" fmla="*/ 102204 h 248304"/>
              <a:gd name="connsiteX8" fmla="*/ 106501 w 248304"/>
              <a:gd name="connsiteY8" fmla="*/ 137922 h 248304"/>
              <a:gd name="connsiteX9" fmla="*/ 179654 w 248304"/>
              <a:gd name="connsiteY9" fmla="*/ 64775 h 248304"/>
              <a:gd name="connsiteX10" fmla="*/ 198039 w 248304"/>
              <a:gd name="connsiteY10" fmla="*/ 83160 h 248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48304" h="248304">
                <a:moveTo>
                  <a:pt x="124152" y="0"/>
                </a:moveTo>
                <a:cubicBezTo>
                  <a:pt x="55585" y="0"/>
                  <a:pt x="0" y="55585"/>
                  <a:pt x="0" y="124152"/>
                </a:cubicBezTo>
                <a:cubicBezTo>
                  <a:pt x="0" y="192719"/>
                  <a:pt x="55585" y="248305"/>
                  <a:pt x="124152" y="248305"/>
                </a:cubicBezTo>
                <a:cubicBezTo>
                  <a:pt x="192720" y="248305"/>
                  <a:pt x="248305" y="192719"/>
                  <a:pt x="248305" y="124152"/>
                </a:cubicBezTo>
                <a:cubicBezTo>
                  <a:pt x="248227" y="55617"/>
                  <a:pt x="192688" y="77"/>
                  <a:pt x="124152" y="0"/>
                </a:cubicBezTo>
                <a:close/>
                <a:moveTo>
                  <a:pt x="106501" y="174699"/>
                </a:moveTo>
                <a:lnTo>
                  <a:pt x="52398" y="120590"/>
                </a:lnTo>
                <a:lnTo>
                  <a:pt x="70783" y="102204"/>
                </a:lnTo>
                <a:lnTo>
                  <a:pt x="106501" y="137922"/>
                </a:lnTo>
                <a:lnTo>
                  <a:pt x="179654" y="64775"/>
                </a:lnTo>
                <a:lnTo>
                  <a:pt x="198039" y="83160"/>
                </a:lnTo>
                <a:close/>
              </a:path>
            </a:pathLst>
          </a:custGeom>
          <a:solidFill>
            <a:srgbClr val="FF0000"/>
          </a:solidFill>
          <a:ln w="535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noProof="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FBFF0F1-2E2C-D606-75E3-628683674F51}"/>
              </a:ext>
            </a:extLst>
          </p:cNvPr>
          <p:cNvSpPr txBox="1"/>
          <p:nvPr/>
        </p:nvSpPr>
        <p:spPr>
          <a:xfrm>
            <a:off x="6471327" y="4930549"/>
            <a:ext cx="358961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prstClr val="black"/>
                </a:solidFill>
              </a:rPr>
              <a:t>Strategies for data extraction, synthesis, and reporting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90462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9BF972-70F6-60A5-2FFE-E5AD14D0E7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5D8D0C23-8F3D-4DB9-D2E7-B6F62ED592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003616" y="136525"/>
            <a:ext cx="1117563" cy="36512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6E845D0-70B0-405D-A6BF-798C9CBE9027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2/24/2026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14" name="Slide Number Placeholder 2">
            <a:extLst>
              <a:ext uri="{FF2B5EF4-FFF2-40B4-BE49-F238E27FC236}">
                <a16:creationId xmlns:a16="http://schemas.microsoft.com/office/drawing/2014/main" id="{062F3799-DD3F-DDCF-1510-E9073058ED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9389" y="6356348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0EA680-D336-4FF7-8B7A-9848BB0A1C3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15" name="Date Placeholder 3">
            <a:extLst>
              <a:ext uri="{FF2B5EF4-FFF2-40B4-BE49-F238E27FC236}">
                <a16:creationId xmlns:a16="http://schemas.microsoft.com/office/drawing/2014/main" id="{A80C1A73-029D-28B0-DB01-A10CC04AE249}"/>
              </a:ext>
            </a:extLst>
          </p:cNvPr>
          <p:cNvSpPr txBox="1">
            <a:spLocks/>
          </p:cNvSpPr>
          <p:nvPr/>
        </p:nvSpPr>
        <p:spPr>
          <a:xfrm>
            <a:off x="11003616" y="136525"/>
            <a:ext cx="11175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6E845D0-70B0-405D-A6BF-798C9CBE9027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2/24/2026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30" name="Título 1">
            <a:extLst>
              <a:ext uri="{FF2B5EF4-FFF2-40B4-BE49-F238E27FC236}">
                <a16:creationId xmlns:a16="http://schemas.microsoft.com/office/drawing/2014/main" id="{04BB017E-752F-D332-98D9-E8157ED7A377}"/>
              </a:ext>
            </a:extLst>
          </p:cNvPr>
          <p:cNvSpPr txBox="1">
            <a:spLocks/>
          </p:cNvSpPr>
          <p:nvPr/>
        </p:nvSpPr>
        <p:spPr>
          <a:xfrm>
            <a:off x="891590" y="501651"/>
            <a:ext cx="4212974" cy="933450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Verdana" panose="020B0604030504040204" pitchFamily="34" charset="0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tos SemiBold" panose="020F0502020204030204" pitchFamily="34" charset="0"/>
                <a:ea typeface="+mj-ea"/>
                <a:cs typeface="+mj-cs"/>
              </a:rPr>
              <a:t>Steps 2 and 3</a:t>
            </a:r>
          </a:p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tos SemiBold" panose="020F0502020204030204" pitchFamily="34" charset="0"/>
                <a:ea typeface="+mj-ea"/>
                <a:cs typeface="+mj-cs"/>
              </a:rPr>
              <a:t>Literature Search</a:t>
            </a:r>
          </a:p>
        </p:txBody>
      </p:sp>
      <p:sp>
        <p:nvSpPr>
          <p:cNvPr id="31" name="Footer Placeholder 4">
            <a:extLst>
              <a:ext uri="{FF2B5EF4-FFF2-40B4-BE49-F238E27FC236}">
                <a16:creationId xmlns:a16="http://schemas.microsoft.com/office/drawing/2014/main" id="{54CED8F4-1CF2-0F27-420A-4FB544069C05}"/>
              </a:ext>
            </a:extLst>
          </p:cNvPr>
          <p:cNvSpPr txBox="1">
            <a:spLocks/>
          </p:cNvSpPr>
          <p:nvPr/>
        </p:nvSpPr>
        <p:spPr>
          <a:xfrm>
            <a:off x="2707689" y="6355745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Data analysis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716457A-ECC8-0756-892C-F8A9EACF4787}"/>
              </a:ext>
            </a:extLst>
          </p:cNvPr>
          <p:cNvSpPr txBox="1"/>
          <p:nvPr/>
        </p:nvSpPr>
        <p:spPr>
          <a:xfrm>
            <a:off x="4457981" y="2940461"/>
            <a:ext cx="65865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Use term guides to locate your articles, </a:t>
            </a:r>
            <a:r>
              <a:rPr lang="en-US" b="1" dirty="0">
                <a:highlight>
                  <a:srgbClr val="FFC000"/>
                </a:highlight>
              </a:rPr>
              <a:t>such as a thesaurus</a:t>
            </a:r>
            <a:r>
              <a:rPr lang="en-US" b="1" dirty="0"/>
              <a:t>, </a:t>
            </a:r>
            <a:r>
              <a:rPr lang="en-US" dirty="0"/>
              <a:t>when available.</a:t>
            </a:r>
            <a:endParaRPr lang="en-US" sz="1600" noProof="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8" name="Left Brace 17">
            <a:extLst>
              <a:ext uri="{FF2B5EF4-FFF2-40B4-BE49-F238E27FC236}">
                <a16:creationId xmlns:a16="http://schemas.microsoft.com/office/drawing/2014/main" id="{237B46AA-961F-D9E7-EC23-462484F72366}"/>
              </a:ext>
            </a:extLst>
          </p:cNvPr>
          <p:cNvSpPr/>
          <p:nvPr/>
        </p:nvSpPr>
        <p:spPr>
          <a:xfrm rot="10800000">
            <a:off x="3071696" y="2464525"/>
            <a:ext cx="508000" cy="3482910"/>
          </a:xfrm>
          <a:prstGeom prst="leftBrace">
            <a:avLst>
              <a:gd name="adj1" fmla="val 58333"/>
              <a:gd name="adj2" fmla="val 80103"/>
            </a:avLst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CD12D1F8-D97D-426B-D15C-F75C34524ECD}"/>
              </a:ext>
            </a:extLst>
          </p:cNvPr>
          <p:cNvGrpSpPr/>
          <p:nvPr/>
        </p:nvGrpSpPr>
        <p:grpSpPr>
          <a:xfrm>
            <a:off x="1951776" y="2472866"/>
            <a:ext cx="753667" cy="753667"/>
            <a:chOff x="891589" y="2777370"/>
            <a:chExt cx="1248038" cy="1248038"/>
          </a:xfrm>
          <a:solidFill>
            <a:srgbClr val="FFC000"/>
          </a:solidFill>
          <a:effectLst/>
        </p:grpSpPr>
        <p:sp>
          <p:nvSpPr>
            <p:cNvPr id="57" name="Oval 56">
              <a:hlinkClick r:id="rId3"/>
              <a:extLst>
                <a:ext uri="{FF2B5EF4-FFF2-40B4-BE49-F238E27FC236}">
                  <a16:creationId xmlns:a16="http://schemas.microsoft.com/office/drawing/2014/main" id="{5EE33E5A-DE6D-DB17-4D5C-4AC2A6349F2B}"/>
                </a:ext>
              </a:extLst>
            </p:cNvPr>
            <p:cNvSpPr/>
            <p:nvPr/>
          </p:nvSpPr>
          <p:spPr>
            <a:xfrm>
              <a:off x="891589" y="2777370"/>
              <a:ext cx="1248038" cy="1248038"/>
            </a:xfrm>
            <a:prstGeom prst="ellipse">
              <a:avLst/>
            </a:prstGeom>
            <a:grpFill/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>
                <a:solidFill>
                  <a:schemeClr val="bg1"/>
                </a:solidFill>
              </a:endParaRPr>
            </a:p>
          </p:txBody>
        </p:sp>
        <p:pic>
          <p:nvPicPr>
            <p:cNvPr id="1026" name="Picture 2" descr="ERIC - Institute of Education Sciences">
              <a:extLst>
                <a:ext uri="{FF2B5EF4-FFF2-40B4-BE49-F238E27FC236}">
                  <a16:creationId xmlns:a16="http://schemas.microsoft.com/office/drawing/2014/main" id="{643754FD-8F0F-06C7-19E5-A2654B041AA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41887" y="3252516"/>
              <a:ext cx="928392" cy="352967"/>
            </a:xfrm>
            <a:prstGeom prst="rect">
              <a:avLst/>
            </a:prstGeom>
            <a:grpFill/>
          </p:spPr>
        </p:pic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65A84E22-96B1-8070-45E1-81726F6CE07A}"/>
              </a:ext>
            </a:extLst>
          </p:cNvPr>
          <p:cNvGrpSpPr/>
          <p:nvPr/>
        </p:nvGrpSpPr>
        <p:grpSpPr>
          <a:xfrm>
            <a:off x="1954552" y="3340528"/>
            <a:ext cx="753667" cy="753667"/>
            <a:chOff x="2289925" y="2804980"/>
            <a:chExt cx="1248038" cy="1248038"/>
          </a:xfrm>
          <a:solidFill>
            <a:schemeClr val="accent4">
              <a:lumMod val="20000"/>
              <a:lumOff val="80000"/>
            </a:schemeClr>
          </a:solidFill>
          <a:effectLst/>
        </p:grpSpPr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11E2795C-D69C-09DB-E610-69A13146C379}"/>
                </a:ext>
              </a:extLst>
            </p:cNvPr>
            <p:cNvSpPr/>
            <p:nvPr/>
          </p:nvSpPr>
          <p:spPr>
            <a:xfrm>
              <a:off x="2289925" y="2804980"/>
              <a:ext cx="1248038" cy="1248038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>
                <a:solidFill>
                  <a:schemeClr val="bg1"/>
                </a:solidFill>
              </a:endParaRPr>
            </a:p>
          </p:txBody>
        </p:sp>
        <p:pic>
          <p:nvPicPr>
            <p:cNvPr id="1028" name="Picture 4" descr="Google Scholar Logo - PNG Logo Vector Brand Downloads (SVG, EPS)">
              <a:hlinkClick r:id="rId5"/>
              <a:extLst>
                <a:ext uri="{FF2B5EF4-FFF2-40B4-BE49-F238E27FC236}">
                  <a16:creationId xmlns:a16="http://schemas.microsoft.com/office/drawing/2014/main" id="{D2219A98-310C-DCCD-2FC5-D9F4FA058EC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print"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82209" y="3134399"/>
              <a:ext cx="644420" cy="644420"/>
            </a:xfrm>
            <a:prstGeom prst="rect">
              <a:avLst/>
            </a:prstGeom>
            <a:solidFill>
              <a:srgbClr val="FFC000"/>
            </a:solidFill>
          </p:spPr>
        </p:pic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B86A908B-BAA4-8939-4343-0375A3D31F4B}"/>
              </a:ext>
            </a:extLst>
          </p:cNvPr>
          <p:cNvGrpSpPr/>
          <p:nvPr/>
        </p:nvGrpSpPr>
        <p:grpSpPr>
          <a:xfrm>
            <a:off x="1946023" y="5193769"/>
            <a:ext cx="753667" cy="753667"/>
            <a:chOff x="3830247" y="2777370"/>
            <a:chExt cx="1248038" cy="1248038"/>
          </a:xfrm>
          <a:solidFill>
            <a:srgbClr val="FFC000"/>
          </a:solidFill>
          <a:effectLst/>
        </p:grpSpPr>
        <p:sp>
          <p:nvSpPr>
            <p:cNvPr id="61" name="Oval 60">
              <a:hlinkClick r:id="rId7"/>
              <a:extLst>
                <a:ext uri="{FF2B5EF4-FFF2-40B4-BE49-F238E27FC236}">
                  <a16:creationId xmlns:a16="http://schemas.microsoft.com/office/drawing/2014/main" id="{83D93B24-3789-FFBD-71AF-20337D9486E3}"/>
                </a:ext>
              </a:extLst>
            </p:cNvPr>
            <p:cNvSpPr/>
            <p:nvPr/>
          </p:nvSpPr>
          <p:spPr>
            <a:xfrm>
              <a:off x="3830247" y="2777370"/>
              <a:ext cx="1248038" cy="1248038"/>
            </a:xfrm>
            <a:prstGeom prst="ellipse">
              <a:avLst/>
            </a:prstGeom>
            <a:grpFill/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>
                <a:solidFill>
                  <a:schemeClr val="bg1"/>
                </a:solidFill>
              </a:endParaRPr>
            </a:p>
          </p:txBody>
        </p:sp>
        <p:pic>
          <p:nvPicPr>
            <p:cNvPr id="1030" name="Picture 6" descr="ProQuest Logo - PNG Logo Vector Brand Downloads (SVG, EPS)">
              <a:hlinkClick r:id="rId8"/>
              <a:extLst>
                <a:ext uri="{FF2B5EF4-FFF2-40B4-BE49-F238E27FC236}">
                  <a16:creationId xmlns:a16="http://schemas.microsoft.com/office/drawing/2014/main" id="{686757B4-DD96-D32A-A91D-E83FB3966DC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34999" y="3326961"/>
              <a:ext cx="887285" cy="204076"/>
            </a:xfrm>
            <a:prstGeom prst="rect">
              <a:avLst/>
            </a:prstGeom>
            <a:grpFill/>
          </p:spPr>
        </p:pic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174F23DD-2AAE-FB74-AAB5-0F37B7D9AF44}"/>
              </a:ext>
            </a:extLst>
          </p:cNvPr>
          <p:cNvGrpSpPr/>
          <p:nvPr/>
        </p:nvGrpSpPr>
        <p:grpSpPr>
          <a:xfrm>
            <a:off x="1072388" y="2464525"/>
            <a:ext cx="753667" cy="753667"/>
            <a:chOff x="5141051" y="2777370"/>
            <a:chExt cx="1248038" cy="1248038"/>
          </a:xfrm>
          <a:solidFill>
            <a:srgbClr val="FFC000"/>
          </a:solidFill>
          <a:effectLst/>
        </p:grpSpPr>
        <p:sp>
          <p:nvSpPr>
            <p:cNvPr id="63" name="Oval 62">
              <a:hlinkClick r:id="rId10"/>
              <a:extLst>
                <a:ext uri="{FF2B5EF4-FFF2-40B4-BE49-F238E27FC236}">
                  <a16:creationId xmlns:a16="http://schemas.microsoft.com/office/drawing/2014/main" id="{D88240CD-8ADE-FD97-D952-BEAFF5373FFD}"/>
                </a:ext>
              </a:extLst>
            </p:cNvPr>
            <p:cNvSpPr/>
            <p:nvPr/>
          </p:nvSpPr>
          <p:spPr>
            <a:xfrm>
              <a:off x="5141051" y="2777370"/>
              <a:ext cx="1248038" cy="1248038"/>
            </a:xfrm>
            <a:prstGeom prst="ellipse">
              <a:avLst/>
            </a:prstGeom>
            <a:grpFill/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>
                <a:solidFill>
                  <a:schemeClr val="bg1"/>
                </a:solidFill>
              </a:endParaRPr>
            </a:p>
          </p:txBody>
        </p:sp>
        <p:pic>
          <p:nvPicPr>
            <p:cNvPr id="1032" name="Picture 8" descr="EBSCO">
              <a:hlinkClick r:id="rId10"/>
              <a:extLst>
                <a:ext uri="{FF2B5EF4-FFF2-40B4-BE49-F238E27FC236}">
                  <a16:creationId xmlns:a16="http://schemas.microsoft.com/office/drawing/2014/main" id="{D3FF8FCA-7665-6FE7-387E-FF8CD934B41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49240" y="3326961"/>
              <a:ext cx="828989" cy="176484"/>
            </a:xfrm>
            <a:prstGeom prst="rect">
              <a:avLst/>
            </a:prstGeom>
            <a:grpFill/>
          </p:spPr>
        </p:pic>
      </p:grpSp>
      <p:grpSp>
        <p:nvGrpSpPr>
          <p:cNvPr id="1024" name="Group 1023">
            <a:extLst>
              <a:ext uri="{FF2B5EF4-FFF2-40B4-BE49-F238E27FC236}">
                <a16:creationId xmlns:a16="http://schemas.microsoft.com/office/drawing/2014/main" id="{63C285F2-0F92-C27F-CF2F-1D1E3F419564}"/>
              </a:ext>
            </a:extLst>
          </p:cNvPr>
          <p:cNvGrpSpPr/>
          <p:nvPr/>
        </p:nvGrpSpPr>
        <p:grpSpPr>
          <a:xfrm>
            <a:off x="1072388" y="3340528"/>
            <a:ext cx="753667" cy="753667"/>
            <a:chOff x="6708145" y="2055374"/>
            <a:chExt cx="753667" cy="753667"/>
          </a:xfrm>
          <a:effectLst/>
        </p:grpSpPr>
        <p:sp>
          <p:nvSpPr>
            <p:cNvPr id="1025" name="Oval 1024">
              <a:hlinkClick r:id="rId12"/>
              <a:extLst>
                <a:ext uri="{FF2B5EF4-FFF2-40B4-BE49-F238E27FC236}">
                  <a16:creationId xmlns:a16="http://schemas.microsoft.com/office/drawing/2014/main" id="{10F4B0F3-AF25-3F6D-7CFF-613CAFFFC17F}"/>
                </a:ext>
              </a:extLst>
            </p:cNvPr>
            <p:cNvSpPr/>
            <p:nvPr/>
          </p:nvSpPr>
          <p:spPr>
            <a:xfrm>
              <a:off x="6708145" y="2055374"/>
              <a:ext cx="753667" cy="753667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>
                <a:solidFill>
                  <a:schemeClr val="bg1"/>
                </a:solidFill>
              </a:endParaRPr>
            </a:p>
          </p:txBody>
        </p:sp>
        <p:pic>
          <p:nvPicPr>
            <p:cNvPr id="1034" name="Picture 10" descr="Elsevier journals scopus indexed">
              <a:hlinkClick r:id="rId12"/>
              <a:extLst>
                <a:ext uri="{FF2B5EF4-FFF2-40B4-BE49-F238E27FC236}">
                  <a16:creationId xmlns:a16="http://schemas.microsoft.com/office/drawing/2014/main" id="{3665E364-034A-24E9-B300-440D2D179F3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83216" y="2337975"/>
              <a:ext cx="603524" cy="3167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027" name="Group 1026">
            <a:extLst>
              <a:ext uri="{FF2B5EF4-FFF2-40B4-BE49-F238E27FC236}">
                <a16:creationId xmlns:a16="http://schemas.microsoft.com/office/drawing/2014/main" id="{1D9F5435-9B98-0690-24CE-428F43B09E9C}"/>
              </a:ext>
            </a:extLst>
          </p:cNvPr>
          <p:cNvGrpSpPr/>
          <p:nvPr/>
        </p:nvGrpSpPr>
        <p:grpSpPr>
          <a:xfrm>
            <a:off x="1053514" y="4296038"/>
            <a:ext cx="791414" cy="753667"/>
            <a:chOff x="8160935" y="2082984"/>
            <a:chExt cx="791414" cy="753667"/>
          </a:xfrm>
          <a:effectLst/>
        </p:grpSpPr>
        <p:sp>
          <p:nvSpPr>
            <p:cNvPr id="1029" name="Oval 1028">
              <a:hlinkClick r:id="rId14"/>
              <a:extLst>
                <a:ext uri="{FF2B5EF4-FFF2-40B4-BE49-F238E27FC236}">
                  <a16:creationId xmlns:a16="http://schemas.microsoft.com/office/drawing/2014/main" id="{47A78448-73E0-CF3B-EAFF-A5CB6270CC64}"/>
                </a:ext>
              </a:extLst>
            </p:cNvPr>
            <p:cNvSpPr/>
            <p:nvPr/>
          </p:nvSpPr>
          <p:spPr>
            <a:xfrm>
              <a:off x="8160935" y="2082984"/>
              <a:ext cx="753667" cy="753667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>
                <a:solidFill>
                  <a:schemeClr val="bg1"/>
                </a:solidFill>
              </a:endParaRPr>
            </a:p>
          </p:txBody>
        </p:sp>
        <p:pic>
          <p:nvPicPr>
            <p:cNvPr id="1036" name="Picture 12" descr="Directory of Open Access Journals (DOAJ) - NSU Library">
              <a:hlinkClick r:id="rId14"/>
              <a:extLst>
                <a:ext uri="{FF2B5EF4-FFF2-40B4-BE49-F238E27FC236}">
                  <a16:creationId xmlns:a16="http://schemas.microsoft.com/office/drawing/2014/main" id="{FC120EDC-51A4-2B45-06DB-FFB4767979B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duotone>
                <a:prstClr val="black"/>
                <a:schemeClr val="accent6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80661" y="2266895"/>
              <a:ext cx="771688" cy="38584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031" name="Group 1030">
            <a:extLst>
              <a:ext uri="{FF2B5EF4-FFF2-40B4-BE49-F238E27FC236}">
                <a16:creationId xmlns:a16="http://schemas.microsoft.com/office/drawing/2014/main" id="{FE735920-DCA9-C6DB-813F-9E47B82DDA60}"/>
              </a:ext>
            </a:extLst>
          </p:cNvPr>
          <p:cNvGrpSpPr/>
          <p:nvPr/>
        </p:nvGrpSpPr>
        <p:grpSpPr>
          <a:xfrm>
            <a:off x="1946023" y="4293125"/>
            <a:ext cx="753667" cy="753667"/>
            <a:chOff x="9613725" y="2082984"/>
            <a:chExt cx="753667" cy="753667"/>
          </a:xfrm>
          <a:effectLst/>
        </p:grpSpPr>
        <p:sp>
          <p:nvSpPr>
            <p:cNvPr id="1033" name="Oval 1032">
              <a:hlinkClick r:id="rId16"/>
              <a:extLst>
                <a:ext uri="{FF2B5EF4-FFF2-40B4-BE49-F238E27FC236}">
                  <a16:creationId xmlns:a16="http://schemas.microsoft.com/office/drawing/2014/main" id="{0BD93783-3727-4FDB-5E00-6BE49547FAA2}"/>
                </a:ext>
              </a:extLst>
            </p:cNvPr>
            <p:cNvSpPr/>
            <p:nvPr/>
          </p:nvSpPr>
          <p:spPr>
            <a:xfrm>
              <a:off x="9613725" y="2082984"/>
              <a:ext cx="753667" cy="753667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>
                <a:solidFill>
                  <a:schemeClr val="bg1"/>
                </a:solidFill>
              </a:endParaRPr>
            </a:p>
          </p:txBody>
        </p:sp>
        <p:pic>
          <p:nvPicPr>
            <p:cNvPr id="1035" name="Picture 1034">
              <a:hlinkClick r:id="rId16"/>
              <a:extLst>
                <a:ext uri="{FF2B5EF4-FFF2-40B4-BE49-F238E27FC236}">
                  <a16:creationId xmlns:a16="http://schemas.microsoft.com/office/drawing/2014/main" id="{0FCB7B52-4418-CC62-0071-392CBB7981F4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biLevel thresh="75000"/>
            </a:blip>
            <a:stretch>
              <a:fillRect/>
            </a:stretch>
          </p:blipFill>
          <p:spPr>
            <a:xfrm>
              <a:off x="9841683" y="2269808"/>
              <a:ext cx="314808" cy="429284"/>
            </a:xfrm>
            <a:prstGeom prst="rect">
              <a:avLst/>
            </a:prstGeom>
          </p:spPr>
        </p:pic>
      </p:grpSp>
      <p:grpSp>
        <p:nvGrpSpPr>
          <p:cNvPr id="1037" name="Group 1036">
            <a:extLst>
              <a:ext uri="{FF2B5EF4-FFF2-40B4-BE49-F238E27FC236}">
                <a16:creationId xmlns:a16="http://schemas.microsoft.com/office/drawing/2014/main" id="{33C36F59-4510-ED7A-A589-4FAC88E224B9}"/>
              </a:ext>
            </a:extLst>
          </p:cNvPr>
          <p:cNvGrpSpPr/>
          <p:nvPr/>
        </p:nvGrpSpPr>
        <p:grpSpPr>
          <a:xfrm>
            <a:off x="1072388" y="5184703"/>
            <a:ext cx="753667" cy="753667"/>
            <a:chOff x="3193292" y="4105392"/>
            <a:chExt cx="753667" cy="753667"/>
          </a:xfrm>
          <a:effectLst/>
        </p:grpSpPr>
        <p:sp>
          <p:nvSpPr>
            <p:cNvPr id="1038" name="Oval 1037">
              <a:hlinkClick r:id="rId18"/>
              <a:extLst>
                <a:ext uri="{FF2B5EF4-FFF2-40B4-BE49-F238E27FC236}">
                  <a16:creationId xmlns:a16="http://schemas.microsoft.com/office/drawing/2014/main" id="{ABC6FC1F-9B5F-7C4A-1B9C-9C1113B1779C}"/>
                </a:ext>
              </a:extLst>
            </p:cNvPr>
            <p:cNvSpPr/>
            <p:nvPr/>
          </p:nvSpPr>
          <p:spPr>
            <a:xfrm>
              <a:off x="3193292" y="4105392"/>
              <a:ext cx="753667" cy="753667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>
                <a:solidFill>
                  <a:schemeClr val="bg1"/>
                </a:solidFill>
              </a:endParaRPr>
            </a:p>
          </p:txBody>
        </p:sp>
        <p:pic>
          <p:nvPicPr>
            <p:cNvPr id="1040" name="Picture 16" descr="Universidad Externado de Colombia - Proactivanet">
              <a:hlinkClick r:id="rId18"/>
              <a:extLst>
                <a:ext uri="{FF2B5EF4-FFF2-40B4-BE49-F238E27FC236}">
                  <a16:creationId xmlns:a16="http://schemas.microsoft.com/office/drawing/2014/main" id="{229E4DCA-2092-B192-B305-9CE7E72BFC8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9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6172" b="34391"/>
            <a:stretch/>
          </p:blipFill>
          <p:spPr bwMode="auto">
            <a:xfrm>
              <a:off x="3248060" y="4395784"/>
              <a:ext cx="648913" cy="19101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042" name="TextBox 1041">
            <a:extLst>
              <a:ext uri="{FF2B5EF4-FFF2-40B4-BE49-F238E27FC236}">
                <a16:creationId xmlns:a16="http://schemas.microsoft.com/office/drawing/2014/main" id="{8564C253-22BE-F2DB-1F0D-EC1B55AEB7ED}"/>
              </a:ext>
            </a:extLst>
          </p:cNvPr>
          <p:cNvSpPr txBox="1"/>
          <p:nvPr/>
        </p:nvSpPr>
        <p:spPr>
          <a:xfrm>
            <a:off x="910639" y="1372905"/>
            <a:ext cx="88201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Use both the free online literature databases and those </a:t>
            </a:r>
            <a:r>
              <a:rPr lang="en-US" b="1" dirty="0">
                <a:highlight>
                  <a:srgbClr val="FFC000"/>
                </a:highlight>
              </a:rPr>
              <a:t>available through Externado’s online resources</a:t>
            </a:r>
            <a:r>
              <a:rPr lang="en-US" dirty="0"/>
              <a:t>.</a:t>
            </a:r>
            <a:endParaRPr lang="en-GB" dirty="0"/>
          </a:p>
        </p:txBody>
      </p:sp>
      <p:sp>
        <p:nvSpPr>
          <p:cNvPr id="1043" name="TextBox 1042">
            <a:extLst>
              <a:ext uri="{FF2B5EF4-FFF2-40B4-BE49-F238E27FC236}">
                <a16:creationId xmlns:a16="http://schemas.microsoft.com/office/drawing/2014/main" id="{772F5CA9-0EE2-E4C4-FCFF-764AE07410B8}"/>
              </a:ext>
            </a:extLst>
          </p:cNvPr>
          <p:cNvSpPr txBox="1"/>
          <p:nvPr/>
        </p:nvSpPr>
        <p:spPr>
          <a:xfrm>
            <a:off x="3875555" y="2880897"/>
            <a:ext cx="5936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noProof="0" dirty="0">
                <a:solidFill>
                  <a:srgbClr val="FF0000"/>
                </a:solidFill>
                <a:latin typeface="Aptos Black" panose="020B0004020202020204" pitchFamily="34" charset="0"/>
              </a:rPr>
              <a:t>1.</a:t>
            </a:r>
            <a:endParaRPr lang="en-US" sz="3600" b="1" noProof="0" dirty="0">
              <a:solidFill>
                <a:srgbClr val="FF0000"/>
              </a:solidFill>
              <a:latin typeface="Aptos Black" panose="020B0004020202020204" pitchFamily="34" charset="0"/>
            </a:endParaRPr>
          </a:p>
        </p:txBody>
      </p:sp>
      <p:sp>
        <p:nvSpPr>
          <p:cNvPr id="1044" name="TextBox 1043">
            <a:extLst>
              <a:ext uri="{FF2B5EF4-FFF2-40B4-BE49-F238E27FC236}">
                <a16:creationId xmlns:a16="http://schemas.microsoft.com/office/drawing/2014/main" id="{19EB65B4-7343-2461-01C4-B32DC1BFCE45}"/>
              </a:ext>
            </a:extLst>
          </p:cNvPr>
          <p:cNvSpPr txBox="1"/>
          <p:nvPr/>
        </p:nvSpPr>
        <p:spPr>
          <a:xfrm>
            <a:off x="4457981" y="3698652"/>
            <a:ext cx="658656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Conduct a </a:t>
            </a:r>
            <a:r>
              <a:rPr lang="en-US" b="1" dirty="0">
                <a:highlight>
                  <a:srgbClr val="FFC000"/>
                </a:highlight>
              </a:rPr>
              <a:t>preliminary search using online thesaurus descriptors </a:t>
            </a:r>
            <a:r>
              <a:rPr lang="en-US" dirty="0"/>
              <a:t>and by locating a journal article or document on a topic.</a:t>
            </a:r>
            <a:endParaRPr lang="en-US" sz="1600" noProof="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045" name="TextBox 1044">
            <a:extLst>
              <a:ext uri="{FF2B5EF4-FFF2-40B4-BE49-F238E27FC236}">
                <a16:creationId xmlns:a16="http://schemas.microsoft.com/office/drawing/2014/main" id="{EFE2EA99-1306-873E-9D01-C7E83D09C96A}"/>
              </a:ext>
            </a:extLst>
          </p:cNvPr>
          <p:cNvSpPr txBox="1"/>
          <p:nvPr/>
        </p:nvSpPr>
        <p:spPr>
          <a:xfrm>
            <a:off x="3875555" y="3639088"/>
            <a:ext cx="5936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>
                <a:solidFill>
                  <a:srgbClr val="FF0000"/>
                </a:solidFill>
                <a:latin typeface="Aptos Black" panose="020B0004020202020204" pitchFamily="34" charset="0"/>
              </a:rPr>
              <a:t>2</a:t>
            </a:r>
            <a:r>
              <a:rPr lang="en-US" sz="3600" noProof="0" dirty="0">
                <a:solidFill>
                  <a:srgbClr val="FF0000"/>
                </a:solidFill>
                <a:latin typeface="Aptos Black" panose="020B0004020202020204" pitchFamily="34" charset="0"/>
              </a:rPr>
              <a:t>.</a:t>
            </a:r>
            <a:endParaRPr lang="en-US" sz="3600" b="1" noProof="0" dirty="0">
              <a:solidFill>
                <a:srgbClr val="FF0000"/>
              </a:solidFill>
              <a:latin typeface="Aptos Black" panose="020B0004020202020204" pitchFamily="34" charset="0"/>
            </a:endParaRPr>
          </a:p>
        </p:txBody>
      </p:sp>
      <p:sp>
        <p:nvSpPr>
          <p:cNvPr id="1046" name="TextBox 1045">
            <a:extLst>
              <a:ext uri="{FF2B5EF4-FFF2-40B4-BE49-F238E27FC236}">
                <a16:creationId xmlns:a16="http://schemas.microsoft.com/office/drawing/2014/main" id="{1D99BB9D-1F32-8BEE-4B45-8EBA4340DD8C}"/>
              </a:ext>
            </a:extLst>
          </p:cNvPr>
          <p:cNvSpPr txBox="1"/>
          <p:nvPr/>
        </p:nvSpPr>
        <p:spPr>
          <a:xfrm>
            <a:off x="4469228" y="4792866"/>
            <a:ext cx="653438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Then look closely at the </a:t>
            </a:r>
            <a:r>
              <a:rPr lang="en-US" b="1" dirty="0">
                <a:highlight>
                  <a:srgbClr val="FFC000"/>
                </a:highlight>
              </a:rPr>
              <a:t>descriptors used in this article and document and</a:t>
            </a:r>
            <a:r>
              <a:rPr lang="en-US" b="1" dirty="0"/>
              <a:t> </a:t>
            </a:r>
            <a:r>
              <a:rPr lang="en-US" dirty="0"/>
              <a:t>perform another search using those terms.</a:t>
            </a:r>
            <a:endParaRPr lang="en-US" sz="1600" noProof="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047" name="TextBox 1046">
            <a:extLst>
              <a:ext uri="{FF2B5EF4-FFF2-40B4-BE49-F238E27FC236}">
                <a16:creationId xmlns:a16="http://schemas.microsoft.com/office/drawing/2014/main" id="{BF18F81B-1F44-7FEC-0FEA-FE6A3116B076}"/>
              </a:ext>
            </a:extLst>
          </p:cNvPr>
          <p:cNvSpPr txBox="1"/>
          <p:nvPr/>
        </p:nvSpPr>
        <p:spPr>
          <a:xfrm>
            <a:off x="3875555" y="4733842"/>
            <a:ext cx="5936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noProof="0" dirty="0">
                <a:solidFill>
                  <a:srgbClr val="FF0000"/>
                </a:solidFill>
                <a:latin typeface="Aptos Black" panose="020B0004020202020204" pitchFamily="34" charset="0"/>
              </a:rPr>
              <a:t>3.</a:t>
            </a:r>
            <a:endParaRPr lang="en-US" sz="3600" b="1" noProof="0" dirty="0">
              <a:solidFill>
                <a:srgbClr val="FF0000"/>
              </a:solidFill>
              <a:latin typeface="Aptos Black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54894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8" grpId="0" animBg="1"/>
      <p:bldP spid="1044" grpId="0"/>
      <p:bldP spid="104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A81969-99CD-DB3A-8500-2C598E9D0E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55CE6BDB-F1FA-CE83-91AD-DF61F7E83EE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003616" y="136525"/>
            <a:ext cx="1117563" cy="36512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6E845D0-70B0-405D-A6BF-798C9CBE9027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2/24/2026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14" name="Slide Number Placeholder 2">
            <a:extLst>
              <a:ext uri="{FF2B5EF4-FFF2-40B4-BE49-F238E27FC236}">
                <a16:creationId xmlns:a16="http://schemas.microsoft.com/office/drawing/2014/main" id="{832F4A79-A644-A7C2-580E-416C35A7D8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9389" y="6356348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0EA680-D336-4FF7-8B7A-9848BB0A1C3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15" name="Date Placeholder 3">
            <a:extLst>
              <a:ext uri="{FF2B5EF4-FFF2-40B4-BE49-F238E27FC236}">
                <a16:creationId xmlns:a16="http://schemas.microsoft.com/office/drawing/2014/main" id="{0BA09311-07ED-491D-0A5B-BB6E941EAE97}"/>
              </a:ext>
            </a:extLst>
          </p:cNvPr>
          <p:cNvSpPr txBox="1">
            <a:spLocks/>
          </p:cNvSpPr>
          <p:nvPr/>
        </p:nvSpPr>
        <p:spPr>
          <a:xfrm>
            <a:off x="11003616" y="136525"/>
            <a:ext cx="11175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6E845D0-70B0-405D-A6BF-798C9CBE9027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2/24/2026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30" name="Título 1">
            <a:extLst>
              <a:ext uri="{FF2B5EF4-FFF2-40B4-BE49-F238E27FC236}">
                <a16:creationId xmlns:a16="http://schemas.microsoft.com/office/drawing/2014/main" id="{0774BA7A-4009-5F3E-A250-902DB963485D}"/>
              </a:ext>
            </a:extLst>
          </p:cNvPr>
          <p:cNvSpPr txBox="1">
            <a:spLocks/>
          </p:cNvSpPr>
          <p:nvPr/>
        </p:nvSpPr>
        <p:spPr>
          <a:xfrm>
            <a:off x="891590" y="501651"/>
            <a:ext cx="4212974" cy="933450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Verdana" panose="020B0604030504040204" pitchFamily="34" charset="0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tos SemiBold" panose="020F0502020204030204" pitchFamily="34" charset="0"/>
                <a:ea typeface="+mj-ea"/>
                <a:cs typeface="+mj-cs"/>
              </a:rPr>
              <a:t>Steps 2 and 3</a:t>
            </a:r>
          </a:p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tos SemiBold" panose="020F0502020204030204" pitchFamily="34" charset="0"/>
                <a:ea typeface="+mj-ea"/>
                <a:cs typeface="+mj-cs"/>
              </a:rPr>
              <a:t>Literature Search</a:t>
            </a:r>
          </a:p>
        </p:txBody>
      </p:sp>
      <p:sp>
        <p:nvSpPr>
          <p:cNvPr id="31" name="Footer Placeholder 4">
            <a:extLst>
              <a:ext uri="{FF2B5EF4-FFF2-40B4-BE49-F238E27FC236}">
                <a16:creationId xmlns:a16="http://schemas.microsoft.com/office/drawing/2014/main" id="{BAB4CC6A-945D-1137-1B5C-8567201CB7BA}"/>
              </a:ext>
            </a:extLst>
          </p:cNvPr>
          <p:cNvSpPr txBox="1">
            <a:spLocks/>
          </p:cNvSpPr>
          <p:nvPr/>
        </p:nvSpPr>
        <p:spPr>
          <a:xfrm>
            <a:off x="2707689" y="6355745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Data analysis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FA1FAFD-42A8-EA00-9088-3979C659D557}"/>
              </a:ext>
            </a:extLst>
          </p:cNvPr>
          <p:cNvSpPr txBox="1"/>
          <p:nvPr/>
        </p:nvSpPr>
        <p:spPr>
          <a:xfrm>
            <a:off x="3810281" y="2463629"/>
            <a:ext cx="658656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highlight>
                  <a:srgbClr val="FFC000"/>
                </a:highlight>
              </a:rPr>
              <a:t>When searching for the publications of key authors who contribute to the body of work, it is possible to identify relevant studies</a:t>
            </a:r>
            <a:r>
              <a:rPr lang="en-US" b="1" dirty="0"/>
              <a:t>. </a:t>
            </a:r>
          </a:p>
          <a:p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 search through the authors’ CVs, Google Scholar pages, and publications listed in researcher networks such as ResearchGate.net are good ways to locate their other publications.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You can also identify cross‑references in relevant works for each area by using seed‑based search tools.</a:t>
            </a:r>
            <a:endParaRPr lang="en-US" sz="1600" noProof="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8" name="Left Brace 17">
            <a:extLst>
              <a:ext uri="{FF2B5EF4-FFF2-40B4-BE49-F238E27FC236}">
                <a16:creationId xmlns:a16="http://schemas.microsoft.com/office/drawing/2014/main" id="{CCF72DA0-53FE-DCA2-CB5B-3FFC8D9FB9B0}"/>
              </a:ext>
            </a:extLst>
          </p:cNvPr>
          <p:cNvSpPr/>
          <p:nvPr/>
        </p:nvSpPr>
        <p:spPr>
          <a:xfrm rot="10800000">
            <a:off x="3071696" y="2464524"/>
            <a:ext cx="508000" cy="1464754"/>
          </a:xfrm>
          <a:prstGeom prst="leftBrace">
            <a:avLst>
              <a:gd name="adj1" fmla="val 38841"/>
              <a:gd name="adj2" fmla="val 48817"/>
            </a:avLst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42" name="TextBox 1041">
            <a:extLst>
              <a:ext uri="{FF2B5EF4-FFF2-40B4-BE49-F238E27FC236}">
                <a16:creationId xmlns:a16="http://schemas.microsoft.com/office/drawing/2014/main" id="{BFEEC99F-C5E2-E318-8EEB-E18B18999480}"/>
              </a:ext>
            </a:extLst>
          </p:cNvPr>
          <p:cNvSpPr txBox="1"/>
          <p:nvPr/>
        </p:nvSpPr>
        <p:spPr>
          <a:xfrm>
            <a:off x="910639" y="1372905"/>
            <a:ext cx="354706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Backward and forward search by author or document</a:t>
            </a:r>
            <a:endParaRPr lang="en-GB" b="1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5653B368-A4A6-C18A-C05E-B91C3B224F05}"/>
              </a:ext>
            </a:extLst>
          </p:cNvPr>
          <p:cNvGrpSpPr/>
          <p:nvPr/>
        </p:nvGrpSpPr>
        <p:grpSpPr>
          <a:xfrm>
            <a:off x="1095008" y="2463629"/>
            <a:ext cx="740190" cy="740190"/>
            <a:chOff x="7942130" y="2461745"/>
            <a:chExt cx="1248038" cy="1248038"/>
          </a:xfrm>
        </p:grpSpPr>
        <p:sp>
          <p:nvSpPr>
            <p:cNvPr id="8" name="Oval 7">
              <a:hlinkClick r:id="rId3"/>
              <a:extLst>
                <a:ext uri="{FF2B5EF4-FFF2-40B4-BE49-F238E27FC236}">
                  <a16:creationId xmlns:a16="http://schemas.microsoft.com/office/drawing/2014/main" id="{0F35001F-F4E4-19CB-67EA-F50F7949698B}"/>
                </a:ext>
              </a:extLst>
            </p:cNvPr>
            <p:cNvSpPr/>
            <p:nvPr/>
          </p:nvSpPr>
          <p:spPr>
            <a:xfrm>
              <a:off x="7942130" y="2461745"/>
              <a:ext cx="1248038" cy="124803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>
                <a:solidFill>
                  <a:schemeClr val="bg1"/>
                </a:solidFill>
              </a:endParaRPr>
            </a:p>
          </p:txBody>
        </p:sp>
        <p:pic>
          <p:nvPicPr>
            <p:cNvPr id="10" name="Picture 4" descr="Guide | ResearchRabbit">
              <a:extLst>
                <a:ext uri="{FF2B5EF4-FFF2-40B4-BE49-F238E27FC236}">
                  <a16:creationId xmlns:a16="http://schemas.microsoft.com/office/drawing/2014/main" id="{2C75744F-2C34-44DA-B9C4-36B47181434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779" r="76592" b="21820"/>
            <a:stretch>
              <a:fillRect/>
            </a:stretch>
          </p:blipFill>
          <p:spPr bwMode="auto">
            <a:xfrm flipH="1">
              <a:off x="8339334" y="2765065"/>
              <a:ext cx="453629" cy="36606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" name="Picture 4" descr="Guide | ResearchRabbit">
              <a:extLst>
                <a:ext uri="{FF2B5EF4-FFF2-40B4-BE49-F238E27FC236}">
                  <a16:creationId xmlns:a16="http://schemas.microsoft.com/office/drawing/2014/main" id="{14992EB9-4074-56CB-5A50-6753B887253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 cstate="print"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artisticPhotocopy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206"/>
            <a:stretch>
              <a:fillRect/>
            </a:stretch>
          </p:blipFill>
          <p:spPr bwMode="auto">
            <a:xfrm>
              <a:off x="8037136" y="3015566"/>
              <a:ext cx="1153032" cy="31233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93AAC652-BC96-2484-9798-2949607CBCC2}"/>
              </a:ext>
            </a:extLst>
          </p:cNvPr>
          <p:cNvGrpSpPr/>
          <p:nvPr/>
        </p:nvGrpSpPr>
        <p:grpSpPr>
          <a:xfrm>
            <a:off x="2014427" y="2461193"/>
            <a:ext cx="740190" cy="740190"/>
            <a:chOff x="2348663" y="2082984"/>
            <a:chExt cx="1248038" cy="1248038"/>
          </a:xfrm>
        </p:grpSpPr>
        <p:sp>
          <p:nvSpPr>
            <p:cNvPr id="16" name="Oval 15">
              <a:hlinkClick r:id="rId7"/>
              <a:extLst>
                <a:ext uri="{FF2B5EF4-FFF2-40B4-BE49-F238E27FC236}">
                  <a16:creationId xmlns:a16="http://schemas.microsoft.com/office/drawing/2014/main" id="{B2A5F043-8755-F210-1C18-81D290B86826}"/>
                </a:ext>
              </a:extLst>
            </p:cNvPr>
            <p:cNvSpPr/>
            <p:nvPr/>
          </p:nvSpPr>
          <p:spPr>
            <a:xfrm>
              <a:off x="2348663" y="2082984"/>
              <a:ext cx="1248038" cy="124803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>
                <a:solidFill>
                  <a:schemeClr val="bg1"/>
                </a:solidFill>
              </a:endParaRPr>
            </a:p>
          </p:txBody>
        </p:sp>
        <p:pic>
          <p:nvPicPr>
            <p:cNvPr id="17" name="Picture 4" descr="New tool to visualize related articles – arXiv blog">
              <a:hlinkClick r:id="rId7"/>
              <a:extLst>
                <a:ext uri="{FF2B5EF4-FFF2-40B4-BE49-F238E27FC236}">
                  <a16:creationId xmlns:a16="http://schemas.microsoft.com/office/drawing/2014/main" id="{34ABEEA5-9A4A-D2F8-BAB5-CF49675F745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48663" y="2463635"/>
              <a:ext cx="1248038" cy="48673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C44C65AF-B2E0-A3B1-DF92-92D9554A4DB7}"/>
              </a:ext>
            </a:extLst>
          </p:cNvPr>
          <p:cNvGrpSpPr/>
          <p:nvPr/>
        </p:nvGrpSpPr>
        <p:grpSpPr>
          <a:xfrm>
            <a:off x="1529040" y="3189089"/>
            <a:ext cx="740190" cy="740190"/>
            <a:chOff x="1095008" y="3352387"/>
            <a:chExt cx="740190" cy="740190"/>
          </a:xfrm>
        </p:grpSpPr>
        <p:sp>
          <p:nvSpPr>
            <p:cNvPr id="20" name="Oval 19">
              <a:hlinkClick r:id="rId9"/>
              <a:extLst>
                <a:ext uri="{FF2B5EF4-FFF2-40B4-BE49-F238E27FC236}">
                  <a16:creationId xmlns:a16="http://schemas.microsoft.com/office/drawing/2014/main" id="{A46194A4-2D73-5D4D-3BC8-CDB9D0712D1E}"/>
                </a:ext>
              </a:extLst>
            </p:cNvPr>
            <p:cNvSpPr/>
            <p:nvPr/>
          </p:nvSpPr>
          <p:spPr>
            <a:xfrm>
              <a:off x="1095008" y="3352387"/>
              <a:ext cx="740190" cy="74019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>
                <a:solidFill>
                  <a:schemeClr val="bg1"/>
                </a:solidFill>
              </a:endParaRPr>
            </a:p>
          </p:txBody>
        </p: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14E10B2B-0FC3-C82B-AC44-2DA2FE11BE24}"/>
                </a:ext>
              </a:extLst>
            </p:cNvPr>
            <p:cNvGrpSpPr/>
            <p:nvPr/>
          </p:nvGrpSpPr>
          <p:grpSpPr>
            <a:xfrm>
              <a:off x="1275391" y="3466148"/>
              <a:ext cx="402697" cy="468588"/>
              <a:chOff x="1239529" y="3395030"/>
              <a:chExt cx="478452" cy="556738"/>
            </a:xfrm>
          </p:grpSpPr>
          <p:pic>
            <p:nvPicPr>
              <p:cNvPr id="21" name="Picture 2" descr="Scalable IT Services Built for AI Startups — Jones IT">
                <a:extLst>
                  <a:ext uri="{FF2B5EF4-FFF2-40B4-BE49-F238E27FC236}">
                    <a16:creationId xmlns:a16="http://schemas.microsoft.com/office/drawing/2014/main" id="{409C67D2-975E-386B-FD67-32565339FF3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0" cstate="print">
                <a:lum bright="70000" contrast="-7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65359"/>
              <a:stretch>
                <a:fillRect/>
              </a:stretch>
            </p:blipFill>
            <p:spPr bwMode="auto">
              <a:xfrm>
                <a:off x="1303494" y="3395030"/>
                <a:ext cx="335282" cy="36889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22" name="Picture 2" descr="Scalable IT Services Built for AI Startups — Jones IT">
                <a:extLst>
                  <a:ext uri="{FF2B5EF4-FFF2-40B4-BE49-F238E27FC236}">
                    <a16:creationId xmlns:a16="http://schemas.microsoft.com/office/drawing/2014/main" id="{EF942499-D010-CAAE-B519-61CE687926E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1" cstate="print">
                <a:lum bright="70000" contrast="-7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4645"/>
              <a:stretch>
                <a:fillRect/>
              </a:stretch>
            </p:blipFill>
            <p:spPr bwMode="auto">
              <a:xfrm>
                <a:off x="1239529" y="3672743"/>
                <a:ext cx="478452" cy="27902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</p:spTree>
    <p:extLst>
      <p:ext uri="{BB962C8B-B14F-4D97-AF65-F5344CB8AC3E}">
        <p14:creationId xmlns:p14="http://schemas.microsoft.com/office/powerpoint/2010/main" val="27632467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8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D60752-E010-1CB6-0383-4E6C03BA1D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634954B2-019E-186C-D15E-0B92BB58433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003616" y="136525"/>
            <a:ext cx="1117563" cy="36512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6E845D0-70B0-405D-A6BF-798C9CBE9027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2/24/2026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14" name="Slide Number Placeholder 2">
            <a:extLst>
              <a:ext uri="{FF2B5EF4-FFF2-40B4-BE49-F238E27FC236}">
                <a16:creationId xmlns:a16="http://schemas.microsoft.com/office/drawing/2014/main" id="{4292BB0F-A38A-F46D-6534-46D9A91FD8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9389" y="6356348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0EA680-D336-4FF7-8B7A-9848BB0A1C3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15" name="Date Placeholder 3">
            <a:extLst>
              <a:ext uri="{FF2B5EF4-FFF2-40B4-BE49-F238E27FC236}">
                <a16:creationId xmlns:a16="http://schemas.microsoft.com/office/drawing/2014/main" id="{544DA4C7-ACD3-F7DC-0F98-562F42BDA254}"/>
              </a:ext>
            </a:extLst>
          </p:cNvPr>
          <p:cNvSpPr txBox="1">
            <a:spLocks/>
          </p:cNvSpPr>
          <p:nvPr/>
        </p:nvSpPr>
        <p:spPr>
          <a:xfrm>
            <a:off x="11003616" y="136525"/>
            <a:ext cx="11175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6E845D0-70B0-405D-A6BF-798C9CBE9027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2/24/2026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30" name="Título 1">
            <a:extLst>
              <a:ext uri="{FF2B5EF4-FFF2-40B4-BE49-F238E27FC236}">
                <a16:creationId xmlns:a16="http://schemas.microsoft.com/office/drawing/2014/main" id="{0180E7F8-9638-D3DA-FD6C-3EBE5E71E4D1}"/>
              </a:ext>
            </a:extLst>
          </p:cNvPr>
          <p:cNvSpPr txBox="1">
            <a:spLocks/>
          </p:cNvSpPr>
          <p:nvPr/>
        </p:nvSpPr>
        <p:spPr>
          <a:xfrm>
            <a:off x="891590" y="501651"/>
            <a:ext cx="7325310" cy="933450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Verdana" panose="020B0604030504040204" pitchFamily="34" charset="0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tos SemiBold" panose="020F0502020204030204" pitchFamily="34" charset="0"/>
                <a:ea typeface="+mj-ea"/>
                <a:cs typeface="+mj-cs"/>
              </a:rPr>
              <a:t>Steps 4 and 5 </a:t>
            </a:r>
          </a:p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tos SemiBold" panose="020F0502020204030204" pitchFamily="34" charset="0"/>
                <a:ea typeface="+mj-ea"/>
                <a:cs typeface="+mj-cs"/>
              </a:rPr>
              <a:t>Articles prioritization and evaluation</a:t>
            </a:r>
          </a:p>
        </p:txBody>
      </p:sp>
      <p:sp>
        <p:nvSpPr>
          <p:cNvPr id="31" name="Footer Placeholder 4">
            <a:extLst>
              <a:ext uri="{FF2B5EF4-FFF2-40B4-BE49-F238E27FC236}">
                <a16:creationId xmlns:a16="http://schemas.microsoft.com/office/drawing/2014/main" id="{0264C5B2-0243-288A-CB8D-7E16AF12D96F}"/>
              </a:ext>
            </a:extLst>
          </p:cNvPr>
          <p:cNvSpPr txBox="1">
            <a:spLocks/>
          </p:cNvSpPr>
          <p:nvPr/>
        </p:nvSpPr>
        <p:spPr>
          <a:xfrm>
            <a:off x="2707689" y="6355745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Data analysis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125773F-0382-41C6-7F06-9B2F4DEDA067}"/>
              </a:ext>
            </a:extLst>
          </p:cNvPr>
          <p:cNvSpPr txBox="1"/>
          <p:nvPr/>
        </p:nvSpPr>
        <p:spPr>
          <a:xfrm>
            <a:off x="891588" y="1800528"/>
            <a:ext cx="71347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noProof="0" dirty="0">
                <a:solidFill>
                  <a:srgbClr val="FF0000"/>
                </a:solidFill>
                <a:latin typeface="Aptos Black" panose="020B0004020202020204" pitchFamily="34" charset="0"/>
              </a:rPr>
              <a:t>1.</a:t>
            </a:r>
            <a:endParaRPr lang="en-US" sz="3200" b="1" noProof="0" dirty="0">
              <a:solidFill>
                <a:srgbClr val="FF0000"/>
              </a:solidFill>
              <a:latin typeface="Aptos Black" panose="020B00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1262086-D233-759E-1012-D1E05316B082}"/>
              </a:ext>
            </a:extLst>
          </p:cNvPr>
          <p:cNvSpPr txBox="1"/>
          <p:nvPr/>
        </p:nvSpPr>
        <p:spPr>
          <a:xfrm>
            <a:off x="6477137" y="1824842"/>
            <a:ext cx="173976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noProof="0" dirty="0">
                <a:solidFill>
                  <a:srgbClr val="FF0000"/>
                </a:solidFill>
              </a:rPr>
              <a:t>Quality evaluation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1DE36DC-2B52-0E74-8506-4D8B6AEE5B1D}"/>
              </a:ext>
            </a:extLst>
          </p:cNvPr>
          <p:cNvSpPr txBox="1"/>
          <p:nvPr/>
        </p:nvSpPr>
        <p:spPr>
          <a:xfrm>
            <a:off x="5883463" y="1826586"/>
            <a:ext cx="59367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noProof="0" dirty="0">
                <a:solidFill>
                  <a:srgbClr val="FF0000"/>
                </a:solidFill>
                <a:latin typeface="Aptos Black" panose="020B0004020202020204" pitchFamily="34" charset="0"/>
              </a:rPr>
              <a:t>2.</a:t>
            </a:r>
            <a:endParaRPr lang="en-US" sz="3200" b="1" noProof="0" dirty="0">
              <a:solidFill>
                <a:srgbClr val="FF0000"/>
              </a:solidFill>
              <a:latin typeface="Aptos Black" panose="020B00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664805E-E1D2-F527-C7AC-28496D9BFF79}"/>
              </a:ext>
            </a:extLst>
          </p:cNvPr>
          <p:cNvSpPr txBox="1"/>
          <p:nvPr/>
        </p:nvSpPr>
        <p:spPr>
          <a:xfrm>
            <a:off x="1568910" y="1800528"/>
            <a:ext cx="4422315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What types of literature should be reviewed, and in what order of priority?</a:t>
            </a:r>
          </a:p>
          <a:p>
            <a:endParaRPr lang="en-US" sz="1600" noProof="0" dirty="0">
              <a:solidFill>
                <a:srgbClr val="DF102C"/>
              </a:solidFill>
            </a:endParaRPr>
          </a:p>
          <a:p>
            <a:r>
              <a:rPr lang="en-US" sz="1600" b="1" dirty="0">
                <a:highlight>
                  <a:srgbClr val="FFC000"/>
                </a:highlight>
              </a:rPr>
              <a:t>If the topic is unfamiliar: </a:t>
            </a:r>
            <a:r>
              <a:rPr lang="en-US" sz="1600" dirty="0"/>
              <a:t>broad literature syntheses, such as encyclopedia entries, meta-analyses, reviews, or series of summaries.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b="1" noProof="0" dirty="0">
              <a:solidFill>
                <a:srgbClr val="DF102C"/>
              </a:solidFill>
            </a:endParaRPr>
          </a:p>
          <a:p>
            <a:r>
              <a:rPr lang="en-US" sz="1600" b="1" dirty="0">
                <a:highlight>
                  <a:srgbClr val="FFC000"/>
                </a:highlight>
              </a:rPr>
              <a:t>Relevance of journals and scientific publications: </a:t>
            </a:r>
            <a:r>
              <a:rPr lang="en-US" sz="1600" dirty="0"/>
              <a:t>review the most recent journal issues and then work backward. Follow the references at the end of the articles to locate more sources.</a:t>
            </a:r>
          </a:p>
          <a:p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>
                    <a:lumMod val="75000"/>
                  </a:schemeClr>
                </a:solidFill>
              </a:rPr>
              <a:t>Review of books and book chapters.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>
                    <a:lumMod val="75000"/>
                  </a:schemeClr>
                </a:solidFill>
              </a:rPr>
              <a:t>Review of conference papers and presentations.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noProof="0" dirty="0">
              <a:solidFill>
                <a:srgbClr val="DF102C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F28A03A-DDAF-65EE-62BE-5E8746430642}"/>
              </a:ext>
            </a:extLst>
          </p:cNvPr>
          <p:cNvSpPr txBox="1"/>
          <p:nvPr/>
        </p:nvSpPr>
        <p:spPr>
          <a:xfrm>
            <a:off x="6296024" y="2551837"/>
            <a:ext cx="4114800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highlight>
                  <a:srgbClr val="FFC000"/>
                </a:highlight>
              </a:rPr>
              <a:t>Journals</a:t>
            </a:r>
            <a:r>
              <a:rPr lang="en-US" sz="1600" dirty="0"/>
              <a:t>: look for articles published in peer‑reviewed journals. These are journals with an editorial board.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highlight>
                  <a:srgbClr val="FFC000"/>
                </a:highlight>
              </a:rPr>
              <a:t>Books</a:t>
            </a:r>
            <a:r>
              <a:rPr lang="en-US" sz="1600" dirty="0"/>
              <a:t>: look for publishers with recognized names and years of service.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highlight>
                  <a:srgbClr val="FFC000"/>
                </a:highlight>
              </a:rPr>
              <a:t>Conference papers</a:t>
            </a:r>
            <a:r>
              <a:rPr lang="en-US" sz="1600" dirty="0"/>
              <a:t>: they may provide useful and high‑quality information if the work is included as a presentation in a recent conference.</a:t>
            </a:r>
            <a:endParaRPr lang="en-GB" sz="1600" dirty="0"/>
          </a:p>
        </p:txBody>
      </p:sp>
    </p:spTree>
    <p:extLst>
      <p:ext uri="{BB962C8B-B14F-4D97-AF65-F5344CB8AC3E}">
        <p14:creationId xmlns:p14="http://schemas.microsoft.com/office/powerpoint/2010/main" val="25347910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72000">
              <a:srgbClr val="F22D1C"/>
            </a:gs>
            <a:gs pos="0">
              <a:srgbClr val="DF102C"/>
            </a:gs>
            <a:gs pos="100000">
              <a:srgbClr val="F26665"/>
            </a:gs>
          </a:gsLst>
          <a:lin ang="30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44F14D4-4D44-AE17-BD02-9CBA4697F8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AB48E772-73E6-6CD9-5EB8-53839232AD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9389" y="6356348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0EA680-D336-4FF7-8B7A-9848BB0A1C3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BDEA7F5-CAF7-9B29-5A5C-B0A8AE4259DA}"/>
              </a:ext>
            </a:extLst>
          </p:cNvPr>
          <p:cNvSpPr txBox="1">
            <a:spLocks/>
          </p:cNvSpPr>
          <p:nvPr/>
        </p:nvSpPr>
        <p:spPr>
          <a:xfrm>
            <a:off x="891589" y="501650"/>
            <a:ext cx="4480511" cy="1338391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Verdana" panose="020B0604030504040204" pitchFamily="34" charset="0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Aptos SemiBold" panose="020F0502020204030204" pitchFamily="34" charset="0"/>
              <a:ea typeface="+mj-ea"/>
              <a:cs typeface="+mj-cs"/>
            </a:endParaRPr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1D2C58C2-56A2-71E4-E34F-8AE2DC647374}"/>
              </a:ext>
            </a:extLst>
          </p:cNvPr>
          <p:cNvSpPr txBox="1">
            <a:spLocks/>
          </p:cNvSpPr>
          <p:nvPr/>
        </p:nvSpPr>
        <p:spPr>
          <a:xfrm>
            <a:off x="11003616" y="136525"/>
            <a:ext cx="11175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6E845D0-70B0-405D-A6BF-798C9CBE9027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2/24/2026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5E071DAB-D3C7-AE00-987A-BB909FE7219E}"/>
              </a:ext>
            </a:extLst>
          </p:cNvPr>
          <p:cNvSpPr txBox="1">
            <a:spLocks/>
          </p:cNvSpPr>
          <p:nvPr/>
        </p:nvSpPr>
        <p:spPr>
          <a:xfrm>
            <a:off x="891590" y="501651"/>
            <a:ext cx="10590997" cy="516362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Verdana" panose="020B0604030504040204" pitchFamily="34" charset="0"/>
                <a:ea typeface="+mj-ea"/>
                <a:cs typeface="+mj-cs"/>
              </a:defRPr>
            </a:lvl1pPr>
          </a:lstStyle>
          <a:p>
            <a:pPr lvl="0">
              <a:lnSpc>
                <a:spcPct val="80000"/>
              </a:lnSpc>
              <a:defRPr/>
            </a:pPr>
            <a:r>
              <a:rPr lang="en-US" sz="3200" b="1" dirty="0">
                <a:solidFill>
                  <a:schemeClr val="bg1"/>
                </a:solidFill>
                <a:latin typeface="Aptos SemiBold" panose="020F0502020204030204" pitchFamily="34" charset="0"/>
              </a:rPr>
              <a:t>Steps 4 and 5 </a:t>
            </a:r>
          </a:p>
          <a:p>
            <a:pPr lvl="0">
              <a:lnSpc>
                <a:spcPct val="80000"/>
              </a:lnSpc>
              <a:defRPr/>
            </a:pPr>
            <a:r>
              <a:rPr lang="en-US" sz="3200" b="1" dirty="0">
                <a:solidFill>
                  <a:schemeClr val="bg1"/>
                </a:solidFill>
                <a:latin typeface="Aptos SemiBold" panose="020F0502020204030204" pitchFamily="34" charset="0"/>
              </a:rPr>
              <a:t>Articles prioritization and evaluation</a:t>
            </a:r>
          </a:p>
        </p:txBody>
      </p:sp>
      <p:pic>
        <p:nvPicPr>
          <p:cNvPr id="81" name="Picture 4" descr="No hay ninguna descripción de la foto disponible.">
            <a:extLst>
              <a:ext uri="{FF2B5EF4-FFF2-40B4-BE49-F238E27FC236}">
                <a16:creationId xmlns:a16="http://schemas.microsoft.com/office/drawing/2014/main" id="{C0D71CC8-C854-3C88-37B9-A8A53056193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biLevel thresh="25000"/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11200"/>
                    </a14:imgEffect>
                    <a14:imgEffect>
                      <a14:brightnessContrast bright="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26703" b="28790"/>
          <a:stretch/>
        </p:blipFill>
        <p:spPr bwMode="auto">
          <a:xfrm>
            <a:off x="843835" y="6356349"/>
            <a:ext cx="267089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F414EDD-E293-013C-AD31-489F7E40EACB}"/>
              </a:ext>
            </a:extLst>
          </p:cNvPr>
          <p:cNvSpPr txBox="1"/>
          <p:nvPr/>
        </p:nvSpPr>
        <p:spPr>
          <a:xfrm>
            <a:off x="911346" y="1837754"/>
            <a:ext cx="16005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C000"/>
                </a:highlight>
                <a:uLnTx/>
                <a:uFillTx/>
                <a:latin typeface="Aptos" panose="020B0004020202020204"/>
                <a:ea typeface="+mn-ea"/>
                <a:cs typeface="+mn-cs"/>
              </a:rPr>
              <a:t>Identification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9EED5203-32C1-4390-187B-EFE4F019BC09}"/>
              </a:ext>
            </a:extLst>
          </p:cNvPr>
          <p:cNvSpPr/>
          <p:nvPr/>
        </p:nvSpPr>
        <p:spPr>
          <a:xfrm>
            <a:off x="2511914" y="1899571"/>
            <a:ext cx="3435806" cy="63949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B72F94E5-332D-97AA-B093-DCE738CF4AF0}"/>
              </a:ext>
            </a:extLst>
          </p:cNvPr>
          <p:cNvSpPr txBox="1"/>
          <p:nvPr/>
        </p:nvSpPr>
        <p:spPr>
          <a:xfrm>
            <a:off x="3133678" y="2020669"/>
            <a:ext cx="29976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Records defined through data base searching </a:t>
            </a:r>
            <a:r>
              <a:rPr lang="en-US" sz="1200" b="1" dirty="0"/>
              <a:t>(n = 97)</a:t>
            </a:r>
            <a:endParaRPr lang="en-US" sz="1100" b="1" noProof="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F9A575C0-46BF-C2CE-3759-26386360C2BA}"/>
              </a:ext>
            </a:extLst>
          </p:cNvPr>
          <p:cNvSpPr txBox="1"/>
          <p:nvPr/>
        </p:nvSpPr>
        <p:spPr>
          <a:xfrm>
            <a:off x="2764823" y="2029083"/>
            <a:ext cx="52538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noProof="0" dirty="0">
                <a:latin typeface="Aptos Black" panose="020B0004020202020204" pitchFamily="34" charset="0"/>
              </a:rPr>
              <a:t>1.</a:t>
            </a: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649F6A9B-96AC-C5FC-127E-074B3B841F6B}"/>
              </a:ext>
            </a:extLst>
          </p:cNvPr>
          <p:cNvSpPr txBox="1"/>
          <p:nvPr/>
        </p:nvSpPr>
        <p:spPr>
          <a:xfrm>
            <a:off x="911346" y="2575823"/>
            <a:ext cx="16005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C000"/>
                </a:highlight>
                <a:uLnTx/>
                <a:uFillTx/>
                <a:latin typeface="Aptos" panose="020B0004020202020204"/>
                <a:ea typeface="+mn-ea"/>
                <a:cs typeface="+mn-cs"/>
              </a:rPr>
              <a:t>Screening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57D604DE-6FD3-FFD1-5735-49733D9414E1}"/>
              </a:ext>
            </a:extLst>
          </p:cNvPr>
          <p:cNvSpPr/>
          <p:nvPr/>
        </p:nvSpPr>
        <p:spPr>
          <a:xfrm>
            <a:off x="2511914" y="2566298"/>
            <a:ext cx="3435806" cy="63949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BBF10330-19A4-C88F-BC55-AC57A4FD2155}"/>
              </a:ext>
            </a:extLst>
          </p:cNvPr>
          <p:cNvSpPr txBox="1"/>
          <p:nvPr/>
        </p:nvSpPr>
        <p:spPr>
          <a:xfrm>
            <a:off x="3133678" y="2687396"/>
            <a:ext cx="281404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Records after duplicates removed</a:t>
            </a:r>
            <a:br>
              <a:rPr lang="en-US" sz="1200" dirty="0"/>
            </a:br>
            <a:r>
              <a:rPr lang="en-US" sz="1200" b="1" dirty="0"/>
              <a:t>(n = 92)</a:t>
            </a:r>
            <a:endParaRPr lang="en-US" sz="1100" b="1" noProof="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87FBCE08-D088-4542-9F3F-D374D64842F4}"/>
              </a:ext>
            </a:extLst>
          </p:cNvPr>
          <p:cNvSpPr txBox="1"/>
          <p:nvPr/>
        </p:nvSpPr>
        <p:spPr>
          <a:xfrm>
            <a:off x="2764823" y="2695810"/>
            <a:ext cx="52538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Aptos Black" panose="020B0004020202020204" pitchFamily="34" charset="0"/>
              </a:rPr>
              <a:t>2</a:t>
            </a:r>
            <a:r>
              <a:rPr lang="en-US" sz="2000" b="1" noProof="0" dirty="0">
                <a:latin typeface="Aptos Black" panose="020B0004020202020204" pitchFamily="34" charset="0"/>
              </a:rPr>
              <a:t>.</a:t>
            </a:r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689C4E0A-E048-668E-E4A1-83A9C5EEE057}"/>
              </a:ext>
            </a:extLst>
          </p:cNvPr>
          <p:cNvSpPr/>
          <p:nvPr/>
        </p:nvSpPr>
        <p:spPr>
          <a:xfrm>
            <a:off x="2511914" y="3233831"/>
            <a:ext cx="3435806" cy="63949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D517AE07-7F54-B778-2BBE-8EE92D9BB186}"/>
              </a:ext>
            </a:extLst>
          </p:cNvPr>
          <p:cNvSpPr txBox="1"/>
          <p:nvPr/>
        </p:nvSpPr>
        <p:spPr>
          <a:xfrm>
            <a:off x="3133678" y="3354929"/>
            <a:ext cx="281404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Records screened</a:t>
            </a:r>
            <a:br>
              <a:rPr lang="en-US" sz="1200" dirty="0"/>
            </a:br>
            <a:r>
              <a:rPr lang="en-US" sz="1200" b="1" dirty="0"/>
              <a:t>(n = 92)</a:t>
            </a:r>
            <a:endParaRPr lang="en-US" sz="1100" b="1" noProof="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34C2DE21-0A41-3A6F-13A5-BCC702A0530C}"/>
              </a:ext>
            </a:extLst>
          </p:cNvPr>
          <p:cNvSpPr txBox="1"/>
          <p:nvPr/>
        </p:nvSpPr>
        <p:spPr>
          <a:xfrm>
            <a:off x="2764823" y="3363343"/>
            <a:ext cx="52538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noProof="0" dirty="0">
                <a:latin typeface="Aptos Black" panose="020B0004020202020204" pitchFamily="34" charset="0"/>
              </a:rPr>
              <a:t>3.</a:t>
            </a: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496D11AF-9251-B169-4D47-DD253DC54B07}"/>
              </a:ext>
            </a:extLst>
          </p:cNvPr>
          <p:cNvSpPr txBox="1"/>
          <p:nvPr/>
        </p:nvSpPr>
        <p:spPr>
          <a:xfrm>
            <a:off x="911346" y="3903745"/>
            <a:ext cx="16005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C000"/>
                </a:highlight>
                <a:uLnTx/>
                <a:uFillTx/>
                <a:latin typeface="Aptos" panose="020B0004020202020204"/>
                <a:ea typeface="+mn-ea"/>
                <a:cs typeface="+mn-cs"/>
              </a:rPr>
              <a:t>Eligibility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45D2EB85-F8EA-C059-89D9-B11A969C3991}"/>
              </a:ext>
            </a:extLst>
          </p:cNvPr>
          <p:cNvSpPr/>
          <p:nvPr/>
        </p:nvSpPr>
        <p:spPr>
          <a:xfrm>
            <a:off x="2511914" y="3898660"/>
            <a:ext cx="3435806" cy="63949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925D9932-3493-2D51-B86B-B3B04ECBBDC6}"/>
              </a:ext>
            </a:extLst>
          </p:cNvPr>
          <p:cNvSpPr txBox="1"/>
          <p:nvPr/>
        </p:nvSpPr>
        <p:spPr>
          <a:xfrm>
            <a:off x="3133678" y="4019758"/>
            <a:ext cx="281404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Full text articles assessed for eligibility </a:t>
            </a:r>
            <a:r>
              <a:rPr lang="en-US" sz="1200" b="1" dirty="0"/>
              <a:t>(n = 64)</a:t>
            </a:r>
            <a:endParaRPr lang="en-US" sz="1100" b="1" noProof="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D3300DED-F5D1-400B-7A6B-3FD49368E54D}"/>
              </a:ext>
            </a:extLst>
          </p:cNvPr>
          <p:cNvSpPr txBox="1"/>
          <p:nvPr/>
        </p:nvSpPr>
        <p:spPr>
          <a:xfrm>
            <a:off x="2764823" y="4028172"/>
            <a:ext cx="52538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noProof="0" dirty="0">
                <a:latin typeface="Aptos Black" panose="020B0004020202020204" pitchFamily="34" charset="0"/>
              </a:rPr>
              <a:t>4.</a:t>
            </a:r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5A6EE122-5D36-4E67-60F3-3DAC0E0D18E9}"/>
              </a:ext>
            </a:extLst>
          </p:cNvPr>
          <p:cNvSpPr/>
          <p:nvPr/>
        </p:nvSpPr>
        <p:spPr>
          <a:xfrm>
            <a:off x="2511914" y="4566193"/>
            <a:ext cx="3435806" cy="63949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31A0999D-6E2A-CB0D-6C4D-7E8788AD69C1}"/>
              </a:ext>
            </a:extLst>
          </p:cNvPr>
          <p:cNvSpPr txBox="1"/>
          <p:nvPr/>
        </p:nvSpPr>
        <p:spPr>
          <a:xfrm>
            <a:off x="3133678" y="4687291"/>
            <a:ext cx="281404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Studies included</a:t>
            </a:r>
            <a:br>
              <a:rPr lang="en-US" sz="1200" dirty="0"/>
            </a:br>
            <a:r>
              <a:rPr lang="en-US" sz="1100" b="1" dirty="0"/>
              <a:t>(n = 46)</a:t>
            </a:r>
            <a:endParaRPr lang="en-US" sz="1100" b="1" noProof="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10856394-BAFE-54D7-4B2F-BE52140F8580}"/>
              </a:ext>
            </a:extLst>
          </p:cNvPr>
          <p:cNvSpPr txBox="1"/>
          <p:nvPr/>
        </p:nvSpPr>
        <p:spPr>
          <a:xfrm>
            <a:off x="2764823" y="4695705"/>
            <a:ext cx="52538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Aptos Black" panose="020B0004020202020204" pitchFamily="34" charset="0"/>
              </a:rPr>
              <a:t>5</a:t>
            </a:r>
            <a:r>
              <a:rPr lang="en-US" sz="2000" b="1" noProof="0" dirty="0">
                <a:latin typeface="Aptos Black" panose="020B0004020202020204" pitchFamily="34" charset="0"/>
              </a:rPr>
              <a:t>.</a:t>
            </a:r>
          </a:p>
        </p:txBody>
      </p:sp>
      <p:sp>
        <p:nvSpPr>
          <p:cNvPr id="157" name="Rectangle 156">
            <a:extLst>
              <a:ext uri="{FF2B5EF4-FFF2-40B4-BE49-F238E27FC236}">
                <a16:creationId xmlns:a16="http://schemas.microsoft.com/office/drawing/2014/main" id="{F0669EA1-EF6F-BC19-9183-A7CF837852D2}"/>
              </a:ext>
            </a:extLst>
          </p:cNvPr>
          <p:cNvSpPr/>
          <p:nvPr/>
        </p:nvSpPr>
        <p:spPr>
          <a:xfrm>
            <a:off x="2511913" y="5230432"/>
            <a:ext cx="3435806" cy="67197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FDEA6DA8-788C-C920-DC69-C8F3782A818F}"/>
              </a:ext>
            </a:extLst>
          </p:cNvPr>
          <p:cNvSpPr txBox="1"/>
          <p:nvPr/>
        </p:nvSpPr>
        <p:spPr>
          <a:xfrm>
            <a:off x="3133677" y="5351531"/>
            <a:ext cx="281404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Total number of studies included</a:t>
            </a:r>
            <a:br>
              <a:rPr lang="en-US" sz="1200" dirty="0"/>
            </a:br>
            <a:r>
              <a:rPr lang="en-US" sz="1100" b="1" dirty="0"/>
              <a:t>(n = 99)</a:t>
            </a:r>
            <a:endParaRPr lang="en-US" sz="1100" b="1" noProof="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CE0B4B62-145B-D03D-CF8A-930AC9F1B30D}"/>
              </a:ext>
            </a:extLst>
          </p:cNvPr>
          <p:cNvSpPr txBox="1"/>
          <p:nvPr/>
        </p:nvSpPr>
        <p:spPr>
          <a:xfrm>
            <a:off x="2764822" y="5359945"/>
            <a:ext cx="52538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noProof="0" dirty="0">
                <a:latin typeface="Aptos Black" panose="020B0004020202020204" pitchFamily="34" charset="0"/>
              </a:rPr>
              <a:t>6.</a:t>
            </a: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3E2DF1E2-4BA5-B7D1-E319-4DE39B82D992}"/>
              </a:ext>
            </a:extLst>
          </p:cNvPr>
          <p:cNvSpPr txBox="1"/>
          <p:nvPr/>
        </p:nvSpPr>
        <p:spPr>
          <a:xfrm>
            <a:off x="911346" y="4570046"/>
            <a:ext cx="16005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C000"/>
                </a:highlight>
                <a:uLnTx/>
                <a:uFillTx/>
                <a:latin typeface="Aptos" panose="020B0004020202020204"/>
                <a:ea typeface="+mn-ea"/>
                <a:cs typeface="+mn-cs"/>
              </a:rPr>
              <a:t>Inclusion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161" name="Rectangle 160">
            <a:extLst>
              <a:ext uri="{FF2B5EF4-FFF2-40B4-BE49-F238E27FC236}">
                <a16:creationId xmlns:a16="http://schemas.microsoft.com/office/drawing/2014/main" id="{070A351C-DF18-7912-5143-4932815EFD89}"/>
              </a:ext>
            </a:extLst>
          </p:cNvPr>
          <p:cNvSpPr/>
          <p:nvPr/>
        </p:nvSpPr>
        <p:spPr>
          <a:xfrm>
            <a:off x="6440142" y="2591012"/>
            <a:ext cx="3435806" cy="108918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97B40940-D83C-5677-AC49-0D96082F46F4}"/>
              </a:ext>
            </a:extLst>
          </p:cNvPr>
          <p:cNvSpPr txBox="1"/>
          <p:nvPr/>
        </p:nvSpPr>
        <p:spPr>
          <a:xfrm>
            <a:off x="6520701" y="2679925"/>
            <a:ext cx="3342546" cy="10002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>
                <a:highlight>
                  <a:srgbClr val="FFC000"/>
                </a:highlight>
              </a:rPr>
              <a:t>Records excluded (n = 28)</a:t>
            </a:r>
            <a:endParaRPr lang="en-US" sz="1200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Conference proceeding (n = 9)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No guidance on review (n=4)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Irrelevant methodology to design (n=15)</a:t>
            </a:r>
            <a:br>
              <a:rPr lang="en-US" sz="1200" dirty="0">
                <a:highlight>
                  <a:srgbClr val="FFC000"/>
                </a:highlight>
              </a:rPr>
            </a:br>
            <a:endParaRPr lang="en-US" sz="1100" noProof="0" dirty="0">
              <a:solidFill>
                <a:schemeClr val="bg1">
                  <a:lumMod val="75000"/>
                </a:schemeClr>
              </a:solidFill>
              <a:highlight>
                <a:srgbClr val="FFC000"/>
              </a:highlight>
            </a:endParaRPr>
          </a:p>
        </p:txBody>
      </p:sp>
      <p:sp>
        <p:nvSpPr>
          <p:cNvPr id="168" name="Rectangle 167">
            <a:extLst>
              <a:ext uri="{FF2B5EF4-FFF2-40B4-BE49-F238E27FC236}">
                <a16:creationId xmlns:a16="http://schemas.microsoft.com/office/drawing/2014/main" id="{C112D505-951F-3AF4-BE4D-49DD15292F01}"/>
              </a:ext>
            </a:extLst>
          </p:cNvPr>
          <p:cNvSpPr/>
          <p:nvPr/>
        </p:nvSpPr>
        <p:spPr>
          <a:xfrm>
            <a:off x="6440140" y="3713607"/>
            <a:ext cx="3435806" cy="100027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55BCC10E-AE69-BBCF-F2D7-7837625E12DA}"/>
              </a:ext>
            </a:extLst>
          </p:cNvPr>
          <p:cNvSpPr txBox="1"/>
          <p:nvPr/>
        </p:nvSpPr>
        <p:spPr>
          <a:xfrm>
            <a:off x="6569482" y="3739952"/>
            <a:ext cx="3342546" cy="10002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>
                <a:highlight>
                  <a:srgbClr val="FFC000"/>
                </a:highlight>
              </a:rPr>
              <a:t>Full articles excluded (n =18)</a:t>
            </a:r>
            <a:endParaRPr lang="en-US" sz="1200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Conference proceeding (n = 9)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No guidance on review (n=4)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Irrelevant methodology to design (n=15)</a:t>
            </a:r>
            <a:br>
              <a:rPr lang="en-US" sz="1200" dirty="0">
                <a:highlight>
                  <a:srgbClr val="FFC000"/>
                </a:highlight>
              </a:rPr>
            </a:br>
            <a:endParaRPr lang="en-US" sz="1100" noProof="0" dirty="0">
              <a:solidFill>
                <a:schemeClr val="bg1">
                  <a:lumMod val="75000"/>
                </a:schemeClr>
              </a:solidFill>
              <a:highlight>
                <a:srgbClr val="FFC000"/>
              </a:highlight>
            </a:endParaRPr>
          </a:p>
        </p:txBody>
      </p:sp>
      <p:sp>
        <p:nvSpPr>
          <p:cNvPr id="178" name="Rectangle 177">
            <a:extLst>
              <a:ext uri="{FF2B5EF4-FFF2-40B4-BE49-F238E27FC236}">
                <a16:creationId xmlns:a16="http://schemas.microsoft.com/office/drawing/2014/main" id="{D736AC67-7E16-BC99-8AA8-2A11C6CF1151}"/>
              </a:ext>
            </a:extLst>
          </p:cNvPr>
          <p:cNvSpPr/>
          <p:nvPr/>
        </p:nvSpPr>
        <p:spPr>
          <a:xfrm>
            <a:off x="6440140" y="4746749"/>
            <a:ext cx="3435806" cy="48286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A00C8C3B-9400-7A79-7038-FADA89930363}"/>
              </a:ext>
            </a:extLst>
          </p:cNvPr>
          <p:cNvSpPr txBox="1"/>
          <p:nvPr/>
        </p:nvSpPr>
        <p:spPr>
          <a:xfrm>
            <a:off x="6569482" y="4773094"/>
            <a:ext cx="334254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>
                <a:highlight>
                  <a:srgbClr val="FFC000"/>
                </a:highlight>
              </a:rPr>
              <a:t>Additional record identified – forward and backward searches </a:t>
            </a:r>
            <a:r>
              <a:rPr lang="es-CO" sz="1200" b="1" dirty="0">
                <a:highlight>
                  <a:srgbClr val="FFC000"/>
                </a:highlight>
              </a:rPr>
              <a:t>(n </a:t>
            </a:r>
            <a:r>
              <a:rPr lang="en-US" sz="1200" b="1" dirty="0">
                <a:highlight>
                  <a:srgbClr val="FFC000"/>
                </a:highlight>
              </a:rPr>
              <a:t>= 17)</a:t>
            </a:r>
            <a:endParaRPr lang="en-US" sz="1100" noProof="0" dirty="0">
              <a:solidFill>
                <a:schemeClr val="bg1">
                  <a:lumMod val="75000"/>
                </a:schemeClr>
              </a:solidFill>
              <a:highlight>
                <a:srgbClr val="FFC000"/>
              </a:highlight>
            </a:endParaRPr>
          </a:p>
        </p:txBody>
      </p:sp>
      <p:sp>
        <p:nvSpPr>
          <p:cNvPr id="182" name="Rectangle 181">
            <a:extLst>
              <a:ext uri="{FF2B5EF4-FFF2-40B4-BE49-F238E27FC236}">
                <a16:creationId xmlns:a16="http://schemas.microsoft.com/office/drawing/2014/main" id="{DEB11EAD-4A1C-6E4C-10B7-A7B012699578}"/>
              </a:ext>
            </a:extLst>
          </p:cNvPr>
          <p:cNvSpPr/>
          <p:nvPr/>
        </p:nvSpPr>
        <p:spPr>
          <a:xfrm>
            <a:off x="6440140" y="5264829"/>
            <a:ext cx="3435806" cy="62981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5" name="TextBox 184">
            <a:extLst>
              <a:ext uri="{FF2B5EF4-FFF2-40B4-BE49-F238E27FC236}">
                <a16:creationId xmlns:a16="http://schemas.microsoft.com/office/drawing/2014/main" id="{F68F59F4-C6D9-F2E8-A2D0-D5786D30872D}"/>
              </a:ext>
            </a:extLst>
          </p:cNvPr>
          <p:cNvSpPr txBox="1"/>
          <p:nvPr/>
        </p:nvSpPr>
        <p:spPr>
          <a:xfrm>
            <a:off x="6569482" y="5344061"/>
            <a:ext cx="311060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>
                <a:highlight>
                  <a:srgbClr val="FFC000"/>
                </a:highlight>
              </a:rPr>
              <a:t>Additional methods and example papers (n = 37)</a:t>
            </a:r>
            <a:endParaRPr lang="en-US" sz="1100" noProof="0" dirty="0">
              <a:solidFill>
                <a:schemeClr val="bg1">
                  <a:lumMod val="75000"/>
                </a:schemeClr>
              </a:solidFill>
              <a:highlight>
                <a:srgbClr val="FFC000"/>
              </a:highlight>
            </a:endParaRPr>
          </a:p>
        </p:txBody>
      </p:sp>
      <p:cxnSp>
        <p:nvCxnSpPr>
          <p:cNvPr id="187" name="Straight Arrow Connector 186">
            <a:extLst>
              <a:ext uri="{FF2B5EF4-FFF2-40B4-BE49-F238E27FC236}">
                <a16:creationId xmlns:a16="http://schemas.microsoft.com/office/drawing/2014/main" id="{5FB726EB-E075-462A-756F-664918165303}"/>
              </a:ext>
            </a:extLst>
          </p:cNvPr>
          <p:cNvCxnSpPr>
            <a:cxnSpLocks/>
            <a:stCxn id="137" idx="3"/>
            <a:endCxn id="161" idx="1"/>
          </p:cNvCxnSpPr>
          <p:nvPr/>
        </p:nvCxnSpPr>
        <p:spPr>
          <a:xfrm flipV="1">
            <a:off x="5947719" y="3135606"/>
            <a:ext cx="492423" cy="4501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Straight Arrow Connector 196">
            <a:extLst>
              <a:ext uri="{FF2B5EF4-FFF2-40B4-BE49-F238E27FC236}">
                <a16:creationId xmlns:a16="http://schemas.microsoft.com/office/drawing/2014/main" id="{548C8AAC-61C4-91A0-14E6-BFF8FD442670}"/>
              </a:ext>
            </a:extLst>
          </p:cNvPr>
          <p:cNvCxnSpPr>
            <a:cxnSpLocks/>
            <a:stCxn id="178" idx="1"/>
            <a:endCxn id="158" idx="3"/>
          </p:cNvCxnSpPr>
          <p:nvPr/>
        </p:nvCxnSpPr>
        <p:spPr>
          <a:xfrm flipH="1">
            <a:off x="5947718" y="4988184"/>
            <a:ext cx="492422" cy="5941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Straight Arrow Connector 199">
            <a:extLst>
              <a:ext uri="{FF2B5EF4-FFF2-40B4-BE49-F238E27FC236}">
                <a16:creationId xmlns:a16="http://schemas.microsoft.com/office/drawing/2014/main" id="{CBA5A01A-8650-C189-524B-17230D31CE0C}"/>
              </a:ext>
            </a:extLst>
          </p:cNvPr>
          <p:cNvCxnSpPr>
            <a:cxnSpLocks/>
          </p:cNvCxnSpPr>
          <p:nvPr/>
        </p:nvCxnSpPr>
        <p:spPr>
          <a:xfrm flipV="1">
            <a:off x="5947718" y="5715662"/>
            <a:ext cx="492422" cy="262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Straight Arrow Connector 202">
            <a:extLst>
              <a:ext uri="{FF2B5EF4-FFF2-40B4-BE49-F238E27FC236}">
                <a16:creationId xmlns:a16="http://schemas.microsoft.com/office/drawing/2014/main" id="{B73D9A1C-380D-C9F4-CAF7-DB13D2AF8140}"/>
              </a:ext>
            </a:extLst>
          </p:cNvPr>
          <p:cNvCxnSpPr>
            <a:cxnSpLocks/>
          </p:cNvCxnSpPr>
          <p:nvPr/>
        </p:nvCxnSpPr>
        <p:spPr>
          <a:xfrm flipV="1">
            <a:off x="5964191" y="4854802"/>
            <a:ext cx="492422" cy="262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" name="Straight Arrow Connector 203">
            <a:extLst>
              <a:ext uri="{FF2B5EF4-FFF2-40B4-BE49-F238E27FC236}">
                <a16:creationId xmlns:a16="http://schemas.microsoft.com/office/drawing/2014/main" id="{8E511BD6-5ED2-F916-D8B6-527508326662}"/>
              </a:ext>
            </a:extLst>
          </p:cNvPr>
          <p:cNvCxnSpPr>
            <a:cxnSpLocks/>
          </p:cNvCxnSpPr>
          <p:nvPr/>
        </p:nvCxnSpPr>
        <p:spPr>
          <a:xfrm flipV="1">
            <a:off x="5947718" y="4146347"/>
            <a:ext cx="492422" cy="262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3070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1" grpId="0"/>
      <p:bldP spid="132" grpId="0"/>
      <p:bldP spid="134" grpId="0"/>
      <p:bldP spid="137" grpId="0"/>
      <p:bldP spid="139" grpId="0"/>
      <p:bldP spid="141" grpId="0"/>
      <p:bldP spid="144" grpId="0"/>
      <p:bldP spid="158" grpId="0"/>
      <p:bldP spid="160" grpId="0"/>
      <p:bldP spid="162" grpId="0"/>
      <p:bldP spid="169" grpId="0"/>
      <p:bldP spid="179" grpId="0"/>
      <p:bldP spid="18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62E1D6-EB97-6758-95F7-04B52E7B7F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15E1FBD3-5806-D383-DEB2-006399C50EA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003616" y="136525"/>
            <a:ext cx="1117563" cy="36512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6E845D0-70B0-405D-A6BF-798C9CBE9027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2/24/2026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0F419863-D70C-3D4D-BDD7-B3435EA768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9389" y="6356348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0EA680-D336-4FF7-8B7A-9848BB0A1C3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F7DF7232-354E-7CE2-3BFD-C288FBC8F1ED}"/>
              </a:ext>
            </a:extLst>
          </p:cNvPr>
          <p:cNvSpPr txBox="1">
            <a:spLocks/>
          </p:cNvSpPr>
          <p:nvPr/>
        </p:nvSpPr>
        <p:spPr>
          <a:xfrm>
            <a:off x="11003616" y="136525"/>
            <a:ext cx="11175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6E845D0-70B0-405D-A6BF-798C9CBE9027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2/24/2026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5AD41F84-B6CB-5381-EF0A-ACFD126F35E2}"/>
              </a:ext>
            </a:extLst>
          </p:cNvPr>
          <p:cNvSpPr txBox="1">
            <a:spLocks/>
          </p:cNvSpPr>
          <p:nvPr/>
        </p:nvSpPr>
        <p:spPr>
          <a:xfrm>
            <a:off x="891590" y="501651"/>
            <a:ext cx="7325310" cy="933450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Verdana" panose="020B0604030504040204" pitchFamily="34" charset="0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tos SemiBold" panose="020F0502020204030204" pitchFamily="34" charset="0"/>
                <a:ea typeface="+mj-ea"/>
                <a:cs typeface="+mj-cs"/>
              </a:rPr>
              <a:t>Steps 6</a:t>
            </a:r>
          </a:p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tos SemiBold" panose="020F0502020204030204" pitchFamily="34" charset="0"/>
                <a:ea typeface="+mj-ea"/>
                <a:cs typeface="+mj-cs"/>
              </a:rPr>
              <a:t>Literature map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EE1FFDA4-8536-95C8-37BC-9F4216744F88}"/>
              </a:ext>
            </a:extLst>
          </p:cNvPr>
          <p:cNvSpPr txBox="1">
            <a:spLocks/>
          </p:cNvSpPr>
          <p:nvPr/>
        </p:nvSpPr>
        <p:spPr>
          <a:xfrm>
            <a:off x="2707689" y="6355745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Data analysis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43964A5-6607-0317-D587-09C34B4DAC25}"/>
              </a:ext>
            </a:extLst>
          </p:cNvPr>
          <p:cNvSpPr txBox="1"/>
          <p:nvPr/>
        </p:nvSpPr>
        <p:spPr>
          <a:xfrm>
            <a:off x="891590" y="1435101"/>
            <a:ext cx="486913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A literature map enables researchers to organise the literature review. 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It helps researchers </a:t>
            </a:r>
            <a:r>
              <a:rPr lang="en-US" sz="1600" b="1" dirty="0">
                <a:highlight>
                  <a:srgbClr val="FFC000"/>
                </a:highlight>
              </a:rPr>
              <a:t>understand how the proposed study adds </a:t>
            </a:r>
            <a:r>
              <a:rPr lang="en-US" sz="1600" dirty="0"/>
              <a:t>to, expands upon, or replicates existing research.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In positivistic approaches it helps to </a:t>
            </a:r>
            <a:r>
              <a:rPr lang="en-US" sz="1600" b="1" dirty="0">
                <a:highlight>
                  <a:srgbClr val="FFC000"/>
                </a:highlight>
              </a:rPr>
              <a:t>map theoretical relationships </a:t>
            </a:r>
            <a:r>
              <a:rPr lang="en-US" sz="1600" dirty="0"/>
              <a:t>between constructs.</a:t>
            </a:r>
          </a:p>
          <a:p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FA5EC1A-B93C-C9FB-39CA-44E7A5096281}"/>
              </a:ext>
            </a:extLst>
          </p:cNvPr>
          <p:cNvSpPr txBox="1"/>
          <p:nvPr/>
        </p:nvSpPr>
        <p:spPr>
          <a:xfrm>
            <a:off x="1447851" y="3929186"/>
            <a:ext cx="71347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noProof="0" dirty="0">
                <a:solidFill>
                  <a:srgbClr val="FF0000"/>
                </a:solidFill>
                <a:latin typeface="Aptos Black" panose="020B0004020202020204" pitchFamily="34" charset="0"/>
              </a:rPr>
              <a:t>1.</a:t>
            </a:r>
            <a:endParaRPr lang="en-US" sz="3200" b="1" noProof="0" dirty="0">
              <a:solidFill>
                <a:srgbClr val="FF0000"/>
              </a:solidFill>
              <a:latin typeface="Aptos Black" panose="020B00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5FC3E3B-EC09-D36D-7CD3-25B2179BDE44}"/>
              </a:ext>
            </a:extLst>
          </p:cNvPr>
          <p:cNvSpPr txBox="1"/>
          <p:nvPr/>
        </p:nvSpPr>
        <p:spPr>
          <a:xfrm>
            <a:off x="1960526" y="4033126"/>
            <a:ext cx="26068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Hierarchical</a:t>
            </a:r>
            <a:endParaRPr lang="en-US" sz="1600" noProof="0" dirty="0">
              <a:solidFill>
                <a:srgbClr val="DF102C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20A6968-E512-4360-5340-4EEE62410DC6}"/>
              </a:ext>
            </a:extLst>
          </p:cNvPr>
          <p:cNvSpPr txBox="1"/>
          <p:nvPr/>
        </p:nvSpPr>
        <p:spPr>
          <a:xfrm>
            <a:off x="1447850" y="4458455"/>
            <a:ext cx="311952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Presenting the literature from the 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C000"/>
                </a:highlight>
                <a:uLnTx/>
                <a:uFillTx/>
                <a:latin typeface="Aptos" panose="020B0004020202020204"/>
                <a:ea typeface="+mn-ea"/>
                <a:cs typeface="+mn-cs"/>
              </a:rPr>
              <a:t>top down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, ending with the proposed study at the bottom.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DF102C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A8DCB00-C723-FBEF-A7C9-106E32169876}"/>
              </a:ext>
            </a:extLst>
          </p:cNvPr>
          <p:cNvSpPr txBox="1"/>
          <p:nvPr/>
        </p:nvSpPr>
        <p:spPr>
          <a:xfrm>
            <a:off x="4732071" y="3929186"/>
            <a:ext cx="71347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  <a:latin typeface="Aptos Black" panose="020B0004020202020204" pitchFamily="34" charset="0"/>
              </a:rPr>
              <a:t>2</a:t>
            </a:r>
            <a:r>
              <a:rPr lang="en-US" sz="3200" noProof="0" dirty="0">
                <a:solidFill>
                  <a:srgbClr val="FF0000"/>
                </a:solidFill>
                <a:latin typeface="Aptos Black" panose="020B0004020202020204" pitchFamily="34" charset="0"/>
              </a:rPr>
              <a:t>.</a:t>
            </a:r>
            <a:endParaRPr lang="en-US" sz="3200" b="1" noProof="0" dirty="0">
              <a:solidFill>
                <a:srgbClr val="FF0000"/>
              </a:solidFill>
              <a:latin typeface="Aptos Black" panose="020B00040202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065E14F-0B24-05E2-E18F-475C84D430FA}"/>
              </a:ext>
            </a:extLst>
          </p:cNvPr>
          <p:cNvSpPr txBox="1"/>
          <p:nvPr/>
        </p:nvSpPr>
        <p:spPr>
          <a:xfrm>
            <a:off x="5244746" y="4033126"/>
            <a:ext cx="26068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Flow-based</a:t>
            </a:r>
            <a:endParaRPr lang="en-US" sz="1600" noProof="0" dirty="0">
              <a:solidFill>
                <a:srgbClr val="DF102C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138FA29-3FB6-892D-4634-CCB3A9C620BF}"/>
              </a:ext>
            </a:extLst>
          </p:cNvPr>
          <p:cNvSpPr txBox="1"/>
          <p:nvPr/>
        </p:nvSpPr>
        <p:spPr>
          <a:xfrm>
            <a:off x="4732070" y="4458455"/>
            <a:ext cx="3119523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Understands the literature from 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C000"/>
                </a:highlight>
                <a:uLnTx/>
                <a:uFillTx/>
                <a:latin typeface="Aptos" panose="020B0004020202020204"/>
                <a:ea typeface="+mn-ea"/>
                <a:cs typeface="+mn-cs"/>
              </a:rPr>
              <a:t>left to right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, with the far-right section advancing towards a proposed study.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DF102C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4F16A44-0FFF-3143-D2C8-791F927602ED}"/>
              </a:ext>
            </a:extLst>
          </p:cNvPr>
          <p:cNvSpPr txBox="1"/>
          <p:nvPr/>
        </p:nvSpPr>
        <p:spPr>
          <a:xfrm>
            <a:off x="8016291" y="3929186"/>
            <a:ext cx="71347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noProof="0" dirty="0">
                <a:solidFill>
                  <a:srgbClr val="FF0000"/>
                </a:solidFill>
                <a:latin typeface="Aptos Black" panose="020B0004020202020204" pitchFamily="34" charset="0"/>
              </a:rPr>
              <a:t>3.</a:t>
            </a:r>
            <a:endParaRPr lang="en-US" sz="3200" b="1" noProof="0" dirty="0">
              <a:solidFill>
                <a:srgbClr val="FF0000"/>
              </a:solidFill>
              <a:latin typeface="Aptos Black" panose="020B0004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AA84D11-3B65-596F-7B67-E748114A7590}"/>
              </a:ext>
            </a:extLst>
          </p:cNvPr>
          <p:cNvSpPr txBox="1"/>
          <p:nvPr/>
        </p:nvSpPr>
        <p:spPr>
          <a:xfrm>
            <a:off x="8528966" y="4033126"/>
            <a:ext cx="26068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Set-based</a:t>
            </a:r>
            <a:endParaRPr lang="en-US" sz="1600" noProof="0" dirty="0">
              <a:solidFill>
                <a:srgbClr val="DF102C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CEEED6E-44D6-9479-F0C7-4580DF79F27F}"/>
              </a:ext>
            </a:extLst>
          </p:cNvPr>
          <p:cNvSpPr txBox="1"/>
          <p:nvPr/>
        </p:nvSpPr>
        <p:spPr>
          <a:xfrm>
            <a:off x="8016290" y="4458455"/>
            <a:ext cx="3119523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C000"/>
                </a:highlight>
                <a:uLnTx/>
                <a:uFillTx/>
                <a:latin typeface="Aptos" panose="020B0004020202020204"/>
                <a:ea typeface="+mn-ea"/>
                <a:cs typeface="+mn-cs"/>
              </a:rPr>
              <a:t>Circles represent a body of literature,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and the intersection of circles indicates areas where further research is needed.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DF102C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96531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8" grpId="0"/>
      <p:bldP spid="21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CC6456-69A9-6988-5C97-6B75DC22C3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48C86116-0C57-B449-13E6-65FBD6F16AC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003616" y="136525"/>
            <a:ext cx="1117563" cy="36512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6E845D0-70B0-405D-A6BF-798C9CBE9027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2/24/2026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0DA38711-CBAC-1940-B5A7-67DE8CD361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9389" y="6356348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0EA680-D336-4FF7-8B7A-9848BB0A1C3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A3814A2C-F217-C067-F8C3-8716FC16AA78}"/>
              </a:ext>
            </a:extLst>
          </p:cNvPr>
          <p:cNvSpPr txBox="1">
            <a:spLocks/>
          </p:cNvSpPr>
          <p:nvPr/>
        </p:nvSpPr>
        <p:spPr>
          <a:xfrm>
            <a:off x="11003616" y="136525"/>
            <a:ext cx="11175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6E845D0-70B0-405D-A6BF-798C9CBE9027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2/24/2026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2D974E80-93BC-F666-5E0F-4A068B241A93}"/>
              </a:ext>
            </a:extLst>
          </p:cNvPr>
          <p:cNvSpPr txBox="1">
            <a:spLocks/>
          </p:cNvSpPr>
          <p:nvPr/>
        </p:nvSpPr>
        <p:spPr>
          <a:xfrm>
            <a:off x="891590" y="501651"/>
            <a:ext cx="3951976" cy="933450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Verdana" panose="020B0604030504040204" pitchFamily="34" charset="0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tos SemiBold" panose="020F0502020204030204" pitchFamily="34" charset="0"/>
                <a:ea typeface="+mj-ea"/>
                <a:cs typeface="+mj-cs"/>
              </a:rPr>
              <a:t>Steps 6</a:t>
            </a:r>
          </a:p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tos SemiBold" panose="020F0502020204030204" pitchFamily="34" charset="0"/>
                <a:ea typeface="+mj-ea"/>
                <a:cs typeface="+mj-cs"/>
              </a:rPr>
              <a:t>Literature map</a:t>
            </a:r>
            <a:b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tos SemiBold" panose="020F0502020204030204" pitchFamily="34" charset="0"/>
                <a:ea typeface="+mj-ea"/>
                <a:cs typeface="+mj-cs"/>
              </a:rPr>
            </a:br>
            <a:r>
              <a:rPr kumimoji="0" lang="en-US" sz="32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 SemiBold" panose="020F0502020204030204" pitchFamily="34" charset="0"/>
                <a:ea typeface="+mj-ea"/>
                <a:cs typeface="+mj-cs"/>
              </a:rPr>
              <a:t>Set based example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341BD3E7-2554-B613-ECD6-52B69B874454}"/>
              </a:ext>
            </a:extLst>
          </p:cNvPr>
          <p:cNvSpPr txBox="1">
            <a:spLocks/>
          </p:cNvSpPr>
          <p:nvPr/>
        </p:nvSpPr>
        <p:spPr>
          <a:xfrm>
            <a:off x="2707689" y="6355745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Data analysis</a:t>
            </a:r>
          </a:p>
        </p:txBody>
      </p:sp>
      <p:pic>
        <p:nvPicPr>
          <p:cNvPr id="2" name="Picture 1" descr="A network of dots and lines with different colored dots&#10;&#10;Description automatically generated">
            <a:extLst>
              <a:ext uri="{FF2B5EF4-FFF2-40B4-BE49-F238E27FC236}">
                <a16:creationId xmlns:a16="http://schemas.microsoft.com/office/drawing/2014/main" id="{E4DB069F-3C2C-23EF-2512-E8774FF07F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0303" y="238631"/>
            <a:ext cx="6801639" cy="6277102"/>
          </a:xfrm>
          <a:prstGeom prst="rect">
            <a:avLst/>
          </a:prstGeom>
        </p:spPr>
      </p:pic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2A0B114C-160D-9712-2214-807BDD569399}"/>
              </a:ext>
            </a:extLst>
          </p:cNvPr>
          <p:cNvSpPr txBox="1">
            <a:spLocks/>
          </p:cNvSpPr>
          <p:nvPr/>
        </p:nvSpPr>
        <p:spPr>
          <a:xfrm>
            <a:off x="11003616" y="136525"/>
            <a:ext cx="11175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26E845D0-70B0-405D-A6BF-798C9CBE9027}" type="datetime1">
              <a:rPr lang="en-US" smtClean="0">
                <a:solidFill>
                  <a:prstClr val="white"/>
                </a:solidFill>
                <a:latin typeface="Aptos" panose="020B0004020202020204"/>
              </a:rPr>
              <a:pPr>
                <a:defRPr/>
              </a:pPr>
              <a:t>2/24/2026</a:t>
            </a:fld>
            <a:endParaRPr lang="en-US" dirty="0">
              <a:solidFill>
                <a:prstClr val="white"/>
              </a:solidFill>
              <a:latin typeface="Aptos" panose="020B0004020202020204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44A4F1-6697-34BD-DDB8-BE482427DB7F}"/>
              </a:ext>
            </a:extLst>
          </p:cNvPr>
          <p:cNvSpPr txBox="1">
            <a:spLocks/>
          </p:cNvSpPr>
          <p:nvPr/>
        </p:nvSpPr>
        <p:spPr>
          <a:xfrm>
            <a:off x="11003616" y="136525"/>
            <a:ext cx="11175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6E845D0-70B0-405D-A6BF-798C9CBE9027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2/24/2026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B79FF1A-6776-8A5B-6642-F3AB4B5D11B2}"/>
              </a:ext>
            </a:extLst>
          </p:cNvPr>
          <p:cNvSpPr/>
          <p:nvPr/>
        </p:nvSpPr>
        <p:spPr>
          <a:xfrm>
            <a:off x="5297600" y="643195"/>
            <a:ext cx="3653660" cy="3653660"/>
          </a:xfrm>
          <a:prstGeom prst="ellipse">
            <a:avLst/>
          </a:prstGeom>
          <a:solidFill>
            <a:srgbClr val="FFC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7582F098-AC46-9F85-3215-838B69ED4914}"/>
              </a:ext>
            </a:extLst>
          </p:cNvPr>
          <p:cNvSpPr/>
          <p:nvPr/>
        </p:nvSpPr>
        <p:spPr>
          <a:xfrm>
            <a:off x="7493443" y="3020281"/>
            <a:ext cx="3270466" cy="3270466"/>
          </a:xfrm>
          <a:prstGeom prst="ellipse">
            <a:avLst/>
          </a:prstGeom>
          <a:solidFill>
            <a:schemeClr val="accent4">
              <a:lumMod val="75000"/>
              <a:alpha val="3019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8EF67FF0-FB3A-2277-7590-0BB0D59966E2}"/>
              </a:ext>
            </a:extLst>
          </p:cNvPr>
          <p:cNvSpPr/>
          <p:nvPr/>
        </p:nvSpPr>
        <p:spPr>
          <a:xfrm>
            <a:off x="4429097" y="3066186"/>
            <a:ext cx="3270466" cy="3270466"/>
          </a:xfrm>
          <a:prstGeom prst="ellipse">
            <a:avLst/>
          </a:prstGeom>
          <a:solidFill>
            <a:schemeClr val="accent5">
              <a:alpha val="3019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Text Box 228">
            <a:extLst>
              <a:ext uri="{FF2B5EF4-FFF2-40B4-BE49-F238E27FC236}">
                <a16:creationId xmlns:a16="http://schemas.microsoft.com/office/drawing/2014/main" id="{62F40F9D-89B8-BC32-E4F8-7AA58928D5F1}"/>
              </a:ext>
            </a:extLst>
          </p:cNvPr>
          <p:cNvSpPr txBox="1"/>
          <p:nvPr/>
        </p:nvSpPr>
        <p:spPr>
          <a:xfrm>
            <a:off x="7463812" y="796925"/>
            <a:ext cx="1820545" cy="509270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900" b="1" noProof="0" dirty="0">
                <a:effectLst/>
                <a:latin typeface="Avenir Next LT Pro Demi" panose="020B07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Legal capability and barriers</a:t>
            </a:r>
            <a:r>
              <a:rPr lang="en-US" sz="900" noProof="0" dirty="0">
                <a:effectLst/>
                <a:latin typeface="Avenir Next LT Pro Light" panose="020B03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br>
              <a:rPr lang="en-US" sz="900" noProof="0" dirty="0">
                <a:effectLst/>
                <a:latin typeface="Avenir Next LT Pro Light" panose="020B03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</a:br>
            <a:r>
              <a:rPr lang="en-US" sz="900" noProof="0" dirty="0">
                <a:effectLst/>
                <a:latin typeface="Avenir Next LT Pro Light" panose="020B03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sub-network community</a:t>
            </a:r>
            <a:endParaRPr lang="en-US" sz="1100" noProof="0" dirty="0">
              <a:effectLst/>
              <a:latin typeface="Avenir Next LT Pro Light" panose="020B03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 Box 227">
            <a:extLst>
              <a:ext uri="{FF2B5EF4-FFF2-40B4-BE49-F238E27FC236}">
                <a16:creationId xmlns:a16="http://schemas.microsoft.com/office/drawing/2014/main" id="{B6C35FB4-524F-D717-AD43-34079216C529}"/>
              </a:ext>
            </a:extLst>
          </p:cNvPr>
          <p:cNvSpPr txBox="1"/>
          <p:nvPr/>
        </p:nvSpPr>
        <p:spPr>
          <a:xfrm>
            <a:off x="9836669" y="5578505"/>
            <a:ext cx="1642110" cy="509270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900" b="1" noProof="0" dirty="0">
                <a:effectLst/>
                <a:latin typeface="Avenir Next LT Pro Demi" panose="020B07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Self-efficacy</a:t>
            </a:r>
            <a:r>
              <a:rPr lang="en-US" sz="900" noProof="0" dirty="0">
                <a:effectLst/>
                <a:latin typeface="Avenir Next LT Pro Light" panose="020B03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br>
              <a:rPr lang="en-US" sz="900" noProof="0" dirty="0">
                <a:effectLst/>
                <a:latin typeface="Avenir Next LT Pro Light" panose="020B03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</a:br>
            <a:r>
              <a:rPr lang="en-US" sz="900" noProof="0" dirty="0">
                <a:effectLst/>
                <a:latin typeface="Avenir Next LT Pro Light" panose="020B03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sub-network community</a:t>
            </a:r>
            <a:endParaRPr lang="en-US" sz="1100" noProof="0" dirty="0">
              <a:effectLst/>
              <a:latin typeface="Avenir Next LT Pro Light" panose="020B03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 Box 229">
            <a:extLst>
              <a:ext uri="{FF2B5EF4-FFF2-40B4-BE49-F238E27FC236}">
                <a16:creationId xmlns:a16="http://schemas.microsoft.com/office/drawing/2014/main" id="{9FD286E7-8DBD-824D-8333-FC5BB6A9ECE5}"/>
              </a:ext>
            </a:extLst>
          </p:cNvPr>
          <p:cNvSpPr txBox="1"/>
          <p:nvPr/>
        </p:nvSpPr>
        <p:spPr>
          <a:xfrm>
            <a:off x="5908987" y="5693204"/>
            <a:ext cx="1513205" cy="558165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900" b="1" noProof="0" dirty="0">
                <a:effectLst/>
                <a:latin typeface="Avenir Next LT Pro Demi" panose="020B07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People-centered access to justice and surveys</a:t>
            </a:r>
            <a:br>
              <a:rPr lang="en-US" sz="900" noProof="0" dirty="0">
                <a:effectLst/>
                <a:latin typeface="Avenir Next LT Pro Light" panose="020B03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</a:br>
            <a:r>
              <a:rPr lang="en-US" sz="900" noProof="0" dirty="0">
                <a:effectLst/>
                <a:latin typeface="Avenir Next LT Pro Light" panose="020B03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sub-network community</a:t>
            </a:r>
            <a:endParaRPr lang="en-US" sz="1100" noProof="0" dirty="0">
              <a:effectLst/>
              <a:latin typeface="Avenir Next LT Pro Light" panose="020B03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 Box 7">
            <a:extLst>
              <a:ext uri="{FF2B5EF4-FFF2-40B4-BE49-F238E27FC236}">
                <a16:creationId xmlns:a16="http://schemas.microsoft.com/office/drawing/2014/main" id="{FA38AB41-4DD2-267A-2E3C-2358B2A5CD1D}"/>
              </a:ext>
            </a:extLst>
          </p:cNvPr>
          <p:cNvSpPr txBox="1"/>
          <p:nvPr/>
        </p:nvSpPr>
        <p:spPr>
          <a:xfrm>
            <a:off x="901053" y="5550565"/>
            <a:ext cx="2606675" cy="805180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800" b="1" noProof="0" dirty="0">
                <a:solidFill>
                  <a:srgbClr val="FFC000"/>
                </a:solidFill>
                <a:effectLst/>
                <a:latin typeface="Segoe UI Emoji" panose="020B0502040204020203" pitchFamily="34" charset="0"/>
                <a:ea typeface="Calibri" panose="020F0502020204030204" pitchFamily="34" charset="0"/>
                <a:cs typeface="Segoe UI Emoji" panose="020B0502040204020203" pitchFamily="34" charset="0"/>
              </a:rPr>
              <a:t>🟡</a:t>
            </a:r>
            <a:r>
              <a:rPr lang="en-US" sz="800" b="1" noProof="0" dirty="0">
                <a:effectLst/>
                <a:latin typeface="Avenir Next LT Pro Demi" panose="020B07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Self-efficacy literature</a:t>
            </a:r>
            <a:br>
              <a:rPr lang="en-US" sz="800" b="1" noProof="0" dirty="0">
                <a:effectLst/>
                <a:latin typeface="Segoe UI Emoji" panose="020B0502040204020203" pitchFamily="34" charset="0"/>
                <a:ea typeface="Calibri" panose="020F0502020204030204" pitchFamily="34" charset="0"/>
                <a:cs typeface="Arial" panose="020B0604020202020204" pitchFamily="34" charset="0"/>
              </a:rPr>
            </a:br>
            <a:r>
              <a:rPr lang="en-US" sz="800" b="1" noProof="0" dirty="0">
                <a:solidFill>
                  <a:srgbClr val="7030A0"/>
                </a:solidFill>
                <a:effectLst/>
                <a:latin typeface="Segoe UI Emoji" panose="020B0502040204020203" pitchFamily="34" charset="0"/>
                <a:ea typeface="Calibri" panose="020F0502020204030204" pitchFamily="34" charset="0"/>
                <a:cs typeface="Segoe UI Emoji" panose="020B0502040204020203" pitchFamily="34" charset="0"/>
              </a:rPr>
              <a:t>🟣</a:t>
            </a:r>
            <a:r>
              <a:rPr lang="en-US" sz="800" b="1" noProof="0" dirty="0">
                <a:effectLst/>
                <a:latin typeface="Avenir Next LT Pro Demi" panose="020B07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People centered access to justice literature</a:t>
            </a:r>
            <a:br>
              <a:rPr lang="en-US" sz="800" b="1" noProof="0" dirty="0">
                <a:effectLst/>
                <a:latin typeface="Segoe UI Emoji" panose="020B0502040204020203" pitchFamily="34" charset="0"/>
                <a:ea typeface="Calibri" panose="020F0502020204030204" pitchFamily="34" charset="0"/>
                <a:cs typeface="Arial" panose="020B0604020202020204" pitchFamily="34" charset="0"/>
              </a:rPr>
            </a:br>
            <a:r>
              <a:rPr lang="en-US" sz="800" b="1" noProof="0" dirty="0">
                <a:solidFill>
                  <a:srgbClr val="ED7D31"/>
                </a:solidFill>
                <a:effectLst/>
                <a:latin typeface="Segoe UI Emoji" panose="020B0502040204020203" pitchFamily="34" charset="0"/>
                <a:ea typeface="Calibri" panose="020F0502020204030204" pitchFamily="34" charset="0"/>
                <a:cs typeface="Segoe UI Emoji" panose="020B0502040204020203" pitchFamily="34" charset="0"/>
              </a:rPr>
              <a:t>🟠</a:t>
            </a:r>
            <a:r>
              <a:rPr lang="en-US" sz="800" b="1" noProof="0" dirty="0">
                <a:effectLst/>
                <a:latin typeface="Avenir Next LT Pro Demi" panose="020B07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Legal capability and barriers literature</a:t>
            </a:r>
            <a:br>
              <a:rPr lang="en-US" sz="800" b="1" noProof="0" dirty="0">
                <a:effectLst/>
                <a:latin typeface="Avenir Next LT Pro Demi" panose="020B07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</a:br>
            <a:r>
              <a:rPr lang="en-US" sz="800" b="1" noProof="0" dirty="0">
                <a:solidFill>
                  <a:srgbClr val="F826FD"/>
                </a:solidFill>
                <a:effectLst/>
                <a:latin typeface="Segoe UI Emoji" panose="020B0502040204020203" pitchFamily="34" charset="0"/>
                <a:ea typeface="Calibri" panose="020F0502020204030204" pitchFamily="34" charset="0"/>
                <a:cs typeface="Segoe UI Emoji" panose="020B0502040204020203" pitchFamily="34" charset="0"/>
              </a:rPr>
              <a:t>🟠</a:t>
            </a:r>
            <a:r>
              <a:rPr lang="en-US" sz="800" b="1" noProof="0" dirty="0">
                <a:effectLst/>
                <a:latin typeface="Avenir Next LT Pro Demi" panose="020B07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Surveys and methods literature</a:t>
            </a:r>
            <a:endParaRPr lang="en-US" sz="1100" noProof="0" dirty="0">
              <a:effectLst/>
              <a:latin typeface="Avenir Next LT Pro Light" panose="020B03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ADBDD0B-C7B1-6D90-8279-04AD844A1925}"/>
              </a:ext>
            </a:extLst>
          </p:cNvPr>
          <p:cNvSpPr txBox="1"/>
          <p:nvPr/>
        </p:nvSpPr>
        <p:spPr>
          <a:xfrm>
            <a:off x="966718" y="1915243"/>
            <a:ext cx="2954464" cy="29238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Recent literature on access to justice brings together two main perspectives. </a:t>
            </a:r>
          </a:p>
          <a:p>
            <a:endParaRPr lang="en-US" sz="1600" b="1" dirty="0">
              <a:highlight>
                <a:srgbClr val="FFC000"/>
              </a:highlight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>
                    <a:lumMod val="75000"/>
                  </a:schemeClr>
                </a:solidFill>
              </a:rPr>
              <a:t>The first focuses on identifying </a:t>
            </a:r>
            <a:r>
              <a:rPr lang="en-US" sz="1200" b="1" dirty="0">
                <a:highlight>
                  <a:srgbClr val="FFC000"/>
                </a:highlight>
              </a:rPr>
              <a:t>legal needs through person‑</a:t>
            </a:r>
            <a:r>
              <a:rPr lang="en-US" sz="1200" b="1" dirty="0" err="1">
                <a:highlight>
                  <a:srgbClr val="FFC000"/>
                </a:highlight>
              </a:rPr>
              <a:t>centred</a:t>
            </a:r>
            <a:r>
              <a:rPr lang="en-US" sz="1200" b="1" dirty="0">
                <a:highlight>
                  <a:srgbClr val="FFC000"/>
                </a:highlight>
              </a:rPr>
              <a:t> accounts</a:t>
            </a:r>
            <a:r>
              <a:rPr lang="en-US" sz="1200" dirty="0">
                <a:solidFill>
                  <a:schemeClr val="bg1">
                    <a:lumMod val="75000"/>
                  </a:schemeClr>
                </a:solidFill>
              </a:rPr>
              <a:t>, typically using large‑scale household surveys.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bg1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>
                    <a:lumMod val="75000"/>
                  </a:schemeClr>
                </a:solidFill>
              </a:rPr>
              <a:t>The second </a:t>
            </a:r>
            <a:r>
              <a:rPr lang="en-US" sz="1200" dirty="0" err="1">
                <a:solidFill>
                  <a:schemeClr val="bg1">
                    <a:lumMod val="75000"/>
                  </a:schemeClr>
                </a:solidFill>
              </a:rPr>
              <a:t>centres</a:t>
            </a:r>
            <a:r>
              <a:rPr lang="en-US" sz="1200" dirty="0">
                <a:solidFill>
                  <a:schemeClr val="bg1">
                    <a:lumMod val="75000"/>
                  </a:schemeClr>
                </a:solidFill>
              </a:rPr>
              <a:t> on </a:t>
            </a:r>
            <a:r>
              <a:rPr lang="en-US" sz="1200" b="1" dirty="0">
                <a:highlight>
                  <a:srgbClr val="FFC000"/>
                </a:highlight>
              </a:rPr>
              <a:t>legal capability</a:t>
            </a:r>
            <a:r>
              <a:rPr lang="en-US" sz="1200" dirty="0">
                <a:solidFill>
                  <a:schemeClr val="bg1">
                    <a:lumMod val="75000"/>
                  </a:schemeClr>
                </a:solidFill>
              </a:rPr>
              <a:t>, understood as a fundamental attribute that shapes individuals’ ability to engage effectively with the justice system.</a:t>
            </a:r>
          </a:p>
        </p:txBody>
      </p:sp>
    </p:spTree>
    <p:extLst>
      <p:ext uri="{BB962C8B-B14F-4D97-AF65-F5344CB8AC3E}">
        <p14:creationId xmlns:p14="http://schemas.microsoft.com/office/powerpoint/2010/main" val="12778680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3" grpId="0" animBg="1"/>
      <p:bldP spid="14" grpId="0" animBg="1"/>
      <p:bldP spid="26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0F9DD2-FC8D-4494-40B2-657F8D406F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E0BA0F53-2632-3E03-8FCF-E1F6544E0F0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003616" y="136525"/>
            <a:ext cx="1117563" cy="36512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6E845D0-70B0-405D-A6BF-798C9CBE9027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2/24/2026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4553D65D-60CF-31F0-392D-629BF0F13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9389" y="6356348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0EA680-D336-4FF7-8B7A-9848BB0A1C3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C94A84F5-D55F-2942-F7C7-15663B7CCB07}"/>
              </a:ext>
            </a:extLst>
          </p:cNvPr>
          <p:cNvSpPr txBox="1">
            <a:spLocks/>
          </p:cNvSpPr>
          <p:nvPr/>
        </p:nvSpPr>
        <p:spPr>
          <a:xfrm>
            <a:off x="11003616" y="136525"/>
            <a:ext cx="11175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6E845D0-70B0-405D-A6BF-798C9CBE9027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2/24/2026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6C22A4F4-8436-1BD4-CBF1-78C65DE2B584}"/>
              </a:ext>
            </a:extLst>
          </p:cNvPr>
          <p:cNvSpPr txBox="1">
            <a:spLocks/>
          </p:cNvSpPr>
          <p:nvPr/>
        </p:nvSpPr>
        <p:spPr>
          <a:xfrm>
            <a:off x="891590" y="501651"/>
            <a:ext cx="4175710" cy="933450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Verdana" panose="020B0604030504040204" pitchFamily="34" charset="0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tos SemiBold" panose="020F0502020204030204" pitchFamily="34" charset="0"/>
                <a:ea typeface="+mj-ea"/>
                <a:cs typeface="+mj-cs"/>
              </a:rPr>
              <a:t>Steps 6</a:t>
            </a:r>
          </a:p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tos SemiBold" panose="020F0502020204030204" pitchFamily="34" charset="0"/>
                <a:ea typeface="+mj-ea"/>
                <a:cs typeface="+mj-cs"/>
              </a:rPr>
              <a:t>Literature map</a:t>
            </a:r>
            <a:b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tos SemiBold" panose="020F0502020204030204" pitchFamily="34" charset="0"/>
                <a:ea typeface="+mj-ea"/>
                <a:cs typeface="+mj-cs"/>
              </a:rPr>
            </a:br>
            <a:r>
              <a:rPr kumimoji="0" lang="en-US" sz="32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 SemiBold" panose="020F0502020204030204" pitchFamily="34" charset="0"/>
                <a:ea typeface="+mj-ea"/>
                <a:cs typeface="+mj-cs"/>
              </a:rPr>
              <a:t>Hierarchical example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A8E24D8-3360-008A-14D8-AA07715D22E8}"/>
              </a:ext>
            </a:extLst>
          </p:cNvPr>
          <p:cNvSpPr txBox="1">
            <a:spLocks/>
          </p:cNvSpPr>
          <p:nvPr/>
        </p:nvSpPr>
        <p:spPr>
          <a:xfrm>
            <a:off x="2707689" y="6355745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Data analysis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794838AD-FEC3-0422-1780-7E3FE8194610}"/>
              </a:ext>
            </a:extLst>
          </p:cNvPr>
          <p:cNvSpPr txBox="1">
            <a:spLocks/>
          </p:cNvSpPr>
          <p:nvPr/>
        </p:nvSpPr>
        <p:spPr>
          <a:xfrm>
            <a:off x="11003616" y="136525"/>
            <a:ext cx="11175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26E845D0-70B0-405D-A6BF-798C9CBE9027}" type="datetime1">
              <a:rPr lang="en-US" smtClean="0">
                <a:solidFill>
                  <a:prstClr val="white"/>
                </a:solidFill>
                <a:latin typeface="Aptos" panose="020B0004020202020204"/>
              </a:rPr>
              <a:pPr>
                <a:defRPr/>
              </a:pPr>
              <a:t>2/24/2026</a:t>
            </a:fld>
            <a:endParaRPr lang="en-US" dirty="0">
              <a:solidFill>
                <a:prstClr val="white"/>
              </a:solidFill>
              <a:latin typeface="Aptos" panose="020B0004020202020204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22745D-D9F6-E6F2-BF09-1D0A46749BF3}"/>
              </a:ext>
            </a:extLst>
          </p:cNvPr>
          <p:cNvSpPr txBox="1">
            <a:spLocks/>
          </p:cNvSpPr>
          <p:nvPr/>
        </p:nvSpPr>
        <p:spPr>
          <a:xfrm>
            <a:off x="11003616" y="136525"/>
            <a:ext cx="11175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6E845D0-70B0-405D-A6BF-798C9CBE9027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2/24/2026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3EFB6FF4-3806-7A19-5EB7-BC44D5DD8C03}"/>
              </a:ext>
            </a:extLst>
          </p:cNvPr>
          <p:cNvSpPr/>
          <p:nvPr/>
        </p:nvSpPr>
        <p:spPr>
          <a:xfrm>
            <a:off x="4768931" y="2070347"/>
            <a:ext cx="2561277" cy="441226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noProof="0" dirty="0">
                <a:solidFill>
                  <a:schemeClr val="tx1"/>
                </a:solidFill>
              </a:rPr>
              <a:t>Procurement justice </a:t>
            </a:r>
            <a:br>
              <a:rPr lang="en-US" sz="1100" b="1" noProof="0" dirty="0">
                <a:solidFill>
                  <a:schemeClr val="tx1"/>
                </a:solidFill>
              </a:rPr>
            </a:br>
            <a:r>
              <a:rPr lang="en-US" sz="1100" b="1" noProof="0" dirty="0">
                <a:solidFill>
                  <a:schemeClr val="tx1"/>
                </a:solidFill>
              </a:rPr>
              <a:t>in organizations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5DEB4C25-A2CA-547B-C241-C4CD47544E04}"/>
              </a:ext>
            </a:extLst>
          </p:cNvPr>
          <p:cNvSpPr/>
          <p:nvPr/>
        </p:nvSpPr>
        <p:spPr>
          <a:xfrm>
            <a:off x="1562292" y="2783308"/>
            <a:ext cx="2561277" cy="392802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noProof="0" dirty="0"/>
              <a:t>Shaping of justice perceptions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00157BA4-3E97-1003-7DD1-51E9C0917B1C}"/>
              </a:ext>
            </a:extLst>
          </p:cNvPr>
          <p:cNvSpPr/>
          <p:nvPr/>
        </p:nvSpPr>
        <p:spPr>
          <a:xfrm>
            <a:off x="7975569" y="2783308"/>
            <a:ext cx="2561277" cy="392802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noProof="0" dirty="0">
                <a:solidFill>
                  <a:schemeClr val="bg1"/>
                </a:solidFill>
              </a:rPr>
              <a:t>Justice and organizational change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558C265A-E202-4CFF-D102-1124EE0E8716}"/>
              </a:ext>
            </a:extLst>
          </p:cNvPr>
          <p:cNvSpPr/>
          <p:nvPr/>
        </p:nvSpPr>
        <p:spPr>
          <a:xfrm>
            <a:off x="4768931" y="2783308"/>
            <a:ext cx="2561277" cy="392802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noProof="0" dirty="0"/>
              <a:t>Impacts of justice</a:t>
            </a:r>
          </a:p>
        </p:txBody>
      </p: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D07BCE91-3A16-35A9-A7EF-68E2845DCECF}"/>
              </a:ext>
            </a:extLst>
          </p:cNvPr>
          <p:cNvCxnSpPr>
            <a:cxnSpLocks/>
            <a:stCxn id="11" idx="1"/>
            <a:endCxn id="12" idx="0"/>
          </p:cNvCxnSpPr>
          <p:nvPr/>
        </p:nvCxnSpPr>
        <p:spPr>
          <a:xfrm rot="10800000" flipV="1">
            <a:off x="2842931" y="2290960"/>
            <a:ext cx="1926000" cy="492348"/>
          </a:xfrm>
          <a:prstGeom prst="bentConnector2">
            <a:avLst/>
          </a:prstGeom>
          <a:ln w="9525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C2B519C2-8306-E716-F274-6FEC0F362BA6}"/>
              </a:ext>
            </a:extLst>
          </p:cNvPr>
          <p:cNvCxnSpPr>
            <a:cxnSpLocks/>
            <a:stCxn id="11" idx="3"/>
            <a:endCxn id="16" idx="0"/>
          </p:cNvCxnSpPr>
          <p:nvPr/>
        </p:nvCxnSpPr>
        <p:spPr>
          <a:xfrm>
            <a:off x="7330208" y="2290960"/>
            <a:ext cx="1926000" cy="492348"/>
          </a:xfrm>
          <a:prstGeom prst="bentConnector2">
            <a:avLst/>
          </a:prstGeom>
          <a:ln w="9525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85E3C78B-A4A5-EC77-0DB9-A29EB4326E63}"/>
              </a:ext>
            </a:extLst>
          </p:cNvPr>
          <p:cNvCxnSpPr>
            <a:cxnSpLocks/>
            <a:stCxn id="11" idx="2"/>
            <a:endCxn id="17" idx="0"/>
          </p:cNvCxnSpPr>
          <p:nvPr/>
        </p:nvCxnSpPr>
        <p:spPr>
          <a:xfrm>
            <a:off x="6049569" y="2511573"/>
            <a:ext cx="0" cy="271736"/>
          </a:xfrm>
          <a:prstGeom prst="straightConnector1">
            <a:avLst/>
          </a:prstGeom>
          <a:ln w="9525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E91BE9F5-ED99-BD62-942C-7E06F4142308}"/>
              </a:ext>
            </a:extLst>
          </p:cNvPr>
          <p:cNvSpPr/>
          <p:nvPr/>
        </p:nvSpPr>
        <p:spPr>
          <a:xfrm>
            <a:off x="1562292" y="3410176"/>
            <a:ext cx="1078362" cy="57306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6350">
            <a:solidFill>
              <a:srgbClr val="9F2A6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900" b="1" noProof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Motives</a:t>
            </a:r>
            <a:br>
              <a:rPr lang="en-US" sz="900" noProof="0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en-US" sz="900" noProof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Tyler,1994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41006EDD-116F-A390-95E2-C1374473A872}"/>
              </a:ext>
            </a:extLst>
          </p:cNvPr>
          <p:cNvSpPr/>
          <p:nvPr/>
        </p:nvSpPr>
        <p:spPr>
          <a:xfrm>
            <a:off x="3045209" y="3410176"/>
            <a:ext cx="1078362" cy="57306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6350">
            <a:solidFill>
              <a:srgbClr val="9F2A6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900" b="1" noProof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Knowledge</a:t>
            </a:r>
            <a:br>
              <a:rPr lang="en-US" sz="900" noProof="0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en-US" sz="900" noProof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Tyler,1994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9196F63F-6BB6-7139-E0D7-6559F5043E3F}"/>
              </a:ext>
            </a:extLst>
          </p:cNvPr>
          <p:cNvSpPr/>
          <p:nvPr/>
        </p:nvSpPr>
        <p:spPr>
          <a:xfrm>
            <a:off x="1562292" y="4128516"/>
            <a:ext cx="1078362" cy="57306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6350">
            <a:solidFill>
              <a:srgbClr val="9F2A6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900" b="1" noProof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Environments</a:t>
            </a:r>
            <a:br>
              <a:rPr lang="en-US" sz="900" noProof="0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en-US" sz="900" noProof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Bennet,2000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0164F393-F241-D1FC-368A-AAEAED330339}"/>
              </a:ext>
            </a:extLst>
          </p:cNvPr>
          <p:cNvSpPr/>
          <p:nvPr/>
        </p:nvSpPr>
        <p:spPr>
          <a:xfrm>
            <a:off x="3045208" y="4128516"/>
            <a:ext cx="1078362" cy="57306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6350">
            <a:solidFill>
              <a:srgbClr val="9F2A6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900" b="1" noProof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Structures</a:t>
            </a:r>
            <a:br>
              <a:rPr lang="en-US" sz="900" noProof="0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en-US" sz="900" noProof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Bennet,2000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CA06F123-E011-9364-E6BC-972E9169DE51}"/>
              </a:ext>
            </a:extLst>
          </p:cNvPr>
          <p:cNvSpPr/>
          <p:nvPr/>
        </p:nvSpPr>
        <p:spPr>
          <a:xfrm>
            <a:off x="2051948" y="4846857"/>
            <a:ext cx="1581965" cy="57306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6350">
            <a:solidFill>
              <a:srgbClr val="9F2A6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900" b="1" noProof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Agency</a:t>
            </a:r>
            <a:br>
              <a:rPr lang="en-US" sz="900" noProof="0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en-US" sz="900" noProof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Shapiro, 1998</a:t>
            </a:r>
          </a:p>
          <a:p>
            <a:pPr algn="ctr"/>
            <a:r>
              <a:rPr lang="en-US" sz="900" noProof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Hutton, 1998</a:t>
            </a:r>
          </a:p>
        </p:txBody>
      </p:sp>
      <p:cxnSp>
        <p:nvCxnSpPr>
          <p:cNvPr id="29" name="Connector: Elbow 28">
            <a:extLst>
              <a:ext uri="{FF2B5EF4-FFF2-40B4-BE49-F238E27FC236}">
                <a16:creationId xmlns:a16="http://schemas.microsoft.com/office/drawing/2014/main" id="{3C189AC5-EC11-70AB-ED45-E49C18E40369}"/>
              </a:ext>
            </a:extLst>
          </p:cNvPr>
          <p:cNvCxnSpPr>
            <a:cxnSpLocks/>
            <a:stCxn id="12" idx="2"/>
            <a:endCxn id="21" idx="0"/>
          </p:cNvCxnSpPr>
          <p:nvPr/>
        </p:nvCxnSpPr>
        <p:spPr>
          <a:xfrm rot="5400000">
            <a:off x="2355169" y="2922414"/>
            <a:ext cx="234065" cy="741458"/>
          </a:xfrm>
          <a:prstGeom prst="bentConnector3">
            <a:avLst>
              <a:gd name="adj1" fmla="val 50000"/>
            </a:avLst>
          </a:prstGeom>
          <a:ln w="9525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: Elbow 29">
            <a:extLst>
              <a:ext uri="{FF2B5EF4-FFF2-40B4-BE49-F238E27FC236}">
                <a16:creationId xmlns:a16="http://schemas.microsoft.com/office/drawing/2014/main" id="{7EDA13E0-F22E-210A-8897-8C64D4EDD067}"/>
              </a:ext>
            </a:extLst>
          </p:cNvPr>
          <p:cNvCxnSpPr>
            <a:cxnSpLocks/>
            <a:stCxn id="12" idx="2"/>
            <a:endCxn id="22" idx="0"/>
          </p:cNvCxnSpPr>
          <p:nvPr/>
        </p:nvCxnSpPr>
        <p:spPr>
          <a:xfrm rot="16200000" flipH="1">
            <a:off x="3096627" y="2922414"/>
            <a:ext cx="234065" cy="741459"/>
          </a:xfrm>
          <a:prstGeom prst="bentConnector3">
            <a:avLst>
              <a:gd name="adj1" fmla="val 50000"/>
            </a:avLst>
          </a:prstGeom>
          <a:ln w="9525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: Elbow 30">
            <a:extLst>
              <a:ext uri="{FF2B5EF4-FFF2-40B4-BE49-F238E27FC236}">
                <a16:creationId xmlns:a16="http://schemas.microsoft.com/office/drawing/2014/main" id="{6BF2979B-52E9-B7E9-5309-B60D89ADDD19}"/>
              </a:ext>
            </a:extLst>
          </p:cNvPr>
          <p:cNvCxnSpPr>
            <a:cxnSpLocks/>
            <a:endCxn id="23" idx="3"/>
          </p:cNvCxnSpPr>
          <p:nvPr/>
        </p:nvCxnSpPr>
        <p:spPr>
          <a:xfrm rot="5400000">
            <a:off x="2120981" y="3693093"/>
            <a:ext cx="1241626" cy="202280"/>
          </a:xfrm>
          <a:prstGeom prst="bentConnector2">
            <a:avLst/>
          </a:prstGeom>
          <a:ln w="9525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: Elbow 31">
            <a:extLst>
              <a:ext uri="{FF2B5EF4-FFF2-40B4-BE49-F238E27FC236}">
                <a16:creationId xmlns:a16="http://schemas.microsoft.com/office/drawing/2014/main" id="{22705594-72B5-CD5C-62E4-B3E91DADC86D}"/>
              </a:ext>
            </a:extLst>
          </p:cNvPr>
          <p:cNvCxnSpPr>
            <a:cxnSpLocks/>
            <a:stCxn id="12" idx="2"/>
            <a:endCxn id="27" idx="1"/>
          </p:cNvCxnSpPr>
          <p:nvPr/>
        </p:nvCxnSpPr>
        <p:spPr>
          <a:xfrm rot="16200000" flipH="1">
            <a:off x="2324601" y="3694440"/>
            <a:ext cx="1238936" cy="202277"/>
          </a:xfrm>
          <a:prstGeom prst="bentConnector2">
            <a:avLst/>
          </a:prstGeom>
          <a:ln w="9525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A98CBDF0-B2DD-1E25-68E5-916800DCEAD3}"/>
              </a:ext>
            </a:extLst>
          </p:cNvPr>
          <p:cNvCxnSpPr>
            <a:cxnSpLocks/>
            <a:stCxn id="12" idx="2"/>
            <a:endCxn id="28" idx="0"/>
          </p:cNvCxnSpPr>
          <p:nvPr/>
        </p:nvCxnSpPr>
        <p:spPr>
          <a:xfrm>
            <a:off x="2842931" y="3176110"/>
            <a:ext cx="0" cy="1670747"/>
          </a:xfrm>
          <a:prstGeom prst="straightConnector1">
            <a:avLst/>
          </a:prstGeom>
          <a:ln w="9525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09053C5F-3702-6BFE-B83B-98B0FF5C23A8}"/>
              </a:ext>
            </a:extLst>
          </p:cNvPr>
          <p:cNvSpPr/>
          <p:nvPr/>
        </p:nvSpPr>
        <p:spPr>
          <a:xfrm>
            <a:off x="4768931" y="3410176"/>
            <a:ext cx="1078362" cy="57306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9525">
            <a:solidFill>
              <a:srgbClr val="D448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900" b="1" noProof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Results</a:t>
            </a:r>
            <a:br>
              <a:rPr lang="en-US" sz="900" noProof="0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en-US" sz="900" noProof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Tayler, 2000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D286AE54-FBB9-768E-6C11-6D856222B04A}"/>
              </a:ext>
            </a:extLst>
          </p:cNvPr>
          <p:cNvSpPr/>
          <p:nvPr/>
        </p:nvSpPr>
        <p:spPr>
          <a:xfrm>
            <a:off x="6251846" y="3415555"/>
            <a:ext cx="1078362" cy="57306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9525">
            <a:solidFill>
              <a:srgbClr val="D448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900" b="1" noProof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Trust</a:t>
            </a:r>
            <a:br>
              <a:rPr lang="en-US" sz="900" noProof="0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en-US" sz="900" noProof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Pugh,1994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037643F4-9877-A9BF-BDB0-B1D0CC526191}"/>
              </a:ext>
            </a:extLst>
          </p:cNvPr>
          <p:cNvSpPr/>
          <p:nvPr/>
        </p:nvSpPr>
        <p:spPr>
          <a:xfrm>
            <a:off x="4768931" y="4128516"/>
            <a:ext cx="1078362" cy="57306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9525">
            <a:solidFill>
              <a:srgbClr val="D448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900" b="1" noProof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Behavior</a:t>
            </a:r>
            <a:br>
              <a:rPr lang="en-US" sz="900" noProof="0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en-US" sz="900" noProof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Moorman,1994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4CA49707-4376-0342-C4A9-9C58784012F5}"/>
              </a:ext>
            </a:extLst>
          </p:cNvPr>
          <p:cNvSpPr/>
          <p:nvPr/>
        </p:nvSpPr>
        <p:spPr>
          <a:xfrm>
            <a:off x="6251846" y="4133895"/>
            <a:ext cx="1078362" cy="57306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9525">
            <a:solidFill>
              <a:srgbClr val="D448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900" b="1" noProof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Support</a:t>
            </a:r>
            <a:br>
              <a:rPr lang="en-US" sz="900" noProof="0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en-US" sz="900" noProof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Moorman, 1998</a:t>
            </a: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90B8EB40-0479-DAC3-67C2-8000722AC9F3}"/>
              </a:ext>
            </a:extLst>
          </p:cNvPr>
          <p:cNvSpPr/>
          <p:nvPr/>
        </p:nvSpPr>
        <p:spPr>
          <a:xfrm>
            <a:off x="5258587" y="4885871"/>
            <a:ext cx="1581965" cy="57306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9525">
            <a:solidFill>
              <a:srgbClr val="D448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900" b="1" noProof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Unjust treatment</a:t>
            </a:r>
            <a:br>
              <a:rPr lang="en-US" sz="900" noProof="0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en-US" sz="900" noProof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Dailey, 1992</a:t>
            </a:r>
          </a:p>
          <a:p>
            <a:pPr algn="ctr"/>
            <a:r>
              <a:rPr lang="en-US" sz="900" noProof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Tepper, 2000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7C793FCD-621E-94AF-F2B9-E8C630D2C5DD}"/>
              </a:ext>
            </a:extLst>
          </p:cNvPr>
          <p:cNvSpPr/>
          <p:nvPr/>
        </p:nvSpPr>
        <p:spPr>
          <a:xfrm>
            <a:off x="7975568" y="3377887"/>
            <a:ext cx="1126266" cy="392802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63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noProof="0" dirty="0">
                <a:solidFill>
                  <a:sysClr val="windowText" lastClr="000000"/>
                </a:solidFill>
              </a:rPr>
              <a:t>Reasons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39BB81D5-0ADE-F82F-B387-022C603A8C48}"/>
              </a:ext>
            </a:extLst>
          </p:cNvPr>
          <p:cNvSpPr/>
          <p:nvPr/>
        </p:nvSpPr>
        <p:spPr>
          <a:xfrm>
            <a:off x="7975568" y="3899830"/>
            <a:ext cx="1078362" cy="57306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63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900" b="1" noProof="0" dirty="0">
                <a:solidFill>
                  <a:schemeClr val="tx1"/>
                </a:solidFill>
              </a:rPr>
              <a:t>Des-invest</a:t>
            </a:r>
            <a:br>
              <a:rPr lang="en-US" sz="900" noProof="0" dirty="0">
                <a:solidFill>
                  <a:schemeClr val="tx1"/>
                </a:solidFill>
              </a:rPr>
            </a:br>
            <a:r>
              <a:rPr lang="en-US" sz="900" noProof="0" dirty="0">
                <a:solidFill>
                  <a:schemeClr val="tx1"/>
                </a:solidFill>
              </a:rPr>
              <a:t>Becker, 2000</a:t>
            </a: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E7EE403E-F8E0-3C85-4AFA-05AB98023EA0}"/>
              </a:ext>
            </a:extLst>
          </p:cNvPr>
          <p:cNvSpPr/>
          <p:nvPr/>
        </p:nvSpPr>
        <p:spPr>
          <a:xfrm>
            <a:off x="9526112" y="3879651"/>
            <a:ext cx="1078362" cy="57306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63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900" b="1" noProof="0" dirty="0">
                <a:solidFill>
                  <a:schemeClr val="tx1"/>
                </a:solidFill>
              </a:rPr>
              <a:t>History</a:t>
            </a:r>
            <a:br>
              <a:rPr lang="en-US" sz="900" noProof="0" dirty="0">
                <a:solidFill>
                  <a:schemeClr val="tx1"/>
                </a:solidFill>
              </a:rPr>
            </a:br>
            <a:r>
              <a:rPr lang="en-US" sz="900" noProof="0" dirty="0">
                <a:solidFill>
                  <a:schemeClr val="tx1"/>
                </a:solidFill>
              </a:rPr>
              <a:t>Angle, 1998</a:t>
            </a: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EED906A6-0FD0-4D89-C417-35A2D7D00B74}"/>
              </a:ext>
            </a:extLst>
          </p:cNvPr>
          <p:cNvSpPr/>
          <p:nvPr/>
        </p:nvSpPr>
        <p:spPr>
          <a:xfrm>
            <a:off x="7975568" y="4626242"/>
            <a:ext cx="1078362" cy="57306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63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900" b="1" noProof="0" dirty="0">
                <a:solidFill>
                  <a:schemeClr val="tx1"/>
                </a:solidFill>
              </a:rPr>
              <a:t>Reallocation</a:t>
            </a:r>
            <a:br>
              <a:rPr lang="en-US" sz="900" noProof="0" dirty="0">
                <a:solidFill>
                  <a:schemeClr val="tx1"/>
                </a:solidFill>
              </a:rPr>
            </a:br>
            <a:r>
              <a:rPr lang="en-US" sz="900" noProof="0" dirty="0">
                <a:solidFill>
                  <a:schemeClr val="tx1"/>
                </a:solidFill>
              </a:rPr>
              <a:t>Daly, 1995</a:t>
            </a: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FD31C95D-05FA-50C9-8440-2A7971F474C0}"/>
              </a:ext>
            </a:extLst>
          </p:cNvPr>
          <p:cNvSpPr/>
          <p:nvPr/>
        </p:nvSpPr>
        <p:spPr>
          <a:xfrm>
            <a:off x="9526112" y="4626242"/>
            <a:ext cx="1078362" cy="57306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63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900" b="1" noProof="0" dirty="0">
                <a:solidFill>
                  <a:schemeClr val="tx1"/>
                </a:solidFill>
              </a:rPr>
              <a:t>Leadership</a:t>
            </a:r>
            <a:br>
              <a:rPr lang="en-US" sz="900" noProof="0" dirty="0">
                <a:solidFill>
                  <a:schemeClr val="tx1"/>
                </a:solidFill>
              </a:rPr>
            </a:br>
            <a:r>
              <a:rPr lang="en-US" sz="900" noProof="0" dirty="0">
                <a:solidFill>
                  <a:schemeClr val="tx1"/>
                </a:solidFill>
              </a:rPr>
              <a:t>Moorman, 1998</a:t>
            </a: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F5C88C2E-F837-54A6-B851-AE5031CAB437}"/>
              </a:ext>
            </a:extLst>
          </p:cNvPr>
          <p:cNvSpPr/>
          <p:nvPr/>
        </p:nvSpPr>
        <p:spPr>
          <a:xfrm>
            <a:off x="7975568" y="5321043"/>
            <a:ext cx="1078362" cy="57306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63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900" b="1" noProof="0" dirty="0">
                <a:solidFill>
                  <a:schemeClr val="tx1"/>
                </a:solidFill>
              </a:rPr>
              <a:t>Postponements</a:t>
            </a:r>
            <a:br>
              <a:rPr lang="en-US" sz="900" noProof="0" dirty="0">
                <a:solidFill>
                  <a:schemeClr val="tx1"/>
                </a:solidFill>
              </a:rPr>
            </a:br>
            <a:r>
              <a:rPr lang="en-US" sz="900" noProof="0" dirty="0">
                <a:solidFill>
                  <a:schemeClr val="tx1"/>
                </a:solidFill>
              </a:rPr>
              <a:t>May, 1998</a:t>
            </a: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DD039E54-C226-9ABE-17FC-66095A62E08D}"/>
              </a:ext>
            </a:extLst>
          </p:cNvPr>
          <p:cNvSpPr/>
          <p:nvPr/>
        </p:nvSpPr>
        <p:spPr>
          <a:xfrm>
            <a:off x="9551345" y="5294809"/>
            <a:ext cx="1078362" cy="57306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63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900" b="1" noProof="0" dirty="0">
                <a:solidFill>
                  <a:schemeClr val="tx1"/>
                </a:solidFill>
              </a:rPr>
              <a:t>Strategies</a:t>
            </a:r>
            <a:br>
              <a:rPr lang="en-US" sz="900" noProof="0" dirty="0">
                <a:solidFill>
                  <a:schemeClr val="tx1"/>
                </a:solidFill>
              </a:rPr>
            </a:br>
            <a:r>
              <a:rPr lang="en-US" sz="900" noProof="0" dirty="0">
                <a:solidFill>
                  <a:schemeClr val="tx1"/>
                </a:solidFill>
              </a:rPr>
              <a:t>Kim, 1998</a:t>
            </a:r>
          </a:p>
        </p:txBody>
      </p:sp>
      <p:cxnSp>
        <p:nvCxnSpPr>
          <p:cNvPr id="46" name="Connector: Elbow 45">
            <a:extLst>
              <a:ext uri="{FF2B5EF4-FFF2-40B4-BE49-F238E27FC236}">
                <a16:creationId xmlns:a16="http://schemas.microsoft.com/office/drawing/2014/main" id="{7B1C719E-8204-62C2-F30E-64F1A5BB19FB}"/>
              </a:ext>
            </a:extLst>
          </p:cNvPr>
          <p:cNvCxnSpPr>
            <a:cxnSpLocks/>
            <a:stCxn id="17" idx="1"/>
            <a:endCxn id="36" idx="1"/>
          </p:cNvCxnSpPr>
          <p:nvPr/>
        </p:nvCxnSpPr>
        <p:spPr>
          <a:xfrm rot="10800000" flipV="1">
            <a:off x="4768931" y="2979709"/>
            <a:ext cx="10762" cy="1435336"/>
          </a:xfrm>
          <a:prstGeom prst="bentConnector3">
            <a:avLst>
              <a:gd name="adj1" fmla="val 1800000"/>
            </a:avLst>
          </a:prstGeom>
          <a:ln w="9525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FDC14BF9-967F-9FEF-1FA2-F486B6E530A3}"/>
              </a:ext>
            </a:extLst>
          </p:cNvPr>
          <p:cNvCxnSpPr>
            <a:cxnSpLocks/>
            <a:stCxn id="36" idx="3"/>
            <a:endCxn id="37" idx="1"/>
          </p:cNvCxnSpPr>
          <p:nvPr/>
        </p:nvCxnSpPr>
        <p:spPr>
          <a:xfrm>
            <a:off x="5847292" y="4415046"/>
            <a:ext cx="404554" cy="5379"/>
          </a:xfrm>
          <a:prstGeom prst="straightConnector1">
            <a:avLst/>
          </a:prstGeom>
          <a:ln w="9525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79E92DFB-00DE-C83A-0C17-1CA60D1C1336}"/>
              </a:ext>
            </a:extLst>
          </p:cNvPr>
          <p:cNvCxnSpPr>
            <a:cxnSpLocks/>
            <a:stCxn id="35" idx="1"/>
            <a:endCxn id="36" idx="3"/>
          </p:cNvCxnSpPr>
          <p:nvPr/>
        </p:nvCxnSpPr>
        <p:spPr>
          <a:xfrm flipH="1">
            <a:off x="5847292" y="3702085"/>
            <a:ext cx="404554" cy="712961"/>
          </a:xfrm>
          <a:prstGeom prst="straightConnector1">
            <a:avLst/>
          </a:prstGeom>
          <a:ln w="9525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CB3B9013-E34E-A2B9-78F0-0BF4C2C3BA88}"/>
              </a:ext>
            </a:extLst>
          </p:cNvPr>
          <p:cNvCxnSpPr>
            <a:cxnSpLocks/>
            <a:stCxn id="34" idx="3"/>
            <a:endCxn id="35" idx="1"/>
          </p:cNvCxnSpPr>
          <p:nvPr/>
        </p:nvCxnSpPr>
        <p:spPr>
          <a:xfrm>
            <a:off x="5847292" y="3696706"/>
            <a:ext cx="404554" cy="5379"/>
          </a:xfrm>
          <a:prstGeom prst="straightConnector1">
            <a:avLst/>
          </a:prstGeom>
          <a:ln w="9525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A4786C3B-C64F-59F0-F772-B649CD4D5B05}"/>
              </a:ext>
            </a:extLst>
          </p:cNvPr>
          <p:cNvCxnSpPr>
            <a:cxnSpLocks/>
            <a:stCxn id="35" idx="2"/>
            <a:endCxn id="37" idx="0"/>
          </p:cNvCxnSpPr>
          <p:nvPr/>
        </p:nvCxnSpPr>
        <p:spPr>
          <a:xfrm>
            <a:off x="6791027" y="3988615"/>
            <a:ext cx="0" cy="145281"/>
          </a:xfrm>
          <a:prstGeom prst="straightConnector1">
            <a:avLst/>
          </a:prstGeom>
          <a:ln w="9525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5FB92254-F246-C5DF-D958-EDB693EB1791}"/>
              </a:ext>
            </a:extLst>
          </p:cNvPr>
          <p:cNvCxnSpPr>
            <a:cxnSpLocks/>
            <a:stCxn id="34" idx="2"/>
            <a:endCxn id="36" idx="0"/>
          </p:cNvCxnSpPr>
          <p:nvPr/>
        </p:nvCxnSpPr>
        <p:spPr>
          <a:xfrm>
            <a:off x="5308111" y="3983235"/>
            <a:ext cx="0" cy="145281"/>
          </a:xfrm>
          <a:prstGeom prst="straightConnector1">
            <a:avLst/>
          </a:prstGeom>
          <a:ln w="9525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: Elbow 51">
            <a:extLst>
              <a:ext uri="{FF2B5EF4-FFF2-40B4-BE49-F238E27FC236}">
                <a16:creationId xmlns:a16="http://schemas.microsoft.com/office/drawing/2014/main" id="{20A1F1CC-511A-920F-C549-70007E06C600}"/>
              </a:ext>
            </a:extLst>
          </p:cNvPr>
          <p:cNvCxnSpPr>
            <a:cxnSpLocks/>
            <a:stCxn id="17" idx="3"/>
            <a:endCxn id="37" idx="3"/>
          </p:cNvCxnSpPr>
          <p:nvPr/>
        </p:nvCxnSpPr>
        <p:spPr>
          <a:xfrm>
            <a:off x="7330208" y="2979710"/>
            <a:ext cx="10762" cy="1440716"/>
          </a:xfrm>
          <a:prstGeom prst="bentConnector3">
            <a:avLst>
              <a:gd name="adj1" fmla="val 1200000"/>
            </a:avLst>
          </a:prstGeom>
          <a:ln w="9525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: Elbow 52">
            <a:extLst>
              <a:ext uri="{FF2B5EF4-FFF2-40B4-BE49-F238E27FC236}">
                <a16:creationId xmlns:a16="http://schemas.microsoft.com/office/drawing/2014/main" id="{75467197-BE44-53DE-E397-7A7FD19AD288}"/>
              </a:ext>
            </a:extLst>
          </p:cNvPr>
          <p:cNvCxnSpPr>
            <a:cxnSpLocks/>
            <a:stCxn id="17" idx="3"/>
          </p:cNvCxnSpPr>
          <p:nvPr/>
        </p:nvCxnSpPr>
        <p:spPr>
          <a:xfrm flipH="1">
            <a:off x="6840552" y="2979710"/>
            <a:ext cx="489656" cy="2315100"/>
          </a:xfrm>
          <a:prstGeom prst="bentConnector4">
            <a:avLst>
              <a:gd name="adj1" fmla="val -50549"/>
              <a:gd name="adj2" fmla="val 99333"/>
            </a:avLst>
          </a:prstGeom>
          <a:ln w="9525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: Elbow 53">
            <a:extLst>
              <a:ext uri="{FF2B5EF4-FFF2-40B4-BE49-F238E27FC236}">
                <a16:creationId xmlns:a16="http://schemas.microsoft.com/office/drawing/2014/main" id="{E0845AF7-6DC8-FA94-CFE8-238610F5537D}"/>
              </a:ext>
            </a:extLst>
          </p:cNvPr>
          <p:cNvCxnSpPr>
            <a:cxnSpLocks/>
            <a:stCxn id="17" idx="2"/>
            <a:endCxn id="35" idx="0"/>
          </p:cNvCxnSpPr>
          <p:nvPr/>
        </p:nvCxnSpPr>
        <p:spPr>
          <a:xfrm rot="16200000" flipH="1">
            <a:off x="6300575" y="2925103"/>
            <a:ext cx="239445" cy="741458"/>
          </a:xfrm>
          <a:prstGeom prst="bentConnector3">
            <a:avLst>
              <a:gd name="adj1" fmla="val 50000"/>
            </a:avLst>
          </a:prstGeom>
          <a:ln w="9525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: Elbow 54">
            <a:extLst>
              <a:ext uri="{FF2B5EF4-FFF2-40B4-BE49-F238E27FC236}">
                <a16:creationId xmlns:a16="http://schemas.microsoft.com/office/drawing/2014/main" id="{6ADD8F39-E7A5-3FA3-EC27-B57C071676ED}"/>
              </a:ext>
            </a:extLst>
          </p:cNvPr>
          <p:cNvCxnSpPr>
            <a:cxnSpLocks/>
            <a:stCxn id="17" idx="2"/>
            <a:endCxn id="34" idx="0"/>
          </p:cNvCxnSpPr>
          <p:nvPr/>
        </p:nvCxnSpPr>
        <p:spPr>
          <a:xfrm rot="5400000">
            <a:off x="5561808" y="2922414"/>
            <a:ext cx="234065" cy="741458"/>
          </a:xfrm>
          <a:prstGeom prst="bentConnector3">
            <a:avLst>
              <a:gd name="adj1" fmla="val 50000"/>
            </a:avLst>
          </a:prstGeom>
          <a:ln w="9525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: Elbow 55">
            <a:extLst>
              <a:ext uri="{FF2B5EF4-FFF2-40B4-BE49-F238E27FC236}">
                <a16:creationId xmlns:a16="http://schemas.microsoft.com/office/drawing/2014/main" id="{0935780D-7086-6773-5E7E-C14FA9D2287B}"/>
              </a:ext>
            </a:extLst>
          </p:cNvPr>
          <p:cNvCxnSpPr>
            <a:cxnSpLocks/>
            <a:stCxn id="16" idx="1"/>
            <a:endCxn id="39" idx="0"/>
          </p:cNvCxnSpPr>
          <p:nvPr/>
        </p:nvCxnSpPr>
        <p:spPr>
          <a:xfrm rot="10800000" flipH="1" flipV="1">
            <a:off x="7975568" y="2979709"/>
            <a:ext cx="563133" cy="398178"/>
          </a:xfrm>
          <a:prstGeom prst="bentConnector4">
            <a:avLst>
              <a:gd name="adj1" fmla="val -34399"/>
              <a:gd name="adj2" fmla="val 74662"/>
            </a:avLst>
          </a:prstGeom>
          <a:ln w="9525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: Elbow 56">
            <a:extLst>
              <a:ext uri="{FF2B5EF4-FFF2-40B4-BE49-F238E27FC236}">
                <a16:creationId xmlns:a16="http://schemas.microsoft.com/office/drawing/2014/main" id="{FDF8ECE4-A1E0-3F4E-CB8D-EECEB2C3D8C8}"/>
              </a:ext>
            </a:extLst>
          </p:cNvPr>
          <p:cNvCxnSpPr>
            <a:cxnSpLocks/>
            <a:stCxn id="16" idx="3"/>
            <a:endCxn id="41" idx="3"/>
          </p:cNvCxnSpPr>
          <p:nvPr/>
        </p:nvCxnSpPr>
        <p:spPr>
          <a:xfrm>
            <a:off x="10536847" y="2979710"/>
            <a:ext cx="67627" cy="1186472"/>
          </a:xfrm>
          <a:prstGeom prst="bentConnector3">
            <a:avLst>
              <a:gd name="adj1" fmla="val 386437"/>
            </a:avLst>
          </a:prstGeom>
          <a:ln w="9525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: Elbow 57">
            <a:extLst>
              <a:ext uri="{FF2B5EF4-FFF2-40B4-BE49-F238E27FC236}">
                <a16:creationId xmlns:a16="http://schemas.microsoft.com/office/drawing/2014/main" id="{B622E2D4-2350-76E1-658E-39BB04D1D0B0}"/>
              </a:ext>
            </a:extLst>
          </p:cNvPr>
          <p:cNvCxnSpPr>
            <a:cxnSpLocks/>
            <a:stCxn id="16" idx="2"/>
            <a:endCxn id="43" idx="1"/>
          </p:cNvCxnSpPr>
          <p:nvPr/>
        </p:nvCxnSpPr>
        <p:spPr>
          <a:xfrm rot="16200000" flipH="1">
            <a:off x="8522830" y="3909488"/>
            <a:ext cx="1736661" cy="269904"/>
          </a:xfrm>
          <a:prstGeom prst="bentConnector2">
            <a:avLst/>
          </a:prstGeom>
          <a:ln w="9525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: Elbow 58">
            <a:extLst>
              <a:ext uri="{FF2B5EF4-FFF2-40B4-BE49-F238E27FC236}">
                <a16:creationId xmlns:a16="http://schemas.microsoft.com/office/drawing/2014/main" id="{A8D42F6C-2792-7066-920D-441C6F9FB09A}"/>
              </a:ext>
            </a:extLst>
          </p:cNvPr>
          <p:cNvCxnSpPr>
            <a:cxnSpLocks/>
            <a:stCxn id="39" idx="3"/>
            <a:endCxn id="42" idx="3"/>
          </p:cNvCxnSpPr>
          <p:nvPr/>
        </p:nvCxnSpPr>
        <p:spPr>
          <a:xfrm flipH="1">
            <a:off x="9053930" y="3574289"/>
            <a:ext cx="47905" cy="1338483"/>
          </a:xfrm>
          <a:prstGeom prst="bentConnector3">
            <a:avLst>
              <a:gd name="adj1" fmla="val -112324"/>
            </a:avLst>
          </a:prstGeom>
          <a:ln w="9525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: Elbow 59">
            <a:extLst>
              <a:ext uri="{FF2B5EF4-FFF2-40B4-BE49-F238E27FC236}">
                <a16:creationId xmlns:a16="http://schemas.microsoft.com/office/drawing/2014/main" id="{0EF73A0F-320E-F055-A737-911D11711381}"/>
              </a:ext>
            </a:extLst>
          </p:cNvPr>
          <p:cNvCxnSpPr>
            <a:cxnSpLocks/>
            <a:stCxn id="39" idx="1"/>
            <a:endCxn id="44" idx="1"/>
          </p:cNvCxnSpPr>
          <p:nvPr/>
        </p:nvCxnSpPr>
        <p:spPr>
          <a:xfrm rot="10800000" flipV="1">
            <a:off x="7975568" y="3574289"/>
            <a:ext cx="10762" cy="2033284"/>
          </a:xfrm>
          <a:prstGeom prst="bentConnector3">
            <a:avLst>
              <a:gd name="adj1" fmla="val 1800000"/>
            </a:avLst>
          </a:prstGeom>
          <a:ln w="9525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: Elbow 60">
            <a:extLst>
              <a:ext uri="{FF2B5EF4-FFF2-40B4-BE49-F238E27FC236}">
                <a16:creationId xmlns:a16="http://schemas.microsoft.com/office/drawing/2014/main" id="{A6642D47-9B58-395B-E9D7-21D794F07BD8}"/>
              </a:ext>
            </a:extLst>
          </p:cNvPr>
          <p:cNvCxnSpPr>
            <a:cxnSpLocks/>
            <a:stCxn id="16" idx="3"/>
            <a:endCxn id="45" idx="3"/>
          </p:cNvCxnSpPr>
          <p:nvPr/>
        </p:nvCxnSpPr>
        <p:spPr>
          <a:xfrm>
            <a:off x="10536847" y="2979710"/>
            <a:ext cx="92860" cy="2601629"/>
          </a:xfrm>
          <a:prstGeom prst="bentConnector3">
            <a:avLst>
              <a:gd name="adj1" fmla="val 412905"/>
            </a:avLst>
          </a:prstGeom>
          <a:ln w="9525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8427142E-F2B6-993B-EC5C-FAA639389092}"/>
              </a:ext>
            </a:extLst>
          </p:cNvPr>
          <p:cNvSpPr/>
          <p:nvPr/>
        </p:nvSpPr>
        <p:spPr>
          <a:xfrm>
            <a:off x="5183553" y="5807334"/>
            <a:ext cx="1826848" cy="392802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solidFill>
                  <a:schemeClr val="tx1"/>
                </a:solidFill>
                <a:highlight>
                  <a:srgbClr val="FAC228"/>
                </a:highlight>
              </a:rPr>
              <a:t>Why study procurement </a:t>
            </a:r>
            <a:br>
              <a:rPr lang="en-US" sz="1100" b="1" dirty="0">
                <a:solidFill>
                  <a:schemeClr val="tx1"/>
                </a:solidFill>
                <a:highlight>
                  <a:srgbClr val="FAC228"/>
                </a:highlight>
              </a:rPr>
            </a:br>
            <a:r>
              <a:rPr lang="en-US" sz="1100" b="1" dirty="0">
                <a:solidFill>
                  <a:schemeClr val="tx1"/>
                </a:solidFill>
                <a:highlight>
                  <a:srgbClr val="FAC228"/>
                </a:highlight>
              </a:rPr>
              <a:t>justice in organizations?</a:t>
            </a:r>
            <a:endParaRPr lang="en-US" sz="1100" b="1" noProof="0" dirty="0">
              <a:solidFill>
                <a:schemeClr val="tx1"/>
              </a:solidFill>
              <a:highlight>
                <a:srgbClr val="FAC228"/>
              </a:highlight>
            </a:endParaRPr>
          </a:p>
        </p:txBody>
      </p:sp>
      <p:cxnSp>
        <p:nvCxnSpPr>
          <p:cNvPr id="63" name="Connector: Elbow 62">
            <a:extLst>
              <a:ext uri="{FF2B5EF4-FFF2-40B4-BE49-F238E27FC236}">
                <a16:creationId xmlns:a16="http://schemas.microsoft.com/office/drawing/2014/main" id="{B87BCDA1-1FA7-2EC4-E216-9FC1E6A9886E}"/>
              </a:ext>
            </a:extLst>
          </p:cNvPr>
          <p:cNvCxnSpPr>
            <a:cxnSpLocks/>
            <a:stCxn id="12" idx="1"/>
            <a:endCxn id="62" idx="1"/>
          </p:cNvCxnSpPr>
          <p:nvPr/>
        </p:nvCxnSpPr>
        <p:spPr>
          <a:xfrm rot="10800000" flipH="1" flipV="1">
            <a:off x="1562291" y="2979709"/>
            <a:ext cx="3621261" cy="3024026"/>
          </a:xfrm>
          <a:prstGeom prst="bentConnector3">
            <a:avLst>
              <a:gd name="adj1" fmla="val -6313"/>
            </a:avLst>
          </a:prstGeom>
          <a:ln w="9525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: Elbow 63">
            <a:extLst>
              <a:ext uri="{FF2B5EF4-FFF2-40B4-BE49-F238E27FC236}">
                <a16:creationId xmlns:a16="http://schemas.microsoft.com/office/drawing/2014/main" id="{B4600F7F-2F54-D071-C57D-33BCB70CB42E}"/>
              </a:ext>
            </a:extLst>
          </p:cNvPr>
          <p:cNvCxnSpPr>
            <a:cxnSpLocks/>
            <a:stCxn id="17" idx="1"/>
            <a:endCxn id="62" idx="1"/>
          </p:cNvCxnSpPr>
          <p:nvPr/>
        </p:nvCxnSpPr>
        <p:spPr>
          <a:xfrm rot="10800000" flipH="1" flipV="1">
            <a:off x="4768931" y="2979709"/>
            <a:ext cx="414622" cy="3024026"/>
          </a:xfrm>
          <a:prstGeom prst="bentConnector3">
            <a:avLst>
              <a:gd name="adj1" fmla="val -55135"/>
            </a:avLst>
          </a:prstGeom>
          <a:ln w="9525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: Elbow 64">
            <a:extLst>
              <a:ext uri="{FF2B5EF4-FFF2-40B4-BE49-F238E27FC236}">
                <a16:creationId xmlns:a16="http://schemas.microsoft.com/office/drawing/2014/main" id="{27059C32-B417-8D46-9B1B-9513E149B79D}"/>
              </a:ext>
            </a:extLst>
          </p:cNvPr>
          <p:cNvCxnSpPr>
            <a:cxnSpLocks/>
            <a:stCxn id="45" idx="2"/>
            <a:endCxn id="62" idx="3"/>
          </p:cNvCxnSpPr>
          <p:nvPr/>
        </p:nvCxnSpPr>
        <p:spPr>
          <a:xfrm rot="5400000">
            <a:off x="8482531" y="4395740"/>
            <a:ext cx="135866" cy="3080125"/>
          </a:xfrm>
          <a:prstGeom prst="bentConnector2">
            <a:avLst/>
          </a:prstGeom>
          <a:ln w="9525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53063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72000">
              <a:srgbClr val="F22D1C"/>
            </a:gs>
            <a:gs pos="0">
              <a:srgbClr val="DF102C"/>
            </a:gs>
            <a:gs pos="100000">
              <a:srgbClr val="F26665"/>
            </a:gs>
          </a:gsLst>
          <a:lin ang="30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83F52AF-34A2-61BF-F4E4-F0DB115F73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F6912CD-8061-9A7C-0903-D3F40467E7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9389" y="6356348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0EA680-D336-4FF7-8B7A-9848BB0A1C3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EE026E-783D-50EE-CC76-8AC3568A3A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6E845D0-70B0-405D-A6BF-798C9CBE9027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2/24/2026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pic>
        <p:nvPicPr>
          <p:cNvPr id="6" name="Picture 4" descr="No hay ninguna descripción de la foto disponible.">
            <a:extLst>
              <a:ext uri="{FF2B5EF4-FFF2-40B4-BE49-F238E27FC236}">
                <a16:creationId xmlns:a16="http://schemas.microsoft.com/office/drawing/2014/main" id="{80B3D6DB-AF96-3DB0-260F-758C8E79965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biLevel thresh="25000"/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11200"/>
                    </a14:imgEffect>
                    <a14:imgEffect>
                      <a14:brightnessContrast bright="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26703" b="28790"/>
          <a:stretch/>
        </p:blipFill>
        <p:spPr bwMode="auto">
          <a:xfrm>
            <a:off x="843835" y="6356349"/>
            <a:ext cx="267089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" name="Título 1">
            <a:extLst>
              <a:ext uri="{FF2B5EF4-FFF2-40B4-BE49-F238E27FC236}">
                <a16:creationId xmlns:a16="http://schemas.microsoft.com/office/drawing/2014/main" id="{0C01FFDE-94DD-4939-CC31-56079084A83D}"/>
              </a:ext>
            </a:extLst>
          </p:cNvPr>
          <p:cNvSpPr txBox="1">
            <a:spLocks/>
          </p:cNvSpPr>
          <p:nvPr/>
        </p:nvSpPr>
        <p:spPr>
          <a:xfrm>
            <a:off x="891589" y="501650"/>
            <a:ext cx="4480511" cy="1338391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Verdana" panose="020B0604030504040204" pitchFamily="34" charset="0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b="1" dirty="0">
                <a:solidFill>
                  <a:srgbClr val="FFFF00"/>
                </a:solidFill>
                <a:latin typeface="Aptos SemiBold" panose="020F0502020204030204" pitchFamily="34" charset="0"/>
              </a:rPr>
              <a:t>Use of theory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Aptos SemiBold" panose="020F0502020204030204" pitchFamily="34" charset="0"/>
              <a:ea typeface="+mj-ea"/>
              <a:cs typeface="+mj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4181A8C-B277-F067-E336-00F57DF1A742}"/>
              </a:ext>
            </a:extLst>
          </p:cNvPr>
          <p:cNvSpPr txBox="1"/>
          <p:nvPr/>
        </p:nvSpPr>
        <p:spPr>
          <a:xfrm>
            <a:off x="843835" y="1186749"/>
            <a:ext cx="36449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The scientific method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2C8D94B-8CD3-91AB-0D06-1C8E0C1B49F9}"/>
              </a:ext>
            </a:extLst>
          </p:cNvPr>
          <p:cNvSpPr txBox="1"/>
          <p:nvPr/>
        </p:nvSpPr>
        <p:spPr>
          <a:xfrm>
            <a:off x="7721936" y="2031348"/>
            <a:ext cx="3995084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Dr Evelyn Behar and Dr Nicole Cain 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highlight>
                  <a:srgbClr val="000000"/>
                </a:highlight>
                <a:uLnTx/>
                <a:uFillTx/>
                <a:latin typeface="Aptos" panose="020B0004020202020204"/>
                <a:ea typeface="+mn-ea"/>
                <a:cs typeface="+mn-cs"/>
              </a:rPr>
              <a:t>discuss the steps involved in planning and conducting research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600" dirty="0">
              <a:solidFill>
                <a:prstClr val="white"/>
              </a:solidFill>
              <a:latin typeface="Aptos" panose="020B0004020202020204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The steps of the scientific method help to 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highlight>
                  <a:srgbClr val="000000"/>
                </a:highlight>
                <a:uLnTx/>
                <a:uFillTx/>
                <a:latin typeface="Aptos" panose="020B0004020202020204"/>
                <a:ea typeface="+mn-ea"/>
                <a:cs typeface="+mn-cs"/>
              </a:rPr>
              <a:t>strengthen the research process and enhance the researcher’s ability to draw sound conclusions from it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600" dirty="0">
              <a:solidFill>
                <a:prstClr val="white"/>
              </a:solidFill>
              <a:latin typeface="Aptos" panose="020B0004020202020204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Behar and Cain address the selection of a research topic, the design of a study, and the procedures required to carry out the research.</a:t>
            </a:r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B769F8B-3596-7166-BC3E-07192DA59C9D}"/>
              </a:ext>
            </a:extLst>
          </p:cNvPr>
          <p:cNvSpPr/>
          <p:nvPr/>
        </p:nvSpPr>
        <p:spPr>
          <a:xfrm>
            <a:off x="1089660" y="2085900"/>
            <a:ext cx="6195061" cy="3123758"/>
          </a:xfrm>
          <a:prstGeom prst="roundRect">
            <a:avLst>
              <a:gd name="adj" fmla="val 12409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hlinkClick r:id="rId5"/>
            <a:extLst>
              <a:ext uri="{FF2B5EF4-FFF2-40B4-BE49-F238E27FC236}">
                <a16:creationId xmlns:a16="http://schemas.microsoft.com/office/drawing/2014/main" id="{51090CF5-35AF-8012-7451-0BA06505C867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4062" t="14789" r="14694" b="15018"/>
          <a:stretch>
            <a:fillRect/>
          </a:stretch>
        </p:blipFill>
        <p:spPr>
          <a:xfrm>
            <a:off x="1669335" y="2096667"/>
            <a:ext cx="5638800" cy="3102223"/>
          </a:xfrm>
          <a:prstGeom prst="roundRect">
            <a:avLst>
              <a:gd name="adj" fmla="val 11754"/>
            </a:avLst>
          </a:prstGeom>
        </p:spPr>
      </p:pic>
      <p:pic>
        <p:nvPicPr>
          <p:cNvPr id="10" name="Picture 9">
            <a:hlinkClick r:id="rId5"/>
            <a:extLst>
              <a:ext uri="{FF2B5EF4-FFF2-40B4-BE49-F238E27FC236}">
                <a16:creationId xmlns:a16="http://schemas.microsoft.com/office/drawing/2014/main" id="{91238C1F-C295-F285-7D44-D16BF47A07F3}"/>
              </a:ext>
            </a:extLst>
          </p:cNvPr>
          <p:cNvPicPr/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 rot="16200000">
            <a:off x="2510411" y="448151"/>
            <a:ext cx="3353558" cy="6399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6358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viridis inferno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FCFFA4"/>
      </a:accent1>
      <a:accent2>
        <a:srgbClr val="FAC228"/>
      </a:accent2>
      <a:accent3>
        <a:srgbClr val="F57D15"/>
      </a:accent3>
      <a:accent4>
        <a:srgbClr val="D44842"/>
      </a:accent4>
      <a:accent5>
        <a:srgbClr val="9F2A63"/>
      </a:accent5>
      <a:accent6>
        <a:srgbClr val="65156E"/>
      </a:accent6>
      <a:hlink>
        <a:srgbClr val="280B53"/>
      </a:hlink>
      <a:folHlink>
        <a:srgbClr val="000004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viridis inferno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FCFFA4"/>
      </a:accent1>
      <a:accent2>
        <a:srgbClr val="FAC228"/>
      </a:accent2>
      <a:accent3>
        <a:srgbClr val="F57D15"/>
      </a:accent3>
      <a:accent4>
        <a:srgbClr val="D44842"/>
      </a:accent4>
      <a:accent5>
        <a:srgbClr val="9F2A63"/>
      </a:accent5>
      <a:accent6>
        <a:srgbClr val="65156E"/>
      </a:accent6>
      <a:hlink>
        <a:srgbClr val="280B53"/>
      </a:hlink>
      <a:folHlink>
        <a:srgbClr val="000004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8EE15E3E6707447849AAB458DC8623E" ma:contentTypeVersion="14" ma:contentTypeDescription="Create a new document." ma:contentTypeScope="" ma:versionID="408bcf87a89606ea8fdbe433c0fcbc71">
  <xsd:schema xmlns:xsd="http://www.w3.org/2001/XMLSchema" xmlns:xs="http://www.w3.org/2001/XMLSchema" xmlns:p="http://schemas.microsoft.com/office/2006/metadata/properties" xmlns:ns3="c4955aab-5521-4c99-be5f-8a8c64c93241" xmlns:ns4="1b282451-3922-4353-a20e-18c8179d8d4f" targetNamespace="http://schemas.microsoft.com/office/2006/metadata/properties" ma:root="true" ma:fieldsID="e13197b70171d63a285c7cc5637aea46" ns3:_="" ns4:_="">
    <xsd:import namespace="c4955aab-5521-4c99-be5f-8a8c64c93241"/>
    <xsd:import namespace="1b282451-3922-4353-a20e-18c8179d8d4f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_activity" minOccurs="0"/>
                <xsd:element ref="ns3:MediaServiceObjectDetectorVersions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DateTaken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4955aab-5521-4c99-be5f-8a8c64c9324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1" nillable="true" ma:displayName="_activity" ma:hidden="true" ma:internalName="_activity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7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b282451-3922-4353-a20e-18c8179d8d4f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5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c4955aab-5521-4c99-be5f-8a8c64c93241" xsi:nil="true"/>
  </documentManagement>
</p:properties>
</file>

<file path=customXml/itemProps1.xml><?xml version="1.0" encoding="utf-8"?>
<ds:datastoreItem xmlns:ds="http://schemas.openxmlformats.org/officeDocument/2006/customXml" ds:itemID="{D7C5FC10-BAF5-415E-A79F-1B3C1A6608B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4955aab-5521-4c99-be5f-8a8c64c93241"/>
    <ds:schemaRef ds:uri="1b282451-3922-4353-a20e-18c8179d8d4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579F822-89F3-457A-9965-88E330E4763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2429ECE-F6DE-45DD-9F01-58EF554383E8}">
  <ds:schemaRefs>
    <ds:schemaRef ds:uri="http://purl.org/dc/elements/1.1/"/>
    <ds:schemaRef ds:uri="1b282451-3922-4353-a20e-18c8179d8d4f"/>
    <ds:schemaRef ds:uri="http://schemas.microsoft.com/office/2006/documentManagement/types"/>
    <ds:schemaRef ds:uri="http://schemas.openxmlformats.org/package/2006/metadata/core-properties"/>
    <ds:schemaRef ds:uri="http://schemas.microsoft.com/office/2006/metadata/properties"/>
    <ds:schemaRef ds:uri="http://schemas.microsoft.com/office/infopath/2007/PartnerControls"/>
    <ds:schemaRef ds:uri="http://purl.org/dc/terms/"/>
    <ds:schemaRef ds:uri="c4955aab-5521-4c99-be5f-8a8c64c93241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159</TotalTime>
  <Words>2482</Words>
  <Application>Microsoft Office PowerPoint</Application>
  <PresentationFormat>Widescreen</PresentationFormat>
  <Paragraphs>418</Paragraphs>
  <Slides>22</Slides>
  <Notes>22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22</vt:i4>
      </vt:variant>
    </vt:vector>
  </HeadingPairs>
  <TitlesOfParts>
    <vt:vector size="24" baseType="lpstr"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Luis Carlos Guevara Hernandez</dc:creator>
  <cp:lastModifiedBy>Luis Carlos Guevara Hernandez</cp:lastModifiedBy>
  <cp:revision>5</cp:revision>
  <dcterms:created xsi:type="dcterms:W3CDTF">2024-06-30T19:22:33Z</dcterms:created>
  <dcterms:modified xsi:type="dcterms:W3CDTF">2026-02-24T21:34:55Z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0x01010098EE15E3E6707447849AAB458DC8623E</vt:lpwstr>
  </property>
</Properties>
</file>