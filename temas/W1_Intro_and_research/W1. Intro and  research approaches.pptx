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320" r:id="rId2"/>
    <p:sldId id="314" r:id="rId3"/>
    <p:sldId id="257" r:id="rId4"/>
    <p:sldId id="262" r:id="rId5"/>
    <p:sldId id="310" r:id="rId6"/>
    <p:sldId id="312" r:id="rId7"/>
    <p:sldId id="260" r:id="rId8"/>
    <p:sldId id="396" r:id="rId9"/>
    <p:sldId id="259" r:id="rId10"/>
    <p:sldId id="321" r:id="rId11"/>
    <p:sldId id="397" r:id="rId12"/>
    <p:sldId id="586" r:id="rId13"/>
    <p:sldId id="594" r:id="rId14"/>
    <p:sldId id="588" r:id="rId15"/>
    <p:sldId id="589" r:id="rId16"/>
    <p:sldId id="590" r:id="rId17"/>
    <p:sldId id="591" r:id="rId18"/>
    <p:sldId id="595" r:id="rId19"/>
    <p:sldId id="596" r:id="rId20"/>
    <p:sldId id="592" r:id="rId21"/>
    <p:sldId id="593" r:id="rId22"/>
    <p:sldId id="597" r:id="rId23"/>
    <p:sldId id="319" r:id="rId24"/>
    <p:sldId id="326" r:id="rId25"/>
    <p:sldId id="602" r:id="rId26"/>
    <p:sldId id="328" r:id="rId27"/>
    <p:sldId id="327" r:id="rId28"/>
    <p:sldId id="329" r:id="rId29"/>
    <p:sldId id="330" r:id="rId30"/>
    <p:sldId id="598" r:id="rId31"/>
    <p:sldId id="333" r:id="rId32"/>
    <p:sldId id="334" r:id="rId33"/>
    <p:sldId id="599" r:id="rId34"/>
    <p:sldId id="335" r:id="rId35"/>
    <p:sldId id="336" r:id="rId36"/>
    <p:sldId id="338" r:id="rId37"/>
    <p:sldId id="337" r:id="rId38"/>
    <p:sldId id="339" r:id="rId39"/>
    <p:sldId id="340" r:id="rId40"/>
    <p:sldId id="600" r:id="rId41"/>
    <p:sldId id="344" r:id="rId42"/>
    <p:sldId id="345" r:id="rId43"/>
    <p:sldId id="346" r:id="rId44"/>
    <p:sldId id="347" r:id="rId45"/>
    <p:sldId id="348" r:id="rId46"/>
    <p:sldId id="601" r:id="rId47"/>
    <p:sldId id="352" r:id="rId48"/>
    <p:sldId id="353" r:id="rId49"/>
    <p:sldId id="351"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FDCF6D6-2FF0-4A0E-A435-E5E98CD49DE9}">
          <p14:sldIdLst>
            <p14:sldId id="320"/>
          </p14:sldIdLst>
        </p14:section>
        <p14:section name="00.01. Roadmap" id="{F4FD878F-9468-4C90-B9AD-05E8140C8066}">
          <p14:sldIdLst>
            <p14:sldId id="314"/>
            <p14:sldId id="257"/>
            <p14:sldId id="262"/>
            <p14:sldId id="310"/>
            <p14:sldId id="312"/>
            <p14:sldId id="260"/>
            <p14:sldId id="396"/>
            <p14:sldId id="259"/>
            <p14:sldId id="321"/>
          </p14:sldIdLst>
        </p14:section>
        <p14:section name="00.02. LLMs" id="{06D42B58-1038-4F37-8EB3-0FF1C63DC67B}">
          <p14:sldIdLst>
            <p14:sldId id="397"/>
            <p14:sldId id="586"/>
            <p14:sldId id="594"/>
            <p14:sldId id="588"/>
            <p14:sldId id="589"/>
            <p14:sldId id="590"/>
            <p14:sldId id="591"/>
            <p14:sldId id="595"/>
            <p14:sldId id="596"/>
            <p14:sldId id="592"/>
            <p14:sldId id="593"/>
            <p14:sldId id="597"/>
            <p14:sldId id="319"/>
          </p14:sldIdLst>
        </p14:section>
        <p14:section name="01.00.Intro" id="{6BF1E331-C3E1-437F-80DF-544E86021793}">
          <p14:sldIdLst>
            <p14:sldId id="326"/>
            <p14:sldId id="602"/>
            <p14:sldId id="328"/>
            <p14:sldId id="327"/>
            <p14:sldId id="329"/>
            <p14:sldId id="330"/>
            <p14:sldId id="598"/>
            <p14:sldId id="333"/>
          </p14:sldIdLst>
        </p14:section>
        <p14:section name="01.01.Philosophical assumptions" id="{D1BA710C-6CEF-4F0C-A531-8156E111E783}">
          <p14:sldIdLst>
            <p14:sldId id="334"/>
            <p14:sldId id="599"/>
            <p14:sldId id="335"/>
            <p14:sldId id="336"/>
            <p14:sldId id="338"/>
            <p14:sldId id="337"/>
            <p14:sldId id="339"/>
            <p14:sldId id="340"/>
            <p14:sldId id="600"/>
          </p14:sldIdLst>
        </p14:section>
        <p14:section name="01.02.Research designs" id="{4ED48E83-2E22-459F-91B8-15361E1EF4D9}">
          <p14:sldIdLst>
            <p14:sldId id="344"/>
            <p14:sldId id="345"/>
            <p14:sldId id="346"/>
            <p14:sldId id="347"/>
            <p14:sldId id="348"/>
          </p14:sldIdLst>
        </p14:section>
        <p14:section name="01.03. Researh methods" id="{BB592976-9817-4046-975B-23010334CB40}">
          <p14:sldIdLst>
            <p14:sldId id="601"/>
            <p14:sldId id="352"/>
            <p14:sldId id="353"/>
            <p14:sldId id="35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FFFFFF"/>
    <a:srgbClr val="EA2123"/>
    <a:srgbClr val="F22D1C"/>
    <a:srgbClr val="DF102C"/>
    <a:srgbClr val="FF7C80"/>
    <a:srgbClr val="FF5050"/>
    <a:srgbClr val="711D1A"/>
    <a:srgbClr val="FDE5D0"/>
    <a:srgbClr val="F266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20" autoAdjust="0"/>
    <p:restoredTop sz="94660"/>
  </p:normalViewPr>
  <p:slideViewPr>
    <p:cSldViewPr snapToGrid="0">
      <p:cViewPr varScale="1">
        <p:scale>
          <a:sx n="77" d="100"/>
          <a:sy n="77" d="100"/>
        </p:scale>
        <p:origin x="108" y="15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Carlos Guevara Hernandez" userId="946bcc4c-b146-4724-978c-751fab731e0a" providerId="ADAL" clId="{E8E95438-7D72-4151-95E2-CCAFE31D1FDF}"/>
    <pc:docChg chg="undo custSel addSld delSld modSld modSection">
      <pc:chgData name="Luis Carlos Guevara Hernandez" userId="946bcc4c-b146-4724-978c-751fab731e0a" providerId="ADAL" clId="{E8E95438-7D72-4151-95E2-CCAFE31D1FDF}" dt="2026-03-27T16:23:20.468" v="542" actId="790"/>
      <pc:docMkLst>
        <pc:docMk/>
      </pc:docMkLst>
      <pc:sldChg chg="modSp mod">
        <pc:chgData name="Luis Carlos Guevara Hernandez" userId="946bcc4c-b146-4724-978c-751fab731e0a" providerId="ADAL" clId="{E8E95438-7D72-4151-95E2-CCAFE31D1FDF}" dt="2026-03-27T16:23:20.468" v="542" actId="790"/>
        <pc:sldMkLst>
          <pc:docMk/>
          <pc:sldMk cId="2178104996" sldId="397"/>
        </pc:sldMkLst>
        <pc:spChg chg="mod">
          <ac:chgData name="Luis Carlos Guevara Hernandez" userId="946bcc4c-b146-4724-978c-751fab731e0a" providerId="ADAL" clId="{E8E95438-7D72-4151-95E2-CCAFE31D1FDF}" dt="2026-03-27T16:23:20.468" v="542" actId="790"/>
          <ac:spMkLst>
            <pc:docMk/>
            <pc:sldMk cId="2178104996" sldId="397"/>
            <ac:spMk id="2" creationId="{065C23CE-6B92-76F9-9C3F-A8480AB7CE60}"/>
          </ac:spMkLst>
        </pc:spChg>
        <pc:spChg chg="mod">
          <ac:chgData name="Luis Carlos Guevara Hernandez" userId="946bcc4c-b146-4724-978c-751fab731e0a" providerId="ADAL" clId="{E8E95438-7D72-4151-95E2-CCAFE31D1FDF}" dt="2026-03-27T16:23:20.468" v="542" actId="790"/>
          <ac:spMkLst>
            <pc:docMk/>
            <pc:sldMk cId="2178104996" sldId="397"/>
            <ac:spMk id="7" creationId="{F0360119-7998-B9AB-B9F4-5D57DCDEA783}"/>
          </ac:spMkLst>
        </pc:spChg>
        <pc:spChg chg="mod">
          <ac:chgData name="Luis Carlos Guevara Hernandez" userId="946bcc4c-b146-4724-978c-751fab731e0a" providerId="ADAL" clId="{E8E95438-7D72-4151-95E2-CCAFE31D1FDF}" dt="2026-03-27T16:23:20.468" v="542" actId="790"/>
          <ac:spMkLst>
            <pc:docMk/>
            <pc:sldMk cId="2178104996" sldId="397"/>
            <ac:spMk id="25" creationId="{7B1569EF-80B0-D6E6-75F6-1F6A3A98E303}"/>
          </ac:spMkLst>
        </pc:spChg>
        <pc:spChg chg="mod">
          <ac:chgData name="Luis Carlos Guevara Hernandez" userId="946bcc4c-b146-4724-978c-751fab731e0a" providerId="ADAL" clId="{E8E95438-7D72-4151-95E2-CCAFE31D1FDF}" dt="2026-03-27T16:23:20.468" v="542" actId="790"/>
          <ac:spMkLst>
            <pc:docMk/>
            <pc:sldMk cId="2178104996" sldId="397"/>
            <ac:spMk id="29" creationId="{9744D985-94F2-6249-86B4-0908FCBB85D1}"/>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bar"/>
        <c:grouping val="clustered"/>
        <c:varyColors val="0"/>
        <c:ser>
          <c:idx val="0"/>
          <c:order val="0"/>
          <c:spPr>
            <a:solidFill>
              <a:schemeClr val="accent5"/>
            </a:solidFill>
            <a:ln>
              <a:noFill/>
            </a:ln>
            <a:effectLst/>
          </c:spPr>
          <c:invertIfNegative val="0"/>
          <c:dPt>
            <c:idx val="0"/>
            <c:invertIfNegative val="0"/>
            <c:bubble3D val="0"/>
            <c:spPr>
              <a:solidFill>
                <a:schemeClr val="accent4">
                  <a:lumMod val="20000"/>
                  <a:lumOff val="80000"/>
                </a:schemeClr>
              </a:solidFill>
              <a:ln>
                <a:noFill/>
              </a:ln>
              <a:effectLst/>
            </c:spPr>
            <c:extLst>
              <c:ext xmlns:c16="http://schemas.microsoft.com/office/drawing/2014/chart" uri="{C3380CC4-5D6E-409C-BE32-E72D297353CC}">
                <c16:uniqueId val="{00000007-F0C2-468A-A5B0-D5149232EFE8}"/>
              </c:ext>
            </c:extLst>
          </c:dPt>
          <c:dPt>
            <c:idx val="1"/>
            <c:invertIfNegative val="0"/>
            <c:bubble3D val="0"/>
            <c:spPr>
              <a:solidFill>
                <a:schemeClr val="accent4">
                  <a:lumMod val="20000"/>
                  <a:lumOff val="80000"/>
                </a:schemeClr>
              </a:solidFill>
              <a:ln>
                <a:noFill/>
              </a:ln>
              <a:effectLst/>
            </c:spPr>
            <c:extLst>
              <c:ext xmlns:c16="http://schemas.microsoft.com/office/drawing/2014/chart" uri="{C3380CC4-5D6E-409C-BE32-E72D297353CC}">
                <c16:uniqueId val="{00000006-F0C2-468A-A5B0-D5149232EFE8}"/>
              </c:ext>
            </c:extLst>
          </c:dPt>
          <c:dPt>
            <c:idx val="2"/>
            <c:invertIfNegative val="0"/>
            <c:bubble3D val="0"/>
            <c:spPr>
              <a:solidFill>
                <a:schemeClr val="accent4">
                  <a:lumMod val="20000"/>
                  <a:lumOff val="80000"/>
                </a:schemeClr>
              </a:solidFill>
              <a:ln>
                <a:noFill/>
              </a:ln>
              <a:effectLst/>
            </c:spPr>
            <c:extLst>
              <c:ext xmlns:c16="http://schemas.microsoft.com/office/drawing/2014/chart" uri="{C3380CC4-5D6E-409C-BE32-E72D297353CC}">
                <c16:uniqueId val="{00000005-F0C2-468A-A5B0-D5149232EFE8}"/>
              </c:ext>
            </c:extLst>
          </c:dPt>
          <c:dPt>
            <c:idx val="3"/>
            <c:invertIfNegative val="0"/>
            <c:bubble3D val="0"/>
            <c:spPr>
              <a:solidFill>
                <a:srgbClr val="FF7C80"/>
              </a:solidFill>
              <a:ln>
                <a:noFill/>
              </a:ln>
              <a:effectLst/>
            </c:spPr>
            <c:extLst>
              <c:ext xmlns:c16="http://schemas.microsoft.com/office/drawing/2014/chart" uri="{C3380CC4-5D6E-409C-BE32-E72D297353CC}">
                <c16:uniqueId val="{00000004-F0C2-468A-A5B0-D5149232EFE8}"/>
              </c:ext>
            </c:extLst>
          </c:dPt>
          <c:dPt>
            <c:idx val="4"/>
            <c:invertIfNegative val="0"/>
            <c:bubble3D val="0"/>
            <c:spPr>
              <a:solidFill>
                <a:srgbClr val="FF5050"/>
              </a:solidFill>
              <a:ln>
                <a:noFill/>
              </a:ln>
              <a:effectLst/>
            </c:spPr>
            <c:extLst>
              <c:ext xmlns:c16="http://schemas.microsoft.com/office/drawing/2014/chart" uri="{C3380CC4-5D6E-409C-BE32-E72D297353CC}">
                <c16:uniqueId val="{00000003-F0C2-468A-A5B0-D5149232EFE8}"/>
              </c:ext>
            </c:extLst>
          </c:dPt>
          <c:dPt>
            <c:idx val="5"/>
            <c:invertIfNegative val="0"/>
            <c:bubble3D val="0"/>
            <c:spPr>
              <a:solidFill>
                <a:srgbClr val="DF102C"/>
              </a:solidFill>
              <a:ln>
                <a:noFill/>
              </a:ln>
              <a:effectLst/>
            </c:spPr>
            <c:extLst>
              <c:ext xmlns:c16="http://schemas.microsoft.com/office/drawing/2014/chart" uri="{C3380CC4-5D6E-409C-BE32-E72D297353CC}">
                <c16:uniqueId val="{00000002-F0C2-468A-A5B0-D5149232EFE8}"/>
              </c:ext>
            </c:extLst>
          </c:dPt>
          <c:dPt>
            <c:idx val="6"/>
            <c:invertIfNegative val="0"/>
            <c:bubble3D val="0"/>
            <c:spPr>
              <a:solidFill>
                <a:schemeClr val="accent4">
                  <a:lumMod val="75000"/>
                </a:schemeClr>
              </a:solidFill>
              <a:ln>
                <a:noFill/>
              </a:ln>
              <a:effectLst/>
            </c:spPr>
            <c:extLst>
              <c:ext xmlns:c16="http://schemas.microsoft.com/office/drawing/2014/chart" uri="{C3380CC4-5D6E-409C-BE32-E72D297353CC}">
                <c16:uniqueId val="{00000001-F0C2-468A-A5B0-D5149232EFE8}"/>
              </c:ext>
            </c:extLst>
          </c:dPt>
          <c:dPt>
            <c:idx val="7"/>
            <c:invertIfNegative val="0"/>
            <c:bubble3D val="0"/>
            <c:spPr>
              <a:solidFill>
                <a:srgbClr val="711D1A"/>
              </a:solidFill>
              <a:ln>
                <a:noFill/>
              </a:ln>
              <a:effectLst/>
            </c:spPr>
            <c:extLst>
              <c:ext xmlns:c16="http://schemas.microsoft.com/office/drawing/2014/chart" uri="{C3380CC4-5D6E-409C-BE32-E72D297353CC}">
                <c16:uniqueId val="{00000000-AEA5-4890-A4CC-CCBB8A92696B}"/>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Sheet1!$C$3:$C$10</c:f>
              <c:strCache>
                <c:ptCount val="8"/>
                <c:pt idx="0">
                  <c:v>migra</c:v>
                </c:pt>
                <c:pt idx="1">
                  <c:v>angustia</c:v>
                </c:pt>
                <c:pt idx="2">
                  <c:v>hermana</c:v>
                </c:pt>
                <c:pt idx="3">
                  <c:v>camioneta</c:v>
                </c:pt>
                <c:pt idx="4">
                  <c:v>canoa</c:v>
                </c:pt>
                <c:pt idx="5">
                  <c:v>sigueña</c:v>
                </c:pt>
                <c:pt idx="6">
                  <c:v>marea</c:v>
                </c:pt>
                <c:pt idx="7">
                  <c:v>corriente</c:v>
                </c:pt>
              </c:strCache>
            </c:strRef>
          </c:cat>
          <c:val>
            <c:numRef>
              <c:f>Sheet1!$D$3:$D$10</c:f>
              <c:numCache>
                <c:formatCode>0%</c:formatCode>
                <c:ptCount val="8"/>
                <c:pt idx="0">
                  <c:v>0.01</c:v>
                </c:pt>
                <c:pt idx="1">
                  <c:v>0.01</c:v>
                </c:pt>
                <c:pt idx="2">
                  <c:v>0.01</c:v>
                </c:pt>
                <c:pt idx="3">
                  <c:v>0.02</c:v>
                </c:pt>
                <c:pt idx="4">
                  <c:v>0.05</c:v>
                </c:pt>
                <c:pt idx="5">
                  <c:v>0.09</c:v>
                </c:pt>
                <c:pt idx="6">
                  <c:v>0.15</c:v>
                </c:pt>
                <c:pt idx="7">
                  <c:v>0.2</c:v>
                </c:pt>
              </c:numCache>
            </c:numRef>
          </c:val>
          <c:extLst>
            <c:ext xmlns:c16="http://schemas.microsoft.com/office/drawing/2014/chart" uri="{C3380CC4-5D6E-409C-BE32-E72D297353CC}">
              <c16:uniqueId val="{00000000-F0C2-468A-A5B0-D5149232EFE8}"/>
            </c:ext>
          </c:extLst>
        </c:ser>
        <c:dLbls>
          <c:showLegendKey val="0"/>
          <c:showVal val="0"/>
          <c:showCatName val="0"/>
          <c:showSerName val="0"/>
          <c:showPercent val="0"/>
          <c:showBubbleSize val="0"/>
        </c:dLbls>
        <c:gapWidth val="0"/>
        <c:axId val="240208656"/>
        <c:axId val="240207216"/>
      </c:barChart>
      <c:catAx>
        <c:axId val="2402086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40207216"/>
        <c:crosses val="autoZero"/>
        <c:auto val="1"/>
        <c:lblAlgn val="ctr"/>
        <c:lblOffset val="100"/>
        <c:noMultiLvlLbl val="0"/>
      </c:catAx>
      <c:valAx>
        <c:axId val="240207216"/>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2402086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4FB681-422F-492A-A538-67B2BCA02B73}" type="datetimeFigureOut">
              <a:rPr lang="en-GB" smtClean="0"/>
              <a:t>27/03/2026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28808D-F8FF-4F45-9B49-F778C5ECCDCA}" type="slidenum">
              <a:rPr lang="en-GB" smtClean="0"/>
              <a:t>‹#›</a:t>
            </a:fld>
            <a:endParaRPr lang="en-GB"/>
          </a:p>
        </p:txBody>
      </p:sp>
    </p:spTree>
    <p:extLst>
      <p:ext uri="{BB962C8B-B14F-4D97-AF65-F5344CB8AC3E}">
        <p14:creationId xmlns:p14="http://schemas.microsoft.com/office/powerpoint/2010/main" val="1785891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28808D-F8FF-4F45-9B49-F778C5ECCDCA}" type="slidenum">
              <a:rPr lang="en-GB" smtClean="0"/>
              <a:t>2</a:t>
            </a:fld>
            <a:endParaRPr lang="en-GB"/>
          </a:p>
        </p:txBody>
      </p:sp>
    </p:spTree>
    <p:extLst>
      <p:ext uri="{BB962C8B-B14F-4D97-AF65-F5344CB8AC3E}">
        <p14:creationId xmlns:p14="http://schemas.microsoft.com/office/powerpoint/2010/main" val="6710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28808D-F8FF-4F45-9B49-F778C5ECCDCA}" type="slidenum">
              <a:rPr lang="en-GB" smtClean="0"/>
              <a:t>6</a:t>
            </a:fld>
            <a:endParaRPr lang="en-GB"/>
          </a:p>
        </p:txBody>
      </p:sp>
    </p:spTree>
    <p:extLst>
      <p:ext uri="{BB962C8B-B14F-4D97-AF65-F5344CB8AC3E}">
        <p14:creationId xmlns:p14="http://schemas.microsoft.com/office/powerpoint/2010/main" val="3817235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699CC-00FA-12EB-D0D7-1C233642A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291EC-DB4C-D07D-4FDC-984AB6907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7766C1-C76E-61EA-6672-EA141118B8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42E832-BC03-EE2F-ABDA-05EB02DCAF09}"/>
              </a:ext>
            </a:extLst>
          </p:cNvPr>
          <p:cNvSpPr>
            <a:spLocks noGrp="1"/>
          </p:cNvSpPr>
          <p:nvPr>
            <p:ph type="sldNum" sz="quarter" idx="5"/>
          </p:nvPr>
        </p:nvSpPr>
        <p:spPr/>
        <p:txBody>
          <a:bodyPr/>
          <a:lstStyle/>
          <a:p>
            <a:fld id="{8528808D-F8FF-4F45-9B49-F778C5ECCDCA}" type="slidenum">
              <a:rPr lang="en-GB" smtClean="0"/>
              <a:t>11</a:t>
            </a:fld>
            <a:endParaRPr lang="en-GB"/>
          </a:p>
        </p:txBody>
      </p:sp>
    </p:spTree>
    <p:extLst>
      <p:ext uri="{BB962C8B-B14F-4D97-AF65-F5344CB8AC3E}">
        <p14:creationId xmlns:p14="http://schemas.microsoft.com/office/powerpoint/2010/main" val="3945105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5B722-C929-2636-F101-EA3E841C4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206AF-BCE5-521A-95C6-80B932820D1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9AF705-34A8-BDA4-B5CD-9176A1E9381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FD8EC92-747D-4D06-B465-0C299169BA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37981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06EA2-6F9D-B763-1C32-CB5CE90EF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703F2-6C14-583C-0954-DE236E0062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7FDFC-B7E3-4019-70D2-7EAE5B8AB8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0EFBED-033E-6411-1DD8-9EFA1A98E479}"/>
              </a:ext>
            </a:extLst>
          </p:cNvPr>
          <p:cNvSpPr>
            <a:spLocks noGrp="1"/>
          </p:cNvSpPr>
          <p:nvPr>
            <p:ph type="sldNum" sz="quarter" idx="5"/>
          </p:nvPr>
        </p:nvSpPr>
        <p:spPr/>
        <p:txBody>
          <a:bodyPr/>
          <a:lstStyle/>
          <a:p>
            <a:fld id="{8528808D-F8FF-4F45-9B49-F778C5ECCDCA}" type="slidenum">
              <a:rPr lang="en-GB" smtClean="0"/>
              <a:t>13</a:t>
            </a:fld>
            <a:endParaRPr lang="en-GB"/>
          </a:p>
        </p:txBody>
      </p:sp>
    </p:spTree>
    <p:extLst>
      <p:ext uri="{BB962C8B-B14F-4D97-AF65-F5344CB8AC3E}">
        <p14:creationId xmlns:p14="http://schemas.microsoft.com/office/powerpoint/2010/main" val="3658232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E2B14-982D-1D58-6AB8-C9A1DD7765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76F28-ED83-D1EA-0E60-C308DD25E52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811F01F-6DD2-583B-5F59-4297A64D2C8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11C2C57-513E-3C02-BDA2-20B6F11F5D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8032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49938-F0FE-B798-6AEB-8170F4963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8CB99-D96C-3BDA-6FCD-D8321FB2D2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688F8E-6546-AF6A-C6E6-A4EC203FB69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E8BFD31-5505-5E5C-B4D3-EF351AF8C8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33537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CD3D4-52D7-CBA8-B7B1-D2B8C3028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A488D-7741-94E3-64E3-393122374F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6FDD8E-21F8-14A8-9380-6FBAC297A76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816D275-9415-E11B-94F4-4C6AEB98F1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66849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A9BCB-BC7E-F68F-5F1C-D3617E305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4EC07-8E24-4D40-66BE-B6785036331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26D8F3-06C0-372C-44DD-02C18C27D02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8348DF2-F3EF-7FF7-B48D-A1E1519EA1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6719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8C17D-F929-1EE6-4715-D9895D4F2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A9D7D-B705-4927-72D7-05BE634FB5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23135E-B465-F234-1EEC-8E88215A3CD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4DB02B3-E4AC-B215-32C8-39005744EF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68622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3AC5D-0790-7605-AE9F-27A939ED8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92B4F-F120-CEDA-182A-B4F4B62BFC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8D96AE-28E2-D1AA-80BF-52EADCF685B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667DFDE-D6B3-E0BF-C9A5-1C1F69CEA2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91316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28808D-F8FF-4F45-9B49-F778C5ECCDCA}" type="slidenum">
              <a:rPr lang="en-GB" smtClean="0"/>
              <a:t>22</a:t>
            </a:fld>
            <a:endParaRPr lang="en-GB"/>
          </a:p>
        </p:txBody>
      </p:sp>
    </p:spTree>
    <p:extLst>
      <p:ext uri="{BB962C8B-B14F-4D97-AF65-F5344CB8AC3E}">
        <p14:creationId xmlns:p14="http://schemas.microsoft.com/office/powerpoint/2010/main" val="2367943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Los enfoques cualitativos y cuantitativos como categorías rígidas, distintas, opuestas o dicotómicas. En cambio, representan diferentes extremos en un continuo.</a:t>
            </a:r>
            <a:endParaRPr lang="en-GB"/>
          </a:p>
        </p:txBody>
      </p:sp>
      <p:sp>
        <p:nvSpPr>
          <p:cNvPr id="4" name="Slide Number Placeholder 3"/>
          <p:cNvSpPr>
            <a:spLocks noGrp="1"/>
          </p:cNvSpPr>
          <p:nvPr>
            <p:ph type="sldNum" sz="quarter" idx="5"/>
          </p:nvPr>
        </p:nvSpPr>
        <p:spPr/>
        <p:txBody>
          <a:bodyPr/>
          <a:lstStyle/>
          <a:p>
            <a:fld id="{8528808D-F8FF-4F45-9B49-F778C5ECCDCA}" type="slidenum">
              <a:rPr lang="en-GB" smtClean="0"/>
              <a:t>28</a:t>
            </a:fld>
            <a:endParaRPr lang="en-GB"/>
          </a:p>
        </p:txBody>
      </p:sp>
    </p:spTree>
    <p:extLst>
      <p:ext uri="{BB962C8B-B14F-4D97-AF65-F5344CB8AC3E}">
        <p14:creationId xmlns:p14="http://schemas.microsoft.com/office/powerpoint/2010/main" val="3029328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20B83-7205-9027-C45D-79D352F0FD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5D2F7-228B-5196-B0B9-D1ECADD913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9E186-040A-5E91-8DB3-5D6B08781853}"/>
              </a:ext>
            </a:extLst>
          </p:cNvPr>
          <p:cNvSpPr>
            <a:spLocks noGrp="1"/>
          </p:cNvSpPr>
          <p:nvPr>
            <p:ph type="body" idx="1"/>
          </p:nvPr>
        </p:nvSpPr>
        <p:spPr/>
        <p:txBody>
          <a:bodyPr/>
          <a:lstStyle/>
          <a:p>
            <a:r>
              <a:rPr lang="es-ES"/>
              <a:t>Los enfoques cualitativos y cuantitativos como categorías rígidas, distintas, opuestas o dicotómicas. En cambio, representan diferentes extremos en un continuo.</a:t>
            </a:r>
            <a:endParaRPr lang="en-GB"/>
          </a:p>
        </p:txBody>
      </p:sp>
      <p:sp>
        <p:nvSpPr>
          <p:cNvPr id="4" name="Slide Number Placeholder 3">
            <a:extLst>
              <a:ext uri="{FF2B5EF4-FFF2-40B4-BE49-F238E27FC236}">
                <a16:creationId xmlns:a16="http://schemas.microsoft.com/office/drawing/2014/main" id="{A977551F-6F86-7E17-AD68-575697AED0DF}"/>
              </a:ext>
            </a:extLst>
          </p:cNvPr>
          <p:cNvSpPr>
            <a:spLocks noGrp="1"/>
          </p:cNvSpPr>
          <p:nvPr>
            <p:ph type="sldNum" sz="quarter" idx="5"/>
          </p:nvPr>
        </p:nvSpPr>
        <p:spPr/>
        <p:txBody>
          <a:bodyPr/>
          <a:lstStyle/>
          <a:p>
            <a:fld id="{8528808D-F8FF-4F45-9B49-F778C5ECCDCA}" type="slidenum">
              <a:rPr lang="en-GB" smtClean="0"/>
              <a:t>29</a:t>
            </a:fld>
            <a:endParaRPr lang="en-GB"/>
          </a:p>
        </p:txBody>
      </p:sp>
    </p:spTree>
    <p:extLst>
      <p:ext uri="{BB962C8B-B14F-4D97-AF65-F5344CB8AC3E}">
        <p14:creationId xmlns:p14="http://schemas.microsoft.com/office/powerpoint/2010/main" val="1018628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31E1A-75F7-5548-9AEF-E4B65762FD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130BB-527E-F677-179F-E4D7CC407F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F1B30F-9D24-501A-8944-EEB629248CB0}"/>
              </a:ext>
            </a:extLst>
          </p:cNvPr>
          <p:cNvSpPr>
            <a:spLocks noGrp="1"/>
          </p:cNvSpPr>
          <p:nvPr>
            <p:ph type="body" idx="1"/>
          </p:nvPr>
        </p:nvSpPr>
        <p:spPr/>
        <p:txBody>
          <a:bodyPr/>
          <a:lstStyle/>
          <a:p>
            <a:r>
              <a:rPr lang="es-ES"/>
              <a:t>Los enfoques cualitativos y cuantitativos como categorías rígidas, distintas, opuestas o dicotómicas. En cambio, representan diferentes extremos en un continuo.</a:t>
            </a:r>
            <a:endParaRPr lang="en-GB"/>
          </a:p>
        </p:txBody>
      </p:sp>
      <p:sp>
        <p:nvSpPr>
          <p:cNvPr id="4" name="Slide Number Placeholder 3">
            <a:extLst>
              <a:ext uri="{FF2B5EF4-FFF2-40B4-BE49-F238E27FC236}">
                <a16:creationId xmlns:a16="http://schemas.microsoft.com/office/drawing/2014/main" id="{2DF42603-891E-5AF9-7D86-B34677EF8789}"/>
              </a:ext>
            </a:extLst>
          </p:cNvPr>
          <p:cNvSpPr>
            <a:spLocks noGrp="1"/>
          </p:cNvSpPr>
          <p:nvPr>
            <p:ph type="sldNum" sz="quarter" idx="5"/>
          </p:nvPr>
        </p:nvSpPr>
        <p:spPr/>
        <p:txBody>
          <a:bodyPr/>
          <a:lstStyle/>
          <a:p>
            <a:fld id="{8528808D-F8FF-4F45-9B49-F778C5ECCDCA}" type="slidenum">
              <a:rPr lang="en-GB" smtClean="0"/>
              <a:t>30</a:t>
            </a:fld>
            <a:endParaRPr lang="en-GB"/>
          </a:p>
        </p:txBody>
      </p:sp>
    </p:spTree>
    <p:extLst>
      <p:ext uri="{BB962C8B-B14F-4D97-AF65-F5344CB8AC3E}">
        <p14:creationId xmlns:p14="http://schemas.microsoft.com/office/powerpoint/2010/main" val="4288151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528808D-F8FF-4F45-9B49-F778C5ECCDCA}" type="slidenum">
              <a:rPr lang="en-GB" smtClean="0"/>
              <a:t>31</a:t>
            </a:fld>
            <a:endParaRPr lang="en-GB"/>
          </a:p>
        </p:txBody>
      </p:sp>
    </p:spTree>
    <p:extLst>
      <p:ext uri="{BB962C8B-B14F-4D97-AF65-F5344CB8AC3E}">
        <p14:creationId xmlns:p14="http://schemas.microsoft.com/office/powerpoint/2010/main" val="8557939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D22BA-E314-186A-4D40-4CD8A597F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AC2D6-1CF8-C915-C21A-ADE863AE5C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F33303-2F6D-BD0A-A56C-2D71255B8F9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ABF2763-BD3A-3B37-BE83-F11A9D9F5E45}"/>
              </a:ext>
            </a:extLst>
          </p:cNvPr>
          <p:cNvSpPr>
            <a:spLocks noGrp="1"/>
          </p:cNvSpPr>
          <p:nvPr>
            <p:ph type="sldNum" sz="quarter" idx="5"/>
          </p:nvPr>
        </p:nvSpPr>
        <p:spPr/>
        <p:txBody>
          <a:bodyPr/>
          <a:lstStyle/>
          <a:p>
            <a:fld id="{8528808D-F8FF-4F45-9B49-F778C5ECCDCA}" type="slidenum">
              <a:rPr lang="en-GB" smtClean="0"/>
              <a:t>32</a:t>
            </a:fld>
            <a:endParaRPr lang="en-GB"/>
          </a:p>
        </p:txBody>
      </p:sp>
    </p:spTree>
    <p:extLst>
      <p:ext uri="{BB962C8B-B14F-4D97-AF65-F5344CB8AC3E}">
        <p14:creationId xmlns:p14="http://schemas.microsoft.com/office/powerpoint/2010/main" val="2648573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E4B3A-032B-9A5C-2194-CAEE1B103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B2A51-6DC4-6964-956C-50689CD58B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CF9D79-55A7-D5E8-76A9-FF89CE196AE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288C2D9-079B-6152-8A9D-F5F9C1013F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73559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4B18F-403B-147C-1B01-42EDF6F746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294DC-082A-3695-7086-4093A07168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5D0634-B93A-F788-905C-66863E5C826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7EAFC12-3674-0FB9-02DA-6DD5D30D9338}"/>
              </a:ext>
            </a:extLst>
          </p:cNvPr>
          <p:cNvSpPr>
            <a:spLocks noGrp="1"/>
          </p:cNvSpPr>
          <p:nvPr>
            <p:ph type="sldNum" sz="quarter" idx="5"/>
          </p:nvPr>
        </p:nvSpPr>
        <p:spPr/>
        <p:txBody>
          <a:bodyPr/>
          <a:lstStyle/>
          <a:p>
            <a:fld id="{8528808D-F8FF-4F45-9B49-F778C5ECCDCA}" type="slidenum">
              <a:rPr lang="en-GB" smtClean="0"/>
              <a:t>34</a:t>
            </a:fld>
            <a:endParaRPr lang="en-GB"/>
          </a:p>
        </p:txBody>
      </p:sp>
    </p:spTree>
    <p:extLst>
      <p:ext uri="{BB962C8B-B14F-4D97-AF65-F5344CB8AC3E}">
        <p14:creationId xmlns:p14="http://schemas.microsoft.com/office/powerpoint/2010/main" val="15778302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1F369-72BD-55FC-3E91-90AFB6F94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31CF4-8EEC-E49C-72D8-1973BCC219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B536F2-3EF9-A82B-F104-AB3FF805796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F97F646-CAD4-0459-8515-CE2EA7F9EA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01307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CDF5B-517E-46FA-1776-ACFF1134A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2FD9E-AF5B-CA9F-DCFD-B577FD365A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010F9C-7394-342E-13AA-E986709F5A7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A4A5086-C405-6DC2-9843-0E5A1880A4DD}"/>
              </a:ext>
            </a:extLst>
          </p:cNvPr>
          <p:cNvSpPr>
            <a:spLocks noGrp="1"/>
          </p:cNvSpPr>
          <p:nvPr>
            <p:ph type="sldNum" sz="quarter" idx="5"/>
          </p:nvPr>
        </p:nvSpPr>
        <p:spPr/>
        <p:txBody>
          <a:bodyPr/>
          <a:lstStyle/>
          <a:p>
            <a:fld id="{8528808D-F8FF-4F45-9B49-F778C5ECCDCA}" type="slidenum">
              <a:rPr lang="en-GB" smtClean="0"/>
              <a:t>36</a:t>
            </a:fld>
            <a:endParaRPr lang="en-GB"/>
          </a:p>
        </p:txBody>
      </p:sp>
    </p:spTree>
    <p:extLst>
      <p:ext uri="{BB962C8B-B14F-4D97-AF65-F5344CB8AC3E}">
        <p14:creationId xmlns:p14="http://schemas.microsoft.com/office/powerpoint/2010/main" val="1395038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139A9-7F66-A938-FAD9-BCE7E1533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CD002-187D-4D8D-5994-E29AFCAE0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7B2A5-6BA7-9030-B3BE-5366FADDD5A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C2CE32F-CC9D-0FE1-C1BB-0F6A6D7A6B7F}"/>
              </a:ext>
            </a:extLst>
          </p:cNvPr>
          <p:cNvSpPr>
            <a:spLocks noGrp="1"/>
          </p:cNvSpPr>
          <p:nvPr>
            <p:ph type="sldNum" sz="quarter" idx="5"/>
          </p:nvPr>
        </p:nvSpPr>
        <p:spPr/>
        <p:txBody>
          <a:bodyPr/>
          <a:lstStyle/>
          <a:p>
            <a:fld id="{8528808D-F8FF-4F45-9B49-F778C5ECCDCA}" type="slidenum">
              <a:rPr lang="en-GB" smtClean="0"/>
              <a:t>37</a:t>
            </a:fld>
            <a:endParaRPr lang="en-GB"/>
          </a:p>
        </p:txBody>
      </p:sp>
    </p:spTree>
    <p:extLst>
      <p:ext uri="{BB962C8B-B14F-4D97-AF65-F5344CB8AC3E}">
        <p14:creationId xmlns:p14="http://schemas.microsoft.com/office/powerpoint/2010/main" val="13682391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9556D-9D5F-2E61-F9B7-E756ECD45B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475E7-D83A-12CA-719E-123AA5544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1931B4-8C41-747F-FEF3-0B491148941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7C2818A-404C-098B-B318-309F0F9BB783}"/>
              </a:ext>
            </a:extLst>
          </p:cNvPr>
          <p:cNvSpPr>
            <a:spLocks noGrp="1"/>
          </p:cNvSpPr>
          <p:nvPr>
            <p:ph type="sldNum" sz="quarter" idx="5"/>
          </p:nvPr>
        </p:nvSpPr>
        <p:spPr/>
        <p:txBody>
          <a:bodyPr/>
          <a:lstStyle/>
          <a:p>
            <a:fld id="{8528808D-F8FF-4F45-9B49-F778C5ECCDCA}" type="slidenum">
              <a:rPr lang="en-GB" smtClean="0"/>
              <a:t>38</a:t>
            </a:fld>
            <a:endParaRPr lang="en-GB"/>
          </a:p>
        </p:txBody>
      </p:sp>
    </p:spTree>
    <p:extLst>
      <p:ext uri="{BB962C8B-B14F-4D97-AF65-F5344CB8AC3E}">
        <p14:creationId xmlns:p14="http://schemas.microsoft.com/office/powerpoint/2010/main" val="22662136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36FCA-C3B7-D91F-2825-89D312265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9EAB83-AB7A-3450-F2C3-C6866B987A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83B5C2-43EA-F5C5-36C9-FB376BF4F7B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66459B1-BEED-22DA-A749-C05008B9745A}"/>
              </a:ext>
            </a:extLst>
          </p:cNvPr>
          <p:cNvSpPr>
            <a:spLocks noGrp="1"/>
          </p:cNvSpPr>
          <p:nvPr>
            <p:ph type="sldNum" sz="quarter" idx="5"/>
          </p:nvPr>
        </p:nvSpPr>
        <p:spPr/>
        <p:txBody>
          <a:bodyPr/>
          <a:lstStyle/>
          <a:p>
            <a:fld id="{8528808D-F8FF-4F45-9B49-F778C5ECCDCA}" type="slidenum">
              <a:rPr lang="en-GB" smtClean="0"/>
              <a:t>39</a:t>
            </a:fld>
            <a:endParaRPr lang="en-GB"/>
          </a:p>
        </p:txBody>
      </p:sp>
    </p:spTree>
    <p:extLst>
      <p:ext uri="{BB962C8B-B14F-4D97-AF65-F5344CB8AC3E}">
        <p14:creationId xmlns:p14="http://schemas.microsoft.com/office/powerpoint/2010/main" val="29464535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21A84-EB33-DA78-3BEA-F7E39FB49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49408-9A83-C440-C9F5-96439DD29B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8B7B04-C27A-DF6F-C83B-C91DF0C655D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0D5ADF9-C9F4-3611-96BA-86754BF2C6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307080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FC9F4-9E74-4A4F-7DB4-B227FFF0B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C87F05-8B00-35B6-52BA-6B80D9F7D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09CD4-9CA5-D243-CD1E-263FE2EA268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5D40545-BC90-524D-DCF5-F1EA741FFA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267725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E0B5D-FC5A-D4C9-C530-19C74121B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62E9B-5139-5596-AA2B-5A55835AE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9E274-5C8C-62B9-2E82-7FB80F2E11B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110416D-22CE-C280-3CA3-BD57BEE949DC}"/>
              </a:ext>
            </a:extLst>
          </p:cNvPr>
          <p:cNvSpPr>
            <a:spLocks noGrp="1"/>
          </p:cNvSpPr>
          <p:nvPr>
            <p:ph type="sldNum" sz="quarter" idx="5"/>
          </p:nvPr>
        </p:nvSpPr>
        <p:spPr/>
        <p:txBody>
          <a:bodyPr/>
          <a:lstStyle/>
          <a:p>
            <a:fld id="{8528808D-F8FF-4F45-9B49-F778C5ECCDCA}" type="slidenum">
              <a:rPr lang="en-GB" smtClean="0"/>
              <a:t>42</a:t>
            </a:fld>
            <a:endParaRPr lang="en-GB"/>
          </a:p>
        </p:txBody>
      </p:sp>
    </p:spTree>
    <p:extLst>
      <p:ext uri="{BB962C8B-B14F-4D97-AF65-F5344CB8AC3E}">
        <p14:creationId xmlns:p14="http://schemas.microsoft.com/office/powerpoint/2010/main" val="14271912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50721-A554-CAC8-9388-34306B44C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15131-9769-F0CA-5DDD-8DA2803B77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1A8244-5E64-EFFC-395B-304F2DF9824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32ABE8E-78DF-009F-2E33-20BD4DBDABC8}"/>
              </a:ext>
            </a:extLst>
          </p:cNvPr>
          <p:cNvSpPr>
            <a:spLocks noGrp="1"/>
          </p:cNvSpPr>
          <p:nvPr>
            <p:ph type="sldNum" sz="quarter" idx="5"/>
          </p:nvPr>
        </p:nvSpPr>
        <p:spPr/>
        <p:txBody>
          <a:bodyPr/>
          <a:lstStyle/>
          <a:p>
            <a:fld id="{8528808D-F8FF-4F45-9B49-F778C5ECCDCA}" type="slidenum">
              <a:rPr lang="en-GB" smtClean="0"/>
              <a:t>43</a:t>
            </a:fld>
            <a:endParaRPr lang="en-GB"/>
          </a:p>
        </p:txBody>
      </p:sp>
    </p:spTree>
    <p:extLst>
      <p:ext uri="{BB962C8B-B14F-4D97-AF65-F5344CB8AC3E}">
        <p14:creationId xmlns:p14="http://schemas.microsoft.com/office/powerpoint/2010/main" val="25739729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7E7FD-04AD-F73A-22DF-9B9FD8737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0BA02-F984-146F-9C95-BFA29C08E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F5952F-3C1D-9009-0F7D-D731F8CFC57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18B6504-B9B2-CF4C-83E8-A33072B890C4}"/>
              </a:ext>
            </a:extLst>
          </p:cNvPr>
          <p:cNvSpPr>
            <a:spLocks noGrp="1"/>
          </p:cNvSpPr>
          <p:nvPr>
            <p:ph type="sldNum" sz="quarter" idx="5"/>
          </p:nvPr>
        </p:nvSpPr>
        <p:spPr/>
        <p:txBody>
          <a:bodyPr/>
          <a:lstStyle/>
          <a:p>
            <a:fld id="{8528808D-F8FF-4F45-9B49-F778C5ECCDCA}" type="slidenum">
              <a:rPr lang="en-GB" smtClean="0"/>
              <a:t>44</a:t>
            </a:fld>
            <a:endParaRPr lang="en-GB"/>
          </a:p>
        </p:txBody>
      </p:sp>
    </p:spTree>
    <p:extLst>
      <p:ext uri="{BB962C8B-B14F-4D97-AF65-F5344CB8AC3E}">
        <p14:creationId xmlns:p14="http://schemas.microsoft.com/office/powerpoint/2010/main" val="2910141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00A5D-7528-045E-D55B-33D18D2ECD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7797E-6CC0-52E2-3BDF-EA11CD768E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7AB7ED-5A11-A1CC-2E98-E134B719EEA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822C87F-7670-B2C8-8E55-FBA6B8199ACC}"/>
              </a:ext>
            </a:extLst>
          </p:cNvPr>
          <p:cNvSpPr>
            <a:spLocks noGrp="1"/>
          </p:cNvSpPr>
          <p:nvPr>
            <p:ph type="sldNum" sz="quarter" idx="5"/>
          </p:nvPr>
        </p:nvSpPr>
        <p:spPr/>
        <p:txBody>
          <a:bodyPr/>
          <a:lstStyle/>
          <a:p>
            <a:fld id="{8528808D-F8FF-4F45-9B49-F778C5ECCDCA}" type="slidenum">
              <a:rPr lang="en-GB" smtClean="0"/>
              <a:t>45</a:t>
            </a:fld>
            <a:endParaRPr lang="en-GB"/>
          </a:p>
        </p:txBody>
      </p:sp>
    </p:spTree>
    <p:extLst>
      <p:ext uri="{BB962C8B-B14F-4D97-AF65-F5344CB8AC3E}">
        <p14:creationId xmlns:p14="http://schemas.microsoft.com/office/powerpoint/2010/main" val="20683303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EA844-2D11-74EA-841C-3E08E491C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78C1A-758D-9E3E-7280-0063F311B5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8ABEF-130B-1B66-AADD-C84D8C61C702}"/>
              </a:ext>
            </a:extLst>
          </p:cNvPr>
          <p:cNvSpPr>
            <a:spLocks noGrp="1"/>
          </p:cNvSpPr>
          <p:nvPr>
            <p:ph type="body" idx="1"/>
          </p:nvPr>
        </p:nvSpPr>
        <p:spPr/>
        <p:txBody>
          <a:bodyPr/>
          <a:lstStyle/>
          <a:p>
            <a:r>
              <a:rPr lang="es-ES"/>
              <a:t>Los enfoques cualitativos y cuantitativos como categorías rígidas, distintas, opuestas o dicotómicas. En cambio, representan diferentes extremos en un continuo.</a:t>
            </a:r>
            <a:endParaRPr lang="en-GB"/>
          </a:p>
        </p:txBody>
      </p:sp>
      <p:sp>
        <p:nvSpPr>
          <p:cNvPr id="4" name="Slide Number Placeholder 3">
            <a:extLst>
              <a:ext uri="{FF2B5EF4-FFF2-40B4-BE49-F238E27FC236}">
                <a16:creationId xmlns:a16="http://schemas.microsoft.com/office/drawing/2014/main" id="{E5DE0DB7-04B9-D7E1-6A33-BE718F7BD0E0}"/>
              </a:ext>
            </a:extLst>
          </p:cNvPr>
          <p:cNvSpPr>
            <a:spLocks noGrp="1"/>
          </p:cNvSpPr>
          <p:nvPr>
            <p:ph type="sldNum" sz="quarter" idx="5"/>
          </p:nvPr>
        </p:nvSpPr>
        <p:spPr/>
        <p:txBody>
          <a:bodyPr/>
          <a:lstStyle/>
          <a:p>
            <a:fld id="{8528808D-F8FF-4F45-9B49-F778C5ECCDCA}" type="slidenum">
              <a:rPr lang="en-GB" smtClean="0"/>
              <a:t>46</a:t>
            </a:fld>
            <a:endParaRPr lang="en-GB"/>
          </a:p>
        </p:txBody>
      </p:sp>
    </p:spTree>
    <p:extLst>
      <p:ext uri="{BB962C8B-B14F-4D97-AF65-F5344CB8AC3E}">
        <p14:creationId xmlns:p14="http://schemas.microsoft.com/office/powerpoint/2010/main" val="34667932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5948B-05D6-CCF2-E533-E00B9E89A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96194-C8B9-A551-E3D9-CBBBD006B6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EB820-8609-CF63-1ADB-7DBFCA12459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FF3A6AD-5E1D-F45C-0C43-200383E4DD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69403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AA423-D045-17C4-ECF9-4317E478CD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E7337-9E0E-481D-35BC-F88854C71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60F02-25C1-CB05-E5C3-D0BFE03C561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70E4260-1958-3E3B-592E-CB880A8EB0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81368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88714-642D-79DC-DAD9-7ABACAF72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6F371-C427-B0FB-58CC-2319EE9C5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86085B-32BC-C0F1-6DCF-626706A2D34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956D95A-6DA7-12C4-616D-5D86A9506B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487727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377979" y="6355745"/>
            <a:ext cx="2743200" cy="365125"/>
          </a:xfrm>
        </p:spPr>
        <p:txBody>
          <a:bodyPr/>
          <a:lstStyle/>
          <a:p>
            <a:fld id="{330EA680-D336-4FF7-8B7A-9848BB0A1C32}" type="slidenum">
              <a:rPr lang="en-US" smtClean="0"/>
              <a:t>‹#›</a:t>
            </a:fld>
            <a:endParaRPr lang="en-US"/>
          </a:p>
        </p:txBody>
      </p:sp>
      <p:pic>
        <p:nvPicPr>
          <p:cNvPr id="9" name="Picture 4" descr="No hay ninguna descripción de la foto disponible.">
            <a:extLst>
              <a:ext uri="{FF2B5EF4-FFF2-40B4-BE49-F238E27FC236}">
                <a16:creationId xmlns:a16="http://schemas.microsoft.com/office/drawing/2014/main" id="{E28E3B34-B9FC-FA25-0EAB-BE6EF4ACA06F}"/>
              </a:ext>
            </a:extLst>
          </p:cNvPr>
          <p:cNvPicPr>
            <a:picLocks noChangeAspect="1" noChangeArrowheads="1"/>
          </p:cNvPicPr>
          <p:nvPr userDrawn="1"/>
        </p:nvPicPr>
        <p:blipFill rotWithShape="1">
          <a:blip r:embed="rId2" cstate="print">
            <a:clrChange>
              <a:clrFrom>
                <a:srgbClr val="FFFFFF"/>
              </a:clrFrom>
              <a:clrTo>
                <a:srgbClr val="FFFFFF">
                  <a:alpha val="0"/>
                </a:srgbClr>
              </a:clrTo>
            </a:clrChange>
            <a:alphaModFix amt="65000"/>
            <a:duotone>
              <a:schemeClr val="bg2">
                <a:shade val="45000"/>
                <a:satMod val="135000"/>
              </a:schemeClr>
              <a:prstClr val="white"/>
            </a:duotone>
            <a:extLst>
              <a:ext uri="{28A0092B-C50C-407E-A947-70E740481C1C}">
                <a14:useLocalDpi xmlns:a14="http://schemas.microsoft.com/office/drawing/2010/main" val="0"/>
              </a:ext>
            </a:extLst>
          </a:blip>
          <a:srcRect t="26703" b="28790"/>
          <a:stretch/>
        </p:blipFill>
        <p:spPr bwMode="auto">
          <a:xfrm>
            <a:off x="165202" y="6360118"/>
            <a:ext cx="2670890" cy="365125"/>
          </a:xfrm>
          <a:prstGeom prst="rect">
            <a:avLst/>
          </a:prstGeom>
          <a:noFill/>
          <a:extLst>
            <a:ext uri="{909E8E84-426E-40DD-AFC4-6F175D3DCCD1}">
              <a14:hiddenFill xmlns:a14="http://schemas.microsoft.com/office/drawing/2010/main">
                <a:solidFill>
                  <a:srgbClr val="FFFFFF"/>
                </a:solidFill>
              </a14:hiddenFill>
            </a:ext>
          </a:extLst>
        </p:spPr>
      </p:pic>
      <p:sp>
        <p:nvSpPr>
          <p:cNvPr id="10" name="Date Placeholder 3">
            <a:extLst>
              <a:ext uri="{FF2B5EF4-FFF2-40B4-BE49-F238E27FC236}">
                <a16:creationId xmlns:a16="http://schemas.microsoft.com/office/drawing/2014/main" id="{F0B7291D-A788-CC25-C55E-112D8F557E36}"/>
              </a:ext>
            </a:extLst>
          </p:cNvPr>
          <p:cNvSpPr>
            <a:spLocks noGrp="1"/>
          </p:cNvSpPr>
          <p:nvPr>
            <p:ph type="dt" sz="half" idx="10"/>
          </p:nvPr>
        </p:nvSpPr>
        <p:spPr>
          <a:xfrm>
            <a:off x="11003616" y="136525"/>
            <a:ext cx="1117563" cy="365125"/>
          </a:xfrm>
        </p:spPr>
        <p:txBody>
          <a:bodyPr/>
          <a:lstStyle/>
          <a:p>
            <a:fld id="{27AB8C26-330F-4C13-A9D7-A5B1D2394DAC}" type="datetime1">
              <a:rPr lang="es-CO" smtClean="0"/>
              <a:t>27/03/2026</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C71F87-C591-4714-854C-3CA86352FD58}" type="datetime1">
              <a:rPr lang="es-CO" smtClean="0"/>
              <a:t>27/03/2026</a:t>
            </a:fld>
            <a:endParaRPr lang="en-US"/>
          </a:p>
        </p:txBody>
      </p:sp>
      <p:sp>
        <p:nvSpPr>
          <p:cNvPr id="5" name="Footer Placeholder 4"/>
          <p:cNvSpPr>
            <a:spLocks noGrp="1"/>
          </p:cNvSpPr>
          <p:nvPr>
            <p:ph type="ftr" sz="quarter" idx="11"/>
          </p:nvPr>
        </p:nvSpPr>
        <p:spPr/>
        <p:txBody>
          <a:bodyPr/>
          <a:lstStyle/>
          <a:p>
            <a:pPr algn="l"/>
            <a:r>
              <a:rPr lang="es-CO" dirty="0"/>
              <a:t>Data </a:t>
            </a:r>
            <a:r>
              <a:rPr lang="es-CO" dirty="0" err="1"/>
              <a:t>analysis</a:t>
            </a:r>
            <a:endParaRPr lang="es-CO" dirty="0"/>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E0EB3F-1BCD-4DD3-9CD7-D2E330B0B7B7}" type="datetime1">
              <a:rPr lang="es-CO" smtClean="0"/>
              <a:t>27/03/2026</a:t>
            </a:fld>
            <a:endParaRPr lang="en-US"/>
          </a:p>
        </p:txBody>
      </p:sp>
      <p:sp>
        <p:nvSpPr>
          <p:cNvPr id="5" name="Footer Placeholder 4"/>
          <p:cNvSpPr>
            <a:spLocks noGrp="1"/>
          </p:cNvSpPr>
          <p:nvPr>
            <p:ph type="ftr" sz="quarter" idx="11"/>
          </p:nvPr>
        </p:nvSpPr>
        <p:spPr/>
        <p:txBody>
          <a:bodyPr/>
          <a:lstStyle/>
          <a:p>
            <a:pPr algn="l"/>
            <a:r>
              <a:rPr lang="en-US" noProof="0" dirty="0"/>
              <a:t>Data analysis</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6B202A2-6653-4181-A784-865996406F73}" type="datetime1">
              <a:rPr lang="es-CO" smtClean="0"/>
              <a:t>27/03/2026</a:t>
            </a:fld>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8" name="Footer Placeholder 4">
            <a:extLst>
              <a:ext uri="{FF2B5EF4-FFF2-40B4-BE49-F238E27FC236}">
                <a16:creationId xmlns:a16="http://schemas.microsoft.com/office/drawing/2014/main" id="{821618DE-C54F-193B-DBCC-D6A939FBAC56}"/>
              </a:ext>
            </a:extLst>
          </p:cNvPr>
          <p:cNvSpPr>
            <a:spLocks noGrp="1"/>
          </p:cNvSpPr>
          <p:nvPr>
            <p:ph type="ftr" sz="quarter" idx="11"/>
          </p:nvPr>
        </p:nvSpPr>
        <p:spPr>
          <a:xfrm>
            <a:off x="4038600" y="6356350"/>
            <a:ext cx="4114800" cy="365125"/>
          </a:xfrm>
        </p:spPr>
        <p:txBody>
          <a:bodyPr/>
          <a:lstStyle/>
          <a:p>
            <a:pPr algn="l"/>
            <a:r>
              <a:rPr lang="en-US" noProof="0" dirty="0"/>
              <a:t>Data analysis</a:t>
            </a:r>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D4FD1B6-D0CC-4B10-AB91-7EFFCEBA57CD}" type="datetime1">
              <a:rPr lang="es-CO" smtClean="0"/>
              <a:t>27/03/2026</a:t>
            </a:fld>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
        <p:nvSpPr>
          <p:cNvPr id="10" name="Footer Placeholder 4">
            <a:extLst>
              <a:ext uri="{FF2B5EF4-FFF2-40B4-BE49-F238E27FC236}">
                <a16:creationId xmlns:a16="http://schemas.microsoft.com/office/drawing/2014/main" id="{274ED399-6FD4-2535-A835-ACCAD9E6CE43}"/>
              </a:ext>
            </a:extLst>
          </p:cNvPr>
          <p:cNvSpPr>
            <a:spLocks noGrp="1"/>
          </p:cNvSpPr>
          <p:nvPr>
            <p:ph type="ftr" sz="quarter" idx="11"/>
          </p:nvPr>
        </p:nvSpPr>
        <p:spPr>
          <a:xfrm>
            <a:off x="4038600" y="6356350"/>
            <a:ext cx="4114800" cy="365125"/>
          </a:xfrm>
        </p:spPr>
        <p:txBody>
          <a:bodyPr/>
          <a:lstStyle/>
          <a:p>
            <a:pPr algn="l"/>
            <a:r>
              <a:rPr lang="en-US" noProof="0" dirty="0"/>
              <a:t>Data analysis</a:t>
            </a:r>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65CA19-BCF1-4C0F-A446-7F22B1505ABE}" type="datetime1">
              <a:rPr lang="es-CO" smtClean="0"/>
              <a:t>27/03/2026</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
        <p:nvSpPr>
          <p:cNvPr id="6" name="Footer Placeholder 4">
            <a:extLst>
              <a:ext uri="{FF2B5EF4-FFF2-40B4-BE49-F238E27FC236}">
                <a16:creationId xmlns:a16="http://schemas.microsoft.com/office/drawing/2014/main" id="{1B0C23ED-7B40-1209-1274-53B29E23C1A2}"/>
              </a:ext>
            </a:extLst>
          </p:cNvPr>
          <p:cNvSpPr>
            <a:spLocks noGrp="1"/>
          </p:cNvSpPr>
          <p:nvPr>
            <p:ph type="ftr" sz="quarter" idx="11"/>
          </p:nvPr>
        </p:nvSpPr>
        <p:spPr>
          <a:xfrm>
            <a:off x="4038600" y="6356350"/>
            <a:ext cx="4114800" cy="365125"/>
          </a:xfrm>
        </p:spPr>
        <p:txBody>
          <a:bodyPr/>
          <a:lstStyle/>
          <a:p>
            <a:pPr algn="l"/>
            <a:r>
              <a:rPr lang="en-US" noProof="0" dirty="0"/>
              <a:t>Data analysis</a:t>
            </a:r>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FFE650-671F-41ED-9F8D-C15C02353ABB}" type="datetime1">
              <a:rPr lang="es-CO" smtClean="0"/>
              <a:t>27/03/2026</a:t>
            </a:fld>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
        <p:nvSpPr>
          <p:cNvPr id="5" name="Footer Placeholder 4">
            <a:extLst>
              <a:ext uri="{FF2B5EF4-FFF2-40B4-BE49-F238E27FC236}">
                <a16:creationId xmlns:a16="http://schemas.microsoft.com/office/drawing/2014/main" id="{5E0E503D-13EA-A43F-9429-828FB64E4657}"/>
              </a:ext>
            </a:extLst>
          </p:cNvPr>
          <p:cNvSpPr>
            <a:spLocks noGrp="1"/>
          </p:cNvSpPr>
          <p:nvPr>
            <p:ph type="ftr" sz="quarter" idx="11"/>
          </p:nvPr>
        </p:nvSpPr>
        <p:spPr>
          <a:xfrm>
            <a:off x="4038600" y="6356350"/>
            <a:ext cx="4114800" cy="365125"/>
          </a:xfrm>
        </p:spPr>
        <p:txBody>
          <a:bodyPr/>
          <a:lstStyle/>
          <a:p>
            <a:pPr algn="l"/>
            <a:r>
              <a:rPr lang="en-US" noProof="0" dirty="0"/>
              <a:t>Data analysis</a:t>
            </a:r>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043851-C385-434D-96BC-35CEBC800085}" type="datetime1">
              <a:rPr lang="es-CO" smtClean="0"/>
              <a:t>27/03/2026</a:t>
            </a:fld>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8" name="Footer Placeholder 4">
            <a:extLst>
              <a:ext uri="{FF2B5EF4-FFF2-40B4-BE49-F238E27FC236}">
                <a16:creationId xmlns:a16="http://schemas.microsoft.com/office/drawing/2014/main" id="{57C0C2EF-D2C8-DD6B-2319-FAFD5B820F8B}"/>
              </a:ext>
            </a:extLst>
          </p:cNvPr>
          <p:cNvSpPr>
            <a:spLocks noGrp="1"/>
          </p:cNvSpPr>
          <p:nvPr>
            <p:ph type="ftr" sz="quarter" idx="11"/>
          </p:nvPr>
        </p:nvSpPr>
        <p:spPr>
          <a:xfrm>
            <a:off x="4038600" y="6356350"/>
            <a:ext cx="4114800" cy="365125"/>
          </a:xfrm>
        </p:spPr>
        <p:txBody>
          <a:bodyPr/>
          <a:lstStyle/>
          <a:p>
            <a:pPr algn="l"/>
            <a:r>
              <a:rPr lang="en-US" noProof="0" dirty="0"/>
              <a:t>Data analysis</a:t>
            </a:r>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CD80EE-F88A-471E-8595-71B363ABF8DF}" type="datetime1">
              <a:rPr lang="es-CO" smtClean="0"/>
              <a:t>27/03/2026</a:t>
            </a:fld>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8" name="Footer Placeholder 4">
            <a:extLst>
              <a:ext uri="{FF2B5EF4-FFF2-40B4-BE49-F238E27FC236}">
                <a16:creationId xmlns:a16="http://schemas.microsoft.com/office/drawing/2014/main" id="{F69FFDD5-6692-2401-BAB9-B10D4972078F}"/>
              </a:ext>
            </a:extLst>
          </p:cNvPr>
          <p:cNvSpPr>
            <a:spLocks noGrp="1"/>
          </p:cNvSpPr>
          <p:nvPr>
            <p:ph type="ftr" sz="quarter" idx="11"/>
          </p:nvPr>
        </p:nvSpPr>
        <p:spPr>
          <a:xfrm>
            <a:off x="4038600" y="6356350"/>
            <a:ext cx="4114800" cy="365125"/>
          </a:xfrm>
        </p:spPr>
        <p:txBody>
          <a:bodyPr/>
          <a:lstStyle/>
          <a:p>
            <a:pPr algn="l"/>
            <a:r>
              <a:rPr lang="en-US" noProof="0" dirty="0"/>
              <a:t>Data analysis</a:t>
            </a:r>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1A355F-924E-48DA-BA19-BB1737F1CEAA}" type="datetime1">
              <a:rPr lang="es-CO" smtClean="0"/>
              <a:t>27/03/2026</a:t>
            </a:fld>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7" name="Footer Placeholder 4">
            <a:extLst>
              <a:ext uri="{FF2B5EF4-FFF2-40B4-BE49-F238E27FC236}">
                <a16:creationId xmlns:a16="http://schemas.microsoft.com/office/drawing/2014/main" id="{AAF9FF4A-A10B-6320-ECE3-A7B5A7117A05}"/>
              </a:ext>
            </a:extLst>
          </p:cNvPr>
          <p:cNvSpPr>
            <a:spLocks noGrp="1"/>
          </p:cNvSpPr>
          <p:nvPr>
            <p:ph type="ftr" sz="quarter" idx="11"/>
          </p:nvPr>
        </p:nvSpPr>
        <p:spPr>
          <a:xfrm>
            <a:off x="4038600" y="6356350"/>
            <a:ext cx="4114800" cy="365125"/>
          </a:xfrm>
        </p:spPr>
        <p:txBody>
          <a:bodyPr/>
          <a:lstStyle/>
          <a:p>
            <a:pPr algn="l"/>
            <a:r>
              <a:rPr lang="en-US" noProof="0" dirty="0"/>
              <a:t>Data analysis</a:t>
            </a:r>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19B51F-332D-4F93-BF63-DCF118E76AC9}" type="datetime1">
              <a:rPr lang="es-CO" smtClean="0"/>
              <a:t>27/03/2026</a:t>
            </a:fld>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7" name="Footer Placeholder 4">
            <a:extLst>
              <a:ext uri="{FF2B5EF4-FFF2-40B4-BE49-F238E27FC236}">
                <a16:creationId xmlns:a16="http://schemas.microsoft.com/office/drawing/2014/main" id="{D5E806EC-8377-227F-578A-BEE63E0170FC}"/>
              </a:ext>
            </a:extLst>
          </p:cNvPr>
          <p:cNvSpPr>
            <a:spLocks noGrp="1"/>
          </p:cNvSpPr>
          <p:nvPr>
            <p:ph type="ftr" sz="quarter" idx="11"/>
          </p:nvPr>
        </p:nvSpPr>
        <p:spPr>
          <a:xfrm>
            <a:off x="4038600" y="6356350"/>
            <a:ext cx="4114800" cy="365125"/>
          </a:xfrm>
        </p:spPr>
        <p:txBody>
          <a:bodyPr/>
          <a:lstStyle/>
          <a:p>
            <a:pPr algn="l"/>
            <a:r>
              <a:rPr lang="en-US" noProof="0" dirty="0"/>
              <a:t>Data analysis</a:t>
            </a:r>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334D46-9BD9-44D2-809B-EEF0D00AD165}" type="datetime1">
              <a:rPr lang="es-CO" smtClean="0"/>
              <a:t>27/03/2026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lgn="l"/>
            <a:r>
              <a:rPr lang="en-US" noProof="0" dirty="0"/>
              <a:t>Data analysis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en.wikipedia.org/wiki/Keep_Calm_and_Carry_On"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www.jstor.org/" TargetMode="External"/><Relationship Id="rId2" Type="http://schemas.openxmlformats.org/officeDocument/2006/relationships/hyperlink" Target="https://scholar.google.co.uk/" TargetMode="External"/><Relationship Id="rId1" Type="http://schemas.openxmlformats.org/officeDocument/2006/relationships/slideLayout" Target="../slideLayouts/slideLayout1.xml"/><Relationship Id="rId6" Type="http://schemas.openxmlformats.org/officeDocument/2006/relationships/hyperlink" Target="https://scite.ai/assistant?utm_source=bing&amp;utm_medium=cpc&amp;utm_campaign=brand&amp;utm_term=scite%20assistant&amp;msclkid=550757f468491240fd2f334ec5df600d" TargetMode="External"/><Relationship Id="rId5" Type="http://schemas.openxmlformats.org/officeDocument/2006/relationships/hyperlink" Target="https://www.connectedpapers.com/" TargetMode="External"/><Relationship Id="rId4" Type="http://schemas.openxmlformats.org/officeDocument/2006/relationships/hyperlink" Target="https://researchrabbitapp.com/"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LPZh9BOjkQs"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hyperlink" Target="https://uexternadoedu-my.sharepoint.com/:b:/g/personal/luis_guevara_uexternado_edu_co/ERzdKNGAP-xFo1Xp8e4KxzUBUqQZm9uJPuN2NStW5hfnbw?e=Byx2Bm"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https://methods.sagepub.com/video/srmpromo/PDuI8U/when-should-i-choose-a-mixed-methods-approach?seq=1&amp;_gl=1*mtohod*_ga*MTI3MDQxNTQ4NC4xNzI0MTkyNTc1*_ga_B9E65QYXFE*MTczNzU1NzA0OC4xMC4xLjE3Mzc1NTcyMTMuNDQuMC4w*_gcl_au*MTQ3ODYxMDk5OS4xNzMzOTI5MDI5*_ga_60R758KFDG*MTczNzU1NzA0OC4yMC4xLjE3Mzc1NTcyMTMuNDQuMC4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46788-9B09-5349-D118-4E4BEB03191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1BF3657-58D6-DBBE-F1CE-E5426413E8A5}"/>
              </a:ext>
            </a:extLst>
          </p:cNvPr>
          <p:cNvSpPr/>
          <p:nvPr/>
        </p:nvSpPr>
        <p:spPr>
          <a:xfrm>
            <a:off x="0" y="0"/>
            <a:ext cx="12192000" cy="6865082"/>
          </a:xfrm>
          <a:prstGeom prst="rect">
            <a:avLst/>
          </a:prstGeom>
          <a:gradFill flip="none" rotWithShape="1">
            <a:gsLst>
              <a:gs pos="85000">
                <a:srgbClr val="F22D1C"/>
              </a:gs>
              <a:gs pos="7000">
                <a:srgbClr val="FF5050">
                  <a:alpha val="94902"/>
                </a:srgbClr>
              </a:gs>
              <a:gs pos="0">
                <a:srgbClr val="FF7C80"/>
              </a:gs>
            </a:gsLst>
            <a:lin ang="12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Slide Number Placeholder 2">
            <a:extLst>
              <a:ext uri="{FF2B5EF4-FFF2-40B4-BE49-F238E27FC236}">
                <a16:creationId xmlns:a16="http://schemas.microsoft.com/office/drawing/2014/main" id="{D4097998-24A6-E58B-7427-10108A76C4DB}"/>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bg1"/>
                </a:solidFill>
              </a:rPr>
              <a:t>1</a:t>
            </a:fld>
            <a:endParaRPr lang="en-GB" noProof="0" dirty="0">
              <a:solidFill>
                <a:schemeClr val="bg1"/>
              </a:solidFill>
            </a:endParaRPr>
          </a:p>
        </p:txBody>
      </p:sp>
      <p:sp>
        <p:nvSpPr>
          <p:cNvPr id="4" name="Date Placeholder 3">
            <a:extLst>
              <a:ext uri="{FF2B5EF4-FFF2-40B4-BE49-F238E27FC236}">
                <a16:creationId xmlns:a16="http://schemas.microsoft.com/office/drawing/2014/main" id="{C3D85BBE-6A3C-76BC-1E4E-4633B31CBE9B}"/>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pic>
        <p:nvPicPr>
          <p:cNvPr id="2050" name="Picture 2" descr="Foro Enseñanza e Investigación de las Políticas Públicas en Colombia – En  homenaje a Luis Fernando Aguilar Villanueva">
            <a:extLst>
              <a:ext uri="{FF2B5EF4-FFF2-40B4-BE49-F238E27FC236}">
                <a16:creationId xmlns:a16="http://schemas.microsoft.com/office/drawing/2014/main" id="{3D5ACA37-D931-9F8A-4AB4-8B3006B0399C}"/>
              </a:ext>
            </a:extLst>
          </p:cNvPr>
          <p:cNvPicPr>
            <a:picLocks noChangeAspect="1" noChangeArrowheads="1"/>
          </p:cNvPicPr>
          <p:nvPr/>
        </p:nvPicPr>
        <p:blipFill rotWithShape="1">
          <a:blip r:embed="rId2" cstate="print">
            <a:lum bright="70000" contrast="-70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t="1" b="39588"/>
          <a:stretch/>
        </p:blipFill>
        <p:spPr bwMode="auto">
          <a:xfrm>
            <a:off x="1063942" y="266365"/>
            <a:ext cx="1843086" cy="60199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666C288-8C3D-F6F4-52D9-66CA6570B7E9}"/>
              </a:ext>
            </a:extLst>
          </p:cNvPr>
          <p:cNvSpPr txBox="1"/>
          <p:nvPr/>
        </p:nvSpPr>
        <p:spPr>
          <a:xfrm>
            <a:off x="1071562" y="1671726"/>
            <a:ext cx="3144838" cy="1295163"/>
          </a:xfrm>
          <a:prstGeom prst="rect">
            <a:avLst/>
          </a:prstGeom>
          <a:noFill/>
        </p:spPr>
        <p:txBody>
          <a:bodyPr wrap="square" rtlCol="0">
            <a:spAutoFit/>
          </a:bodyPr>
          <a:lstStyle/>
          <a:p>
            <a:pPr>
              <a:lnSpc>
                <a:spcPts val="4600"/>
              </a:lnSpc>
            </a:pPr>
            <a:r>
              <a:rPr lang="en-GB" sz="4800" noProof="0" dirty="0">
                <a:solidFill>
                  <a:schemeClr val="bg1"/>
                </a:solidFill>
                <a:latin typeface="Aptos Black" panose="020F0502020204030204" pitchFamily="34" charset="0"/>
              </a:rPr>
              <a:t>Data analysis</a:t>
            </a:r>
          </a:p>
        </p:txBody>
      </p:sp>
      <p:sp>
        <p:nvSpPr>
          <p:cNvPr id="10" name="Subtítulo 2">
            <a:extLst>
              <a:ext uri="{FF2B5EF4-FFF2-40B4-BE49-F238E27FC236}">
                <a16:creationId xmlns:a16="http://schemas.microsoft.com/office/drawing/2014/main" id="{A8BC9B29-8E8B-E72B-CDF0-B164A72AA9EA}"/>
              </a:ext>
            </a:extLst>
          </p:cNvPr>
          <p:cNvSpPr txBox="1">
            <a:spLocks/>
          </p:cNvSpPr>
          <p:nvPr/>
        </p:nvSpPr>
        <p:spPr>
          <a:xfrm>
            <a:off x="1071562" y="3899334"/>
            <a:ext cx="7557871" cy="157661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1800" noProof="0" dirty="0">
                <a:solidFill>
                  <a:schemeClr val="bg1"/>
                </a:solidFill>
                <a:latin typeface="Corbel Light" panose="020B0303020204020204" pitchFamily="34" charset="0"/>
              </a:rPr>
              <a:t>Luis Carlos Guevara</a:t>
            </a:r>
          </a:p>
          <a:p>
            <a:pPr marL="0" indent="0">
              <a:spcBef>
                <a:spcPts val="0"/>
              </a:spcBef>
              <a:buNone/>
            </a:pPr>
            <a:endParaRPr lang="en-GB" sz="1800" noProof="0" dirty="0">
              <a:solidFill>
                <a:schemeClr val="bg1"/>
              </a:solidFill>
              <a:latin typeface="Corbel Light" panose="020B0303020204020204" pitchFamily="34" charset="0"/>
            </a:endParaRPr>
          </a:p>
          <a:p>
            <a:pPr marL="0" indent="0">
              <a:spcBef>
                <a:spcPts val="0"/>
              </a:spcBef>
              <a:buNone/>
            </a:pPr>
            <a:r>
              <a:rPr lang="en-GB" sz="1800" noProof="0" dirty="0">
                <a:solidFill>
                  <a:schemeClr val="bg1"/>
                </a:solidFill>
                <a:latin typeface="Corbel Light" panose="020B0303020204020204" pitchFamily="34" charset="0"/>
              </a:rPr>
              <a:t>Faculty of Finance, </a:t>
            </a:r>
            <a:br>
              <a:rPr lang="en-GB" sz="1800" noProof="0" dirty="0">
                <a:solidFill>
                  <a:schemeClr val="bg1"/>
                </a:solidFill>
                <a:latin typeface="Corbel Light" panose="020B0303020204020204" pitchFamily="34" charset="0"/>
              </a:rPr>
            </a:br>
            <a:r>
              <a:rPr lang="en-GB" sz="1800" noProof="0" dirty="0">
                <a:solidFill>
                  <a:schemeClr val="bg1"/>
                </a:solidFill>
                <a:latin typeface="Corbel Light" panose="020B0303020204020204" pitchFamily="34" charset="0"/>
              </a:rPr>
              <a:t>Government and International Relations</a:t>
            </a:r>
          </a:p>
          <a:p>
            <a:pPr marL="0" indent="0">
              <a:spcBef>
                <a:spcPts val="0"/>
              </a:spcBef>
              <a:buNone/>
            </a:pPr>
            <a:br>
              <a:rPr lang="en-GB" sz="1800" noProof="0" dirty="0">
                <a:solidFill>
                  <a:schemeClr val="bg1"/>
                </a:solidFill>
                <a:latin typeface="Corbel Light" panose="020B0303020204020204" pitchFamily="34" charset="0"/>
              </a:rPr>
            </a:br>
            <a:r>
              <a:rPr lang="en-GB" sz="1800" noProof="0" dirty="0">
                <a:solidFill>
                  <a:schemeClr val="bg1"/>
                </a:solidFill>
                <a:latin typeface="Corbel Light" panose="020B0303020204020204" pitchFamily="34" charset="0"/>
              </a:rPr>
              <a:t>2026-I</a:t>
            </a:r>
          </a:p>
        </p:txBody>
      </p:sp>
      <p:sp>
        <p:nvSpPr>
          <p:cNvPr id="16" name="Rectangle 15">
            <a:extLst>
              <a:ext uri="{FF2B5EF4-FFF2-40B4-BE49-F238E27FC236}">
                <a16:creationId xmlns:a16="http://schemas.microsoft.com/office/drawing/2014/main" id="{FAE1E167-E5FC-5136-BA5F-036AD5F1438E}"/>
              </a:ext>
            </a:extLst>
          </p:cNvPr>
          <p:cNvSpPr/>
          <p:nvPr/>
        </p:nvSpPr>
        <p:spPr>
          <a:xfrm>
            <a:off x="1193800" y="3257462"/>
            <a:ext cx="1097280" cy="120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tangle 16">
            <a:extLst>
              <a:ext uri="{FF2B5EF4-FFF2-40B4-BE49-F238E27FC236}">
                <a16:creationId xmlns:a16="http://schemas.microsoft.com/office/drawing/2014/main" id="{6082B1AA-2EB1-99B4-4581-9B66D039E6F6}"/>
              </a:ext>
            </a:extLst>
          </p:cNvPr>
          <p:cNvSpPr/>
          <p:nvPr/>
        </p:nvSpPr>
        <p:spPr>
          <a:xfrm>
            <a:off x="2395855" y="3268161"/>
            <a:ext cx="1097280" cy="120915"/>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Rectangle 17">
            <a:extLst>
              <a:ext uri="{FF2B5EF4-FFF2-40B4-BE49-F238E27FC236}">
                <a16:creationId xmlns:a16="http://schemas.microsoft.com/office/drawing/2014/main" id="{F8E4C797-F63C-9B00-DFDE-05C361538F50}"/>
              </a:ext>
            </a:extLst>
          </p:cNvPr>
          <p:cNvSpPr/>
          <p:nvPr/>
        </p:nvSpPr>
        <p:spPr>
          <a:xfrm>
            <a:off x="3597910" y="3268161"/>
            <a:ext cx="1097280" cy="120915"/>
          </a:xfrm>
          <a:prstGeom prst="rect">
            <a:avLst/>
          </a:prstGeom>
          <a:solidFill>
            <a:srgbClr val="FF7C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Rectangle 18">
            <a:extLst>
              <a:ext uri="{FF2B5EF4-FFF2-40B4-BE49-F238E27FC236}">
                <a16:creationId xmlns:a16="http://schemas.microsoft.com/office/drawing/2014/main" id="{B46CE886-DF80-E6D9-2F50-B3620DC12149}"/>
              </a:ext>
            </a:extLst>
          </p:cNvPr>
          <p:cNvSpPr/>
          <p:nvPr/>
        </p:nvSpPr>
        <p:spPr>
          <a:xfrm>
            <a:off x="4799965" y="3268161"/>
            <a:ext cx="1097280" cy="120915"/>
          </a:xfrm>
          <a:prstGeom prst="rect">
            <a:avLst/>
          </a:prstGeom>
          <a:solidFill>
            <a:srgbClr val="C01C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Rectangle 20">
            <a:extLst>
              <a:ext uri="{FF2B5EF4-FFF2-40B4-BE49-F238E27FC236}">
                <a16:creationId xmlns:a16="http://schemas.microsoft.com/office/drawing/2014/main" id="{35758066-8FBA-CB7E-D1F0-6013F158284B}"/>
              </a:ext>
            </a:extLst>
          </p:cNvPr>
          <p:cNvSpPr/>
          <p:nvPr/>
        </p:nvSpPr>
        <p:spPr>
          <a:xfrm>
            <a:off x="5993448" y="3268161"/>
            <a:ext cx="1097280" cy="12091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Tree>
    <p:extLst>
      <p:ext uri="{BB962C8B-B14F-4D97-AF65-F5344CB8AC3E}">
        <p14:creationId xmlns:p14="http://schemas.microsoft.com/office/powerpoint/2010/main" val="1621188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DC4EC-2E50-8C8C-11E3-4120AD09EEC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B000E9C-2F43-68E8-DE22-235CA5E0403E}"/>
              </a:ext>
            </a:extLst>
          </p:cNvPr>
          <p:cNvSpPr>
            <a:spLocks noGrp="1"/>
          </p:cNvSpPr>
          <p:nvPr>
            <p:ph type="sldNum" sz="quarter" idx="12"/>
          </p:nvPr>
        </p:nvSpPr>
        <p:spPr/>
        <p:txBody>
          <a:bodyPr/>
          <a:lstStyle/>
          <a:p>
            <a:fld id="{330EA680-D336-4FF7-8B7A-9848BB0A1C32}" type="slidenum">
              <a:rPr lang="en-GB" noProof="0" smtClean="0"/>
              <a:t>2</a:t>
            </a:fld>
            <a:endParaRPr lang="en-GB" noProof="0" dirty="0"/>
          </a:p>
        </p:txBody>
      </p:sp>
      <p:sp>
        <p:nvSpPr>
          <p:cNvPr id="4" name="Date Placeholder 3">
            <a:extLst>
              <a:ext uri="{FF2B5EF4-FFF2-40B4-BE49-F238E27FC236}">
                <a16:creationId xmlns:a16="http://schemas.microsoft.com/office/drawing/2014/main" id="{BBFC3384-F681-0A01-22E5-F569BD7EDB9C}"/>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8" name="Título 1">
            <a:extLst>
              <a:ext uri="{FF2B5EF4-FFF2-40B4-BE49-F238E27FC236}">
                <a16:creationId xmlns:a16="http://schemas.microsoft.com/office/drawing/2014/main" id="{9FF7025A-2199-0420-7A4B-82366E95303F}"/>
              </a:ext>
            </a:extLst>
          </p:cNvPr>
          <p:cNvSpPr txBox="1">
            <a:spLocks/>
          </p:cNvSpPr>
          <p:nvPr/>
        </p:nvSpPr>
        <p:spPr>
          <a:xfrm>
            <a:off x="891590" y="501650"/>
            <a:ext cx="3873499"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Objectives</a:t>
            </a:r>
          </a:p>
        </p:txBody>
      </p:sp>
      <p:sp>
        <p:nvSpPr>
          <p:cNvPr id="12" name="TextBox 11">
            <a:extLst>
              <a:ext uri="{FF2B5EF4-FFF2-40B4-BE49-F238E27FC236}">
                <a16:creationId xmlns:a16="http://schemas.microsoft.com/office/drawing/2014/main" id="{A6F2427E-8849-2C53-3719-14AA27B72EA2}"/>
              </a:ext>
            </a:extLst>
          </p:cNvPr>
          <p:cNvSpPr txBox="1"/>
          <p:nvPr/>
        </p:nvSpPr>
        <p:spPr>
          <a:xfrm>
            <a:off x="1365998" y="3243138"/>
            <a:ext cx="828588" cy="461665"/>
          </a:xfrm>
          <a:prstGeom prst="rect">
            <a:avLst/>
          </a:prstGeom>
          <a:noFill/>
        </p:spPr>
        <p:txBody>
          <a:bodyPr wrap="square">
            <a:spAutoFit/>
          </a:bodyPr>
          <a:lstStyle/>
          <a:p>
            <a:r>
              <a:rPr lang="en-GB" sz="2400" noProof="0" dirty="0">
                <a:solidFill>
                  <a:srgbClr val="FF0000"/>
                </a:solidFill>
                <a:latin typeface="Aptos Black" panose="020B0004020202020204" pitchFamily="34" charset="0"/>
              </a:rPr>
              <a:t>1.</a:t>
            </a:r>
            <a:endParaRPr lang="en-GB" sz="2400" b="1" noProof="0" dirty="0">
              <a:solidFill>
                <a:srgbClr val="FF0000"/>
              </a:solidFill>
              <a:latin typeface="Aptos Black" panose="020B0004020202020204" pitchFamily="34" charset="0"/>
            </a:endParaRPr>
          </a:p>
        </p:txBody>
      </p:sp>
      <p:sp>
        <p:nvSpPr>
          <p:cNvPr id="13" name="TextBox 12">
            <a:extLst>
              <a:ext uri="{FF2B5EF4-FFF2-40B4-BE49-F238E27FC236}">
                <a16:creationId xmlns:a16="http://schemas.microsoft.com/office/drawing/2014/main" id="{E1A7CB9F-D603-6686-DF44-6C6E3E7582FC}"/>
              </a:ext>
            </a:extLst>
          </p:cNvPr>
          <p:cNvSpPr txBox="1"/>
          <p:nvPr/>
        </p:nvSpPr>
        <p:spPr>
          <a:xfrm>
            <a:off x="1780292" y="3375388"/>
            <a:ext cx="2219325" cy="560218"/>
          </a:xfrm>
          <a:prstGeom prst="rect">
            <a:avLst/>
          </a:prstGeom>
          <a:noFill/>
        </p:spPr>
        <p:txBody>
          <a:bodyPr wrap="square">
            <a:spAutoFit/>
          </a:bodyPr>
          <a:lstStyle/>
          <a:p>
            <a:pPr>
              <a:lnSpc>
                <a:spcPts val="1800"/>
              </a:lnSpc>
            </a:pPr>
            <a:r>
              <a:rPr lang="en-GB" b="1" noProof="0" dirty="0"/>
              <a:t>Instrument </a:t>
            </a:r>
            <a:br>
              <a:rPr lang="en-GB" b="1" noProof="0" dirty="0"/>
            </a:br>
            <a:r>
              <a:rPr lang="en-GB" b="1" noProof="0" dirty="0"/>
              <a:t>design</a:t>
            </a:r>
          </a:p>
        </p:txBody>
      </p:sp>
      <p:sp>
        <p:nvSpPr>
          <p:cNvPr id="17" name="TextBox 16">
            <a:extLst>
              <a:ext uri="{FF2B5EF4-FFF2-40B4-BE49-F238E27FC236}">
                <a16:creationId xmlns:a16="http://schemas.microsoft.com/office/drawing/2014/main" id="{6151511B-9410-273E-7A57-22CF72F10DF5}"/>
              </a:ext>
            </a:extLst>
          </p:cNvPr>
          <p:cNvSpPr txBox="1"/>
          <p:nvPr/>
        </p:nvSpPr>
        <p:spPr>
          <a:xfrm>
            <a:off x="3182097" y="3243138"/>
            <a:ext cx="828588" cy="461665"/>
          </a:xfrm>
          <a:prstGeom prst="rect">
            <a:avLst/>
          </a:prstGeom>
          <a:noFill/>
        </p:spPr>
        <p:txBody>
          <a:bodyPr wrap="square">
            <a:spAutoFit/>
          </a:bodyPr>
          <a:lstStyle/>
          <a:p>
            <a:r>
              <a:rPr lang="en-GB" sz="2400" noProof="0" dirty="0">
                <a:solidFill>
                  <a:srgbClr val="FF0000"/>
                </a:solidFill>
                <a:latin typeface="Aptos Black" panose="020B0004020202020204" pitchFamily="34" charset="0"/>
              </a:rPr>
              <a:t>2.</a:t>
            </a:r>
            <a:endParaRPr lang="en-GB" sz="2400" b="1" noProof="0" dirty="0">
              <a:solidFill>
                <a:srgbClr val="FF0000"/>
              </a:solidFill>
              <a:latin typeface="Aptos Black" panose="020B0004020202020204" pitchFamily="34" charset="0"/>
            </a:endParaRPr>
          </a:p>
        </p:txBody>
      </p:sp>
      <p:sp>
        <p:nvSpPr>
          <p:cNvPr id="18" name="TextBox 17">
            <a:extLst>
              <a:ext uri="{FF2B5EF4-FFF2-40B4-BE49-F238E27FC236}">
                <a16:creationId xmlns:a16="http://schemas.microsoft.com/office/drawing/2014/main" id="{41C9D5ED-ABB5-F17C-4BCE-F6D589BC9C81}"/>
              </a:ext>
            </a:extLst>
          </p:cNvPr>
          <p:cNvSpPr txBox="1"/>
          <p:nvPr/>
        </p:nvSpPr>
        <p:spPr>
          <a:xfrm>
            <a:off x="3595917" y="3375388"/>
            <a:ext cx="2338344" cy="559512"/>
          </a:xfrm>
          <a:prstGeom prst="rect">
            <a:avLst/>
          </a:prstGeom>
          <a:noFill/>
        </p:spPr>
        <p:txBody>
          <a:bodyPr wrap="square">
            <a:spAutoFit/>
          </a:bodyPr>
          <a:lstStyle/>
          <a:p>
            <a:pPr>
              <a:lnSpc>
                <a:spcPts val="1800"/>
              </a:lnSpc>
            </a:pPr>
            <a:r>
              <a:rPr lang="en-GB" b="1" noProof="0" dirty="0"/>
              <a:t>Fieldwork and data processing</a:t>
            </a:r>
            <a:endParaRPr lang="en-GB" b="1" noProof="0" dirty="0">
              <a:solidFill>
                <a:schemeClr val="accent5"/>
              </a:solidFill>
              <a:latin typeface="Corbel" panose="020B0503020204020204" pitchFamily="34" charset="0"/>
            </a:endParaRPr>
          </a:p>
        </p:txBody>
      </p:sp>
      <p:sp>
        <p:nvSpPr>
          <p:cNvPr id="9" name="Footer Placeholder 4">
            <a:extLst>
              <a:ext uri="{FF2B5EF4-FFF2-40B4-BE49-F238E27FC236}">
                <a16:creationId xmlns:a16="http://schemas.microsoft.com/office/drawing/2014/main" id="{48076313-AD6F-D8F7-8376-E4496947AE1D}"/>
              </a:ext>
            </a:extLst>
          </p:cNvPr>
          <p:cNvSpPr>
            <a:spLocks noGrp="1"/>
          </p:cNvSpPr>
          <p:nvPr>
            <p:ph type="ftr" sz="quarter" idx="4294967295"/>
          </p:nvPr>
        </p:nvSpPr>
        <p:spPr>
          <a:xfrm>
            <a:off x="2707689" y="6355745"/>
            <a:ext cx="4114800" cy="365125"/>
          </a:xfrm>
        </p:spPr>
        <p:txBody>
          <a:bodyPr/>
          <a:lstStyle/>
          <a:p>
            <a:pPr algn="l"/>
            <a:r>
              <a:rPr lang="en-GB" sz="1100" noProof="0" dirty="0">
                <a:solidFill>
                  <a:schemeClr val="bg1">
                    <a:lumMod val="85000"/>
                  </a:schemeClr>
                </a:solidFill>
              </a:rPr>
              <a:t>Data analysis</a:t>
            </a:r>
          </a:p>
        </p:txBody>
      </p:sp>
      <p:sp>
        <p:nvSpPr>
          <p:cNvPr id="10" name="TextBox 9">
            <a:extLst>
              <a:ext uri="{FF2B5EF4-FFF2-40B4-BE49-F238E27FC236}">
                <a16:creationId xmlns:a16="http://schemas.microsoft.com/office/drawing/2014/main" id="{3D15C099-652B-3ABD-D44F-BAEEBDEA96DC}"/>
              </a:ext>
            </a:extLst>
          </p:cNvPr>
          <p:cNvSpPr txBox="1"/>
          <p:nvPr/>
        </p:nvSpPr>
        <p:spPr>
          <a:xfrm>
            <a:off x="891590" y="1199393"/>
            <a:ext cx="10112026" cy="923330"/>
          </a:xfrm>
          <a:prstGeom prst="rect">
            <a:avLst/>
          </a:prstGeom>
          <a:noFill/>
        </p:spPr>
        <p:txBody>
          <a:bodyPr wrap="square">
            <a:spAutoFit/>
          </a:bodyPr>
          <a:lstStyle/>
          <a:p>
            <a:r>
              <a:rPr lang="en-GB" noProof="0" dirty="0"/>
              <a:t>Develop the skills of data collection, management, processing, and analysis (both quantitative and qualitative), with the aim of </a:t>
            </a:r>
            <a:r>
              <a:rPr lang="en-GB" b="1" noProof="0" dirty="0">
                <a:highlight>
                  <a:srgbClr val="FFC000"/>
                </a:highlight>
              </a:rPr>
              <a:t>producing research projects that are coherent, comprehensible, and well‑structured</a:t>
            </a:r>
            <a:r>
              <a:rPr lang="en-GB" noProof="0" dirty="0"/>
              <a:t>.</a:t>
            </a:r>
          </a:p>
        </p:txBody>
      </p:sp>
      <p:sp>
        <p:nvSpPr>
          <p:cNvPr id="15" name="Freeform: Shape 14">
            <a:extLst>
              <a:ext uri="{FF2B5EF4-FFF2-40B4-BE49-F238E27FC236}">
                <a16:creationId xmlns:a16="http://schemas.microsoft.com/office/drawing/2014/main" id="{C2BF0C3B-2A79-9439-4DAF-281EE2CBACC8}"/>
              </a:ext>
            </a:extLst>
          </p:cNvPr>
          <p:cNvSpPr/>
          <p:nvPr/>
        </p:nvSpPr>
        <p:spPr>
          <a:xfrm>
            <a:off x="1051145" y="2785975"/>
            <a:ext cx="248304" cy="248304"/>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dirty="0"/>
          </a:p>
        </p:txBody>
      </p:sp>
      <p:sp>
        <p:nvSpPr>
          <p:cNvPr id="19" name="TextBox 18">
            <a:extLst>
              <a:ext uri="{FF2B5EF4-FFF2-40B4-BE49-F238E27FC236}">
                <a16:creationId xmlns:a16="http://schemas.microsoft.com/office/drawing/2014/main" id="{B125D834-864D-1C0D-22A9-3C3AE48CE2E7}"/>
              </a:ext>
            </a:extLst>
          </p:cNvPr>
          <p:cNvSpPr txBox="1"/>
          <p:nvPr/>
        </p:nvSpPr>
        <p:spPr>
          <a:xfrm>
            <a:off x="1358789" y="2710072"/>
            <a:ext cx="7696150" cy="400110"/>
          </a:xfrm>
          <a:prstGeom prst="rect">
            <a:avLst/>
          </a:prstGeom>
          <a:noFill/>
        </p:spPr>
        <p:txBody>
          <a:bodyPr wrap="square">
            <a:spAutoFit/>
          </a:bodyPr>
          <a:lstStyle/>
          <a:p>
            <a:r>
              <a:rPr lang="en-GB" sz="2000" b="1" noProof="0" dirty="0">
                <a:solidFill>
                  <a:srgbClr val="FF0000"/>
                </a:solidFill>
              </a:rPr>
              <a:t>Developing evidence following a structured process</a:t>
            </a:r>
          </a:p>
        </p:txBody>
      </p:sp>
    </p:spTree>
    <p:extLst>
      <p:ext uri="{BB962C8B-B14F-4D97-AF65-F5344CB8AC3E}">
        <p14:creationId xmlns:p14="http://schemas.microsoft.com/office/powerpoint/2010/main" val="3474460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7" grpId="0"/>
      <p:bldP spid="18" grpId="0"/>
      <p:bldP spid="15" grpId="0" animBg="1"/>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p:txBody>
          <a:bodyPr/>
          <a:lstStyle/>
          <a:p>
            <a:fld id="{330EA680-D336-4FF7-8B7A-9848BB0A1C32}" type="slidenum">
              <a:rPr lang="en-GB" noProof="0" smtClean="0"/>
              <a:t>3</a:t>
            </a:fld>
            <a:endParaRPr lang="en-GB" noProof="0" dirty="0"/>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8" name="Título 1">
            <a:extLst>
              <a:ext uri="{FF2B5EF4-FFF2-40B4-BE49-F238E27FC236}">
                <a16:creationId xmlns:a16="http://schemas.microsoft.com/office/drawing/2014/main" id="{857493D7-81AD-C0E7-3CB4-FE53814A0847}"/>
              </a:ext>
            </a:extLst>
          </p:cNvPr>
          <p:cNvSpPr txBox="1">
            <a:spLocks/>
          </p:cNvSpPr>
          <p:nvPr/>
        </p:nvSpPr>
        <p:spPr>
          <a:xfrm>
            <a:off x="891590" y="501650"/>
            <a:ext cx="3873499"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Objectives</a:t>
            </a:r>
          </a:p>
        </p:txBody>
      </p:sp>
      <p:sp>
        <p:nvSpPr>
          <p:cNvPr id="14" name="TextBox 13">
            <a:extLst>
              <a:ext uri="{FF2B5EF4-FFF2-40B4-BE49-F238E27FC236}">
                <a16:creationId xmlns:a16="http://schemas.microsoft.com/office/drawing/2014/main" id="{DCC1467F-FE50-FC8B-D835-8CB9F574FB55}"/>
              </a:ext>
            </a:extLst>
          </p:cNvPr>
          <p:cNvSpPr txBox="1"/>
          <p:nvPr/>
        </p:nvSpPr>
        <p:spPr>
          <a:xfrm>
            <a:off x="1358789" y="2710072"/>
            <a:ext cx="3826460" cy="400110"/>
          </a:xfrm>
          <a:prstGeom prst="rect">
            <a:avLst/>
          </a:prstGeom>
          <a:noFill/>
        </p:spPr>
        <p:txBody>
          <a:bodyPr wrap="square">
            <a:spAutoFit/>
          </a:bodyPr>
          <a:lstStyle/>
          <a:p>
            <a:r>
              <a:rPr lang="en-GB" sz="2000" b="1" noProof="0" dirty="0">
                <a:solidFill>
                  <a:srgbClr val="FF0000"/>
                </a:solidFill>
              </a:rPr>
              <a:t>Competencies</a:t>
            </a:r>
          </a:p>
        </p:txBody>
      </p:sp>
      <p:sp>
        <p:nvSpPr>
          <p:cNvPr id="20" name="TextBox 19">
            <a:extLst>
              <a:ext uri="{FF2B5EF4-FFF2-40B4-BE49-F238E27FC236}">
                <a16:creationId xmlns:a16="http://schemas.microsoft.com/office/drawing/2014/main" id="{D6F68656-C379-9042-A593-A40FB08E8B3E}"/>
              </a:ext>
            </a:extLst>
          </p:cNvPr>
          <p:cNvSpPr txBox="1"/>
          <p:nvPr/>
        </p:nvSpPr>
        <p:spPr>
          <a:xfrm>
            <a:off x="1358789" y="3110182"/>
            <a:ext cx="10315207" cy="369332"/>
          </a:xfrm>
          <a:prstGeom prst="rect">
            <a:avLst/>
          </a:prstGeom>
          <a:noFill/>
        </p:spPr>
        <p:txBody>
          <a:bodyPr wrap="square">
            <a:spAutoFit/>
          </a:bodyPr>
          <a:lstStyle>
            <a:defPPr>
              <a:defRPr lang="en-US"/>
            </a:defPPr>
            <a:lvl1pPr>
              <a:defRPr/>
            </a:lvl1pPr>
          </a:lstStyle>
          <a:p>
            <a:r>
              <a:rPr lang="en-GB" b="1" noProof="0" dirty="0"/>
              <a:t>Understand</a:t>
            </a:r>
            <a:r>
              <a:rPr lang="en-GB" sz="1400" b="1" noProof="0" dirty="0"/>
              <a:t> </a:t>
            </a:r>
            <a:r>
              <a:rPr lang="en-GB" sz="1400" noProof="0" dirty="0"/>
              <a:t>a social phenomenon in depth, relevant to a research project</a:t>
            </a:r>
            <a:endParaRPr lang="en-GB" sz="1400" b="1" noProof="0" dirty="0"/>
          </a:p>
        </p:txBody>
      </p:sp>
      <p:sp>
        <p:nvSpPr>
          <p:cNvPr id="11" name="Freeform: Shape 10">
            <a:extLst>
              <a:ext uri="{FF2B5EF4-FFF2-40B4-BE49-F238E27FC236}">
                <a16:creationId xmlns:a16="http://schemas.microsoft.com/office/drawing/2014/main" id="{3F6289F1-B26C-DF0C-A678-CA897C5BCADB}"/>
              </a:ext>
            </a:extLst>
          </p:cNvPr>
          <p:cNvSpPr/>
          <p:nvPr/>
        </p:nvSpPr>
        <p:spPr>
          <a:xfrm>
            <a:off x="1051145" y="2785975"/>
            <a:ext cx="248304" cy="248304"/>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dirty="0"/>
          </a:p>
        </p:txBody>
      </p:sp>
      <p:sp>
        <p:nvSpPr>
          <p:cNvPr id="22" name="TextBox 21">
            <a:extLst>
              <a:ext uri="{FF2B5EF4-FFF2-40B4-BE49-F238E27FC236}">
                <a16:creationId xmlns:a16="http://schemas.microsoft.com/office/drawing/2014/main" id="{F4389D77-B593-8F3E-421F-F9AF1163CE90}"/>
              </a:ext>
            </a:extLst>
          </p:cNvPr>
          <p:cNvSpPr txBox="1"/>
          <p:nvPr/>
        </p:nvSpPr>
        <p:spPr>
          <a:xfrm>
            <a:off x="1358789" y="3879405"/>
            <a:ext cx="10340011" cy="369332"/>
          </a:xfrm>
          <a:prstGeom prst="rect">
            <a:avLst/>
          </a:prstGeom>
          <a:noFill/>
        </p:spPr>
        <p:txBody>
          <a:bodyPr wrap="square">
            <a:spAutoFit/>
          </a:bodyPr>
          <a:lstStyle>
            <a:defPPr>
              <a:defRPr lang="en-US"/>
            </a:defPPr>
            <a:lvl1pPr>
              <a:defRPr sz="1600" b="1"/>
            </a:lvl1pPr>
          </a:lstStyle>
          <a:p>
            <a:r>
              <a:rPr lang="en-GB" sz="1800" noProof="0" dirty="0"/>
              <a:t>Implement</a:t>
            </a:r>
            <a:r>
              <a:rPr lang="en-GB" sz="1400" noProof="0" dirty="0"/>
              <a:t> </a:t>
            </a:r>
            <a:r>
              <a:rPr lang="en-GB" sz="1400" b="0" noProof="0" dirty="0"/>
              <a:t>a robust research project to address specific problems</a:t>
            </a:r>
          </a:p>
        </p:txBody>
      </p:sp>
      <p:sp>
        <p:nvSpPr>
          <p:cNvPr id="23" name="TextBox 22">
            <a:extLst>
              <a:ext uri="{FF2B5EF4-FFF2-40B4-BE49-F238E27FC236}">
                <a16:creationId xmlns:a16="http://schemas.microsoft.com/office/drawing/2014/main" id="{C1C03812-7B07-931F-1922-A0BF5F5D83C3}"/>
              </a:ext>
            </a:extLst>
          </p:cNvPr>
          <p:cNvSpPr txBox="1"/>
          <p:nvPr/>
        </p:nvSpPr>
        <p:spPr>
          <a:xfrm>
            <a:off x="1358789" y="4264017"/>
            <a:ext cx="10506303" cy="369332"/>
          </a:xfrm>
          <a:prstGeom prst="rect">
            <a:avLst/>
          </a:prstGeom>
          <a:noFill/>
        </p:spPr>
        <p:txBody>
          <a:bodyPr wrap="square">
            <a:spAutoFit/>
          </a:bodyPr>
          <a:lstStyle>
            <a:defPPr>
              <a:defRPr lang="en-US"/>
            </a:defPPr>
            <a:lvl1pPr>
              <a:defRPr/>
            </a:lvl1pPr>
          </a:lstStyle>
          <a:p>
            <a:r>
              <a:rPr lang="en-GB" b="1" noProof="0" dirty="0"/>
              <a:t>Incorporate</a:t>
            </a:r>
            <a:r>
              <a:rPr lang="en-GB" sz="1400" b="1" noProof="0" dirty="0"/>
              <a:t> </a:t>
            </a:r>
            <a:r>
              <a:rPr lang="en-GB" sz="1400" noProof="0" dirty="0"/>
              <a:t>ethical considerations in the collection and treatment of both primary and secondary data</a:t>
            </a:r>
            <a:endParaRPr lang="en-GB" sz="1400" b="1" noProof="0" dirty="0"/>
          </a:p>
        </p:txBody>
      </p:sp>
      <p:sp>
        <p:nvSpPr>
          <p:cNvPr id="24" name="TextBox 23">
            <a:extLst>
              <a:ext uri="{FF2B5EF4-FFF2-40B4-BE49-F238E27FC236}">
                <a16:creationId xmlns:a16="http://schemas.microsoft.com/office/drawing/2014/main" id="{0AE1EA94-5A1D-8734-B4DA-131FF0620BE0}"/>
              </a:ext>
            </a:extLst>
          </p:cNvPr>
          <p:cNvSpPr txBox="1"/>
          <p:nvPr/>
        </p:nvSpPr>
        <p:spPr>
          <a:xfrm>
            <a:off x="1358789" y="3494793"/>
            <a:ext cx="10374416" cy="369332"/>
          </a:xfrm>
          <a:prstGeom prst="rect">
            <a:avLst/>
          </a:prstGeom>
          <a:noFill/>
        </p:spPr>
        <p:txBody>
          <a:bodyPr wrap="square">
            <a:spAutoFit/>
          </a:bodyPr>
          <a:lstStyle>
            <a:defPPr>
              <a:defRPr lang="en-US"/>
            </a:defPPr>
            <a:lvl1pPr>
              <a:defRPr sz="1600" b="1"/>
            </a:lvl1pPr>
          </a:lstStyle>
          <a:p>
            <a:r>
              <a:rPr lang="en-GB" sz="1800" noProof="0" dirty="0"/>
              <a:t>Connect</a:t>
            </a:r>
            <a:r>
              <a:rPr lang="en-GB" sz="1400" noProof="0" dirty="0"/>
              <a:t> </a:t>
            </a:r>
            <a:r>
              <a:rPr lang="en-GB" sz="1400" b="0" noProof="0" dirty="0"/>
              <a:t>the research project to its relevant social, political, economic, or environmental context</a:t>
            </a:r>
          </a:p>
        </p:txBody>
      </p:sp>
      <p:sp>
        <p:nvSpPr>
          <p:cNvPr id="25" name="TextBox 24">
            <a:extLst>
              <a:ext uri="{FF2B5EF4-FFF2-40B4-BE49-F238E27FC236}">
                <a16:creationId xmlns:a16="http://schemas.microsoft.com/office/drawing/2014/main" id="{2A513BD8-5EBF-FB9A-29F6-99B4C7C8BCC5}"/>
              </a:ext>
            </a:extLst>
          </p:cNvPr>
          <p:cNvSpPr txBox="1"/>
          <p:nvPr/>
        </p:nvSpPr>
        <p:spPr>
          <a:xfrm>
            <a:off x="1358789" y="4648628"/>
            <a:ext cx="10313093" cy="369332"/>
          </a:xfrm>
          <a:prstGeom prst="rect">
            <a:avLst/>
          </a:prstGeom>
          <a:noFill/>
        </p:spPr>
        <p:txBody>
          <a:bodyPr wrap="square">
            <a:spAutoFit/>
          </a:bodyPr>
          <a:lstStyle>
            <a:defPPr>
              <a:defRPr lang="en-US"/>
            </a:defPPr>
            <a:lvl1pPr>
              <a:defRPr/>
            </a:lvl1pPr>
          </a:lstStyle>
          <a:p>
            <a:r>
              <a:rPr lang="en-GB" b="1" noProof="0" dirty="0"/>
              <a:t>Communicate</a:t>
            </a:r>
            <a:r>
              <a:rPr lang="en-GB" sz="1400" b="1" noProof="0" dirty="0"/>
              <a:t> </a:t>
            </a:r>
            <a:r>
              <a:rPr lang="en-GB" sz="1400" noProof="0" dirty="0"/>
              <a:t>the development, findings, and implications of the research project clearly and effectively</a:t>
            </a:r>
          </a:p>
        </p:txBody>
      </p:sp>
      <p:sp>
        <p:nvSpPr>
          <p:cNvPr id="6" name="TextBox 5">
            <a:extLst>
              <a:ext uri="{FF2B5EF4-FFF2-40B4-BE49-F238E27FC236}">
                <a16:creationId xmlns:a16="http://schemas.microsoft.com/office/drawing/2014/main" id="{FC2700C1-E8C4-05B0-8C04-10D21106D9E8}"/>
              </a:ext>
            </a:extLst>
          </p:cNvPr>
          <p:cNvSpPr txBox="1"/>
          <p:nvPr/>
        </p:nvSpPr>
        <p:spPr>
          <a:xfrm>
            <a:off x="891589" y="1199393"/>
            <a:ext cx="10313093" cy="923330"/>
          </a:xfrm>
          <a:prstGeom prst="rect">
            <a:avLst/>
          </a:prstGeom>
          <a:noFill/>
        </p:spPr>
        <p:txBody>
          <a:bodyPr wrap="square">
            <a:spAutoFit/>
          </a:bodyPr>
          <a:lstStyle/>
          <a:p>
            <a:r>
              <a:rPr lang="en-GB" noProof="0" dirty="0"/>
              <a:t>Develop the skills of data collection, management, processing, and analysis (both quantitative and qualitative), with the aim of </a:t>
            </a:r>
            <a:r>
              <a:rPr lang="en-GB" b="1" noProof="0" dirty="0">
                <a:highlight>
                  <a:srgbClr val="FFC000"/>
                </a:highlight>
              </a:rPr>
              <a:t>producing research projects that are coherent, comprehensible, and well‑structured</a:t>
            </a:r>
            <a:r>
              <a:rPr lang="en-GB" noProof="0" dirty="0"/>
              <a:t>.</a:t>
            </a:r>
          </a:p>
        </p:txBody>
      </p:sp>
      <p:sp>
        <p:nvSpPr>
          <p:cNvPr id="17" name="Footer Placeholder 4">
            <a:extLst>
              <a:ext uri="{FF2B5EF4-FFF2-40B4-BE49-F238E27FC236}">
                <a16:creationId xmlns:a16="http://schemas.microsoft.com/office/drawing/2014/main" id="{B33F7C4F-2BD7-648C-AC0C-F52CE7E38D86}"/>
              </a:ext>
            </a:extLst>
          </p:cNvPr>
          <p:cNvSpPr>
            <a:spLocks noGrp="1"/>
          </p:cNvSpPr>
          <p:nvPr>
            <p:ph type="ftr" sz="quarter" idx="4294967295"/>
          </p:nvPr>
        </p:nvSpPr>
        <p:spPr>
          <a:xfrm>
            <a:off x="2707689" y="6355745"/>
            <a:ext cx="4114800" cy="365125"/>
          </a:xfrm>
        </p:spPr>
        <p:txBody>
          <a:body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42273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p:bldP spid="11" grpId="0" animBg="1"/>
      <p:bldP spid="22" grpId="0"/>
      <p:bldP spid="23" grpId="0"/>
      <p:bldP spid="24" grpId="0"/>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p:txBody>
          <a:bodyPr/>
          <a:lstStyle/>
          <a:p>
            <a:fld id="{330EA680-D336-4FF7-8B7A-9848BB0A1C32}" type="slidenum">
              <a:rPr lang="en-GB" noProof="0" smtClean="0"/>
              <a:t>4</a:t>
            </a:fld>
            <a:endParaRPr lang="en-GB" noProof="0" dirty="0"/>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8" name="Título 1">
            <a:extLst>
              <a:ext uri="{FF2B5EF4-FFF2-40B4-BE49-F238E27FC236}">
                <a16:creationId xmlns:a16="http://schemas.microsoft.com/office/drawing/2014/main" id="{857493D7-81AD-C0E7-3CB4-FE53814A0847}"/>
              </a:ext>
            </a:extLst>
          </p:cNvPr>
          <p:cNvSpPr txBox="1">
            <a:spLocks/>
          </p:cNvSpPr>
          <p:nvPr/>
        </p:nvSpPr>
        <p:spPr>
          <a:xfrm>
            <a:off x="891590" y="501650"/>
            <a:ext cx="3873499"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Objectives</a:t>
            </a:r>
            <a:endParaRPr lang="en-GB" sz="3200" b="1" noProof="0" dirty="0">
              <a:solidFill>
                <a:srgbClr val="C01C1B"/>
              </a:solidFill>
              <a:latin typeface="Aptos SemiBold" panose="020F0502020204030204" pitchFamily="34" charset="0"/>
            </a:endParaRPr>
          </a:p>
        </p:txBody>
      </p:sp>
      <p:sp>
        <p:nvSpPr>
          <p:cNvPr id="46" name="TextBox 45">
            <a:extLst>
              <a:ext uri="{FF2B5EF4-FFF2-40B4-BE49-F238E27FC236}">
                <a16:creationId xmlns:a16="http://schemas.microsoft.com/office/drawing/2014/main" id="{97F78656-C1A5-55BE-D4F6-624C006C1E37}"/>
              </a:ext>
            </a:extLst>
          </p:cNvPr>
          <p:cNvSpPr txBox="1"/>
          <p:nvPr/>
        </p:nvSpPr>
        <p:spPr>
          <a:xfrm>
            <a:off x="891590" y="1098186"/>
            <a:ext cx="4358144" cy="707886"/>
          </a:xfrm>
          <a:prstGeom prst="rect">
            <a:avLst/>
          </a:prstGeom>
          <a:noFill/>
        </p:spPr>
        <p:txBody>
          <a:bodyPr wrap="square">
            <a:spAutoFit/>
          </a:bodyPr>
          <a:lstStyle/>
          <a:p>
            <a:r>
              <a:rPr lang="en-GB" sz="2000" b="1" noProof="0" dirty="0"/>
              <a:t>What is the thematic structure we will be developing?</a:t>
            </a:r>
            <a:endParaRPr lang="en-GB" sz="2000" b="1" noProof="0" dirty="0">
              <a:latin typeface="Corbel" panose="020B0503020204020204" pitchFamily="34" charset="0"/>
            </a:endParaRPr>
          </a:p>
        </p:txBody>
      </p:sp>
      <p:sp>
        <p:nvSpPr>
          <p:cNvPr id="7" name="Footer Placeholder 4">
            <a:extLst>
              <a:ext uri="{FF2B5EF4-FFF2-40B4-BE49-F238E27FC236}">
                <a16:creationId xmlns:a16="http://schemas.microsoft.com/office/drawing/2014/main" id="{F4FAFCB9-446E-5986-EDE1-C3FC14E90CC6}"/>
              </a:ext>
            </a:extLst>
          </p:cNvPr>
          <p:cNvSpPr>
            <a:spLocks noGrp="1"/>
          </p:cNvSpPr>
          <p:nvPr>
            <p:ph type="ftr" sz="quarter" idx="4294967295"/>
          </p:nvPr>
        </p:nvSpPr>
        <p:spPr>
          <a:xfrm>
            <a:off x="2707689" y="6355745"/>
            <a:ext cx="4114800" cy="365125"/>
          </a:xfrm>
        </p:spPr>
        <p:txBody>
          <a:bodyPr/>
          <a:lstStyle/>
          <a:p>
            <a:pPr algn="l"/>
            <a:r>
              <a:rPr lang="en-GB" sz="1100" noProof="0" dirty="0">
                <a:solidFill>
                  <a:schemeClr val="bg1">
                    <a:lumMod val="85000"/>
                  </a:schemeClr>
                </a:solidFill>
              </a:rPr>
              <a:t>Data analysis</a:t>
            </a:r>
          </a:p>
        </p:txBody>
      </p:sp>
      <p:grpSp>
        <p:nvGrpSpPr>
          <p:cNvPr id="13" name="Group 12">
            <a:extLst>
              <a:ext uri="{FF2B5EF4-FFF2-40B4-BE49-F238E27FC236}">
                <a16:creationId xmlns:a16="http://schemas.microsoft.com/office/drawing/2014/main" id="{CEEE7DFB-E6A7-1443-44F4-DEE2A88A6976}"/>
              </a:ext>
            </a:extLst>
          </p:cNvPr>
          <p:cNvGrpSpPr/>
          <p:nvPr/>
        </p:nvGrpSpPr>
        <p:grpSpPr>
          <a:xfrm>
            <a:off x="1552264" y="2716673"/>
            <a:ext cx="4250951" cy="560218"/>
            <a:chOff x="891590" y="1990249"/>
            <a:chExt cx="4250951" cy="560218"/>
          </a:xfrm>
        </p:grpSpPr>
        <p:sp>
          <p:nvSpPr>
            <p:cNvPr id="10" name="TextBox 9">
              <a:extLst>
                <a:ext uri="{FF2B5EF4-FFF2-40B4-BE49-F238E27FC236}">
                  <a16:creationId xmlns:a16="http://schemas.microsoft.com/office/drawing/2014/main" id="{C313D480-55B5-FE3B-22D1-A225FA5530C0}"/>
                </a:ext>
              </a:extLst>
            </p:cNvPr>
            <p:cNvSpPr txBox="1"/>
            <p:nvPr/>
          </p:nvSpPr>
          <p:spPr>
            <a:xfrm>
              <a:off x="891590" y="1990249"/>
              <a:ext cx="527635" cy="461665"/>
            </a:xfrm>
            <a:prstGeom prst="rect">
              <a:avLst/>
            </a:prstGeom>
            <a:noFill/>
          </p:spPr>
          <p:txBody>
            <a:bodyPr wrap="square">
              <a:spAutoFit/>
            </a:bodyPr>
            <a:lstStyle/>
            <a:p>
              <a:r>
                <a:rPr lang="en-GB" sz="2400" noProof="0" dirty="0">
                  <a:solidFill>
                    <a:srgbClr val="FF0000"/>
                  </a:solidFill>
                  <a:latin typeface="Aptos Black" panose="020B0004020202020204" pitchFamily="34" charset="0"/>
                </a:rPr>
                <a:t>1.</a:t>
              </a:r>
              <a:endParaRPr lang="en-GB" sz="2400" b="1" noProof="0" dirty="0">
                <a:solidFill>
                  <a:srgbClr val="FF0000"/>
                </a:solidFill>
                <a:latin typeface="Aptos Black" panose="020B0004020202020204" pitchFamily="34" charset="0"/>
              </a:endParaRPr>
            </a:p>
          </p:txBody>
        </p:sp>
        <p:sp>
          <p:nvSpPr>
            <p:cNvPr id="12" name="TextBox 11">
              <a:extLst>
                <a:ext uri="{FF2B5EF4-FFF2-40B4-BE49-F238E27FC236}">
                  <a16:creationId xmlns:a16="http://schemas.microsoft.com/office/drawing/2014/main" id="{69D41105-1762-F7A8-AC33-A414626BC5AE}"/>
                </a:ext>
              </a:extLst>
            </p:cNvPr>
            <p:cNvSpPr txBox="1"/>
            <p:nvPr/>
          </p:nvSpPr>
          <p:spPr>
            <a:xfrm>
              <a:off x="1419225" y="1990249"/>
              <a:ext cx="3723316" cy="560218"/>
            </a:xfrm>
            <a:prstGeom prst="rect">
              <a:avLst/>
            </a:prstGeom>
            <a:noFill/>
          </p:spPr>
          <p:txBody>
            <a:bodyPr wrap="square">
              <a:spAutoFit/>
            </a:bodyPr>
            <a:lstStyle/>
            <a:p>
              <a:pPr>
                <a:lnSpc>
                  <a:spcPts val="1800"/>
                </a:lnSpc>
              </a:pPr>
              <a:r>
                <a:rPr lang="en-GB" noProof="0" dirty="0"/>
                <a:t>Philosophical foundations of science</a:t>
              </a:r>
            </a:p>
          </p:txBody>
        </p:sp>
      </p:grpSp>
      <p:grpSp>
        <p:nvGrpSpPr>
          <p:cNvPr id="14" name="Group 13">
            <a:extLst>
              <a:ext uri="{FF2B5EF4-FFF2-40B4-BE49-F238E27FC236}">
                <a16:creationId xmlns:a16="http://schemas.microsoft.com/office/drawing/2014/main" id="{51D7D16D-B7B5-ED9B-EB04-7212034DB4DE}"/>
              </a:ext>
            </a:extLst>
          </p:cNvPr>
          <p:cNvGrpSpPr/>
          <p:nvPr/>
        </p:nvGrpSpPr>
        <p:grpSpPr>
          <a:xfrm>
            <a:off x="1552264" y="3328546"/>
            <a:ext cx="4250951" cy="560218"/>
            <a:chOff x="891590" y="1990249"/>
            <a:chExt cx="4250951" cy="560218"/>
          </a:xfrm>
        </p:grpSpPr>
        <p:sp>
          <p:nvSpPr>
            <p:cNvPr id="16" name="TextBox 15">
              <a:extLst>
                <a:ext uri="{FF2B5EF4-FFF2-40B4-BE49-F238E27FC236}">
                  <a16:creationId xmlns:a16="http://schemas.microsoft.com/office/drawing/2014/main" id="{0680C206-5A3F-5ACC-6236-4A2B0016B603}"/>
                </a:ext>
              </a:extLst>
            </p:cNvPr>
            <p:cNvSpPr txBox="1"/>
            <p:nvPr/>
          </p:nvSpPr>
          <p:spPr>
            <a:xfrm>
              <a:off x="891590" y="1990249"/>
              <a:ext cx="527635" cy="461665"/>
            </a:xfrm>
            <a:prstGeom prst="rect">
              <a:avLst/>
            </a:prstGeom>
            <a:noFill/>
          </p:spPr>
          <p:txBody>
            <a:bodyPr wrap="square">
              <a:spAutoFit/>
            </a:bodyPr>
            <a:lstStyle/>
            <a:p>
              <a:r>
                <a:rPr lang="en-GB" sz="2400" noProof="0" dirty="0">
                  <a:solidFill>
                    <a:srgbClr val="FF0000"/>
                  </a:solidFill>
                  <a:latin typeface="Aptos Black" panose="020B0004020202020204" pitchFamily="34" charset="0"/>
                </a:rPr>
                <a:t>2.</a:t>
              </a:r>
              <a:endParaRPr lang="en-GB" sz="2400" b="1" noProof="0" dirty="0">
                <a:solidFill>
                  <a:srgbClr val="FF0000"/>
                </a:solidFill>
                <a:latin typeface="Aptos Black" panose="020B0004020202020204" pitchFamily="34" charset="0"/>
              </a:endParaRPr>
            </a:p>
          </p:txBody>
        </p:sp>
        <p:sp>
          <p:nvSpPr>
            <p:cNvPr id="17" name="TextBox 16">
              <a:extLst>
                <a:ext uri="{FF2B5EF4-FFF2-40B4-BE49-F238E27FC236}">
                  <a16:creationId xmlns:a16="http://schemas.microsoft.com/office/drawing/2014/main" id="{EE78A7F7-8685-06D5-AC2F-EF28975FAF91}"/>
                </a:ext>
              </a:extLst>
            </p:cNvPr>
            <p:cNvSpPr txBox="1"/>
            <p:nvPr/>
          </p:nvSpPr>
          <p:spPr>
            <a:xfrm>
              <a:off x="1419225" y="1990249"/>
              <a:ext cx="3723316" cy="560218"/>
            </a:xfrm>
            <a:prstGeom prst="rect">
              <a:avLst/>
            </a:prstGeom>
            <a:noFill/>
          </p:spPr>
          <p:txBody>
            <a:bodyPr wrap="square">
              <a:spAutoFit/>
            </a:bodyPr>
            <a:lstStyle/>
            <a:p>
              <a:pPr>
                <a:lnSpc>
                  <a:spcPts val="1800"/>
                </a:lnSpc>
              </a:pPr>
              <a:r>
                <a:rPr lang="en-GB" noProof="0" dirty="0"/>
                <a:t>Research topic, problem, purpose, and questions</a:t>
              </a:r>
            </a:p>
          </p:txBody>
        </p:sp>
      </p:grpSp>
      <p:grpSp>
        <p:nvGrpSpPr>
          <p:cNvPr id="20" name="Group 19">
            <a:extLst>
              <a:ext uri="{FF2B5EF4-FFF2-40B4-BE49-F238E27FC236}">
                <a16:creationId xmlns:a16="http://schemas.microsoft.com/office/drawing/2014/main" id="{6A1D5043-9B90-F698-A095-74A872F240B3}"/>
              </a:ext>
            </a:extLst>
          </p:cNvPr>
          <p:cNvGrpSpPr/>
          <p:nvPr/>
        </p:nvGrpSpPr>
        <p:grpSpPr>
          <a:xfrm>
            <a:off x="1552264" y="3934713"/>
            <a:ext cx="4250951" cy="461665"/>
            <a:chOff x="891590" y="1990249"/>
            <a:chExt cx="4250951" cy="461665"/>
          </a:xfrm>
        </p:grpSpPr>
        <p:sp>
          <p:nvSpPr>
            <p:cNvPr id="21" name="TextBox 20">
              <a:extLst>
                <a:ext uri="{FF2B5EF4-FFF2-40B4-BE49-F238E27FC236}">
                  <a16:creationId xmlns:a16="http://schemas.microsoft.com/office/drawing/2014/main" id="{7AD0D073-1896-A7C1-3F0B-B12243CA042F}"/>
                </a:ext>
              </a:extLst>
            </p:cNvPr>
            <p:cNvSpPr txBox="1"/>
            <p:nvPr/>
          </p:nvSpPr>
          <p:spPr>
            <a:xfrm>
              <a:off x="891590" y="1990249"/>
              <a:ext cx="527635" cy="461665"/>
            </a:xfrm>
            <a:prstGeom prst="rect">
              <a:avLst/>
            </a:prstGeom>
            <a:noFill/>
          </p:spPr>
          <p:txBody>
            <a:bodyPr wrap="square">
              <a:spAutoFit/>
            </a:bodyPr>
            <a:lstStyle/>
            <a:p>
              <a:r>
                <a:rPr lang="en-GB" sz="2400" noProof="0" dirty="0">
                  <a:solidFill>
                    <a:srgbClr val="FF0000"/>
                  </a:solidFill>
                  <a:latin typeface="Aptos Black" panose="020B0004020202020204" pitchFamily="34" charset="0"/>
                </a:rPr>
                <a:t>3.</a:t>
              </a:r>
              <a:endParaRPr lang="en-GB" sz="2400" b="1" noProof="0" dirty="0">
                <a:solidFill>
                  <a:srgbClr val="FF0000"/>
                </a:solidFill>
                <a:latin typeface="Aptos Black" panose="020B0004020202020204" pitchFamily="34" charset="0"/>
              </a:endParaRPr>
            </a:p>
          </p:txBody>
        </p:sp>
        <p:sp>
          <p:nvSpPr>
            <p:cNvPr id="33" name="TextBox 32">
              <a:extLst>
                <a:ext uri="{FF2B5EF4-FFF2-40B4-BE49-F238E27FC236}">
                  <a16:creationId xmlns:a16="http://schemas.microsoft.com/office/drawing/2014/main" id="{1E006C9A-1DC7-6E83-8C6E-AC13FB5634D8}"/>
                </a:ext>
              </a:extLst>
            </p:cNvPr>
            <p:cNvSpPr txBox="1"/>
            <p:nvPr/>
          </p:nvSpPr>
          <p:spPr>
            <a:xfrm>
              <a:off x="1419225" y="2088802"/>
              <a:ext cx="3723316" cy="329386"/>
            </a:xfrm>
            <a:prstGeom prst="rect">
              <a:avLst/>
            </a:prstGeom>
            <a:noFill/>
          </p:spPr>
          <p:txBody>
            <a:bodyPr wrap="square">
              <a:spAutoFit/>
            </a:bodyPr>
            <a:lstStyle/>
            <a:p>
              <a:pPr>
                <a:lnSpc>
                  <a:spcPts val="1800"/>
                </a:lnSpc>
              </a:pPr>
              <a:r>
                <a:rPr lang="en-GB" noProof="0" dirty="0"/>
                <a:t>Literature review</a:t>
              </a:r>
            </a:p>
          </p:txBody>
        </p:sp>
      </p:grpSp>
      <p:grpSp>
        <p:nvGrpSpPr>
          <p:cNvPr id="35" name="Group 34">
            <a:extLst>
              <a:ext uri="{FF2B5EF4-FFF2-40B4-BE49-F238E27FC236}">
                <a16:creationId xmlns:a16="http://schemas.microsoft.com/office/drawing/2014/main" id="{2518D9F2-1D6B-7AA4-6A01-2465EC89DFEB}"/>
              </a:ext>
            </a:extLst>
          </p:cNvPr>
          <p:cNvGrpSpPr/>
          <p:nvPr/>
        </p:nvGrpSpPr>
        <p:grpSpPr>
          <a:xfrm>
            <a:off x="1552263" y="4491198"/>
            <a:ext cx="4250951" cy="461665"/>
            <a:chOff x="891590" y="1990249"/>
            <a:chExt cx="3013660" cy="461665"/>
          </a:xfrm>
        </p:grpSpPr>
        <p:sp>
          <p:nvSpPr>
            <p:cNvPr id="36" name="TextBox 35">
              <a:extLst>
                <a:ext uri="{FF2B5EF4-FFF2-40B4-BE49-F238E27FC236}">
                  <a16:creationId xmlns:a16="http://schemas.microsoft.com/office/drawing/2014/main" id="{F015A3B9-CFD9-CAE4-C42F-63596529DE64}"/>
                </a:ext>
              </a:extLst>
            </p:cNvPr>
            <p:cNvSpPr txBox="1"/>
            <p:nvPr/>
          </p:nvSpPr>
          <p:spPr>
            <a:xfrm>
              <a:off x="891590" y="1990249"/>
              <a:ext cx="527635" cy="461665"/>
            </a:xfrm>
            <a:prstGeom prst="rect">
              <a:avLst/>
            </a:prstGeom>
            <a:noFill/>
          </p:spPr>
          <p:txBody>
            <a:bodyPr wrap="square">
              <a:spAutoFit/>
            </a:bodyPr>
            <a:lstStyle/>
            <a:p>
              <a:r>
                <a:rPr lang="en-GB" sz="2400" noProof="0" dirty="0">
                  <a:solidFill>
                    <a:srgbClr val="FF0000"/>
                  </a:solidFill>
                  <a:latin typeface="Aptos Black" panose="020B0004020202020204" pitchFamily="34" charset="0"/>
                </a:rPr>
                <a:t>4.</a:t>
              </a:r>
              <a:endParaRPr lang="en-GB" sz="2400" b="1" noProof="0" dirty="0">
                <a:solidFill>
                  <a:srgbClr val="FF0000"/>
                </a:solidFill>
                <a:latin typeface="Aptos Black" panose="020B0004020202020204" pitchFamily="34" charset="0"/>
              </a:endParaRPr>
            </a:p>
          </p:txBody>
        </p:sp>
        <p:sp>
          <p:nvSpPr>
            <p:cNvPr id="37" name="TextBox 36">
              <a:extLst>
                <a:ext uri="{FF2B5EF4-FFF2-40B4-BE49-F238E27FC236}">
                  <a16:creationId xmlns:a16="http://schemas.microsoft.com/office/drawing/2014/main" id="{DD5EBD9D-B394-AACD-0DB4-5024AA6E8405}"/>
                </a:ext>
              </a:extLst>
            </p:cNvPr>
            <p:cNvSpPr txBox="1"/>
            <p:nvPr/>
          </p:nvSpPr>
          <p:spPr>
            <a:xfrm>
              <a:off x="1265650" y="2088802"/>
              <a:ext cx="2639600" cy="329386"/>
            </a:xfrm>
            <a:prstGeom prst="rect">
              <a:avLst/>
            </a:prstGeom>
            <a:noFill/>
          </p:spPr>
          <p:txBody>
            <a:bodyPr wrap="square">
              <a:spAutoFit/>
            </a:bodyPr>
            <a:lstStyle>
              <a:defPPr>
                <a:defRPr lang="en-US"/>
              </a:defPPr>
              <a:lvl1pPr>
                <a:lnSpc>
                  <a:spcPts val="1800"/>
                </a:lnSpc>
                <a:defRPr/>
              </a:lvl1pPr>
            </a:lstStyle>
            <a:p>
              <a:r>
                <a:rPr lang="en-GB" noProof="0" dirty="0"/>
                <a:t>Quantitative and qualitative theory </a:t>
              </a:r>
            </a:p>
          </p:txBody>
        </p:sp>
      </p:grpSp>
      <p:grpSp>
        <p:nvGrpSpPr>
          <p:cNvPr id="41" name="Group 40">
            <a:extLst>
              <a:ext uri="{FF2B5EF4-FFF2-40B4-BE49-F238E27FC236}">
                <a16:creationId xmlns:a16="http://schemas.microsoft.com/office/drawing/2014/main" id="{2FA77681-2867-FCB4-FF9F-EB0816C02534}"/>
              </a:ext>
            </a:extLst>
          </p:cNvPr>
          <p:cNvGrpSpPr/>
          <p:nvPr/>
        </p:nvGrpSpPr>
        <p:grpSpPr>
          <a:xfrm>
            <a:off x="6330849" y="2716673"/>
            <a:ext cx="4250951" cy="560218"/>
            <a:chOff x="891590" y="1990249"/>
            <a:chExt cx="4250951" cy="560218"/>
          </a:xfrm>
        </p:grpSpPr>
        <p:sp>
          <p:nvSpPr>
            <p:cNvPr id="42" name="TextBox 41">
              <a:extLst>
                <a:ext uri="{FF2B5EF4-FFF2-40B4-BE49-F238E27FC236}">
                  <a16:creationId xmlns:a16="http://schemas.microsoft.com/office/drawing/2014/main" id="{C4DB60C4-12D4-5587-FCD3-54DA71B016DD}"/>
                </a:ext>
              </a:extLst>
            </p:cNvPr>
            <p:cNvSpPr txBox="1"/>
            <p:nvPr/>
          </p:nvSpPr>
          <p:spPr>
            <a:xfrm>
              <a:off x="891590" y="1990249"/>
              <a:ext cx="527635" cy="461665"/>
            </a:xfrm>
            <a:prstGeom prst="rect">
              <a:avLst/>
            </a:prstGeom>
            <a:noFill/>
          </p:spPr>
          <p:txBody>
            <a:bodyPr wrap="square">
              <a:spAutoFit/>
            </a:bodyPr>
            <a:lstStyle/>
            <a:p>
              <a:r>
                <a:rPr lang="en-GB" sz="2400" noProof="0" dirty="0">
                  <a:solidFill>
                    <a:srgbClr val="FF0000"/>
                  </a:solidFill>
                  <a:latin typeface="Aptos Black" panose="020B0004020202020204" pitchFamily="34" charset="0"/>
                </a:rPr>
                <a:t>5.</a:t>
              </a:r>
              <a:endParaRPr lang="en-GB" sz="2400" b="1" noProof="0" dirty="0">
                <a:solidFill>
                  <a:srgbClr val="FF0000"/>
                </a:solidFill>
                <a:latin typeface="Aptos Black" panose="020B0004020202020204" pitchFamily="34" charset="0"/>
              </a:endParaRPr>
            </a:p>
          </p:txBody>
        </p:sp>
        <p:sp>
          <p:nvSpPr>
            <p:cNvPr id="43" name="TextBox 42">
              <a:extLst>
                <a:ext uri="{FF2B5EF4-FFF2-40B4-BE49-F238E27FC236}">
                  <a16:creationId xmlns:a16="http://schemas.microsoft.com/office/drawing/2014/main" id="{CEA34F4A-B8A1-2A31-4C7A-41DFB95A152C}"/>
                </a:ext>
              </a:extLst>
            </p:cNvPr>
            <p:cNvSpPr txBox="1"/>
            <p:nvPr/>
          </p:nvSpPr>
          <p:spPr>
            <a:xfrm>
              <a:off x="1419225" y="1990249"/>
              <a:ext cx="3723316" cy="560218"/>
            </a:xfrm>
            <a:prstGeom prst="rect">
              <a:avLst/>
            </a:prstGeom>
            <a:noFill/>
          </p:spPr>
          <p:txBody>
            <a:bodyPr wrap="square">
              <a:spAutoFit/>
            </a:bodyPr>
            <a:lstStyle/>
            <a:p>
              <a:pPr>
                <a:lnSpc>
                  <a:spcPts val="1800"/>
                </a:lnSpc>
              </a:pPr>
              <a:r>
                <a:rPr lang="en-GB" noProof="0" dirty="0"/>
                <a:t>Mixed </a:t>
              </a:r>
              <a:br>
                <a:rPr lang="en-GB" noProof="0" dirty="0"/>
              </a:br>
              <a:r>
                <a:rPr lang="en-GB" noProof="0" dirty="0"/>
                <a:t>methods</a:t>
              </a:r>
            </a:p>
          </p:txBody>
        </p:sp>
      </p:grpSp>
      <p:grpSp>
        <p:nvGrpSpPr>
          <p:cNvPr id="44" name="Group 43">
            <a:extLst>
              <a:ext uri="{FF2B5EF4-FFF2-40B4-BE49-F238E27FC236}">
                <a16:creationId xmlns:a16="http://schemas.microsoft.com/office/drawing/2014/main" id="{8DE9CB03-1645-AB5B-4538-15AF6DA1F174}"/>
              </a:ext>
            </a:extLst>
          </p:cNvPr>
          <p:cNvGrpSpPr/>
          <p:nvPr/>
        </p:nvGrpSpPr>
        <p:grpSpPr>
          <a:xfrm>
            <a:off x="6330849" y="3328546"/>
            <a:ext cx="4250951" cy="560218"/>
            <a:chOff x="891590" y="1990249"/>
            <a:chExt cx="4250951" cy="560218"/>
          </a:xfrm>
        </p:grpSpPr>
        <p:sp>
          <p:nvSpPr>
            <p:cNvPr id="45" name="TextBox 44">
              <a:extLst>
                <a:ext uri="{FF2B5EF4-FFF2-40B4-BE49-F238E27FC236}">
                  <a16:creationId xmlns:a16="http://schemas.microsoft.com/office/drawing/2014/main" id="{97125147-A5FC-28A4-94BA-6F68025BD312}"/>
                </a:ext>
              </a:extLst>
            </p:cNvPr>
            <p:cNvSpPr txBox="1"/>
            <p:nvPr/>
          </p:nvSpPr>
          <p:spPr>
            <a:xfrm>
              <a:off x="891590" y="1990249"/>
              <a:ext cx="527635" cy="461665"/>
            </a:xfrm>
            <a:prstGeom prst="rect">
              <a:avLst/>
            </a:prstGeom>
            <a:noFill/>
          </p:spPr>
          <p:txBody>
            <a:bodyPr wrap="square">
              <a:spAutoFit/>
            </a:bodyPr>
            <a:lstStyle/>
            <a:p>
              <a:r>
                <a:rPr lang="en-GB" sz="2400" noProof="0" dirty="0">
                  <a:solidFill>
                    <a:srgbClr val="FF0000"/>
                  </a:solidFill>
                  <a:latin typeface="Aptos Black" panose="020B0004020202020204" pitchFamily="34" charset="0"/>
                </a:rPr>
                <a:t>6.</a:t>
              </a:r>
              <a:endParaRPr lang="en-GB" sz="2400" b="1" noProof="0" dirty="0">
                <a:solidFill>
                  <a:srgbClr val="FF0000"/>
                </a:solidFill>
                <a:latin typeface="Aptos Black" panose="020B0004020202020204" pitchFamily="34" charset="0"/>
              </a:endParaRPr>
            </a:p>
          </p:txBody>
        </p:sp>
        <p:sp>
          <p:nvSpPr>
            <p:cNvPr id="47" name="TextBox 46">
              <a:extLst>
                <a:ext uri="{FF2B5EF4-FFF2-40B4-BE49-F238E27FC236}">
                  <a16:creationId xmlns:a16="http://schemas.microsoft.com/office/drawing/2014/main" id="{1796BD65-3EB3-FB8E-330E-DF54F0CDF3DD}"/>
                </a:ext>
              </a:extLst>
            </p:cNvPr>
            <p:cNvSpPr txBox="1"/>
            <p:nvPr/>
          </p:nvSpPr>
          <p:spPr>
            <a:xfrm>
              <a:off x="1419225" y="1990249"/>
              <a:ext cx="3723316" cy="560218"/>
            </a:xfrm>
            <a:prstGeom prst="rect">
              <a:avLst/>
            </a:prstGeom>
            <a:noFill/>
          </p:spPr>
          <p:txBody>
            <a:bodyPr wrap="square">
              <a:spAutoFit/>
            </a:bodyPr>
            <a:lstStyle/>
            <a:p>
              <a:pPr>
                <a:lnSpc>
                  <a:spcPts val="1800"/>
                </a:lnSpc>
              </a:pPr>
              <a:r>
                <a:rPr lang="en-GB" noProof="0" dirty="0"/>
                <a:t>Development of research instruments</a:t>
              </a:r>
            </a:p>
          </p:txBody>
        </p:sp>
      </p:grpSp>
      <p:grpSp>
        <p:nvGrpSpPr>
          <p:cNvPr id="48" name="Group 47">
            <a:extLst>
              <a:ext uri="{FF2B5EF4-FFF2-40B4-BE49-F238E27FC236}">
                <a16:creationId xmlns:a16="http://schemas.microsoft.com/office/drawing/2014/main" id="{0EBDDDED-8A2D-E1DE-8125-A8718E2B6C58}"/>
              </a:ext>
            </a:extLst>
          </p:cNvPr>
          <p:cNvGrpSpPr/>
          <p:nvPr/>
        </p:nvGrpSpPr>
        <p:grpSpPr>
          <a:xfrm>
            <a:off x="6330848" y="3885955"/>
            <a:ext cx="4250951" cy="658771"/>
            <a:chOff x="891590" y="1990249"/>
            <a:chExt cx="4250951" cy="658771"/>
          </a:xfrm>
        </p:grpSpPr>
        <p:sp>
          <p:nvSpPr>
            <p:cNvPr id="49" name="TextBox 48">
              <a:extLst>
                <a:ext uri="{FF2B5EF4-FFF2-40B4-BE49-F238E27FC236}">
                  <a16:creationId xmlns:a16="http://schemas.microsoft.com/office/drawing/2014/main" id="{8DFFD4B4-0621-8CCB-8BC5-25C0A7D0C183}"/>
                </a:ext>
              </a:extLst>
            </p:cNvPr>
            <p:cNvSpPr txBox="1"/>
            <p:nvPr/>
          </p:nvSpPr>
          <p:spPr>
            <a:xfrm>
              <a:off x="891590" y="1990249"/>
              <a:ext cx="527635" cy="461665"/>
            </a:xfrm>
            <a:prstGeom prst="rect">
              <a:avLst/>
            </a:prstGeom>
            <a:noFill/>
          </p:spPr>
          <p:txBody>
            <a:bodyPr wrap="square">
              <a:spAutoFit/>
            </a:bodyPr>
            <a:lstStyle/>
            <a:p>
              <a:r>
                <a:rPr lang="en-GB" sz="2400" noProof="0" dirty="0">
                  <a:solidFill>
                    <a:srgbClr val="FF0000"/>
                  </a:solidFill>
                  <a:latin typeface="Aptos Black" panose="020B0004020202020204" pitchFamily="34" charset="0"/>
                </a:rPr>
                <a:t>7.</a:t>
              </a:r>
              <a:endParaRPr lang="en-GB" sz="2400" b="1" noProof="0" dirty="0">
                <a:solidFill>
                  <a:srgbClr val="FF0000"/>
                </a:solidFill>
                <a:latin typeface="Aptos Black" panose="020B0004020202020204" pitchFamily="34" charset="0"/>
              </a:endParaRPr>
            </a:p>
          </p:txBody>
        </p:sp>
        <p:sp>
          <p:nvSpPr>
            <p:cNvPr id="50" name="TextBox 49">
              <a:extLst>
                <a:ext uri="{FF2B5EF4-FFF2-40B4-BE49-F238E27FC236}">
                  <a16:creationId xmlns:a16="http://schemas.microsoft.com/office/drawing/2014/main" id="{C427B692-6714-190F-A680-A323DAF2F256}"/>
                </a:ext>
              </a:extLst>
            </p:cNvPr>
            <p:cNvSpPr txBox="1"/>
            <p:nvPr/>
          </p:nvSpPr>
          <p:spPr>
            <a:xfrm>
              <a:off x="1419225" y="2088802"/>
              <a:ext cx="3723316" cy="560218"/>
            </a:xfrm>
            <a:prstGeom prst="rect">
              <a:avLst/>
            </a:prstGeom>
            <a:noFill/>
          </p:spPr>
          <p:txBody>
            <a:bodyPr wrap="square">
              <a:spAutoFit/>
            </a:bodyPr>
            <a:lstStyle/>
            <a:p>
              <a:pPr>
                <a:lnSpc>
                  <a:spcPts val="1800"/>
                </a:lnSpc>
              </a:pPr>
              <a:r>
                <a:rPr lang="en-GB" noProof="0" dirty="0"/>
                <a:t>Quant focus: logit and ordinal logit regressions</a:t>
              </a:r>
            </a:p>
          </p:txBody>
        </p:sp>
      </p:grpSp>
      <p:grpSp>
        <p:nvGrpSpPr>
          <p:cNvPr id="51" name="Group 50">
            <a:extLst>
              <a:ext uri="{FF2B5EF4-FFF2-40B4-BE49-F238E27FC236}">
                <a16:creationId xmlns:a16="http://schemas.microsoft.com/office/drawing/2014/main" id="{8605CCC4-044B-1692-DC0D-959C4466A1C6}"/>
              </a:ext>
            </a:extLst>
          </p:cNvPr>
          <p:cNvGrpSpPr/>
          <p:nvPr/>
        </p:nvGrpSpPr>
        <p:grpSpPr>
          <a:xfrm>
            <a:off x="6330848" y="4491198"/>
            <a:ext cx="4250951" cy="461665"/>
            <a:chOff x="891590" y="1990249"/>
            <a:chExt cx="3013660" cy="461665"/>
          </a:xfrm>
        </p:grpSpPr>
        <p:sp>
          <p:nvSpPr>
            <p:cNvPr id="52" name="TextBox 51">
              <a:extLst>
                <a:ext uri="{FF2B5EF4-FFF2-40B4-BE49-F238E27FC236}">
                  <a16:creationId xmlns:a16="http://schemas.microsoft.com/office/drawing/2014/main" id="{908995A8-E443-C472-1D98-FB190117DD36}"/>
                </a:ext>
              </a:extLst>
            </p:cNvPr>
            <p:cNvSpPr txBox="1"/>
            <p:nvPr/>
          </p:nvSpPr>
          <p:spPr>
            <a:xfrm>
              <a:off x="891590" y="1990249"/>
              <a:ext cx="527635" cy="461665"/>
            </a:xfrm>
            <a:prstGeom prst="rect">
              <a:avLst/>
            </a:prstGeom>
            <a:noFill/>
          </p:spPr>
          <p:txBody>
            <a:bodyPr wrap="square">
              <a:spAutoFit/>
            </a:bodyPr>
            <a:lstStyle/>
            <a:p>
              <a:r>
                <a:rPr lang="en-GB" sz="2400" noProof="0" dirty="0">
                  <a:solidFill>
                    <a:srgbClr val="FF0000"/>
                  </a:solidFill>
                  <a:latin typeface="Aptos Black" panose="020B0004020202020204" pitchFamily="34" charset="0"/>
                </a:rPr>
                <a:t>8.</a:t>
              </a:r>
              <a:endParaRPr lang="en-GB" sz="2400" b="1" noProof="0" dirty="0">
                <a:solidFill>
                  <a:srgbClr val="FF0000"/>
                </a:solidFill>
                <a:latin typeface="Aptos Black" panose="020B0004020202020204" pitchFamily="34" charset="0"/>
              </a:endParaRPr>
            </a:p>
          </p:txBody>
        </p:sp>
        <p:sp>
          <p:nvSpPr>
            <p:cNvPr id="53" name="TextBox 52">
              <a:extLst>
                <a:ext uri="{FF2B5EF4-FFF2-40B4-BE49-F238E27FC236}">
                  <a16:creationId xmlns:a16="http://schemas.microsoft.com/office/drawing/2014/main" id="{349700FA-9B2F-D08F-0B8C-4D9C1DE43438}"/>
                </a:ext>
              </a:extLst>
            </p:cNvPr>
            <p:cNvSpPr txBox="1"/>
            <p:nvPr/>
          </p:nvSpPr>
          <p:spPr>
            <a:xfrm>
              <a:off x="1265650" y="2088802"/>
              <a:ext cx="2639600" cy="329386"/>
            </a:xfrm>
            <a:prstGeom prst="rect">
              <a:avLst/>
            </a:prstGeom>
            <a:noFill/>
          </p:spPr>
          <p:txBody>
            <a:bodyPr wrap="square">
              <a:spAutoFit/>
            </a:bodyPr>
            <a:lstStyle>
              <a:defPPr>
                <a:defRPr lang="en-US"/>
              </a:defPPr>
              <a:lvl1pPr>
                <a:lnSpc>
                  <a:spcPts val="1800"/>
                </a:lnSpc>
                <a:defRPr/>
              </a:lvl1pPr>
            </a:lstStyle>
            <a:p>
              <a:r>
                <a:rPr lang="en-GB" noProof="0" dirty="0"/>
                <a:t>Data collection and analysis</a:t>
              </a:r>
            </a:p>
          </p:txBody>
        </p:sp>
      </p:grpSp>
    </p:spTree>
    <p:extLst>
      <p:ext uri="{BB962C8B-B14F-4D97-AF65-F5344CB8AC3E}">
        <p14:creationId xmlns:p14="http://schemas.microsoft.com/office/powerpoint/2010/main" val="423430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500"/>
                                        <p:tgtEl>
                                          <p:spTgt spid="4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5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500"/>
                                        <p:tgtEl>
                                          <p:spTgt spid="4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fade">
                                      <p:cBhvr>
                                        <p:cTn id="4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p:txBody>
          <a:bodyPr/>
          <a:lstStyle/>
          <a:p>
            <a:fld id="{330EA680-D336-4FF7-8B7A-9848BB0A1C32}" type="slidenum">
              <a:rPr lang="en-GB" noProof="0" smtClean="0"/>
              <a:t>5</a:t>
            </a:fld>
            <a:endParaRPr lang="en-GB" noProof="0" dirty="0"/>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8" name="Título 1">
            <a:extLst>
              <a:ext uri="{FF2B5EF4-FFF2-40B4-BE49-F238E27FC236}">
                <a16:creationId xmlns:a16="http://schemas.microsoft.com/office/drawing/2014/main" id="{857493D7-81AD-C0E7-3CB4-FE53814A0847}"/>
              </a:ext>
            </a:extLst>
          </p:cNvPr>
          <p:cNvSpPr txBox="1">
            <a:spLocks/>
          </p:cNvSpPr>
          <p:nvPr/>
        </p:nvSpPr>
        <p:spPr>
          <a:xfrm>
            <a:off x="891591" y="501650"/>
            <a:ext cx="2994610"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Course Tools</a:t>
            </a:r>
          </a:p>
        </p:txBody>
      </p:sp>
      <p:grpSp>
        <p:nvGrpSpPr>
          <p:cNvPr id="9" name="Group 8">
            <a:extLst>
              <a:ext uri="{FF2B5EF4-FFF2-40B4-BE49-F238E27FC236}">
                <a16:creationId xmlns:a16="http://schemas.microsoft.com/office/drawing/2014/main" id="{6E0EE50C-38E0-0256-CF32-D4D22F6DD6B2}"/>
              </a:ext>
            </a:extLst>
          </p:cNvPr>
          <p:cNvGrpSpPr/>
          <p:nvPr/>
        </p:nvGrpSpPr>
        <p:grpSpPr>
          <a:xfrm>
            <a:off x="1556374" y="1677283"/>
            <a:ext cx="4482835" cy="923341"/>
            <a:chOff x="945769" y="1100055"/>
            <a:chExt cx="4482835" cy="923341"/>
          </a:xfrm>
        </p:grpSpPr>
        <p:sp>
          <p:nvSpPr>
            <p:cNvPr id="13" name="TextBox 12">
              <a:extLst>
                <a:ext uri="{FF2B5EF4-FFF2-40B4-BE49-F238E27FC236}">
                  <a16:creationId xmlns:a16="http://schemas.microsoft.com/office/drawing/2014/main" id="{0C874568-781C-544A-2267-8B0E9B2B9FB4}"/>
                </a:ext>
              </a:extLst>
            </p:cNvPr>
            <p:cNvSpPr txBox="1"/>
            <p:nvPr/>
          </p:nvSpPr>
          <p:spPr>
            <a:xfrm>
              <a:off x="945769" y="1100055"/>
              <a:ext cx="1861268" cy="328680"/>
            </a:xfrm>
            <a:prstGeom prst="rect">
              <a:avLst/>
            </a:prstGeom>
            <a:noFill/>
          </p:spPr>
          <p:txBody>
            <a:bodyPr wrap="square">
              <a:spAutoFit/>
            </a:bodyPr>
            <a:lstStyle/>
            <a:p>
              <a:pPr>
                <a:lnSpc>
                  <a:spcPts val="1800"/>
                </a:lnSpc>
              </a:pPr>
              <a:r>
                <a:rPr lang="en-GB" b="1" noProof="0" dirty="0">
                  <a:highlight>
                    <a:srgbClr val="FFC000"/>
                  </a:highlight>
                </a:rPr>
                <a:t>Main Sessions</a:t>
              </a:r>
              <a:endParaRPr lang="en-GB" b="1" noProof="0" dirty="0">
                <a:solidFill>
                  <a:schemeClr val="accent5"/>
                </a:solidFill>
                <a:highlight>
                  <a:srgbClr val="FFC000"/>
                </a:highlight>
                <a:latin typeface="Corbel" panose="020B0503020204020204" pitchFamily="34" charset="0"/>
              </a:endParaRPr>
            </a:p>
          </p:txBody>
        </p:sp>
        <p:sp>
          <p:nvSpPr>
            <p:cNvPr id="14" name="TextBox 13">
              <a:extLst>
                <a:ext uri="{FF2B5EF4-FFF2-40B4-BE49-F238E27FC236}">
                  <a16:creationId xmlns:a16="http://schemas.microsoft.com/office/drawing/2014/main" id="{D94555E0-C2FF-0366-0A23-22CF87B9E422}"/>
                </a:ext>
              </a:extLst>
            </p:cNvPr>
            <p:cNvSpPr txBox="1"/>
            <p:nvPr/>
          </p:nvSpPr>
          <p:spPr>
            <a:xfrm>
              <a:off x="945769" y="1500176"/>
              <a:ext cx="4482835" cy="523220"/>
            </a:xfrm>
            <a:prstGeom prst="rect">
              <a:avLst/>
            </a:prstGeom>
            <a:noFill/>
          </p:spPr>
          <p:txBody>
            <a:bodyPr wrap="square">
              <a:spAutoFit/>
            </a:bodyPr>
            <a:lstStyle/>
            <a:p>
              <a:pPr marL="285750" indent="-285750">
                <a:buFont typeface="Arial" panose="020B0604020202020204" pitchFamily="34" charset="0"/>
                <a:buChar char="•"/>
              </a:pPr>
              <a:r>
                <a:rPr lang="en-GB" sz="1400" noProof="0" dirty="0"/>
                <a:t>Mondays and Wednesdays, 11:00 am to 1:00 pm</a:t>
              </a:r>
            </a:p>
            <a:p>
              <a:pPr marL="285750" indent="-285750">
                <a:buFont typeface="Arial" panose="020B0604020202020204" pitchFamily="34" charset="0"/>
                <a:buChar char="•"/>
              </a:pPr>
              <a:r>
                <a:rPr lang="en-GB" sz="1400" noProof="0" dirty="0"/>
                <a:t>PC use permitted during sessions with prior notice</a:t>
              </a:r>
            </a:p>
          </p:txBody>
        </p:sp>
      </p:grpSp>
      <p:sp>
        <p:nvSpPr>
          <p:cNvPr id="6" name="Footer Placeholder 4">
            <a:extLst>
              <a:ext uri="{FF2B5EF4-FFF2-40B4-BE49-F238E27FC236}">
                <a16:creationId xmlns:a16="http://schemas.microsoft.com/office/drawing/2014/main" id="{ABC54402-77C5-05B0-AC09-A83563E4ABD5}"/>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grpSp>
        <p:nvGrpSpPr>
          <p:cNvPr id="16" name="Group 15">
            <a:extLst>
              <a:ext uri="{FF2B5EF4-FFF2-40B4-BE49-F238E27FC236}">
                <a16:creationId xmlns:a16="http://schemas.microsoft.com/office/drawing/2014/main" id="{0F807A56-1726-8D75-B159-21C76413BF3C}"/>
              </a:ext>
            </a:extLst>
          </p:cNvPr>
          <p:cNvGrpSpPr/>
          <p:nvPr/>
        </p:nvGrpSpPr>
        <p:grpSpPr>
          <a:xfrm>
            <a:off x="1556373" y="3437319"/>
            <a:ext cx="4482835" cy="1138785"/>
            <a:chOff x="945769" y="1100055"/>
            <a:chExt cx="4482835" cy="1138785"/>
          </a:xfrm>
        </p:grpSpPr>
        <p:sp>
          <p:nvSpPr>
            <p:cNvPr id="21" name="TextBox 20">
              <a:extLst>
                <a:ext uri="{FF2B5EF4-FFF2-40B4-BE49-F238E27FC236}">
                  <a16:creationId xmlns:a16="http://schemas.microsoft.com/office/drawing/2014/main" id="{47139950-65A6-4972-DDB0-F21DC63A3913}"/>
                </a:ext>
              </a:extLst>
            </p:cNvPr>
            <p:cNvSpPr txBox="1"/>
            <p:nvPr/>
          </p:nvSpPr>
          <p:spPr>
            <a:xfrm>
              <a:off x="945769" y="1100055"/>
              <a:ext cx="1861268" cy="328680"/>
            </a:xfrm>
            <a:prstGeom prst="rect">
              <a:avLst/>
            </a:prstGeom>
            <a:noFill/>
          </p:spPr>
          <p:txBody>
            <a:bodyPr wrap="square">
              <a:spAutoFit/>
            </a:bodyPr>
            <a:lstStyle/>
            <a:p>
              <a:pPr>
                <a:lnSpc>
                  <a:spcPts val="1800"/>
                </a:lnSpc>
              </a:pPr>
              <a:r>
                <a:rPr lang="en-GB" b="1" noProof="0" dirty="0">
                  <a:highlight>
                    <a:srgbClr val="FFC000"/>
                  </a:highlight>
                </a:rPr>
                <a:t>Office Hours</a:t>
              </a:r>
              <a:endParaRPr lang="en-GB" b="1" noProof="0" dirty="0">
                <a:solidFill>
                  <a:schemeClr val="accent5"/>
                </a:solidFill>
                <a:highlight>
                  <a:srgbClr val="FFC000"/>
                </a:highlight>
                <a:latin typeface="Corbel" panose="020B0503020204020204" pitchFamily="34" charset="0"/>
              </a:endParaRPr>
            </a:p>
          </p:txBody>
        </p:sp>
        <p:sp>
          <p:nvSpPr>
            <p:cNvPr id="22" name="TextBox 21">
              <a:extLst>
                <a:ext uri="{FF2B5EF4-FFF2-40B4-BE49-F238E27FC236}">
                  <a16:creationId xmlns:a16="http://schemas.microsoft.com/office/drawing/2014/main" id="{FAA814C7-EB7C-29B8-FDB3-B6F947788F40}"/>
                </a:ext>
              </a:extLst>
            </p:cNvPr>
            <p:cNvSpPr txBox="1"/>
            <p:nvPr/>
          </p:nvSpPr>
          <p:spPr>
            <a:xfrm>
              <a:off x="945769" y="1500176"/>
              <a:ext cx="4482835" cy="738664"/>
            </a:xfrm>
            <a:prstGeom prst="rect">
              <a:avLst/>
            </a:prstGeom>
            <a:noFill/>
          </p:spPr>
          <p:txBody>
            <a:bodyPr wrap="square">
              <a:spAutoFit/>
            </a:bodyPr>
            <a:lstStyle/>
            <a:p>
              <a:pPr marL="285750" indent="-285750">
                <a:buFont typeface="Arial" panose="020B0604020202020204" pitchFamily="34" charset="0"/>
                <a:buChar char="•"/>
              </a:pPr>
              <a:r>
                <a:rPr lang="en-GB" sz="1400" noProof="0" dirty="0"/>
                <a:t>Fridays, 08:00 am to 10:00 am</a:t>
              </a:r>
            </a:p>
            <a:p>
              <a:pPr marL="285750" indent="-285750">
                <a:buFont typeface="Arial" panose="020B0604020202020204" pitchFamily="34" charset="0"/>
                <a:buChar char="•"/>
              </a:pPr>
              <a:r>
                <a:rPr lang="en-GB" sz="1400" noProof="0" dirty="0"/>
                <a:t>Short, personalized sessions with limited availability, subject to students’ needs</a:t>
              </a:r>
            </a:p>
          </p:txBody>
        </p:sp>
      </p:grpSp>
      <p:grpSp>
        <p:nvGrpSpPr>
          <p:cNvPr id="26" name="Group 25">
            <a:extLst>
              <a:ext uri="{FF2B5EF4-FFF2-40B4-BE49-F238E27FC236}">
                <a16:creationId xmlns:a16="http://schemas.microsoft.com/office/drawing/2014/main" id="{8925B521-0B3D-76AD-0F65-C90C35384F10}"/>
              </a:ext>
            </a:extLst>
          </p:cNvPr>
          <p:cNvGrpSpPr/>
          <p:nvPr/>
        </p:nvGrpSpPr>
        <p:grpSpPr>
          <a:xfrm>
            <a:off x="6255997" y="1682970"/>
            <a:ext cx="4482835" cy="1354228"/>
            <a:chOff x="945769" y="1100055"/>
            <a:chExt cx="4482835" cy="1354228"/>
          </a:xfrm>
        </p:grpSpPr>
        <p:sp>
          <p:nvSpPr>
            <p:cNvPr id="27" name="TextBox 26">
              <a:extLst>
                <a:ext uri="{FF2B5EF4-FFF2-40B4-BE49-F238E27FC236}">
                  <a16:creationId xmlns:a16="http://schemas.microsoft.com/office/drawing/2014/main" id="{C0DAE944-0FC5-9A72-E6AE-A7E90E176860}"/>
                </a:ext>
              </a:extLst>
            </p:cNvPr>
            <p:cNvSpPr txBox="1"/>
            <p:nvPr/>
          </p:nvSpPr>
          <p:spPr>
            <a:xfrm>
              <a:off x="945769" y="1100055"/>
              <a:ext cx="1861268" cy="328680"/>
            </a:xfrm>
            <a:prstGeom prst="rect">
              <a:avLst/>
            </a:prstGeom>
            <a:noFill/>
          </p:spPr>
          <p:txBody>
            <a:bodyPr wrap="square">
              <a:spAutoFit/>
            </a:bodyPr>
            <a:lstStyle/>
            <a:p>
              <a:pPr>
                <a:lnSpc>
                  <a:spcPts val="1800"/>
                </a:lnSpc>
              </a:pPr>
              <a:r>
                <a:rPr lang="en-GB" b="1" noProof="0" dirty="0">
                  <a:highlight>
                    <a:srgbClr val="FFC000"/>
                  </a:highlight>
                </a:rPr>
                <a:t>Course Folder</a:t>
              </a:r>
              <a:endParaRPr lang="en-GB" b="1" noProof="0" dirty="0">
                <a:solidFill>
                  <a:schemeClr val="accent5"/>
                </a:solidFill>
                <a:highlight>
                  <a:srgbClr val="FFC000"/>
                </a:highlight>
                <a:latin typeface="Corbel" panose="020B0503020204020204" pitchFamily="34" charset="0"/>
              </a:endParaRPr>
            </a:p>
          </p:txBody>
        </p:sp>
        <p:sp>
          <p:nvSpPr>
            <p:cNvPr id="28" name="TextBox 27">
              <a:extLst>
                <a:ext uri="{FF2B5EF4-FFF2-40B4-BE49-F238E27FC236}">
                  <a16:creationId xmlns:a16="http://schemas.microsoft.com/office/drawing/2014/main" id="{D1728A4A-D76E-5057-C4A7-2B227FAA73EF}"/>
                </a:ext>
              </a:extLst>
            </p:cNvPr>
            <p:cNvSpPr txBox="1"/>
            <p:nvPr/>
          </p:nvSpPr>
          <p:spPr>
            <a:xfrm>
              <a:off x="945769" y="1500176"/>
              <a:ext cx="4482835" cy="954107"/>
            </a:xfrm>
            <a:prstGeom prst="rect">
              <a:avLst/>
            </a:prstGeom>
            <a:noFill/>
          </p:spPr>
          <p:txBody>
            <a:bodyPr wrap="square">
              <a:spAutoFit/>
            </a:bodyPr>
            <a:lstStyle/>
            <a:p>
              <a:pPr marL="285750" indent="-285750">
                <a:buFont typeface="Arial" panose="020B0604020202020204" pitchFamily="34" charset="0"/>
                <a:buChar char="•"/>
              </a:pPr>
              <a:r>
                <a:rPr lang="en-GB" sz="1400" noProof="0" dirty="0"/>
                <a:t>Directory hosted on OneDrive</a:t>
              </a:r>
            </a:p>
            <a:p>
              <a:pPr marL="285750" indent="-285750">
                <a:buFont typeface="Arial" panose="020B0604020202020204" pitchFamily="34" charset="0"/>
                <a:buChar char="•"/>
              </a:pPr>
              <a:r>
                <a:rPr lang="en-GB" sz="1400" noProof="0" dirty="0"/>
                <a:t>Includes: Syllabus, presentations, workshops, datasets, references</a:t>
              </a:r>
            </a:p>
            <a:p>
              <a:pPr marL="285750" indent="-285750">
                <a:buFont typeface="Arial" panose="020B0604020202020204" pitchFamily="34" charset="0"/>
                <a:buChar char="•"/>
              </a:pPr>
              <a:r>
                <a:rPr lang="en-GB" sz="1400" noProof="0" dirty="0"/>
                <a:t>QR code links to 2026 – I Data Analysis</a:t>
              </a:r>
            </a:p>
          </p:txBody>
        </p:sp>
      </p:grpSp>
      <p:grpSp>
        <p:nvGrpSpPr>
          <p:cNvPr id="33" name="Group 32">
            <a:extLst>
              <a:ext uri="{FF2B5EF4-FFF2-40B4-BE49-F238E27FC236}">
                <a16:creationId xmlns:a16="http://schemas.microsoft.com/office/drawing/2014/main" id="{782C4407-80B5-A4C7-EC4F-56A138B5343E}"/>
              </a:ext>
            </a:extLst>
          </p:cNvPr>
          <p:cNvGrpSpPr/>
          <p:nvPr/>
        </p:nvGrpSpPr>
        <p:grpSpPr>
          <a:xfrm>
            <a:off x="6255997" y="3437319"/>
            <a:ext cx="4488539" cy="1742793"/>
            <a:chOff x="6096000" y="2531411"/>
            <a:chExt cx="4488539" cy="1742793"/>
          </a:xfrm>
        </p:grpSpPr>
        <p:pic>
          <p:nvPicPr>
            <p:cNvPr id="15" name="Picture 14">
              <a:extLst>
                <a:ext uri="{FF2B5EF4-FFF2-40B4-BE49-F238E27FC236}">
                  <a16:creationId xmlns:a16="http://schemas.microsoft.com/office/drawing/2014/main" id="{0B3E91BF-BCF4-60AE-2590-5043CB4E44DB}"/>
                </a:ext>
              </a:extLst>
            </p:cNvPr>
            <p:cNvPicPr>
              <a:picLocks noChangeAspect="1"/>
            </p:cNvPicPr>
            <p:nvPr/>
          </p:nvPicPr>
          <p:blipFill>
            <a:blip r:embed="rId2"/>
            <a:stretch>
              <a:fillRect/>
            </a:stretch>
          </p:blipFill>
          <p:spPr>
            <a:xfrm>
              <a:off x="9377979" y="2539875"/>
              <a:ext cx="1206560" cy="1734329"/>
            </a:xfrm>
            <a:prstGeom prst="rect">
              <a:avLst/>
            </a:prstGeom>
          </p:spPr>
        </p:pic>
        <p:grpSp>
          <p:nvGrpSpPr>
            <p:cNvPr id="30" name="Group 29">
              <a:extLst>
                <a:ext uri="{FF2B5EF4-FFF2-40B4-BE49-F238E27FC236}">
                  <a16:creationId xmlns:a16="http://schemas.microsoft.com/office/drawing/2014/main" id="{B23C42E0-80E7-DF06-C286-B6154D8318F8}"/>
                </a:ext>
              </a:extLst>
            </p:cNvPr>
            <p:cNvGrpSpPr/>
            <p:nvPr/>
          </p:nvGrpSpPr>
          <p:grpSpPr>
            <a:xfrm>
              <a:off x="6096000" y="2531411"/>
              <a:ext cx="3185183" cy="1742793"/>
              <a:chOff x="945769" y="1100055"/>
              <a:chExt cx="3185183" cy="1742793"/>
            </a:xfrm>
          </p:grpSpPr>
          <p:sp>
            <p:nvSpPr>
              <p:cNvPr id="31" name="TextBox 30">
                <a:extLst>
                  <a:ext uri="{FF2B5EF4-FFF2-40B4-BE49-F238E27FC236}">
                    <a16:creationId xmlns:a16="http://schemas.microsoft.com/office/drawing/2014/main" id="{DDD7194E-1A0D-27CF-C0FF-68F468635218}"/>
                  </a:ext>
                </a:extLst>
              </p:cNvPr>
              <p:cNvSpPr txBox="1"/>
              <p:nvPr/>
            </p:nvSpPr>
            <p:spPr>
              <a:xfrm>
                <a:off x="945769" y="1100055"/>
                <a:ext cx="3185183" cy="791050"/>
              </a:xfrm>
              <a:prstGeom prst="rect">
                <a:avLst/>
              </a:prstGeom>
              <a:noFill/>
            </p:spPr>
            <p:txBody>
              <a:bodyPr wrap="square">
                <a:spAutoFit/>
              </a:bodyPr>
              <a:lstStyle/>
              <a:p>
                <a:pPr>
                  <a:lnSpc>
                    <a:spcPts val="1800"/>
                  </a:lnSpc>
                </a:pPr>
                <a:r>
                  <a:rPr lang="en-GB" b="1" noProof="0" dirty="0">
                    <a:highlight>
                      <a:srgbClr val="FFC000"/>
                    </a:highlight>
                  </a:rPr>
                  <a:t>Research Design Qualitative, Quantitative, and Mixed Methods and Approaches</a:t>
                </a:r>
              </a:p>
            </p:txBody>
          </p:sp>
          <p:sp>
            <p:nvSpPr>
              <p:cNvPr id="32" name="TextBox 31">
                <a:extLst>
                  <a:ext uri="{FF2B5EF4-FFF2-40B4-BE49-F238E27FC236}">
                    <a16:creationId xmlns:a16="http://schemas.microsoft.com/office/drawing/2014/main" id="{03BD220D-114F-1C73-6D8D-BEABE5092EEE}"/>
                  </a:ext>
                </a:extLst>
              </p:cNvPr>
              <p:cNvSpPr txBox="1"/>
              <p:nvPr/>
            </p:nvSpPr>
            <p:spPr>
              <a:xfrm>
                <a:off x="945769" y="2104184"/>
                <a:ext cx="2301240" cy="738664"/>
              </a:xfrm>
              <a:prstGeom prst="rect">
                <a:avLst/>
              </a:prstGeom>
              <a:noFill/>
            </p:spPr>
            <p:txBody>
              <a:bodyPr wrap="square">
                <a:spAutoFit/>
              </a:bodyPr>
              <a:lstStyle/>
              <a:p>
                <a:pPr marL="285750" indent="-285750">
                  <a:buFont typeface="Arial" panose="020B0604020202020204" pitchFamily="34" charset="0"/>
                  <a:buChar char="•"/>
                </a:pPr>
                <a:r>
                  <a:rPr lang="en-GB" sz="1400" b="1" noProof="0" dirty="0"/>
                  <a:t>Authors</a:t>
                </a:r>
                <a:r>
                  <a:rPr lang="en-GB" sz="1400" noProof="0" dirty="0"/>
                  <a:t>: John W. Creswell, David J. Creswell (2023 edition)</a:t>
                </a:r>
              </a:p>
            </p:txBody>
          </p:sp>
        </p:grpSp>
      </p:grpSp>
    </p:spTree>
    <p:extLst>
      <p:ext uri="{BB962C8B-B14F-4D97-AF65-F5344CB8AC3E}">
        <p14:creationId xmlns:p14="http://schemas.microsoft.com/office/powerpoint/2010/main" val="2841330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7198A7-971B-B2EA-2104-4FE2597F18C2}"/>
              </a:ext>
            </a:extLst>
          </p:cNvPr>
          <p:cNvSpPr/>
          <p:nvPr/>
        </p:nvSpPr>
        <p:spPr>
          <a:xfrm>
            <a:off x="0" y="0"/>
            <a:ext cx="12192000" cy="6865082"/>
          </a:xfrm>
          <a:prstGeom prst="rect">
            <a:avLst/>
          </a:prstGeom>
          <a:gradFill flip="none" rotWithShape="1">
            <a:gsLst>
              <a:gs pos="85000">
                <a:srgbClr val="F22D1C"/>
              </a:gs>
              <a:gs pos="7000">
                <a:srgbClr val="FF5050">
                  <a:alpha val="94902"/>
                </a:srgbClr>
              </a:gs>
              <a:gs pos="0">
                <a:srgbClr val="FF7C80"/>
              </a:gs>
            </a:gsLst>
            <a:lin ang="12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Date Placeholder 3">
            <a:extLst>
              <a:ext uri="{FF2B5EF4-FFF2-40B4-BE49-F238E27FC236}">
                <a16:creationId xmlns:a16="http://schemas.microsoft.com/office/drawing/2014/main" id="{E21635F4-97DA-588C-F2E6-A18325B041CE}"/>
              </a:ext>
            </a:extLst>
          </p:cNvPr>
          <p:cNvSpPr>
            <a:spLocks noGrp="1"/>
          </p:cNvSpPr>
          <p:nvPr>
            <p:ph type="dt" sz="half" idx="10"/>
          </p:nvPr>
        </p:nvSpPr>
        <p:spPr>
          <a:xfrm>
            <a:off x="11003616" y="136525"/>
            <a:ext cx="1117563" cy="365125"/>
          </a:xfrm>
        </p:spPr>
        <p:txBody>
          <a:bodyPr/>
          <a:lstStyle/>
          <a:p>
            <a:fld id="{27AB8C26-330F-4C13-A9D7-A5B1D2394DAC}" type="datetime1">
              <a:rPr lang="en-GB" noProof="0" smtClean="0">
                <a:solidFill>
                  <a:schemeClr val="bg1"/>
                </a:solidFill>
              </a:rPr>
              <a:t>27/03/2026</a:t>
            </a:fld>
            <a:endParaRPr lang="en-GB" noProof="0" dirty="0">
              <a:solidFill>
                <a:schemeClr val="bg1"/>
              </a:solidFill>
            </a:endParaRPr>
          </a:p>
        </p:txBody>
      </p:sp>
      <p:sp>
        <p:nvSpPr>
          <p:cNvPr id="29" name="TextBox 28">
            <a:extLst>
              <a:ext uri="{FF2B5EF4-FFF2-40B4-BE49-F238E27FC236}">
                <a16:creationId xmlns:a16="http://schemas.microsoft.com/office/drawing/2014/main" id="{26652BBE-B809-0680-6130-191127E3B67D}"/>
              </a:ext>
            </a:extLst>
          </p:cNvPr>
          <p:cNvSpPr txBox="1"/>
          <p:nvPr/>
        </p:nvSpPr>
        <p:spPr>
          <a:xfrm>
            <a:off x="869960" y="2305615"/>
            <a:ext cx="9085025"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i="0" u="none" strike="noStrike" kern="1200" cap="none" spc="0" normalizeH="0" baseline="0" noProof="0" dirty="0">
                <a:ln>
                  <a:noFill/>
                </a:ln>
                <a:solidFill>
                  <a:prstClr val="white"/>
                </a:solidFill>
                <a:effectLst/>
                <a:uLnTx/>
                <a:uFillTx/>
                <a:latin typeface="Aptos SemiBold" panose="020B0004020202020204" pitchFamily="34" charset="0"/>
                <a:ea typeface="+mn-ea"/>
                <a:cs typeface="+mn-cs"/>
              </a:rPr>
              <a:t>The course objectives are to foster competencies in the </a:t>
            </a:r>
            <a:r>
              <a:rPr kumimoji="0" lang="en-GB" sz="2800" i="0" u="none" strike="noStrike" kern="1200" cap="none" spc="0" normalizeH="0" baseline="0" noProof="0" dirty="0">
                <a:ln>
                  <a:noFill/>
                </a:ln>
                <a:solidFill>
                  <a:schemeClr val="bg1"/>
                </a:solidFill>
                <a:effectLst/>
                <a:highlight>
                  <a:srgbClr val="000000"/>
                </a:highlight>
                <a:uLnTx/>
                <a:uFillTx/>
                <a:latin typeface="Aptos SemiBold" panose="020B0004020202020204" pitchFamily="34" charset="0"/>
                <a:ea typeface="+mn-ea"/>
                <a:cs typeface="+mn-cs"/>
              </a:rPr>
              <a:t>collection, management, processing, and analysis </a:t>
            </a:r>
            <a:r>
              <a:rPr kumimoji="0" lang="en-GB" sz="2800" i="0" u="none" strike="noStrike" kern="1200" cap="none" spc="0" normalizeH="0" baseline="0" noProof="0" dirty="0">
                <a:ln>
                  <a:noFill/>
                </a:ln>
                <a:solidFill>
                  <a:prstClr val="white"/>
                </a:solidFill>
                <a:effectLst/>
                <a:uLnTx/>
                <a:uFillTx/>
                <a:latin typeface="Aptos SemiBold" panose="020B0004020202020204" pitchFamily="34" charset="0"/>
                <a:ea typeface="+mn-ea"/>
                <a:cs typeface="+mn-cs"/>
              </a:rPr>
              <a:t>of both quantitative and qualitative data, with the aim of producing research projects that are coherent, accessible, and well‑structured.</a:t>
            </a:r>
            <a:endParaRPr kumimoji="0" lang="en-GB" sz="2800" b="0" i="0" u="none" strike="noStrike" kern="1200" cap="none" spc="0" normalizeH="0" baseline="0" noProof="0" dirty="0">
              <a:ln>
                <a:noFill/>
              </a:ln>
              <a:solidFill>
                <a:prstClr val="white"/>
              </a:solidFill>
              <a:effectLst/>
              <a:uLnTx/>
              <a:uFillTx/>
              <a:latin typeface="Aptos SemiBold" panose="020B0004020202020204" pitchFamily="34" charset="0"/>
              <a:ea typeface="+mn-ea"/>
              <a:cs typeface="+mn-cs"/>
            </a:endParaRPr>
          </a:p>
        </p:txBody>
      </p:sp>
      <p:sp>
        <p:nvSpPr>
          <p:cNvPr id="7" name="Slide Number Placeholder 2">
            <a:extLst>
              <a:ext uri="{FF2B5EF4-FFF2-40B4-BE49-F238E27FC236}">
                <a16:creationId xmlns:a16="http://schemas.microsoft.com/office/drawing/2014/main" id="{E6A80B91-F904-D05B-04D7-D39A8A0981BA}"/>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bg1"/>
                </a:solidFill>
              </a:rPr>
              <a:t>6</a:t>
            </a:fld>
            <a:endParaRPr lang="en-GB" noProof="0" dirty="0">
              <a:solidFill>
                <a:schemeClr val="bg1"/>
              </a:solidFill>
            </a:endParaRPr>
          </a:p>
        </p:txBody>
      </p:sp>
    </p:spTree>
    <p:extLst>
      <p:ext uri="{BB962C8B-B14F-4D97-AF65-F5344CB8AC3E}">
        <p14:creationId xmlns:p14="http://schemas.microsoft.com/office/powerpoint/2010/main" val="3677335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p:txBody>
          <a:bodyPr/>
          <a:lstStyle/>
          <a:p>
            <a:fld id="{330EA680-D336-4FF7-8B7A-9848BB0A1C32}" type="slidenum">
              <a:rPr lang="en-GB" noProof="0" smtClean="0"/>
              <a:t>7</a:t>
            </a:fld>
            <a:endParaRPr lang="en-GB" noProof="0" dirty="0"/>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6" name="TextBox 5">
            <a:extLst>
              <a:ext uri="{FF2B5EF4-FFF2-40B4-BE49-F238E27FC236}">
                <a16:creationId xmlns:a16="http://schemas.microsoft.com/office/drawing/2014/main" id="{11306DBE-0EB9-FEE7-DF7E-6AE0F204F7CB}"/>
              </a:ext>
            </a:extLst>
          </p:cNvPr>
          <p:cNvSpPr txBox="1"/>
          <p:nvPr/>
        </p:nvSpPr>
        <p:spPr>
          <a:xfrm>
            <a:off x="886671" y="1147983"/>
            <a:ext cx="5981587" cy="646331"/>
          </a:xfrm>
          <a:prstGeom prst="rect">
            <a:avLst/>
          </a:prstGeom>
          <a:noFill/>
        </p:spPr>
        <p:txBody>
          <a:bodyPr wrap="square">
            <a:spAutoFit/>
          </a:bodyPr>
          <a:lstStyle/>
          <a:p>
            <a:r>
              <a:rPr lang="en-GB" b="1" noProof="0" dirty="0"/>
              <a:t>We will pursue the course objectives through two complementary approaches</a:t>
            </a:r>
            <a:endParaRPr lang="en-GB" b="1" noProof="0" dirty="0">
              <a:latin typeface="Corbel" panose="020B0503020204020204" pitchFamily="34" charset="0"/>
            </a:endParaRPr>
          </a:p>
        </p:txBody>
      </p:sp>
      <p:sp>
        <p:nvSpPr>
          <p:cNvPr id="8" name="Título 1">
            <a:extLst>
              <a:ext uri="{FF2B5EF4-FFF2-40B4-BE49-F238E27FC236}">
                <a16:creationId xmlns:a16="http://schemas.microsoft.com/office/drawing/2014/main" id="{857493D7-81AD-C0E7-3CB4-FE53814A0847}"/>
              </a:ext>
            </a:extLst>
          </p:cNvPr>
          <p:cNvSpPr txBox="1">
            <a:spLocks/>
          </p:cNvSpPr>
          <p:nvPr/>
        </p:nvSpPr>
        <p:spPr>
          <a:xfrm>
            <a:off x="891591" y="501651"/>
            <a:ext cx="2994610" cy="64633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Course Tools</a:t>
            </a:r>
          </a:p>
        </p:txBody>
      </p:sp>
      <p:sp>
        <p:nvSpPr>
          <p:cNvPr id="12" name="TextBox 11">
            <a:extLst>
              <a:ext uri="{FF2B5EF4-FFF2-40B4-BE49-F238E27FC236}">
                <a16:creationId xmlns:a16="http://schemas.microsoft.com/office/drawing/2014/main" id="{C173E3E7-12EB-F386-F41F-B4216B3B8070}"/>
              </a:ext>
            </a:extLst>
          </p:cNvPr>
          <p:cNvSpPr txBox="1"/>
          <p:nvPr/>
        </p:nvSpPr>
        <p:spPr>
          <a:xfrm>
            <a:off x="862935" y="2221120"/>
            <a:ext cx="828588" cy="923330"/>
          </a:xfrm>
          <a:prstGeom prst="rect">
            <a:avLst/>
          </a:prstGeom>
          <a:noFill/>
        </p:spPr>
        <p:txBody>
          <a:bodyPr wrap="square">
            <a:spAutoFit/>
          </a:bodyPr>
          <a:lstStyle/>
          <a:p>
            <a:r>
              <a:rPr lang="en-GB" sz="5400" noProof="0" dirty="0">
                <a:solidFill>
                  <a:srgbClr val="FF0000"/>
                </a:solidFill>
                <a:latin typeface="Aptos Black" panose="020B0004020202020204" pitchFamily="34" charset="0"/>
              </a:rPr>
              <a:t>1.</a:t>
            </a:r>
            <a:endParaRPr lang="en-GB" sz="5400" b="1" noProof="0" dirty="0">
              <a:solidFill>
                <a:srgbClr val="FF0000"/>
              </a:solidFill>
              <a:latin typeface="Aptos Black" panose="020B0004020202020204" pitchFamily="34" charset="0"/>
            </a:endParaRPr>
          </a:p>
        </p:txBody>
      </p:sp>
      <p:sp>
        <p:nvSpPr>
          <p:cNvPr id="13" name="TextBox 12">
            <a:extLst>
              <a:ext uri="{FF2B5EF4-FFF2-40B4-BE49-F238E27FC236}">
                <a16:creationId xmlns:a16="http://schemas.microsoft.com/office/drawing/2014/main" id="{0C874568-781C-544A-2267-8B0E9B2B9FB4}"/>
              </a:ext>
            </a:extLst>
          </p:cNvPr>
          <p:cNvSpPr txBox="1"/>
          <p:nvPr/>
        </p:nvSpPr>
        <p:spPr>
          <a:xfrm>
            <a:off x="1691522" y="2374369"/>
            <a:ext cx="6773209" cy="1021883"/>
          </a:xfrm>
          <a:prstGeom prst="rect">
            <a:avLst/>
          </a:prstGeom>
          <a:noFill/>
        </p:spPr>
        <p:txBody>
          <a:bodyPr wrap="square">
            <a:spAutoFit/>
          </a:bodyPr>
          <a:lstStyle/>
          <a:p>
            <a:pPr>
              <a:lnSpc>
                <a:spcPts val="1800"/>
              </a:lnSpc>
            </a:pPr>
            <a:r>
              <a:rPr lang="en-GB" b="1" noProof="0" dirty="0">
                <a:highlight>
                  <a:srgbClr val="FFC000"/>
                </a:highlight>
              </a:rPr>
              <a:t>Practical engagement with data and statistical software</a:t>
            </a:r>
            <a:br>
              <a:rPr lang="en-GB" b="1" noProof="0" dirty="0">
                <a:highlight>
                  <a:srgbClr val="FFC000"/>
                </a:highlight>
              </a:rPr>
            </a:br>
            <a:br>
              <a:rPr lang="en-GB" b="1" noProof="0" dirty="0">
                <a:highlight>
                  <a:srgbClr val="FFC000"/>
                </a:highlight>
              </a:rPr>
            </a:br>
            <a:r>
              <a:rPr lang="en-GB" noProof="0" dirty="0">
                <a:solidFill>
                  <a:schemeClr val="tx1">
                    <a:lumMod val="65000"/>
                    <a:lumOff val="35000"/>
                  </a:schemeClr>
                </a:solidFill>
                <a:latin typeface="Aptos Light" panose="020B0004020202020204" pitchFamily="34" charset="0"/>
              </a:rPr>
              <a:t>You will work directly with datasets using specialized analytical tools to strengthen your technical proficiency and applied research skills</a:t>
            </a:r>
          </a:p>
        </p:txBody>
      </p:sp>
      <p:sp>
        <p:nvSpPr>
          <p:cNvPr id="5" name="TextBox 4">
            <a:extLst>
              <a:ext uri="{FF2B5EF4-FFF2-40B4-BE49-F238E27FC236}">
                <a16:creationId xmlns:a16="http://schemas.microsoft.com/office/drawing/2014/main" id="{788E4500-4E4F-5C62-20EF-99F5A6D7A768}"/>
              </a:ext>
            </a:extLst>
          </p:cNvPr>
          <p:cNvSpPr txBox="1"/>
          <p:nvPr/>
        </p:nvSpPr>
        <p:spPr>
          <a:xfrm>
            <a:off x="863045" y="4014170"/>
            <a:ext cx="828588" cy="923330"/>
          </a:xfrm>
          <a:prstGeom prst="rect">
            <a:avLst/>
          </a:prstGeom>
          <a:noFill/>
        </p:spPr>
        <p:txBody>
          <a:bodyPr wrap="square">
            <a:spAutoFit/>
          </a:bodyPr>
          <a:lstStyle/>
          <a:p>
            <a:r>
              <a:rPr lang="en-GB" sz="5400" noProof="0" dirty="0">
                <a:solidFill>
                  <a:srgbClr val="FF0000"/>
                </a:solidFill>
                <a:latin typeface="Aptos Black" panose="020B0004020202020204" pitchFamily="34" charset="0"/>
              </a:rPr>
              <a:t>2.</a:t>
            </a:r>
            <a:endParaRPr lang="en-GB" sz="5400" b="1" noProof="0" dirty="0">
              <a:solidFill>
                <a:srgbClr val="FF0000"/>
              </a:solidFill>
              <a:latin typeface="Aptos Black" panose="020B0004020202020204" pitchFamily="34" charset="0"/>
            </a:endParaRPr>
          </a:p>
        </p:txBody>
      </p:sp>
      <p:sp>
        <p:nvSpPr>
          <p:cNvPr id="4098" name="TextBox 4097">
            <a:extLst>
              <a:ext uri="{FF2B5EF4-FFF2-40B4-BE49-F238E27FC236}">
                <a16:creationId xmlns:a16="http://schemas.microsoft.com/office/drawing/2014/main" id="{BDDAFC6E-3F79-D4B1-DE83-12E8B4A7A740}"/>
              </a:ext>
            </a:extLst>
          </p:cNvPr>
          <p:cNvSpPr txBox="1"/>
          <p:nvPr/>
        </p:nvSpPr>
        <p:spPr>
          <a:xfrm>
            <a:off x="1691632" y="4167419"/>
            <a:ext cx="6773099" cy="1483548"/>
          </a:xfrm>
          <a:prstGeom prst="rect">
            <a:avLst/>
          </a:prstGeom>
          <a:noFill/>
        </p:spPr>
        <p:txBody>
          <a:bodyPr wrap="square">
            <a:spAutoFit/>
          </a:bodyPr>
          <a:lstStyle/>
          <a:p>
            <a:pPr>
              <a:lnSpc>
                <a:spcPts val="1800"/>
              </a:lnSpc>
            </a:pPr>
            <a:r>
              <a:rPr lang="en-GB" b="1" noProof="0" dirty="0">
                <a:highlight>
                  <a:srgbClr val="FFC000"/>
                </a:highlight>
              </a:rPr>
              <a:t>Conceptual deepening in statistics and research methodology</a:t>
            </a:r>
          </a:p>
          <a:p>
            <a:pPr>
              <a:lnSpc>
                <a:spcPts val="1800"/>
              </a:lnSpc>
            </a:pPr>
            <a:br>
              <a:rPr lang="en-GB" b="1" noProof="0" dirty="0">
                <a:highlight>
                  <a:srgbClr val="FFC000"/>
                </a:highlight>
              </a:rPr>
            </a:br>
            <a:r>
              <a:rPr lang="en-GB" noProof="0" dirty="0">
                <a:solidFill>
                  <a:schemeClr val="tx1">
                    <a:lumMod val="65000"/>
                    <a:lumOff val="35000"/>
                  </a:schemeClr>
                </a:solidFill>
                <a:latin typeface="Aptos Light" panose="020B0004020202020204" pitchFamily="34" charset="0"/>
              </a:rPr>
              <a:t>Theoretical sessions will reinforce core statistical concepts and methodological frameworks, enabling you to critically interpret data and design robust research strategies.</a:t>
            </a:r>
          </a:p>
          <a:p>
            <a:pPr>
              <a:lnSpc>
                <a:spcPts val="1800"/>
              </a:lnSpc>
            </a:pPr>
            <a:endParaRPr lang="en-GB" noProof="0" dirty="0"/>
          </a:p>
        </p:txBody>
      </p:sp>
      <p:sp>
        <p:nvSpPr>
          <p:cNvPr id="4150" name="Footer Placeholder 4">
            <a:extLst>
              <a:ext uri="{FF2B5EF4-FFF2-40B4-BE49-F238E27FC236}">
                <a16:creationId xmlns:a16="http://schemas.microsoft.com/office/drawing/2014/main" id="{2BF08523-70EB-2606-3B4A-A891B420FFF0}"/>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20907232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098"/>
                                        </p:tgtEl>
                                        <p:attrNameLst>
                                          <p:attrName>style.visibility</p:attrName>
                                        </p:attrNameLst>
                                      </p:cBhvr>
                                      <p:to>
                                        <p:strVal val="visible"/>
                                      </p:to>
                                    </p:set>
                                    <p:animEffect transition="in" filter="fade">
                                      <p:cBhvr>
                                        <p:cTn id="26"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2" grpId="0"/>
      <p:bldP spid="13" grpId="0"/>
      <p:bldP spid="5" grpId="0"/>
      <p:bldP spid="409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315A4-34AB-43A7-E44B-9D52F73333B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658EF3-ECE9-7AD9-49C0-B810B3D0C436}"/>
              </a:ext>
            </a:extLst>
          </p:cNvPr>
          <p:cNvSpPr>
            <a:spLocks noGrp="1"/>
          </p:cNvSpPr>
          <p:nvPr>
            <p:ph type="sldNum" sz="quarter" idx="12"/>
          </p:nvPr>
        </p:nvSpPr>
        <p:spPr/>
        <p:txBody>
          <a:bodyPr/>
          <a:lstStyle/>
          <a:p>
            <a:fld id="{330EA680-D336-4FF7-8B7A-9848BB0A1C32}" type="slidenum">
              <a:rPr lang="en-GB" noProof="0" smtClean="0"/>
              <a:t>8</a:t>
            </a:fld>
            <a:endParaRPr lang="en-GB" noProof="0" dirty="0"/>
          </a:p>
        </p:txBody>
      </p:sp>
      <p:sp>
        <p:nvSpPr>
          <p:cNvPr id="4" name="Date Placeholder 3">
            <a:extLst>
              <a:ext uri="{FF2B5EF4-FFF2-40B4-BE49-F238E27FC236}">
                <a16:creationId xmlns:a16="http://schemas.microsoft.com/office/drawing/2014/main" id="{FE4661A5-6360-4DAD-22E0-49601CA2ED42}"/>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6" name="TextBox 5">
            <a:extLst>
              <a:ext uri="{FF2B5EF4-FFF2-40B4-BE49-F238E27FC236}">
                <a16:creationId xmlns:a16="http://schemas.microsoft.com/office/drawing/2014/main" id="{3934612C-4D48-F8E7-DCF8-B41BDE5C46EE}"/>
              </a:ext>
            </a:extLst>
          </p:cNvPr>
          <p:cNvSpPr txBox="1"/>
          <p:nvPr/>
        </p:nvSpPr>
        <p:spPr>
          <a:xfrm>
            <a:off x="886671" y="1147983"/>
            <a:ext cx="5981587" cy="646331"/>
          </a:xfrm>
          <a:prstGeom prst="rect">
            <a:avLst/>
          </a:prstGeom>
          <a:noFill/>
        </p:spPr>
        <p:txBody>
          <a:bodyPr wrap="square">
            <a:spAutoFit/>
          </a:bodyPr>
          <a:lstStyle/>
          <a:p>
            <a:r>
              <a:rPr lang="en-GB" b="1" noProof="0" dirty="0"/>
              <a:t>We will pursue the course objectives through two complementary approaches</a:t>
            </a:r>
            <a:endParaRPr lang="en-GB" b="1" noProof="0" dirty="0">
              <a:latin typeface="Corbel" panose="020B0503020204020204" pitchFamily="34" charset="0"/>
            </a:endParaRPr>
          </a:p>
        </p:txBody>
      </p:sp>
      <p:sp>
        <p:nvSpPr>
          <p:cNvPr id="8" name="Título 1">
            <a:extLst>
              <a:ext uri="{FF2B5EF4-FFF2-40B4-BE49-F238E27FC236}">
                <a16:creationId xmlns:a16="http://schemas.microsoft.com/office/drawing/2014/main" id="{CFA089F9-5661-FEC9-6DDC-12B9F424F65B}"/>
              </a:ext>
            </a:extLst>
          </p:cNvPr>
          <p:cNvSpPr txBox="1">
            <a:spLocks/>
          </p:cNvSpPr>
          <p:nvPr/>
        </p:nvSpPr>
        <p:spPr>
          <a:xfrm>
            <a:off x="886671" y="501650"/>
            <a:ext cx="2994610" cy="64633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Course Tools</a:t>
            </a:r>
          </a:p>
        </p:txBody>
      </p:sp>
      <p:sp>
        <p:nvSpPr>
          <p:cNvPr id="12" name="TextBox 11">
            <a:extLst>
              <a:ext uri="{FF2B5EF4-FFF2-40B4-BE49-F238E27FC236}">
                <a16:creationId xmlns:a16="http://schemas.microsoft.com/office/drawing/2014/main" id="{4A34199A-5C9E-44A3-516C-FD2AD6318F1F}"/>
              </a:ext>
            </a:extLst>
          </p:cNvPr>
          <p:cNvSpPr txBox="1"/>
          <p:nvPr/>
        </p:nvSpPr>
        <p:spPr>
          <a:xfrm>
            <a:off x="862935" y="2221120"/>
            <a:ext cx="828588" cy="923330"/>
          </a:xfrm>
          <a:prstGeom prst="rect">
            <a:avLst/>
          </a:prstGeom>
          <a:noFill/>
        </p:spPr>
        <p:txBody>
          <a:bodyPr wrap="square">
            <a:spAutoFit/>
          </a:bodyPr>
          <a:lstStyle/>
          <a:p>
            <a:r>
              <a:rPr lang="en-GB" sz="5400" noProof="0" dirty="0">
                <a:solidFill>
                  <a:srgbClr val="FF0000"/>
                </a:solidFill>
                <a:latin typeface="Aptos Black" panose="020B0004020202020204" pitchFamily="34" charset="0"/>
              </a:rPr>
              <a:t>1.</a:t>
            </a:r>
            <a:endParaRPr lang="en-GB" sz="5400" b="1" noProof="0" dirty="0">
              <a:solidFill>
                <a:srgbClr val="FF0000"/>
              </a:solidFill>
              <a:latin typeface="Aptos Black" panose="020B0004020202020204" pitchFamily="34" charset="0"/>
            </a:endParaRPr>
          </a:p>
        </p:txBody>
      </p:sp>
      <p:sp>
        <p:nvSpPr>
          <p:cNvPr id="13" name="TextBox 12">
            <a:extLst>
              <a:ext uri="{FF2B5EF4-FFF2-40B4-BE49-F238E27FC236}">
                <a16:creationId xmlns:a16="http://schemas.microsoft.com/office/drawing/2014/main" id="{BDDDD1B9-B43D-0301-9B0C-431996482F14}"/>
              </a:ext>
            </a:extLst>
          </p:cNvPr>
          <p:cNvSpPr txBox="1"/>
          <p:nvPr/>
        </p:nvSpPr>
        <p:spPr>
          <a:xfrm>
            <a:off x="1691523" y="2374369"/>
            <a:ext cx="3325208" cy="1021883"/>
          </a:xfrm>
          <a:prstGeom prst="rect">
            <a:avLst/>
          </a:prstGeom>
          <a:noFill/>
        </p:spPr>
        <p:txBody>
          <a:bodyPr wrap="square">
            <a:spAutoFit/>
          </a:bodyPr>
          <a:lstStyle/>
          <a:p>
            <a:pPr>
              <a:lnSpc>
                <a:spcPts val="1800"/>
              </a:lnSpc>
            </a:pPr>
            <a:r>
              <a:rPr lang="en-GB" b="1" noProof="0" dirty="0">
                <a:highlight>
                  <a:srgbClr val="FFC000"/>
                </a:highlight>
              </a:rPr>
              <a:t>Practical engagement with data and statistical software</a:t>
            </a:r>
            <a:br>
              <a:rPr lang="en-GB" b="1" noProof="0" dirty="0">
                <a:highlight>
                  <a:srgbClr val="FFC000"/>
                </a:highlight>
              </a:rPr>
            </a:br>
            <a:br>
              <a:rPr lang="en-GB" b="1" noProof="0" dirty="0">
                <a:highlight>
                  <a:srgbClr val="FFC000"/>
                </a:highlight>
              </a:rPr>
            </a:br>
            <a:endParaRPr lang="en-GB" noProof="0" dirty="0">
              <a:solidFill>
                <a:schemeClr val="tx1">
                  <a:lumMod val="65000"/>
                  <a:lumOff val="35000"/>
                </a:schemeClr>
              </a:solidFill>
              <a:latin typeface="Aptos Light" panose="020B0004020202020204" pitchFamily="34" charset="0"/>
            </a:endParaRPr>
          </a:p>
        </p:txBody>
      </p:sp>
      <p:grpSp>
        <p:nvGrpSpPr>
          <p:cNvPr id="7" name="Group 6">
            <a:extLst>
              <a:ext uri="{FF2B5EF4-FFF2-40B4-BE49-F238E27FC236}">
                <a16:creationId xmlns:a16="http://schemas.microsoft.com/office/drawing/2014/main" id="{7D4EB4FA-2D3C-A34E-F6E6-4B2962C360DC}"/>
              </a:ext>
            </a:extLst>
          </p:cNvPr>
          <p:cNvGrpSpPr/>
          <p:nvPr/>
        </p:nvGrpSpPr>
        <p:grpSpPr>
          <a:xfrm>
            <a:off x="6226135" y="3417243"/>
            <a:ext cx="426890" cy="564100"/>
            <a:chOff x="5557032" y="5924567"/>
            <a:chExt cx="2848898" cy="3764585"/>
          </a:xfrm>
        </p:grpSpPr>
        <p:grpSp>
          <p:nvGrpSpPr>
            <p:cNvPr id="9" name="Graphic 21" descr="Graph and note paper pads with pencil">
              <a:extLst>
                <a:ext uri="{FF2B5EF4-FFF2-40B4-BE49-F238E27FC236}">
                  <a16:creationId xmlns:a16="http://schemas.microsoft.com/office/drawing/2014/main" id="{73FC9643-F036-187C-C213-EA021FD0C271}"/>
                </a:ext>
              </a:extLst>
            </p:cNvPr>
            <p:cNvGrpSpPr/>
            <p:nvPr/>
          </p:nvGrpSpPr>
          <p:grpSpPr>
            <a:xfrm>
              <a:off x="5557032" y="5924567"/>
              <a:ext cx="2143125" cy="3277200"/>
              <a:chOff x="5557032" y="5924567"/>
              <a:chExt cx="2143125" cy="3277200"/>
            </a:xfrm>
          </p:grpSpPr>
          <p:sp>
            <p:nvSpPr>
              <p:cNvPr id="31" name="Freeform: Shape 30">
                <a:extLst>
                  <a:ext uri="{FF2B5EF4-FFF2-40B4-BE49-F238E27FC236}">
                    <a16:creationId xmlns:a16="http://schemas.microsoft.com/office/drawing/2014/main" id="{0970B825-64EB-8BF7-71CD-60C6EC708F1E}"/>
                  </a:ext>
                </a:extLst>
              </p:cNvPr>
              <p:cNvSpPr/>
              <p:nvPr/>
            </p:nvSpPr>
            <p:spPr>
              <a:xfrm>
                <a:off x="5574891" y="5987080"/>
                <a:ext cx="2125265" cy="3214687"/>
              </a:xfrm>
              <a:custGeom>
                <a:avLst/>
                <a:gdLst>
                  <a:gd name="connsiteX0" fmla="*/ 0 w 2125265"/>
                  <a:gd name="connsiteY0" fmla="*/ 0 h 3214687"/>
                  <a:gd name="connsiteX1" fmla="*/ 2125266 w 2125265"/>
                  <a:gd name="connsiteY1" fmla="*/ 0 h 3214687"/>
                  <a:gd name="connsiteX2" fmla="*/ 2125266 w 2125265"/>
                  <a:gd name="connsiteY2" fmla="*/ 3214688 h 3214687"/>
                  <a:gd name="connsiteX3" fmla="*/ 0 w 2125265"/>
                  <a:gd name="connsiteY3" fmla="*/ 3214688 h 3214687"/>
                </a:gdLst>
                <a:ahLst/>
                <a:cxnLst>
                  <a:cxn ang="0">
                    <a:pos x="connsiteX0" y="connsiteY0"/>
                  </a:cxn>
                  <a:cxn ang="0">
                    <a:pos x="connsiteX1" y="connsiteY1"/>
                  </a:cxn>
                  <a:cxn ang="0">
                    <a:pos x="connsiteX2" y="connsiteY2"/>
                  </a:cxn>
                  <a:cxn ang="0">
                    <a:pos x="connsiteX3" y="connsiteY3"/>
                  </a:cxn>
                </a:cxnLst>
                <a:rect l="l" t="t" r="r" b="b"/>
                <a:pathLst>
                  <a:path w="2125265" h="3214687">
                    <a:moveTo>
                      <a:pt x="0" y="0"/>
                    </a:moveTo>
                    <a:lnTo>
                      <a:pt x="2125266" y="0"/>
                    </a:lnTo>
                    <a:lnTo>
                      <a:pt x="2125266" y="3214688"/>
                    </a:lnTo>
                    <a:lnTo>
                      <a:pt x="0" y="3214688"/>
                    </a:lnTo>
                    <a:close/>
                  </a:path>
                </a:pathLst>
              </a:custGeom>
              <a:solidFill>
                <a:srgbClr val="D2D2D2"/>
              </a:solidFill>
              <a:ln w="9525" cap="flat">
                <a:noFill/>
                <a:prstDash val="solid"/>
                <a:miter/>
              </a:ln>
            </p:spPr>
            <p:txBody>
              <a:bodyPr rtlCol="0" anchor="ctr"/>
              <a:lstStyle/>
              <a:p>
                <a:endParaRPr lang="en-GB" sz="800" noProof="0" dirty="0"/>
              </a:p>
            </p:txBody>
          </p:sp>
          <p:sp>
            <p:nvSpPr>
              <p:cNvPr id="32" name="Freeform: Shape 31">
                <a:extLst>
                  <a:ext uri="{FF2B5EF4-FFF2-40B4-BE49-F238E27FC236}">
                    <a16:creationId xmlns:a16="http://schemas.microsoft.com/office/drawing/2014/main" id="{96800BFA-E386-67F0-3FE5-FA16306536BA}"/>
                  </a:ext>
                </a:extLst>
              </p:cNvPr>
              <p:cNvSpPr/>
              <p:nvPr/>
            </p:nvSpPr>
            <p:spPr>
              <a:xfrm>
                <a:off x="5557032" y="5924567"/>
                <a:ext cx="2143125" cy="3214687"/>
              </a:xfrm>
              <a:custGeom>
                <a:avLst/>
                <a:gdLst>
                  <a:gd name="connsiteX0" fmla="*/ 0 w 2143125"/>
                  <a:gd name="connsiteY0" fmla="*/ 0 h 3214687"/>
                  <a:gd name="connsiteX1" fmla="*/ 2143125 w 2143125"/>
                  <a:gd name="connsiteY1" fmla="*/ 0 h 3214687"/>
                  <a:gd name="connsiteX2" fmla="*/ 2143125 w 2143125"/>
                  <a:gd name="connsiteY2" fmla="*/ 3214688 h 3214687"/>
                  <a:gd name="connsiteX3" fmla="*/ 0 w 2143125"/>
                  <a:gd name="connsiteY3" fmla="*/ 3214688 h 3214687"/>
                </a:gdLst>
                <a:ahLst/>
                <a:cxnLst>
                  <a:cxn ang="0">
                    <a:pos x="connsiteX0" y="connsiteY0"/>
                  </a:cxn>
                  <a:cxn ang="0">
                    <a:pos x="connsiteX1" y="connsiteY1"/>
                  </a:cxn>
                  <a:cxn ang="0">
                    <a:pos x="connsiteX2" y="connsiteY2"/>
                  </a:cxn>
                  <a:cxn ang="0">
                    <a:pos x="connsiteX3" y="connsiteY3"/>
                  </a:cxn>
                </a:cxnLst>
                <a:rect l="l" t="t" r="r" b="b"/>
                <a:pathLst>
                  <a:path w="2143125" h="3214687">
                    <a:moveTo>
                      <a:pt x="0" y="0"/>
                    </a:moveTo>
                    <a:lnTo>
                      <a:pt x="2143125" y="0"/>
                    </a:lnTo>
                    <a:lnTo>
                      <a:pt x="2143125" y="3214688"/>
                    </a:lnTo>
                    <a:lnTo>
                      <a:pt x="0" y="3214688"/>
                    </a:lnTo>
                    <a:close/>
                  </a:path>
                </a:pathLst>
              </a:custGeom>
              <a:solidFill>
                <a:srgbClr val="E6E6E6"/>
              </a:solidFill>
              <a:ln w="9525" cap="flat">
                <a:noFill/>
                <a:prstDash val="solid"/>
                <a:miter/>
              </a:ln>
            </p:spPr>
            <p:txBody>
              <a:bodyPr rtlCol="0" anchor="ctr"/>
              <a:lstStyle/>
              <a:p>
                <a:endParaRPr lang="en-GB" sz="800" noProof="0" dirty="0"/>
              </a:p>
            </p:txBody>
          </p:sp>
          <p:sp>
            <p:nvSpPr>
              <p:cNvPr id="33" name="Freeform: Shape 32">
                <a:extLst>
                  <a:ext uri="{FF2B5EF4-FFF2-40B4-BE49-F238E27FC236}">
                    <a16:creationId xmlns:a16="http://schemas.microsoft.com/office/drawing/2014/main" id="{C6863094-6B90-E275-20C6-AA92B712BC06}"/>
                  </a:ext>
                </a:extLst>
              </p:cNvPr>
              <p:cNvSpPr/>
              <p:nvPr/>
            </p:nvSpPr>
            <p:spPr>
              <a:xfrm>
                <a:off x="5557032" y="5924567"/>
                <a:ext cx="2143125" cy="214312"/>
              </a:xfrm>
              <a:custGeom>
                <a:avLst/>
                <a:gdLst>
                  <a:gd name="connsiteX0" fmla="*/ 0 w 2143125"/>
                  <a:gd name="connsiteY0" fmla="*/ 0 h 214312"/>
                  <a:gd name="connsiteX1" fmla="*/ 2143125 w 2143125"/>
                  <a:gd name="connsiteY1" fmla="*/ 0 h 214312"/>
                  <a:gd name="connsiteX2" fmla="*/ 2143125 w 2143125"/>
                  <a:gd name="connsiteY2" fmla="*/ 214313 h 214312"/>
                  <a:gd name="connsiteX3" fmla="*/ 0 w 2143125"/>
                  <a:gd name="connsiteY3" fmla="*/ 214313 h 214312"/>
                </a:gdLst>
                <a:ahLst/>
                <a:cxnLst>
                  <a:cxn ang="0">
                    <a:pos x="connsiteX0" y="connsiteY0"/>
                  </a:cxn>
                  <a:cxn ang="0">
                    <a:pos x="connsiteX1" y="connsiteY1"/>
                  </a:cxn>
                  <a:cxn ang="0">
                    <a:pos x="connsiteX2" y="connsiteY2"/>
                  </a:cxn>
                  <a:cxn ang="0">
                    <a:pos x="connsiteX3" y="connsiteY3"/>
                  </a:cxn>
                </a:cxnLst>
                <a:rect l="l" t="t" r="r" b="b"/>
                <a:pathLst>
                  <a:path w="2143125" h="214312">
                    <a:moveTo>
                      <a:pt x="0" y="0"/>
                    </a:moveTo>
                    <a:lnTo>
                      <a:pt x="2143125" y="0"/>
                    </a:lnTo>
                    <a:lnTo>
                      <a:pt x="2143125" y="214313"/>
                    </a:lnTo>
                    <a:lnTo>
                      <a:pt x="0" y="214313"/>
                    </a:lnTo>
                    <a:close/>
                  </a:path>
                </a:pathLst>
              </a:custGeom>
              <a:solidFill>
                <a:srgbClr val="FFC000"/>
              </a:solidFill>
              <a:ln w="9525" cap="flat">
                <a:noFill/>
                <a:prstDash val="solid"/>
                <a:miter/>
              </a:ln>
            </p:spPr>
            <p:txBody>
              <a:bodyPr rtlCol="0" anchor="ctr"/>
              <a:lstStyle/>
              <a:p>
                <a:endParaRPr lang="en-GB" sz="800" noProof="0" dirty="0"/>
              </a:p>
            </p:txBody>
          </p:sp>
          <p:grpSp>
            <p:nvGrpSpPr>
              <p:cNvPr id="34" name="Graphic 21" descr="Graph and note paper pads with pencil">
                <a:extLst>
                  <a:ext uri="{FF2B5EF4-FFF2-40B4-BE49-F238E27FC236}">
                    <a16:creationId xmlns:a16="http://schemas.microsoft.com/office/drawing/2014/main" id="{D7E7C840-3C4E-0D4A-4832-589BA9DDE32E}"/>
                  </a:ext>
                </a:extLst>
              </p:cNvPr>
              <p:cNvGrpSpPr/>
              <p:nvPr/>
            </p:nvGrpSpPr>
            <p:grpSpPr>
              <a:xfrm>
                <a:off x="5735626" y="6455891"/>
                <a:ext cx="1785927" cy="2366371"/>
                <a:chOff x="5735626" y="6455891"/>
                <a:chExt cx="1785927" cy="2366371"/>
              </a:xfrm>
              <a:solidFill>
                <a:srgbClr val="D2D2D2"/>
              </a:solidFill>
            </p:grpSpPr>
            <p:sp>
              <p:nvSpPr>
                <p:cNvPr id="37" name="Freeform: Shape 36">
                  <a:extLst>
                    <a:ext uri="{FF2B5EF4-FFF2-40B4-BE49-F238E27FC236}">
                      <a16:creationId xmlns:a16="http://schemas.microsoft.com/office/drawing/2014/main" id="{50E2A3FD-3259-6B7B-DC2F-58B0888CEEA2}"/>
                    </a:ext>
                  </a:extLst>
                </p:cNvPr>
                <p:cNvSpPr/>
                <p:nvPr/>
              </p:nvSpPr>
              <p:spPr>
                <a:xfrm>
                  <a:off x="5736921" y="8170391"/>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38" name="Freeform: Shape 37">
                  <a:extLst>
                    <a:ext uri="{FF2B5EF4-FFF2-40B4-BE49-F238E27FC236}">
                      <a16:creationId xmlns:a16="http://schemas.microsoft.com/office/drawing/2014/main" id="{20703E81-1ADC-BA27-E624-8E9D9E001549}"/>
                    </a:ext>
                  </a:extLst>
                </p:cNvPr>
                <p:cNvSpPr/>
                <p:nvPr/>
              </p:nvSpPr>
              <p:spPr>
                <a:xfrm>
                  <a:off x="5735626" y="8277547"/>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39" name="Freeform: Shape 38">
                  <a:extLst>
                    <a:ext uri="{FF2B5EF4-FFF2-40B4-BE49-F238E27FC236}">
                      <a16:creationId xmlns:a16="http://schemas.microsoft.com/office/drawing/2014/main" id="{51F24490-627A-DD79-CEBE-A43EF7F04194}"/>
                    </a:ext>
                  </a:extLst>
                </p:cNvPr>
                <p:cNvSpPr/>
                <p:nvPr/>
              </p:nvSpPr>
              <p:spPr>
                <a:xfrm>
                  <a:off x="5736921" y="8384703"/>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40" name="Freeform: Shape 39">
                  <a:extLst>
                    <a:ext uri="{FF2B5EF4-FFF2-40B4-BE49-F238E27FC236}">
                      <a16:creationId xmlns:a16="http://schemas.microsoft.com/office/drawing/2014/main" id="{AE8E5CCB-CCC8-D987-FA9E-086C6B1BB9BF}"/>
                    </a:ext>
                  </a:extLst>
                </p:cNvPr>
                <p:cNvSpPr/>
                <p:nvPr/>
              </p:nvSpPr>
              <p:spPr>
                <a:xfrm>
                  <a:off x="5735626" y="8491859"/>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41" name="Freeform: Shape 40">
                  <a:extLst>
                    <a:ext uri="{FF2B5EF4-FFF2-40B4-BE49-F238E27FC236}">
                      <a16:creationId xmlns:a16="http://schemas.microsoft.com/office/drawing/2014/main" id="{EF3D918B-E199-91EF-F060-A3650353EB34}"/>
                    </a:ext>
                  </a:extLst>
                </p:cNvPr>
                <p:cNvSpPr/>
                <p:nvPr/>
              </p:nvSpPr>
              <p:spPr>
                <a:xfrm>
                  <a:off x="5736921" y="8599016"/>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42" name="Freeform: Shape 41">
                  <a:extLst>
                    <a:ext uri="{FF2B5EF4-FFF2-40B4-BE49-F238E27FC236}">
                      <a16:creationId xmlns:a16="http://schemas.microsoft.com/office/drawing/2014/main" id="{FF3F6BB0-FDD0-1D34-C0BE-FE9CC9DCBCBF}"/>
                    </a:ext>
                  </a:extLst>
                </p:cNvPr>
                <p:cNvSpPr/>
                <p:nvPr/>
              </p:nvSpPr>
              <p:spPr>
                <a:xfrm>
                  <a:off x="5735626" y="8706172"/>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43" name="Freeform: Shape 42">
                  <a:extLst>
                    <a:ext uri="{FF2B5EF4-FFF2-40B4-BE49-F238E27FC236}">
                      <a16:creationId xmlns:a16="http://schemas.microsoft.com/office/drawing/2014/main" id="{5E38A0A4-9081-92A3-2022-B5EF06852450}"/>
                    </a:ext>
                  </a:extLst>
                </p:cNvPr>
                <p:cNvSpPr/>
                <p:nvPr/>
              </p:nvSpPr>
              <p:spPr>
                <a:xfrm>
                  <a:off x="5736921" y="8813328"/>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44" name="Freeform: Shape 43">
                  <a:extLst>
                    <a:ext uri="{FF2B5EF4-FFF2-40B4-BE49-F238E27FC236}">
                      <a16:creationId xmlns:a16="http://schemas.microsoft.com/office/drawing/2014/main" id="{244D620B-7995-3F18-9A89-95AF283E1421}"/>
                    </a:ext>
                  </a:extLst>
                </p:cNvPr>
                <p:cNvSpPr/>
                <p:nvPr/>
              </p:nvSpPr>
              <p:spPr>
                <a:xfrm>
                  <a:off x="5736921" y="7313141"/>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45" name="Freeform: Shape 44">
                  <a:extLst>
                    <a:ext uri="{FF2B5EF4-FFF2-40B4-BE49-F238E27FC236}">
                      <a16:creationId xmlns:a16="http://schemas.microsoft.com/office/drawing/2014/main" id="{1B1C606C-5DF7-1962-E923-1E668235F6FC}"/>
                    </a:ext>
                  </a:extLst>
                </p:cNvPr>
                <p:cNvSpPr/>
                <p:nvPr/>
              </p:nvSpPr>
              <p:spPr>
                <a:xfrm>
                  <a:off x="5735626" y="7420297"/>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46" name="Freeform: Shape 45">
                  <a:extLst>
                    <a:ext uri="{FF2B5EF4-FFF2-40B4-BE49-F238E27FC236}">
                      <a16:creationId xmlns:a16="http://schemas.microsoft.com/office/drawing/2014/main" id="{2C3FCB40-31BB-AF69-E853-F77132076A2F}"/>
                    </a:ext>
                  </a:extLst>
                </p:cNvPr>
                <p:cNvSpPr/>
                <p:nvPr/>
              </p:nvSpPr>
              <p:spPr>
                <a:xfrm>
                  <a:off x="5736921" y="7527453"/>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47" name="Freeform: Shape 46">
                  <a:extLst>
                    <a:ext uri="{FF2B5EF4-FFF2-40B4-BE49-F238E27FC236}">
                      <a16:creationId xmlns:a16="http://schemas.microsoft.com/office/drawing/2014/main" id="{7F33E0B6-4486-CF2F-A1B9-3658FB62DC30}"/>
                    </a:ext>
                  </a:extLst>
                </p:cNvPr>
                <p:cNvSpPr/>
                <p:nvPr/>
              </p:nvSpPr>
              <p:spPr>
                <a:xfrm>
                  <a:off x="5735626" y="7634609"/>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48" name="Freeform: Shape 47">
                  <a:extLst>
                    <a:ext uri="{FF2B5EF4-FFF2-40B4-BE49-F238E27FC236}">
                      <a16:creationId xmlns:a16="http://schemas.microsoft.com/office/drawing/2014/main" id="{AAB32FB2-9042-CB62-F058-7EDD546AD43C}"/>
                    </a:ext>
                  </a:extLst>
                </p:cNvPr>
                <p:cNvSpPr/>
                <p:nvPr/>
              </p:nvSpPr>
              <p:spPr>
                <a:xfrm>
                  <a:off x="5736921" y="7741766"/>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49" name="Freeform: Shape 48">
                  <a:extLst>
                    <a:ext uri="{FF2B5EF4-FFF2-40B4-BE49-F238E27FC236}">
                      <a16:creationId xmlns:a16="http://schemas.microsoft.com/office/drawing/2014/main" id="{45DE4D34-C24F-D301-7324-65D33863FEE3}"/>
                    </a:ext>
                  </a:extLst>
                </p:cNvPr>
                <p:cNvSpPr/>
                <p:nvPr/>
              </p:nvSpPr>
              <p:spPr>
                <a:xfrm>
                  <a:off x="5735626" y="7848922"/>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50" name="Freeform: Shape 49">
                  <a:extLst>
                    <a:ext uri="{FF2B5EF4-FFF2-40B4-BE49-F238E27FC236}">
                      <a16:creationId xmlns:a16="http://schemas.microsoft.com/office/drawing/2014/main" id="{C0A35034-898F-9FC3-D71C-47C05B9290BA}"/>
                    </a:ext>
                  </a:extLst>
                </p:cNvPr>
                <p:cNvSpPr/>
                <p:nvPr/>
              </p:nvSpPr>
              <p:spPr>
                <a:xfrm>
                  <a:off x="5736921" y="7956078"/>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51" name="Freeform: Shape 50">
                  <a:extLst>
                    <a:ext uri="{FF2B5EF4-FFF2-40B4-BE49-F238E27FC236}">
                      <a16:creationId xmlns:a16="http://schemas.microsoft.com/office/drawing/2014/main" id="{DB0334C0-4AD3-0A23-A54C-24F33D414136}"/>
                    </a:ext>
                  </a:extLst>
                </p:cNvPr>
                <p:cNvSpPr/>
                <p:nvPr/>
              </p:nvSpPr>
              <p:spPr>
                <a:xfrm>
                  <a:off x="5735626" y="8063234"/>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52" name="Freeform: Shape 51">
                  <a:extLst>
                    <a:ext uri="{FF2B5EF4-FFF2-40B4-BE49-F238E27FC236}">
                      <a16:creationId xmlns:a16="http://schemas.microsoft.com/office/drawing/2014/main" id="{5ECB1905-CFDE-6489-5219-7BB5A17C83DC}"/>
                    </a:ext>
                  </a:extLst>
                </p:cNvPr>
                <p:cNvSpPr/>
                <p:nvPr/>
              </p:nvSpPr>
              <p:spPr>
                <a:xfrm>
                  <a:off x="5736921" y="6455891"/>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53" name="Freeform: Shape 52">
                  <a:extLst>
                    <a:ext uri="{FF2B5EF4-FFF2-40B4-BE49-F238E27FC236}">
                      <a16:creationId xmlns:a16="http://schemas.microsoft.com/office/drawing/2014/main" id="{F2CA037E-2DF7-BFA2-73FC-93523D2AD3E7}"/>
                    </a:ext>
                  </a:extLst>
                </p:cNvPr>
                <p:cNvSpPr/>
                <p:nvPr/>
              </p:nvSpPr>
              <p:spPr>
                <a:xfrm>
                  <a:off x="5735626" y="6563047"/>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54" name="Freeform: Shape 53">
                  <a:extLst>
                    <a:ext uri="{FF2B5EF4-FFF2-40B4-BE49-F238E27FC236}">
                      <a16:creationId xmlns:a16="http://schemas.microsoft.com/office/drawing/2014/main" id="{D3F6D8D3-35C2-2D56-A469-F650F561B4D5}"/>
                    </a:ext>
                  </a:extLst>
                </p:cNvPr>
                <p:cNvSpPr/>
                <p:nvPr/>
              </p:nvSpPr>
              <p:spPr>
                <a:xfrm>
                  <a:off x="5736921" y="6670203"/>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55" name="Freeform: Shape 54">
                  <a:extLst>
                    <a:ext uri="{FF2B5EF4-FFF2-40B4-BE49-F238E27FC236}">
                      <a16:creationId xmlns:a16="http://schemas.microsoft.com/office/drawing/2014/main" id="{62D5C3FA-54DE-D0C7-DF37-645BA5092C37}"/>
                    </a:ext>
                  </a:extLst>
                </p:cNvPr>
                <p:cNvSpPr/>
                <p:nvPr/>
              </p:nvSpPr>
              <p:spPr>
                <a:xfrm>
                  <a:off x="5735626" y="6777359"/>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56" name="Freeform: Shape 55">
                  <a:extLst>
                    <a:ext uri="{FF2B5EF4-FFF2-40B4-BE49-F238E27FC236}">
                      <a16:creationId xmlns:a16="http://schemas.microsoft.com/office/drawing/2014/main" id="{4EE2BBBC-6A0E-0CC7-CD6D-B57DF8DA1080}"/>
                    </a:ext>
                  </a:extLst>
                </p:cNvPr>
                <p:cNvSpPr/>
                <p:nvPr/>
              </p:nvSpPr>
              <p:spPr>
                <a:xfrm>
                  <a:off x="5736921" y="6884516"/>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57" name="Freeform: Shape 56">
                  <a:extLst>
                    <a:ext uri="{FF2B5EF4-FFF2-40B4-BE49-F238E27FC236}">
                      <a16:creationId xmlns:a16="http://schemas.microsoft.com/office/drawing/2014/main" id="{08953F69-EA44-DFFA-B8F7-9EAB9CF0E6E6}"/>
                    </a:ext>
                  </a:extLst>
                </p:cNvPr>
                <p:cNvSpPr/>
                <p:nvPr/>
              </p:nvSpPr>
              <p:spPr>
                <a:xfrm>
                  <a:off x="5735626" y="6991672"/>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58" name="Freeform: Shape 57">
                  <a:extLst>
                    <a:ext uri="{FF2B5EF4-FFF2-40B4-BE49-F238E27FC236}">
                      <a16:creationId xmlns:a16="http://schemas.microsoft.com/office/drawing/2014/main" id="{DC4A0AE6-BF8D-633D-5304-A8F18ECF1E81}"/>
                    </a:ext>
                  </a:extLst>
                </p:cNvPr>
                <p:cNvSpPr/>
                <p:nvPr/>
              </p:nvSpPr>
              <p:spPr>
                <a:xfrm>
                  <a:off x="5736921" y="7098828"/>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sp>
              <p:nvSpPr>
                <p:cNvPr id="59" name="Freeform: Shape 58">
                  <a:extLst>
                    <a:ext uri="{FF2B5EF4-FFF2-40B4-BE49-F238E27FC236}">
                      <a16:creationId xmlns:a16="http://schemas.microsoft.com/office/drawing/2014/main" id="{8CDF26D0-8087-747A-5CBD-4D6F42C8C607}"/>
                    </a:ext>
                  </a:extLst>
                </p:cNvPr>
                <p:cNvSpPr/>
                <p:nvPr/>
              </p:nvSpPr>
              <p:spPr>
                <a:xfrm>
                  <a:off x="5735626" y="7205984"/>
                  <a:ext cx="1784632" cy="8934"/>
                </a:xfrm>
                <a:custGeom>
                  <a:avLst/>
                  <a:gdLst>
                    <a:gd name="connsiteX0" fmla="*/ 0 w 1784632"/>
                    <a:gd name="connsiteY0" fmla="*/ 0 h 8934"/>
                    <a:gd name="connsiteX1" fmla="*/ 1784633 w 1784632"/>
                    <a:gd name="connsiteY1" fmla="*/ 0 h 8934"/>
                    <a:gd name="connsiteX2" fmla="*/ 1784633 w 1784632"/>
                    <a:gd name="connsiteY2" fmla="*/ 8934 h 8934"/>
                    <a:gd name="connsiteX3" fmla="*/ 0 w 1784632"/>
                    <a:gd name="connsiteY3" fmla="*/ 8934 h 8934"/>
                  </a:gdLst>
                  <a:ahLst/>
                  <a:cxnLst>
                    <a:cxn ang="0">
                      <a:pos x="connsiteX0" y="connsiteY0"/>
                    </a:cxn>
                    <a:cxn ang="0">
                      <a:pos x="connsiteX1" y="connsiteY1"/>
                    </a:cxn>
                    <a:cxn ang="0">
                      <a:pos x="connsiteX2" y="connsiteY2"/>
                    </a:cxn>
                    <a:cxn ang="0">
                      <a:pos x="connsiteX3" y="connsiteY3"/>
                    </a:cxn>
                  </a:cxnLst>
                  <a:rect l="l" t="t" r="r" b="b"/>
                  <a:pathLst>
                    <a:path w="1784632" h="8934">
                      <a:moveTo>
                        <a:pt x="0" y="0"/>
                      </a:moveTo>
                      <a:lnTo>
                        <a:pt x="1784633" y="0"/>
                      </a:lnTo>
                      <a:lnTo>
                        <a:pt x="1784633" y="8934"/>
                      </a:lnTo>
                      <a:lnTo>
                        <a:pt x="0" y="8934"/>
                      </a:lnTo>
                      <a:close/>
                    </a:path>
                  </a:pathLst>
                </a:custGeom>
                <a:solidFill>
                  <a:srgbClr val="D2D2D2"/>
                </a:solidFill>
                <a:ln w="9525" cap="flat">
                  <a:noFill/>
                  <a:prstDash val="solid"/>
                  <a:miter/>
                </a:ln>
              </p:spPr>
              <p:txBody>
                <a:bodyPr rtlCol="0" anchor="ctr"/>
                <a:lstStyle/>
                <a:p>
                  <a:endParaRPr lang="en-GB" sz="800" noProof="0" dirty="0"/>
                </a:p>
              </p:txBody>
            </p:sp>
          </p:grpSp>
          <p:sp>
            <p:nvSpPr>
              <p:cNvPr id="35" name="Freeform: Shape 34">
                <a:extLst>
                  <a:ext uri="{FF2B5EF4-FFF2-40B4-BE49-F238E27FC236}">
                    <a16:creationId xmlns:a16="http://schemas.microsoft.com/office/drawing/2014/main" id="{87214E58-1EC9-5D4A-77D3-1B0074E1C8A5}"/>
                  </a:ext>
                </a:extLst>
              </p:cNvPr>
              <p:cNvSpPr/>
              <p:nvPr/>
            </p:nvSpPr>
            <p:spPr>
              <a:xfrm>
                <a:off x="5824922" y="5985422"/>
                <a:ext cx="107156" cy="107156"/>
              </a:xfrm>
              <a:custGeom>
                <a:avLst/>
                <a:gdLst>
                  <a:gd name="connsiteX0" fmla="*/ 107156 w 107156"/>
                  <a:gd name="connsiteY0" fmla="*/ 53578 h 107156"/>
                  <a:gd name="connsiteX1" fmla="*/ 53578 w 107156"/>
                  <a:gd name="connsiteY1" fmla="*/ 107156 h 107156"/>
                  <a:gd name="connsiteX2" fmla="*/ 0 w 107156"/>
                  <a:gd name="connsiteY2" fmla="*/ 53578 h 107156"/>
                  <a:gd name="connsiteX3" fmla="*/ 53578 w 107156"/>
                  <a:gd name="connsiteY3" fmla="*/ 0 h 107156"/>
                  <a:gd name="connsiteX4" fmla="*/ 107156 w 107156"/>
                  <a:gd name="connsiteY4" fmla="*/ 53578 h 107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56" h="107156">
                    <a:moveTo>
                      <a:pt x="107156" y="53578"/>
                    </a:moveTo>
                    <a:cubicBezTo>
                      <a:pt x="107156" y="83168"/>
                      <a:pt x="83169" y="107156"/>
                      <a:pt x="53578" y="107156"/>
                    </a:cubicBezTo>
                    <a:cubicBezTo>
                      <a:pt x="23988" y="107156"/>
                      <a:pt x="0" y="83168"/>
                      <a:pt x="0" y="53578"/>
                    </a:cubicBezTo>
                    <a:cubicBezTo>
                      <a:pt x="0" y="23988"/>
                      <a:pt x="23988" y="0"/>
                      <a:pt x="53578" y="0"/>
                    </a:cubicBezTo>
                    <a:cubicBezTo>
                      <a:pt x="83169" y="0"/>
                      <a:pt x="107156" y="23988"/>
                      <a:pt x="107156" y="53578"/>
                    </a:cubicBezTo>
                    <a:close/>
                  </a:path>
                </a:pathLst>
              </a:custGeom>
              <a:solidFill>
                <a:srgbClr val="505050"/>
              </a:solidFill>
              <a:ln w="9525" cap="flat">
                <a:noFill/>
                <a:prstDash val="solid"/>
                <a:miter/>
              </a:ln>
            </p:spPr>
            <p:txBody>
              <a:bodyPr rtlCol="0" anchor="ctr"/>
              <a:lstStyle/>
              <a:p>
                <a:endParaRPr lang="en-GB" sz="800" noProof="0" dirty="0"/>
              </a:p>
            </p:txBody>
          </p:sp>
          <p:sp>
            <p:nvSpPr>
              <p:cNvPr id="36" name="Freeform: Shape 35">
                <a:extLst>
                  <a:ext uri="{FF2B5EF4-FFF2-40B4-BE49-F238E27FC236}">
                    <a16:creationId xmlns:a16="http://schemas.microsoft.com/office/drawing/2014/main" id="{E2DC32C7-B429-862A-C41F-DF1FCC22B5F2}"/>
                  </a:ext>
                </a:extLst>
              </p:cNvPr>
              <p:cNvSpPr/>
              <p:nvPr/>
            </p:nvSpPr>
            <p:spPr>
              <a:xfrm>
                <a:off x="7325110" y="5985422"/>
                <a:ext cx="107156" cy="107156"/>
              </a:xfrm>
              <a:custGeom>
                <a:avLst/>
                <a:gdLst>
                  <a:gd name="connsiteX0" fmla="*/ 107156 w 107156"/>
                  <a:gd name="connsiteY0" fmla="*/ 53578 h 107156"/>
                  <a:gd name="connsiteX1" fmla="*/ 53578 w 107156"/>
                  <a:gd name="connsiteY1" fmla="*/ 107156 h 107156"/>
                  <a:gd name="connsiteX2" fmla="*/ 0 w 107156"/>
                  <a:gd name="connsiteY2" fmla="*/ 53578 h 107156"/>
                  <a:gd name="connsiteX3" fmla="*/ 53578 w 107156"/>
                  <a:gd name="connsiteY3" fmla="*/ 0 h 107156"/>
                  <a:gd name="connsiteX4" fmla="*/ 107156 w 107156"/>
                  <a:gd name="connsiteY4" fmla="*/ 53578 h 107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56" h="107156">
                    <a:moveTo>
                      <a:pt x="107156" y="53578"/>
                    </a:moveTo>
                    <a:cubicBezTo>
                      <a:pt x="107156" y="83168"/>
                      <a:pt x="83168" y="107156"/>
                      <a:pt x="53578" y="107156"/>
                    </a:cubicBezTo>
                    <a:cubicBezTo>
                      <a:pt x="23988" y="107156"/>
                      <a:pt x="0" y="83168"/>
                      <a:pt x="0" y="53578"/>
                    </a:cubicBezTo>
                    <a:cubicBezTo>
                      <a:pt x="0" y="23988"/>
                      <a:pt x="23988" y="0"/>
                      <a:pt x="53578" y="0"/>
                    </a:cubicBezTo>
                    <a:cubicBezTo>
                      <a:pt x="83168" y="0"/>
                      <a:pt x="107156" y="23988"/>
                      <a:pt x="107156" y="53578"/>
                    </a:cubicBezTo>
                    <a:close/>
                  </a:path>
                </a:pathLst>
              </a:custGeom>
              <a:solidFill>
                <a:srgbClr val="505050"/>
              </a:solidFill>
              <a:ln w="9525" cap="flat">
                <a:noFill/>
                <a:prstDash val="solid"/>
                <a:miter/>
              </a:ln>
            </p:spPr>
            <p:txBody>
              <a:bodyPr rtlCol="0" anchor="ctr"/>
              <a:lstStyle/>
              <a:p>
                <a:endParaRPr lang="en-GB" sz="800" noProof="0" dirty="0"/>
              </a:p>
            </p:txBody>
          </p:sp>
        </p:grpSp>
        <p:grpSp>
          <p:nvGrpSpPr>
            <p:cNvPr id="10" name="Graphic 21" descr="Graph and note paper pads with pencil">
              <a:extLst>
                <a:ext uri="{FF2B5EF4-FFF2-40B4-BE49-F238E27FC236}">
                  <a16:creationId xmlns:a16="http://schemas.microsoft.com/office/drawing/2014/main" id="{3CD2C5FA-BBC2-7511-8F35-F759A2EB561C}"/>
                </a:ext>
              </a:extLst>
            </p:cNvPr>
            <p:cNvGrpSpPr/>
            <p:nvPr/>
          </p:nvGrpSpPr>
          <p:grpSpPr>
            <a:xfrm>
              <a:off x="6253871" y="6407485"/>
              <a:ext cx="2152059" cy="3281667"/>
              <a:chOff x="6253871" y="6407485"/>
              <a:chExt cx="2152059" cy="3281667"/>
            </a:xfrm>
          </p:grpSpPr>
          <p:sp>
            <p:nvSpPr>
              <p:cNvPr id="23" name="Freeform: Shape 22">
                <a:extLst>
                  <a:ext uri="{FF2B5EF4-FFF2-40B4-BE49-F238E27FC236}">
                    <a16:creationId xmlns:a16="http://schemas.microsoft.com/office/drawing/2014/main" id="{A6063FE3-2D30-2FD1-2276-19132FC9DE8A}"/>
                  </a:ext>
                </a:extLst>
              </p:cNvPr>
              <p:cNvSpPr/>
              <p:nvPr/>
            </p:nvSpPr>
            <p:spPr>
              <a:xfrm>
                <a:off x="6276188" y="6474464"/>
                <a:ext cx="2125265" cy="3214687"/>
              </a:xfrm>
              <a:custGeom>
                <a:avLst/>
                <a:gdLst>
                  <a:gd name="connsiteX0" fmla="*/ 0 w 2125265"/>
                  <a:gd name="connsiteY0" fmla="*/ 0 h 3214687"/>
                  <a:gd name="connsiteX1" fmla="*/ 2125266 w 2125265"/>
                  <a:gd name="connsiteY1" fmla="*/ 0 h 3214687"/>
                  <a:gd name="connsiteX2" fmla="*/ 2125266 w 2125265"/>
                  <a:gd name="connsiteY2" fmla="*/ 3214688 h 3214687"/>
                  <a:gd name="connsiteX3" fmla="*/ 0 w 2125265"/>
                  <a:gd name="connsiteY3" fmla="*/ 3214688 h 3214687"/>
                </a:gdLst>
                <a:ahLst/>
                <a:cxnLst>
                  <a:cxn ang="0">
                    <a:pos x="connsiteX0" y="connsiteY0"/>
                  </a:cxn>
                  <a:cxn ang="0">
                    <a:pos x="connsiteX1" y="connsiteY1"/>
                  </a:cxn>
                  <a:cxn ang="0">
                    <a:pos x="connsiteX2" y="connsiteY2"/>
                  </a:cxn>
                  <a:cxn ang="0">
                    <a:pos x="connsiteX3" y="connsiteY3"/>
                  </a:cxn>
                </a:cxnLst>
                <a:rect l="l" t="t" r="r" b="b"/>
                <a:pathLst>
                  <a:path w="2125265" h="3214687">
                    <a:moveTo>
                      <a:pt x="0" y="0"/>
                    </a:moveTo>
                    <a:lnTo>
                      <a:pt x="2125266" y="0"/>
                    </a:lnTo>
                    <a:lnTo>
                      <a:pt x="2125266" y="3214688"/>
                    </a:lnTo>
                    <a:lnTo>
                      <a:pt x="0" y="3214688"/>
                    </a:lnTo>
                    <a:close/>
                  </a:path>
                </a:pathLst>
              </a:custGeom>
              <a:solidFill>
                <a:srgbClr val="D2D2D2"/>
              </a:solidFill>
              <a:ln w="9525" cap="flat">
                <a:noFill/>
                <a:prstDash val="solid"/>
                <a:miter/>
              </a:ln>
            </p:spPr>
            <p:txBody>
              <a:bodyPr rtlCol="0" anchor="ctr"/>
              <a:lstStyle/>
              <a:p>
                <a:endParaRPr lang="en-GB" sz="800" noProof="0" dirty="0"/>
              </a:p>
            </p:txBody>
          </p:sp>
          <p:grpSp>
            <p:nvGrpSpPr>
              <p:cNvPr id="24" name="Graphic 21" descr="Graph and note paper pads with pencil">
                <a:extLst>
                  <a:ext uri="{FF2B5EF4-FFF2-40B4-BE49-F238E27FC236}">
                    <a16:creationId xmlns:a16="http://schemas.microsoft.com/office/drawing/2014/main" id="{682A6939-E6CA-65C9-FDD8-9D2E442CED7F}"/>
                  </a:ext>
                </a:extLst>
              </p:cNvPr>
              <p:cNvGrpSpPr/>
              <p:nvPr/>
            </p:nvGrpSpPr>
            <p:grpSpPr>
              <a:xfrm>
                <a:off x="6253871" y="6407485"/>
                <a:ext cx="2152059" cy="3223621"/>
                <a:chOff x="6253871" y="6407485"/>
                <a:chExt cx="2152059" cy="3223621"/>
              </a:xfrm>
            </p:grpSpPr>
            <p:sp>
              <p:nvSpPr>
                <p:cNvPr id="25" name="Freeform: Shape 24">
                  <a:extLst>
                    <a:ext uri="{FF2B5EF4-FFF2-40B4-BE49-F238E27FC236}">
                      <a16:creationId xmlns:a16="http://schemas.microsoft.com/office/drawing/2014/main" id="{8E484E97-E3DF-514F-75B6-69A307ED07BB}"/>
                    </a:ext>
                  </a:extLst>
                </p:cNvPr>
                <p:cNvSpPr/>
                <p:nvPr/>
              </p:nvSpPr>
              <p:spPr>
                <a:xfrm>
                  <a:off x="6258329" y="6411952"/>
                  <a:ext cx="2143125" cy="3214687"/>
                </a:xfrm>
                <a:custGeom>
                  <a:avLst/>
                  <a:gdLst>
                    <a:gd name="connsiteX0" fmla="*/ 0 w 2143125"/>
                    <a:gd name="connsiteY0" fmla="*/ 0 h 3214687"/>
                    <a:gd name="connsiteX1" fmla="*/ 2143125 w 2143125"/>
                    <a:gd name="connsiteY1" fmla="*/ 0 h 3214687"/>
                    <a:gd name="connsiteX2" fmla="*/ 2143125 w 2143125"/>
                    <a:gd name="connsiteY2" fmla="*/ 3214688 h 3214687"/>
                    <a:gd name="connsiteX3" fmla="*/ 0 w 2143125"/>
                    <a:gd name="connsiteY3" fmla="*/ 3214688 h 3214687"/>
                  </a:gdLst>
                  <a:ahLst/>
                  <a:cxnLst>
                    <a:cxn ang="0">
                      <a:pos x="connsiteX0" y="connsiteY0"/>
                    </a:cxn>
                    <a:cxn ang="0">
                      <a:pos x="connsiteX1" y="connsiteY1"/>
                    </a:cxn>
                    <a:cxn ang="0">
                      <a:pos x="connsiteX2" y="connsiteY2"/>
                    </a:cxn>
                    <a:cxn ang="0">
                      <a:pos x="connsiteX3" y="connsiteY3"/>
                    </a:cxn>
                  </a:cxnLst>
                  <a:rect l="l" t="t" r="r" b="b"/>
                  <a:pathLst>
                    <a:path w="2143125" h="3214687">
                      <a:moveTo>
                        <a:pt x="0" y="0"/>
                      </a:moveTo>
                      <a:lnTo>
                        <a:pt x="2143125" y="0"/>
                      </a:lnTo>
                      <a:lnTo>
                        <a:pt x="2143125" y="3214688"/>
                      </a:lnTo>
                      <a:lnTo>
                        <a:pt x="0" y="3214688"/>
                      </a:lnTo>
                      <a:close/>
                    </a:path>
                  </a:pathLst>
                </a:custGeom>
                <a:solidFill>
                  <a:schemeClr val="bg1">
                    <a:lumMod val="95000"/>
                  </a:schemeClr>
                </a:solidFill>
                <a:ln w="9525" cap="flat">
                  <a:noFill/>
                  <a:prstDash val="solid"/>
                  <a:miter/>
                </a:ln>
              </p:spPr>
              <p:txBody>
                <a:bodyPr rtlCol="0" anchor="ctr"/>
                <a:lstStyle/>
                <a:p>
                  <a:endParaRPr lang="en-GB" sz="800" noProof="0" dirty="0"/>
                </a:p>
              </p:txBody>
            </p:sp>
            <p:sp>
              <p:nvSpPr>
                <p:cNvPr id="26" name="Freeform: Shape 25">
                  <a:extLst>
                    <a:ext uri="{FF2B5EF4-FFF2-40B4-BE49-F238E27FC236}">
                      <a16:creationId xmlns:a16="http://schemas.microsoft.com/office/drawing/2014/main" id="{FF97EE98-0F10-FE12-1C19-BF4197FCE7AC}"/>
                    </a:ext>
                  </a:extLst>
                </p:cNvPr>
                <p:cNvSpPr/>
                <p:nvPr/>
              </p:nvSpPr>
              <p:spPr>
                <a:xfrm>
                  <a:off x="6253871" y="6407485"/>
                  <a:ext cx="2152059" cy="3223621"/>
                </a:xfrm>
                <a:custGeom>
                  <a:avLst/>
                  <a:gdLst>
                    <a:gd name="connsiteX0" fmla="*/ 2152050 w 2152059"/>
                    <a:gd name="connsiteY0" fmla="*/ 3223622 h 3223621"/>
                    <a:gd name="connsiteX1" fmla="*/ 0 w 2152059"/>
                    <a:gd name="connsiteY1" fmla="*/ 3223622 h 3223621"/>
                    <a:gd name="connsiteX2" fmla="*/ 0 w 2152059"/>
                    <a:gd name="connsiteY2" fmla="*/ 0 h 3223621"/>
                    <a:gd name="connsiteX3" fmla="*/ 2152060 w 2152059"/>
                    <a:gd name="connsiteY3" fmla="*/ 0 h 3223621"/>
                    <a:gd name="connsiteX4" fmla="*/ 2152060 w 2152059"/>
                    <a:gd name="connsiteY4" fmla="*/ 3223622 h 3223621"/>
                    <a:gd name="connsiteX5" fmla="*/ 8925 w 2152059"/>
                    <a:gd name="connsiteY5" fmla="*/ 3214688 h 3223621"/>
                    <a:gd name="connsiteX6" fmla="*/ 2143125 w 2152059"/>
                    <a:gd name="connsiteY6" fmla="*/ 3214688 h 3223621"/>
                    <a:gd name="connsiteX7" fmla="*/ 2143125 w 2152059"/>
                    <a:gd name="connsiteY7" fmla="*/ 8934 h 3223621"/>
                    <a:gd name="connsiteX8" fmla="*/ 8934 w 2152059"/>
                    <a:gd name="connsiteY8" fmla="*/ 8934 h 3223621"/>
                    <a:gd name="connsiteX9" fmla="*/ 8925 w 2152059"/>
                    <a:gd name="connsiteY9" fmla="*/ 3214688 h 3223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2059" h="3223621">
                      <a:moveTo>
                        <a:pt x="2152050" y="3223622"/>
                      </a:moveTo>
                      <a:lnTo>
                        <a:pt x="0" y="3223622"/>
                      </a:lnTo>
                      <a:lnTo>
                        <a:pt x="0" y="0"/>
                      </a:lnTo>
                      <a:lnTo>
                        <a:pt x="2152060" y="0"/>
                      </a:lnTo>
                      <a:lnTo>
                        <a:pt x="2152060" y="3223622"/>
                      </a:lnTo>
                      <a:close/>
                      <a:moveTo>
                        <a:pt x="8925" y="3214688"/>
                      </a:moveTo>
                      <a:lnTo>
                        <a:pt x="2143125" y="3214688"/>
                      </a:lnTo>
                      <a:lnTo>
                        <a:pt x="2143125" y="8934"/>
                      </a:lnTo>
                      <a:lnTo>
                        <a:pt x="8934" y="8934"/>
                      </a:lnTo>
                      <a:lnTo>
                        <a:pt x="8925" y="3214688"/>
                      </a:lnTo>
                      <a:close/>
                    </a:path>
                  </a:pathLst>
                </a:custGeom>
                <a:solidFill>
                  <a:srgbClr val="F2F2F2"/>
                </a:solidFill>
                <a:ln w="9525" cap="flat">
                  <a:noFill/>
                  <a:prstDash val="solid"/>
                  <a:miter/>
                </a:ln>
              </p:spPr>
              <p:txBody>
                <a:bodyPr rtlCol="0" anchor="ctr"/>
                <a:lstStyle/>
                <a:p>
                  <a:endParaRPr lang="en-GB" sz="800" noProof="0" dirty="0"/>
                </a:p>
              </p:txBody>
            </p:sp>
            <p:sp>
              <p:nvSpPr>
                <p:cNvPr id="27" name="Freeform: Shape 26">
                  <a:extLst>
                    <a:ext uri="{FF2B5EF4-FFF2-40B4-BE49-F238E27FC236}">
                      <a16:creationId xmlns:a16="http://schemas.microsoft.com/office/drawing/2014/main" id="{2FC1B58A-B5D8-2992-9978-AAEBA35DBAB9}"/>
                    </a:ext>
                  </a:extLst>
                </p:cNvPr>
                <p:cNvSpPr/>
                <p:nvPr/>
              </p:nvSpPr>
              <p:spPr>
                <a:xfrm>
                  <a:off x="6432465" y="6943275"/>
                  <a:ext cx="1830590" cy="2366371"/>
                </a:xfrm>
                <a:custGeom>
                  <a:avLst/>
                  <a:gdLst>
                    <a:gd name="connsiteX0" fmla="*/ 0 w 1830590"/>
                    <a:gd name="connsiteY0" fmla="*/ 0 h 2366371"/>
                    <a:gd name="connsiteX1" fmla="*/ 0 w 1830590"/>
                    <a:gd name="connsiteY1" fmla="*/ 2366372 h 2366371"/>
                    <a:gd name="connsiteX2" fmla="*/ 1830591 w 1830590"/>
                    <a:gd name="connsiteY2" fmla="*/ 2366372 h 2366371"/>
                    <a:gd name="connsiteX3" fmla="*/ 1830591 w 1830590"/>
                    <a:gd name="connsiteY3" fmla="*/ 0 h 2366371"/>
                    <a:gd name="connsiteX4" fmla="*/ 0 w 1830590"/>
                    <a:gd name="connsiteY4" fmla="*/ 0 h 2366371"/>
                    <a:gd name="connsiteX5" fmla="*/ 867480 w 1830590"/>
                    <a:gd name="connsiteY5" fmla="*/ 1500187 h 2366371"/>
                    <a:gd name="connsiteX6" fmla="*/ 867480 w 1830590"/>
                    <a:gd name="connsiteY6" fmla="*/ 1401956 h 2366371"/>
                    <a:gd name="connsiteX7" fmla="*/ 965711 w 1830590"/>
                    <a:gd name="connsiteY7" fmla="*/ 1401956 h 2366371"/>
                    <a:gd name="connsiteX8" fmla="*/ 965711 w 1830590"/>
                    <a:gd name="connsiteY8" fmla="*/ 1500187 h 2366371"/>
                    <a:gd name="connsiteX9" fmla="*/ 867480 w 1830590"/>
                    <a:gd name="connsiteY9" fmla="*/ 1500187 h 2366371"/>
                    <a:gd name="connsiteX10" fmla="*/ 965702 w 1830590"/>
                    <a:gd name="connsiteY10" fmla="*/ 1509112 h 2366371"/>
                    <a:gd name="connsiteX11" fmla="*/ 965702 w 1830590"/>
                    <a:gd name="connsiteY11" fmla="*/ 1607344 h 2366371"/>
                    <a:gd name="connsiteX12" fmla="*/ 867470 w 1830590"/>
                    <a:gd name="connsiteY12" fmla="*/ 1607344 h 2366371"/>
                    <a:gd name="connsiteX13" fmla="*/ 867470 w 1830590"/>
                    <a:gd name="connsiteY13" fmla="*/ 1509112 h 2366371"/>
                    <a:gd name="connsiteX14" fmla="*/ 965702 w 1830590"/>
                    <a:gd name="connsiteY14" fmla="*/ 1509112 h 2366371"/>
                    <a:gd name="connsiteX15" fmla="*/ 965702 w 1830590"/>
                    <a:gd name="connsiteY15" fmla="*/ 866175 h 2366371"/>
                    <a:gd name="connsiteX16" fmla="*/ 965702 w 1830590"/>
                    <a:gd name="connsiteY16" fmla="*/ 964406 h 2366371"/>
                    <a:gd name="connsiteX17" fmla="*/ 867470 w 1830590"/>
                    <a:gd name="connsiteY17" fmla="*/ 964406 h 2366371"/>
                    <a:gd name="connsiteX18" fmla="*/ 867470 w 1830590"/>
                    <a:gd name="connsiteY18" fmla="*/ 866175 h 2366371"/>
                    <a:gd name="connsiteX19" fmla="*/ 965702 w 1830590"/>
                    <a:gd name="connsiteY19" fmla="*/ 866175 h 2366371"/>
                    <a:gd name="connsiteX20" fmla="*/ 867480 w 1830590"/>
                    <a:gd name="connsiteY20" fmla="*/ 857250 h 2366371"/>
                    <a:gd name="connsiteX21" fmla="*/ 867480 w 1830590"/>
                    <a:gd name="connsiteY21" fmla="*/ 759019 h 2366371"/>
                    <a:gd name="connsiteX22" fmla="*/ 965711 w 1830590"/>
                    <a:gd name="connsiteY22" fmla="*/ 759019 h 2366371"/>
                    <a:gd name="connsiteX23" fmla="*/ 965711 w 1830590"/>
                    <a:gd name="connsiteY23" fmla="*/ 857250 h 2366371"/>
                    <a:gd name="connsiteX24" fmla="*/ 867480 w 1830590"/>
                    <a:gd name="connsiteY24" fmla="*/ 857250 h 2366371"/>
                    <a:gd name="connsiteX25" fmla="*/ 867480 w 1830590"/>
                    <a:gd name="connsiteY25" fmla="*/ 1285875 h 2366371"/>
                    <a:gd name="connsiteX26" fmla="*/ 867480 w 1830590"/>
                    <a:gd name="connsiteY26" fmla="*/ 1187644 h 2366371"/>
                    <a:gd name="connsiteX27" fmla="*/ 965711 w 1830590"/>
                    <a:gd name="connsiteY27" fmla="*/ 1187644 h 2366371"/>
                    <a:gd name="connsiteX28" fmla="*/ 965711 w 1830590"/>
                    <a:gd name="connsiteY28" fmla="*/ 1285875 h 2366371"/>
                    <a:gd name="connsiteX29" fmla="*/ 867480 w 1830590"/>
                    <a:gd name="connsiteY29" fmla="*/ 1285875 h 2366371"/>
                    <a:gd name="connsiteX30" fmla="*/ 965702 w 1830590"/>
                    <a:gd name="connsiteY30" fmla="*/ 1294800 h 2366371"/>
                    <a:gd name="connsiteX31" fmla="*/ 965702 w 1830590"/>
                    <a:gd name="connsiteY31" fmla="*/ 1393031 h 2366371"/>
                    <a:gd name="connsiteX32" fmla="*/ 867470 w 1830590"/>
                    <a:gd name="connsiteY32" fmla="*/ 1393031 h 2366371"/>
                    <a:gd name="connsiteX33" fmla="*/ 867470 w 1830590"/>
                    <a:gd name="connsiteY33" fmla="*/ 1294800 h 2366371"/>
                    <a:gd name="connsiteX34" fmla="*/ 965702 w 1830590"/>
                    <a:gd name="connsiteY34" fmla="*/ 1294800 h 2366371"/>
                    <a:gd name="connsiteX35" fmla="*/ 867480 w 1830590"/>
                    <a:gd name="connsiteY35" fmla="*/ 1178719 h 2366371"/>
                    <a:gd name="connsiteX36" fmla="*/ 867480 w 1830590"/>
                    <a:gd name="connsiteY36" fmla="*/ 1080487 h 2366371"/>
                    <a:gd name="connsiteX37" fmla="*/ 965711 w 1830590"/>
                    <a:gd name="connsiteY37" fmla="*/ 1080487 h 2366371"/>
                    <a:gd name="connsiteX38" fmla="*/ 965711 w 1830590"/>
                    <a:gd name="connsiteY38" fmla="*/ 1178719 h 2366371"/>
                    <a:gd name="connsiteX39" fmla="*/ 867480 w 1830590"/>
                    <a:gd name="connsiteY39" fmla="*/ 1178719 h 2366371"/>
                    <a:gd name="connsiteX40" fmla="*/ 867480 w 1830590"/>
                    <a:gd name="connsiteY40" fmla="*/ 1071562 h 2366371"/>
                    <a:gd name="connsiteX41" fmla="*/ 867480 w 1830590"/>
                    <a:gd name="connsiteY41" fmla="*/ 973331 h 2366371"/>
                    <a:gd name="connsiteX42" fmla="*/ 965711 w 1830590"/>
                    <a:gd name="connsiteY42" fmla="*/ 973331 h 2366371"/>
                    <a:gd name="connsiteX43" fmla="*/ 965711 w 1830590"/>
                    <a:gd name="connsiteY43" fmla="*/ 1071562 h 2366371"/>
                    <a:gd name="connsiteX44" fmla="*/ 867480 w 1830590"/>
                    <a:gd name="connsiteY44" fmla="*/ 1071562 h 2366371"/>
                    <a:gd name="connsiteX45" fmla="*/ 858546 w 1830590"/>
                    <a:gd name="connsiteY45" fmla="*/ 964406 h 2366371"/>
                    <a:gd name="connsiteX46" fmla="*/ 760314 w 1830590"/>
                    <a:gd name="connsiteY46" fmla="*/ 964406 h 2366371"/>
                    <a:gd name="connsiteX47" fmla="*/ 760314 w 1830590"/>
                    <a:gd name="connsiteY47" fmla="*/ 866175 h 2366371"/>
                    <a:gd name="connsiteX48" fmla="*/ 858546 w 1830590"/>
                    <a:gd name="connsiteY48" fmla="*/ 866175 h 2366371"/>
                    <a:gd name="connsiteX49" fmla="*/ 858546 w 1830590"/>
                    <a:gd name="connsiteY49" fmla="*/ 964406 h 2366371"/>
                    <a:gd name="connsiteX50" fmla="*/ 858546 w 1830590"/>
                    <a:gd name="connsiteY50" fmla="*/ 973331 h 2366371"/>
                    <a:gd name="connsiteX51" fmla="*/ 858546 w 1830590"/>
                    <a:gd name="connsiteY51" fmla="*/ 1071562 h 2366371"/>
                    <a:gd name="connsiteX52" fmla="*/ 760314 w 1830590"/>
                    <a:gd name="connsiteY52" fmla="*/ 1071562 h 2366371"/>
                    <a:gd name="connsiteX53" fmla="*/ 760314 w 1830590"/>
                    <a:gd name="connsiteY53" fmla="*/ 973331 h 2366371"/>
                    <a:gd name="connsiteX54" fmla="*/ 858546 w 1830590"/>
                    <a:gd name="connsiteY54" fmla="*/ 973331 h 2366371"/>
                    <a:gd name="connsiteX55" fmla="*/ 858546 w 1830590"/>
                    <a:gd name="connsiteY55" fmla="*/ 1080487 h 2366371"/>
                    <a:gd name="connsiteX56" fmla="*/ 858546 w 1830590"/>
                    <a:gd name="connsiteY56" fmla="*/ 1178719 h 2366371"/>
                    <a:gd name="connsiteX57" fmla="*/ 760314 w 1830590"/>
                    <a:gd name="connsiteY57" fmla="*/ 1178719 h 2366371"/>
                    <a:gd name="connsiteX58" fmla="*/ 760314 w 1830590"/>
                    <a:gd name="connsiteY58" fmla="*/ 1080487 h 2366371"/>
                    <a:gd name="connsiteX59" fmla="*/ 858546 w 1830590"/>
                    <a:gd name="connsiteY59" fmla="*/ 1080487 h 2366371"/>
                    <a:gd name="connsiteX60" fmla="*/ 858546 w 1830590"/>
                    <a:gd name="connsiteY60" fmla="*/ 1187644 h 2366371"/>
                    <a:gd name="connsiteX61" fmla="*/ 858546 w 1830590"/>
                    <a:gd name="connsiteY61" fmla="*/ 1285875 h 2366371"/>
                    <a:gd name="connsiteX62" fmla="*/ 760314 w 1830590"/>
                    <a:gd name="connsiteY62" fmla="*/ 1285875 h 2366371"/>
                    <a:gd name="connsiteX63" fmla="*/ 760314 w 1830590"/>
                    <a:gd name="connsiteY63" fmla="*/ 1187644 h 2366371"/>
                    <a:gd name="connsiteX64" fmla="*/ 858546 w 1830590"/>
                    <a:gd name="connsiteY64" fmla="*/ 1187644 h 2366371"/>
                    <a:gd name="connsiteX65" fmla="*/ 858546 w 1830590"/>
                    <a:gd name="connsiteY65" fmla="*/ 1294800 h 2366371"/>
                    <a:gd name="connsiteX66" fmla="*/ 858546 w 1830590"/>
                    <a:gd name="connsiteY66" fmla="*/ 1393031 h 2366371"/>
                    <a:gd name="connsiteX67" fmla="*/ 760314 w 1830590"/>
                    <a:gd name="connsiteY67" fmla="*/ 1393031 h 2366371"/>
                    <a:gd name="connsiteX68" fmla="*/ 760314 w 1830590"/>
                    <a:gd name="connsiteY68" fmla="*/ 1294800 h 2366371"/>
                    <a:gd name="connsiteX69" fmla="*/ 858546 w 1830590"/>
                    <a:gd name="connsiteY69" fmla="*/ 1294800 h 2366371"/>
                    <a:gd name="connsiteX70" fmla="*/ 858546 w 1830590"/>
                    <a:gd name="connsiteY70" fmla="*/ 1401956 h 2366371"/>
                    <a:gd name="connsiteX71" fmla="*/ 858546 w 1830590"/>
                    <a:gd name="connsiteY71" fmla="*/ 1500187 h 2366371"/>
                    <a:gd name="connsiteX72" fmla="*/ 760314 w 1830590"/>
                    <a:gd name="connsiteY72" fmla="*/ 1500187 h 2366371"/>
                    <a:gd name="connsiteX73" fmla="*/ 760314 w 1830590"/>
                    <a:gd name="connsiteY73" fmla="*/ 1401956 h 2366371"/>
                    <a:gd name="connsiteX74" fmla="*/ 858546 w 1830590"/>
                    <a:gd name="connsiteY74" fmla="*/ 1401956 h 2366371"/>
                    <a:gd name="connsiteX75" fmla="*/ 974636 w 1830590"/>
                    <a:gd name="connsiteY75" fmla="*/ 1401956 h 2366371"/>
                    <a:gd name="connsiteX76" fmla="*/ 1072867 w 1830590"/>
                    <a:gd name="connsiteY76" fmla="*/ 1401956 h 2366371"/>
                    <a:gd name="connsiteX77" fmla="*/ 1072867 w 1830590"/>
                    <a:gd name="connsiteY77" fmla="*/ 1500187 h 2366371"/>
                    <a:gd name="connsiteX78" fmla="*/ 974636 w 1830590"/>
                    <a:gd name="connsiteY78" fmla="*/ 1500187 h 2366371"/>
                    <a:gd name="connsiteX79" fmla="*/ 974636 w 1830590"/>
                    <a:gd name="connsiteY79" fmla="*/ 1401956 h 2366371"/>
                    <a:gd name="connsiteX80" fmla="*/ 974636 w 1830590"/>
                    <a:gd name="connsiteY80" fmla="*/ 1393031 h 2366371"/>
                    <a:gd name="connsiteX81" fmla="*/ 974636 w 1830590"/>
                    <a:gd name="connsiteY81" fmla="*/ 1294800 h 2366371"/>
                    <a:gd name="connsiteX82" fmla="*/ 1072867 w 1830590"/>
                    <a:gd name="connsiteY82" fmla="*/ 1294800 h 2366371"/>
                    <a:gd name="connsiteX83" fmla="*/ 1072867 w 1830590"/>
                    <a:gd name="connsiteY83" fmla="*/ 1393031 h 2366371"/>
                    <a:gd name="connsiteX84" fmla="*/ 974636 w 1830590"/>
                    <a:gd name="connsiteY84" fmla="*/ 1393031 h 2366371"/>
                    <a:gd name="connsiteX85" fmla="*/ 974636 w 1830590"/>
                    <a:gd name="connsiteY85" fmla="*/ 1285875 h 2366371"/>
                    <a:gd name="connsiteX86" fmla="*/ 974636 w 1830590"/>
                    <a:gd name="connsiteY86" fmla="*/ 1187644 h 2366371"/>
                    <a:gd name="connsiteX87" fmla="*/ 1072867 w 1830590"/>
                    <a:gd name="connsiteY87" fmla="*/ 1187644 h 2366371"/>
                    <a:gd name="connsiteX88" fmla="*/ 1072867 w 1830590"/>
                    <a:gd name="connsiteY88" fmla="*/ 1285875 h 2366371"/>
                    <a:gd name="connsiteX89" fmla="*/ 974636 w 1830590"/>
                    <a:gd name="connsiteY89" fmla="*/ 1285875 h 2366371"/>
                    <a:gd name="connsiteX90" fmla="*/ 974636 w 1830590"/>
                    <a:gd name="connsiteY90" fmla="*/ 1178719 h 2366371"/>
                    <a:gd name="connsiteX91" fmla="*/ 974636 w 1830590"/>
                    <a:gd name="connsiteY91" fmla="*/ 1080487 h 2366371"/>
                    <a:gd name="connsiteX92" fmla="*/ 1072867 w 1830590"/>
                    <a:gd name="connsiteY92" fmla="*/ 1080487 h 2366371"/>
                    <a:gd name="connsiteX93" fmla="*/ 1072867 w 1830590"/>
                    <a:gd name="connsiteY93" fmla="*/ 1178719 h 2366371"/>
                    <a:gd name="connsiteX94" fmla="*/ 974636 w 1830590"/>
                    <a:gd name="connsiteY94" fmla="*/ 1178719 h 2366371"/>
                    <a:gd name="connsiteX95" fmla="*/ 974636 w 1830590"/>
                    <a:gd name="connsiteY95" fmla="*/ 1071562 h 2366371"/>
                    <a:gd name="connsiteX96" fmla="*/ 974636 w 1830590"/>
                    <a:gd name="connsiteY96" fmla="*/ 973331 h 2366371"/>
                    <a:gd name="connsiteX97" fmla="*/ 1072867 w 1830590"/>
                    <a:gd name="connsiteY97" fmla="*/ 973331 h 2366371"/>
                    <a:gd name="connsiteX98" fmla="*/ 1072867 w 1830590"/>
                    <a:gd name="connsiteY98" fmla="*/ 1071562 h 2366371"/>
                    <a:gd name="connsiteX99" fmla="*/ 974636 w 1830590"/>
                    <a:gd name="connsiteY99" fmla="*/ 1071562 h 2366371"/>
                    <a:gd name="connsiteX100" fmla="*/ 974636 w 1830590"/>
                    <a:gd name="connsiteY100" fmla="*/ 964406 h 2366371"/>
                    <a:gd name="connsiteX101" fmla="*/ 974636 w 1830590"/>
                    <a:gd name="connsiteY101" fmla="*/ 866175 h 2366371"/>
                    <a:gd name="connsiteX102" fmla="*/ 1072867 w 1830590"/>
                    <a:gd name="connsiteY102" fmla="*/ 866175 h 2366371"/>
                    <a:gd name="connsiteX103" fmla="*/ 1072867 w 1830590"/>
                    <a:gd name="connsiteY103" fmla="*/ 964406 h 2366371"/>
                    <a:gd name="connsiteX104" fmla="*/ 974636 w 1830590"/>
                    <a:gd name="connsiteY104" fmla="*/ 964406 h 2366371"/>
                    <a:gd name="connsiteX105" fmla="*/ 974636 w 1830590"/>
                    <a:gd name="connsiteY105" fmla="*/ 857250 h 2366371"/>
                    <a:gd name="connsiteX106" fmla="*/ 974636 w 1830590"/>
                    <a:gd name="connsiteY106" fmla="*/ 759019 h 2366371"/>
                    <a:gd name="connsiteX107" fmla="*/ 1072867 w 1830590"/>
                    <a:gd name="connsiteY107" fmla="*/ 759019 h 2366371"/>
                    <a:gd name="connsiteX108" fmla="*/ 1072867 w 1830590"/>
                    <a:gd name="connsiteY108" fmla="*/ 857250 h 2366371"/>
                    <a:gd name="connsiteX109" fmla="*/ 974636 w 1830590"/>
                    <a:gd name="connsiteY109" fmla="*/ 857250 h 2366371"/>
                    <a:gd name="connsiteX110" fmla="*/ 974636 w 1830590"/>
                    <a:gd name="connsiteY110" fmla="*/ 750094 h 2366371"/>
                    <a:gd name="connsiteX111" fmla="*/ 974636 w 1830590"/>
                    <a:gd name="connsiteY111" fmla="*/ 651862 h 2366371"/>
                    <a:gd name="connsiteX112" fmla="*/ 1072867 w 1830590"/>
                    <a:gd name="connsiteY112" fmla="*/ 651862 h 2366371"/>
                    <a:gd name="connsiteX113" fmla="*/ 1072867 w 1830590"/>
                    <a:gd name="connsiteY113" fmla="*/ 750094 h 2366371"/>
                    <a:gd name="connsiteX114" fmla="*/ 974636 w 1830590"/>
                    <a:gd name="connsiteY114" fmla="*/ 750094 h 2366371"/>
                    <a:gd name="connsiteX115" fmla="*/ 965702 w 1830590"/>
                    <a:gd name="connsiteY115" fmla="*/ 750094 h 2366371"/>
                    <a:gd name="connsiteX116" fmla="*/ 867470 w 1830590"/>
                    <a:gd name="connsiteY116" fmla="*/ 750094 h 2366371"/>
                    <a:gd name="connsiteX117" fmla="*/ 867470 w 1830590"/>
                    <a:gd name="connsiteY117" fmla="*/ 651862 h 2366371"/>
                    <a:gd name="connsiteX118" fmla="*/ 965702 w 1830590"/>
                    <a:gd name="connsiteY118" fmla="*/ 651862 h 2366371"/>
                    <a:gd name="connsiteX119" fmla="*/ 965702 w 1830590"/>
                    <a:gd name="connsiteY119" fmla="*/ 750094 h 2366371"/>
                    <a:gd name="connsiteX120" fmla="*/ 858546 w 1830590"/>
                    <a:gd name="connsiteY120" fmla="*/ 750094 h 2366371"/>
                    <a:gd name="connsiteX121" fmla="*/ 760314 w 1830590"/>
                    <a:gd name="connsiteY121" fmla="*/ 750094 h 2366371"/>
                    <a:gd name="connsiteX122" fmla="*/ 760314 w 1830590"/>
                    <a:gd name="connsiteY122" fmla="*/ 651862 h 2366371"/>
                    <a:gd name="connsiteX123" fmla="*/ 858546 w 1830590"/>
                    <a:gd name="connsiteY123" fmla="*/ 651862 h 2366371"/>
                    <a:gd name="connsiteX124" fmla="*/ 858546 w 1830590"/>
                    <a:gd name="connsiteY124" fmla="*/ 750094 h 2366371"/>
                    <a:gd name="connsiteX125" fmla="*/ 858546 w 1830590"/>
                    <a:gd name="connsiteY125" fmla="*/ 759019 h 2366371"/>
                    <a:gd name="connsiteX126" fmla="*/ 858546 w 1830590"/>
                    <a:gd name="connsiteY126" fmla="*/ 857250 h 2366371"/>
                    <a:gd name="connsiteX127" fmla="*/ 760314 w 1830590"/>
                    <a:gd name="connsiteY127" fmla="*/ 857250 h 2366371"/>
                    <a:gd name="connsiteX128" fmla="*/ 760314 w 1830590"/>
                    <a:gd name="connsiteY128" fmla="*/ 759019 h 2366371"/>
                    <a:gd name="connsiteX129" fmla="*/ 858546 w 1830590"/>
                    <a:gd name="connsiteY129" fmla="*/ 759019 h 2366371"/>
                    <a:gd name="connsiteX130" fmla="*/ 751389 w 1830590"/>
                    <a:gd name="connsiteY130" fmla="*/ 857250 h 2366371"/>
                    <a:gd name="connsiteX131" fmla="*/ 653158 w 1830590"/>
                    <a:gd name="connsiteY131" fmla="*/ 857250 h 2366371"/>
                    <a:gd name="connsiteX132" fmla="*/ 653158 w 1830590"/>
                    <a:gd name="connsiteY132" fmla="*/ 759019 h 2366371"/>
                    <a:gd name="connsiteX133" fmla="*/ 751389 w 1830590"/>
                    <a:gd name="connsiteY133" fmla="*/ 759019 h 2366371"/>
                    <a:gd name="connsiteX134" fmla="*/ 751389 w 1830590"/>
                    <a:gd name="connsiteY134" fmla="*/ 857250 h 2366371"/>
                    <a:gd name="connsiteX135" fmla="*/ 751389 w 1830590"/>
                    <a:gd name="connsiteY135" fmla="*/ 866175 h 2366371"/>
                    <a:gd name="connsiteX136" fmla="*/ 751389 w 1830590"/>
                    <a:gd name="connsiteY136" fmla="*/ 964406 h 2366371"/>
                    <a:gd name="connsiteX137" fmla="*/ 653158 w 1830590"/>
                    <a:gd name="connsiteY137" fmla="*/ 964406 h 2366371"/>
                    <a:gd name="connsiteX138" fmla="*/ 653158 w 1830590"/>
                    <a:gd name="connsiteY138" fmla="*/ 866175 h 2366371"/>
                    <a:gd name="connsiteX139" fmla="*/ 751389 w 1830590"/>
                    <a:gd name="connsiteY139" fmla="*/ 866175 h 2366371"/>
                    <a:gd name="connsiteX140" fmla="*/ 751389 w 1830590"/>
                    <a:gd name="connsiteY140" fmla="*/ 973331 h 2366371"/>
                    <a:gd name="connsiteX141" fmla="*/ 751389 w 1830590"/>
                    <a:gd name="connsiteY141" fmla="*/ 1071562 h 2366371"/>
                    <a:gd name="connsiteX142" fmla="*/ 653158 w 1830590"/>
                    <a:gd name="connsiteY142" fmla="*/ 1071562 h 2366371"/>
                    <a:gd name="connsiteX143" fmla="*/ 653158 w 1830590"/>
                    <a:gd name="connsiteY143" fmla="*/ 973331 h 2366371"/>
                    <a:gd name="connsiteX144" fmla="*/ 751389 w 1830590"/>
                    <a:gd name="connsiteY144" fmla="*/ 973331 h 2366371"/>
                    <a:gd name="connsiteX145" fmla="*/ 751389 w 1830590"/>
                    <a:gd name="connsiteY145" fmla="*/ 1080487 h 2366371"/>
                    <a:gd name="connsiteX146" fmla="*/ 751389 w 1830590"/>
                    <a:gd name="connsiteY146" fmla="*/ 1178719 h 2366371"/>
                    <a:gd name="connsiteX147" fmla="*/ 653158 w 1830590"/>
                    <a:gd name="connsiteY147" fmla="*/ 1178719 h 2366371"/>
                    <a:gd name="connsiteX148" fmla="*/ 653158 w 1830590"/>
                    <a:gd name="connsiteY148" fmla="*/ 1080487 h 2366371"/>
                    <a:gd name="connsiteX149" fmla="*/ 751389 w 1830590"/>
                    <a:gd name="connsiteY149" fmla="*/ 1080487 h 2366371"/>
                    <a:gd name="connsiteX150" fmla="*/ 751389 w 1830590"/>
                    <a:gd name="connsiteY150" fmla="*/ 1187644 h 2366371"/>
                    <a:gd name="connsiteX151" fmla="*/ 751389 w 1830590"/>
                    <a:gd name="connsiteY151" fmla="*/ 1285875 h 2366371"/>
                    <a:gd name="connsiteX152" fmla="*/ 653158 w 1830590"/>
                    <a:gd name="connsiteY152" fmla="*/ 1285875 h 2366371"/>
                    <a:gd name="connsiteX153" fmla="*/ 653158 w 1830590"/>
                    <a:gd name="connsiteY153" fmla="*/ 1187644 h 2366371"/>
                    <a:gd name="connsiteX154" fmla="*/ 751389 w 1830590"/>
                    <a:gd name="connsiteY154" fmla="*/ 1187644 h 2366371"/>
                    <a:gd name="connsiteX155" fmla="*/ 751389 w 1830590"/>
                    <a:gd name="connsiteY155" fmla="*/ 1294800 h 2366371"/>
                    <a:gd name="connsiteX156" fmla="*/ 751389 w 1830590"/>
                    <a:gd name="connsiteY156" fmla="*/ 1393031 h 2366371"/>
                    <a:gd name="connsiteX157" fmla="*/ 653158 w 1830590"/>
                    <a:gd name="connsiteY157" fmla="*/ 1393031 h 2366371"/>
                    <a:gd name="connsiteX158" fmla="*/ 653158 w 1830590"/>
                    <a:gd name="connsiteY158" fmla="*/ 1294800 h 2366371"/>
                    <a:gd name="connsiteX159" fmla="*/ 751389 w 1830590"/>
                    <a:gd name="connsiteY159" fmla="*/ 1294800 h 2366371"/>
                    <a:gd name="connsiteX160" fmla="*/ 751389 w 1830590"/>
                    <a:gd name="connsiteY160" fmla="*/ 1401956 h 2366371"/>
                    <a:gd name="connsiteX161" fmla="*/ 751389 w 1830590"/>
                    <a:gd name="connsiteY161" fmla="*/ 1500187 h 2366371"/>
                    <a:gd name="connsiteX162" fmla="*/ 653158 w 1830590"/>
                    <a:gd name="connsiteY162" fmla="*/ 1500187 h 2366371"/>
                    <a:gd name="connsiteX163" fmla="*/ 653158 w 1830590"/>
                    <a:gd name="connsiteY163" fmla="*/ 1401956 h 2366371"/>
                    <a:gd name="connsiteX164" fmla="*/ 751389 w 1830590"/>
                    <a:gd name="connsiteY164" fmla="*/ 1401956 h 2366371"/>
                    <a:gd name="connsiteX165" fmla="*/ 751389 w 1830590"/>
                    <a:gd name="connsiteY165" fmla="*/ 1509112 h 2366371"/>
                    <a:gd name="connsiteX166" fmla="*/ 751389 w 1830590"/>
                    <a:gd name="connsiteY166" fmla="*/ 1607344 h 2366371"/>
                    <a:gd name="connsiteX167" fmla="*/ 653158 w 1830590"/>
                    <a:gd name="connsiteY167" fmla="*/ 1607344 h 2366371"/>
                    <a:gd name="connsiteX168" fmla="*/ 653158 w 1830590"/>
                    <a:gd name="connsiteY168" fmla="*/ 1509112 h 2366371"/>
                    <a:gd name="connsiteX169" fmla="*/ 751389 w 1830590"/>
                    <a:gd name="connsiteY169" fmla="*/ 1509112 h 2366371"/>
                    <a:gd name="connsiteX170" fmla="*/ 760324 w 1830590"/>
                    <a:gd name="connsiteY170" fmla="*/ 1509112 h 2366371"/>
                    <a:gd name="connsiteX171" fmla="*/ 858555 w 1830590"/>
                    <a:gd name="connsiteY171" fmla="*/ 1509112 h 2366371"/>
                    <a:gd name="connsiteX172" fmla="*/ 858555 w 1830590"/>
                    <a:gd name="connsiteY172" fmla="*/ 1607344 h 2366371"/>
                    <a:gd name="connsiteX173" fmla="*/ 760324 w 1830590"/>
                    <a:gd name="connsiteY173" fmla="*/ 1607344 h 2366371"/>
                    <a:gd name="connsiteX174" fmla="*/ 760324 w 1830590"/>
                    <a:gd name="connsiteY174" fmla="*/ 1509112 h 2366371"/>
                    <a:gd name="connsiteX175" fmla="*/ 858546 w 1830590"/>
                    <a:gd name="connsiteY175" fmla="*/ 1616269 h 2366371"/>
                    <a:gd name="connsiteX176" fmla="*/ 858546 w 1830590"/>
                    <a:gd name="connsiteY176" fmla="*/ 1714500 h 2366371"/>
                    <a:gd name="connsiteX177" fmla="*/ 760314 w 1830590"/>
                    <a:gd name="connsiteY177" fmla="*/ 1714500 h 2366371"/>
                    <a:gd name="connsiteX178" fmla="*/ 760314 w 1830590"/>
                    <a:gd name="connsiteY178" fmla="*/ 1616269 h 2366371"/>
                    <a:gd name="connsiteX179" fmla="*/ 858546 w 1830590"/>
                    <a:gd name="connsiteY179" fmla="*/ 1616269 h 2366371"/>
                    <a:gd name="connsiteX180" fmla="*/ 867480 w 1830590"/>
                    <a:gd name="connsiteY180" fmla="*/ 1616269 h 2366371"/>
                    <a:gd name="connsiteX181" fmla="*/ 965711 w 1830590"/>
                    <a:gd name="connsiteY181" fmla="*/ 1616269 h 2366371"/>
                    <a:gd name="connsiteX182" fmla="*/ 965711 w 1830590"/>
                    <a:gd name="connsiteY182" fmla="*/ 1714500 h 2366371"/>
                    <a:gd name="connsiteX183" fmla="*/ 867480 w 1830590"/>
                    <a:gd name="connsiteY183" fmla="*/ 1714500 h 2366371"/>
                    <a:gd name="connsiteX184" fmla="*/ 867480 w 1830590"/>
                    <a:gd name="connsiteY184" fmla="*/ 1616269 h 2366371"/>
                    <a:gd name="connsiteX185" fmla="*/ 974636 w 1830590"/>
                    <a:gd name="connsiteY185" fmla="*/ 1616269 h 2366371"/>
                    <a:gd name="connsiteX186" fmla="*/ 1072867 w 1830590"/>
                    <a:gd name="connsiteY186" fmla="*/ 1616269 h 2366371"/>
                    <a:gd name="connsiteX187" fmla="*/ 1072867 w 1830590"/>
                    <a:gd name="connsiteY187" fmla="*/ 1714500 h 2366371"/>
                    <a:gd name="connsiteX188" fmla="*/ 974636 w 1830590"/>
                    <a:gd name="connsiteY188" fmla="*/ 1714500 h 2366371"/>
                    <a:gd name="connsiteX189" fmla="*/ 974636 w 1830590"/>
                    <a:gd name="connsiteY189" fmla="*/ 1616269 h 2366371"/>
                    <a:gd name="connsiteX190" fmla="*/ 974636 w 1830590"/>
                    <a:gd name="connsiteY190" fmla="*/ 1607344 h 2366371"/>
                    <a:gd name="connsiteX191" fmla="*/ 974636 w 1830590"/>
                    <a:gd name="connsiteY191" fmla="*/ 1509112 h 2366371"/>
                    <a:gd name="connsiteX192" fmla="*/ 1072867 w 1830590"/>
                    <a:gd name="connsiteY192" fmla="*/ 1509112 h 2366371"/>
                    <a:gd name="connsiteX193" fmla="*/ 1072867 w 1830590"/>
                    <a:gd name="connsiteY193" fmla="*/ 1607344 h 2366371"/>
                    <a:gd name="connsiteX194" fmla="*/ 974636 w 1830590"/>
                    <a:gd name="connsiteY194" fmla="*/ 1607344 h 2366371"/>
                    <a:gd name="connsiteX195" fmla="*/ 1081792 w 1830590"/>
                    <a:gd name="connsiteY195" fmla="*/ 1509112 h 2366371"/>
                    <a:gd name="connsiteX196" fmla="*/ 1180024 w 1830590"/>
                    <a:gd name="connsiteY196" fmla="*/ 1509112 h 2366371"/>
                    <a:gd name="connsiteX197" fmla="*/ 1180024 w 1830590"/>
                    <a:gd name="connsiteY197" fmla="*/ 1607344 h 2366371"/>
                    <a:gd name="connsiteX198" fmla="*/ 1081792 w 1830590"/>
                    <a:gd name="connsiteY198" fmla="*/ 1607344 h 2366371"/>
                    <a:gd name="connsiteX199" fmla="*/ 1081792 w 1830590"/>
                    <a:gd name="connsiteY199" fmla="*/ 1509112 h 2366371"/>
                    <a:gd name="connsiteX200" fmla="*/ 1081792 w 1830590"/>
                    <a:gd name="connsiteY200" fmla="*/ 1500187 h 2366371"/>
                    <a:gd name="connsiteX201" fmla="*/ 1081792 w 1830590"/>
                    <a:gd name="connsiteY201" fmla="*/ 1401956 h 2366371"/>
                    <a:gd name="connsiteX202" fmla="*/ 1180024 w 1830590"/>
                    <a:gd name="connsiteY202" fmla="*/ 1401956 h 2366371"/>
                    <a:gd name="connsiteX203" fmla="*/ 1180024 w 1830590"/>
                    <a:gd name="connsiteY203" fmla="*/ 1500187 h 2366371"/>
                    <a:gd name="connsiteX204" fmla="*/ 1081792 w 1830590"/>
                    <a:gd name="connsiteY204" fmla="*/ 1500187 h 2366371"/>
                    <a:gd name="connsiteX205" fmla="*/ 1081792 w 1830590"/>
                    <a:gd name="connsiteY205" fmla="*/ 1393031 h 2366371"/>
                    <a:gd name="connsiteX206" fmla="*/ 1081792 w 1830590"/>
                    <a:gd name="connsiteY206" fmla="*/ 1294800 h 2366371"/>
                    <a:gd name="connsiteX207" fmla="*/ 1180024 w 1830590"/>
                    <a:gd name="connsiteY207" fmla="*/ 1294800 h 2366371"/>
                    <a:gd name="connsiteX208" fmla="*/ 1180024 w 1830590"/>
                    <a:gd name="connsiteY208" fmla="*/ 1393031 h 2366371"/>
                    <a:gd name="connsiteX209" fmla="*/ 1081792 w 1830590"/>
                    <a:gd name="connsiteY209" fmla="*/ 1393031 h 2366371"/>
                    <a:gd name="connsiteX210" fmla="*/ 1081792 w 1830590"/>
                    <a:gd name="connsiteY210" fmla="*/ 1285875 h 2366371"/>
                    <a:gd name="connsiteX211" fmla="*/ 1081792 w 1830590"/>
                    <a:gd name="connsiteY211" fmla="*/ 1187644 h 2366371"/>
                    <a:gd name="connsiteX212" fmla="*/ 1180024 w 1830590"/>
                    <a:gd name="connsiteY212" fmla="*/ 1187644 h 2366371"/>
                    <a:gd name="connsiteX213" fmla="*/ 1180024 w 1830590"/>
                    <a:gd name="connsiteY213" fmla="*/ 1285875 h 2366371"/>
                    <a:gd name="connsiteX214" fmla="*/ 1081792 w 1830590"/>
                    <a:gd name="connsiteY214" fmla="*/ 1285875 h 2366371"/>
                    <a:gd name="connsiteX215" fmla="*/ 1081792 w 1830590"/>
                    <a:gd name="connsiteY215" fmla="*/ 1178719 h 2366371"/>
                    <a:gd name="connsiteX216" fmla="*/ 1081792 w 1830590"/>
                    <a:gd name="connsiteY216" fmla="*/ 1080487 h 2366371"/>
                    <a:gd name="connsiteX217" fmla="*/ 1180024 w 1830590"/>
                    <a:gd name="connsiteY217" fmla="*/ 1080487 h 2366371"/>
                    <a:gd name="connsiteX218" fmla="*/ 1180024 w 1830590"/>
                    <a:gd name="connsiteY218" fmla="*/ 1178719 h 2366371"/>
                    <a:gd name="connsiteX219" fmla="*/ 1081792 w 1830590"/>
                    <a:gd name="connsiteY219" fmla="*/ 1178719 h 2366371"/>
                    <a:gd name="connsiteX220" fmla="*/ 1081792 w 1830590"/>
                    <a:gd name="connsiteY220" fmla="*/ 1071562 h 2366371"/>
                    <a:gd name="connsiteX221" fmla="*/ 1081792 w 1830590"/>
                    <a:gd name="connsiteY221" fmla="*/ 973331 h 2366371"/>
                    <a:gd name="connsiteX222" fmla="*/ 1180024 w 1830590"/>
                    <a:gd name="connsiteY222" fmla="*/ 973331 h 2366371"/>
                    <a:gd name="connsiteX223" fmla="*/ 1180024 w 1830590"/>
                    <a:gd name="connsiteY223" fmla="*/ 1071562 h 2366371"/>
                    <a:gd name="connsiteX224" fmla="*/ 1081792 w 1830590"/>
                    <a:gd name="connsiteY224" fmla="*/ 1071562 h 2366371"/>
                    <a:gd name="connsiteX225" fmla="*/ 1081792 w 1830590"/>
                    <a:gd name="connsiteY225" fmla="*/ 964406 h 2366371"/>
                    <a:gd name="connsiteX226" fmla="*/ 1081792 w 1830590"/>
                    <a:gd name="connsiteY226" fmla="*/ 866175 h 2366371"/>
                    <a:gd name="connsiteX227" fmla="*/ 1180024 w 1830590"/>
                    <a:gd name="connsiteY227" fmla="*/ 866175 h 2366371"/>
                    <a:gd name="connsiteX228" fmla="*/ 1180024 w 1830590"/>
                    <a:gd name="connsiteY228" fmla="*/ 964406 h 2366371"/>
                    <a:gd name="connsiteX229" fmla="*/ 1081792 w 1830590"/>
                    <a:gd name="connsiteY229" fmla="*/ 964406 h 2366371"/>
                    <a:gd name="connsiteX230" fmla="*/ 1081792 w 1830590"/>
                    <a:gd name="connsiteY230" fmla="*/ 857250 h 2366371"/>
                    <a:gd name="connsiteX231" fmla="*/ 1081792 w 1830590"/>
                    <a:gd name="connsiteY231" fmla="*/ 759019 h 2366371"/>
                    <a:gd name="connsiteX232" fmla="*/ 1180024 w 1830590"/>
                    <a:gd name="connsiteY232" fmla="*/ 759019 h 2366371"/>
                    <a:gd name="connsiteX233" fmla="*/ 1180024 w 1830590"/>
                    <a:gd name="connsiteY233" fmla="*/ 857250 h 2366371"/>
                    <a:gd name="connsiteX234" fmla="*/ 1081792 w 1830590"/>
                    <a:gd name="connsiteY234" fmla="*/ 857250 h 2366371"/>
                    <a:gd name="connsiteX235" fmla="*/ 1081792 w 1830590"/>
                    <a:gd name="connsiteY235" fmla="*/ 750094 h 2366371"/>
                    <a:gd name="connsiteX236" fmla="*/ 1081792 w 1830590"/>
                    <a:gd name="connsiteY236" fmla="*/ 651862 h 2366371"/>
                    <a:gd name="connsiteX237" fmla="*/ 1180024 w 1830590"/>
                    <a:gd name="connsiteY237" fmla="*/ 651862 h 2366371"/>
                    <a:gd name="connsiteX238" fmla="*/ 1180024 w 1830590"/>
                    <a:gd name="connsiteY238" fmla="*/ 750094 h 2366371"/>
                    <a:gd name="connsiteX239" fmla="*/ 1081792 w 1830590"/>
                    <a:gd name="connsiteY239" fmla="*/ 750094 h 2366371"/>
                    <a:gd name="connsiteX240" fmla="*/ 1081792 w 1830590"/>
                    <a:gd name="connsiteY240" fmla="*/ 642938 h 2366371"/>
                    <a:gd name="connsiteX241" fmla="*/ 1081792 w 1830590"/>
                    <a:gd name="connsiteY241" fmla="*/ 544706 h 2366371"/>
                    <a:gd name="connsiteX242" fmla="*/ 1180024 w 1830590"/>
                    <a:gd name="connsiteY242" fmla="*/ 544706 h 2366371"/>
                    <a:gd name="connsiteX243" fmla="*/ 1180024 w 1830590"/>
                    <a:gd name="connsiteY243" fmla="*/ 642938 h 2366371"/>
                    <a:gd name="connsiteX244" fmla="*/ 1081792 w 1830590"/>
                    <a:gd name="connsiteY244" fmla="*/ 642938 h 2366371"/>
                    <a:gd name="connsiteX245" fmla="*/ 1072858 w 1830590"/>
                    <a:gd name="connsiteY245" fmla="*/ 642938 h 2366371"/>
                    <a:gd name="connsiteX246" fmla="*/ 974627 w 1830590"/>
                    <a:gd name="connsiteY246" fmla="*/ 642938 h 2366371"/>
                    <a:gd name="connsiteX247" fmla="*/ 974627 w 1830590"/>
                    <a:gd name="connsiteY247" fmla="*/ 544706 h 2366371"/>
                    <a:gd name="connsiteX248" fmla="*/ 1072858 w 1830590"/>
                    <a:gd name="connsiteY248" fmla="*/ 544706 h 2366371"/>
                    <a:gd name="connsiteX249" fmla="*/ 1072858 w 1830590"/>
                    <a:gd name="connsiteY249" fmla="*/ 642938 h 2366371"/>
                    <a:gd name="connsiteX250" fmla="*/ 965702 w 1830590"/>
                    <a:gd name="connsiteY250" fmla="*/ 642938 h 2366371"/>
                    <a:gd name="connsiteX251" fmla="*/ 867470 w 1830590"/>
                    <a:gd name="connsiteY251" fmla="*/ 642938 h 2366371"/>
                    <a:gd name="connsiteX252" fmla="*/ 867470 w 1830590"/>
                    <a:gd name="connsiteY252" fmla="*/ 544706 h 2366371"/>
                    <a:gd name="connsiteX253" fmla="*/ 965702 w 1830590"/>
                    <a:gd name="connsiteY253" fmla="*/ 544706 h 2366371"/>
                    <a:gd name="connsiteX254" fmla="*/ 965702 w 1830590"/>
                    <a:gd name="connsiteY254" fmla="*/ 642938 h 2366371"/>
                    <a:gd name="connsiteX255" fmla="*/ 858546 w 1830590"/>
                    <a:gd name="connsiteY255" fmla="*/ 642938 h 2366371"/>
                    <a:gd name="connsiteX256" fmla="*/ 760314 w 1830590"/>
                    <a:gd name="connsiteY256" fmla="*/ 642938 h 2366371"/>
                    <a:gd name="connsiteX257" fmla="*/ 760314 w 1830590"/>
                    <a:gd name="connsiteY257" fmla="*/ 544706 h 2366371"/>
                    <a:gd name="connsiteX258" fmla="*/ 858546 w 1830590"/>
                    <a:gd name="connsiteY258" fmla="*/ 544706 h 2366371"/>
                    <a:gd name="connsiteX259" fmla="*/ 858546 w 1830590"/>
                    <a:gd name="connsiteY259" fmla="*/ 642938 h 2366371"/>
                    <a:gd name="connsiteX260" fmla="*/ 751389 w 1830590"/>
                    <a:gd name="connsiteY260" fmla="*/ 642938 h 2366371"/>
                    <a:gd name="connsiteX261" fmla="*/ 653158 w 1830590"/>
                    <a:gd name="connsiteY261" fmla="*/ 642938 h 2366371"/>
                    <a:gd name="connsiteX262" fmla="*/ 653158 w 1830590"/>
                    <a:gd name="connsiteY262" fmla="*/ 544706 h 2366371"/>
                    <a:gd name="connsiteX263" fmla="*/ 751389 w 1830590"/>
                    <a:gd name="connsiteY263" fmla="*/ 544706 h 2366371"/>
                    <a:gd name="connsiteX264" fmla="*/ 751389 w 1830590"/>
                    <a:gd name="connsiteY264" fmla="*/ 642938 h 2366371"/>
                    <a:gd name="connsiteX265" fmla="*/ 751389 w 1830590"/>
                    <a:gd name="connsiteY265" fmla="*/ 651862 h 2366371"/>
                    <a:gd name="connsiteX266" fmla="*/ 751389 w 1830590"/>
                    <a:gd name="connsiteY266" fmla="*/ 750094 h 2366371"/>
                    <a:gd name="connsiteX267" fmla="*/ 653158 w 1830590"/>
                    <a:gd name="connsiteY267" fmla="*/ 750094 h 2366371"/>
                    <a:gd name="connsiteX268" fmla="*/ 653158 w 1830590"/>
                    <a:gd name="connsiteY268" fmla="*/ 651862 h 2366371"/>
                    <a:gd name="connsiteX269" fmla="*/ 751389 w 1830590"/>
                    <a:gd name="connsiteY269" fmla="*/ 651862 h 2366371"/>
                    <a:gd name="connsiteX270" fmla="*/ 644233 w 1830590"/>
                    <a:gd name="connsiteY270" fmla="*/ 750094 h 2366371"/>
                    <a:gd name="connsiteX271" fmla="*/ 546002 w 1830590"/>
                    <a:gd name="connsiteY271" fmla="*/ 750094 h 2366371"/>
                    <a:gd name="connsiteX272" fmla="*/ 546002 w 1830590"/>
                    <a:gd name="connsiteY272" fmla="*/ 651862 h 2366371"/>
                    <a:gd name="connsiteX273" fmla="*/ 644233 w 1830590"/>
                    <a:gd name="connsiteY273" fmla="*/ 651862 h 2366371"/>
                    <a:gd name="connsiteX274" fmla="*/ 644233 w 1830590"/>
                    <a:gd name="connsiteY274" fmla="*/ 750094 h 2366371"/>
                    <a:gd name="connsiteX275" fmla="*/ 644233 w 1830590"/>
                    <a:gd name="connsiteY275" fmla="*/ 759019 h 2366371"/>
                    <a:gd name="connsiteX276" fmla="*/ 644233 w 1830590"/>
                    <a:gd name="connsiteY276" fmla="*/ 857250 h 2366371"/>
                    <a:gd name="connsiteX277" fmla="*/ 546002 w 1830590"/>
                    <a:gd name="connsiteY277" fmla="*/ 857250 h 2366371"/>
                    <a:gd name="connsiteX278" fmla="*/ 546002 w 1830590"/>
                    <a:gd name="connsiteY278" fmla="*/ 759019 h 2366371"/>
                    <a:gd name="connsiteX279" fmla="*/ 644233 w 1830590"/>
                    <a:gd name="connsiteY279" fmla="*/ 759019 h 2366371"/>
                    <a:gd name="connsiteX280" fmla="*/ 644233 w 1830590"/>
                    <a:gd name="connsiteY280" fmla="*/ 866175 h 2366371"/>
                    <a:gd name="connsiteX281" fmla="*/ 644233 w 1830590"/>
                    <a:gd name="connsiteY281" fmla="*/ 964406 h 2366371"/>
                    <a:gd name="connsiteX282" fmla="*/ 546002 w 1830590"/>
                    <a:gd name="connsiteY282" fmla="*/ 964406 h 2366371"/>
                    <a:gd name="connsiteX283" fmla="*/ 546002 w 1830590"/>
                    <a:gd name="connsiteY283" fmla="*/ 866175 h 2366371"/>
                    <a:gd name="connsiteX284" fmla="*/ 644233 w 1830590"/>
                    <a:gd name="connsiteY284" fmla="*/ 866175 h 2366371"/>
                    <a:gd name="connsiteX285" fmla="*/ 644233 w 1830590"/>
                    <a:gd name="connsiteY285" fmla="*/ 973331 h 2366371"/>
                    <a:gd name="connsiteX286" fmla="*/ 644233 w 1830590"/>
                    <a:gd name="connsiteY286" fmla="*/ 1071562 h 2366371"/>
                    <a:gd name="connsiteX287" fmla="*/ 546002 w 1830590"/>
                    <a:gd name="connsiteY287" fmla="*/ 1071562 h 2366371"/>
                    <a:gd name="connsiteX288" fmla="*/ 546002 w 1830590"/>
                    <a:gd name="connsiteY288" fmla="*/ 973331 h 2366371"/>
                    <a:gd name="connsiteX289" fmla="*/ 644233 w 1830590"/>
                    <a:gd name="connsiteY289" fmla="*/ 973331 h 2366371"/>
                    <a:gd name="connsiteX290" fmla="*/ 644233 w 1830590"/>
                    <a:gd name="connsiteY290" fmla="*/ 1080487 h 2366371"/>
                    <a:gd name="connsiteX291" fmla="*/ 644233 w 1830590"/>
                    <a:gd name="connsiteY291" fmla="*/ 1178719 h 2366371"/>
                    <a:gd name="connsiteX292" fmla="*/ 546002 w 1830590"/>
                    <a:gd name="connsiteY292" fmla="*/ 1178719 h 2366371"/>
                    <a:gd name="connsiteX293" fmla="*/ 546002 w 1830590"/>
                    <a:gd name="connsiteY293" fmla="*/ 1080487 h 2366371"/>
                    <a:gd name="connsiteX294" fmla="*/ 644233 w 1830590"/>
                    <a:gd name="connsiteY294" fmla="*/ 1080487 h 2366371"/>
                    <a:gd name="connsiteX295" fmla="*/ 644233 w 1830590"/>
                    <a:gd name="connsiteY295" fmla="*/ 1187644 h 2366371"/>
                    <a:gd name="connsiteX296" fmla="*/ 644233 w 1830590"/>
                    <a:gd name="connsiteY296" fmla="*/ 1285875 h 2366371"/>
                    <a:gd name="connsiteX297" fmla="*/ 546002 w 1830590"/>
                    <a:gd name="connsiteY297" fmla="*/ 1285875 h 2366371"/>
                    <a:gd name="connsiteX298" fmla="*/ 546002 w 1830590"/>
                    <a:gd name="connsiteY298" fmla="*/ 1187644 h 2366371"/>
                    <a:gd name="connsiteX299" fmla="*/ 644233 w 1830590"/>
                    <a:gd name="connsiteY299" fmla="*/ 1187644 h 2366371"/>
                    <a:gd name="connsiteX300" fmla="*/ 644233 w 1830590"/>
                    <a:gd name="connsiteY300" fmla="*/ 1294800 h 2366371"/>
                    <a:gd name="connsiteX301" fmla="*/ 644233 w 1830590"/>
                    <a:gd name="connsiteY301" fmla="*/ 1393031 h 2366371"/>
                    <a:gd name="connsiteX302" fmla="*/ 546002 w 1830590"/>
                    <a:gd name="connsiteY302" fmla="*/ 1393031 h 2366371"/>
                    <a:gd name="connsiteX303" fmla="*/ 546002 w 1830590"/>
                    <a:gd name="connsiteY303" fmla="*/ 1294800 h 2366371"/>
                    <a:gd name="connsiteX304" fmla="*/ 644233 w 1830590"/>
                    <a:gd name="connsiteY304" fmla="*/ 1294800 h 2366371"/>
                    <a:gd name="connsiteX305" fmla="*/ 644233 w 1830590"/>
                    <a:gd name="connsiteY305" fmla="*/ 1401956 h 2366371"/>
                    <a:gd name="connsiteX306" fmla="*/ 644233 w 1830590"/>
                    <a:gd name="connsiteY306" fmla="*/ 1500187 h 2366371"/>
                    <a:gd name="connsiteX307" fmla="*/ 546002 w 1830590"/>
                    <a:gd name="connsiteY307" fmla="*/ 1500187 h 2366371"/>
                    <a:gd name="connsiteX308" fmla="*/ 546002 w 1830590"/>
                    <a:gd name="connsiteY308" fmla="*/ 1401956 h 2366371"/>
                    <a:gd name="connsiteX309" fmla="*/ 644233 w 1830590"/>
                    <a:gd name="connsiteY309" fmla="*/ 1401956 h 2366371"/>
                    <a:gd name="connsiteX310" fmla="*/ 644233 w 1830590"/>
                    <a:gd name="connsiteY310" fmla="*/ 1509112 h 2366371"/>
                    <a:gd name="connsiteX311" fmla="*/ 644233 w 1830590"/>
                    <a:gd name="connsiteY311" fmla="*/ 1607344 h 2366371"/>
                    <a:gd name="connsiteX312" fmla="*/ 546002 w 1830590"/>
                    <a:gd name="connsiteY312" fmla="*/ 1607344 h 2366371"/>
                    <a:gd name="connsiteX313" fmla="*/ 546002 w 1830590"/>
                    <a:gd name="connsiteY313" fmla="*/ 1509112 h 2366371"/>
                    <a:gd name="connsiteX314" fmla="*/ 644233 w 1830590"/>
                    <a:gd name="connsiteY314" fmla="*/ 1509112 h 2366371"/>
                    <a:gd name="connsiteX315" fmla="*/ 644233 w 1830590"/>
                    <a:gd name="connsiteY315" fmla="*/ 1616269 h 2366371"/>
                    <a:gd name="connsiteX316" fmla="*/ 644233 w 1830590"/>
                    <a:gd name="connsiteY316" fmla="*/ 1714500 h 2366371"/>
                    <a:gd name="connsiteX317" fmla="*/ 546002 w 1830590"/>
                    <a:gd name="connsiteY317" fmla="*/ 1714500 h 2366371"/>
                    <a:gd name="connsiteX318" fmla="*/ 546002 w 1830590"/>
                    <a:gd name="connsiteY318" fmla="*/ 1616269 h 2366371"/>
                    <a:gd name="connsiteX319" fmla="*/ 644233 w 1830590"/>
                    <a:gd name="connsiteY319" fmla="*/ 1616269 h 2366371"/>
                    <a:gd name="connsiteX320" fmla="*/ 653167 w 1830590"/>
                    <a:gd name="connsiteY320" fmla="*/ 1616269 h 2366371"/>
                    <a:gd name="connsiteX321" fmla="*/ 751399 w 1830590"/>
                    <a:gd name="connsiteY321" fmla="*/ 1616269 h 2366371"/>
                    <a:gd name="connsiteX322" fmla="*/ 751399 w 1830590"/>
                    <a:gd name="connsiteY322" fmla="*/ 1714500 h 2366371"/>
                    <a:gd name="connsiteX323" fmla="*/ 653167 w 1830590"/>
                    <a:gd name="connsiteY323" fmla="*/ 1714500 h 2366371"/>
                    <a:gd name="connsiteX324" fmla="*/ 653167 w 1830590"/>
                    <a:gd name="connsiteY324" fmla="*/ 1616269 h 2366371"/>
                    <a:gd name="connsiteX325" fmla="*/ 751389 w 1830590"/>
                    <a:gd name="connsiteY325" fmla="*/ 1723425 h 2366371"/>
                    <a:gd name="connsiteX326" fmla="*/ 751389 w 1830590"/>
                    <a:gd name="connsiteY326" fmla="*/ 1821656 h 2366371"/>
                    <a:gd name="connsiteX327" fmla="*/ 653158 w 1830590"/>
                    <a:gd name="connsiteY327" fmla="*/ 1821656 h 2366371"/>
                    <a:gd name="connsiteX328" fmla="*/ 653158 w 1830590"/>
                    <a:gd name="connsiteY328" fmla="*/ 1723425 h 2366371"/>
                    <a:gd name="connsiteX329" fmla="*/ 751389 w 1830590"/>
                    <a:gd name="connsiteY329" fmla="*/ 1723425 h 2366371"/>
                    <a:gd name="connsiteX330" fmla="*/ 760324 w 1830590"/>
                    <a:gd name="connsiteY330" fmla="*/ 1723425 h 2366371"/>
                    <a:gd name="connsiteX331" fmla="*/ 858555 w 1830590"/>
                    <a:gd name="connsiteY331" fmla="*/ 1723425 h 2366371"/>
                    <a:gd name="connsiteX332" fmla="*/ 858555 w 1830590"/>
                    <a:gd name="connsiteY332" fmla="*/ 1821656 h 2366371"/>
                    <a:gd name="connsiteX333" fmla="*/ 760324 w 1830590"/>
                    <a:gd name="connsiteY333" fmla="*/ 1821656 h 2366371"/>
                    <a:gd name="connsiteX334" fmla="*/ 760324 w 1830590"/>
                    <a:gd name="connsiteY334" fmla="*/ 1723425 h 2366371"/>
                    <a:gd name="connsiteX335" fmla="*/ 867480 w 1830590"/>
                    <a:gd name="connsiteY335" fmla="*/ 1723425 h 2366371"/>
                    <a:gd name="connsiteX336" fmla="*/ 965711 w 1830590"/>
                    <a:gd name="connsiteY336" fmla="*/ 1723425 h 2366371"/>
                    <a:gd name="connsiteX337" fmla="*/ 965711 w 1830590"/>
                    <a:gd name="connsiteY337" fmla="*/ 1821656 h 2366371"/>
                    <a:gd name="connsiteX338" fmla="*/ 867480 w 1830590"/>
                    <a:gd name="connsiteY338" fmla="*/ 1821656 h 2366371"/>
                    <a:gd name="connsiteX339" fmla="*/ 867480 w 1830590"/>
                    <a:gd name="connsiteY339" fmla="*/ 1723425 h 2366371"/>
                    <a:gd name="connsiteX340" fmla="*/ 974636 w 1830590"/>
                    <a:gd name="connsiteY340" fmla="*/ 1723425 h 2366371"/>
                    <a:gd name="connsiteX341" fmla="*/ 1072867 w 1830590"/>
                    <a:gd name="connsiteY341" fmla="*/ 1723425 h 2366371"/>
                    <a:gd name="connsiteX342" fmla="*/ 1072867 w 1830590"/>
                    <a:gd name="connsiteY342" fmla="*/ 1821656 h 2366371"/>
                    <a:gd name="connsiteX343" fmla="*/ 974636 w 1830590"/>
                    <a:gd name="connsiteY343" fmla="*/ 1821656 h 2366371"/>
                    <a:gd name="connsiteX344" fmla="*/ 974636 w 1830590"/>
                    <a:gd name="connsiteY344" fmla="*/ 1723425 h 2366371"/>
                    <a:gd name="connsiteX345" fmla="*/ 1081792 w 1830590"/>
                    <a:gd name="connsiteY345" fmla="*/ 1723425 h 2366371"/>
                    <a:gd name="connsiteX346" fmla="*/ 1180024 w 1830590"/>
                    <a:gd name="connsiteY346" fmla="*/ 1723425 h 2366371"/>
                    <a:gd name="connsiteX347" fmla="*/ 1180024 w 1830590"/>
                    <a:gd name="connsiteY347" fmla="*/ 1821656 h 2366371"/>
                    <a:gd name="connsiteX348" fmla="*/ 1081792 w 1830590"/>
                    <a:gd name="connsiteY348" fmla="*/ 1821656 h 2366371"/>
                    <a:gd name="connsiteX349" fmla="*/ 1081792 w 1830590"/>
                    <a:gd name="connsiteY349" fmla="*/ 1723425 h 2366371"/>
                    <a:gd name="connsiteX350" fmla="*/ 1081792 w 1830590"/>
                    <a:gd name="connsiteY350" fmla="*/ 1714500 h 2366371"/>
                    <a:gd name="connsiteX351" fmla="*/ 1081792 w 1830590"/>
                    <a:gd name="connsiteY351" fmla="*/ 1616269 h 2366371"/>
                    <a:gd name="connsiteX352" fmla="*/ 1180024 w 1830590"/>
                    <a:gd name="connsiteY352" fmla="*/ 1616269 h 2366371"/>
                    <a:gd name="connsiteX353" fmla="*/ 1180024 w 1830590"/>
                    <a:gd name="connsiteY353" fmla="*/ 1714500 h 2366371"/>
                    <a:gd name="connsiteX354" fmla="*/ 1081792 w 1830590"/>
                    <a:gd name="connsiteY354" fmla="*/ 1714500 h 2366371"/>
                    <a:gd name="connsiteX355" fmla="*/ 1188949 w 1830590"/>
                    <a:gd name="connsiteY355" fmla="*/ 1616269 h 2366371"/>
                    <a:gd name="connsiteX356" fmla="*/ 1287180 w 1830590"/>
                    <a:gd name="connsiteY356" fmla="*/ 1616269 h 2366371"/>
                    <a:gd name="connsiteX357" fmla="*/ 1287180 w 1830590"/>
                    <a:gd name="connsiteY357" fmla="*/ 1714500 h 2366371"/>
                    <a:gd name="connsiteX358" fmla="*/ 1188949 w 1830590"/>
                    <a:gd name="connsiteY358" fmla="*/ 1714500 h 2366371"/>
                    <a:gd name="connsiteX359" fmla="*/ 1188949 w 1830590"/>
                    <a:gd name="connsiteY359" fmla="*/ 1616269 h 2366371"/>
                    <a:gd name="connsiteX360" fmla="*/ 1188949 w 1830590"/>
                    <a:gd name="connsiteY360" fmla="*/ 1607344 h 2366371"/>
                    <a:gd name="connsiteX361" fmla="*/ 1188949 w 1830590"/>
                    <a:gd name="connsiteY361" fmla="*/ 1509112 h 2366371"/>
                    <a:gd name="connsiteX362" fmla="*/ 1287180 w 1830590"/>
                    <a:gd name="connsiteY362" fmla="*/ 1509112 h 2366371"/>
                    <a:gd name="connsiteX363" fmla="*/ 1287180 w 1830590"/>
                    <a:gd name="connsiteY363" fmla="*/ 1607344 h 2366371"/>
                    <a:gd name="connsiteX364" fmla="*/ 1188949 w 1830590"/>
                    <a:gd name="connsiteY364" fmla="*/ 1607344 h 2366371"/>
                    <a:gd name="connsiteX365" fmla="*/ 1188949 w 1830590"/>
                    <a:gd name="connsiteY365" fmla="*/ 1500187 h 2366371"/>
                    <a:gd name="connsiteX366" fmla="*/ 1188949 w 1830590"/>
                    <a:gd name="connsiteY366" fmla="*/ 1401956 h 2366371"/>
                    <a:gd name="connsiteX367" fmla="*/ 1287180 w 1830590"/>
                    <a:gd name="connsiteY367" fmla="*/ 1401956 h 2366371"/>
                    <a:gd name="connsiteX368" fmla="*/ 1287180 w 1830590"/>
                    <a:gd name="connsiteY368" fmla="*/ 1500187 h 2366371"/>
                    <a:gd name="connsiteX369" fmla="*/ 1188949 w 1830590"/>
                    <a:gd name="connsiteY369" fmla="*/ 1500187 h 2366371"/>
                    <a:gd name="connsiteX370" fmla="*/ 1188949 w 1830590"/>
                    <a:gd name="connsiteY370" fmla="*/ 1393031 h 2366371"/>
                    <a:gd name="connsiteX371" fmla="*/ 1188949 w 1830590"/>
                    <a:gd name="connsiteY371" fmla="*/ 1294800 h 2366371"/>
                    <a:gd name="connsiteX372" fmla="*/ 1287180 w 1830590"/>
                    <a:gd name="connsiteY372" fmla="*/ 1294800 h 2366371"/>
                    <a:gd name="connsiteX373" fmla="*/ 1287180 w 1830590"/>
                    <a:gd name="connsiteY373" fmla="*/ 1393031 h 2366371"/>
                    <a:gd name="connsiteX374" fmla="*/ 1188949 w 1830590"/>
                    <a:gd name="connsiteY374" fmla="*/ 1393031 h 2366371"/>
                    <a:gd name="connsiteX375" fmla="*/ 1188949 w 1830590"/>
                    <a:gd name="connsiteY375" fmla="*/ 1285875 h 2366371"/>
                    <a:gd name="connsiteX376" fmla="*/ 1188949 w 1830590"/>
                    <a:gd name="connsiteY376" fmla="*/ 1187644 h 2366371"/>
                    <a:gd name="connsiteX377" fmla="*/ 1287180 w 1830590"/>
                    <a:gd name="connsiteY377" fmla="*/ 1187644 h 2366371"/>
                    <a:gd name="connsiteX378" fmla="*/ 1287180 w 1830590"/>
                    <a:gd name="connsiteY378" fmla="*/ 1285875 h 2366371"/>
                    <a:gd name="connsiteX379" fmla="*/ 1188949 w 1830590"/>
                    <a:gd name="connsiteY379" fmla="*/ 1285875 h 2366371"/>
                    <a:gd name="connsiteX380" fmla="*/ 1188949 w 1830590"/>
                    <a:gd name="connsiteY380" fmla="*/ 1178719 h 2366371"/>
                    <a:gd name="connsiteX381" fmla="*/ 1188949 w 1830590"/>
                    <a:gd name="connsiteY381" fmla="*/ 1080487 h 2366371"/>
                    <a:gd name="connsiteX382" fmla="*/ 1287180 w 1830590"/>
                    <a:gd name="connsiteY382" fmla="*/ 1080487 h 2366371"/>
                    <a:gd name="connsiteX383" fmla="*/ 1287180 w 1830590"/>
                    <a:gd name="connsiteY383" fmla="*/ 1178719 h 2366371"/>
                    <a:gd name="connsiteX384" fmla="*/ 1188949 w 1830590"/>
                    <a:gd name="connsiteY384" fmla="*/ 1178719 h 2366371"/>
                    <a:gd name="connsiteX385" fmla="*/ 1188949 w 1830590"/>
                    <a:gd name="connsiteY385" fmla="*/ 1071562 h 2366371"/>
                    <a:gd name="connsiteX386" fmla="*/ 1188949 w 1830590"/>
                    <a:gd name="connsiteY386" fmla="*/ 973331 h 2366371"/>
                    <a:gd name="connsiteX387" fmla="*/ 1287180 w 1830590"/>
                    <a:gd name="connsiteY387" fmla="*/ 973331 h 2366371"/>
                    <a:gd name="connsiteX388" fmla="*/ 1287180 w 1830590"/>
                    <a:gd name="connsiteY388" fmla="*/ 1071562 h 2366371"/>
                    <a:gd name="connsiteX389" fmla="*/ 1188949 w 1830590"/>
                    <a:gd name="connsiteY389" fmla="*/ 1071562 h 2366371"/>
                    <a:gd name="connsiteX390" fmla="*/ 1188949 w 1830590"/>
                    <a:gd name="connsiteY390" fmla="*/ 964406 h 2366371"/>
                    <a:gd name="connsiteX391" fmla="*/ 1188949 w 1830590"/>
                    <a:gd name="connsiteY391" fmla="*/ 866175 h 2366371"/>
                    <a:gd name="connsiteX392" fmla="*/ 1287180 w 1830590"/>
                    <a:gd name="connsiteY392" fmla="*/ 866175 h 2366371"/>
                    <a:gd name="connsiteX393" fmla="*/ 1287180 w 1830590"/>
                    <a:gd name="connsiteY393" fmla="*/ 964406 h 2366371"/>
                    <a:gd name="connsiteX394" fmla="*/ 1188949 w 1830590"/>
                    <a:gd name="connsiteY394" fmla="*/ 964406 h 2366371"/>
                    <a:gd name="connsiteX395" fmla="*/ 1188949 w 1830590"/>
                    <a:gd name="connsiteY395" fmla="*/ 857250 h 2366371"/>
                    <a:gd name="connsiteX396" fmla="*/ 1188949 w 1830590"/>
                    <a:gd name="connsiteY396" fmla="*/ 759019 h 2366371"/>
                    <a:gd name="connsiteX397" fmla="*/ 1287180 w 1830590"/>
                    <a:gd name="connsiteY397" fmla="*/ 759019 h 2366371"/>
                    <a:gd name="connsiteX398" fmla="*/ 1287180 w 1830590"/>
                    <a:gd name="connsiteY398" fmla="*/ 857250 h 2366371"/>
                    <a:gd name="connsiteX399" fmla="*/ 1188949 w 1830590"/>
                    <a:gd name="connsiteY399" fmla="*/ 857250 h 2366371"/>
                    <a:gd name="connsiteX400" fmla="*/ 1188949 w 1830590"/>
                    <a:gd name="connsiteY400" fmla="*/ 750094 h 2366371"/>
                    <a:gd name="connsiteX401" fmla="*/ 1188949 w 1830590"/>
                    <a:gd name="connsiteY401" fmla="*/ 651862 h 2366371"/>
                    <a:gd name="connsiteX402" fmla="*/ 1287180 w 1830590"/>
                    <a:gd name="connsiteY402" fmla="*/ 651862 h 2366371"/>
                    <a:gd name="connsiteX403" fmla="*/ 1287180 w 1830590"/>
                    <a:gd name="connsiteY403" fmla="*/ 750094 h 2366371"/>
                    <a:gd name="connsiteX404" fmla="*/ 1188949 w 1830590"/>
                    <a:gd name="connsiteY404" fmla="*/ 750094 h 2366371"/>
                    <a:gd name="connsiteX405" fmla="*/ 1188949 w 1830590"/>
                    <a:gd name="connsiteY405" fmla="*/ 642938 h 2366371"/>
                    <a:gd name="connsiteX406" fmla="*/ 1188949 w 1830590"/>
                    <a:gd name="connsiteY406" fmla="*/ 544706 h 2366371"/>
                    <a:gd name="connsiteX407" fmla="*/ 1287180 w 1830590"/>
                    <a:gd name="connsiteY407" fmla="*/ 544706 h 2366371"/>
                    <a:gd name="connsiteX408" fmla="*/ 1287180 w 1830590"/>
                    <a:gd name="connsiteY408" fmla="*/ 642938 h 2366371"/>
                    <a:gd name="connsiteX409" fmla="*/ 1188949 w 1830590"/>
                    <a:gd name="connsiteY409" fmla="*/ 642938 h 2366371"/>
                    <a:gd name="connsiteX410" fmla="*/ 1188949 w 1830590"/>
                    <a:gd name="connsiteY410" fmla="*/ 535781 h 2366371"/>
                    <a:gd name="connsiteX411" fmla="*/ 1188949 w 1830590"/>
                    <a:gd name="connsiteY411" fmla="*/ 437550 h 2366371"/>
                    <a:gd name="connsiteX412" fmla="*/ 1287180 w 1830590"/>
                    <a:gd name="connsiteY412" fmla="*/ 437550 h 2366371"/>
                    <a:gd name="connsiteX413" fmla="*/ 1287180 w 1830590"/>
                    <a:gd name="connsiteY413" fmla="*/ 535781 h 2366371"/>
                    <a:gd name="connsiteX414" fmla="*/ 1188949 w 1830590"/>
                    <a:gd name="connsiteY414" fmla="*/ 535781 h 2366371"/>
                    <a:gd name="connsiteX415" fmla="*/ 1180014 w 1830590"/>
                    <a:gd name="connsiteY415" fmla="*/ 535781 h 2366371"/>
                    <a:gd name="connsiteX416" fmla="*/ 1081783 w 1830590"/>
                    <a:gd name="connsiteY416" fmla="*/ 535781 h 2366371"/>
                    <a:gd name="connsiteX417" fmla="*/ 1081783 w 1830590"/>
                    <a:gd name="connsiteY417" fmla="*/ 437550 h 2366371"/>
                    <a:gd name="connsiteX418" fmla="*/ 1180014 w 1830590"/>
                    <a:gd name="connsiteY418" fmla="*/ 437550 h 2366371"/>
                    <a:gd name="connsiteX419" fmla="*/ 1180014 w 1830590"/>
                    <a:gd name="connsiteY419" fmla="*/ 535781 h 2366371"/>
                    <a:gd name="connsiteX420" fmla="*/ 1072858 w 1830590"/>
                    <a:gd name="connsiteY420" fmla="*/ 535781 h 2366371"/>
                    <a:gd name="connsiteX421" fmla="*/ 974627 w 1830590"/>
                    <a:gd name="connsiteY421" fmla="*/ 535781 h 2366371"/>
                    <a:gd name="connsiteX422" fmla="*/ 974627 w 1830590"/>
                    <a:gd name="connsiteY422" fmla="*/ 437550 h 2366371"/>
                    <a:gd name="connsiteX423" fmla="*/ 1072858 w 1830590"/>
                    <a:gd name="connsiteY423" fmla="*/ 437550 h 2366371"/>
                    <a:gd name="connsiteX424" fmla="*/ 1072858 w 1830590"/>
                    <a:gd name="connsiteY424" fmla="*/ 535781 h 2366371"/>
                    <a:gd name="connsiteX425" fmla="*/ 965702 w 1830590"/>
                    <a:gd name="connsiteY425" fmla="*/ 535781 h 2366371"/>
                    <a:gd name="connsiteX426" fmla="*/ 867470 w 1830590"/>
                    <a:gd name="connsiteY426" fmla="*/ 535781 h 2366371"/>
                    <a:gd name="connsiteX427" fmla="*/ 867470 w 1830590"/>
                    <a:gd name="connsiteY427" fmla="*/ 437550 h 2366371"/>
                    <a:gd name="connsiteX428" fmla="*/ 965702 w 1830590"/>
                    <a:gd name="connsiteY428" fmla="*/ 437550 h 2366371"/>
                    <a:gd name="connsiteX429" fmla="*/ 965702 w 1830590"/>
                    <a:gd name="connsiteY429" fmla="*/ 535781 h 2366371"/>
                    <a:gd name="connsiteX430" fmla="*/ 858546 w 1830590"/>
                    <a:gd name="connsiteY430" fmla="*/ 535781 h 2366371"/>
                    <a:gd name="connsiteX431" fmla="*/ 760314 w 1830590"/>
                    <a:gd name="connsiteY431" fmla="*/ 535781 h 2366371"/>
                    <a:gd name="connsiteX432" fmla="*/ 760314 w 1830590"/>
                    <a:gd name="connsiteY432" fmla="*/ 437550 h 2366371"/>
                    <a:gd name="connsiteX433" fmla="*/ 858546 w 1830590"/>
                    <a:gd name="connsiteY433" fmla="*/ 437550 h 2366371"/>
                    <a:gd name="connsiteX434" fmla="*/ 858546 w 1830590"/>
                    <a:gd name="connsiteY434" fmla="*/ 535781 h 2366371"/>
                    <a:gd name="connsiteX435" fmla="*/ 751389 w 1830590"/>
                    <a:gd name="connsiteY435" fmla="*/ 535781 h 2366371"/>
                    <a:gd name="connsiteX436" fmla="*/ 653158 w 1830590"/>
                    <a:gd name="connsiteY436" fmla="*/ 535781 h 2366371"/>
                    <a:gd name="connsiteX437" fmla="*/ 653158 w 1830590"/>
                    <a:gd name="connsiteY437" fmla="*/ 437550 h 2366371"/>
                    <a:gd name="connsiteX438" fmla="*/ 751389 w 1830590"/>
                    <a:gd name="connsiteY438" fmla="*/ 437550 h 2366371"/>
                    <a:gd name="connsiteX439" fmla="*/ 751389 w 1830590"/>
                    <a:gd name="connsiteY439" fmla="*/ 535781 h 2366371"/>
                    <a:gd name="connsiteX440" fmla="*/ 644233 w 1830590"/>
                    <a:gd name="connsiteY440" fmla="*/ 535781 h 2366371"/>
                    <a:gd name="connsiteX441" fmla="*/ 546002 w 1830590"/>
                    <a:gd name="connsiteY441" fmla="*/ 535781 h 2366371"/>
                    <a:gd name="connsiteX442" fmla="*/ 546002 w 1830590"/>
                    <a:gd name="connsiteY442" fmla="*/ 437550 h 2366371"/>
                    <a:gd name="connsiteX443" fmla="*/ 644233 w 1830590"/>
                    <a:gd name="connsiteY443" fmla="*/ 437550 h 2366371"/>
                    <a:gd name="connsiteX444" fmla="*/ 644233 w 1830590"/>
                    <a:gd name="connsiteY444" fmla="*/ 535781 h 2366371"/>
                    <a:gd name="connsiteX445" fmla="*/ 644233 w 1830590"/>
                    <a:gd name="connsiteY445" fmla="*/ 544706 h 2366371"/>
                    <a:gd name="connsiteX446" fmla="*/ 644233 w 1830590"/>
                    <a:gd name="connsiteY446" fmla="*/ 642938 h 2366371"/>
                    <a:gd name="connsiteX447" fmla="*/ 546002 w 1830590"/>
                    <a:gd name="connsiteY447" fmla="*/ 642938 h 2366371"/>
                    <a:gd name="connsiteX448" fmla="*/ 546002 w 1830590"/>
                    <a:gd name="connsiteY448" fmla="*/ 544706 h 2366371"/>
                    <a:gd name="connsiteX449" fmla="*/ 644233 w 1830590"/>
                    <a:gd name="connsiteY449" fmla="*/ 544706 h 2366371"/>
                    <a:gd name="connsiteX450" fmla="*/ 537077 w 1830590"/>
                    <a:gd name="connsiteY450" fmla="*/ 642938 h 2366371"/>
                    <a:gd name="connsiteX451" fmla="*/ 438845 w 1830590"/>
                    <a:gd name="connsiteY451" fmla="*/ 642938 h 2366371"/>
                    <a:gd name="connsiteX452" fmla="*/ 438845 w 1830590"/>
                    <a:gd name="connsiteY452" fmla="*/ 544706 h 2366371"/>
                    <a:gd name="connsiteX453" fmla="*/ 537077 w 1830590"/>
                    <a:gd name="connsiteY453" fmla="*/ 544706 h 2366371"/>
                    <a:gd name="connsiteX454" fmla="*/ 537077 w 1830590"/>
                    <a:gd name="connsiteY454" fmla="*/ 642938 h 2366371"/>
                    <a:gd name="connsiteX455" fmla="*/ 537077 w 1830590"/>
                    <a:gd name="connsiteY455" fmla="*/ 651862 h 2366371"/>
                    <a:gd name="connsiteX456" fmla="*/ 537077 w 1830590"/>
                    <a:gd name="connsiteY456" fmla="*/ 750094 h 2366371"/>
                    <a:gd name="connsiteX457" fmla="*/ 438845 w 1830590"/>
                    <a:gd name="connsiteY457" fmla="*/ 750094 h 2366371"/>
                    <a:gd name="connsiteX458" fmla="*/ 438845 w 1830590"/>
                    <a:gd name="connsiteY458" fmla="*/ 651862 h 2366371"/>
                    <a:gd name="connsiteX459" fmla="*/ 537077 w 1830590"/>
                    <a:gd name="connsiteY459" fmla="*/ 651862 h 2366371"/>
                    <a:gd name="connsiteX460" fmla="*/ 537077 w 1830590"/>
                    <a:gd name="connsiteY460" fmla="*/ 759019 h 2366371"/>
                    <a:gd name="connsiteX461" fmla="*/ 537077 w 1830590"/>
                    <a:gd name="connsiteY461" fmla="*/ 857250 h 2366371"/>
                    <a:gd name="connsiteX462" fmla="*/ 438845 w 1830590"/>
                    <a:gd name="connsiteY462" fmla="*/ 857250 h 2366371"/>
                    <a:gd name="connsiteX463" fmla="*/ 438845 w 1830590"/>
                    <a:gd name="connsiteY463" fmla="*/ 759019 h 2366371"/>
                    <a:gd name="connsiteX464" fmla="*/ 537077 w 1830590"/>
                    <a:gd name="connsiteY464" fmla="*/ 759019 h 2366371"/>
                    <a:gd name="connsiteX465" fmla="*/ 537077 w 1830590"/>
                    <a:gd name="connsiteY465" fmla="*/ 866175 h 2366371"/>
                    <a:gd name="connsiteX466" fmla="*/ 537077 w 1830590"/>
                    <a:gd name="connsiteY466" fmla="*/ 964406 h 2366371"/>
                    <a:gd name="connsiteX467" fmla="*/ 438845 w 1830590"/>
                    <a:gd name="connsiteY467" fmla="*/ 964406 h 2366371"/>
                    <a:gd name="connsiteX468" fmla="*/ 438845 w 1830590"/>
                    <a:gd name="connsiteY468" fmla="*/ 866175 h 2366371"/>
                    <a:gd name="connsiteX469" fmla="*/ 537077 w 1830590"/>
                    <a:gd name="connsiteY469" fmla="*/ 866175 h 2366371"/>
                    <a:gd name="connsiteX470" fmla="*/ 537077 w 1830590"/>
                    <a:gd name="connsiteY470" fmla="*/ 973331 h 2366371"/>
                    <a:gd name="connsiteX471" fmla="*/ 537077 w 1830590"/>
                    <a:gd name="connsiteY471" fmla="*/ 1071562 h 2366371"/>
                    <a:gd name="connsiteX472" fmla="*/ 438845 w 1830590"/>
                    <a:gd name="connsiteY472" fmla="*/ 1071562 h 2366371"/>
                    <a:gd name="connsiteX473" fmla="*/ 438845 w 1830590"/>
                    <a:gd name="connsiteY473" fmla="*/ 973331 h 2366371"/>
                    <a:gd name="connsiteX474" fmla="*/ 537077 w 1830590"/>
                    <a:gd name="connsiteY474" fmla="*/ 973331 h 2366371"/>
                    <a:gd name="connsiteX475" fmla="*/ 537077 w 1830590"/>
                    <a:gd name="connsiteY475" fmla="*/ 1080487 h 2366371"/>
                    <a:gd name="connsiteX476" fmla="*/ 537077 w 1830590"/>
                    <a:gd name="connsiteY476" fmla="*/ 1178719 h 2366371"/>
                    <a:gd name="connsiteX477" fmla="*/ 438845 w 1830590"/>
                    <a:gd name="connsiteY477" fmla="*/ 1178719 h 2366371"/>
                    <a:gd name="connsiteX478" fmla="*/ 438845 w 1830590"/>
                    <a:gd name="connsiteY478" fmla="*/ 1080487 h 2366371"/>
                    <a:gd name="connsiteX479" fmla="*/ 537077 w 1830590"/>
                    <a:gd name="connsiteY479" fmla="*/ 1080487 h 2366371"/>
                    <a:gd name="connsiteX480" fmla="*/ 537077 w 1830590"/>
                    <a:gd name="connsiteY480" fmla="*/ 1187644 h 2366371"/>
                    <a:gd name="connsiteX481" fmla="*/ 537077 w 1830590"/>
                    <a:gd name="connsiteY481" fmla="*/ 1285875 h 2366371"/>
                    <a:gd name="connsiteX482" fmla="*/ 438845 w 1830590"/>
                    <a:gd name="connsiteY482" fmla="*/ 1285875 h 2366371"/>
                    <a:gd name="connsiteX483" fmla="*/ 438845 w 1830590"/>
                    <a:gd name="connsiteY483" fmla="*/ 1187644 h 2366371"/>
                    <a:gd name="connsiteX484" fmla="*/ 537077 w 1830590"/>
                    <a:gd name="connsiteY484" fmla="*/ 1187644 h 2366371"/>
                    <a:gd name="connsiteX485" fmla="*/ 537077 w 1830590"/>
                    <a:gd name="connsiteY485" fmla="*/ 1294800 h 2366371"/>
                    <a:gd name="connsiteX486" fmla="*/ 537077 w 1830590"/>
                    <a:gd name="connsiteY486" fmla="*/ 1393031 h 2366371"/>
                    <a:gd name="connsiteX487" fmla="*/ 438845 w 1830590"/>
                    <a:gd name="connsiteY487" fmla="*/ 1393031 h 2366371"/>
                    <a:gd name="connsiteX488" fmla="*/ 438845 w 1830590"/>
                    <a:gd name="connsiteY488" fmla="*/ 1294800 h 2366371"/>
                    <a:gd name="connsiteX489" fmla="*/ 537077 w 1830590"/>
                    <a:gd name="connsiteY489" fmla="*/ 1294800 h 2366371"/>
                    <a:gd name="connsiteX490" fmla="*/ 537077 w 1830590"/>
                    <a:gd name="connsiteY490" fmla="*/ 1401956 h 2366371"/>
                    <a:gd name="connsiteX491" fmla="*/ 537077 w 1830590"/>
                    <a:gd name="connsiteY491" fmla="*/ 1500187 h 2366371"/>
                    <a:gd name="connsiteX492" fmla="*/ 438845 w 1830590"/>
                    <a:gd name="connsiteY492" fmla="*/ 1500187 h 2366371"/>
                    <a:gd name="connsiteX493" fmla="*/ 438845 w 1830590"/>
                    <a:gd name="connsiteY493" fmla="*/ 1401956 h 2366371"/>
                    <a:gd name="connsiteX494" fmla="*/ 537077 w 1830590"/>
                    <a:gd name="connsiteY494" fmla="*/ 1401956 h 2366371"/>
                    <a:gd name="connsiteX495" fmla="*/ 537077 w 1830590"/>
                    <a:gd name="connsiteY495" fmla="*/ 1509112 h 2366371"/>
                    <a:gd name="connsiteX496" fmla="*/ 537077 w 1830590"/>
                    <a:gd name="connsiteY496" fmla="*/ 1607344 h 2366371"/>
                    <a:gd name="connsiteX497" fmla="*/ 438845 w 1830590"/>
                    <a:gd name="connsiteY497" fmla="*/ 1607344 h 2366371"/>
                    <a:gd name="connsiteX498" fmla="*/ 438845 w 1830590"/>
                    <a:gd name="connsiteY498" fmla="*/ 1509112 h 2366371"/>
                    <a:gd name="connsiteX499" fmla="*/ 537077 w 1830590"/>
                    <a:gd name="connsiteY499" fmla="*/ 1509112 h 2366371"/>
                    <a:gd name="connsiteX500" fmla="*/ 537077 w 1830590"/>
                    <a:gd name="connsiteY500" fmla="*/ 1616269 h 2366371"/>
                    <a:gd name="connsiteX501" fmla="*/ 537077 w 1830590"/>
                    <a:gd name="connsiteY501" fmla="*/ 1714500 h 2366371"/>
                    <a:gd name="connsiteX502" fmla="*/ 438845 w 1830590"/>
                    <a:gd name="connsiteY502" fmla="*/ 1714500 h 2366371"/>
                    <a:gd name="connsiteX503" fmla="*/ 438845 w 1830590"/>
                    <a:gd name="connsiteY503" fmla="*/ 1616269 h 2366371"/>
                    <a:gd name="connsiteX504" fmla="*/ 537077 w 1830590"/>
                    <a:gd name="connsiteY504" fmla="*/ 1616269 h 2366371"/>
                    <a:gd name="connsiteX505" fmla="*/ 537077 w 1830590"/>
                    <a:gd name="connsiteY505" fmla="*/ 1723425 h 2366371"/>
                    <a:gd name="connsiteX506" fmla="*/ 537077 w 1830590"/>
                    <a:gd name="connsiteY506" fmla="*/ 1821656 h 2366371"/>
                    <a:gd name="connsiteX507" fmla="*/ 438845 w 1830590"/>
                    <a:gd name="connsiteY507" fmla="*/ 1821656 h 2366371"/>
                    <a:gd name="connsiteX508" fmla="*/ 438845 w 1830590"/>
                    <a:gd name="connsiteY508" fmla="*/ 1723425 h 2366371"/>
                    <a:gd name="connsiteX509" fmla="*/ 537077 w 1830590"/>
                    <a:gd name="connsiteY509" fmla="*/ 1723425 h 2366371"/>
                    <a:gd name="connsiteX510" fmla="*/ 546011 w 1830590"/>
                    <a:gd name="connsiteY510" fmla="*/ 1723425 h 2366371"/>
                    <a:gd name="connsiteX511" fmla="*/ 644243 w 1830590"/>
                    <a:gd name="connsiteY511" fmla="*/ 1723425 h 2366371"/>
                    <a:gd name="connsiteX512" fmla="*/ 644243 w 1830590"/>
                    <a:gd name="connsiteY512" fmla="*/ 1821656 h 2366371"/>
                    <a:gd name="connsiteX513" fmla="*/ 546011 w 1830590"/>
                    <a:gd name="connsiteY513" fmla="*/ 1821656 h 2366371"/>
                    <a:gd name="connsiteX514" fmla="*/ 546011 w 1830590"/>
                    <a:gd name="connsiteY514" fmla="*/ 1723425 h 2366371"/>
                    <a:gd name="connsiteX515" fmla="*/ 644233 w 1830590"/>
                    <a:gd name="connsiteY515" fmla="*/ 1830581 h 2366371"/>
                    <a:gd name="connsiteX516" fmla="*/ 644233 w 1830590"/>
                    <a:gd name="connsiteY516" fmla="*/ 1928812 h 2366371"/>
                    <a:gd name="connsiteX517" fmla="*/ 546002 w 1830590"/>
                    <a:gd name="connsiteY517" fmla="*/ 1928812 h 2366371"/>
                    <a:gd name="connsiteX518" fmla="*/ 546002 w 1830590"/>
                    <a:gd name="connsiteY518" fmla="*/ 1830581 h 2366371"/>
                    <a:gd name="connsiteX519" fmla="*/ 644233 w 1830590"/>
                    <a:gd name="connsiteY519" fmla="*/ 1830581 h 2366371"/>
                    <a:gd name="connsiteX520" fmla="*/ 653167 w 1830590"/>
                    <a:gd name="connsiteY520" fmla="*/ 1830581 h 2366371"/>
                    <a:gd name="connsiteX521" fmla="*/ 751399 w 1830590"/>
                    <a:gd name="connsiteY521" fmla="*/ 1830581 h 2366371"/>
                    <a:gd name="connsiteX522" fmla="*/ 751399 w 1830590"/>
                    <a:gd name="connsiteY522" fmla="*/ 1928812 h 2366371"/>
                    <a:gd name="connsiteX523" fmla="*/ 653167 w 1830590"/>
                    <a:gd name="connsiteY523" fmla="*/ 1928812 h 2366371"/>
                    <a:gd name="connsiteX524" fmla="*/ 653167 w 1830590"/>
                    <a:gd name="connsiteY524" fmla="*/ 1830581 h 2366371"/>
                    <a:gd name="connsiteX525" fmla="*/ 760324 w 1830590"/>
                    <a:gd name="connsiteY525" fmla="*/ 1830581 h 2366371"/>
                    <a:gd name="connsiteX526" fmla="*/ 858555 w 1830590"/>
                    <a:gd name="connsiteY526" fmla="*/ 1830581 h 2366371"/>
                    <a:gd name="connsiteX527" fmla="*/ 858555 w 1830590"/>
                    <a:gd name="connsiteY527" fmla="*/ 1928812 h 2366371"/>
                    <a:gd name="connsiteX528" fmla="*/ 760324 w 1830590"/>
                    <a:gd name="connsiteY528" fmla="*/ 1928812 h 2366371"/>
                    <a:gd name="connsiteX529" fmla="*/ 760324 w 1830590"/>
                    <a:gd name="connsiteY529" fmla="*/ 1830581 h 2366371"/>
                    <a:gd name="connsiteX530" fmla="*/ 867480 w 1830590"/>
                    <a:gd name="connsiteY530" fmla="*/ 1830581 h 2366371"/>
                    <a:gd name="connsiteX531" fmla="*/ 965711 w 1830590"/>
                    <a:gd name="connsiteY531" fmla="*/ 1830581 h 2366371"/>
                    <a:gd name="connsiteX532" fmla="*/ 965711 w 1830590"/>
                    <a:gd name="connsiteY532" fmla="*/ 1928812 h 2366371"/>
                    <a:gd name="connsiteX533" fmla="*/ 867480 w 1830590"/>
                    <a:gd name="connsiteY533" fmla="*/ 1928812 h 2366371"/>
                    <a:gd name="connsiteX534" fmla="*/ 867480 w 1830590"/>
                    <a:gd name="connsiteY534" fmla="*/ 1830581 h 2366371"/>
                    <a:gd name="connsiteX535" fmla="*/ 974636 w 1830590"/>
                    <a:gd name="connsiteY535" fmla="*/ 1830581 h 2366371"/>
                    <a:gd name="connsiteX536" fmla="*/ 1072867 w 1830590"/>
                    <a:gd name="connsiteY536" fmla="*/ 1830581 h 2366371"/>
                    <a:gd name="connsiteX537" fmla="*/ 1072867 w 1830590"/>
                    <a:gd name="connsiteY537" fmla="*/ 1928812 h 2366371"/>
                    <a:gd name="connsiteX538" fmla="*/ 974636 w 1830590"/>
                    <a:gd name="connsiteY538" fmla="*/ 1928812 h 2366371"/>
                    <a:gd name="connsiteX539" fmla="*/ 974636 w 1830590"/>
                    <a:gd name="connsiteY539" fmla="*/ 1830581 h 2366371"/>
                    <a:gd name="connsiteX540" fmla="*/ 1081792 w 1830590"/>
                    <a:gd name="connsiteY540" fmla="*/ 1830581 h 2366371"/>
                    <a:gd name="connsiteX541" fmla="*/ 1180024 w 1830590"/>
                    <a:gd name="connsiteY541" fmla="*/ 1830581 h 2366371"/>
                    <a:gd name="connsiteX542" fmla="*/ 1180024 w 1830590"/>
                    <a:gd name="connsiteY542" fmla="*/ 1928812 h 2366371"/>
                    <a:gd name="connsiteX543" fmla="*/ 1081792 w 1830590"/>
                    <a:gd name="connsiteY543" fmla="*/ 1928812 h 2366371"/>
                    <a:gd name="connsiteX544" fmla="*/ 1081792 w 1830590"/>
                    <a:gd name="connsiteY544" fmla="*/ 1830581 h 2366371"/>
                    <a:gd name="connsiteX545" fmla="*/ 1188949 w 1830590"/>
                    <a:gd name="connsiteY545" fmla="*/ 1830581 h 2366371"/>
                    <a:gd name="connsiteX546" fmla="*/ 1287180 w 1830590"/>
                    <a:gd name="connsiteY546" fmla="*/ 1830581 h 2366371"/>
                    <a:gd name="connsiteX547" fmla="*/ 1287180 w 1830590"/>
                    <a:gd name="connsiteY547" fmla="*/ 1928812 h 2366371"/>
                    <a:gd name="connsiteX548" fmla="*/ 1188949 w 1830590"/>
                    <a:gd name="connsiteY548" fmla="*/ 1928812 h 2366371"/>
                    <a:gd name="connsiteX549" fmla="*/ 1188949 w 1830590"/>
                    <a:gd name="connsiteY549" fmla="*/ 1830581 h 2366371"/>
                    <a:gd name="connsiteX550" fmla="*/ 1188949 w 1830590"/>
                    <a:gd name="connsiteY550" fmla="*/ 1821656 h 2366371"/>
                    <a:gd name="connsiteX551" fmla="*/ 1188949 w 1830590"/>
                    <a:gd name="connsiteY551" fmla="*/ 1723425 h 2366371"/>
                    <a:gd name="connsiteX552" fmla="*/ 1287180 w 1830590"/>
                    <a:gd name="connsiteY552" fmla="*/ 1723425 h 2366371"/>
                    <a:gd name="connsiteX553" fmla="*/ 1287180 w 1830590"/>
                    <a:gd name="connsiteY553" fmla="*/ 1821656 h 2366371"/>
                    <a:gd name="connsiteX554" fmla="*/ 1188949 w 1830590"/>
                    <a:gd name="connsiteY554" fmla="*/ 1821656 h 2366371"/>
                    <a:gd name="connsiteX555" fmla="*/ 1296105 w 1830590"/>
                    <a:gd name="connsiteY555" fmla="*/ 1723425 h 2366371"/>
                    <a:gd name="connsiteX556" fmla="*/ 1394336 w 1830590"/>
                    <a:gd name="connsiteY556" fmla="*/ 1723425 h 2366371"/>
                    <a:gd name="connsiteX557" fmla="*/ 1394336 w 1830590"/>
                    <a:gd name="connsiteY557" fmla="*/ 1821656 h 2366371"/>
                    <a:gd name="connsiteX558" fmla="*/ 1296105 w 1830590"/>
                    <a:gd name="connsiteY558" fmla="*/ 1821656 h 2366371"/>
                    <a:gd name="connsiteX559" fmla="*/ 1296105 w 1830590"/>
                    <a:gd name="connsiteY559" fmla="*/ 1723425 h 2366371"/>
                    <a:gd name="connsiteX560" fmla="*/ 1296105 w 1830590"/>
                    <a:gd name="connsiteY560" fmla="*/ 1714500 h 2366371"/>
                    <a:gd name="connsiteX561" fmla="*/ 1296105 w 1830590"/>
                    <a:gd name="connsiteY561" fmla="*/ 1616269 h 2366371"/>
                    <a:gd name="connsiteX562" fmla="*/ 1394336 w 1830590"/>
                    <a:gd name="connsiteY562" fmla="*/ 1616269 h 2366371"/>
                    <a:gd name="connsiteX563" fmla="*/ 1394336 w 1830590"/>
                    <a:gd name="connsiteY563" fmla="*/ 1714500 h 2366371"/>
                    <a:gd name="connsiteX564" fmla="*/ 1296105 w 1830590"/>
                    <a:gd name="connsiteY564" fmla="*/ 1714500 h 2366371"/>
                    <a:gd name="connsiteX565" fmla="*/ 1296105 w 1830590"/>
                    <a:gd name="connsiteY565" fmla="*/ 1607344 h 2366371"/>
                    <a:gd name="connsiteX566" fmla="*/ 1296105 w 1830590"/>
                    <a:gd name="connsiteY566" fmla="*/ 1509112 h 2366371"/>
                    <a:gd name="connsiteX567" fmla="*/ 1394336 w 1830590"/>
                    <a:gd name="connsiteY567" fmla="*/ 1509112 h 2366371"/>
                    <a:gd name="connsiteX568" fmla="*/ 1394336 w 1830590"/>
                    <a:gd name="connsiteY568" fmla="*/ 1607344 h 2366371"/>
                    <a:gd name="connsiteX569" fmla="*/ 1296105 w 1830590"/>
                    <a:gd name="connsiteY569" fmla="*/ 1607344 h 2366371"/>
                    <a:gd name="connsiteX570" fmla="*/ 1296105 w 1830590"/>
                    <a:gd name="connsiteY570" fmla="*/ 1500187 h 2366371"/>
                    <a:gd name="connsiteX571" fmla="*/ 1296105 w 1830590"/>
                    <a:gd name="connsiteY571" fmla="*/ 1401956 h 2366371"/>
                    <a:gd name="connsiteX572" fmla="*/ 1394336 w 1830590"/>
                    <a:gd name="connsiteY572" fmla="*/ 1401956 h 2366371"/>
                    <a:gd name="connsiteX573" fmla="*/ 1394336 w 1830590"/>
                    <a:gd name="connsiteY573" fmla="*/ 1500187 h 2366371"/>
                    <a:gd name="connsiteX574" fmla="*/ 1296105 w 1830590"/>
                    <a:gd name="connsiteY574" fmla="*/ 1500187 h 2366371"/>
                    <a:gd name="connsiteX575" fmla="*/ 1296105 w 1830590"/>
                    <a:gd name="connsiteY575" fmla="*/ 1393031 h 2366371"/>
                    <a:gd name="connsiteX576" fmla="*/ 1296105 w 1830590"/>
                    <a:gd name="connsiteY576" fmla="*/ 1294800 h 2366371"/>
                    <a:gd name="connsiteX577" fmla="*/ 1394336 w 1830590"/>
                    <a:gd name="connsiteY577" fmla="*/ 1294800 h 2366371"/>
                    <a:gd name="connsiteX578" fmla="*/ 1394336 w 1830590"/>
                    <a:gd name="connsiteY578" fmla="*/ 1393031 h 2366371"/>
                    <a:gd name="connsiteX579" fmla="*/ 1296105 w 1830590"/>
                    <a:gd name="connsiteY579" fmla="*/ 1393031 h 2366371"/>
                    <a:gd name="connsiteX580" fmla="*/ 1296105 w 1830590"/>
                    <a:gd name="connsiteY580" fmla="*/ 1285875 h 2366371"/>
                    <a:gd name="connsiteX581" fmla="*/ 1296105 w 1830590"/>
                    <a:gd name="connsiteY581" fmla="*/ 1187644 h 2366371"/>
                    <a:gd name="connsiteX582" fmla="*/ 1394336 w 1830590"/>
                    <a:gd name="connsiteY582" fmla="*/ 1187644 h 2366371"/>
                    <a:gd name="connsiteX583" fmla="*/ 1394336 w 1830590"/>
                    <a:gd name="connsiteY583" fmla="*/ 1285875 h 2366371"/>
                    <a:gd name="connsiteX584" fmla="*/ 1296105 w 1830590"/>
                    <a:gd name="connsiteY584" fmla="*/ 1285875 h 2366371"/>
                    <a:gd name="connsiteX585" fmla="*/ 1296105 w 1830590"/>
                    <a:gd name="connsiteY585" fmla="*/ 1178719 h 2366371"/>
                    <a:gd name="connsiteX586" fmla="*/ 1296105 w 1830590"/>
                    <a:gd name="connsiteY586" fmla="*/ 1080487 h 2366371"/>
                    <a:gd name="connsiteX587" fmla="*/ 1394336 w 1830590"/>
                    <a:gd name="connsiteY587" fmla="*/ 1080487 h 2366371"/>
                    <a:gd name="connsiteX588" fmla="*/ 1394336 w 1830590"/>
                    <a:gd name="connsiteY588" fmla="*/ 1178719 h 2366371"/>
                    <a:gd name="connsiteX589" fmla="*/ 1296105 w 1830590"/>
                    <a:gd name="connsiteY589" fmla="*/ 1178719 h 2366371"/>
                    <a:gd name="connsiteX590" fmla="*/ 1296105 w 1830590"/>
                    <a:gd name="connsiteY590" fmla="*/ 1071562 h 2366371"/>
                    <a:gd name="connsiteX591" fmla="*/ 1296105 w 1830590"/>
                    <a:gd name="connsiteY591" fmla="*/ 973331 h 2366371"/>
                    <a:gd name="connsiteX592" fmla="*/ 1394336 w 1830590"/>
                    <a:gd name="connsiteY592" fmla="*/ 973331 h 2366371"/>
                    <a:gd name="connsiteX593" fmla="*/ 1394336 w 1830590"/>
                    <a:gd name="connsiteY593" fmla="*/ 1071562 h 2366371"/>
                    <a:gd name="connsiteX594" fmla="*/ 1296105 w 1830590"/>
                    <a:gd name="connsiteY594" fmla="*/ 1071562 h 2366371"/>
                    <a:gd name="connsiteX595" fmla="*/ 1296105 w 1830590"/>
                    <a:gd name="connsiteY595" fmla="*/ 964406 h 2366371"/>
                    <a:gd name="connsiteX596" fmla="*/ 1296105 w 1830590"/>
                    <a:gd name="connsiteY596" fmla="*/ 866175 h 2366371"/>
                    <a:gd name="connsiteX597" fmla="*/ 1394336 w 1830590"/>
                    <a:gd name="connsiteY597" fmla="*/ 866175 h 2366371"/>
                    <a:gd name="connsiteX598" fmla="*/ 1394336 w 1830590"/>
                    <a:gd name="connsiteY598" fmla="*/ 964406 h 2366371"/>
                    <a:gd name="connsiteX599" fmla="*/ 1296105 w 1830590"/>
                    <a:gd name="connsiteY599" fmla="*/ 964406 h 2366371"/>
                    <a:gd name="connsiteX600" fmla="*/ 1296105 w 1830590"/>
                    <a:gd name="connsiteY600" fmla="*/ 857250 h 2366371"/>
                    <a:gd name="connsiteX601" fmla="*/ 1296105 w 1830590"/>
                    <a:gd name="connsiteY601" fmla="*/ 759019 h 2366371"/>
                    <a:gd name="connsiteX602" fmla="*/ 1394336 w 1830590"/>
                    <a:gd name="connsiteY602" fmla="*/ 759019 h 2366371"/>
                    <a:gd name="connsiteX603" fmla="*/ 1394336 w 1830590"/>
                    <a:gd name="connsiteY603" fmla="*/ 857250 h 2366371"/>
                    <a:gd name="connsiteX604" fmla="*/ 1296105 w 1830590"/>
                    <a:gd name="connsiteY604" fmla="*/ 857250 h 2366371"/>
                    <a:gd name="connsiteX605" fmla="*/ 1296105 w 1830590"/>
                    <a:gd name="connsiteY605" fmla="*/ 750094 h 2366371"/>
                    <a:gd name="connsiteX606" fmla="*/ 1296105 w 1830590"/>
                    <a:gd name="connsiteY606" fmla="*/ 651862 h 2366371"/>
                    <a:gd name="connsiteX607" fmla="*/ 1394336 w 1830590"/>
                    <a:gd name="connsiteY607" fmla="*/ 651862 h 2366371"/>
                    <a:gd name="connsiteX608" fmla="*/ 1394336 w 1830590"/>
                    <a:gd name="connsiteY608" fmla="*/ 750094 h 2366371"/>
                    <a:gd name="connsiteX609" fmla="*/ 1296105 w 1830590"/>
                    <a:gd name="connsiteY609" fmla="*/ 750094 h 2366371"/>
                    <a:gd name="connsiteX610" fmla="*/ 1296105 w 1830590"/>
                    <a:gd name="connsiteY610" fmla="*/ 642938 h 2366371"/>
                    <a:gd name="connsiteX611" fmla="*/ 1296105 w 1830590"/>
                    <a:gd name="connsiteY611" fmla="*/ 544706 h 2366371"/>
                    <a:gd name="connsiteX612" fmla="*/ 1394336 w 1830590"/>
                    <a:gd name="connsiteY612" fmla="*/ 544706 h 2366371"/>
                    <a:gd name="connsiteX613" fmla="*/ 1394336 w 1830590"/>
                    <a:gd name="connsiteY613" fmla="*/ 642938 h 2366371"/>
                    <a:gd name="connsiteX614" fmla="*/ 1296105 w 1830590"/>
                    <a:gd name="connsiteY614" fmla="*/ 642938 h 2366371"/>
                    <a:gd name="connsiteX615" fmla="*/ 1296105 w 1830590"/>
                    <a:gd name="connsiteY615" fmla="*/ 535781 h 2366371"/>
                    <a:gd name="connsiteX616" fmla="*/ 1296105 w 1830590"/>
                    <a:gd name="connsiteY616" fmla="*/ 437550 h 2366371"/>
                    <a:gd name="connsiteX617" fmla="*/ 1394336 w 1830590"/>
                    <a:gd name="connsiteY617" fmla="*/ 437550 h 2366371"/>
                    <a:gd name="connsiteX618" fmla="*/ 1394336 w 1830590"/>
                    <a:gd name="connsiteY618" fmla="*/ 535781 h 2366371"/>
                    <a:gd name="connsiteX619" fmla="*/ 1296105 w 1830590"/>
                    <a:gd name="connsiteY619" fmla="*/ 535781 h 2366371"/>
                    <a:gd name="connsiteX620" fmla="*/ 1296105 w 1830590"/>
                    <a:gd name="connsiteY620" fmla="*/ 428625 h 2366371"/>
                    <a:gd name="connsiteX621" fmla="*/ 1296105 w 1830590"/>
                    <a:gd name="connsiteY621" fmla="*/ 330394 h 2366371"/>
                    <a:gd name="connsiteX622" fmla="*/ 1394336 w 1830590"/>
                    <a:gd name="connsiteY622" fmla="*/ 330394 h 2366371"/>
                    <a:gd name="connsiteX623" fmla="*/ 1394336 w 1830590"/>
                    <a:gd name="connsiteY623" fmla="*/ 428625 h 2366371"/>
                    <a:gd name="connsiteX624" fmla="*/ 1296105 w 1830590"/>
                    <a:gd name="connsiteY624" fmla="*/ 428625 h 2366371"/>
                    <a:gd name="connsiteX625" fmla="*/ 1287171 w 1830590"/>
                    <a:gd name="connsiteY625" fmla="*/ 428625 h 2366371"/>
                    <a:gd name="connsiteX626" fmla="*/ 1188939 w 1830590"/>
                    <a:gd name="connsiteY626" fmla="*/ 428625 h 2366371"/>
                    <a:gd name="connsiteX627" fmla="*/ 1188939 w 1830590"/>
                    <a:gd name="connsiteY627" fmla="*/ 330394 h 2366371"/>
                    <a:gd name="connsiteX628" fmla="*/ 1287171 w 1830590"/>
                    <a:gd name="connsiteY628" fmla="*/ 330394 h 2366371"/>
                    <a:gd name="connsiteX629" fmla="*/ 1287171 w 1830590"/>
                    <a:gd name="connsiteY629" fmla="*/ 428625 h 2366371"/>
                    <a:gd name="connsiteX630" fmla="*/ 1180014 w 1830590"/>
                    <a:gd name="connsiteY630" fmla="*/ 428625 h 2366371"/>
                    <a:gd name="connsiteX631" fmla="*/ 1081783 w 1830590"/>
                    <a:gd name="connsiteY631" fmla="*/ 428625 h 2366371"/>
                    <a:gd name="connsiteX632" fmla="*/ 1081783 w 1830590"/>
                    <a:gd name="connsiteY632" fmla="*/ 330394 h 2366371"/>
                    <a:gd name="connsiteX633" fmla="*/ 1180014 w 1830590"/>
                    <a:gd name="connsiteY633" fmla="*/ 330394 h 2366371"/>
                    <a:gd name="connsiteX634" fmla="*/ 1180014 w 1830590"/>
                    <a:gd name="connsiteY634" fmla="*/ 428625 h 2366371"/>
                    <a:gd name="connsiteX635" fmla="*/ 1072858 w 1830590"/>
                    <a:gd name="connsiteY635" fmla="*/ 428625 h 2366371"/>
                    <a:gd name="connsiteX636" fmla="*/ 974627 w 1830590"/>
                    <a:gd name="connsiteY636" fmla="*/ 428625 h 2366371"/>
                    <a:gd name="connsiteX637" fmla="*/ 974627 w 1830590"/>
                    <a:gd name="connsiteY637" fmla="*/ 330394 h 2366371"/>
                    <a:gd name="connsiteX638" fmla="*/ 1072858 w 1830590"/>
                    <a:gd name="connsiteY638" fmla="*/ 330394 h 2366371"/>
                    <a:gd name="connsiteX639" fmla="*/ 1072858 w 1830590"/>
                    <a:gd name="connsiteY639" fmla="*/ 428625 h 2366371"/>
                    <a:gd name="connsiteX640" fmla="*/ 965702 w 1830590"/>
                    <a:gd name="connsiteY640" fmla="*/ 428625 h 2366371"/>
                    <a:gd name="connsiteX641" fmla="*/ 867470 w 1830590"/>
                    <a:gd name="connsiteY641" fmla="*/ 428625 h 2366371"/>
                    <a:gd name="connsiteX642" fmla="*/ 867470 w 1830590"/>
                    <a:gd name="connsiteY642" fmla="*/ 330394 h 2366371"/>
                    <a:gd name="connsiteX643" fmla="*/ 965702 w 1830590"/>
                    <a:gd name="connsiteY643" fmla="*/ 330394 h 2366371"/>
                    <a:gd name="connsiteX644" fmla="*/ 965702 w 1830590"/>
                    <a:gd name="connsiteY644" fmla="*/ 428625 h 2366371"/>
                    <a:gd name="connsiteX645" fmla="*/ 858546 w 1830590"/>
                    <a:gd name="connsiteY645" fmla="*/ 428625 h 2366371"/>
                    <a:gd name="connsiteX646" fmla="*/ 760314 w 1830590"/>
                    <a:gd name="connsiteY646" fmla="*/ 428625 h 2366371"/>
                    <a:gd name="connsiteX647" fmla="*/ 760314 w 1830590"/>
                    <a:gd name="connsiteY647" fmla="*/ 330394 h 2366371"/>
                    <a:gd name="connsiteX648" fmla="*/ 858546 w 1830590"/>
                    <a:gd name="connsiteY648" fmla="*/ 330394 h 2366371"/>
                    <a:gd name="connsiteX649" fmla="*/ 858546 w 1830590"/>
                    <a:gd name="connsiteY649" fmla="*/ 428625 h 2366371"/>
                    <a:gd name="connsiteX650" fmla="*/ 751389 w 1830590"/>
                    <a:gd name="connsiteY650" fmla="*/ 428625 h 2366371"/>
                    <a:gd name="connsiteX651" fmla="*/ 653158 w 1830590"/>
                    <a:gd name="connsiteY651" fmla="*/ 428625 h 2366371"/>
                    <a:gd name="connsiteX652" fmla="*/ 653158 w 1830590"/>
                    <a:gd name="connsiteY652" fmla="*/ 330394 h 2366371"/>
                    <a:gd name="connsiteX653" fmla="*/ 751389 w 1830590"/>
                    <a:gd name="connsiteY653" fmla="*/ 330394 h 2366371"/>
                    <a:gd name="connsiteX654" fmla="*/ 751389 w 1830590"/>
                    <a:gd name="connsiteY654" fmla="*/ 428625 h 2366371"/>
                    <a:gd name="connsiteX655" fmla="*/ 644233 w 1830590"/>
                    <a:gd name="connsiteY655" fmla="*/ 428625 h 2366371"/>
                    <a:gd name="connsiteX656" fmla="*/ 546002 w 1830590"/>
                    <a:gd name="connsiteY656" fmla="*/ 428625 h 2366371"/>
                    <a:gd name="connsiteX657" fmla="*/ 546002 w 1830590"/>
                    <a:gd name="connsiteY657" fmla="*/ 330394 h 2366371"/>
                    <a:gd name="connsiteX658" fmla="*/ 644233 w 1830590"/>
                    <a:gd name="connsiteY658" fmla="*/ 330394 h 2366371"/>
                    <a:gd name="connsiteX659" fmla="*/ 644233 w 1830590"/>
                    <a:gd name="connsiteY659" fmla="*/ 428625 h 2366371"/>
                    <a:gd name="connsiteX660" fmla="*/ 537077 w 1830590"/>
                    <a:gd name="connsiteY660" fmla="*/ 428625 h 2366371"/>
                    <a:gd name="connsiteX661" fmla="*/ 438845 w 1830590"/>
                    <a:gd name="connsiteY661" fmla="*/ 428625 h 2366371"/>
                    <a:gd name="connsiteX662" fmla="*/ 438845 w 1830590"/>
                    <a:gd name="connsiteY662" fmla="*/ 330394 h 2366371"/>
                    <a:gd name="connsiteX663" fmla="*/ 537077 w 1830590"/>
                    <a:gd name="connsiteY663" fmla="*/ 330394 h 2366371"/>
                    <a:gd name="connsiteX664" fmla="*/ 537077 w 1830590"/>
                    <a:gd name="connsiteY664" fmla="*/ 428625 h 2366371"/>
                    <a:gd name="connsiteX665" fmla="*/ 537077 w 1830590"/>
                    <a:gd name="connsiteY665" fmla="*/ 437550 h 2366371"/>
                    <a:gd name="connsiteX666" fmla="*/ 537077 w 1830590"/>
                    <a:gd name="connsiteY666" fmla="*/ 535781 h 2366371"/>
                    <a:gd name="connsiteX667" fmla="*/ 438845 w 1830590"/>
                    <a:gd name="connsiteY667" fmla="*/ 535781 h 2366371"/>
                    <a:gd name="connsiteX668" fmla="*/ 438845 w 1830590"/>
                    <a:gd name="connsiteY668" fmla="*/ 437550 h 2366371"/>
                    <a:gd name="connsiteX669" fmla="*/ 537077 w 1830590"/>
                    <a:gd name="connsiteY669" fmla="*/ 437550 h 2366371"/>
                    <a:gd name="connsiteX670" fmla="*/ 429920 w 1830590"/>
                    <a:gd name="connsiteY670" fmla="*/ 535781 h 2366371"/>
                    <a:gd name="connsiteX671" fmla="*/ 331689 w 1830590"/>
                    <a:gd name="connsiteY671" fmla="*/ 535781 h 2366371"/>
                    <a:gd name="connsiteX672" fmla="*/ 331689 w 1830590"/>
                    <a:gd name="connsiteY672" fmla="*/ 437550 h 2366371"/>
                    <a:gd name="connsiteX673" fmla="*/ 429920 w 1830590"/>
                    <a:gd name="connsiteY673" fmla="*/ 437550 h 2366371"/>
                    <a:gd name="connsiteX674" fmla="*/ 429920 w 1830590"/>
                    <a:gd name="connsiteY674" fmla="*/ 535781 h 2366371"/>
                    <a:gd name="connsiteX675" fmla="*/ 429920 w 1830590"/>
                    <a:gd name="connsiteY675" fmla="*/ 544706 h 2366371"/>
                    <a:gd name="connsiteX676" fmla="*/ 429920 w 1830590"/>
                    <a:gd name="connsiteY676" fmla="*/ 642938 h 2366371"/>
                    <a:gd name="connsiteX677" fmla="*/ 331689 w 1830590"/>
                    <a:gd name="connsiteY677" fmla="*/ 642938 h 2366371"/>
                    <a:gd name="connsiteX678" fmla="*/ 331689 w 1830590"/>
                    <a:gd name="connsiteY678" fmla="*/ 544706 h 2366371"/>
                    <a:gd name="connsiteX679" fmla="*/ 429920 w 1830590"/>
                    <a:gd name="connsiteY679" fmla="*/ 544706 h 2366371"/>
                    <a:gd name="connsiteX680" fmla="*/ 429920 w 1830590"/>
                    <a:gd name="connsiteY680" fmla="*/ 651862 h 2366371"/>
                    <a:gd name="connsiteX681" fmla="*/ 429920 w 1830590"/>
                    <a:gd name="connsiteY681" fmla="*/ 750094 h 2366371"/>
                    <a:gd name="connsiteX682" fmla="*/ 331689 w 1830590"/>
                    <a:gd name="connsiteY682" fmla="*/ 750094 h 2366371"/>
                    <a:gd name="connsiteX683" fmla="*/ 331689 w 1830590"/>
                    <a:gd name="connsiteY683" fmla="*/ 651862 h 2366371"/>
                    <a:gd name="connsiteX684" fmla="*/ 429920 w 1830590"/>
                    <a:gd name="connsiteY684" fmla="*/ 651862 h 2366371"/>
                    <a:gd name="connsiteX685" fmla="*/ 429920 w 1830590"/>
                    <a:gd name="connsiteY685" fmla="*/ 759019 h 2366371"/>
                    <a:gd name="connsiteX686" fmla="*/ 429920 w 1830590"/>
                    <a:gd name="connsiteY686" fmla="*/ 857250 h 2366371"/>
                    <a:gd name="connsiteX687" fmla="*/ 331689 w 1830590"/>
                    <a:gd name="connsiteY687" fmla="*/ 857250 h 2366371"/>
                    <a:gd name="connsiteX688" fmla="*/ 331689 w 1830590"/>
                    <a:gd name="connsiteY688" fmla="*/ 759019 h 2366371"/>
                    <a:gd name="connsiteX689" fmla="*/ 429920 w 1830590"/>
                    <a:gd name="connsiteY689" fmla="*/ 759019 h 2366371"/>
                    <a:gd name="connsiteX690" fmla="*/ 429920 w 1830590"/>
                    <a:gd name="connsiteY690" fmla="*/ 866175 h 2366371"/>
                    <a:gd name="connsiteX691" fmla="*/ 429920 w 1830590"/>
                    <a:gd name="connsiteY691" fmla="*/ 964406 h 2366371"/>
                    <a:gd name="connsiteX692" fmla="*/ 331689 w 1830590"/>
                    <a:gd name="connsiteY692" fmla="*/ 964406 h 2366371"/>
                    <a:gd name="connsiteX693" fmla="*/ 331689 w 1830590"/>
                    <a:gd name="connsiteY693" fmla="*/ 866175 h 2366371"/>
                    <a:gd name="connsiteX694" fmla="*/ 429920 w 1830590"/>
                    <a:gd name="connsiteY694" fmla="*/ 866175 h 2366371"/>
                    <a:gd name="connsiteX695" fmla="*/ 429920 w 1830590"/>
                    <a:gd name="connsiteY695" fmla="*/ 973331 h 2366371"/>
                    <a:gd name="connsiteX696" fmla="*/ 429920 w 1830590"/>
                    <a:gd name="connsiteY696" fmla="*/ 1071562 h 2366371"/>
                    <a:gd name="connsiteX697" fmla="*/ 331689 w 1830590"/>
                    <a:gd name="connsiteY697" fmla="*/ 1071562 h 2366371"/>
                    <a:gd name="connsiteX698" fmla="*/ 331689 w 1830590"/>
                    <a:gd name="connsiteY698" fmla="*/ 973331 h 2366371"/>
                    <a:gd name="connsiteX699" fmla="*/ 429920 w 1830590"/>
                    <a:gd name="connsiteY699" fmla="*/ 973331 h 2366371"/>
                    <a:gd name="connsiteX700" fmla="*/ 429920 w 1830590"/>
                    <a:gd name="connsiteY700" fmla="*/ 1080487 h 2366371"/>
                    <a:gd name="connsiteX701" fmla="*/ 429920 w 1830590"/>
                    <a:gd name="connsiteY701" fmla="*/ 1178719 h 2366371"/>
                    <a:gd name="connsiteX702" fmla="*/ 331689 w 1830590"/>
                    <a:gd name="connsiteY702" fmla="*/ 1178719 h 2366371"/>
                    <a:gd name="connsiteX703" fmla="*/ 331689 w 1830590"/>
                    <a:gd name="connsiteY703" fmla="*/ 1080487 h 2366371"/>
                    <a:gd name="connsiteX704" fmla="*/ 429920 w 1830590"/>
                    <a:gd name="connsiteY704" fmla="*/ 1080487 h 2366371"/>
                    <a:gd name="connsiteX705" fmla="*/ 429920 w 1830590"/>
                    <a:gd name="connsiteY705" fmla="*/ 1187644 h 2366371"/>
                    <a:gd name="connsiteX706" fmla="*/ 429920 w 1830590"/>
                    <a:gd name="connsiteY706" fmla="*/ 1285875 h 2366371"/>
                    <a:gd name="connsiteX707" fmla="*/ 331689 w 1830590"/>
                    <a:gd name="connsiteY707" fmla="*/ 1285875 h 2366371"/>
                    <a:gd name="connsiteX708" fmla="*/ 331689 w 1830590"/>
                    <a:gd name="connsiteY708" fmla="*/ 1187644 h 2366371"/>
                    <a:gd name="connsiteX709" fmla="*/ 429920 w 1830590"/>
                    <a:gd name="connsiteY709" fmla="*/ 1187644 h 2366371"/>
                    <a:gd name="connsiteX710" fmla="*/ 429920 w 1830590"/>
                    <a:gd name="connsiteY710" fmla="*/ 1294800 h 2366371"/>
                    <a:gd name="connsiteX711" fmla="*/ 429920 w 1830590"/>
                    <a:gd name="connsiteY711" fmla="*/ 1393031 h 2366371"/>
                    <a:gd name="connsiteX712" fmla="*/ 331689 w 1830590"/>
                    <a:gd name="connsiteY712" fmla="*/ 1393031 h 2366371"/>
                    <a:gd name="connsiteX713" fmla="*/ 331689 w 1830590"/>
                    <a:gd name="connsiteY713" fmla="*/ 1294800 h 2366371"/>
                    <a:gd name="connsiteX714" fmla="*/ 429920 w 1830590"/>
                    <a:gd name="connsiteY714" fmla="*/ 1294800 h 2366371"/>
                    <a:gd name="connsiteX715" fmla="*/ 429920 w 1830590"/>
                    <a:gd name="connsiteY715" fmla="*/ 1401956 h 2366371"/>
                    <a:gd name="connsiteX716" fmla="*/ 429920 w 1830590"/>
                    <a:gd name="connsiteY716" fmla="*/ 1500187 h 2366371"/>
                    <a:gd name="connsiteX717" fmla="*/ 331689 w 1830590"/>
                    <a:gd name="connsiteY717" fmla="*/ 1500187 h 2366371"/>
                    <a:gd name="connsiteX718" fmla="*/ 331689 w 1830590"/>
                    <a:gd name="connsiteY718" fmla="*/ 1401956 h 2366371"/>
                    <a:gd name="connsiteX719" fmla="*/ 429920 w 1830590"/>
                    <a:gd name="connsiteY719" fmla="*/ 1401956 h 2366371"/>
                    <a:gd name="connsiteX720" fmla="*/ 429920 w 1830590"/>
                    <a:gd name="connsiteY720" fmla="*/ 1509112 h 2366371"/>
                    <a:gd name="connsiteX721" fmla="*/ 429920 w 1830590"/>
                    <a:gd name="connsiteY721" fmla="*/ 1607344 h 2366371"/>
                    <a:gd name="connsiteX722" fmla="*/ 331689 w 1830590"/>
                    <a:gd name="connsiteY722" fmla="*/ 1607344 h 2366371"/>
                    <a:gd name="connsiteX723" fmla="*/ 331689 w 1830590"/>
                    <a:gd name="connsiteY723" fmla="*/ 1509112 h 2366371"/>
                    <a:gd name="connsiteX724" fmla="*/ 429920 w 1830590"/>
                    <a:gd name="connsiteY724" fmla="*/ 1509112 h 2366371"/>
                    <a:gd name="connsiteX725" fmla="*/ 429920 w 1830590"/>
                    <a:gd name="connsiteY725" fmla="*/ 1616269 h 2366371"/>
                    <a:gd name="connsiteX726" fmla="*/ 429920 w 1830590"/>
                    <a:gd name="connsiteY726" fmla="*/ 1714500 h 2366371"/>
                    <a:gd name="connsiteX727" fmla="*/ 331689 w 1830590"/>
                    <a:gd name="connsiteY727" fmla="*/ 1714500 h 2366371"/>
                    <a:gd name="connsiteX728" fmla="*/ 331689 w 1830590"/>
                    <a:gd name="connsiteY728" fmla="*/ 1616269 h 2366371"/>
                    <a:gd name="connsiteX729" fmla="*/ 429920 w 1830590"/>
                    <a:gd name="connsiteY729" fmla="*/ 1616269 h 2366371"/>
                    <a:gd name="connsiteX730" fmla="*/ 429920 w 1830590"/>
                    <a:gd name="connsiteY730" fmla="*/ 1723425 h 2366371"/>
                    <a:gd name="connsiteX731" fmla="*/ 429920 w 1830590"/>
                    <a:gd name="connsiteY731" fmla="*/ 1821656 h 2366371"/>
                    <a:gd name="connsiteX732" fmla="*/ 331689 w 1830590"/>
                    <a:gd name="connsiteY732" fmla="*/ 1821656 h 2366371"/>
                    <a:gd name="connsiteX733" fmla="*/ 331689 w 1830590"/>
                    <a:gd name="connsiteY733" fmla="*/ 1723425 h 2366371"/>
                    <a:gd name="connsiteX734" fmla="*/ 429920 w 1830590"/>
                    <a:gd name="connsiteY734" fmla="*/ 1723425 h 2366371"/>
                    <a:gd name="connsiteX735" fmla="*/ 429920 w 1830590"/>
                    <a:gd name="connsiteY735" fmla="*/ 1830581 h 2366371"/>
                    <a:gd name="connsiteX736" fmla="*/ 429920 w 1830590"/>
                    <a:gd name="connsiteY736" fmla="*/ 1928812 h 2366371"/>
                    <a:gd name="connsiteX737" fmla="*/ 331689 w 1830590"/>
                    <a:gd name="connsiteY737" fmla="*/ 1928812 h 2366371"/>
                    <a:gd name="connsiteX738" fmla="*/ 331689 w 1830590"/>
                    <a:gd name="connsiteY738" fmla="*/ 1830581 h 2366371"/>
                    <a:gd name="connsiteX739" fmla="*/ 429920 w 1830590"/>
                    <a:gd name="connsiteY739" fmla="*/ 1830581 h 2366371"/>
                    <a:gd name="connsiteX740" fmla="*/ 438855 w 1830590"/>
                    <a:gd name="connsiteY740" fmla="*/ 1830581 h 2366371"/>
                    <a:gd name="connsiteX741" fmla="*/ 537086 w 1830590"/>
                    <a:gd name="connsiteY741" fmla="*/ 1830581 h 2366371"/>
                    <a:gd name="connsiteX742" fmla="*/ 537086 w 1830590"/>
                    <a:gd name="connsiteY742" fmla="*/ 1928812 h 2366371"/>
                    <a:gd name="connsiteX743" fmla="*/ 438855 w 1830590"/>
                    <a:gd name="connsiteY743" fmla="*/ 1928812 h 2366371"/>
                    <a:gd name="connsiteX744" fmla="*/ 438855 w 1830590"/>
                    <a:gd name="connsiteY744" fmla="*/ 1830581 h 2366371"/>
                    <a:gd name="connsiteX745" fmla="*/ 537077 w 1830590"/>
                    <a:gd name="connsiteY745" fmla="*/ 1937737 h 2366371"/>
                    <a:gd name="connsiteX746" fmla="*/ 537077 w 1830590"/>
                    <a:gd name="connsiteY746" fmla="*/ 2035969 h 2366371"/>
                    <a:gd name="connsiteX747" fmla="*/ 438845 w 1830590"/>
                    <a:gd name="connsiteY747" fmla="*/ 2035969 h 2366371"/>
                    <a:gd name="connsiteX748" fmla="*/ 438845 w 1830590"/>
                    <a:gd name="connsiteY748" fmla="*/ 1937737 h 2366371"/>
                    <a:gd name="connsiteX749" fmla="*/ 537077 w 1830590"/>
                    <a:gd name="connsiteY749" fmla="*/ 1937737 h 2366371"/>
                    <a:gd name="connsiteX750" fmla="*/ 546011 w 1830590"/>
                    <a:gd name="connsiteY750" fmla="*/ 1937737 h 2366371"/>
                    <a:gd name="connsiteX751" fmla="*/ 644243 w 1830590"/>
                    <a:gd name="connsiteY751" fmla="*/ 1937737 h 2366371"/>
                    <a:gd name="connsiteX752" fmla="*/ 644243 w 1830590"/>
                    <a:gd name="connsiteY752" fmla="*/ 2035969 h 2366371"/>
                    <a:gd name="connsiteX753" fmla="*/ 546011 w 1830590"/>
                    <a:gd name="connsiteY753" fmla="*/ 2035969 h 2366371"/>
                    <a:gd name="connsiteX754" fmla="*/ 546011 w 1830590"/>
                    <a:gd name="connsiteY754" fmla="*/ 1937737 h 2366371"/>
                    <a:gd name="connsiteX755" fmla="*/ 653167 w 1830590"/>
                    <a:gd name="connsiteY755" fmla="*/ 1937737 h 2366371"/>
                    <a:gd name="connsiteX756" fmla="*/ 751399 w 1830590"/>
                    <a:gd name="connsiteY756" fmla="*/ 1937737 h 2366371"/>
                    <a:gd name="connsiteX757" fmla="*/ 751399 w 1830590"/>
                    <a:gd name="connsiteY757" fmla="*/ 2035969 h 2366371"/>
                    <a:gd name="connsiteX758" fmla="*/ 653167 w 1830590"/>
                    <a:gd name="connsiteY758" fmla="*/ 2035969 h 2366371"/>
                    <a:gd name="connsiteX759" fmla="*/ 653167 w 1830590"/>
                    <a:gd name="connsiteY759" fmla="*/ 1937737 h 2366371"/>
                    <a:gd name="connsiteX760" fmla="*/ 760324 w 1830590"/>
                    <a:gd name="connsiteY760" fmla="*/ 1937737 h 2366371"/>
                    <a:gd name="connsiteX761" fmla="*/ 858555 w 1830590"/>
                    <a:gd name="connsiteY761" fmla="*/ 1937737 h 2366371"/>
                    <a:gd name="connsiteX762" fmla="*/ 858555 w 1830590"/>
                    <a:gd name="connsiteY762" fmla="*/ 2035969 h 2366371"/>
                    <a:gd name="connsiteX763" fmla="*/ 760324 w 1830590"/>
                    <a:gd name="connsiteY763" fmla="*/ 2035969 h 2366371"/>
                    <a:gd name="connsiteX764" fmla="*/ 760324 w 1830590"/>
                    <a:gd name="connsiteY764" fmla="*/ 1937737 h 2366371"/>
                    <a:gd name="connsiteX765" fmla="*/ 867480 w 1830590"/>
                    <a:gd name="connsiteY765" fmla="*/ 1937737 h 2366371"/>
                    <a:gd name="connsiteX766" fmla="*/ 965711 w 1830590"/>
                    <a:gd name="connsiteY766" fmla="*/ 1937737 h 2366371"/>
                    <a:gd name="connsiteX767" fmla="*/ 965711 w 1830590"/>
                    <a:gd name="connsiteY767" fmla="*/ 2035969 h 2366371"/>
                    <a:gd name="connsiteX768" fmla="*/ 867480 w 1830590"/>
                    <a:gd name="connsiteY768" fmla="*/ 2035969 h 2366371"/>
                    <a:gd name="connsiteX769" fmla="*/ 867480 w 1830590"/>
                    <a:gd name="connsiteY769" fmla="*/ 1937737 h 2366371"/>
                    <a:gd name="connsiteX770" fmla="*/ 974636 w 1830590"/>
                    <a:gd name="connsiteY770" fmla="*/ 1937737 h 2366371"/>
                    <a:gd name="connsiteX771" fmla="*/ 1072867 w 1830590"/>
                    <a:gd name="connsiteY771" fmla="*/ 1937737 h 2366371"/>
                    <a:gd name="connsiteX772" fmla="*/ 1072867 w 1830590"/>
                    <a:gd name="connsiteY772" fmla="*/ 2035969 h 2366371"/>
                    <a:gd name="connsiteX773" fmla="*/ 974636 w 1830590"/>
                    <a:gd name="connsiteY773" fmla="*/ 2035969 h 2366371"/>
                    <a:gd name="connsiteX774" fmla="*/ 974636 w 1830590"/>
                    <a:gd name="connsiteY774" fmla="*/ 1937737 h 2366371"/>
                    <a:gd name="connsiteX775" fmla="*/ 1081792 w 1830590"/>
                    <a:gd name="connsiteY775" fmla="*/ 1937737 h 2366371"/>
                    <a:gd name="connsiteX776" fmla="*/ 1180024 w 1830590"/>
                    <a:gd name="connsiteY776" fmla="*/ 1937737 h 2366371"/>
                    <a:gd name="connsiteX777" fmla="*/ 1180024 w 1830590"/>
                    <a:gd name="connsiteY777" fmla="*/ 2035969 h 2366371"/>
                    <a:gd name="connsiteX778" fmla="*/ 1081792 w 1830590"/>
                    <a:gd name="connsiteY778" fmla="*/ 2035969 h 2366371"/>
                    <a:gd name="connsiteX779" fmla="*/ 1081792 w 1830590"/>
                    <a:gd name="connsiteY779" fmla="*/ 1937737 h 2366371"/>
                    <a:gd name="connsiteX780" fmla="*/ 1188949 w 1830590"/>
                    <a:gd name="connsiteY780" fmla="*/ 1937737 h 2366371"/>
                    <a:gd name="connsiteX781" fmla="*/ 1287180 w 1830590"/>
                    <a:gd name="connsiteY781" fmla="*/ 1937737 h 2366371"/>
                    <a:gd name="connsiteX782" fmla="*/ 1287180 w 1830590"/>
                    <a:gd name="connsiteY782" fmla="*/ 2035969 h 2366371"/>
                    <a:gd name="connsiteX783" fmla="*/ 1188949 w 1830590"/>
                    <a:gd name="connsiteY783" fmla="*/ 2035969 h 2366371"/>
                    <a:gd name="connsiteX784" fmla="*/ 1188949 w 1830590"/>
                    <a:gd name="connsiteY784" fmla="*/ 1937737 h 2366371"/>
                    <a:gd name="connsiteX785" fmla="*/ 1296105 w 1830590"/>
                    <a:gd name="connsiteY785" fmla="*/ 1937737 h 2366371"/>
                    <a:gd name="connsiteX786" fmla="*/ 1394336 w 1830590"/>
                    <a:gd name="connsiteY786" fmla="*/ 1937737 h 2366371"/>
                    <a:gd name="connsiteX787" fmla="*/ 1394336 w 1830590"/>
                    <a:gd name="connsiteY787" fmla="*/ 2035969 h 2366371"/>
                    <a:gd name="connsiteX788" fmla="*/ 1296105 w 1830590"/>
                    <a:gd name="connsiteY788" fmla="*/ 2035969 h 2366371"/>
                    <a:gd name="connsiteX789" fmla="*/ 1296105 w 1830590"/>
                    <a:gd name="connsiteY789" fmla="*/ 1937737 h 2366371"/>
                    <a:gd name="connsiteX790" fmla="*/ 1296105 w 1830590"/>
                    <a:gd name="connsiteY790" fmla="*/ 1928812 h 2366371"/>
                    <a:gd name="connsiteX791" fmla="*/ 1296105 w 1830590"/>
                    <a:gd name="connsiteY791" fmla="*/ 1830581 h 2366371"/>
                    <a:gd name="connsiteX792" fmla="*/ 1394336 w 1830590"/>
                    <a:gd name="connsiteY792" fmla="*/ 1830581 h 2366371"/>
                    <a:gd name="connsiteX793" fmla="*/ 1394336 w 1830590"/>
                    <a:gd name="connsiteY793" fmla="*/ 1928812 h 2366371"/>
                    <a:gd name="connsiteX794" fmla="*/ 1296105 w 1830590"/>
                    <a:gd name="connsiteY794" fmla="*/ 1928812 h 2366371"/>
                    <a:gd name="connsiteX795" fmla="*/ 1403261 w 1830590"/>
                    <a:gd name="connsiteY795" fmla="*/ 1830581 h 2366371"/>
                    <a:gd name="connsiteX796" fmla="*/ 1501492 w 1830590"/>
                    <a:gd name="connsiteY796" fmla="*/ 1830581 h 2366371"/>
                    <a:gd name="connsiteX797" fmla="*/ 1501492 w 1830590"/>
                    <a:gd name="connsiteY797" fmla="*/ 1928812 h 2366371"/>
                    <a:gd name="connsiteX798" fmla="*/ 1403261 w 1830590"/>
                    <a:gd name="connsiteY798" fmla="*/ 1928812 h 2366371"/>
                    <a:gd name="connsiteX799" fmla="*/ 1403261 w 1830590"/>
                    <a:gd name="connsiteY799" fmla="*/ 1830581 h 2366371"/>
                    <a:gd name="connsiteX800" fmla="*/ 1403261 w 1830590"/>
                    <a:gd name="connsiteY800" fmla="*/ 1821656 h 2366371"/>
                    <a:gd name="connsiteX801" fmla="*/ 1403261 w 1830590"/>
                    <a:gd name="connsiteY801" fmla="*/ 1723425 h 2366371"/>
                    <a:gd name="connsiteX802" fmla="*/ 1501492 w 1830590"/>
                    <a:gd name="connsiteY802" fmla="*/ 1723425 h 2366371"/>
                    <a:gd name="connsiteX803" fmla="*/ 1501492 w 1830590"/>
                    <a:gd name="connsiteY803" fmla="*/ 1821656 h 2366371"/>
                    <a:gd name="connsiteX804" fmla="*/ 1403261 w 1830590"/>
                    <a:gd name="connsiteY804" fmla="*/ 1821656 h 2366371"/>
                    <a:gd name="connsiteX805" fmla="*/ 1403261 w 1830590"/>
                    <a:gd name="connsiteY805" fmla="*/ 1714500 h 2366371"/>
                    <a:gd name="connsiteX806" fmla="*/ 1403261 w 1830590"/>
                    <a:gd name="connsiteY806" fmla="*/ 1616269 h 2366371"/>
                    <a:gd name="connsiteX807" fmla="*/ 1501492 w 1830590"/>
                    <a:gd name="connsiteY807" fmla="*/ 1616269 h 2366371"/>
                    <a:gd name="connsiteX808" fmla="*/ 1501492 w 1830590"/>
                    <a:gd name="connsiteY808" fmla="*/ 1714500 h 2366371"/>
                    <a:gd name="connsiteX809" fmla="*/ 1403261 w 1830590"/>
                    <a:gd name="connsiteY809" fmla="*/ 1714500 h 2366371"/>
                    <a:gd name="connsiteX810" fmla="*/ 1403261 w 1830590"/>
                    <a:gd name="connsiteY810" fmla="*/ 1607344 h 2366371"/>
                    <a:gd name="connsiteX811" fmla="*/ 1403261 w 1830590"/>
                    <a:gd name="connsiteY811" fmla="*/ 1509112 h 2366371"/>
                    <a:gd name="connsiteX812" fmla="*/ 1501492 w 1830590"/>
                    <a:gd name="connsiteY812" fmla="*/ 1509112 h 2366371"/>
                    <a:gd name="connsiteX813" fmla="*/ 1501492 w 1830590"/>
                    <a:gd name="connsiteY813" fmla="*/ 1607344 h 2366371"/>
                    <a:gd name="connsiteX814" fmla="*/ 1403261 w 1830590"/>
                    <a:gd name="connsiteY814" fmla="*/ 1607344 h 2366371"/>
                    <a:gd name="connsiteX815" fmla="*/ 1403261 w 1830590"/>
                    <a:gd name="connsiteY815" fmla="*/ 1500187 h 2366371"/>
                    <a:gd name="connsiteX816" fmla="*/ 1403261 w 1830590"/>
                    <a:gd name="connsiteY816" fmla="*/ 1401956 h 2366371"/>
                    <a:gd name="connsiteX817" fmla="*/ 1501492 w 1830590"/>
                    <a:gd name="connsiteY817" fmla="*/ 1401956 h 2366371"/>
                    <a:gd name="connsiteX818" fmla="*/ 1501492 w 1830590"/>
                    <a:gd name="connsiteY818" fmla="*/ 1500187 h 2366371"/>
                    <a:gd name="connsiteX819" fmla="*/ 1403261 w 1830590"/>
                    <a:gd name="connsiteY819" fmla="*/ 1500187 h 2366371"/>
                    <a:gd name="connsiteX820" fmla="*/ 1403261 w 1830590"/>
                    <a:gd name="connsiteY820" fmla="*/ 1393031 h 2366371"/>
                    <a:gd name="connsiteX821" fmla="*/ 1403261 w 1830590"/>
                    <a:gd name="connsiteY821" fmla="*/ 1294800 h 2366371"/>
                    <a:gd name="connsiteX822" fmla="*/ 1501492 w 1830590"/>
                    <a:gd name="connsiteY822" fmla="*/ 1294800 h 2366371"/>
                    <a:gd name="connsiteX823" fmla="*/ 1501492 w 1830590"/>
                    <a:gd name="connsiteY823" fmla="*/ 1393031 h 2366371"/>
                    <a:gd name="connsiteX824" fmla="*/ 1403261 w 1830590"/>
                    <a:gd name="connsiteY824" fmla="*/ 1393031 h 2366371"/>
                    <a:gd name="connsiteX825" fmla="*/ 1403261 w 1830590"/>
                    <a:gd name="connsiteY825" fmla="*/ 1285875 h 2366371"/>
                    <a:gd name="connsiteX826" fmla="*/ 1403261 w 1830590"/>
                    <a:gd name="connsiteY826" fmla="*/ 1187644 h 2366371"/>
                    <a:gd name="connsiteX827" fmla="*/ 1501492 w 1830590"/>
                    <a:gd name="connsiteY827" fmla="*/ 1187644 h 2366371"/>
                    <a:gd name="connsiteX828" fmla="*/ 1501492 w 1830590"/>
                    <a:gd name="connsiteY828" fmla="*/ 1285875 h 2366371"/>
                    <a:gd name="connsiteX829" fmla="*/ 1403261 w 1830590"/>
                    <a:gd name="connsiteY829" fmla="*/ 1285875 h 2366371"/>
                    <a:gd name="connsiteX830" fmla="*/ 1403261 w 1830590"/>
                    <a:gd name="connsiteY830" fmla="*/ 1178719 h 2366371"/>
                    <a:gd name="connsiteX831" fmla="*/ 1403261 w 1830590"/>
                    <a:gd name="connsiteY831" fmla="*/ 1080487 h 2366371"/>
                    <a:gd name="connsiteX832" fmla="*/ 1501492 w 1830590"/>
                    <a:gd name="connsiteY832" fmla="*/ 1080487 h 2366371"/>
                    <a:gd name="connsiteX833" fmla="*/ 1501492 w 1830590"/>
                    <a:gd name="connsiteY833" fmla="*/ 1178719 h 2366371"/>
                    <a:gd name="connsiteX834" fmla="*/ 1403261 w 1830590"/>
                    <a:gd name="connsiteY834" fmla="*/ 1178719 h 2366371"/>
                    <a:gd name="connsiteX835" fmla="*/ 1403261 w 1830590"/>
                    <a:gd name="connsiteY835" fmla="*/ 1071562 h 2366371"/>
                    <a:gd name="connsiteX836" fmla="*/ 1403261 w 1830590"/>
                    <a:gd name="connsiteY836" fmla="*/ 973331 h 2366371"/>
                    <a:gd name="connsiteX837" fmla="*/ 1501492 w 1830590"/>
                    <a:gd name="connsiteY837" fmla="*/ 973331 h 2366371"/>
                    <a:gd name="connsiteX838" fmla="*/ 1501492 w 1830590"/>
                    <a:gd name="connsiteY838" fmla="*/ 1071562 h 2366371"/>
                    <a:gd name="connsiteX839" fmla="*/ 1403261 w 1830590"/>
                    <a:gd name="connsiteY839" fmla="*/ 1071562 h 2366371"/>
                    <a:gd name="connsiteX840" fmla="*/ 1403261 w 1830590"/>
                    <a:gd name="connsiteY840" fmla="*/ 964406 h 2366371"/>
                    <a:gd name="connsiteX841" fmla="*/ 1403261 w 1830590"/>
                    <a:gd name="connsiteY841" fmla="*/ 866175 h 2366371"/>
                    <a:gd name="connsiteX842" fmla="*/ 1501492 w 1830590"/>
                    <a:gd name="connsiteY842" fmla="*/ 866175 h 2366371"/>
                    <a:gd name="connsiteX843" fmla="*/ 1501492 w 1830590"/>
                    <a:gd name="connsiteY843" fmla="*/ 964406 h 2366371"/>
                    <a:gd name="connsiteX844" fmla="*/ 1403261 w 1830590"/>
                    <a:gd name="connsiteY844" fmla="*/ 964406 h 2366371"/>
                    <a:gd name="connsiteX845" fmla="*/ 1403261 w 1830590"/>
                    <a:gd name="connsiteY845" fmla="*/ 857250 h 2366371"/>
                    <a:gd name="connsiteX846" fmla="*/ 1403261 w 1830590"/>
                    <a:gd name="connsiteY846" fmla="*/ 759019 h 2366371"/>
                    <a:gd name="connsiteX847" fmla="*/ 1501492 w 1830590"/>
                    <a:gd name="connsiteY847" fmla="*/ 759019 h 2366371"/>
                    <a:gd name="connsiteX848" fmla="*/ 1501492 w 1830590"/>
                    <a:gd name="connsiteY848" fmla="*/ 857250 h 2366371"/>
                    <a:gd name="connsiteX849" fmla="*/ 1403261 w 1830590"/>
                    <a:gd name="connsiteY849" fmla="*/ 857250 h 2366371"/>
                    <a:gd name="connsiteX850" fmla="*/ 1403261 w 1830590"/>
                    <a:gd name="connsiteY850" fmla="*/ 750094 h 2366371"/>
                    <a:gd name="connsiteX851" fmla="*/ 1403261 w 1830590"/>
                    <a:gd name="connsiteY851" fmla="*/ 651862 h 2366371"/>
                    <a:gd name="connsiteX852" fmla="*/ 1501492 w 1830590"/>
                    <a:gd name="connsiteY852" fmla="*/ 651862 h 2366371"/>
                    <a:gd name="connsiteX853" fmla="*/ 1501492 w 1830590"/>
                    <a:gd name="connsiteY853" fmla="*/ 750094 h 2366371"/>
                    <a:gd name="connsiteX854" fmla="*/ 1403261 w 1830590"/>
                    <a:gd name="connsiteY854" fmla="*/ 750094 h 2366371"/>
                    <a:gd name="connsiteX855" fmla="*/ 1403261 w 1830590"/>
                    <a:gd name="connsiteY855" fmla="*/ 642938 h 2366371"/>
                    <a:gd name="connsiteX856" fmla="*/ 1403261 w 1830590"/>
                    <a:gd name="connsiteY856" fmla="*/ 544706 h 2366371"/>
                    <a:gd name="connsiteX857" fmla="*/ 1501492 w 1830590"/>
                    <a:gd name="connsiteY857" fmla="*/ 544706 h 2366371"/>
                    <a:gd name="connsiteX858" fmla="*/ 1501492 w 1830590"/>
                    <a:gd name="connsiteY858" fmla="*/ 642938 h 2366371"/>
                    <a:gd name="connsiteX859" fmla="*/ 1403261 w 1830590"/>
                    <a:gd name="connsiteY859" fmla="*/ 642938 h 2366371"/>
                    <a:gd name="connsiteX860" fmla="*/ 1403261 w 1830590"/>
                    <a:gd name="connsiteY860" fmla="*/ 535781 h 2366371"/>
                    <a:gd name="connsiteX861" fmla="*/ 1403261 w 1830590"/>
                    <a:gd name="connsiteY861" fmla="*/ 437550 h 2366371"/>
                    <a:gd name="connsiteX862" fmla="*/ 1501492 w 1830590"/>
                    <a:gd name="connsiteY862" fmla="*/ 437550 h 2366371"/>
                    <a:gd name="connsiteX863" fmla="*/ 1501492 w 1830590"/>
                    <a:gd name="connsiteY863" fmla="*/ 535781 h 2366371"/>
                    <a:gd name="connsiteX864" fmla="*/ 1403261 w 1830590"/>
                    <a:gd name="connsiteY864" fmla="*/ 535781 h 2366371"/>
                    <a:gd name="connsiteX865" fmla="*/ 1403261 w 1830590"/>
                    <a:gd name="connsiteY865" fmla="*/ 428625 h 2366371"/>
                    <a:gd name="connsiteX866" fmla="*/ 1403261 w 1830590"/>
                    <a:gd name="connsiteY866" fmla="*/ 330394 h 2366371"/>
                    <a:gd name="connsiteX867" fmla="*/ 1501492 w 1830590"/>
                    <a:gd name="connsiteY867" fmla="*/ 330394 h 2366371"/>
                    <a:gd name="connsiteX868" fmla="*/ 1501492 w 1830590"/>
                    <a:gd name="connsiteY868" fmla="*/ 428625 h 2366371"/>
                    <a:gd name="connsiteX869" fmla="*/ 1403261 w 1830590"/>
                    <a:gd name="connsiteY869" fmla="*/ 428625 h 2366371"/>
                    <a:gd name="connsiteX870" fmla="*/ 1403261 w 1830590"/>
                    <a:gd name="connsiteY870" fmla="*/ 321469 h 2366371"/>
                    <a:gd name="connsiteX871" fmla="*/ 1403261 w 1830590"/>
                    <a:gd name="connsiteY871" fmla="*/ 223237 h 2366371"/>
                    <a:gd name="connsiteX872" fmla="*/ 1501492 w 1830590"/>
                    <a:gd name="connsiteY872" fmla="*/ 223237 h 2366371"/>
                    <a:gd name="connsiteX873" fmla="*/ 1501492 w 1830590"/>
                    <a:gd name="connsiteY873" fmla="*/ 321469 h 2366371"/>
                    <a:gd name="connsiteX874" fmla="*/ 1403261 w 1830590"/>
                    <a:gd name="connsiteY874" fmla="*/ 321469 h 2366371"/>
                    <a:gd name="connsiteX875" fmla="*/ 1394327 w 1830590"/>
                    <a:gd name="connsiteY875" fmla="*/ 321469 h 2366371"/>
                    <a:gd name="connsiteX876" fmla="*/ 1296095 w 1830590"/>
                    <a:gd name="connsiteY876" fmla="*/ 321469 h 2366371"/>
                    <a:gd name="connsiteX877" fmla="*/ 1296095 w 1830590"/>
                    <a:gd name="connsiteY877" fmla="*/ 223237 h 2366371"/>
                    <a:gd name="connsiteX878" fmla="*/ 1394327 w 1830590"/>
                    <a:gd name="connsiteY878" fmla="*/ 223237 h 2366371"/>
                    <a:gd name="connsiteX879" fmla="*/ 1394327 w 1830590"/>
                    <a:gd name="connsiteY879" fmla="*/ 321469 h 2366371"/>
                    <a:gd name="connsiteX880" fmla="*/ 1287171 w 1830590"/>
                    <a:gd name="connsiteY880" fmla="*/ 321469 h 2366371"/>
                    <a:gd name="connsiteX881" fmla="*/ 1188939 w 1830590"/>
                    <a:gd name="connsiteY881" fmla="*/ 321469 h 2366371"/>
                    <a:gd name="connsiteX882" fmla="*/ 1188939 w 1830590"/>
                    <a:gd name="connsiteY882" fmla="*/ 223237 h 2366371"/>
                    <a:gd name="connsiteX883" fmla="*/ 1287171 w 1830590"/>
                    <a:gd name="connsiteY883" fmla="*/ 223237 h 2366371"/>
                    <a:gd name="connsiteX884" fmla="*/ 1287171 w 1830590"/>
                    <a:gd name="connsiteY884" fmla="*/ 321469 h 2366371"/>
                    <a:gd name="connsiteX885" fmla="*/ 1180014 w 1830590"/>
                    <a:gd name="connsiteY885" fmla="*/ 321469 h 2366371"/>
                    <a:gd name="connsiteX886" fmla="*/ 1081783 w 1830590"/>
                    <a:gd name="connsiteY886" fmla="*/ 321469 h 2366371"/>
                    <a:gd name="connsiteX887" fmla="*/ 1081783 w 1830590"/>
                    <a:gd name="connsiteY887" fmla="*/ 223237 h 2366371"/>
                    <a:gd name="connsiteX888" fmla="*/ 1180014 w 1830590"/>
                    <a:gd name="connsiteY888" fmla="*/ 223237 h 2366371"/>
                    <a:gd name="connsiteX889" fmla="*/ 1180014 w 1830590"/>
                    <a:gd name="connsiteY889" fmla="*/ 321469 h 2366371"/>
                    <a:gd name="connsiteX890" fmla="*/ 1072858 w 1830590"/>
                    <a:gd name="connsiteY890" fmla="*/ 321469 h 2366371"/>
                    <a:gd name="connsiteX891" fmla="*/ 974627 w 1830590"/>
                    <a:gd name="connsiteY891" fmla="*/ 321469 h 2366371"/>
                    <a:gd name="connsiteX892" fmla="*/ 974627 w 1830590"/>
                    <a:gd name="connsiteY892" fmla="*/ 223237 h 2366371"/>
                    <a:gd name="connsiteX893" fmla="*/ 1072858 w 1830590"/>
                    <a:gd name="connsiteY893" fmla="*/ 223237 h 2366371"/>
                    <a:gd name="connsiteX894" fmla="*/ 1072858 w 1830590"/>
                    <a:gd name="connsiteY894" fmla="*/ 321469 h 2366371"/>
                    <a:gd name="connsiteX895" fmla="*/ 965702 w 1830590"/>
                    <a:gd name="connsiteY895" fmla="*/ 321469 h 2366371"/>
                    <a:gd name="connsiteX896" fmla="*/ 867470 w 1830590"/>
                    <a:gd name="connsiteY896" fmla="*/ 321469 h 2366371"/>
                    <a:gd name="connsiteX897" fmla="*/ 867470 w 1830590"/>
                    <a:gd name="connsiteY897" fmla="*/ 223237 h 2366371"/>
                    <a:gd name="connsiteX898" fmla="*/ 965702 w 1830590"/>
                    <a:gd name="connsiteY898" fmla="*/ 223237 h 2366371"/>
                    <a:gd name="connsiteX899" fmla="*/ 965702 w 1830590"/>
                    <a:gd name="connsiteY899" fmla="*/ 321469 h 2366371"/>
                    <a:gd name="connsiteX900" fmla="*/ 858546 w 1830590"/>
                    <a:gd name="connsiteY900" fmla="*/ 321469 h 2366371"/>
                    <a:gd name="connsiteX901" fmla="*/ 760314 w 1830590"/>
                    <a:gd name="connsiteY901" fmla="*/ 321469 h 2366371"/>
                    <a:gd name="connsiteX902" fmla="*/ 760314 w 1830590"/>
                    <a:gd name="connsiteY902" fmla="*/ 223237 h 2366371"/>
                    <a:gd name="connsiteX903" fmla="*/ 858546 w 1830590"/>
                    <a:gd name="connsiteY903" fmla="*/ 223237 h 2366371"/>
                    <a:gd name="connsiteX904" fmla="*/ 858546 w 1830590"/>
                    <a:gd name="connsiteY904" fmla="*/ 321469 h 2366371"/>
                    <a:gd name="connsiteX905" fmla="*/ 751389 w 1830590"/>
                    <a:gd name="connsiteY905" fmla="*/ 321469 h 2366371"/>
                    <a:gd name="connsiteX906" fmla="*/ 653158 w 1830590"/>
                    <a:gd name="connsiteY906" fmla="*/ 321469 h 2366371"/>
                    <a:gd name="connsiteX907" fmla="*/ 653158 w 1830590"/>
                    <a:gd name="connsiteY907" fmla="*/ 223237 h 2366371"/>
                    <a:gd name="connsiteX908" fmla="*/ 751389 w 1830590"/>
                    <a:gd name="connsiteY908" fmla="*/ 223237 h 2366371"/>
                    <a:gd name="connsiteX909" fmla="*/ 751389 w 1830590"/>
                    <a:gd name="connsiteY909" fmla="*/ 321469 h 2366371"/>
                    <a:gd name="connsiteX910" fmla="*/ 644233 w 1830590"/>
                    <a:gd name="connsiteY910" fmla="*/ 321469 h 2366371"/>
                    <a:gd name="connsiteX911" fmla="*/ 546002 w 1830590"/>
                    <a:gd name="connsiteY911" fmla="*/ 321469 h 2366371"/>
                    <a:gd name="connsiteX912" fmla="*/ 546002 w 1830590"/>
                    <a:gd name="connsiteY912" fmla="*/ 223237 h 2366371"/>
                    <a:gd name="connsiteX913" fmla="*/ 644233 w 1830590"/>
                    <a:gd name="connsiteY913" fmla="*/ 223237 h 2366371"/>
                    <a:gd name="connsiteX914" fmla="*/ 644233 w 1830590"/>
                    <a:gd name="connsiteY914" fmla="*/ 321469 h 2366371"/>
                    <a:gd name="connsiteX915" fmla="*/ 537077 w 1830590"/>
                    <a:gd name="connsiteY915" fmla="*/ 321469 h 2366371"/>
                    <a:gd name="connsiteX916" fmla="*/ 438845 w 1830590"/>
                    <a:gd name="connsiteY916" fmla="*/ 321469 h 2366371"/>
                    <a:gd name="connsiteX917" fmla="*/ 438845 w 1830590"/>
                    <a:gd name="connsiteY917" fmla="*/ 223237 h 2366371"/>
                    <a:gd name="connsiteX918" fmla="*/ 537077 w 1830590"/>
                    <a:gd name="connsiteY918" fmla="*/ 223237 h 2366371"/>
                    <a:gd name="connsiteX919" fmla="*/ 537077 w 1830590"/>
                    <a:gd name="connsiteY919" fmla="*/ 321469 h 2366371"/>
                    <a:gd name="connsiteX920" fmla="*/ 429920 w 1830590"/>
                    <a:gd name="connsiteY920" fmla="*/ 321469 h 2366371"/>
                    <a:gd name="connsiteX921" fmla="*/ 331689 w 1830590"/>
                    <a:gd name="connsiteY921" fmla="*/ 321469 h 2366371"/>
                    <a:gd name="connsiteX922" fmla="*/ 331689 w 1830590"/>
                    <a:gd name="connsiteY922" fmla="*/ 223237 h 2366371"/>
                    <a:gd name="connsiteX923" fmla="*/ 429920 w 1830590"/>
                    <a:gd name="connsiteY923" fmla="*/ 223237 h 2366371"/>
                    <a:gd name="connsiteX924" fmla="*/ 429920 w 1830590"/>
                    <a:gd name="connsiteY924" fmla="*/ 321469 h 2366371"/>
                    <a:gd name="connsiteX925" fmla="*/ 429920 w 1830590"/>
                    <a:gd name="connsiteY925" fmla="*/ 330394 h 2366371"/>
                    <a:gd name="connsiteX926" fmla="*/ 429920 w 1830590"/>
                    <a:gd name="connsiteY926" fmla="*/ 428625 h 2366371"/>
                    <a:gd name="connsiteX927" fmla="*/ 331689 w 1830590"/>
                    <a:gd name="connsiteY927" fmla="*/ 428625 h 2366371"/>
                    <a:gd name="connsiteX928" fmla="*/ 331689 w 1830590"/>
                    <a:gd name="connsiteY928" fmla="*/ 330394 h 2366371"/>
                    <a:gd name="connsiteX929" fmla="*/ 429920 w 1830590"/>
                    <a:gd name="connsiteY929" fmla="*/ 330394 h 2366371"/>
                    <a:gd name="connsiteX930" fmla="*/ 322764 w 1830590"/>
                    <a:gd name="connsiteY930" fmla="*/ 428625 h 2366371"/>
                    <a:gd name="connsiteX931" fmla="*/ 224533 w 1830590"/>
                    <a:gd name="connsiteY931" fmla="*/ 428625 h 2366371"/>
                    <a:gd name="connsiteX932" fmla="*/ 224533 w 1830590"/>
                    <a:gd name="connsiteY932" fmla="*/ 330394 h 2366371"/>
                    <a:gd name="connsiteX933" fmla="*/ 322764 w 1830590"/>
                    <a:gd name="connsiteY933" fmla="*/ 330394 h 2366371"/>
                    <a:gd name="connsiteX934" fmla="*/ 322764 w 1830590"/>
                    <a:gd name="connsiteY934" fmla="*/ 428625 h 2366371"/>
                    <a:gd name="connsiteX935" fmla="*/ 322764 w 1830590"/>
                    <a:gd name="connsiteY935" fmla="*/ 437550 h 2366371"/>
                    <a:gd name="connsiteX936" fmla="*/ 322764 w 1830590"/>
                    <a:gd name="connsiteY936" fmla="*/ 535781 h 2366371"/>
                    <a:gd name="connsiteX937" fmla="*/ 224533 w 1830590"/>
                    <a:gd name="connsiteY937" fmla="*/ 535781 h 2366371"/>
                    <a:gd name="connsiteX938" fmla="*/ 224533 w 1830590"/>
                    <a:gd name="connsiteY938" fmla="*/ 437550 h 2366371"/>
                    <a:gd name="connsiteX939" fmla="*/ 322764 w 1830590"/>
                    <a:gd name="connsiteY939" fmla="*/ 437550 h 2366371"/>
                    <a:gd name="connsiteX940" fmla="*/ 322764 w 1830590"/>
                    <a:gd name="connsiteY940" fmla="*/ 544706 h 2366371"/>
                    <a:gd name="connsiteX941" fmla="*/ 322764 w 1830590"/>
                    <a:gd name="connsiteY941" fmla="*/ 642938 h 2366371"/>
                    <a:gd name="connsiteX942" fmla="*/ 224533 w 1830590"/>
                    <a:gd name="connsiteY942" fmla="*/ 642938 h 2366371"/>
                    <a:gd name="connsiteX943" fmla="*/ 224533 w 1830590"/>
                    <a:gd name="connsiteY943" fmla="*/ 544706 h 2366371"/>
                    <a:gd name="connsiteX944" fmla="*/ 322764 w 1830590"/>
                    <a:gd name="connsiteY944" fmla="*/ 544706 h 2366371"/>
                    <a:gd name="connsiteX945" fmla="*/ 322764 w 1830590"/>
                    <a:gd name="connsiteY945" fmla="*/ 651862 h 2366371"/>
                    <a:gd name="connsiteX946" fmla="*/ 322764 w 1830590"/>
                    <a:gd name="connsiteY946" fmla="*/ 750094 h 2366371"/>
                    <a:gd name="connsiteX947" fmla="*/ 224533 w 1830590"/>
                    <a:gd name="connsiteY947" fmla="*/ 750094 h 2366371"/>
                    <a:gd name="connsiteX948" fmla="*/ 224533 w 1830590"/>
                    <a:gd name="connsiteY948" fmla="*/ 651862 h 2366371"/>
                    <a:gd name="connsiteX949" fmla="*/ 322764 w 1830590"/>
                    <a:gd name="connsiteY949" fmla="*/ 651862 h 2366371"/>
                    <a:gd name="connsiteX950" fmla="*/ 322764 w 1830590"/>
                    <a:gd name="connsiteY950" fmla="*/ 759019 h 2366371"/>
                    <a:gd name="connsiteX951" fmla="*/ 322764 w 1830590"/>
                    <a:gd name="connsiteY951" fmla="*/ 857250 h 2366371"/>
                    <a:gd name="connsiteX952" fmla="*/ 224533 w 1830590"/>
                    <a:gd name="connsiteY952" fmla="*/ 857250 h 2366371"/>
                    <a:gd name="connsiteX953" fmla="*/ 224533 w 1830590"/>
                    <a:gd name="connsiteY953" fmla="*/ 759019 h 2366371"/>
                    <a:gd name="connsiteX954" fmla="*/ 322764 w 1830590"/>
                    <a:gd name="connsiteY954" fmla="*/ 759019 h 2366371"/>
                    <a:gd name="connsiteX955" fmla="*/ 322764 w 1830590"/>
                    <a:gd name="connsiteY955" fmla="*/ 866175 h 2366371"/>
                    <a:gd name="connsiteX956" fmla="*/ 322764 w 1830590"/>
                    <a:gd name="connsiteY956" fmla="*/ 964406 h 2366371"/>
                    <a:gd name="connsiteX957" fmla="*/ 224533 w 1830590"/>
                    <a:gd name="connsiteY957" fmla="*/ 964406 h 2366371"/>
                    <a:gd name="connsiteX958" fmla="*/ 224533 w 1830590"/>
                    <a:gd name="connsiteY958" fmla="*/ 866175 h 2366371"/>
                    <a:gd name="connsiteX959" fmla="*/ 322764 w 1830590"/>
                    <a:gd name="connsiteY959" fmla="*/ 866175 h 2366371"/>
                    <a:gd name="connsiteX960" fmla="*/ 322764 w 1830590"/>
                    <a:gd name="connsiteY960" fmla="*/ 973331 h 2366371"/>
                    <a:gd name="connsiteX961" fmla="*/ 322764 w 1830590"/>
                    <a:gd name="connsiteY961" fmla="*/ 1071562 h 2366371"/>
                    <a:gd name="connsiteX962" fmla="*/ 224533 w 1830590"/>
                    <a:gd name="connsiteY962" fmla="*/ 1071562 h 2366371"/>
                    <a:gd name="connsiteX963" fmla="*/ 224533 w 1830590"/>
                    <a:gd name="connsiteY963" fmla="*/ 973331 h 2366371"/>
                    <a:gd name="connsiteX964" fmla="*/ 322764 w 1830590"/>
                    <a:gd name="connsiteY964" fmla="*/ 973331 h 2366371"/>
                    <a:gd name="connsiteX965" fmla="*/ 322764 w 1830590"/>
                    <a:gd name="connsiteY965" fmla="*/ 1080487 h 2366371"/>
                    <a:gd name="connsiteX966" fmla="*/ 322764 w 1830590"/>
                    <a:gd name="connsiteY966" fmla="*/ 1178719 h 2366371"/>
                    <a:gd name="connsiteX967" fmla="*/ 224533 w 1830590"/>
                    <a:gd name="connsiteY967" fmla="*/ 1178719 h 2366371"/>
                    <a:gd name="connsiteX968" fmla="*/ 224533 w 1830590"/>
                    <a:gd name="connsiteY968" fmla="*/ 1080487 h 2366371"/>
                    <a:gd name="connsiteX969" fmla="*/ 322764 w 1830590"/>
                    <a:gd name="connsiteY969" fmla="*/ 1080487 h 2366371"/>
                    <a:gd name="connsiteX970" fmla="*/ 322764 w 1830590"/>
                    <a:gd name="connsiteY970" fmla="*/ 1187644 h 2366371"/>
                    <a:gd name="connsiteX971" fmla="*/ 322764 w 1830590"/>
                    <a:gd name="connsiteY971" fmla="*/ 1285875 h 2366371"/>
                    <a:gd name="connsiteX972" fmla="*/ 224533 w 1830590"/>
                    <a:gd name="connsiteY972" fmla="*/ 1285875 h 2366371"/>
                    <a:gd name="connsiteX973" fmla="*/ 224533 w 1830590"/>
                    <a:gd name="connsiteY973" fmla="*/ 1187644 h 2366371"/>
                    <a:gd name="connsiteX974" fmla="*/ 322764 w 1830590"/>
                    <a:gd name="connsiteY974" fmla="*/ 1187644 h 2366371"/>
                    <a:gd name="connsiteX975" fmla="*/ 322764 w 1830590"/>
                    <a:gd name="connsiteY975" fmla="*/ 1294800 h 2366371"/>
                    <a:gd name="connsiteX976" fmla="*/ 322764 w 1830590"/>
                    <a:gd name="connsiteY976" fmla="*/ 1393031 h 2366371"/>
                    <a:gd name="connsiteX977" fmla="*/ 224533 w 1830590"/>
                    <a:gd name="connsiteY977" fmla="*/ 1393031 h 2366371"/>
                    <a:gd name="connsiteX978" fmla="*/ 224533 w 1830590"/>
                    <a:gd name="connsiteY978" fmla="*/ 1294800 h 2366371"/>
                    <a:gd name="connsiteX979" fmla="*/ 322764 w 1830590"/>
                    <a:gd name="connsiteY979" fmla="*/ 1294800 h 2366371"/>
                    <a:gd name="connsiteX980" fmla="*/ 322764 w 1830590"/>
                    <a:gd name="connsiteY980" fmla="*/ 1401956 h 2366371"/>
                    <a:gd name="connsiteX981" fmla="*/ 322764 w 1830590"/>
                    <a:gd name="connsiteY981" fmla="*/ 1500187 h 2366371"/>
                    <a:gd name="connsiteX982" fmla="*/ 224533 w 1830590"/>
                    <a:gd name="connsiteY982" fmla="*/ 1500187 h 2366371"/>
                    <a:gd name="connsiteX983" fmla="*/ 224533 w 1830590"/>
                    <a:gd name="connsiteY983" fmla="*/ 1401956 h 2366371"/>
                    <a:gd name="connsiteX984" fmla="*/ 322764 w 1830590"/>
                    <a:gd name="connsiteY984" fmla="*/ 1401956 h 2366371"/>
                    <a:gd name="connsiteX985" fmla="*/ 322764 w 1830590"/>
                    <a:gd name="connsiteY985" fmla="*/ 1509112 h 2366371"/>
                    <a:gd name="connsiteX986" fmla="*/ 322764 w 1830590"/>
                    <a:gd name="connsiteY986" fmla="*/ 1607344 h 2366371"/>
                    <a:gd name="connsiteX987" fmla="*/ 224533 w 1830590"/>
                    <a:gd name="connsiteY987" fmla="*/ 1607344 h 2366371"/>
                    <a:gd name="connsiteX988" fmla="*/ 224533 w 1830590"/>
                    <a:gd name="connsiteY988" fmla="*/ 1509112 h 2366371"/>
                    <a:gd name="connsiteX989" fmla="*/ 322764 w 1830590"/>
                    <a:gd name="connsiteY989" fmla="*/ 1509112 h 2366371"/>
                    <a:gd name="connsiteX990" fmla="*/ 322764 w 1830590"/>
                    <a:gd name="connsiteY990" fmla="*/ 1616269 h 2366371"/>
                    <a:gd name="connsiteX991" fmla="*/ 322764 w 1830590"/>
                    <a:gd name="connsiteY991" fmla="*/ 1714500 h 2366371"/>
                    <a:gd name="connsiteX992" fmla="*/ 224533 w 1830590"/>
                    <a:gd name="connsiteY992" fmla="*/ 1714500 h 2366371"/>
                    <a:gd name="connsiteX993" fmla="*/ 224533 w 1830590"/>
                    <a:gd name="connsiteY993" fmla="*/ 1616269 h 2366371"/>
                    <a:gd name="connsiteX994" fmla="*/ 322764 w 1830590"/>
                    <a:gd name="connsiteY994" fmla="*/ 1616269 h 2366371"/>
                    <a:gd name="connsiteX995" fmla="*/ 322764 w 1830590"/>
                    <a:gd name="connsiteY995" fmla="*/ 1723425 h 2366371"/>
                    <a:gd name="connsiteX996" fmla="*/ 322764 w 1830590"/>
                    <a:gd name="connsiteY996" fmla="*/ 1821656 h 2366371"/>
                    <a:gd name="connsiteX997" fmla="*/ 224533 w 1830590"/>
                    <a:gd name="connsiteY997" fmla="*/ 1821656 h 2366371"/>
                    <a:gd name="connsiteX998" fmla="*/ 224533 w 1830590"/>
                    <a:gd name="connsiteY998" fmla="*/ 1723425 h 2366371"/>
                    <a:gd name="connsiteX999" fmla="*/ 322764 w 1830590"/>
                    <a:gd name="connsiteY999" fmla="*/ 1723425 h 2366371"/>
                    <a:gd name="connsiteX1000" fmla="*/ 322764 w 1830590"/>
                    <a:gd name="connsiteY1000" fmla="*/ 1830581 h 2366371"/>
                    <a:gd name="connsiteX1001" fmla="*/ 322764 w 1830590"/>
                    <a:gd name="connsiteY1001" fmla="*/ 1928812 h 2366371"/>
                    <a:gd name="connsiteX1002" fmla="*/ 224533 w 1830590"/>
                    <a:gd name="connsiteY1002" fmla="*/ 1928812 h 2366371"/>
                    <a:gd name="connsiteX1003" fmla="*/ 224533 w 1830590"/>
                    <a:gd name="connsiteY1003" fmla="*/ 1830581 h 2366371"/>
                    <a:gd name="connsiteX1004" fmla="*/ 322764 w 1830590"/>
                    <a:gd name="connsiteY1004" fmla="*/ 1830581 h 2366371"/>
                    <a:gd name="connsiteX1005" fmla="*/ 322764 w 1830590"/>
                    <a:gd name="connsiteY1005" fmla="*/ 1937737 h 2366371"/>
                    <a:gd name="connsiteX1006" fmla="*/ 322764 w 1830590"/>
                    <a:gd name="connsiteY1006" fmla="*/ 2035969 h 2366371"/>
                    <a:gd name="connsiteX1007" fmla="*/ 224533 w 1830590"/>
                    <a:gd name="connsiteY1007" fmla="*/ 2035969 h 2366371"/>
                    <a:gd name="connsiteX1008" fmla="*/ 224533 w 1830590"/>
                    <a:gd name="connsiteY1008" fmla="*/ 1937737 h 2366371"/>
                    <a:gd name="connsiteX1009" fmla="*/ 322764 w 1830590"/>
                    <a:gd name="connsiteY1009" fmla="*/ 1937737 h 2366371"/>
                    <a:gd name="connsiteX1010" fmla="*/ 331699 w 1830590"/>
                    <a:gd name="connsiteY1010" fmla="*/ 1937737 h 2366371"/>
                    <a:gd name="connsiteX1011" fmla="*/ 429930 w 1830590"/>
                    <a:gd name="connsiteY1011" fmla="*/ 1937737 h 2366371"/>
                    <a:gd name="connsiteX1012" fmla="*/ 429930 w 1830590"/>
                    <a:gd name="connsiteY1012" fmla="*/ 2035969 h 2366371"/>
                    <a:gd name="connsiteX1013" fmla="*/ 331699 w 1830590"/>
                    <a:gd name="connsiteY1013" fmla="*/ 2035969 h 2366371"/>
                    <a:gd name="connsiteX1014" fmla="*/ 331699 w 1830590"/>
                    <a:gd name="connsiteY1014" fmla="*/ 1937737 h 2366371"/>
                    <a:gd name="connsiteX1015" fmla="*/ 429920 w 1830590"/>
                    <a:gd name="connsiteY1015" fmla="*/ 2044894 h 2366371"/>
                    <a:gd name="connsiteX1016" fmla="*/ 429920 w 1830590"/>
                    <a:gd name="connsiteY1016" fmla="*/ 2143125 h 2366371"/>
                    <a:gd name="connsiteX1017" fmla="*/ 331689 w 1830590"/>
                    <a:gd name="connsiteY1017" fmla="*/ 2143125 h 2366371"/>
                    <a:gd name="connsiteX1018" fmla="*/ 331689 w 1830590"/>
                    <a:gd name="connsiteY1018" fmla="*/ 2044894 h 2366371"/>
                    <a:gd name="connsiteX1019" fmla="*/ 429920 w 1830590"/>
                    <a:gd name="connsiteY1019" fmla="*/ 2044894 h 2366371"/>
                    <a:gd name="connsiteX1020" fmla="*/ 438855 w 1830590"/>
                    <a:gd name="connsiteY1020" fmla="*/ 2044894 h 2366371"/>
                    <a:gd name="connsiteX1021" fmla="*/ 537086 w 1830590"/>
                    <a:gd name="connsiteY1021" fmla="*/ 2044894 h 2366371"/>
                    <a:gd name="connsiteX1022" fmla="*/ 537086 w 1830590"/>
                    <a:gd name="connsiteY1022" fmla="*/ 2143125 h 2366371"/>
                    <a:gd name="connsiteX1023" fmla="*/ 438855 w 1830590"/>
                    <a:gd name="connsiteY1023" fmla="*/ 2143125 h 2366371"/>
                    <a:gd name="connsiteX1024" fmla="*/ 438855 w 1830590"/>
                    <a:gd name="connsiteY1024" fmla="*/ 2044894 h 2366371"/>
                    <a:gd name="connsiteX1025" fmla="*/ 546011 w 1830590"/>
                    <a:gd name="connsiteY1025" fmla="*/ 2044894 h 2366371"/>
                    <a:gd name="connsiteX1026" fmla="*/ 644243 w 1830590"/>
                    <a:gd name="connsiteY1026" fmla="*/ 2044894 h 2366371"/>
                    <a:gd name="connsiteX1027" fmla="*/ 644243 w 1830590"/>
                    <a:gd name="connsiteY1027" fmla="*/ 2143125 h 2366371"/>
                    <a:gd name="connsiteX1028" fmla="*/ 546011 w 1830590"/>
                    <a:gd name="connsiteY1028" fmla="*/ 2143125 h 2366371"/>
                    <a:gd name="connsiteX1029" fmla="*/ 546011 w 1830590"/>
                    <a:gd name="connsiteY1029" fmla="*/ 2044894 h 2366371"/>
                    <a:gd name="connsiteX1030" fmla="*/ 653167 w 1830590"/>
                    <a:gd name="connsiteY1030" fmla="*/ 2044894 h 2366371"/>
                    <a:gd name="connsiteX1031" fmla="*/ 751399 w 1830590"/>
                    <a:gd name="connsiteY1031" fmla="*/ 2044894 h 2366371"/>
                    <a:gd name="connsiteX1032" fmla="*/ 751399 w 1830590"/>
                    <a:gd name="connsiteY1032" fmla="*/ 2143125 h 2366371"/>
                    <a:gd name="connsiteX1033" fmla="*/ 653167 w 1830590"/>
                    <a:gd name="connsiteY1033" fmla="*/ 2143125 h 2366371"/>
                    <a:gd name="connsiteX1034" fmla="*/ 653167 w 1830590"/>
                    <a:gd name="connsiteY1034" fmla="*/ 2044894 h 2366371"/>
                    <a:gd name="connsiteX1035" fmla="*/ 760324 w 1830590"/>
                    <a:gd name="connsiteY1035" fmla="*/ 2044894 h 2366371"/>
                    <a:gd name="connsiteX1036" fmla="*/ 858555 w 1830590"/>
                    <a:gd name="connsiteY1036" fmla="*/ 2044894 h 2366371"/>
                    <a:gd name="connsiteX1037" fmla="*/ 858555 w 1830590"/>
                    <a:gd name="connsiteY1037" fmla="*/ 2143125 h 2366371"/>
                    <a:gd name="connsiteX1038" fmla="*/ 760324 w 1830590"/>
                    <a:gd name="connsiteY1038" fmla="*/ 2143125 h 2366371"/>
                    <a:gd name="connsiteX1039" fmla="*/ 760324 w 1830590"/>
                    <a:gd name="connsiteY1039" fmla="*/ 2044894 h 2366371"/>
                    <a:gd name="connsiteX1040" fmla="*/ 867480 w 1830590"/>
                    <a:gd name="connsiteY1040" fmla="*/ 2044894 h 2366371"/>
                    <a:gd name="connsiteX1041" fmla="*/ 965711 w 1830590"/>
                    <a:gd name="connsiteY1041" fmla="*/ 2044894 h 2366371"/>
                    <a:gd name="connsiteX1042" fmla="*/ 965711 w 1830590"/>
                    <a:gd name="connsiteY1042" fmla="*/ 2143125 h 2366371"/>
                    <a:gd name="connsiteX1043" fmla="*/ 867480 w 1830590"/>
                    <a:gd name="connsiteY1043" fmla="*/ 2143125 h 2366371"/>
                    <a:gd name="connsiteX1044" fmla="*/ 867480 w 1830590"/>
                    <a:gd name="connsiteY1044" fmla="*/ 2044894 h 2366371"/>
                    <a:gd name="connsiteX1045" fmla="*/ 974636 w 1830590"/>
                    <a:gd name="connsiteY1045" fmla="*/ 2044894 h 2366371"/>
                    <a:gd name="connsiteX1046" fmla="*/ 1072867 w 1830590"/>
                    <a:gd name="connsiteY1046" fmla="*/ 2044894 h 2366371"/>
                    <a:gd name="connsiteX1047" fmla="*/ 1072867 w 1830590"/>
                    <a:gd name="connsiteY1047" fmla="*/ 2143125 h 2366371"/>
                    <a:gd name="connsiteX1048" fmla="*/ 974636 w 1830590"/>
                    <a:gd name="connsiteY1048" fmla="*/ 2143125 h 2366371"/>
                    <a:gd name="connsiteX1049" fmla="*/ 974636 w 1830590"/>
                    <a:gd name="connsiteY1049" fmla="*/ 2044894 h 2366371"/>
                    <a:gd name="connsiteX1050" fmla="*/ 1081792 w 1830590"/>
                    <a:gd name="connsiteY1050" fmla="*/ 2044894 h 2366371"/>
                    <a:gd name="connsiteX1051" fmla="*/ 1180024 w 1830590"/>
                    <a:gd name="connsiteY1051" fmla="*/ 2044894 h 2366371"/>
                    <a:gd name="connsiteX1052" fmla="*/ 1180024 w 1830590"/>
                    <a:gd name="connsiteY1052" fmla="*/ 2143125 h 2366371"/>
                    <a:gd name="connsiteX1053" fmla="*/ 1081792 w 1830590"/>
                    <a:gd name="connsiteY1053" fmla="*/ 2143125 h 2366371"/>
                    <a:gd name="connsiteX1054" fmla="*/ 1081792 w 1830590"/>
                    <a:gd name="connsiteY1054" fmla="*/ 2044894 h 2366371"/>
                    <a:gd name="connsiteX1055" fmla="*/ 1188949 w 1830590"/>
                    <a:gd name="connsiteY1055" fmla="*/ 2044894 h 2366371"/>
                    <a:gd name="connsiteX1056" fmla="*/ 1287180 w 1830590"/>
                    <a:gd name="connsiteY1056" fmla="*/ 2044894 h 2366371"/>
                    <a:gd name="connsiteX1057" fmla="*/ 1287180 w 1830590"/>
                    <a:gd name="connsiteY1057" fmla="*/ 2143125 h 2366371"/>
                    <a:gd name="connsiteX1058" fmla="*/ 1188949 w 1830590"/>
                    <a:gd name="connsiteY1058" fmla="*/ 2143125 h 2366371"/>
                    <a:gd name="connsiteX1059" fmla="*/ 1188949 w 1830590"/>
                    <a:gd name="connsiteY1059" fmla="*/ 2044894 h 2366371"/>
                    <a:gd name="connsiteX1060" fmla="*/ 1296105 w 1830590"/>
                    <a:gd name="connsiteY1060" fmla="*/ 2044894 h 2366371"/>
                    <a:gd name="connsiteX1061" fmla="*/ 1394336 w 1830590"/>
                    <a:gd name="connsiteY1061" fmla="*/ 2044894 h 2366371"/>
                    <a:gd name="connsiteX1062" fmla="*/ 1394336 w 1830590"/>
                    <a:gd name="connsiteY1062" fmla="*/ 2143125 h 2366371"/>
                    <a:gd name="connsiteX1063" fmla="*/ 1296105 w 1830590"/>
                    <a:gd name="connsiteY1063" fmla="*/ 2143125 h 2366371"/>
                    <a:gd name="connsiteX1064" fmla="*/ 1296105 w 1830590"/>
                    <a:gd name="connsiteY1064" fmla="*/ 2044894 h 2366371"/>
                    <a:gd name="connsiteX1065" fmla="*/ 1403261 w 1830590"/>
                    <a:gd name="connsiteY1065" fmla="*/ 2044894 h 2366371"/>
                    <a:gd name="connsiteX1066" fmla="*/ 1501492 w 1830590"/>
                    <a:gd name="connsiteY1066" fmla="*/ 2044894 h 2366371"/>
                    <a:gd name="connsiteX1067" fmla="*/ 1501492 w 1830590"/>
                    <a:gd name="connsiteY1067" fmla="*/ 2143125 h 2366371"/>
                    <a:gd name="connsiteX1068" fmla="*/ 1403261 w 1830590"/>
                    <a:gd name="connsiteY1068" fmla="*/ 2143125 h 2366371"/>
                    <a:gd name="connsiteX1069" fmla="*/ 1403261 w 1830590"/>
                    <a:gd name="connsiteY1069" fmla="*/ 2044894 h 2366371"/>
                    <a:gd name="connsiteX1070" fmla="*/ 1403261 w 1830590"/>
                    <a:gd name="connsiteY1070" fmla="*/ 2035969 h 2366371"/>
                    <a:gd name="connsiteX1071" fmla="*/ 1403261 w 1830590"/>
                    <a:gd name="connsiteY1071" fmla="*/ 1937737 h 2366371"/>
                    <a:gd name="connsiteX1072" fmla="*/ 1501492 w 1830590"/>
                    <a:gd name="connsiteY1072" fmla="*/ 1937737 h 2366371"/>
                    <a:gd name="connsiteX1073" fmla="*/ 1501492 w 1830590"/>
                    <a:gd name="connsiteY1073" fmla="*/ 2035969 h 2366371"/>
                    <a:gd name="connsiteX1074" fmla="*/ 1403261 w 1830590"/>
                    <a:gd name="connsiteY1074" fmla="*/ 2035969 h 2366371"/>
                    <a:gd name="connsiteX1075" fmla="*/ 1510417 w 1830590"/>
                    <a:gd name="connsiteY1075" fmla="*/ 1937737 h 2366371"/>
                    <a:gd name="connsiteX1076" fmla="*/ 1608649 w 1830590"/>
                    <a:gd name="connsiteY1076" fmla="*/ 1937737 h 2366371"/>
                    <a:gd name="connsiteX1077" fmla="*/ 1608649 w 1830590"/>
                    <a:gd name="connsiteY1077" fmla="*/ 2035969 h 2366371"/>
                    <a:gd name="connsiteX1078" fmla="*/ 1510417 w 1830590"/>
                    <a:gd name="connsiteY1078" fmla="*/ 2035969 h 2366371"/>
                    <a:gd name="connsiteX1079" fmla="*/ 1510417 w 1830590"/>
                    <a:gd name="connsiteY1079" fmla="*/ 1937737 h 2366371"/>
                    <a:gd name="connsiteX1080" fmla="*/ 1510417 w 1830590"/>
                    <a:gd name="connsiteY1080" fmla="*/ 1928812 h 2366371"/>
                    <a:gd name="connsiteX1081" fmla="*/ 1510417 w 1830590"/>
                    <a:gd name="connsiteY1081" fmla="*/ 1830581 h 2366371"/>
                    <a:gd name="connsiteX1082" fmla="*/ 1608649 w 1830590"/>
                    <a:gd name="connsiteY1082" fmla="*/ 1830581 h 2366371"/>
                    <a:gd name="connsiteX1083" fmla="*/ 1608649 w 1830590"/>
                    <a:gd name="connsiteY1083" fmla="*/ 1928812 h 2366371"/>
                    <a:gd name="connsiteX1084" fmla="*/ 1510417 w 1830590"/>
                    <a:gd name="connsiteY1084" fmla="*/ 1928812 h 2366371"/>
                    <a:gd name="connsiteX1085" fmla="*/ 1510417 w 1830590"/>
                    <a:gd name="connsiteY1085" fmla="*/ 1821656 h 2366371"/>
                    <a:gd name="connsiteX1086" fmla="*/ 1510417 w 1830590"/>
                    <a:gd name="connsiteY1086" fmla="*/ 1723425 h 2366371"/>
                    <a:gd name="connsiteX1087" fmla="*/ 1608649 w 1830590"/>
                    <a:gd name="connsiteY1087" fmla="*/ 1723425 h 2366371"/>
                    <a:gd name="connsiteX1088" fmla="*/ 1608649 w 1830590"/>
                    <a:gd name="connsiteY1088" fmla="*/ 1821656 h 2366371"/>
                    <a:gd name="connsiteX1089" fmla="*/ 1510417 w 1830590"/>
                    <a:gd name="connsiteY1089" fmla="*/ 1821656 h 2366371"/>
                    <a:gd name="connsiteX1090" fmla="*/ 1510417 w 1830590"/>
                    <a:gd name="connsiteY1090" fmla="*/ 1714500 h 2366371"/>
                    <a:gd name="connsiteX1091" fmla="*/ 1510417 w 1830590"/>
                    <a:gd name="connsiteY1091" fmla="*/ 1616269 h 2366371"/>
                    <a:gd name="connsiteX1092" fmla="*/ 1608649 w 1830590"/>
                    <a:gd name="connsiteY1092" fmla="*/ 1616269 h 2366371"/>
                    <a:gd name="connsiteX1093" fmla="*/ 1608649 w 1830590"/>
                    <a:gd name="connsiteY1093" fmla="*/ 1714500 h 2366371"/>
                    <a:gd name="connsiteX1094" fmla="*/ 1510417 w 1830590"/>
                    <a:gd name="connsiteY1094" fmla="*/ 1714500 h 2366371"/>
                    <a:gd name="connsiteX1095" fmla="*/ 1510417 w 1830590"/>
                    <a:gd name="connsiteY1095" fmla="*/ 1607344 h 2366371"/>
                    <a:gd name="connsiteX1096" fmla="*/ 1510417 w 1830590"/>
                    <a:gd name="connsiteY1096" fmla="*/ 1509112 h 2366371"/>
                    <a:gd name="connsiteX1097" fmla="*/ 1608649 w 1830590"/>
                    <a:gd name="connsiteY1097" fmla="*/ 1509112 h 2366371"/>
                    <a:gd name="connsiteX1098" fmla="*/ 1608649 w 1830590"/>
                    <a:gd name="connsiteY1098" fmla="*/ 1607344 h 2366371"/>
                    <a:gd name="connsiteX1099" fmla="*/ 1510417 w 1830590"/>
                    <a:gd name="connsiteY1099" fmla="*/ 1607344 h 2366371"/>
                    <a:gd name="connsiteX1100" fmla="*/ 1510417 w 1830590"/>
                    <a:gd name="connsiteY1100" fmla="*/ 1500187 h 2366371"/>
                    <a:gd name="connsiteX1101" fmla="*/ 1510417 w 1830590"/>
                    <a:gd name="connsiteY1101" fmla="*/ 1401956 h 2366371"/>
                    <a:gd name="connsiteX1102" fmla="*/ 1608649 w 1830590"/>
                    <a:gd name="connsiteY1102" fmla="*/ 1401956 h 2366371"/>
                    <a:gd name="connsiteX1103" fmla="*/ 1608649 w 1830590"/>
                    <a:gd name="connsiteY1103" fmla="*/ 1500187 h 2366371"/>
                    <a:gd name="connsiteX1104" fmla="*/ 1510417 w 1830590"/>
                    <a:gd name="connsiteY1104" fmla="*/ 1500187 h 2366371"/>
                    <a:gd name="connsiteX1105" fmla="*/ 1510417 w 1830590"/>
                    <a:gd name="connsiteY1105" fmla="*/ 1393031 h 2366371"/>
                    <a:gd name="connsiteX1106" fmla="*/ 1510417 w 1830590"/>
                    <a:gd name="connsiteY1106" fmla="*/ 1294800 h 2366371"/>
                    <a:gd name="connsiteX1107" fmla="*/ 1608649 w 1830590"/>
                    <a:gd name="connsiteY1107" fmla="*/ 1294800 h 2366371"/>
                    <a:gd name="connsiteX1108" fmla="*/ 1608649 w 1830590"/>
                    <a:gd name="connsiteY1108" fmla="*/ 1393031 h 2366371"/>
                    <a:gd name="connsiteX1109" fmla="*/ 1510417 w 1830590"/>
                    <a:gd name="connsiteY1109" fmla="*/ 1393031 h 2366371"/>
                    <a:gd name="connsiteX1110" fmla="*/ 1510417 w 1830590"/>
                    <a:gd name="connsiteY1110" fmla="*/ 1285875 h 2366371"/>
                    <a:gd name="connsiteX1111" fmla="*/ 1510417 w 1830590"/>
                    <a:gd name="connsiteY1111" fmla="*/ 1187644 h 2366371"/>
                    <a:gd name="connsiteX1112" fmla="*/ 1608649 w 1830590"/>
                    <a:gd name="connsiteY1112" fmla="*/ 1187644 h 2366371"/>
                    <a:gd name="connsiteX1113" fmla="*/ 1608649 w 1830590"/>
                    <a:gd name="connsiteY1113" fmla="*/ 1285875 h 2366371"/>
                    <a:gd name="connsiteX1114" fmla="*/ 1510417 w 1830590"/>
                    <a:gd name="connsiteY1114" fmla="*/ 1285875 h 2366371"/>
                    <a:gd name="connsiteX1115" fmla="*/ 1510417 w 1830590"/>
                    <a:gd name="connsiteY1115" fmla="*/ 1178719 h 2366371"/>
                    <a:gd name="connsiteX1116" fmla="*/ 1510417 w 1830590"/>
                    <a:gd name="connsiteY1116" fmla="*/ 1080487 h 2366371"/>
                    <a:gd name="connsiteX1117" fmla="*/ 1608649 w 1830590"/>
                    <a:gd name="connsiteY1117" fmla="*/ 1080487 h 2366371"/>
                    <a:gd name="connsiteX1118" fmla="*/ 1608649 w 1830590"/>
                    <a:gd name="connsiteY1118" fmla="*/ 1178719 h 2366371"/>
                    <a:gd name="connsiteX1119" fmla="*/ 1510417 w 1830590"/>
                    <a:gd name="connsiteY1119" fmla="*/ 1178719 h 2366371"/>
                    <a:gd name="connsiteX1120" fmla="*/ 1510417 w 1830590"/>
                    <a:gd name="connsiteY1120" fmla="*/ 1071562 h 2366371"/>
                    <a:gd name="connsiteX1121" fmla="*/ 1510417 w 1830590"/>
                    <a:gd name="connsiteY1121" fmla="*/ 973331 h 2366371"/>
                    <a:gd name="connsiteX1122" fmla="*/ 1608649 w 1830590"/>
                    <a:gd name="connsiteY1122" fmla="*/ 973331 h 2366371"/>
                    <a:gd name="connsiteX1123" fmla="*/ 1608649 w 1830590"/>
                    <a:gd name="connsiteY1123" fmla="*/ 1071562 h 2366371"/>
                    <a:gd name="connsiteX1124" fmla="*/ 1510417 w 1830590"/>
                    <a:gd name="connsiteY1124" fmla="*/ 1071562 h 2366371"/>
                    <a:gd name="connsiteX1125" fmla="*/ 1510417 w 1830590"/>
                    <a:gd name="connsiteY1125" fmla="*/ 964406 h 2366371"/>
                    <a:gd name="connsiteX1126" fmla="*/ 1510417 w 1830590"/>
                    <a:gd name="connsiteY1126" fmla="*/ 866175 h 2366371"/>
                    <a:gd name="connsiteX1127" fmla="*/ 1608649 w 1830590"/>
                    <a:gd name="connsiteY1127" fmla="*/ 866175 h 2366371"/>
                    <a:gd name="connsiteX1128" fmla="*/ 1608649 w 1830590"/>
                    <a:gd name="connsiteY1128" fmla="*/ 964406 h 2366371"/>
                    <a:gd name="connsiteX1129" fmla="*/ 1510417 w 1830590"/>
                    <a:gd name="connsiteY1129" fmla="*/ 964406 h 2366371"/>
                    <a:gd name="connsiteX1130" fmla="*/ 1510417 w 1830590"/>
                    <a:gd name="connsiteY1130" fmla="*/ 857250 h 2366371"/>
                    <a:gd name="connsiteX1131" fmla="*/ 1510417 w 1830590"/>
                    <a:gd name="connsiteY1131" fmla="*/ 759019 h 2366371"/>
                    <a:gd name="connsiteX1132" fmla="*/ 1608649 w 1830590"/>
                    <a:gd name="connsiteY1132" fmla="*/ 759019 h 2366371"/>
                    <a:gd name="connsiteX1133" fmla="*/ 1608649 w 1830590"/>
                    <a:gd name="connsiteY1133" fmla="*/ 857250 h 2366371"/>
                    <a:gd name="connsiteX1134" fmla="*/ 1510417 w 1830590"/>
                    <a:gd name="connsiteY1134" fmla="*/ 857250 h 2366371"/>
                    <a:gd name="connsiteX1135" fmla="*/ 1510417 w 1830590"/>
                    <a:gd name="connsiteY1135" fmla="*/ 750094 h 2366371"/>
                    <a:gd name="connsiteX1136" fmla="*/ 1510417 w 1830590"/>
                    <a:gd name="connsiteY1136" fmla="*/ 651862 h 2366371"/>
                    <a:gd name="connsiteX1137" fmla="*/ 1608649 w 1830590"/>
                    <a:gd name="connsiteY1137" fmla="*/ 651862 h 2366371"/>
                    <a:gd name="connsiteX1138" fmla="*/ 1608649 w 1830590"/>
                    <a:gd name="connsiteY1138" fmla="*/ 750094 h 2366371"/>
                    <a:gd name="connsiteX1139" fmla="*/ 1510417 w 1830590"/>
                    <a:gd name="connsiteY1139" fmla="*/ 750094 h 2366371"/>
                    <a:gd name="connsiteX1140" fmla="*/ 1510417 w 1830590"/>
                    <a:gd name="connsiteY1140" fmla="*/ 642938 h 2366371"/>
                    <a:gd name="connsiteX1141" fmla="*/ 1510417 w 1830590"/>
                    <a:gd name="connsiteY1141" fmla="*/ 544706 h 2366371"/>
                    <a:gd name="connsiteX1142" fmla="*/ 1608649 w 1830590"/>
                    <a:gd name="connsiteY1142" fmla="*/ 544706 h 2366371"/>
                    <a:gd name="connsiteX1143" fmla="*/ 1608649 w 1830590"/>
                    <a:gd name="connsiteY1143" fmla="*/ 642938 h 2366371"/>
                    <a:gd name="connsiteX1144" fmla="*/ 1510417 w 1830590"/>
                    <a:gd name="connsiteY1144" fmla="*/ 642938 h 2366371"/>
                    <a:gd name="connsiteX1145" fmla="*/ 1510417 w 1830590"/>
                    <a:gd name="connsiteY1145" fmla="*/ 535781 h 2366371"/>
                    <a:gd name="connsiteX1146" fmla="*/ 1510417 w 1830590"/>
                    <a:gd name="connsiteY1146" fmla="*/ 437550 h 2366371"/>
                    <a:gd name="connsiteX1147" fmla="*/ 1608649 w 1830590"/>
                    <a:gd name="connsiteY1147" fmla="*/ 437550 h 2366371"/>
                    <a:gd name="connsiteX1148" fmla="*/ 1608649 w 1830590"/>
                    <a:gd name="connsiteY1148" fmla="*/ 535781 h 2366371"/>
                    <a:gd name="connsiteX1149" fmla="*/ 1510417 w 1830590"/>
                    <a:gd name="connsiteY1149" fmla="*/ 535781 h 2366371"/>
                    <a:gd name="connsiteX1150" fmla="*/ 1510417 w 1830590"/>
                    <a:gd name="connsiteY1150" fmla="*/ 428625 h 2366371"/>
                    <a:gd name="connsiteX1151" fmla="*/ 1510417 w 1830590"/>
                    <a:gd name="connsiteY1151" fmla="*/ 330394 h 2366371"/>
                    <a:gd name="connsiteX1152" fmla="*/ 1608649 w 1830590"/>
                    <a:gd name="connsiteY1152" fmla="*/ 330394 h 2366371"/>
                    <a:gd name="connsiteX1153" fmla="*/ 1608649 w 1830590"/>
                    <a:gd name="connsiteY1153" fmla="*/ 428625 h 2366371"/>
                    <a:gd name="connsiteX1154" fmla="*/ 1510417 w 1830590"/>
                    <a:gd name="connsiteY1154" fmla="*/ 428625 h 2366371"/>
                    <a:gd name="connsiteX1155" fmla="*/ 1510417 w 1830590"/>
                    <a:gd name="connsiteY1155" fmla="*/ 321469 h 2366371"/>
                    <a:gd name="connsiteX1156" fmla="*/ 1510417 w 1830590"/>
                    <a:gd name="connsiteY1156" fmla="*/ 223237 h 2366371"/>
                    <a:gd name="connsiteX1157" fmla="*/ 1608649 w 1830590"/>
                    <a:gd name="connsiteY1157" fmla="*/ 223237 h 2366371"/>
                    <a:gd name="connsiteX1158" fmla="*/ 1608649 w 1830590"/>
                    <a:gd name="connsiteY1158" fmla="*/ 321469 h 2366371"/>
                    <a:gd name="connsiteX1159" fmla="*/ 1510417 w 1830590"/>
                    <a:gd name="connsiteY1159" fmla="*/ 321469 h 2366371"/>
                    <a:gd name="connsiteX1160" fmla="*/ 1510417 w 1830590"/>
                    <a:gd name="connsiteY1160" fmla="*/ 214313 h 2366371"/>
                    <a:gd name="connsiteX1161" fmla="*/ 1510417 w 1830590"/>
                    <a:gd name="connsiteY1161" fmla="*/ 116081 h 2366371"/>
                    <a:gd name="connsiteX1162" fmla="*/ 1608649 w 1830590"/>
                    <a:gd name="connsiteY1162" fmla="*/ 116081 h 2366371"/>
                    <a:gd name="connsiteX1163" fmla="*/ 1608649 w 1830590"/>
                    <a:gd name="connsiteY1163" fmla="*/ 214313 h 2366371"/>
                    <a:gd name="connsiteX1164" fmla="*/ 1510417 w 1830590"/>
                    <a:gd name="connsiteY1164" fmla="*/ 214313 h 2366371"/>
                    <a:gd name="connsiteX1165" fmla="*/ 1501483 w 1830590"/>
                    <a:gd name="connsiteY1165" fmla="*/ 214313 h 2366371"/>
                    <a:gd name="connsiteX1166" fmla="*/ 1403252 w 1830590"/>
                    <a:gd name="connsiteY1166" fmla="*/ 214313 h 2366371"/>
                    <a:gd name="connsiteX1167" fmla="*/ 1403252 w 1830590"/>
                    <a:gd name="connsiteY1167" fmla="*/ 116081 h 2366371"/>
                    <a:gd name="connsiteX1168" fmla="*/ 1501483 w 1830590"/>
                    <a:gd name="connsiteY1168" fmla="*/ 116081 h 2366371"/>
                    <a:gd name="connsiteX1169" fmla="*/ 1501483 w 1830590"/>
                    <a:gd name="connsiteY1169" fmla="*/ 214313 h 2366371"/>
                    <a:gd name="connsiteX1170" fmla="*/ 1394327 w 1830590"/>
                    <a:gd name="connsiteY1170" fmla="*/ 214313 h 2366371"/>
                    <a:gd name="connsiteX1171" fmla="*/ 1296095 w 1830590"/>
                    <a:gd name="connsiteY1171" fmla="*/ 214313 h 2366371"/>
                    <a:gd name="connsiteX1172" fmla="*/ 1296095 w 1830590"/>
                    <a:gd name="connsiteY1172" fmla="*/ 116081 h 2366371"/>
                    <a:gd name="connsiteX1173" fmla="*/ 1394327 w 1830590"/>
                    <a:gd name="connsiteY1173" fmla="*/ 116081 h 2366371"/>
                    <a:gd name="connsiteX1174" fmla="*/ 1394327 w 1830590"/>
                    <a:gd name="connsiteY1174" fmla="*/ 214313 h 2366371"/>
                    <a:gd name="connsiteX1175" fmla="*/ 1287171 w 1830590"/>
                    <a:gd name="connsiteY1175" fmla="*/ 214313 h 2366371"/>
                    <a:gd name="connsiteX1176" fmla="*/ 1188939 w 1830590"/>
                    <a:gd name="connsiteY1176" fmla="*/ 214313 h 2366371"/>
                    <a:gd name="connsiteX1177" fmla="*/ 1188939 w 1830590"/>
                    <a:gd name="connsiteY1177" fmla="*/ 116081 h 2366371"/>
                    <a:gd name="connsiteX1178" fmla="*/ 1287171 w 1830590"/>
                    <a:gd name="connsiteY1178" fmla="*/ 116081 h 2366371"/>
                    <a:gd name="connsiteX1179" fmla="*/ 1287171 w 1830590"/>
                    <a:gd name="connsiteY1179" fmla="*/ 214313 h 2366371"/>
                    <a:gd name="connsiteX1180" fmla="*/ 1180014 w 1830590"/>
                    <a:gd name="connsiteY1180" fmla="*/ 214313 h 2366371"/>
                    <a:gd name="connsiteX1181" fmla="*/ 1081783 w 1830590"/>
                    <a:gd name="connsiteY1181" fmla="*/ 214313 h 2366371"/>
                    <a:gd name="connsiteX1182" fmla="*/ 1081783 w 1830590"/>
                    <a:gd name="connsiteY1182" fmla="*/ 116081 h 2366371"/>
                    <a:gd name="connsiteX1183" fmla="*/ 1180014 w 1830590"/>
                    <a:gd name="connsiteY1183" fmla="*/ 116081 h 2366371"/>
                    <a:gd name="connsiteX1184" fmla="*/ 1180014 w 1830590"/>
                    <a:gd name="connsiteY1184" fmla="*/ 214313 h 2366371"/>
                    <a:gd name="connsiteX1185" fmla="*/ 1072858 w 1830590"/>
                    <a:gd name="connsiteY1185" fmla="*/ 214313 h 2366371"/>
                    <a:gd name="connsiteX1186" fmla="*/ 974627 w 1830590"/>
                    <a:gd name="connsiteY1186" fmla="*/ 214313 h 2366371"/>
                    <a:gd name="connsiteX1187" fmla="*/ 974627 w 1830590"/>
                    <a:gd name="connsiteY1187" fmla="*/ 116081 h 2366371"/>
                    <a:gd name="connsiteX1188" fmla="*/ 1072858 w 1830590"/>
                    <a:gd name="connsiteY1188" fmla="*/ 116081 h 2366371"/>
                    <a:gd name="connsiteX1189" fmla="*/ 1072858 w 1830590"/>
                    <a:gd name="connsiteY1189" fmla="*/ 214313 h 2366371"/>
                    <a:gd name="connsiteX1190" fmla="*/ 965702 w 1830590"/>
                    <a:gd name="connsiteY1190" fmla="*/ 214313 h 2366371"/>
                    <a:gd name="connsiteX1191" fmla="*/ 867470 w 1830590"/>
                    <a:gd name="connsiteY1191" fmla="*/ 214313 h 2366371"/>
                    <a:gd name="connsiteX1192" fmla="*/ 867470 w 1830590"/>
                    <a:gd name="connsiteY1192" fmla="*/ 116081 h 2366371"/>
                    <a:gd name="connsiteX1193" fmla="*/ 965702 w 1830590"/>
                    <a:gd name="connsiteY1193" fmla="*/ 116081 h 2366371"/>
                    <a:gd name="connsiteX1194" fmla="*/ 965702 w 1830590"/>
                    <a:gd name="connsiteY1194" fmla="*/ 214313 h 2366371"/>
                    <a:gd name="connsiteX1195" fmla="*/ 858546 w 1830590"/>
                    <a:gd name="connsiteY1195" fmla="*/ 214313 h 2366371"/>
                    <a:gd name="connsiteX1196" fmla="*/ 760314 w 1830590"/>
                    <a:gd name="connsiteY1196" fmla="*/ 214313 h 2366371"/>
                    <a:gd name="connsiteX1197" fmla="*/ 760314 w 1830590"/>
                    <a:gd name="connsiteY1197" fmla="*/ 116081 h 2366371"/>
                    <a:gd name="connsiteX1198" fmla="*/ 858546 w 1830590"/>
                    <a:gd name="connsiteY1198" fmla="*/ 116081 h 2366371"/>
                    <a:gd name="connsiteX1199" fmla="*/ 858546 w 1830590"/>
                    <a:gd name="connsiteY1199" fmla="*/ 214313 h 2366371"/>
                    <a:gd name="connsiteX1200" fmla="*/ 751389 w 1830590"/>
                    <a:gd name="connsiteY1200" fmla="*/ 214313 h 2366371"/>
                    <a:gd name="connsiteX1201" fmla="*/ 653158 w 1830590"/>
                    <a:gd name="connsiteY1201" fmla="*/ 214313 h 2366371"/>
                    <a:gd name="connsiteX1202" fmla="*/ 653158 w 1830590"/>
                    <a:gd name="connsiteY1202" fmla="*/ 116081 h 2366371"/>
                    <a:gd name="connsiteX1203" fmla="*/ 751389 w 1830590"/>
                    <a:gd name="connsiteY1203" fmla="*/ 116081 h 2366371"/>
                    <a:gd name="connsiteX1204" fmla="*/ 751389 w 1830590"/>
                    <a:gd name="connsiteY1204" fmla="*/ 214313 h 2366371"/>
                    <a:gd name="connsiteX1205" fmla="*/ 644233 w 1830590"/>
                    <a:gd name="connsiteY1205" fmla="*/ 214313 h 2366371"/>
                    <a:gd name="connsiteX1206" fmla="*/ 546002 w 1830590"/>
                    <a:gd name="connsiteY1206" fmla="*/ 214313 h 2366371"/>
                    <a:gd name="connsiteX1207" fmla="*/ 546002 w 1830590"/>
                    <a:gd name="connsiteY1207" fmla="*/ 116081 h 2366371"/>
                    <a:gd name="connsiteX1208" fmla="*/ 644233 w 1830590"/>
                    <a:gd name="connsiteY1208" fmla="*/ 116081 h 2366371"/>
                    <a:gd name="connsiteX1209" fmla="*/ 644233 w 1830590"/>
                    <a:gd name="connsiteY1209" fmla="*/ 214313 h 2366371"/>
                    <a:gd name="connsiteX1210" fmla="*/ 537077 w 1830590"/>
                    <a:gd name="connsiteY1210" fmla="*/ 214313 h 2366371"/>
                    <a:gd name="connsiteX1211" fmla="*/ 438845 w 1830590"/>
                    <a:gd name="connsiteY1211" fmla="*/ 214313 h 2366371"/>
                    <a:gd name="connsiteX1212" fmla="*/ 438845 w 1830590"/>
                    <a:gd name="connsiteY1212" fmla="*/ 116081 h 2366371"/>
                    <a:gd name="connsiteX1213" fmla="*/ 537077 w 1830590"/>
                    <a:gd name="connsiteY1213" fmla="*/ 116081 h 2366371"/>
                    <a:gd name="connsiteX1214" fmla="*/ 537077 w 1830590"/>
                    <a:gd name="connsiteY1214" fmla="*/ 214313 h 2366371"/>
                    <a:gd name="connsiteX1215" fmla="*/ 429920 w 1830590"/>
                    <a:gd name="connsiteY1215" fmla="*/ 214313 h 2366371"/>
                    <a:gd name="connsiteX1216" fmla="*/ 331689 w 1830590"/>
                    <a:gd name="connsiteY1216" fmla="*/ 214313 h 2366371"/>
                    <a:gd name="connsiteX1217" fmla="*/ 331689 w 1830590"/>
                    <a:gd name="connsiteY1217" fmla="*/ 116081 h 2366371"/>
                    <a:gd name="connsiteX1218" fmla="*/ 429920 w 1830590"/>
                    <a:gd name="connsiteY1218" fmla="*/ 116081 h 2366371"/>
                    <a:gd name="connsiteX1219" fmla="*/ 429920 w 1830590"/>
                    <a:gd name="connsiteY1219" fmla="*/ 214313 h 2366371"/>
                    <a:gd name="connsiteX1220" fmla="*/ 322764 w 1830590"/>
                    <a:gd name="connsiteY1220" fmla="*/ 214313 h 2366371"/>
                    <a:gd name="connsiteX1221" fmla="*/ 224533 w 1830590"/>
                    <a:gd name="connsiteY1221" fmla="*/ 214313 h 2366371"/>
                    <a:gd name="connsiteX1222" fmla="*/ 224533 w 1830590"/>
                    <a:gd name="connsiteY1222" fmla="*/ 116081 h 2366371"/>
                    <a:gd name="connsiteX1223" fmla="*/ 322764 w 1830590"/>
                    <a:gd name="connsiteY1223" fmla="*/ 116081 h 2366371"/>
                    <a:gd name="connsiteX1224" fmla="*/ 322764 w 1830590"/>
                    <a:gd name="connsiteY1224" fmla="*/ 214313 h 2366371"/>
                    <a:gd name="connsiteX1225" fmla="*/ 322764 w 1830590"/>
                    <a:gd name="connsiteY1225" fmla="*/ 223237 h 2366371"/>
                    <a:gd name="connsiteX1226" fmla="*/ 322764 w 1830590"/>
                    <a:gd name="connsiteY1226" fmla="*/ 321469 h 2366371"/>
                    <a:gd name="connsiteX1227" fmla="*/ 224533 w 1830590"/>
                    <a:gd name="connsiteY1227" fmla="*/ 321469 h 2366371"/>
                    <a:gd name="connsiteX1228" fmla="*/ 224533 w 1830590"/>
                    <a:gd name="connsiteY1228" fmla="*/ 223237 h 2366371"/>
                    <a:gd name="connsiteX1229" fmla="*/ 322764 w 1830590"/>
                    <a:gd name="connsiteY1229" fmla="*/ 223237 h 2366371"/>
                    <a:gd name="connsiteX1230" fmla="*/ 215608 w 1830590"/>
                    <a:gd name="connsiteY1230" fmla="*/ 321469 h 2366371"/>
                    <a:gd name="connsiteX1231" fmla="*/ 117377 w 1830590"/>
                    <a:gd name="connsiteY1231" fmla="*/ 321469 h 2366371"/>
                    <a:gd name="connsiteX1232" fmla="*/ 117377 w 1830590"/>
                    <a:gd name="connsiteY1232" fmla="*/ 223237 h 2366371"/>
                    <a:gd name="connsiteX1233" fmla="*/ 215608 w 1830590"/>
                    <a:gd name="connsiteY1233" fmla="*/ 223237 h 2366371"/>
                    <a:gd name="connsiteX1234" fmla="*/ 215608 w 1830590"/>
                    <a:gd name="connsiteY1234" fmla="*/ 321469 h 2366371"/>
                    <a:gd name="connsiteX1235" fmla="*/ 215608 w 1830590"/>
                    <a:gd name="connsiteY1235" fmla="*/ 330394 h 2366371"/>
                    <a:gd name="connsiteX1236" fmla="*/ 215608 w 1830590"/>
                    <a:gd name="connsiteY1236" fmla="*/ 428625 h 2366371"/>
                    <a:gd name="connsiteX1237" fmla="*/ 117377 w 1830590"/>
                    <a:gd name="connsiteY1237" fmla="*/ 428625 h 2366371"/>
                    <a:gd name="connsiteX1238" fmla="*/ 117377 w 1830590"/>
                    <a:gd name="connsiteY1238" fmla="*/ 330394 h 2366371"/>
                    <a:gd name="connsiteX1239" fmla="*/ 215608 w 1830590"/>
                    <a:gd name="connsiteY1239" fmla="*/ 330394 h 2366371"/>
                    <a:gd name="connsiteX1240" fmla="*/ 215608 w 1830590"/>
                    <a:gd name="connsiteY1240" fmla="*/ 437550 h 2366371"/>
                    <a:gd name="connsiteX1241" fmla="*/ 215608 w 1830590"/>
                    <a:gd name="connsiteY1241" fmla="*/ 535781 h 2366371"/>
                    <a:gd name="connsiteX1242" fmla="*/ 117377 w 1830590"/>
                    <a:gd name="connsiteY1242" fmla="*/ 535781 h 2366371"/>
                    <a:gd name="connsiteX1243" fmla="*/ 117377 w 1830590"/>
                    <a:gd name="connsiteY1243" fmla="*/ 437550 h 2366371"/>
                    <a:gd name="connsiteX1244" fmla="*/ 215608 w 1830590"/>
                    <a:gd name="connsiteY1244" fmla="*/ 437550 h 2366371"/>
                    <a:gd name="connsiteX1245" fmla="*/ 215608 w 1830590"/>
                    <a:gd name="connsiteY1245" fmla="*/ 544706 h 2366371"/>
                    <a:gd name="connsiteX1246" fmla="*/ 215608 w 1830590"/>
                    <a:gd name="connsiteY1246" fmla="*/ 642938 h 2366371"/>
                    <a:gd name="connsiteX1247" fmla="*/ 117377 w 1830590"/>
                    <a:gd name="connsiteY1247" fmla="*/ 642938 h 2366371"/>
                    <a:gd name="connsiteX1248" fmla="*/ 117377 w 1830590"/>
                    <a:gd name="connsiteY1248" fmla="*/ 544706 h 2366371"/>
                    <a:gd name="connsiteX1249" fmla="*/ 215608 w 1830590"/>
                    <a:gd name="connsiteY1249" fmla="*/ 544706 h 2366371"/>
                    <a:gd name="connsiteX1250" fmla="*/ 215608 w 1830590"/>
                    <a:gd name="connsiteY1250" fmla="*/ 651862 h 2366371"/>
                    <a:gd name="connsiteX1251" fmla="*/ 215608 w 1830590"/>
                    <a:gd name="connsiteY1251" fmla="*/ 750094 h 2366371"/>
                    <a:gd name="connsiteX1252" fmla="*/ 117377 w 1830590"/>
                    <a:gd name="connsiteY1252" fmla="*/ 750094 h 2366371"/>
                    <a:gd name="connsiteX1253" fmla="*/ 117377 w 1830590"/>
                    <a:gd name="connsiteY1253" fmla="*/ 651862 h 2366371"/>
                    <a:gd name="connsiteX1254" fmla="*/ 215608 w 1830590"/>
                    <a:gd name="connsiteY1254" fmla="*/ 651862 h 2366371"/>
                    <a:gd name="connsiteX1255" fmla="*/ 215608 w 1830590"/>
                    <a:gd name="connsiteY1255" fmla="*/ 759019 h 2366371"/>
                    <a:gd name="connsiteX1256" fmla="*/ 215608 w 1830590"/>
                    <a:gd name="connsiteY1256" fmla="*/ 857250 h 2366371"/>
                    <a:gd name="connsiteX1257" fmla="*/ 117377 w 1830590"/>
                    <a:gd name="connsiteY1257" fmla="*/ 857250 h 2366371"/>
                    <a:gd name="connsiteX1258" fmla="*/ 117377 w 1830590"/>
                    <a:gd name="connsiteY1258" fmla="*/ 759019 h 2366371"/>
                    <a:gd name="connsiteX1259" fmla="*/ 215608 w 1830590"/>
                    <a:gd name="connsiteY1259" fmla="*/ 759019 h 2366371"/>
                    <a:gd name="connsiteX1260" fmla="*/ 215608 w 1830590"/>
                    <a:gd name="connsiteY1260" fmla="*/ 866175 h 2366371"/>
                    <a:gd name="connsiteX1261" fmla="*/ 215608 w 1830590"/>
                    <a:gd name="connsiteY1261" fmla="*/ 964406 h 2366371"/>
                    <a:gd name="connsiteX1262" fmla="*/ 117377 w 1830590"/>
                    <a:gd name="connsiteY1262" fmla="*/ 964406 h 2366371"/>
                    <a:gd name="connsiteX1263" fmla="*/ 117377 w 1830590"/>
                    <a:gd name="connsiteY1263" fmla="*/ 866175 h 2366371"/>
                    <a:gd name="connsiteX1264" fmla="*/ 215608 w 1830590"/>
                    <a:gd name="connsiteY1264" fmla="*/ 866175 h 2366371"/>
                    <a:gd name="connsiteX1265" fmla="*/ 215608 w 1830590"/>
                    <a:gd name="connsiteY1265" fmla="*/ 973331 h 2366371"/>
                    <a:gd name="connsiteX1266" fmla="*/ 215608 w 1830590"/>
                    <a:gd name="connsiteY1266" fmla="*/ 1071562 h 2366371"/>
                    <a:gd name="connsiteX1267" fmla="*/ 117377 w 1830590"/>
                    <a:gd name="connsiteY1267" fmla="*/ 1071562 h 2366371"/>
                    <a:gd name="connsiteX1268" fmla="*/ 117377 w 1830590"/>
                    <a:gd name="connsiteY1268" fmla="*/ 973331 h 2366371"/>
                    <a:gd name="connsiteX1269" fmla="*/ 215608 w 1830590"/>
                    <a:gd name="connsiteY1269" fmla="*/ 973331 h 2366371"/>
                    <a:gd name="connsiteX1270" fmla="*/ 215608 w 1830590"/>
                    <a:gd name="connsiteY1270" fmla="*/ 1080487 h 2366371"/>
                    <a:gd name="connsiteX1271" fmla="*/ 215608 w 1830590"/>
                    <a:gd name="connsiteY1271" fmla="*/ 1178719 h 2366371"/>
                    <a:gd name="connsiteX1272" fmla="*/ 117377 w 1830590"/>
                    <a:gd name="connsiteY1272" fmla="*/ 1178719 h 2366371"/>
                    <a:gd name="connsiteX1273" fmla="*/ 117377 w 1830590"/>
                    <a:gd name="connsiteY1273" fmla="*/ 1080487 h 2366371"/>
                    <a:gd name="connsiteX1274" fmla="*/ 215608 w 1830590"/>
                    <a:gd name="connsiteY1274" fmla="*/ 1080487 h 2366371"/>
                    <a:gd name="connsiteX1275" fmla="*/ 215608 w 1830590"/>
                    <a:gd name="connsiteY1275" fmla="*/ 1187644 h 2366371"/>
                    <a:gd name="connsiteX1276" fmla="*/ 215608 w 1830590"/>
                    <a:gd name="connsiteY1276" fmla="*/ 1285875 h 2366371"/>
                    <a:gd name="connsiteX1277" fmla="*/ 117377 w 1830590"/>
                    <a:gd name="connsiteY1277" fmla="*/ 1285875 h 2366371"/>
                    <a:gd name="connsiteX1278" fmla="*/ 117377 w 1830590"/>
                    <a:gd name="connsiteY1278" fmla="*/ 1187644 h 2366371"/>
                    <a:gd name="connsiteX1279" fmla="*/ 215608 w 1830590"/>
                    <a:gd name="connsiteY1279" fmla="*/ 1187644 h 2366371"/>
                    <a:gd name="connsiteX1280" fmla="*/ 215608 w 1830590"/>
                    <a:gd name="connsiteY1280" fmla="*/ 1294800 h 2366371"/>
                    <a:gd name="connsiteX1281" fmla="*/ 215608 w 1830590"/>
                    <a:gd name="connsiteY1281" fmla="*/ 1393031 h 2366371"/>
                    <a:gd name="connsiteX1282" fmla="*/ 117377 w 1830590"/>
                    <a:gd name="connsiteY1282" fmla="*/ 1393031 h 2366371"/>
                    <a:gd name="connsiteX1283" fmla="*/ 117377 w 1830590"/>
                    <a:gd name="connsiteY1283" fmla="*/ 1294800 h 2366371"/>
                    <a:gd name="connsiteX1284" fmla="*/ 215608 w 1830590"/>
                    <a:gd name="connsiteY1284" fmla="*/ 1294800 h 2366371"/>
                    <a:gd name="connsiteX1285" fmla="*/ 215608 w 1830590"/>
                    <a:gd name="connsiteY1285" fmla="*/ 1401956 h 2366371"/>
                    <a:gd name="connsiteX1286" fmla="*/ 215608 w 1830590"/>
                    <a:gd name="connsiteY1286" fmla="*/ 1500187 h 2366371"/>
                    <a:gd name="connsiteX1287" fmla="*/ 117377 w 1830590"/>
                    <a:gd name="connsiteY1287" fmla="*/ 1500187 h 2366371"/>
                    <a:gd name="connsiteX1288" fmla="*/ 117377 w 1830590"/>
                    <a:gd name="connsiteY1288" fmla="*/ 1401956 h 2366371"/>
                    <a:gd name="connsiteX1289" fmla="*/ 215608 w 1830590"/>
                    <a:gd name="connsiteY1289" fmla="*/ 1401956 h 2366371"/>
                    <a:gd name="connsiteX1290" fmla="*/ 215608 w 1830590"/>
                    <a:gd name="connsiteY1290" fmla="*/ 1509112 h 2366371"/>
                    <a:gd name="connsiteX1291" fmla="*/ 215608 w 1830590"/>
                    <a:gd name="connsiteY1291" fmla="*/ 1607344 h 2366371"/>
                    <a:gd name="connsiteX1292" fmla="*/ 117377 w 1830590"/>
                    <a:gd name="connsiteY1292" fmla="*/ 1607344 h 2366371"/>
                    <a:gd name="connsiteX1293" fmla="*/ 117377 w 1830590"/>
                    <a:gd name="connsiteY1293" fmla="*/ 1509112 h 2366371"/>
                    <a:gd name="connsiteX1294" fmla="*/ 215608 w 1830590"/>
                    <a:gd name="connsiteY1294" fmla="*/ 1509112 h 2366371"/>
                    <a:gd name="connsiteX1295" fmla="*/ 215608 w 1830590"/>
                    <a:gd name="connsiteY1295" fmla="*/ 1616269 h 2366371"/>
                    <a:gd name="connsiteX1296" fmla="*/ 215608 w 1830590"/>
                    <a:gd name="connsiteY1296" fmla="*/ 1714500 h 2366371"/>
                    <a:gd name="connsiteX1297" fmla="*/ 117377 w 1830590"/>
                    <a:gd name="connsiteY1297" fmla="*/ 1714500 h 2366371"/>
                    <a:gd name="connsiteX1298" fmla="*/ 117377 w 1830590"/>
                    <a:gd name="connsiteY1298" fmla="*/ 1616269 h 2366371"/>
                    <a:gd name="connsiteX1299" fmla="*/ 215608 w 1830590"/>
                    <a:gd name="connsiteY1299" fmla="*/ 1616269 h 2366371"/>
                    <a:gd name="connsiteX1300" fmla="*/ 215608 w 1830590"/>
                    <a:gd name="connsiteY1300" fmla="*/ 1723425 h 2366371"/>
                    <a:gd name="connsiteX1301" fmla="*/ 215608 w 1830590"/>
                    <a:gd name="connsiteY1301" fmla="*/ 1821656 h 2366371"/>
                    <a:gd name="connsiteX1302" fmla="*/ 117377 w 1830590"/>
                    <a:gd name="connsiteY1302" fmla="*/ 1821656 h 2366371"/>
                    <a:gd name="connsiteX1303" fmla="*/ 117377 w 1830590"/>
                    <a:gd name="connsiteY1303" fmla="*/ 1723425 h 2366371"/>
                    <a:gd name="connsiteX1304" fmla="*/ 215608 w 1830590"/>
                    <a:gd name="connsiteY1304" fmla="*/ 1723425 h 2366371"/>
                    <a:gd name="connsiteX1305" fmla="*/ 215608 w 1830590"/>
                    <a:gd name="connsiteY1305" fmla="*/ 1830581 h 2366371"/>
                    <a:gd name="connsiteX1306" fmla="*/ 215608 w 1830590"/>
                    <a:gd name="connsiteY1306" fmla="*/ 1928812 h 2366371"/>
                    <a:gd name="connsiteX1307" fmla="*/ 117377 w 1830590"/>
                    <a:gd name="connsiteY1307" fmla="*/ 1928812 h 2366371"/>
                    <a:gd name="connsiteX1308" fmla="*/ 117377 w 1830590"/>
                    <a:gd name="connsiteY1308" fmla="*/ 1830581 h 2366371"/>
                    <a:gd name="connsiteX1309" fmla="*/ 215608 w 1830590"/>
                    <a:gd name="connsiteY1309" fmla="*/ 1830581 h 2366371"/>
                    <a:gd name="connsiteX1310" fmla="*/ 215608 w 1830590"/>
                    <a:gd name="connsiteY1310" fmla="*/ 1937737 h 2366371"/>
                    <a:gd name="connsiteX1311" fmla="*/ 215608 w 1830590"/>
                    <a:gd name="connsiteY1311" fmla="*/ 2035969 h 2366371"/>
                    <a:gd name="connsiteX1312" fmla="*/ 117377 w 1830590"/>
                    <a:gd name="connsiteY1312" fmla="*/ 2035969 h 2366371"/>
                    <a:gd name="connsiteX1313" fmla="*/ 117377 w 1830590"/>
                    <a:gd name="connsiteY1313" fmla="*/ 1937737 h 2366371"/>
                    <a:gd name="connsiteX1314" fmla="*/ 215608 w 1830590"/>
                    <a:gd name="connsiteY1314" fmla="*/ 1937737 h 2366371"/>
                    <a:gd name="connsiteX1315" fmla="*/ 215608 w 1830590"/>
                    <a:gd name="connsiteY1315" fmla="*/ 2044894 h 2366371"/>
                    <a:gd name="connsiteX1316" fmla="*/ 215608 w 1830590"/>
                    <a:gd name="connsiteY1316" fmla="*/ 2143125 h 2366371"/>
                    <a:gd name="connsiteX1317" fmla="*/ 117377 w 1830590"/>
                    <a:gd name="connsiteY1317" fmla="*/ 2143125 h 2366371"/>
                    <a:gd name="connsiteX1318" fmla="*/ 117377 w 1830590"/>
                    <a:gd name="connsiteY1318" fmla="*/ 2044894 h 2366371"/>
                    <a:gd name="connsiteX1319" fmla="*/ 215608 w 1830590"/>
                    <a:gd name="connsiteY1319" fmla="*/ 2044894 h 2366371"/>
                    <a:gd name="connsiteX1320" fmla="*/ 224542 w 1830590"/>
                    <a:gd name="connsiteY1320" fmla="*/ 2044894 h 2366371"/>
                    <a:gd name="connsiteX1321" fmla="*/ 322774 w 1830590"/>
                    <a:gd name="connsiteY1321" fmla="*/ 2044894 h 2366371"/>
                    <a:gd name="connsiteX1322" fmla="*/ 322774 w 1830590"/>
                    <a:gd name="connsiteY1322" fmla="*/ 2143125 h 2366371"/>
                    <a:gd name="connsiteX1323" fmla="*/ 224542 w 1830590"/>
                    <a:gd name="connsiteY1323" fmla="*/ 2143125 h 2366371"/>
                    <a:gd name="connsiteX1324" fmla="*/ 224542 w 1830590"/>
                    <a:gd name="connsiteY1324" fmla="*/ 2044894 h 2366371"/>
                    <a:gd name="connsiteX1325" fmla="*/ 322764 w 1830590"/>
                    <a:gd name="connsiteY1325" fmla="*/ 2152050 h 2366371"/>
                    <a:gd name="connsiteX1326" fmla="*/ 322764 w 1830590"/>
                    <a:gd name="connsiteY1326" fmla="*/ 2250281 h 2366371"/>
                    <a:gd name="connsiteX1327" fmla="*/ 224533 w 1830590"/>
                    <a:gd name="connsiteY1327" fmla="*/ 2250281 h 2366371"/>
                    <a:gd name="connsiteX1328" fmla="*/ 224533 w 1830590"/>
                    <a:gd name="connsiteY1328" fmla="*/ 2152050 h 2366371"/>
                    <a:gd name="connsiteX1329" fmla="*/ 322764 w 1830590"/>
                    <a:gd name="connsiteY1329" fmla="*/ 2152050 h 2366371"/>
                    <a:gd name="connsiteX1330" fmla="*/ 331699 w 1830590"/>
                    <a:gd name="connsiteY1330" fmla="*/ 2152050 h 2366371"/>
                    <a:gd name="connsiteX1331" fmla="*/ 429930 w 1830590"/>
                    <a:gd name="connsiteY1331" fmla="*/ 2152050 h 2366371"/>
                    <a:gd name="connsiteX1332" fmla="*/ 429930 w 1830590"/>
                    <a:gd name="connsiteY1332" fmla="*/ 2250281 h 2366371"/>
                    <a:gd name="connsiteX1333" fmla="*/ 331699 w 1830590"/>
                    <a:gd name="connsiteY1333" fmla="*/ 2250281 h 2366371"/>
                    <a:gd name="connsiteX1334" fmla="*/ 331699 w 1830590"/>
                    <a:gd name="connsiteY1334" fmla="*/ 2152050 h 2366371"/>
                    <a:gd name="connsiteX1335" fmla="*/ 438855 w 1830590"/>
                    <a:gd name="connsiteY1335" fmla="*/ 2152050 h 2366371"/>
                    <a:gd name="connsiteX1336" fmla="*/ 537086 w 1830590"/>
                    <a:gd name="connsiteY1336" fmla="*/ 2152050 h 2366371"/>
                    <a:gd name="connsiteX1337" fmla="*/ 537086 w 1830590"/>
                    <a:gd name="connsiteY1337" fmla="*/ 2250281 h 2366371"/>
                    <a:gd name="connsiteX1338" fmla="*/ 438855 w 1830590"/>
                    <a:gd name="connsiteY1338" fmla="*/ 2250281 h 2366371"/>
                    <a:gd name="connsiteX1339" fmla="*/ 438855 w 1830590"/>
                    <a:gd name="connsiteY1339" fmla="*/ 2152050 h 2366371"/>
                    <a:gd name="connsiteX1340" fmla="*/ 546011 w 1830590"/>
                    <a:gd name="connsiteY1340" fmla="*/ 2152050 h 2366371"/>
                    <a:gd name="connsiteX1341" fmla="*/ 644243 w 1830590"/>
                    <a:gd name="connsiteY1341" fmla="*/ 2152050 h 2366371"/>
                    <a:gd name="connsiteX1342" fmla="*/ 644243 w 1830590"/>
                    <a:gd name="connsiteY1342" fmla="*/ 2250281 h 2366371"/>
                    <a:gd name="connsiteX1343" fmla="*/ 546011 w 1830590"/>
                    <a:gd name="connsiteY1343" fmla="*/ 2250281 h 2366371"/>
                    <a:gd name="connsiteX1344" fmla="*/ 546011 w 1830590"/>
                    <a:gd name="connsiteY1344" fmla="*/ 2152050 h 2366371"/>
                    <a:gd name="connsiteX1345" fmla="*/ 653167 w 1830590"/>
                    <a:gd name="connsiteY1345" fmla="*/ 2152050 h 2366371"/>
                    <a:gd name="connsiteX1346" fmla="*/ 751399 w 1830590"/>
                    <a:gd name="connsiteY1346" fmla="*/ 2152050 h 2366371"/>
                    <a:gd name="connsiteX1347" fmla="*/ 751399 w 1830590"/>
                    <a:gd name="connsiteY1347" fmla="*/ 2250281 h 2366371"/>
                    <a:gd name="connsiteX1348" fmla="*/ 653167 w 1830590"/>
                    <a:gd name="connsiteY1348" fmla="*/ 2250281 h 2366371"/>
                    <a:gd name="connsiteX1349" fmla="*/ 653167 w 1830590"/>
                    <a:gd name="connsiteY1349" fmla="*/ 2152050 h 2366371"/>
                    <a:gd name="connsiteX1350" fmla="*/ 760324 w 1830590"/>
                    <a:gd name="connsiteY1350" fmla="*/ 2152050 h 2366371"/>
                    <a:gd name="connsiteX1351" fmla="*/ 858555 w 1830590"/>
                    <a:gd name="connsiteY1351" fmla="*/ 2152050 h 2366371"/>
                    <a:gd name="connsiteX1352" fmla="*/ 858555 w 1830590"/>
                    <a:gd name="connsiteY1352" fmla="*/ 2250281 h 2366371"/>
                    <a:gd name="connsiteX1353" fmla="*/ 760324 w 1830590"/>
                    <a:gd name="connsiteY1353" fmla="*/ 2250281 h 2366371"/>
                    <a:gd name="connsiteX1354" fmla="*/ 760324 w 1830590"/>
                    <a:gd name="connsiteY1354" fmla="*/ 2152050 h 2366371"/>
                    <a:gd name="connsiteX1355" fmla="*/ 867480 w 1830590"/>
                    <a:gd name="connsiteY1355" fmla="*/ 2152050 h 2366371"/>
                    <a:gd name="connsiteX1356" fmla="*/ 965711 w 1830590"/>
                    <a:gd name="connsiteY1356" fmla="*/ 2152050 h 2366371"/>
                    <a:gd name="connsiteX1357" fmla="*/ 965711 w 1830590"/>
                    <a:gd name="connsiteY1357" fmla="*/ 2250281 h 2366371"/>
                    <a:gd name="connsiteX1358" fmla="*/ 867480 w 1830590"/>
                    <a:gd name="connsiteY1358" fmla="*/ 2250281 h 2366371"/>
                    <a:gd name="connsiteX1359" fmla="*/ 867480 w 1830590"/>
                    <a:gd name="connsiteY1359" fmla="*/ 2152050 h 2366371"/>
                    <a:gd name="connsiteX1360" fmla="*/ 974636 w 1830590"/>
                    <a:gd name="connsiteY1360" fmla="*/ 2152050 h 2366371"/>
                    <a:gd name="connsiteX1361" fmla="*/ 1072867 w 1830590"/>
                    <a:gd name="connsiteY1361" fmla="*/ 2152050 h 2366371"/>
                    <a:gd name="connsiteX1362" fmla="*/ 1072867 w 1830590"/>
                    <a:gd name="connsiteY1362" fmla="*/ 2250281 h 2366371"/>
                    <a:gd name="connsiteX1363" fmla="*/ 974636 w 1830590"/>
                    <a:gd name="connsiteY1363" fmla="*/ 2250281 h 2366371"/>
                    <a:gd name="connsiteX1364" fmla="*/ 974636 w 1830590"/>
                    <a:gd name="connsiteY1364" fmla="*/ 2152050 h 2366371"/>
                    <a:gd name="connsiteX1365" fmla="*/ 1081792 w 1830590"/>
                    <a:gd name="connsiteY1365" fmla="*/ 2152050 h 2366371"/>
                    <a:gd name="connsiteX1366" fmla="*/ 1180024 w 1830590"/>
                    <a:gd name="connsiteY1366" fmla="*/ 2152050 h 2366371"/>
                    <a:gd name="connsiteX1367" fmla="*/ 1180024 w 1830590"/>
                    <a:gd name="connsiteY1367" fmla="*/ 2250281 h 2366371"/>
                    <a:gd name="connsiteX1368" fmla="*/ 1081792 w 1830590"/>
                    <a:gd name="connsiteY1368" fmla="*/ 2250281 h 2366371"/>
                    <a:gd name="connsiteX1369" fmla="*/ 1081792 w 1830590"/>
                    <a:gd name="connsiteY1369" fmla="*/ 2152050 h 2366371"/>
                    <a:gd name="connsiteX1370" fmla="*/ 1188949 w 1830590"/>
                    <a:gd name="connsiteY1370" fmla="*/ 2152050 h 2366371"/>
                    <a:gd name="connsiteX1371" fmla="*/ 1287180 w 1830590"/>
                    <a:gd name="connsiteY1371" fmla="*/ 2152050 h 2366371"/>
                    <a:gd name="connsiteX1372" fmla="*/ 1287180 w 1830590"/>
                    <a:gd name="connsiteY1372" fmla="*/ 2250281 h 2366371"/>
                    <a:gd name="connsiteX1373" fmla="*/ 1188949 w 1830590"/>
                    <a:gd name="connsiteY1373" fmla="*/ 2250281 h 2366371"/>
                    <a:gd name="connsiteX1374" fmla="*/ 1188949 w 1830590"/>
                    <a:gd name="connsiteY1374" fmla="*/ 2152050 h 2366371"/>
                    <a:gd name="connsiteX1375" fmla="*/ 1296105 w 1830590"/>
                    <a:gd name="connsiteY1375" fmla="*/ 2152050 h 2366371"/>
                    <a:gd name="connsiteX1376" fmla="*/ 1394336 w 1830590"/>
                    <a:gd name="connsiteY1376" fmla="*/ 2152050 h 2366371"/>
                    <a:gd name="connsiteX1377" fmla="*/ 1394336 w 1830590"/>
                    <a:gd name="connsiteY1377" fmla="*/ 2250281 h 2366371"/>
                    <a:gd name="connsiteX1378" fmla="*/ 1296105 w 1830590"/>
                    <a:gd name="connsiteY1378" fmla="*/ 2250281 h 2366371"/>
                    <a:gd name="connsiteX1379" fmla="*/ 1296105 w 1830590"/>
                    <a:gd name="connsiteY1379" fmla="*/ 2152050 h 2366371"/>
                    <a:gd name="connsiteX1380" fmla="*/ 1403261 w 1830590"/>
                    <a:gd name="connsiteY1380" fmla="*/ 2152050 h 2366371"/>
                    <a:gd name="connsiteX1381" fmla="*/ 1501492 w 1830590"/>
                    <a:gd name="connsiteY1381" fmla="*/ 2152050 h 2366371"/>
                    <a:gd name="connsiteX1382" fmla="*/ 1501492 w 1830590"/>
                    <a:gd name="connsiteY1382" fmla="*/ 2250281 h 2366371"/>
                    <a:gd name="connsiteX1383" fmla="*/ 1403261 w 1830590"/>
                    <a:gd name="connsiteY1383" fmla="*/ 2250281 h 2366371"/>
                    <a:gd name="connsiteX1384" fmla="*/ 1403261 w 1830590"/>
                    <a:gd name="connsiteY1384" fmla="*/ 2152050 h 2366371"/>
                    <a:gd name="connsiteX1385" fmla="*/ 1510417 w 1830590"/>
                    <a:gd name="connsiteY1385" fmla="*/ 2152050 h 2366371"/>
                    <a:gd name="connsiteX1386" fmla="*/ 1608649 w 1830590"/>
                    <a:gd name="connsiteY1386" fmla="*/ 2152050 h 2366371"/>
                    <a:gd name="connsiteX1387" fmla="*/ 1608649 w 1830590"/>
                    <a:gd name="connsiteY1387" fmla="*/ 2250281 h 2366371"/>
                    <a:gd name="connsiteX1388" fmla="*/ 1510417 w 1830590"/>
                    <a:gd name="connsiteY1388" fmla="*/ 2250281 h 2366371"/>
                    <a:gd name="connsiteX1389" fmla="*/ 1510417 w 1830590"/>
                    <a:gd name="connsiteY1389" fmla="*/ 2152050 h 2366371"/>
                    <a:gd name="connsiteX1390" fmla="*/ 1510417 w 1830590"/>
                    <a:gd name="connsiteY1390" fmla="*/ 2143125 h 2366371"/>
                    <a:gd name="connsiteX1391" fmla="*/ 1510417 w 1830590"/>
                    <a:gd name="connsiteY1391" fmla="*/ 2044894 h 2366371"/>
                    <a:gd name="connsiteX1392" fmla="*/ 1608649 w 1830590"/>
                    <a:gd name="connsiteY1392" fmla="*/ 2044894 h 2366371"/>
                    <a:gd name="connsiteX1393" fmla="*/ 1608649 w 1830590"/>
                    <a:gd name="connsiteY1393" fmla="*/ 2143125 h 2366371"/>
                    <a:gd name="connsiteX1394" fmla="*/ 1510417 w 1830590"/>
                    <a:gd name="connsiteY1394" fmla="*/ 2143125 h 2366371"/>
                    <a:gd name="connsiteX1395" fmla="*/ 1617574 w 1830590"/>
                    <a:gd name="connsiteY1395" fmla="*/ 2044894 h 2366371"/>
                    <a:gd name="connsiteX1396" fmla="*/ 1715805 w 1830590"/>
                    <a:gd name="connsiteY1396" fmla="*/ 2044894 h 2366371"/>
                    <a:gd name="connsiteX1397" fmla="*/ 1715805 w 1830590"/>
                    <a:gd name="connsiteY1397" fmla="*/ 2143125 h 2366371"/>
                    <a:gd name="connsiteX1398" fmla="*/ 1617574 w 1830590"/>
                    <a:gd name="connsiteY1398" fmla="*/ 2143125 h 2366371"/>
                    <a:gd name="connsiteX1399" fmla="*/ 1617574 w 1830590"/>
                    <a:gd name="connsiteY1399" fmla="*/ 2044894 h 2366371"/>
                    <a:gd name="connsiteX1400" fmla="*/ 1617574 w 1830590"/>
                    <a:gd name="connsiteY1400" fmla="*/ 2035969 h 2366371"/>
                    <a:gd name="connsiteX1401" fmla="*/ 1617574 w 1830590"/>
                    <a:gd name="connsiteY1401" fmla="*/ 1937737 h 2366371"/>
                    <a:gd name="connsiteX1402" fmla="*/ 1715805 w 1830590"/>
                    <a:gd name="connsiteY1402" fmla="*/ 1937737 h 2366371"/>
                    <a:gd name="connsiteX1403" fmla="*/ 1715805 w 1830590"/>
                    <a:gd name="connsiteY1403" fmla="*/ 2035969 h 2366371"/>
                    <a:gd name="connsiteX1404" fmla="*/ 1617574 w 1830590"/>
                    <a:gd name="connsiteY1404" fmla="*/ 2035969 h 2366371"/>
                    <a:gd name="connsiteX1405" fmla="*/ 1617574 w 1830590"/>
                    <a:gd name="connsiteY1405" fmla="*/ 1928812 h 2366371"/>
                    <a:gd name="connsiteX1406" fmla="*/ 1617574 w 1830590"/>
                    <a:gd name="connsiteY1406" fmla="*/ 1830581 h 2366371"/>
                    <a:gd name="connsiteX1407" fmla="*/ 1715805 w 1830590"/>
                    <a:gd name="connsiteY1407" fmla="*/ 1830581 h 2366371"/>
                    <a:gd name="connsiteX1408" fmla="*/ 1715805 w 1830590"/>
                    <a:gd name="connsiteY1408" fmla="*/ 1928812 h 2366371"/>
                    <a:gd name="connsiteX1409" fmla="*/ 1617574 w 1830590"/>
                    <a:gd name="connsiteY1409" fmla="*/ 1928812 h 2366371"/>
                    <a:gd name="connsiteX1410" fmla="*/ 1617574 w 1830590"/>
                    <a:gd name="connsiteY1410" fmla="*/ 1821656 h 2366371"/>
                    <a:gd name="connsiteX1411" fmla="*/ 1617574 w 1830590"/>
                    <a:gd name="connsiteY1411" fmla="*/ 1723425 h 2366371"/>
                    <a:gd name="connsiteX1412" fmla="*/ 1715805 w 1830590"/>
                    <a:gd name="connsiteY1412" fmla="*/ 1723425 h 2366371"/>
                    <a:gd name="connsiteX1413" fmla="*/ 1715805 w 1830590"/>
                    <a:gd name="connsiteY1413" fmla="*/ 1821656 h 2366371"/>
                    <a:gd name="connsiteX1414" fmla="*/ 1617574 w 1830590"/>
                    <a:gd name="connsiteY1414" fmla="*/ 1821656 h 2366371"/>
                    <a:gd name="connsiteX1415" fmla="*/ 1617574 w 1830590"/>
                    <a:gd name="connsiteY1415" fmla="*/ 1714500 h 2366371"/>
                    <a:gd name="connsiteX1416" fmla="*/ 1617574 w 1830590"/>
                    <a:gd name="connsiteY1416" fmla="*/ 1616269 h 2366371"/>
                    <a:gd name="connsiteX1417" fmla="*/ 1715805 w 1830590"/>
                    <a:gd name="connsiteY1417" fmla="*/ 1616269 h 2366371"/>
                    <a:gd name="connsiteX1418" fmla="*/ 1715805 w 1830590"/>
                    <a:gd name="connsiteY1418" fmla="*/ 1714500 h 2366371"/>
                    <a:gd name="connsiteX1419" fmla="*/ 1617574 w 1830590"/>
                    <a:gd name="connsiteY1419" fmla="*/ 1714500 h 2366371"/>
                    <a:gd name="connsiteX1420" fmla="*/ 1617574 w 1830590"/>
                    <a:gd name="connsiteY1420" fmla="*/ 1607344 h 2366371"/>
                    <a:gd name="connsiteX1421" fmla="*/ 1617574 w 1830590"/>
                    <a:gd name="connsiteY1421" fmla="*/ 1509112 h 2366371"/>
                    <a:gd name="connsiteX1422" fmla="*/ 1715805 w 1830590"/>
                    <a:gd name="connsiteY1422" fmla="*/ 1509112 h 2366371"/>
                    <a:gd name="connsiteX1423" fmla="*/ 1715805 w 1830590"/>
                    <a:gd name="connsiteY1423" fmla="*/ 1607344 h 2366371"/>
                    <a:gd name="connsiteX1424" fmla="*/ 1617574 w 1830590"/>
                    <a:gd name="connsiteY1424" fmla="*/ 1607344 h 2366371"/>
                    <a:gd name="connsiteX1425" fmla="*/ 1617574 w 1830590"/>
                    <a:gd name="connsiteY1425" fmla="*/ 1500187 h 2366371"/>
                    <a:gd name="connsiteX1426" fmla="*/ 1617574 w 1830590"/>
                    <a:gd name="connsiteY1426" fmla="*/ 1401956 h 2366371"/>
                    <a:gd name="connsiteX1427" fmla="*/ 1715805 w 1830590"/>
                    <a:gd name="connsiteY1427" fmla="*/ 1401956 h 2366371"/>
                    <a:gd name="connsiteX1428" fmla="*/ 1715805 w 1830590"/>
                    <a:gd name="connsiteY1428" fmla="*/ 1500187 h 2366371"/>
                    <a:gd name="connsiteX1429" fmla="*/ 1617574 w 1830590"/>
                    <a:gd name="connsiteY1429" fmla="*/ 1500187 h 2366371"/>
                    <a:gd name="connsiteX1430" fmla="*/ 1617574 w 1830590"/>
                    <a:gd name="connsiteY1430" fmla="*/ 1393031 h 2366371"/>
                    <a:gd name="connsiteX1431" fmla="*/ 1617574 w 1830590"/>
                    <a:gd name="connsiteY1431" fmla="*/ 1294800 h 2366371"/>
                    <a:gd name="connsiteX1432" fmla="*/ 1715805 w 1830590"/>
                    <a:gd name="connsiteY1432" fmla="*/ 1294800 h 2366371"/>
                    <a:gd name="connsiteX1433" fmla="*/ 1715805 w 1830590"/>
                    <a:gd name="connsiteY1433" fmla="*/ 1393031 h 2366371"/>
                    <a:gd name="connsiteX1434" fmla="*/ 1617574 w 1830590"/>
                    <a:gd name="connsiteY1434" fmla="*/ 1393031 h 2366371"/>
                    <a:gd name="connsiteX1435" fmla="*/ 1617574 w 1830590"/>
                    <a:gd name="connsiteY1435" fmla="*/ 1285875 h 2366371"/>
                    <a:gd name="connsiteX1436" fmla="*/ 1617574 w 1830590"/>
                    <a:gd name="connsiteY1436" fmla="*/ 1187644 h 2366371"/>
                    <a:gd name="connsiteX1437" fmla="*/ 1715805 w 1830590"/>
                    <a:gd name="connsiteY1437" fmla="*/ 1187644 h 2366371"/>
                    <a:gd name="connsiteX1438" fmla="*/ 1715805 w 1830590"/>
                    <a:gd name="connsiteY1438" fmla="*/ 1285875 h 2366371"/>
                    <a:gd name="connsiteX1439" fmla="*/ 1617574 w 1830590"/>
                    <a:gd name="connsiteY1439" fmla="*/ 1285875 h 2366371"/>
                    <a:gd name="connsiteX1440" fmla="*/ 1617574 w 1830590"/>
                    <a:gd name="connsiteY1440" fmla="*/ 1178719 h 2366371"/>
                    <a:gd name="connsiteX1441" fmla="*/ 1617574 w 1830590"/>
                    <a:gd name="connsiteY1441" fmla="*/ 1080487 h 2366371"/>
                    <a:gd name="connsiteX1442" fmla="*/ 1715805 w 1830590"/>
                    <a:gd name="connsiteY1442" fmla="*/ 1080487 h 2366371"/>
                    <a:gd name="connsiteX1443" fmla="*/ 1715805 w 1830590"/>
                    <a:gd name="connsiteY1443" fmla="*/ 1178719 h 2366371"/>
                    <a:gd name="connsiteX1444" fmla="*/ 1617574 w 1830590"/>
                    <a:gd name="connsiteY1444" fmla="*/ 1178719 h 2366371"/>
                    <a:gd name="connsiteX1445" fmla="*/ 1617574 w 1830590"/>
                    <a:gd name="connsiteY1445" fmla="*/ 1071562 h 2366371"/>
                    <a:gd name="connsiteX1446" fmla="*/ 1617574 w 1830590"/>
                    <a:gd name="connsiteY1446" fmla="*/ 973331 h 2366371"/>
                    <a:gd name="connsiteX1447" fmla="*/ 1715805 w 1830590"/>
                    <a:gd name="connsiteY1447" fmla="*/ 973331 h 2366371"/>
                    <a:gd name="connsiteX1448" fmla="*/ 1715805 w 1830590"/>
                    <a:gd name="connsiteY1448" fmla="*/ 1071562 h 2366371"/>
                    <a:gd name="connsiteX1449" fmla="*/ 1617574 w 1830590"/>
                    <a:gd name="connsiteY1449" fmla="*/ 1071562 h 2366371"/>
                    <a:gd name="connsiteX1450" fmla="*/ 1617574 w 1830590"/>
                    <a:gd name="connsiteY1450" fmla="*/ 964406 h 2366371"/>
                    <a:gd name="connsiteX1451" fmla="*/ 1617574 w 1830590"/>
                    <a:gd name="connsiteY1451" fmla="*/ 866175 h 2366371"/>
                    <a:gd name="connsiteX1452" fmla="*/ 1715805 w 1830590"/>
                    <a:gd name="connsiteY1452" fmla="*/ 866175 h 2366371"/>
                    <a:gd name="connsiteX1453" fmla="*/ 1715805 w 1830590"/>
                    <a:gd name="connsiteY1453" fmla="*/ 964406 h 2366371"/>
                    <a:gd name="connsiteX1454" fmla="*/ 1617574 w 1830590"/>
                    <a:gd name="connsiteY1454" fmla="*/ 964406 h 2366371"/>
                    <a:gd name="connsiteX1455" fmla="*/ 1617574 w 1830590"/>
                    <a:gd name="connsiteY1455" fmla="*/ 857250 h 2366371"/>
                    <a:gd name="connsiteX1456" fmla="*/ 1617574 w 1830590"/>
                    <a:gd name="connsiteY1456" fmla="*/ 759019 h 2366371"/>
                    <a:gd name="connsiteX1457" fmla="*/ 1715805 w 1830590"/>
                    <a:gd name="connsiteY1457" fmla="*/ 759019 h 2366371"/>
                    <a:gd name="connsiteX1458" fmla="*/ 1715805 w 1830590"/>
                    <a:gd name="connsiteY1458" fmla="*/ 857250 h 2366371"/>
                    <a:gd name="connsiteX1459" fmla="*/ 1617574 w 1830590"/>
                    <a:gd name="connsiteY1459" fmla="*/ 857250 h 2366371"/>
                    <a:gd name="connsiteX1460" fmla="*/ 1617574 w 1830590"/>
                    <a:gd name="connsiteY1460" fmla="*/ 750094 h 2366371"/>
                    <a:gd name="connsiteX1461" fmla="*/ 1617574 w 1830590"/>
                    <a:gd name="connsiteY1461" fmla="*/ 651862 h 2366371"/>
                    <a:gd name="connsiteX1462" fmla="*/ 1715805 w 1830590"/>
                    <a:gd name="connsiteY1462" fmla="*/ 651862 h 2366371"/>
                    <a:gd name="connsiteX1463" fmla="*/ 1715805 w 1830590"/>
                    <a:gd name="connsiteY1463" fmla="*/ 750094 h 2366371"/>
                    <a:gd name="connsiteX1464" fmla="*/ 1617574 w 1830590"/>
                    <a:gd name="connsiteY1464" fmla="*/ 750094 h 2366371"/>
                    <a:gd name="connsiteX1465" fmla="*/ 1617574 w 1830590"/>
                    <a:gd name="connsiteY1465" fmla="*/ 642938 h 2366371"/>
                    <a:gd name="connsiteX1466" fmla="*/ 1617574 w 1830590"/>
                    <a:gd name="connsiteY1466" fmla="*/ 544706 h 2366371"/>
                    <a:gd name="connsiteX1467" fmla="*/ 1715805 w 1830590"/>
                    <a:gd name="connsiteY1467" fmla="*/ 544706 h 2366371"/>
                    <a:gd name="connsiteX1468" fmla="*/ 1715805 w 1830590"/>
                    <a:gd name="connsiteY1468" fmla="*/ 642938 h 2366371"/>
                    <a:gd name="connsiteX1469" fmla="*/ 1617574 w 1830590"/>
                    <a:gd name="connsiteY1469" fmla="*/ 642938 h 2366371"/>
                    <a:gd name="connsiteX1470" fmla="*/ 1617574 w 1830590"/>
                    <a:gd name="connsiteY1470" fmla="*/ 535781 h 2366371"/>
                    <a:gd name="connsiteX1471" fmla="*/ 1617574 w 1830590"/>
                    <a:gd name="connsiteY1471" fmla="*/ 437550 h 2366371"/>
                    <a:gd name="connsiteX1472" fmla="*/ 1715805 w 1830590"/>
                    <a:gd name="connsiteY1472" fmla="*/ 437550 h 2366371"/>
                    <a:gd name="connsiteX1473" fmla="*/ 1715805 w 1830590"/>
                    <a:gd name="connsiteY1473" fmla="*/ 535781 h 2366371"/>
                    <a:gd name="connsiteX1474" fmla="*/ 1617574 w 1830590"/>
                    <a:gd name="connsiteY1474" fmla="*/ 535781 h 2366371"/>
                    <a:gd name="connsiteX1475" fmla="*/ 1617574 w 1830590"/>
                    <a:gd name="connsiteY1475" fmla="*/ 428625 h 2366371"/>
                    <a:gd name="connsiteX1476" fmla="*/ 1617574 w 1830590"/>
                    <a:gd name="connsiteY1476" fmla="*/ 330394 h 2366371"/>
                    <a:gd name="connsiteX1477" fmla="*/ 1715805 w 1830590"/>
                    <a:gd name="connsiteY1477" fmla="*/ 330394 h 2366371"/>
                    <a:gd name="connsiteX1478" fmla="*/ 1715805 w 1830590"/>
                    <a:gd name="connsiteY1478" fmla="*/ 428625 h 2366371"/>
                    <a:gd name="connsiteX1479" fmla="*/ 1617574 w 1830590"/>
                    <a:gd name="connsiteY1479" fmla="*/ 428625 h 2366371"/>
                    <a:gd name="connsiteX1480" fmla="*/ 1617574 w 1830590"/>
                    <a:gd name="connsiteY1480" fmla="*/ 321469 h 2366371"/>
                    <a:gd name="connsiteX1481" fmla="*/ 1617574 w 1830590"/>
                    <a:gd name="connsiteY1481" fmla="*/ 223237 h 2366371"/>
                    <a:gd name="connsiteX1482" fmla="*/ 1715805 w 1830590"/>
                    <a:gd name="connsiteY1482" fmla="*/ 223237 h 2366371"/>
                    <a:gd name="connsiteX1483" fmla="*/ 1715805 w 1830590"/>
                    <a:gd name="connsiteY1483" fmla="*/ 321469 h 2366371"/>
                    <a:gd name="connsiteX1484" fmla="*/ 1617574 w 1830590"/>
                    <a:gd name="connsiteY1484" fmla="*/ 321469 h 2366371"/>
                    <a:gd name="connsiteX1485" fmla="*/ 1617574 w 1830590"/>
                    <a:gd name="connsiteY1485" fmla="*/ 214313 h 2366371"/>
                    <a:gd name="connsiteX1486" fmla="*/ 1617574 w 1830590"/>
                    <a:gd name="connsiteY1486" fmla="*/ 116081 h 2366371"/>
                    <a:gd name="connsiteX1487" fmla="*/ 1715805 w 1830590"/>
                    <a:gd name="connsiteY1487" fmla="*/ 116081 h 2366371"/>
                    <a:gd name="connsiteX1488" fmla="*/ 1715805 w 1830590"/>
                    <a:gd name="connsiteY1488" fmla="*/ 214313 h 2366371"/>
                    <a:gd name="connsiteX1489" fmla="*/ 1617574 w 1830590"/>
                    <a:gd name="connsiteY1489" fmla="*/ 214313 h 2366371"/>
                    <a:gd name="connsiteX1490" fmla="*/ 1617574 w 1830590"/>
                    <a:gd name="connsiteY1490" fmla="*/ 107156 h 2366371"/>
                    <a:gd name="connsiteX1491" fmla="*/ 1617574 w 1830590"/>
                    <a:gd name="connsiteY1491" fmla="*/ 8925 h 2366371"/>
                    <a:gd name="connsiteX1492" fmla="*/ 1715805 w 1830590"/>
                    <a:gd name="connsiteY1492" fmla="*/ 8925 h 2366371"/>
                    <a:gd name="connsiteX1493" fmla="*/ 1715805 w 1830590"/>
                    <a:gd name="connsiteY1493" fmla="*/ 107156 h 2366371"/>
                    <a:gd name="connsiteX1494" fmla="*/ 1617574 w 1830590"/>
                    <a:gd name="connsiteY1494" fmla="*/ 107156 h 2366371"/>
                    <a:gd name="connsiteX1495" fmla="*/ 1608639 w 1830590"/>
                    <a:gd name="connsiteY1495" fmla="*/ 107156 h 2366371"/>
                    <a:gd name="connsiteX1496" fmla="*/ 1510408 w 1830590"/>
                    <a:gd name="connsiteY1496" fmla="*/ 107156 h 2366371"/>
                    <a:gd name="connsiteX1497" fmla="*/ 1510408 w 1830590"/>
                    <a:gd name="connsiteY1497" fmla="*/ 8925 h 2366371"/>
                    <a:gd name="connsiteX1498" fmla="*/ 1608639 w 1830590"/>
                    <a:gd name="connsiteY1498" fmla="*/ 8925 h 2366371"/>
                    <a:gd name="connsiteX1499" fmla="*/ 1608639 w 1830590"/>
                    <a:gd name="connsiteY1499" fmla="*/ 107156 h 2366371"/>
                    <a:gd name="connsiteX1500" fmla="*/ 1501483 w 1830590"/>
                    <a:gd name="connsiteY1500" fmla="*/ 107156 h 2366371"/>
                    <a:gd name="connsiteX1501" fmla="*/ 1403252 w 1830590"/>
                    <a:gd name="connsiteY1501" fmla="*/ 107156 h 2366371"/>
                    <a:gd name="connsiteX1502" fmla="*/ 1403252 w 1830590"/>
                    <a:gd name="connsiteY1502" fmla="*/ 8925 h 2366371"/>
                    <a:gd name="connsiteX1503" fmla="*/ 1501483 w 1830590"/>
                    <a:gd name="connsiteY1503" fmla="*/ 8925 h 2366371"/>
                    <a:gd name="connsiteX1504" fmla="*/ 1501483 w 1830590"/>
                    <a:gd name="connsiteY1504" fmla="*/ 107156 h 2366371"/>
                    <a:gd name="connsiteX1505" fmla="*/ 1394327 w 1830590"/>
                    <a:gd name="connsiteY1505" fmla="*/ 107156 h 2366371"/>
                    <a:gd name="connsiteX1506" fmla="*/ 1296095 w 1830590"/>
                    <a:gd name="connsiteY1506" fmla="*/ 107156 h 2366371"/>
                    <a:gd name="connsiteX1507" fmla="*/ 1296095 w 1830590"/>
                    <a:gd name="connsiteY1507" fmla="*/ 8925 h 2366371"/>
                    <a:gd name="connsiteX1508" fmla="*/ 1394327 w 1830590"/>
                    <a:gd name="connsiteY1508" fmla="*/ 8925 h 2366371"/>
                    <a:gd name="connsiteX1509" fmla="*/ 1394327 w 1830590"/>
                    <a:gd name="connsiteY1509" fmla="*/ 107156 h 2366371"/>
                    <a:gd name="connsiteX1510" fmla="*/ 1287171 w 1830590"/>
                    <a:gd name="connsiteY1510" fmla="*/ 107156 h 2366371"/>
                    <a:gd name="connsiteX1511" fmla="*/ 1188939 w 1830590"/>
                    <a:gd name="connsiteY1511" fmla="*/ 107156 h 2366371"/>
                    <a:gd name="connsiteX1512" fmla="*/ 1188939 w 1830590"/>
                    <a:gd name="connsiteY1512" fmla="*/ 8925 h 2366371"/>
                    <a:gd name="connsiteX1513" fmla="*/ 1287171 w 1830590"/>
                    <a:gd name="connsiteY1513" fmla="*/ 8925 h 2366371"/>
                    <a:gd name="connsiteX1514" fmla="*/ 1287171 w 1830590"/>
                    <a:gd name="connsiteY1514" fmla="*/ 107156 h 2366371"/>
                    <a:gd name="connsiteX1515" fmla="*/ 1180014 w 1830590"/>
                    <a:gd name="connsiteY1515" fmla="*/ 107156 h 2366371"/>
                    <a:gd name="connsiteX1516" fmla="*/ 1081783 w 1830590"/>
                    <a:gd name="connsiteY1516" fmla="*/ 107156 h 2366371"/>
                    <a:gd name="connsiteX1517" fmla="*/ 1081783 w 1830590"/>
                    <a:gd name="connsiteY1517" fmla="*/ 8925 h 2366371"/>
                    <a:gd name="connsiteX1518" fmla="*/ 1180014 w 1830590"/>
                    <a:gd name="connsiteY1518" fmla="*/ 8925 h 2366371"/>
                    <a:gd name="connsiteX1519" fmla="*/ 1180014 w 1830590"/>
                    <a:gd name="connsiteY1519" fmla="*/ 107156 h 2366371"/>
                    <a:gd name="connsiteX1520" fmla="*/ 1072858 w 1830590"/>
                    <a:gd name="connsiteY1520" fmla="*/ 107156 h 2366371"/>
                    <a:gd name="connsiteX1521" fmla="*/ 974627 w 1830590"/>
                    <a:gd name="connsiteY1521" fmla="*/ 107156 h 2366371"/>
                    <a:gd name="connsiteX1522" fmla="*/ 974627 w 1830590"/>
                    <a:gd name="connsiteY1522" fmla="*/ 8925 h 2366371"/>
                    <a:gd name="connsiteX1523" fmla="*/ 1072858 w 1830590"/>
                    <a:gd name="connsiteY1523" fmla="*/ 8925 h 2366371"/>
                    <a:gd name="connsiteX1524" fmla="*/ 1072858 w 1830590"/>
                    <a:gd name="connsiteY1524" fmla="*/ 107156 h 2366371"/>
                    <a:gd name="connsiteX1525" fmla="*/ 965702 w 1830590"/>
                    <a:gd name="connsiteY1525" fmla="*/ 107156 h 2366371"/>
                    <a:gd name="connsiteX1526" fmla="*/ 867470 w 1830590"/>
                    <a:gd name="connsiteY1526" fmla="*/ 107156 h 2366371"/>
                    <a:gd name="connsiteX1527" fmla="*/ 867470 w 1830590"/>
                    <a:gd name="connsiteY1527" fmla="*/ 8925 h 2366371"/>
                    <a:gd name="connsiteX1528" fmla="*/ 965702 w 1830590"/>
                    <a:gd name="connsiteY1528" fmla="*/ 8925 h 2366371"/>
                    <a:gd name="connsiteX1529" fmla="*/ 965702 w 1830590"/>
                    <a:gd name="connsiteY1529" fmla="*/ 107156 h 2366371"/>
                    <a:gd name="connsiteX1530" fmla="*/ 858546 w 1830590"/>
                    <a:gd name="connsiteY1530" fmla="*/ 107156 h 2366371"/>
                    <a:gd name="connsiteX1531" fmla="*/ 760314 w 1830590"/>
                    <a:gd name="connsiteY1531" fmla="*/ 107156 h 2366371"/>
                    <a:gd name="connsiteX1532" fmla="*/ 760314 w 1830590"/>
                    <a:gd name="connsiteY1532" fmla="*/ 8925 h 2366371"/>
                    <a:gd name="connsiteX1533" fmla="*/ 858546 w 1830590"/>
                    <a:gd name="connsiteY1533" fmla="*/ 8925 h 2366371"/>
                    <a:gd name="connsiteX1534" fmla="*/ 858546 w 1830590"/>
                    <a:gd name="connsiteY1534" fmla="*/ 107156 h 2366371"/>
                    <a:gd name="connsiteX1535" fmla="*/ 751389 w 1830590"/>
                    <a:gd name="connsiteY1535" fmla="*/ 107156 h 2366371"/>
                    <a:gd name="connsiteX1536" fmla="*/ 653158 w 1830590"/>
                    <a:gd name="connsiteY1536" fmla="*/ 107156 h 2366371"/>
                    <a:gd name="connsiteX1537" fmla="*/ 653158 w 1830590"/>
                    <a:gd name="connsiteY1537" fmla="*/ 8925 h 2366371"/>
                    <a:gd name="connsiteX1538" fmla="*/ 751389 w 1830590"/>
                    <a:gd name="connsiteY1538" fmla="*/ 8925 h 2366371"/>
                    <a:gd name="connsiteX1539" fmla="*/ 751389 w 1830590"/>
                    <a:gd name="connsiteY1539" fmla="*/ 107156 h 2366371"/>
                    <a:gd name="connsiteX1540" fmla="*/ 644233 w 1830590"/>
                    <a:gd name="connsiteY1540" fmla="*/ 107156 h 2366371"/>
                    <a:gd name="connsiteX1541" fmla="*/ 546002 w 1830590"/>
                    <a:gd name="connsiteY1541" fmla="*/ 107156 h 2366371"/>
                    <a:gd name="connsiteX1542" fmla="*/ 546002 w 1830590"/>
                    <a:gd name="connsiteY1542" fmla="*/ 8925 h 2366371"/>
                    <a:gd name="connsiteX1543" fmla="*/ 644233 w 1830590"/>
                    <a:gd name="connsiteY1543" fmla="*/ 8925 h 2366371"/>
                    <a:gd name="connsiteX1544" fmla="*/ 644233 w 1830590"/>
                    <a:gd name="connsiteY1544" fmla="*/ 107156 h 2366371"/>
                    <a:gd name="connsiteX1545" fmla="*/ 537077 w 1830590"/>
                    <a:gd name="connsiteY1545" fmla="*/ 107156 h 2366371"/>
                    <a:gd name="connsiteX1546" fmla="*/ 438845 w 1830590"/>
                    <a:gd name="connsiteY1546" fmla="*/ 107156 h 2366371"/>
                    <a:gd name="connsiteX1547" fmla="*/ 438845 w 1830590"/>
                    <a:gd name="connsiteY1547" fmla="*/ 8925 h 2366371"/>
                    <a:gd name="connsiteX1548" fmla="*/ 537077 w 1830590"/>
                    <a:gd name="connsiteY1548" fmla="*/ 8925 h 2366371"/>
                    <a:gd name="connsiteX1549" fmla="*/ 537077 w 1830590"/>
                    <a:gd name="connsiteY1549" fmla="*/ 107156 h 2366371"/>
                    <a:gd name="connsiteX1550" fmla="*/ 429920 w 1830590"/>
                    <a:gd name="connsiteY1550" fmla="*/ 107156 h 2366371"/>
                    <a:gd name="connsiteX1551" fmla="*/ 331689 w 1830590"/>
                    <a:gd name="connsiteY1551" fmla="*/ 107156 h 2366371"/>
                    <a:gd name="connsiteX1552" fmla="*/ 331689 w 1830590"/>
                    <a:gd name="connsiteY1552" fmla="*/ 8925 h 2366371"/>
                    <a:gd name="connsiteX1553" fmla="*/ 429920 w 1830590"/>
                    <a:gd name="connsiteY1553" fmla="*/ 8925 h 2366371"/>
                    <a:gd name="connsiteX1554" fmla="*/ 429920 w 1830590"/>
                    <a:gd name="connsiteY1554" fmla="*/ 107156 h 2366371"/>
                    <a:gd name="connsiteX1555" fmla="*/ 322764 w 1830590"/>
                    <a:gd name="connsiteY1555" fmla="*/ 107156 h 2366371"/>
                    <a:gd name="connsiteX1556" fmla="*/ 224533 w 1830590"/>
                    <a:gd name="connsiteY1556" fmla="*/ 107156 h 2366371"/>
                    <a:gd name="connsiteX1557" fmla="*/ 224533 w 1830590"/>
                    <a:gd name="connsiteY1557" fmla="*/ 8925 h 2366371"/>
                    <a:gd name="connsiteX1558" fmla="*/ 322764 w 1830590"/>
                    <a:gd name="connsiteY1558" fmla="*/ 8925 h 2366371"/>
                    <a:gd name="connsiteX1559" fmla="*/ 322764 w 1830590"/>
                    <a:gd name="connsiteY1559" fmla="*/ 107156 h 2366371"/>
                    <a:gd name="connsiteX1560" fmla="*/ 215608 w 1830590"/>
                    <a:gd name="connsiteY1560" fmla="*/ 107156 h 2366371"/>
                    <a:gd name="connsiteX1561" fmla="*/ 117377 w 1830590"/>
                    <a:gd name="connsiteY1561" fmla="*/ 107156 h 2366371"/>
                    <a:gd name="connsiteX1562" fmla="*/ 117377 w 1830590"/>
                    <a:gd name="connsiteY1562" fmla="*/ 8925 h 2366371"/>
                    <a:gd name="connsiteX1563" fmla="*/ 215608 w 1830590"/>
                    <a:gd name="connsiteY1563" fmla="*/ 8925 h 2366371"/>
                    <a:gd name="connsiteX1564" fmla="*/ 215608 w 1830590"/>
                    <a:gd name="connsiteY1564" fmla="*/ 107156 h 2366371"/>
                    <a:gd name="connsiteX1565" fmla="*/ 215608 w 1830590"/>
                    <a:gd name="connsiteY1565" fmla="*/ 116081 h 2366371"/>
                    <a:gd name="connsiteX1566" fmla="*/ 215608 w 1830590"/>
                    <a:gd name="connsiteY1566" fmla="*/ 214313 h 2366371"/>
                    <a:gd name="connsiteX1567" fmla="*/ 117377 w 1830590"/>
                    <a:gd name="connsiteY1567" fmla="*/ 214313 h 2366371"/>
                    <a:gd name="connsiteX1568" fmla="*/ 117377 w 1830590"/>
                    <a:gd name="connsiteY1568" fmla="*/ 116081 h 2366371"/>
                    <a:gd name="connsiteX1569" fmla="*/ 215608 w 1830590"/>
                    <a:gd name="connsiteY1569" fmla="*/ 116081 h 2366371"/>
                    <a:gd name="connsiteX1570" fmla="*/ 108452 w 1830590"/>
                    <a:gd name="connsiteY1570" fmla="*/ 214313 h 2366371"/>
                    <a:gd name="connsiteX1571" fmla="*/ 8925 w 1830590"/>
                    <a:gd name="connsiteY1571" fmla="*/ 214313 h 2366371"/>
                    <a:gd name="connsiteX1572" fmla="*/ 8925 w 1830590"/>
                    <a:gd name="connsiteY1572" fmla="*/ 116081 h 2366371"/>
                    <a:gd name="connsiteX1573" fmla="*/ 108452 w 1830590"/>
                    <a:gd name="connsiteY1573" fmla="*/ 116081 h 2366371"/>
                    <a:gd name="connsiteX1574" fmla="*/ 108452 w 1830590"/>
                    <a:gd name="connsiteY1574" fmla="*/ 214313 h 2366371"/>
                    <a:gd name="connsiteX1575" fmla="*/ 8925 w 1830590"/>
                    <a:gd name="connsiteY1575" fmla="*/ 223237 h 2366371"/>
                    <a:gd name="connsiteX1576" fmla="*/ 108452 w 1830590"/>
                    <a:gd name="connsiteY1576" fmla="*/ 223237 h 2366371"/>
                    <a:gd name="connsiteX1577" fmla="*/ 108452 w 1830590"/>
                    <a:gd name="connsiteY1577" fmla="*/ 321469 h 2366371"/>
                    <a:gd name="connsiteX1578" fmla="*/ 8925 w 1830590"/>
                    <a:gd name="connsiteY1578" fmla="*/ 321469 h 2366371"/>
                    <a:gd name="connsiteX1579" fmla="*/ 8925 w 1830590"/>
                    <a:gd name="connsiteY1579" fmla="*/ 223237 h 2366371"/>
                    <a:gd name="connsiteX1580" fmla="*/ 108452 w 1830590"/>
                    <a:gd name="connsiteY1580" fmla="*/ 330394 h 2366371"/>
                    <a:gd name="connsiteX1581" fmla="*/ 108452 w 1830590"/>
                    <a:gd name="connsiteY1581" fmla="*/ 428625 h 2366371"/>
                    <a:gd name="connsiteX1582" fmla="*/ 8925 w 1830590"/>
                    <a:gd name="connsiteY1582" fmla="*/ 428625 h 2366371"/>
                    <a:gd name="connsiteX1583" fmla="*/ 8925 w 1830590"/>
                    <a:gd name="connsiteY1583" fmla="*/ 330394 h 2366371"/>
                    <a:gd name="connsiteX1584" fmla="*/ 108452 w 1830590"/>
                    <a:gd name="connsiteY1584" fmla="*/ 330394 h 2366371"/>
                    <a:gd name="connsiteX1585" fmla="*/ 8925 w 1830590"/>
                    <a:gd name="connsiteY1585" fmla="*/ 437550 h 2366371"/>
                    <a:gd name="connsiteX1586" fmla="*/ 108452 w 1830590"/>
                    <a:gd name="connsiteY1586" fmla="*/ 437550 h 2366371"/>
                    <a:gd name="connsiteX1587" fmla="*/ 108452 w 1830590"/>
                    <a:gd name="connsiteY1587" fmla="*/ 535781 h 2366371"/>
                    <a:gd name="connsiteX1588" fmla="*/ 8925 w 1830590"/>
                    <a:gd name="connsiteY1588" fmla="*/ 535781 h 2366371"/>
                    <a:gd name="connsiteX1589" fmla="*/ 8925 w 1830590"/>
                    <a:gd name="connsiteY1589" fmla="*/ 437550 h 2366371"/>
                    <a:gd name="connsiteX1590" fmla="*/ 108452 w 1830590"/>
                    <a:gd name="connsiteY1590" fmla="*/ 544706 h 2366371"/>
                    <a:gd name="connsiteX1591" fmla="*/ 108452 w 1830590"/>
                    <a:gd name="connsiteY1591" fmla="*/ 642938 h 2366371"/>
                    <a:gd name="connsiteX1592" fmla="*/ 8925 w 1830590"/>
                    <a:gd name="connsiteY1592" fmla="*/ 642938 h 2366371"/>
                    <a:gd name="connsiteX1593" fmla="*/ 8925 w 1830590"/>
                    <a:gd name="connsiteY1593" fmla="*/ 544706 h 2366371"/>
                    <a:gd name="connsiteX1594" fmla="*/ 108452 w 1830590"/>
                    <a:gd name="connsiteY1594" fmla="*/ 544706 h 2366371"/>
                    <a:gd name="connsiteX1595" fmla="*/ 8925 w 1830590"/>
                    <a:gd name="connsiteY1595" fmla="*/ 651862 h 2366371"/>
                    <a:gd name="connsiteX1596" fmla="*/ 108452 w 1830590"/>
                    <a:gd name="connsiteY1596" fmla="*/ 651862 h 2366371"/>
                    <a:gd name="connsiteX1597" fmla="*/ 108452 w 1830590"/>
                    <a:gd name="connsiteY1597" fmla="*/ 750094 h 2366371"/>
                    <a:gd name="connsiteX1598" fmla="*/ 8925 w 1830590"/>
                    <a:gd name="connsiteY1598" fmla="*/ 750094 h 2366371"/>
                    <a:gd name="connsiteX1599" fmla="*/ 8925 w 1830590"/>
                    <a:gd name="connsiteY1599" fmla="*/ 651862 h 2366371"/>
                    <a:gd name="connsiteX1600" fmla="*/ 108452 w 1830590"/>
                    <a:gd name="connsiteY1600" fmla="*/ 759019 h 2366371"/>
                    <a:gd name="connsiteX1601" fmla="*/ 108452 w 1830590"/>
                    <a:gd name="connsiteY1601" fmla="*/ 857250 h 2366371"/>
                    <a:gd name="connsiteX1602" fmla="*/ 8925 w 1830590"/>
                    <a:gd name="connsiteY1602" fmla="*/ 857250 h 2366371"/>
                    <a:gd name="connsiteX1603" fmla="*/ 8925 w 1830590"/>
                    <a:gd name="connsiteY1603" fmla="*/ 759019 h 2366371"/>
                    <a:gd name="connsiteX1604" fmla="*/ 108452 w 1830590"/>
                    <a:gd name="connsiteY1604" fmla="*/ 759019 h 2366371"/>
                    <a:gd name="connsiteX1605" fmla="*/ 8925 w 1830590"/>
                    <a:gd name="connsiteY1605" fmla="*/ 866175 h 2366371"/>
                    <a:gd name="connsiteX1606" fmla="*/ 108452 w 1830590"/>
                    <a:gd name="connsiteY1606" fmla="*/ 866175 h 2366371"/>
                    <a:gd name="connsiteX1607" fmla="*/ 108452 w 1830590"/>
                    <a:gd name="connsiteY1607" fmla="*/ 964406 h 2366371"/>
                    <a:gd name="connsiteX1608" fmla="*/ 8925 w 1830590"/>
                    <a:gd name="connsiteY1608" fmla="*/ 964406 h 2366371"/>
                    <a:gd name="connsiteX1609" fmla="*/ 8925 w 1830590"/>
                    <a:gd name="connsiteY1609" fmla="*/ 866175 h 2366371"/>
                    <a:gd name="connsiteX1610" fmla="*/ 108452 w 1830590"/>
                    <a:gd name="connsiteY1610" fmla="*/ 973331 h 2366371"/>
                    <a:gd name="connsiteX1611" fmla="*/ 108452 w 1830590"/>
                    <a:gd name="connsiteY1611" fmla="*/ 1071562 h 2366371"/>
                    <a:gd name="connsiteX1612" fmla="*/ 8925 w 1830590"/>
                    <a:gd name="connsiteY1612" fmla="*/ 1071562 h 2366371"/>
                    <a:gd name="connsiteX1613" fmla="*/ 8925 w 1830590"/>
                    <a:gd name="connsiteY1613" fmla="*/ 973331 h 2366371"/>
                    <a:gd name="connsiteX1614" fmla="*/ 108452 w 1830590"/>
                    <a:gd name="connsiteY1614" fmla="*/ 973331 h 2366371"/>
                    <a:gd name="connsiteX1615" fmla="*/ 8925 w 1830590"/>
                    <a:gd name="connsiteY1615" fmla="*/ 1080487 h 2366371"/>
                    <a:gd name="connsiteX1616" fmla="*/ 108452 w 1830590"/>
                    <a:gd name="connsiteY1616" fmla="*/ 1080487 h 2366371"/>
                    <a:gd name="connsiteX1617" fmla="*/ 108452 w 1830590"/>
                    <a:gd name="connsiteY1617" fmla="*/ 1178719 h 2366371"/>
                    <a:gd name="connsiteX1618" fmla="*/ 8925 w 1830590"/>
                    <a:gd name="connsiteY1618" fmla="*/ 1178719 h 2366371"/>
                    <a:gd name="connsiteX1619" fmla="*/ 8925 w 1830590"/>
                    <a:gd name="connsiteY1619" fmla="*/ 1080487 h 2366371"/>
                    <a:gd name="connsiteX1620" fmla="*/ 108452 w 1830590"/>
                    <a:gd name="connsiteY1620" fmla="*/ 1187644 h 2366371"/>
                    <a:gd name="connsiteX1621" fmla="*/ 108452 w 1830590"/>
                    <a:gd name="connsiteY1621" fmla="*/ 1285875 h 2366371"/>
                    <a:gd name="connsiteX1622" fmla="*/ 8925 w 1830590"/>
                    <a:gd name="connsiteY1622" fmla="*/ 1285875 h 2366371"/>
                    <a:gd name="connsiteX1623" fmla="*/ 8925 w 1830590"/>
                    <a:gd name="connsiteY1623" fmla="*/ 1187644 h 2366371"/>
                    <a:gd name="connsiteX1624" fmla="*/ 108452 w 1830590"/>
                    <a:gd name="connsiteY1624" fmla="*/ 1187644 h 2366371"/>
                    <a:gd name="connsiteX1625" fmla="*/ 8925 w 1830590"/>
                    <a:gd name="connsiteY1625" fmla="*/ 1294800 h 2366371"/>
                    <a:gd name="connsiteX1626" fmla="*/ 108452 w 1830590"/>
                    <a:gd name="connsiteY1626" fmla="*/ 1294800 h 2366371"/>
                    <a:gd name="connsiteX1627" fmla="*/ 108452 w 1830590"/>
                    <a:gd name="connsiteY1627" fmla="*/ 1393031 h 2366371"/>
                    <a:gd name="connsiteX1628" fmla="*/ 8925 w 1830590"/>
                    <a:gd name="connsiteY1628" fmla="*/ 1393031 h 2366371"/>
                    <a:gd name="connsiteX1629" fmla="*/ 8925 w 1830590"/>
                    <a:gd name="connsiteY1629" fmla="*/ 1294800 h 2366371"/>
                    <a:gd name="connsiteX1630" fmla="*/ 108452 w 1830590"/>
                    <a:gd name="connsiteY1630" fmla="*/ 1401956 h 2366371"/>
                    <a:gd name="connsiteX1631" fmla="*/ 108452 w 1830590"/>
                    <a:gd name="connsiteY1631" fmla="*/ 1500187 h 2366371"/>
                    <a:gd name="connsiteX1632" fmla="*/ 8925 w 1830590"/>
                    <a:gd name="connsiteY1632" fmla="*/ 1500187 h 2366371"/>
                    <a:gd name="connsiteX1633" fmla="*/ 8925 w 1830590"/>
                    <a:gd name="connsiteY1633" fmla="*/ 1401956 h 2366371"/>
                    <a:gd name="connsiteX1634" fmla="*/ 108452 w 1830590"/>
                    <a:gd name="connsiteY1634" fmla="*/ 1401956 h 2366371"/>
                    <a:gd name="connsiteX1635" fmla="*/ 8925 w 1830590"/>
                    <a:gd name="connsiteY1635" fmla="*/ 1509112 h 2366371"/>
                    <a:gd name="connsiteX1636" fmla="*/ 108452 w 1830590"/>
                    <a:gd name="connsiteY1636" fmla="*/ 1509112 h 2366371"/>
                    <a:gd name="connsiteX1637" fmla="*/ 108452 w 1830590"/>
                    <a:gd name="connsiteY1637" fmla="*/ 1607344 h 2366371"/>
                    <a:gd name="connsiteX1638" fmla="*/ 8925 w 1830590"/>
                    <a:gd name="connsiteY1638" fmla="*/ 1607344 h 2366371"/>
                    <a:gd name="connsiteX1639" fmla="*/ 8925 w 1830590"/>
                    <a:gd name="connsiteY1639" fmla="*/ 1509112 h 2366371"/>
                    <a:gd name="connsiteX1640" fmla="*/ 108452 w 1830590"/>
                    <a:gd name="connsiteY1640" fmla="*/ 1616269 h 2366371"/>
                    <a:gd name="connsiteX1641" fmla="*/ 108452 w 1830590"/>
                    <a:gd name="connsiteY1641" fmla="*/ 1714500 h 2366371"/>
                    <a:gd name="connsiteX1642" fmla="*/ 8925 w 1830590"/>
                    <a:gd name="connsiteY1642" fmla="*/ 1714500 h 2366371"/>
                    <a:gd name="connsiteX1643" fmla="*/ 8925 w 1830590"/>
                    <a:gd name="connsiteY1643" fmla="*/ 1616269 h 2366371"/>
                    <a:gd name="connsiteX1644" fmla="*/ 108452 w 1830590"/>
                    <a:gd name="connsiteY1644" fmla="*/ 1616269 h 2366371"/>
                    <a:gd name="connsiteX1645" fmla="*/ 8925 w 1830590"/>
                    <a:gd name="connsiteY1645" fmla="*/ 1723425 h 2366371"/>
                    <a:gd name="connsiteX1646" fmla="*/ 108452 w 1830590"/>
                    <a:gd name="connsiteY1646" fmla="*/ 1723425 h 2366371"/>
                    <a:gd name="connsiteX1647" fmla="*/ 108452 w 1830590"/>
                    <a:gd name="connsiteY1647" fmla="*/ 1821656 h 2366371"/>
                    <a:gd name="connsiteX1648" fmla="*/ 8925 w 1830590"/>
                    <a:gd name="connsiteY1648" fmla="*/ 1821656 h 2366371"/>
                    <a:gd name="connsiteX1649" fmla="*/ 8925 w 1830590"/>
                    <a:gd name="connsiteY1649" fmla="*/ 1723425 h 2366371"/>
                    <a:gd name="connsiteX1650" fmla="*/ 108452 w 1830590"/>
                    <a:gd name="connsiteY1650" fmla="*/ 1830581 h 2366371"/>
                    <a:gd name="connsiteX1651" fmla="*/ 108452 w 1830590"/>
                    <a:gd name="connsiteY1651" fmla="*/ 1928812 h 2366371"/>
                    <a:gd name="connsiteX1652" fmla="*/ 8925 w 1830590"/>
                    <a:gd name="connsiteY1652" fmla="*/ 1928812 h 2366371"/>
                    <a:gd name="connsiteX1653" fmla="*/ 8925 w 1830590"/>
                    <a:gd name="connsiteY1653" fmla="*/ 1830581 h 2366371"/>
                    <a:gd name="connsiteX1654" fmla="*/ 108452 w 1830590"/>
                    <a:gd name="connsiteY1654" fmla="*/ 1830581 h 2366371"/>
                    <a:gd name="connsiteX1655" fmla="*/ 8925 w 1830590"/>
                    <a:gd name="connsiteY1655" fmla="*/ 1937737 h 2366371"/>
                    <a:gd name="connsiteX1656" fmla="*/ 108452 w 1830590"/>
                    <a:gd name="connsiteY1656" fmla="*/ 1937737 h 2366371"/>
                    <a:gd name="connsiteX1657" fmla="*/ 108452 w 1830590"/>
                    <a:gd name="connsiteY1657" fmla="*/ 2035969 h 2366371"/>
                    <a:gd name="connsiteX1658" fmla="*/ 8925 w 1830590"/>
                    <a:gd name="connsiteY1658" fmla="*/ 2035969 h 2366371"/>
                    <a:gd name="connsiteX1659" fmla="*/ 8925 w 1830590"/>
                    <a:gd name="connsiteY1659" fmla="*/ 1937737 h 2366371"/>
                    <a:gd name="connsiteX1660" fmla="*/ 108452 w 1830590"/>
                    <a:gd name="connsiteY1660" fmla="*/ 2044894 h 2366371"/>
                    <a:gd name="connsiteX1661" fmla="*/ 108452 w 1830590"/>
                    <a:gd name="connsiteY1661" fmla="*/ 2143125 h 2366371"/>
                    <a:gd name="connsiteX1662" fmla="*/ 8925 w 1830590"/>
                    <a:gd name="connsiteY1662" fmla="*/ 2143125 h 2366371"/>
                    <a:gd name="connsiteX1663" fmla="*/ 8925 w 1830590"/>
                    <a:gd name="connsiteY1663" fmla="*/ 2044894 h 2366371"/>
                    <a:gd name="connsiteX1664" fmla="*/ 108452 w 1830590"/>
                    <a:gd name="connsiteY1664" fmla="*/ 2044894 h 2366371"/>
                    <a:gd name="connsiteX1665" fmla="*/ 8925 w 1830590"/>
                    <a:gd name="connsiteY1665" fmla="*/ 2152050 h 2366371"/>
                    <a:gd name="connsiteX1666" fmla="*/ 108452 w 1830590"/>
                    <a:gd name="connsiteY1666" fmla="*/ 2152050 h 2366371"/>
                    <a:gd name="connsiteX1667" fmla="*/ 108452 w 1830590"/>
                    <a:gd name="connsiteY1667" fmla="*/ 2250281 h 2366371"/>
                    <a:gd name="connsiteX1668" fmla="*/ 8925 w 1830590"/>
                    <a:gd name="connsiteY1668" fmla="*/ 2250281 h 2366371"/>
                    <a:gd name="connsiteX1669" fmla="*/ 8925 w 1830590"/>
                    <a:gd name="connsiteY1669" fmla="*/ 2152050 h 2366371"/>
                    <a:gd name="connsiteX1670" fmla="*/ 117386 w 1830590"/>
                    <a:gd name="connsiteY1670" fmla="*/ 2152050 h 2366371"/>
                    <a:gd name="connsiteX1671" fmla="*/ 215618 w 1830590"/>
                    <a:gd name="connsiteY1671" fmla="*/ 2152050 h 2366371"/>
                    <a:gd name="connsiteX1672" fmla="*/ 215618 w 1830590"/>
                    <a:gd name="connsiteY1672" fmla="*/ 2250281 h 2366371"/>
                    <a:gd name="connsiteX1673" fmla="*/ 117386 w 1830590"/>
                    <a:gd name="connsiteY1673" fmla="*/ 2250281 h 2366371"/>
                    <a:gd name="connsiteX1674" fmla="*/ 117386 w 1830590"/>
                    <a:gd name="connsiteY1674" fmla="*/ 2152050 h 2366371"/>
                    <a:gd name="connsiteX1675" fmla="*/ 215608 w 1830590"/>
                    <a:gd name="connsiteY1675" fmla="*/ 2259206 h 2366371"/>
                    <a:gd name="connsiteX1676" fmla="*/ 215608 w 1830590"/>
                    <a:gd name="connsiteY1676" fmla="*/ 2357437 h 2366371"/>
                    <a:gd name="connsiteX1677" fmla="*/ 117377 w 1830590"/>
                    <a:gd name="connsiteY1677" fmla="*/ 2357437 h 2366371"/>
                    <a:gd name="connsiteX1678" fmla="*/ 117377 w 1830590"/>
                    <a:gd name="connsiteY1678" fmla="*/ 2259206 h 2366371"/>
                    <a:gd name="connsiteX1679" fmla="*/ 215608 w 1830590"/>
                    <a:gd name="connsiteY1679" fmla="*/ 2259206 h 2366371"/>
                    <a:gd name="connsiteX1680" fmla="*/ 224542 w 1830590"/>
                    <a:gd name="connsiteY1680" fmla="*/ 2259206 h 2366371"/>
                    <a:gd name="connsiteX1681" fmla="*/ 322774 w 1830590"/>
                    <a:gd name="connsiteY1681" fmla="*/ 2259206 h 2366371"/>
                    <a:gd name="connsiteX1682" fmla="*/ 322774 w 1830590"/>
                    <a:gd name="connsiteY1682" fmla="*/ 2357437 h 2366371"/>
                    <a:gd name="connsiteX1683" fmla="*/ 224542 w 1830590"/>
                    <a:gd name="connsiteY1683" fmla="*/ 2357437 h 2366371"/>
                    <a:gd name="connsiteX1684" fmla="*/ 224542 w 1830590"/>
                    <a:gd name="connsiteY1684" fmla="*/ 2259206 h 2366371"/>
                    <a:gd name="connsiteX1685" fmla="*/ 331699 w 1830590"/>
                    <a:gd name="connsiteY1685" fmla="*/ 2259206 h 2366371"/>
                    <a:gd name="connsiteX1686" fmla="*/ 429930 w 1830590"/>
                    <a:gd name="connsiteY1686" fmla="*/ 2259206 h 2366371"/>
                    <a:gd name="connsiteX1687" fmla="*/ 429930 w 1830590"/>
                    <a:gd name="connsiteY1687" fmla="*/ 2357437 h 2366371"/>
                    <a:gd name="connsiteX1688" fmla="*/ 331699 w 1830590"/>
                    <a:gd name="connsiteY1688" fmla="*/ 2357437 h 2366371"/>
                    <a:gd name="connsiteX1689" fmla="*/ 331699 w 1830590"/>
                    <a:gd name="connsiteY1689" fmla="*/ 2259206 h 2366371"/>
                    <a:gd name="connsiteX1690" fmla="*/ 438855 w 1830590"/>
                    <a:gd name="connsiteY1690" fmla="*/ 2259206 h 2366371"/>
                    <a:gd name="connsiteX1691" fmla="*/ 537086 w 1830590"/>
                    <a:gd name="connsiteY1691" fmla="*/ 2259206 h 2366371"/>
                    <a:gd name="connsiteX1692" fmla="*/ 537086 w 1830590"/>
                    <a:gd name="connsiteY1692" fmla="*/ 2357437 h 2366371"/>
                    <a:gd name="connsiteX1693" fmla="*/ 438855 w 1830590"/>
                    <a:gd name="connsiteY1693" fmla="*/ 2357437 h 2366371"/>
                    <a:gd name="connsiteX1694" fmla="*/ 438855 w 1830590"/>
                    <a:gd name="connsiteY1694" fmla="*/ 2259206 h 2366371"/>
                    <a:gd name="connsiteX1695" fmla="*/ 546011 w 1830590"/>
                    <a:gd name="connsiteY1695" fmla="*/ 2259206 h 2366371"/>
                    <a:gd name="connsiteX1696" fmla="*/ 644243 w 1830590"/>
                    <a:gd name="connsiteY1696" fmla="*/ 2259206 h 2366371"/>
                    <a:gd name="connsiteX1697" fmla="*/ 644243 w 1830590"/>
                    <a:gd name="connsiteY1697" fmla="*/ 2357437 h 2366371"/>
                    <a:gd name="connsiteX1698" fmla="*/ 546011 w 1830590"/>
                    <a:gd name="connsiteY1698" fmla="*/ 2357437 h 2366371"/>
                    <a:gd name="connsiteX1699" fmla="*/ 546011 w 1830590"/>
                    <a:gd name="connsiteY1699" fmla="*/ 2259206 h 2366371"/>
                    <a:gd name="connsiteX1700" fmla="*/ 653167 w 1830590"/>
                    <a:gd name="connsiteY1700" fmla="*/ 2259206 h 2366371"/>
                    <a:gd name="connsiteX1701" fmla="*/ 751399 w 1830590"/>
                    <a:gd name="connsiteY1701" fmla="*/ 2259206 h 2366371"/>
                    <a:gd name="connsiteX1702" fmla="*/ 751399 w 1830590"/>
                    <a:gd name="connsiteY1702" fmla="*/ 2357437 h 2366371"/>
                    <a:gd name="connsiteX1703" fmla="*/ 653167 w 1830590"/>
                    <a:gd name="connsiteY1703" fmla="*/ 2357437 h 2366371"/>
                    <a:gd name="connsiteX1704" fmla="*/ 653167 w 1830590"/>
                    <a:gd name="connsiteY1704" fmla="*/ 2259206 h 2366371"/>
                    <a:gd name="connsiteX1705" fmla="*/ 760324 w 1830590"/>
                    <a:gd name="connsiteY1705" fmla="*/ 2259206 h 2366371"/>
                    <a:gd name="connsiteX1706" fmla="*/ 858555 w 1830590"/>
                    <a:gd name="connsiteY1706" fmla="*/ 2259206 h 2366371"/>
                    <a:gd name="connsiteX1707" fmla="*/ 858555 w 1830590"/>
                    <a:gd name="connsiteY1707" fmla="*/ 2357437 h 2366371"/>
                    <a:gd name="connsiteX1708" fmla="*/ 760324 w 1830590"/>
                    <a:gd name="connsiteY1708" fmla="*/ 2357437 h 2366371"/>
                    <a:gd name="connsiteX1709" fmla="*/ 760324 w 1830590"/>
                    <a:gd name="connsiteY1709" fmla="*/ 2259206 h 2366371"/>
                    <a:gd name="connsiteX1710" fmla="*/ 867480 w 1830590"/>
                    <a:gd name="connsiteY1710" fmla="*/ 2259206 h 2366371"/>
                    <a:gd name="connsiteX1711" fmla="*/ 965711 w 1830590"/>
                    <a:gd name="connsiteY1711" fmla="*/ 2259206 h 2366371"/>
                    <a:gd name="connsiteX1712" fmla="*/ 965711 w 1830590"/>
                    <a:gd name="connsiteY1712" fmla="*/ 2357437 h 2366371"/>
                    <a:gd name="connsiteX1713" fmla="*/ 867480 w 1830590"/>
                    <a:gd name="connsiteY1713" fmla="*/ 2357437 h 2366371"/>
                    <a:gd name="connsiteX1714" fmla="*/ 867480 w 1830590"/>
                    <a:gd name="connsiteY1714" fmla="*/ 2259206 h 2366371"/>
                    <a:gd name="connsiteX1715" fmla="*/ 974636 w 1830590"/>
                    <a:gd name="connsiteY1715" fmla="*/ 2259206 h 2366371"/>
                    <a:gd name="connsiteX1716" fmla="*/ 1072867 w 1830590"/>
                    <a:gd name="connsiteY1716" fmla="*/ 2259206 h 2366371"/>
                    <a:gd name="connsiteX1717" fmla="*/ 1072867 w 1830590"/>
                    <a:gd name="connsiteY1717" fmla="*/ 2357437 h 2366371"/>
                    <a:gd name="connsiteX1718" fmla="*/ 974636 w 1830590"/>
                    <a:gd name="connsiteY1718" fmla="*/ 2357437 h 2366371"/>
                    <a:gd name="connsiteX1719" fmla="*/ 974636 w 1830590"/>
                    <a:gd name="connsiteY1719" fmla="*/ 2259206 h 2366371"/>
                    <a:gd name="connsiteX1720" fmla="*/ 1081792 w 1830590"/>
                    <a:gd name="connsiteY1720" fmla="*/ 2259206 h 2366371"/>
                    <a:gd name="connsiteX1721" fmla="*/ 1180024 w 1830590"/>
                    <a:gd name="connsiteY1721" fmla="*/ 2259206 h 2366371"/>
                    <a:gd name="connsiteX1722" fmla="*/ 1180024 w 1830590"/>
                    <a:gd name="connsiteY1722" fmla="*/ 2357437 h 2366371"/>
                    <a:gd name="connsiteX1723" fmla="*/ 1081792 w 1830590"/>
                    <a:gd name="connsiteY1723" fmla="*/ 2357437 h 2366371"/>
                    <a:gd name="connsiteX1724" fmla="*/ 1081792 w 1830590"/>
                    <a:gd name="connsiteY1724" fmla="*/ 2259206 h 2366371"/>
                    <a:gd name="connsiteX1725" fmla="*/ 1188949 w 1830590"/>
                    <a:gd name="connsiteY1725" fmla="*/ 2259206 h 2366371"/>
                    <a:gd name="connsiteX1726" fmla="*/ 1287180 w 1830590"/>
                    <a:gd name="connsiteY1726" fmla="*/ 2259206 h 2366371"/>
                    <a:gd name="connsiteX1727" fmla="*/ 1287180 w 1830590"/>
                    <a:gd name="connsiteY1727" fmla="*/ 2357437 h 2366371"/>
                    <a:gd name="connsiteX1728" fmla="*/ 1188949 w 1830590"/>
                    <a:gd name="connsiteY1728" fmla="*/ 2357437 h 2366371"/>
                    <a:gd name="connsiteX1729" fmla="*/ 1188949 w 1830590"/>
                    <a:gd name="connsiteY1729" fmla="*/ 2259206 h 2366371"/>
                    <a:gd name="connsiteX1730" fmla="*/ 1296105 w 1830590"/>
                    <a:gd name="connsiteY1730" fmla="*/ 2259206 h 2366371"/>
                    <a:gd name="connsiteX1731" fmla="*/ 1394336 w 1830590"/>
                    <a:gd name="connsiteY1731" fmla="*/ 2259206 h 2366371"/>
                    <a:gd name="connsiteX1732" fmla="*/ 1394336 w 1830590"/>
                    <a:gd name="connsiteY1732" fmla="*/ 2357437 h 2366371"/>
                    <a:gd name="connsiteX1733" fmla="*/ 1296105 w 1830590"/>
                    <a:gd name="connsiteY1733" fmla="*/ 2357437 h 2366371"/>
                    <a:gd name="connsiteX1734" fmla="*/ 1296105 w 1830590"/>
                    <a:gd name="connsiteY1734" fmla="*/ 2259206 h 2366371"/>
                    <a:gd name="connsiteX1735" fmla="*/ 1403261 w 1830590"/>
                    <a:gd name="connsiteY1735" fmla="*/ 2259206 h 2366371"/>
                    <a:gd name="connsiteX1736" fmla="*/ 1501492 w 1830590"/>
                    <a:gd name="connsiteY1736" fmla="*/ 2259206 h 2366371"/>
                    <a:gd name="connsiteX1737" fmla="*/ 1501492 w 1830590"/>
                    <a:gd name="connsiteY1737" fmla="*/ 2357437 h 2366371"/>
                    <a:gd name="connsiteX1738" fmla="*/ 1403261 w 1830590"/>
                    <a:gd name="connsiteY1738" fmla="*/ 2357437 h 2366371"/>
                    <a:gd name="connsiteX1739" fmla="*/ 1403261 w 1830590"/>
                    <a:gd name="connsiteY1739" fmla="*/ 2259206 h 2366371"/>
                    <a:gd name="connsiteX1740" fmla="*/ 1510417 w 1830590"/>
                    <a:gd name="connsiteY1740" fmla="*/ 2259206 h 2366371"/>
                    <a:gd name="connsiteX1741" fmla="*/ 1608649 w 1830590"/>
                    <a:gd name="connsiteY1741" fmla="*/ 2259206 h 2366371"/>
                    <a:gd name="connsiteX1742" fmla="*/ 1608649 w 1830590"/>
                    <a:gd name="connsiteY1742" fmla="*/ 2357437 h 2366371"/>
                    <a:gd name="connsiteX1743" fmla="*/ 1510417 w 1830590"/>
                    <a:gd name="connsiteY1743" fmla="*/ 2357437 h 2366371"/>
                    <a:gd name="connsiteX1744" fmla="*/ 1510417 w 1830590"/>
                    <a:gd name="connsiteY1744" fmla="*/ 2259206 h 2366371"/>
                    <a:gd name="connsiteX1745" fmla="*/ 1617574 w 1830590"/>
                    <a:gd name="connsiteY1745" fmla="*/ 2259206 h 2366371"/>
                    <a:gd name="connsiteX1746" fmla="*/ 1715805 w 1830590"/>
                    <a:gd name="connsiteY1746" fmla="*/ 2259206 h 2366371"/>
                    <a:gd name="connsiteX1747" fmla="*/ 1715805 w 1830590"/>
                    <a:gd name="connsiteY1747" fmla="*/ 2357437 h 2366371"/>
                    <a:gd name="connsiteX1748" fmla="*/ 1617574 w 1830590"/>
                    <a:gd name="connsiteY1748" fmla="*/ 2357437 h 2366371"/>
                    <a:gd name="connsiteX1749" fmla="*/ 1617574 w 1830590"/>
                    <a:gd name="connsiteY1749" fmla="*/ 2259206 h 2366371"/>
                    <a:gd name="connsiteX1750" fmla="*/ 1617574 w 1830590"/>
                    <a:gd name="connsiteY1750" fmla="*/ 2250281 h 2366371"/>
                    <a:gd name="connsiteX1751" fmla="*/ 1617574 w 1830590"/>
                    <a:gd name="connsiteY1751" fmla="*/ 2152050 h 2366371"/>
                    <a:gd name="connsiteX1752" fmla="*/ 1715805 w 1830590"/>
                    <a:gd name="connsiteY1752" fmla="*/ 2152050 h 2366371"/>
                    <a:gd name="connsiteX1753" fmla="*/ 1715805 w 1830590"/>
                    <a:gd name="connsiteY1753" fmla="*/ 2250281 h 2366371"/>
                    <a:gd name="connsiteX1754" fmla="*/ 1617574 w 1830590"/>
                    <a:gd name="connsiteY1754" fmla="*/ 2250281 h 2366371"/>
                    <a:gd name="connsiteX1755" fmla="*/ 1724730 w 1830590"/>
                    <a:gd name="connsiteY1755" fmla="*/ 2152050 h 2366371"/>
                    <a:gd name="connsiteX1756" fmla="*/ 1821656 w 1830590"/>
                    <a:gd name="connsiteY1756" fmla="*/ 2152050 h 2366371"/>
                    <a:gd name="connsiteX1757" fmla="*/ 1821656 w 1830590"/>
                    <a:gd name="connsiteY1757" fmla="*/ 2250281 h 2366371"/>
                    <a:gd name="connsiteX1758" fmla="*/ 1724730 w 1830590"/>
                    <a:gd name="connsiteY1758" fmla="*/ 2250281 h 2366371"/>
                    <a:gd name="connsiteX1759" fmla="*/ 1724730 w 1830590"/>
                    <a:gd name="connsiteY1759" fmla="*/ 2152050 h 2366371"/>
                    <a:gd name="connsiteX1760" fmla="*/ 1724730 w 1830590"/>
                    <a:gd name="connsiteY1760" fmla="*/ 2143125 h 2366371"/>
                    <a:gd name="connsiteX1761" fmla="*/ 1724730 w 1830590"/>
                    <a:gd name="connsiteY1761" fmla="*/ 2044894 h 2366371"/>
                    <a:gd name="connsiteX1762" fmla="*/ 1821656 w 1830590"/>
                    <a:gd name="connsiteY1762" fmla="*/ 2044894 h 2366371"/>
                    <a:gd name="connsiteX1763" fmla="*/ 1821656 w 1830590"/>
                    <a:gd name="connsiteY1763" fmla="*/ 2143125 h 2366371"/>
                    <a:gd name="connsiteX1764" fmla="*/ 1724730 w 1830590"/>
                    <a:gd name="connsiteY1764" fmla="*/ 2143125 h 2366371"/>
                    <a:gd name="connsiteX1765" fmla="*/ 1821656 w 1830590"/>
                    <a:gd name="connsiteY1765" fmla="*/ 2035969 h 2366371"/>
                    <a:gd name="connsiteX1766" fmla="*/ 1724730 w 1830590"/>
                    <a:gd name="connsiteY1766" fmla="*/ 2035969 h 2366371"/>
                    <a:gd name="connsiteX1767" fmla="*/ 1724730 w 1830590"/>
                    <a:gd name="connsiteY1767" fmla="*/ 1937737 h 2366371"/>
                    <a:gd name="connsiteX1768" fmla="*/ 1821656 w 1830590"/>
                    <a:gd name="connsiteY1768" fmla="*/ 1937737 h 2366371"/>
                    <a:gd name="connsiteX1769" fmla="*/ 1821656 w 1830590"/>
                    <a:gd name="connsiteY1769" fmla="*/ 2035969 h 2366371"/>
                    <a:gd name="connsiteX1770" fmla="*/ 1724730 w 1830590"/>
                    <a:gd name="connsiteY1770" fmla="*/ 1928812 h 2366371"/>
                    <a:gd name="connsiteX1771" fmla="*/ 1724730 w 1830590"/>
                    <a:gd name="connsiteY1771" fmla="*/ 1830581 h 2366371"/>
                    <a:gd name="connsiteX1772" fmla="*/ 1821656 w 1830590"/>
                    <a:gd name="connsiteY1772" fmla="*/ 1830581 h 2366371"/>
                    <a:gd name="connsiteX1773" fmla="*/ 1821656 w 1830590"/>
                    <a:gd name="connsiteY1773" fmla="*/ 1928812 h 2366371"/>
                    <a:gd name="connsiteX1774" fmla="*/ 1724730 w 1830590"/>
                    <a:gd name="connsiteY1774" fmla="*/ 1928812 h 2366371"/>
                    <a:gd name="connsiteX1775" fmla="*/ 1821656 w 1830590"/>
                    <a:gd name="connsiteY1775" fmla="*/ 1821656 h 2366371"/>
                    <a:gd name="connsiteX1776" fmla="*/ 1724730 w 1830590"/>
                    <a:gd name="connsiteY1776" fmla="*/ 1821656 h 2366371"/>
                    <a:gd name="connsiteX1777" fmla="*/ 1724730 w 1830590"/>
                    <a:gd name="connsiteY1777" fmla="*/ 1723425 h 2366371"/>
                    <a:gd name="connsiteX1778" fmla="*/ 1821656 w 1830590"/>
                    <a:gd name="connsiteY1778" fmla="*/ 1723425 h 2366371"/>
                    <a:gd name="connsiteX1779" fmla="*/ 1821656 w 1830590"/>
                    <a:gd name="connsiteY1779" fmla="*/ 1821656 h 2366371"/>
                    <a:gd name="connsiteX1780" fmla="*/ 1724730 w 1830590"/>
                    <a:gd name="connsiteY1780" fmla="*/ 1714500 h 2366371"/>
                    <a:gd name="connsiteX1781" fmla="*/ 1724730 w 1830590"/>
                    <a:gd name="connsiteY1781" fmla="*/ 1616269 h 2366371"/>
                    <a:gd name="connsiteX1782" fmla="*/ 1821656 w 1830590"/>
                    <a:gd name="connsiteY1782" fmla="*/ 1616269 h 2366371"/>
                    <a:gd name="connsiteX1783" fmla="*/ 1821656 w 1830590"/>
                    <a:gd name="connsiteY1783" fmla="*/ 1714500 h 2366371"/>
                    <a:gd name="connsiteX1784" fmla="*/ 1724730 w 1830590"/>
                    <a:gd name="connsiteY1784" fmla="*/ 1714500 h 2366371"/>
                    <a:gd name="connsiteX1785" fmla="*/ 1821656 w 1830590"/>
                    <a:gd name="connsiteY1785" fmla="*/ 1607344 h 2366371"/>
                    <a:gd name="connsiteX1786" fmla="*/ 1724730 w 1830590"/>
                    <a:gd name="connsiteY1786" fmla="*/ 1607344 h 2366371"/>
                    <a:gd name="connsiteX1787" fmla="*/ 1724730 w 1830590"/>
                    <a:gd name="connsiteY1787" fmla="*/ 1509112 h 2366371"/>
                    <a:gd name="connsiteX1788" fmla="*/ 1821656 w 1830590"/>
                    <a:gd name="connsiteY1788" fmla="*/ 1509112 h 2366371"/>
                    <a:gd name="connsiteX1789" fmla="*/ 1821656 w 1830590"/>
                    <a:gd name="connsiteY1789" fmla="*/ 1607344 h 2366371"/>
                    <a:gd name="connsiteX1790" fmla="*/ 1724730 w 1830590"/>
                    <a:gd name="connsiteY1790" fmla="*/ 1500187 h 2366371"/>
                    <a:gd name="connsiteX1791" fmla="*/ 1724730 w 1830590"/>
                    <a:gd name="connsiteY1791" fmla="*/ 1401956 h 2366371"/>
                    <a:gd name="connsiteX1792" fmla="*/ 1821656 w 1830590"/>
                    <a:gd name="connsiteY1792" fmla="*/ 1401956 h 2366371"/>
                    <a:gd name="connsiteX1793" fmla="*/ 1821656 w 1830590"/>
                    <a:gd name="connsiteY1793" fmla="*/ 1500187 h 2366371"/>
                    <a:gd name="connsiteX1794" fmla="*/ 1724730 w 1830590"/>
                    <a:gd name="connsiteY1794" fmla="*/ 1500187 h 2366371"/>
                    <a:gd name="connsiteX1795" fmla="*/ 1821656 w 1830590"/>
                    <a:gd name="connsiteY1795" fmla="*/ 1393031 h 2366371"/>
                    <a:gd name="connsiteX1796" fmla="*/ 1724730 w 1830590"/>
                    <a:gd name="connsiteY1796" fmla="*/ 1393031 h 2366371"/>
                    <a:gd name="connsiteX1797" fmla="*/ 1724730 w 1830590"/>
                    <a:gd name="connsiteY1797" fmla="*/ 1294800 h 2366371"/>
                    <a:gd name="connsiteX1798" fmla="*/ 1821656 w 1830590"/>
                    <a:gd name="connsiteY1798" fmla="*/ 1294800 h 2366371"/>
                    <a:gd name="connsiteX1799" fmla="*/ 1821656 w 1830590"/>
                    <a:gd name="connsiteY1799" fmla="*/ 1393031 h 2366371"/>
                    <a:gd name="connsiteX1800" fmla="*/ 1724730 w 1830590"/>
                    <a:gd name="connsiteY1800" fmla="*/ 1285875 h 2366371"/>
                    <a:gd name="connsiteX1801" fmla="*/ 1724730 w 1830590"/>
                    <a:gd name="connsiteY1801" fmla="*/ 1187644 h 2366371"/>
                    <a:gd name="connsiteX1802" fmla="*/ 1821656 w 1830590"/>
                    <a:gd name="connsiteY1802" fmla="*/ 1187644 h 2366371"/>
                    <a:gd name="connsiteX1803" fmla="*/ 1821656 w 1830590"/>
                    <a:gd name="connsiteY1803" fmla="*/ 1285875 h 2366371"/>
                    <a:gd name="connsiteX1804" fmla="*/ 1724730 w 1830590"/>
                    <a:gd name="connsiteY1804" fmla="*/ 1285875 h 2366371"/>
                    <a:gd name="connsiteX1805" fmla="*/ 1821656 w 1830590"/>
                    <a:gd name="connsiteY1805" fmla="*/ 1178719 h 2366371"/>
                    <a:gd name="connsiteX1806" fmla="*/ 1724730 w 1830590"/>
                    <a:gd name="connsiteY1806" fmla="*/ 1178719 h 2366371"/>
                    <a:gd name="connsiteX1807" fmla="*/ 1724730 w 1830590"/>
                    <a:gd name="connsiteY1807" fmla="*/ 1080487 h 2366371"/>
                    <a:gd name="connsiteX1808" fmla="*/ 1821656 w 1830590"/>
                    <a:gd name="connsiteY1808" fmla="*/ 1080487 h 2366371"/>
                    <a:gd name="connsiteX1809" fmla="*/ 1821656 w 1830590"/>
                    <a:gd name="connsiteY1809" fmla="*/ 1178719 h 2366371"/>
                    <a:gd name="connsiteX1810" fmla="*/ 1724730 w 1830590"/>
                    <a:gd name="connsiteY1810" fmla="*/ 1071562 h 2366371"/>
                    <a:gd name="connsiteX1811" fmla="*/ 1724730 w 1830590"/>
                    <a:gd name="connsiteY1811" fmla="*/ 973331 h 2366371"/>
                    <a:gd name="connsiteX1812" fmla="*/ 1821656 w 1830590"/>
                    <a:gd name="connsiteY1812" fmla="*/ 973331 h 2366371"/>
                    <a:gd name="connsiteX1813" fmla="*/ 1821656 w 1830590"/>
                    <a:gd name="connsiteY1813" fmla="*/ 1071562 h 2366371"/>
                    <a:gd name="connsiteX1814" fmla="*/ 1724730 w 1830590"/>
                    <a:gd name="connsiteY1814" fmla="*/ 1071562 h 2366371"/>
                    <a:gd name="connsiteX1815" fmla="*/ 1821656 w 1830590"/>
                    <a:gd name="connsiteY1815" fmla="*/ 964406 h 2366371"/>
                    <a:gd name="connsiteX1816" fmla="*/ 1724730 w 1830590"/>
                    <a:gd name="connsiteY1816" fmla="*/ 964406 h 2366371"/>
                    <a:gd name="connsiteX1817" fmla="*/ 1724730 w 1830590"/>
                    <a:gd name="connsiteY1817" fmla="*/ 866175 h 2366371"/>
                    <a:gd name="connsiteX1818" fmla="*/ 1821656 w 1830590"/>
                    <a:gd name="connsiteY1818" fmla="*/ 866175 h 2366371"/>
                    <a:gd name="connsiteX1819" fmla="*/ 1821656 w 1830590"/>
                    <a:gd name="connsiteY1819" fmla="*/ 964406 h 2366371"/>
                    <a:gd name="connsiteX1820" fmla="*/ 1724730 w 1830590"/>
                    <a:gd name="connsiteY1820" fmla="*/ 857250 h 2366371"/>
                    <a:gd name="connsiteX1821" fmla="*/ 1724730 w 1830590"/>
                    <a:gd name="connsiteY1821" fmla="*/ 759019 h 2366371"/>
                    <a:gd name="connsiteX1822" fmla="*/ 1821656 w 1830590"/>
                    <a:gd name="connsiteY1822" fmla="*/ 759019 h 2366371"/>
                    <a:gd name="connsiteX1823" fmla="*/ 1821656 w 1830590"/>
                    <a:gd name="connsiteY1823" fmla="*/ 857250 h 2366371"/>
                    <a:gd name="connsiteX1824" fmla="*/ 1724730 w 1830590"/>
                    <a:gd name="connsiteY1824" fmla="*/ 857250 h 2366371"/>
                    <a:gd name="connsiteX1825" fmla="*/ 1821656 w 1830590"/>
                    <a:gd name="connsiteY1825" fmla="*/ 750094 h 2366371"/>
                    <a:gd name="connsiteX1826" fmla="*/ 1724730 w 1830590"/>
                    <a:gd name="connsiteY1826" fmla="*/ 750094 h 2366371"/>
                    <a:gd name="connsiteX1827" fmla="*/ 1724730 w 1830590"/>
                    <a:gd name="connsiteY1827" fmla="*/ 651862 h 2366371"/>
                    <a:gd name="connsiteX1828" fmla="*/ 1821656 w 1830590"/>
                    <a:gd name="connsiteY1828" fmla="*/ 651862 h 2366371"/>
                    <a:gd name="connsiteX1829" fmla="*/ 1821656 w 1830590"/>
                    <a:gd name="connsiteY1829" fmla="*/ 750094 h 2366371"/>
                    <a:gd name="connsiteX1830" fmla="*/ 1724730 w 1830590"/>
                    <a:gd name="connsiteY1830" fmla="*/ 642938 h 2366371"/>
                    <a:gd name="connsiteX1831" fmla="*/ 1724730 w 1830590"/>
                    <a:gd name="connsiteY1831" fmla="*/ 544706 h 2366371"/>
                    <a:gd name="connsiteX1832" fmla="*/ 1821656 w 1830590"/>
                    <a:gd name="connsiteY1832" fmla="*/ 544706 h 2366371"/>
                    <a:gd name="connsiteX1833" fmla="*/ 1821656 w 1830590"/>
                    <a:gd name="connsiteY1833" fmla="*/ 642938 h 2366371"/>
                    <a:gd name="connsiteX1834" fmla="*/ 1724730 w 1830590"/>
                    <a:gd name="connsiteY1834" fmla="*/ 642938 h 2366371"/>
                    <a:gd name="connsiteX1835" fmla="*/ 1821656 w 1830590"/>
                    <a:gd name="connsiteY1835" fmla="*/ 535781 h 2366371"/>
                    <a:gd name="connsiteX1836" fmla="*/ 1724730 w 1830590"/>
                    <a:gd name="connsiteY1836" fmla="*/ 535781 h 2366371"/>
                    <a:gd name="connsiteX1837" fmla="*/ 1724730 w 1830590"/>
                    <a:gd name="connsiteY1837" fmla="*/ 437550 h 2366371"/>
                    <a:gd name="connsiteX1838" fmla="*/ 1821656 w 1830590"/>
                    <a:gd name="connsiteY1838" fmla="*/ 437550 h 2366371"/>
                    <a:gd name="connsiteX1839" fmla="*/ 1821656 w 1830590"/>
                    <a:gd name="connsiteY1839" fmla="*/ 535781 h 2366371"/>
                    <a:gd name="connsiteX1840" fmla="*/ 1724730 w 1830590"/>
                    <a:gd name="connsiteY1840" fmla="*/ 428625 h 2366371"/>
                    <a:gd name="connsiteX1841" fmla="*/ 1724730 w 1830590"/>
                    <a:gd name="connsiteY1841" fmla="*/ 330394 h 2366371"/>
                    <a:gd name="connsiteX1842" fmla="*/ 1821656 w 1830590"/>
                    <a:gd name="connsiteY1842" fmla="*/ 330394 h 2366371"/>
                    <a:gd name="connsiteX1843" fmla="*/ 1821656 w 1830590"/>
                    <a:gd name="connsiteY1843" fmla="*/ 428625 h 2366371"/>
                    <a:gd name="connsiteX1844" fmla="*/ 1724730 w 1830590"/>
                    <a:gd name="connsiteY1844" fmla="*/ 428625 h 2366371"/>
                    <a:gd name="connsiteX1845" fmla="*/ 1821656 w 1830590"/>
                    <a:gd name="connsiteY1845" fmla="*/ 321469 h 2366371"/>
                    <a:gd name="connsiteX1846" fmla="*/ 1724730 w 1830590"/>
                    <a:gd name="connsiteY1846" fmla="*/ 321469 h 2366371"/>
                    <a:gd name="connsiteX1847" fmla="*/ 1724730 w 1830590"/>
                    <a:gd name="connsiteY1847" fmla="*/ 223237 h 2366371"/>
                    <a:gd name="connsiteX1848" fmla="*/ 1821656 w 1830590"/>
                    <a:gd name="connsiteY1848" fmla="*/ 223237 h 2366371"/>
                    <a:gd name="connsiteX1849" fmla="*/ 1821656 w 1830590"/>
                    <a:gd name="connsiteY1849" fmla="*/ 321469 h 2366371"/>
                    <a:gd name="connsiteX1850" fmla="*/ 1724730 w 1830590"/>
                    <a:gd name="connsiteY1850" fmla="*/ 214313 h 2366371"/>
                    <a:gd name="connsiteX1851" fmla="*/ 1724730 w 1830590"/>
                    <a:gd name="connsiteY1851" fmla="*/ 116081 h 2366371"/>
                    <a:gd name="connsiteX1852" fmla="*/ 1821656 w 1830590"/>
                    <a:gd name="connsiteY1852" fmla="*/ 116081 h 2366371"/>
                    <a:gd name="connsiteX1853" fmla="*/ 1821656 w 1830590"/>
                    <a:gd name="connsiteY1853" fmla="*/ 214313 h 2366371"/>
                    <a:gd name="connsiteX1854" fmla="*/ 1724730 w 1830590"/>
                    <a:gd name="connsiteY1854" fmla="*/ 214313 h 2366371"/>
                    <a:gd name="connsiteX1855" fmla="*/ 1821656 w 1830590"/>
                    <a:gd name="connsiteY1855" fmla="*/ 107156 h 2366371"/>
                    <a:gd name="connsiteX1856" fmla="*/ 1724730 w 1830590"/>
                    <a:gd name="connsiteY1856" fmla="*/ 107156 h 2366371"/>
                    <a:gd name="connsiteX1857" fmla="*/ 1724730 w 1830590"/>
                    <a:gd name="connsiteY1857" fmla="*/ 8925 h 2366371"/>
                    <a:gd name="connsiteX1858" fmla="*/ 1821656 w 1830590"/>
                    <a:gd name="connsiteY1858" fmla="*/ 8925 h 2366371"/>
                    <a:gd name="connsiteX1859" fmla="*/ 1821656 w 1830590"/>
                    <a:gd name="connsiteY1859" fmla="*/ 107156 h 2366371"/>
                    <a:gd name="connsiteX1860" fmla="*/ 108452 w 1830590"/>
                    <a:gd name="connsiteY1860" fmla="*/ 8925 h 2366371"/>
                    <a:gd name="connsiteX1861" fmla="*/ 108452 w 1830590"/>
                    <a:gd name="connsiteY1861" fmla="*/ 107156 h 2366371"/>
                    <a:gd name="connsiteX1862" fmla="*/ 8925 w 1830590"/>
                    <a:gd name="connsiteY1862" fmla="*/ 107156 h 2366371"/>
                    <a:gd name="connsiteX1863" fmla="*/ 8925 w 1830590"/>
                    <a:gd name="connsiteY1863" fmla="*/ 8925 h 2366371"/>
                    <a:gd name="connsiteX1864" fmla="*/ 108452 w 1830590"/>
                    <a:gd name="connsiteY1864" fmla="*/ 8925 h 2366371"/>
                    <a:gd name="connsiteX1865" fmla="*/ 8925 w 1830590"/>
                    <a:gd name="connsiteY1865" fmla="*/ 2259206 h 2366371"/>
                    <a:gd name="connsiteX1866" fmla="*/ 108452 w 1830590"/>
                    <a:gd name="connsiteY1866" fmla="*/ 2259206 h 2366371"/>
                    <a:gd name="connsiteX1867" fmla="*/ 108452 w 1830590"/>
                    <a:gd name="connsiteY1867" fmla="*/ 2357437 h 2366371"/>
                    <a:gd name="connsiteX1868" fmla="*/ 8925 w 1830590"/>
                    <a:gd name="connsiteY1868" fmla="*/ 2357437 h 2366371"/>
                    <a:gd name="connsiteX1869" fmla="*/ 8925 w 1830590"/>
                    <a:gd name="connsiteY1869" fmla="*/ 2259206 h 2366371"/>
                    <a:gd name="connsiteX1870" fmla="*/ 1724730 w 1830590"/>
                    <a:gd name="connsiteY1870" fmla="*/ 2357437 h 2366371"/>
                    <a:gd name="connsiteX1871" fmla="*/ 1724730 w 1830590"/>
                    <a:gd name="connsiteY1871" fmla="*/ 2259206 h 2366371"/>
                    <a:gd name="connsiteX1872" fmla="*/ 1821656 w 1830590"/>
                    <a:gd name="connsiteY1872" fmla="*/ 2259206 h 2366371"/>
                    <a:gd name="connsiteX1873" fmla="*/ 1821656 w 1830590"/>
                    <a:gd name="connsiteY1873" fmla="*/ 2357437 h 2366371"/>
                    <a:gd name="connsiteX1874" fmla="*/ 1724730 w 1830590"/>
                    <a:gd name="connsiteY1874" fmla="*/ 2357437 h 2366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Lst>
                  <a:rect l="l" t="t" r="r" b="b"/>
                  <a:pathLst>
                    <a:path w="1830590" h="2366371">
                      <a:moveTo>
                        <a:pt x="0" y="0"/>
                      </a:moveTo>
                      <a:lnTo>
                        <a:pt x="0" y="2366372"/>
                      </a:lnTo>
                      <a:lnTo>
                        <a:pt x="1830591" y="2366372"/>
                      </a:lnTo>
                      <a:lnTo>
                        <a:pt x="1830591" y="0"/>
                      </a:lnTo>
                      <a:lnTo>
                        <a:pt x="0" y="0"/>
                      </a:lnTo>
                      <a:close/>
                      <a:moveTo>
                        <a:pt x="867480" y="1500187"/>
                      </a:moveTo>
                      <a:lnTo>
                        <a:pt x="867480" y="1401956"/>
                      </a:lnTo>
                      <a:lnTo>
                        <a:pt x="965711" y="1401956"/>
                      </a:lnTo>
                      <a:lnTo>
                        <a:pt x="965711" y="1500187"/>
                      </a:lnTo>
                      <a:lnTo>
                        <a:pt x="867480" y="1500187"/>
                      </a:lnTo>
                      <a:close/>
                      <a:moveTo>
                        <a:pt x="965702" y="1509112"/>
                      </a:moveTo>
                      <a:lnTo>
                        <a:pt x="965702" y="1607344"/>
                      </a:lnTo>
                      <a:lnTo>
                        <a:pt x="867470" y="1607344"/>
                      </a:lnTo>
                      <a:lnTo>
                        <a:pt x="867470" y="1509112"/>
                      </a:lnTo>
                      <a:lnTo>
                        <a:pt x="965702" y="1509112"/>
                      </a:lnTo>
                      <a:close/>
                      <a:moveTo>
                        <a:pt x="965702" y="866175"/>
                      </a:moveTo>
                      <a:lnTo>
                        <a:pt x="965702" y="964406"/>
                      </a:lnTo>
                      <a:lnTo>
                        <a:pt x="867470" y="964406"/>
                      </a:lnTo>
                      <a:lnTo>
                        <a:pt x="867470" y="866175"/>
                      </a:lnTo>
                      <a:lnTo>
                        <a:pt x="965702" y="866175"/>
                      </a:lnTo>
                      <a:close/>
                      <a:moveTo>
                        <a:pt x="867480" y="857250"/>
                      </a:moveTo>
                      <a:lnTo>
                        <a:pt x="867480" y="759019"/>
                      </a:lnTo>
                      <a:lnTo>
                        <a:pt x="965711" y="759019"/>
                      </a:lnTo>
                      <a:lnTo>
                        <a:pt x="965711" y="857250"/>
                      </a:lnTo>
                      <a:lnTo>
                        <a:pt x="867480" y="857250"/>
                      </a:lnTo>
                      <a:close/>
                      <a:moveTo>
                        <a:pt x="867480" y="1285875"/>
                      </a:moveTo>
                      <a:lnTo>
                        <a:pt x="867480" y="1187644"/>
                      </a:lnTo>
                      <a:lnTo>
                        <a:pt x="965711" y="1187644"/>
                      </a:lnTo>
                      <a:lnTo>
                        <a:pt x="965711" y="1285875"/>
                      </a:lnTo>
                      <a:lnTo>
                        <a:pt x="867480" y="1285875"/>
                      </a:lnTo>
                      <a:close/>
                      <a:moveTo>
                        <a:pt x="965702" y="1294800"/>
                      </a:moveTo>
                      <a:lnTo>
                        <a:pt x="965702" y="1393031"/>
                      </a:lnTo>
                      <a:lnTo>
                        <a:pt x="867470" y="1393031"/>
                      </a:lnTo>
                      <a:lnTo>
                        <a:pt x="867470" y="1294800"/>
                      </a:lnTo>
                      <a:lnTo>
                        <a:pt x="965702" y="1294800"/>
                      </a:lnTo>
                      <a:close/>
                      <a:moveTo>
                        <a:pt x="867480" y="1178719"/>
                      </a:moveTo>
                      <a:lnTo>
                        <a:pt x="867480" y="1080487"/>
                      </a:lnTo>
                      <a:lnTo>
                        <a:pt x="965711" y="1080487"/>
                      </a:lnTo>
                      <a:lnTo>
                        <a:pt x="965711" y="1178719"/>
                      </a:lnTo>
                      <a:lnTo>
                        <a:pt x="867480" y="1178719"/>
                      </a:lnTo>
                      <a:close/>
                      <a:moveTo>
                        <a:pt x="867480" y="1071562"/>
                      </a:moveTo>
                      <a:lnTo>
                        <a:pt x="867480" y="973331"/>
                      </a:lnTo>
                      <a:lnTo>
                        <a:pt x="965711" y="973331"/>
                      </a:lnTo>
                      <a:lnTo>
                        <a:pt x="965711" y="1071562"/>
                      </a:lnTo>
                      <a:lnTo>
                        <a:pt x="867480" y="1071562"/>
                      </a:lnTo>
                      <a:close/>
                      <a:moveTo>
                        <a:pt x="858546" y="964406"/>
                      </a:moveTo>
                      <a:lnTo>
                        <a:pt x="760314" y="964406"/>
                      </a:lnTo>
                      <a:lnTo>
                        <a:pt x="760314" y="866175"/>
                      </a:lnTo>
                      <a:lnTo>
                        <a:pt x="858546" y="866175"/>
                      </a:lnTo>
                      <a:lnTo>
                        <a:pt x="858546" y="964406"/>
                      </a:lnTo>
                      <a:close/>
                      <a:moveTo>
                        <a:pt x="858546" y="973331"/>
                      </a:moveTo>
                      <a:lnTo>
                        <a:pt x="858546" y="1071562"/>
                      </a:lnTo>
                      <a:lnTo>
                        <a:pt x="760314" y="1071562"/>
                      </a:lnTo>
                      <a:lnTo>
                        <a:pt x="760314" y="973331"/>
                      </a:lnTo>
                      <a:lnTo>
                        <a:pt x="858546" y="973331"/>
                      </a:lnTo>
                      <a:close/>
                      <a:moveTo>
                        <a:pt x="858546" y="1080487"/>
                      </a:moveTo>
                      <a:lnTo>
                        <a:pt x="858546" y="1178719"/>
                      </a:lnTo>
                      <a:lnTo>
                        <a:pt x="760314" y="1178719"/>
                      </a:lnTo>
                      <a:lnTo>
                        <a:pt x="760314" y="1080487"/>
                      </a:lnTo>
                      <a:lnTo>
                        <a:pt x="858546" y="1080487"/>
                      </a:lnTo>
                      <a:close/>
                      <a:moveTo>
                        <a:pt x="858546" y="1187644"/>
                      </a:moveTo>
                      <a:lnTo>
                        <a:pt x="858546" y="1285875"/>
                      </a:lnTo>
                      <a:lnTo>
                        <a:pt x="760314" y="1285875"/>
                      </a:lnTo>
                      <a:lnTo>
                        <a:pt x="760314" y="1187644"/>
                      </a:lnTo>
                      <a:lnTo>
                        <a:pt x="858546" y="1187644"/>
                      </a:lnTo>
                      <a:close/>
                      <a:moveTo>
                        <a:pt x="858546" y="1294800"/>
                      </a:moveTo>
                      <a:lnTo>
                        <a:pt x="858546" y="1393031"/>
                      </a:lnTo>
                      <a:lnTo>
                        <a:pt x="760314" y="1393031"/>
                      </a:lnTo>
                      <a:lnTo>
                        <a:pt x="760314" y="1294800"/>
                      </a:lnTo>
                      <a:lnTo>
                        <a:pt x="858546" y="1294800"/>
                      </a:lnTo>
                      <a:close/>
                      <a:moveTo>
                        <a:pt x="858546" y="1401956"/>
                      </a:moveTo>
                      <a:lnTo>
                        <a:pt x="858546" y="1500187"/>
                      </a:lnTo>
                      <a:lnTo>
                        <a:pt x="760314" y="1500187"/>
                      </a:lnTo>
                      <a:lnTo>
                        <a:pt x="760314" y="1401956"/>
                      </a:lnTo>
                      <a:lnTo>
                        <a:pt x="858546" y="1401956"/>
                      </a:lnTo>
                      <a:close/>
                      <a:moveTo>
                        <a:pt x="974636" y="1401956"/>
                      </a:moveTo>
                      <a:lnTo>
                        <a:pt x="1072867" y="1401956"/>
                      </a:lnTo>
                      <a:lnTo>
                        <a:pt x="1072867" y="1500187"/>
                      </a:lnTo>
                      <a:lnTo>
                        <a:pt x="974636" y="1500187"/>
                      </a:lnTo>
                      <a:lnTo>
                        <a:pt x="974636" y="1401956"/>
                      </a:lnTo>
                      <a:close/>
                      <a:moveTo>
                        <a:pt x="974636" y="1393031"/>
                      </a:moveTo>
                      <a:lnTo>
                        <a:pt x="974636" y="1294800"/>
                      </a:lnTo>
                      <a:lnTo>
                        <a:pt x="1072867" y="1294800"/>
                      </a:lnTo>
                      <a:lnTo>
                        <a:pt x="1072867" y="1393031"/>
                      </a:lnTo>
                      <a:lnTo>
                        <a:pt x="974636" y="1393031"/>
                      </a:lnTo>
                      <a:close/>
                      <a:moveTo>
                        <a:pt x="974636" y="1285875"/>
                      </a:moveTo>
                      <a:lnTo>
                        <a:pt x="974636" y="1187644"/>
                      </a:lnTo>
                      <a:lnTo>
                        <a:pt x="1072867" y="1187644"/>
                      </a:lnTo>
                      <a:lnTo>
                        <a:pt x="1072867" y="1285875"/>
                      </a:lnTo>
                      <a:lnTo>
                        <a:pt x="974636" y="1285875"/>
                      </a:lnTo>
                      <a:close/>
                      <a:moveTo>
                        <a:pt x="974636" y="1178719"/>
                      </a:moveTo>
                      <a:lnTo>
                        <a:pt x="974636" y="1080487"/>
                      </a:lnTo>
                      <a:lnTo>
                        <a:pt x="1072867" y="1080487"/>
                      </a:lnTo>
                      <a:lnTo>
                        <a:pt x="1072867" y="1178719"/>
                      </a:lnTo>
                      <a:lnTo>
                        <a:pt x="974636" y="1178719"/>
                      </a:lnTo>
                      <a:close/>
                      <a:moveTo>
                        <a:pt x="974636" y="1071562"/>
                      </a:moveTo>
                      <a:lnTo>
                        <a:pt x="974636" y="973331"/>
                      </a:lnTo>
                      <a:lnTo>
                        <a:pt x="1072867" y="973331"/>
                      </a:lnTo>
                      <a:lnTo>
                        <a:pt x="1072867" y="1071562"/>
                      </a:lnTo>
                      <a:lnTo>
                        <a:pt x="974636" y="1071562"/>
                      </a:lnTo>
                      <a:close/>
                      <a:moveTo>
                        <a:pt x="974636" y="964406"/>
                      </a:moveTo>
                      <a:lnTo>
                        <a:pt x="974636" y="866175"/>
                      </a:lnTo>
                      <a:lnTo>
                        <a:pt x="1072867" y="866175"/>
                      </a:lnTo>
                      <a:lnTo>
                        <a:pt x="1072867" y="964406"/>
                      </a:lnTo>
                      <a:lnTo>
                        <a:pt x="974636" y="964406"/>
                      </a:lnTo>
                      <a:close/>
                      <a:moveTo>
                        <a:pt x="974636" y="857250"/>
                      </a:moveTo>
                      <a:lnTo>
                        <a:pt x="974636" y="759019"/>
                      </a:lnTo>
                      <a:lnTo>
                        <a:pt x="1072867" y="759019"/>
                      </a:lnTo>
                      <a:lnTo>
                        <a:pt x="1072867" y="857250"/>
                      </a:lnTo>
                      <a:lnTo>
                        <a:pt x="974636" y="857250"/>
                      </a:lnTo>
                      <a:close/>
                      <a:moveTo>
                        <a:pt x="974636" y="750094"/>
                      </a:moveTo>
                      <a:lnTo>
                        <a:pt x="974636" y="651862"/>
                      </a:lnTo>
                      <a:lnTo>
                        <a:pt x="1072867" y="651862"/>
                      </a:lnTo>
                      <a:lnTo>
                        <a:pt x="1072867" y="750094"/>
                      </a:lnTo>
                      <a:lnTo>
                        <a:pt x="974636" y="750094"/>
                      </a:lnTo>
                      <a:close/>
                      <a:moveTo>
                        <a:pt x="965702" y="750094"/>
                      </a:moveTo>
                      <a:lnTo>
                        <a:pt x="867470" y="750094"/>
                      </a:lnTo>
                      <a:lnTo>
                        <a:pt x="867470" y="651862"/>
                      </a:lnTo>
                      <a:lnTo>
                        <a:pt x="965702" y="651862"/>
                      </a:lnTo>
                      <a:lnTo>
                        <a:pt x="965702" y="750094"/>
                      </a:lnTo>
                      <a:close/>
                      <a:moveTo>
                        <a:pt x="858546" y="750094"/>
                      </a:moveTo>
                      <a:lnTo>
                        <a:pt x="760314" y="750094"/>
                      </a:lnTo>
                      <a:lnTo>
                        <a:pt x="760314" y="651862"/>
                      </a:lnTo>
                      <a:lnTo>
                        <a:pt x="858546" y="651862"/>
                      </a:lnTo>
                      <a:lnTo>
                        <a:pt x="858546" y="750094"/>
                      </a:lnTo>
                      <a:close/>
                      <a:moveTo>
                        <a:pt x="858546" y="759019"/>
                      </a:moveTo>
                      <a:lnTo>
                        <a:pt x="858546" y="857250"/>
                      </a:lnTo>
                      <a:lnTo>
                        <a:pt x="760314" y="857250"/>
                      </a:lnTo>
                      <a:lnTo>
                        <a:pt x="760314" y="759019"/>
                      </a:lnTo>
                      <a:lnTo>
                        <a:pt x="858546" y="759019"/>
                      </a:lnTo>
                      <a:close/>
                      <a:moveTo>
                        <a:pt x="751389" y="857250"/>
                      </a:moveTo>
                      <a:lnTo>
                        <a:pt x="653158" y="857250"/>
                      </a:lnTo>
                      <a:lnTo>
                        <a:pt x="653158" y="759019"/>
                      </a:lnTo>
                      <a:lnTo>
                        <a:pt x="751389" y="759019"/>
                      </a:lnTo>
                      <a:lnTo>
                        <a:pt x="751389" y="857250"/>
                      </a:lnTo>
                      <a:close/>
                      <a:moveTo>
                        <a:pt x="751389" y="866175"/>
                      </a:moveTo>
                      <a:lnTo>
                        <a:pt x="751389" y="964406"/>
                      </a:lnTo>
                      <a:lnTo>
                        <a:pt x="653158" y="964406"/>
                      </a:lnTo>
                      <a:lnTo>
                        <a:pt x="653158" y="866175"/>
                      </a:lnTo>
                      <a:lnTo>
                        <a:pt x="751389" y="866175"/>
                      </a:lnTo>
                      <a:close/>
                      <a:moveTo>
                        <a:pt x="751389" y="973331"/>
                      </a:moveTo>
                      <a:lnTo>
                        <a:pt x="751389" y="1071562"/>
                      </a:lnTo>
                      <a:lnTo>
                        <a:pt x="653158" y="1071562"/>
                      </a:lnTo>
                      <a:lnTo>
                        <a:pt x="653158" y="973331"/>
                      </a:lnTo>
                      <a:lnTo>
                        <a:pt x="751389" y="973331"/>
                      </a:lnTo>
                      <a:close/>
                      <a:moveTo>
                        <a:pt x="751389" y="1080487"/>
                      </a:moveTo>
                      <a:lnTo>
                        <a:pt x="751389" y="1178719"/>
                      </a:lnTo>
                      <a:lnTo>
                        <a:pt x="653158" y="1178719"/>
                      </a:lnTo>
                      <a:lnTo>
                        <a:pt x="653158" y="1080487"/>
                      </a:lnTo>
                      <a:lnTo>
                        <a:pt x="751389" y="1080487"/>
                      </a:lnTo>
                      <a:close/>
                      <a:moveTo>
                        <a:pt x="751389" y="1187644"/>
                      </a:moveTo>
                      <a:lnTo>
                        <a:pt x="751389" y="1285875"/>
                      </a:lnTo>
                      <a:lnTo>
                        <a:pt x="653158" y="1285875"/>
                      </a:lnTo>
                      <a:lnTo>
                        <a:pt x="653158" y="1187644"/>
                      </a:lnTo>
                      <a:lnTo>
                        <a:pt x="751389" y="1187644"/>
                      </a:lnTo>
                      <a:close/>
                      <a:moveTo>
                        <a:pt x="751389" y="1294800"/>
                      </a:moveTo>
                      <a:lnTo>
                        <a:pt x="751389" y="1393031"/>
                      </a:lnTo>
                      <a:lnTo>
                        <a:pt x="653158" y="1393031"/>
                      </a:lnTo>
                      <a:lnTo>
                        <a:pt x="653158" y="1294800"/>
                      </a:lnTo>
                      <a:lnTo>
                        <a:pt x="751389" y="1294800"/>
                      </a:lnTo>
                      <a:close/>
                      <a:moveTo>
                        <a:pt x="751389" y="1401956"/>
                      </a:moveTo>
                      <a:lnTo>
                        <a:pt x="751389" y="1500187"/>
                      </a:lnTo>
                      <a:lnTo>
                        <a:pt x="653158" y="1500187"/>
                      </a:lnTo>
                      <a:lnTo>
                        <a:pt x="653158" y="1401956"/>
                      </a:lnTo>
                      <a:lnTo>
                        <a:pt x="751389" y="1401956"/>
                      </a:lnTo>
                      <a:close/>
                      <a:moveTo>
                        <a:pt x="751389" y="1509112"/>
                      </a:moveTo>
                      <a:lnTo>
                        <a:pt x="751389" y="1607344"/>
                      </a:lnTo>
                      <a:lnTo>
                        <a:pt x="653158" y="1607344"/>
                      </a:lnTo>
                      <a:lnTo>
                        <a:pt x="653158" y="1509112"/>
                      </a:lnTo>
                      <a:lnTo>
                        <a:pt x="751389" y="1509112"/>
                      </a:lnTo>
                      <a:close/>
                      <a:moveTo>
                        <a:pt x="760324" y="1509112"/>
                      </a:moveTo>
                      <a:lnTo>
                        <a:pt x="858555" y="1509112"/>
                      </a:lnTo>
                      <a:lnTo>
                        <a:pt x="858555" y="1607344"/>
                      </a:lnTo>
                      <a:lnTo>
                        <a:pt x="760324" y="1607344"/>
                      </a:lnTo>
                      <a:lnTo>
                        <a:pt x="760324" y="1509112"/>
                      </a:lnTo>
                      <a:close/>
                      <a:moveTo>
                        <a:pt x="858546" y="1616269"/>
                      </a:moveTo>
                      <a:lnTo>
                        <a:pt x="858546" y="1714500"/>
                      </a:lnTo>
                      <a:lnTo>
                        <a:pt x="760314" y="1714500"/>
                      </a:lnTo>
                      <a:lnTo>
                        <a:pt x="760314" y="1616269"/>
                      </a:lnTo>
                      <a:lnTo>
                        <a:pt x="858546" y="1616269"/>
                      </a:lnTo>
                      <a:close/>
                      <a:moveTo>
                        <a:pt x="867480" y="1616269"/>
                      </a:moveTo>
                      <a:lnTo>
                        <a:pt x="965711" y="1616269"/>
                      </a:lnTo>
                      <a:lnTo>
                        <a:pt x="965711" y="1714500"/>
                      </a:lnTo>
                      <a:lnTo>
                        <a:pt x="867480" y="1714500"/>
                      </a:lnTo>
                      <a:lnTo>
                        <a:pt x="867480" y="1616269"/>
                      </a:lnTo>
                      <a:close/>
                      <a:moveTo>
                        <a:pt x="974636" y="1616269"/>
                      </a:moveTo>
                      <a:lnTo>
                        <a:pt x="1072867" y="1616269"/>
                      </a:lnTo>
                      <a:lnTo>
                        <a:pt x="1072867" y="1714500"/>
                      </a:lnTo>
                      <a:lnTo>
                        <a:pt x="974636" y="1714500"/>
                      </a:lnTo>
                      <a:lnTo>
                        <a:pt x="974636" y="1616269"/>
                      </a:lnTo>
                      <a:close/>
                      <a:moveTo>
                        <a:pt x="974636" y="1607344"/>
                      </a:moveTo>
                      <a:lnTo>
                        <a:pt x="974636" y="1509112"/>
                      </a:lnTo>
                      <a:lnTo>
                        <a:pt x="1072867" y="1509112"/>
                      </a:lnTo>
                      <a:lnTo>
                        <a:pt x="1072867" y="1607344"/>
                      </a:lnTo>
                      <a:lnTo>
                        <a:pt x="974636" y="1607344"/>
                      </a:lnTo>
                      <a:close/>
                      <a:moveTo>
                        <a:pt x="1081792" y="1509112"/>
                      </a:moveTo>
                      <a:lnTo>
                        <a:pt x="1180024" y="1509112"/>
                      </a:lnTo>
                      <a:lnTo>
                        <a:pt x="1180024" y="1607344"/>
                      </a:lnTo>
                      <a:lnTo>
                        <a:pt x="1081792" y="1607344"/>
                      </a:lnTo>
                      <a:lnTo>
                        <a:pt x="1081792" y="1509112"/>
                      </a:lnTo>
                      <a:close/>
                      <a:moveTo>
                        <a:pt x="1081792" y="1500187"/>
                      </a:moveTo>
                      <a:lnTo>
                        <a:pt x="1081792" y="1401956"/>
                      </a:lnTo>
                      <a:lnTo>
                        <a:pt x="1180024" y="1401956"/>
                      </a:lnTo>
                      <a:lnTo>
                        <a:pt x="1180024" y="1500187"/>
                      </a:lnTo>
                      <a:lnTo>
                        <a:pt x="1081792" y="1500187"/>
                      </a:lnTo>
                      <a:close/>
                      <a:moveTo>
                        <a:pt x="1081792" y="1393031"/>
                      </a:moveTo>
                      <a:lnTo>
                        <a:pt x="1081792" y="1294800"/>
                      </a:lnTo>
                      <a:lnTo>
                        <a:pt x="1180024" y="1294800"/>
                      </a:lnTo>
                      <a:lnTo>
                        <a:pt x="1180024" y="1393031"/>
                      </a:lnTo>
                      <a:lnTo>
                        <a:pt x="1081792" y="1393031"/>
                      </a:lnTo>
                      <a:close/>
                      <a:moveTo>
                        <a:pt x="1081792" y="1285875"/>
                      </a:moveTo>
                      <a:lnTo>
                        <a:pt x="1081792" y="1187644"/>
                      </a:lnTo>
                      <a:lnTo>
                        <a:pt x="1180024" y="1187644"/>
                      </a:lnTo>
                      <a:lnTo>
                        <a:pt x="1180024" y="1285875"/>
                      </a:lnTo>
                      <a:lnTo>
                        <a:pt x="1081792" y="1285875"/>
                      </a:lnTo>
                      <a:close/>
                      <a:moveTo>
                        <a:pt x="1081792" y="1178719"/>
                      </a:moveTo>
                      <a:lnTo>
                        <a:pt x="1081792" y="1080487"/>
                      </a:lnTo>
                      <a:lnTo>
                        <a:pt x="1180024" y="1080487"/>
                      </a:lnTo>
                      <a:lnTo>
                        <a:pt x="1180024" y="1178719"/>
                      </a:lnTo>
                      <a:lnTo>
                        <a:pt x="1081792" y="1178719"/>
                      </a:lnTo>
                      <a:close/>
                      <a:moveTo>
                        <a:pt x="1081792" y="1071562"/>
                      </a:moveTo>
                      <a:lnTo>
                        <a:pt x="1081792" y="973331"/>
                      </a:lnTo>
                      <a:lnTo>
                        <a:pt x="1180024" y="973331"/>
                      </a:lnTo>
                      <a:lnTo>
                        <a:pt x="1180024" y="1071562"/>
                      </a:lnTo>
                      <a:lnTo>
                        <a:pt x="1081792" y="1071562"/>
                      </a:lnTo>
                      <a:close/>
                      <a:moveTo>
                        <a:pt x="1081792" y="964406"/>
                      </a:moveTo>
                      <a:lnTo>
                        <a:pt x="1081792" y="866175"/>
                      </a:lnTo>
                      <a:lnTo>
                        <a:pt x="1180024" y="866175"/>
                      </a:lnTo>
                      <a:lnTo>
                        <a:pt x="1180024" y="964406"/>
                      </a:lnTo>
                      <a:lnTo>
                        <a:pt x="1081792" y="964406"/>
                      </a:lnTo>
                      <a:close/>
                      <a:moveTo>
                        <a:pt x="1081792" y="857250"/>
                      </a:moveTo>
                      <a:lnTo>
                        <a:pt x="1081792" y="759019"/>
                      </a:lnTo>
                      <a:lnTo>
                        <a:pt x="1180024" y="759019"/>
                      </a:lnTo>
                      <a:lnTo>
                        <a:pt x="1180024" y="857250"/>
                      </a:lnTo>
                      <a:lnTo>
                        <a:pt x="1081792" y="857250"/>
                      </a:lnTo>
                      <a:close/>
                      <a:moveTo>
                        <a:pt x="1081792" y="750094"/>
                      </a:moveTo>
                      <a:lnTo>
                        <a:pt x="1081792" y="651862"/>
                      </a:lnTo>
                      <a:lnTo>
                        <a:pt x="1180024" y="651862"/>
                      </a:lnTo>
                      <a:lnTo>
                        <a:pt x="1180024" y="750094"/>
                      </a:lnTo>
                      <a:lnTo>
                        <a:pt x="1081792" y="750094"/>
                      </a:lnTo>
                      <a:close/>
                      <a:moveTo>
                        <a:pt x="1081792" y="642938"/>
                      </a:moveTo>
                      <a:lnTo>
                        <a:pt x="1081792" y="544706"/>
                      </a:lnTo>
                      <a:lnTo>
                        <a:pt x="1180024" y="544706"/>
                      </a:lnTo>
                      <a:lnTo>
                        <a:pt x="1180024" y="642938"/>
                      </a:lnTo>
                      <a:lnTo>
                        <a:pt x="1081792" y="642938"/>
                      </a:lnTo>
                      <a:close/>
                      <a:moveTo>
                        <a:pt x="1072858" y="642938"/>
                      </a:moveTo>
                      <a:lnTo>
                        <a:pt x="974627" y="642938"/>
                      </a:lnTo>
                      <a:lnTo>
                        <a:pt x="974627" y="544706"/>
                      </a:lnTo>
                      <a:lnTo>
                        <a:pt x="1072858" y="544706"/>
                      </a:lnTo>
                      <a:lnTo>
                        <a:pt x="1072858" y="642938"/>
                      </a:lnTo>
                      <a:close/>
                      <a:moveTo>
                        <a:pt x="965702" y="642938"/>
                      </a:moveTo>
                      <a:lnTo>
                        <a:pt x="867470" y="642938"/>
                      </a:lnTo>
                      <a:lnTo>
                        <a:pt x="867470" y="544706"/>
                      </a:lnTo>
                      <a:lnTo>
                        <a:pt x="965702" y="544706"/>
                      </a:lnTo>
                      <a:lnTo>
                        <a:pt x="965702" y="642938"/>
                      </a:lnTo>
                      <a:close/>
                      <a:moveTo>
                        <a:pt x="858546" y="642938"/>
                      </a:moveTo>
                      <a:lnTo>
                        <a:pt x="760314" y="642938"/>
                      </a:lnTo>
                      <a:lnTo>
                        <a:pt x="760314" y="544706"/>
                      </a:lnTo>
                      <a:lnTo>
                        <a:pt x="858546" y="544706"/>
                      </a:lnTo>
                      <a:lnTo>
                        <a:pt x="858546" y="642938"/>
                      </a:lnTo>
                      <a:close/>
                      <a:moveTo>
                        <a:pt x="751389" y="642938"/>
                      </a:moveTo>
                      <a:lnTo>
                        <a:pt x="653158" y="642938"/>
                      </a:lnTo>
                      <a:lnTo>
                        <a:pt x="653158" y="544706"/>
                      </a:lnTo>
                      <a:lnTo>
                        <a:pt x="751389" y="544706"/>
                      </a:lnTo>
                      <a:lnTo>
                        <a:pt x="751389" y="642938"/>
                      </a:lnTo>
                      <a:close/>
                      <a:moveTo>
                        <a:pt x="751389" y="651862"/>
                      </a:moveTo>
                      <a:lnTo>
                        <a:pt x="751389" y="750094"/>
                      </a:lnTo>
                      <a:lnTo>
                        <a:pt x="653158" y="750094"/>
                      </a:lnTo>
                      <a:lnTo>
                        <a:pt x="653158" y="651862"/>
                      </a:lnTo>
                      <a:lnTo>
                        <a:pt x="751389" y="651862"/>
                      </a:lnTo>
                      <a:close/>
                      <a:moveTo>
                        <a:pt x="644233" y="750094"/>
                      </a:moveTo>
                      <a:lnTo>
                        <a:pt x="546002" y="750094"/>
                      </a:lnTo>
                      <a:lnTo>
                        <a:pt x="546002" y="651862"/>
                      </a:lnTo>
                      <a:lnTo>
                        <a:pt x="644233" y="651862"/>
                      </a:lnTo>
                      <a:lnTo>
                        <a:pt x="644233" y="750094"/>
                      </a:lnTo>
                      <a:close/>
                      <a:moveTo>
                        <a:pt x="644233" y="759019"/>
                      </a:moveTo>
                      <a:lnTo>
                        <a:pt x="644233" y="857250"/>
                      </a:lnTo>
                      <a:lnTo>
                        <a:pt x="546002" y="857250"/>
                      </a:lnTo>
                      <a:lnTo>
                        <a:pt x="546002" y="759019"/>
                      </a:lnTo>
                      <a:lnTo>
                        <a:pt x="644233" y="759019"/>
                      </a:lnTo>
                      <a:close/>
                      <a:moveTo>
                        <a:pt x="644233" y="866175"/>
                      </a:moveTo>
                      <a:lnTo>
                        <a:pt x="644233" y="964406"/>
                      </a:lnTo>
                      <a:lnTo>
                        <a:pt x="546002" y="964406"/>
                      </a:lnTo>
                      <a:lnTo>
                        <a:pt x="546002" y="866175"/>
                      </a:lnTo>
                      <a:lnTo>
                        <a:pt x="644233" y="866175"/>
                      </a:lnTo>
                      <a:close/>
                      <a:moveTo>
                        <a:pt x="644233" y="973331"/>
                      </a:moveTo>
                      <a:lnTo>
                        <a:pt x="644233" y="1071562"/>
                      </a:lnTo>
                      <a:lnTo>
                        <a:pt x="546002" y="1071562"/>
                      </a:lnTo>
                      <a:lnTo>
                        <a:pt x="546002" y="973331"/>
                      </a:lnTo>
                      <a:lnTo>
                        <a:pt x="644233" y="973331"/>
                      </a:lnTo>
                      <a:close/>
                      <a:moveTo>
                        <a:pt x="644233" y="1080487"/>
                      </a:moveTo>
                      <a:lnTo>
                        <a:pt x="644233" y="1178719"/>
                      </a:lnTo>
                      <a:lnTo>
                        <a:pt x="546002" y="1178719"/>
                      </a:lnTo>
                      <a:lnTo>
                        <a:pt x="546002" y="1080487"/>
                      </a:lnTo>
                      <a:lnTo>
                        <a:pt x="644233" y="1080487"/>
                      </a:lnTo>
                      <a:close/>
                      <a:moveTo>
                        <a:pt x="644233" y="1187644"/>
                      </a:moveTo>
                      <a:lnTo>
                        <a:pt x="644233" y="1285875"/>
                      </a:lnTo>
                      <a:lnTo>
                        <a:pt x="546002" y="1285875"/>
                      </a:lnTo>
                      <a:lnTo>
                        <a:pt x="546002" y="1187644"/>
                      </a:lnTo>
                      <a:lnTo>
                        <a:pt x="644233" y="1187644"/>
                      </a:lnTo>
                      <a:close/>
                      <a:moveTo>
                        <a:pt x="644233" y="1294800"/>
                      </a:moveTo>
                      <a:lnTo>
                        <a:pt x="644233" y="1393031"/>
                      </a:lnTo>
                      <a:lnTo>
                        <a:pt x="546002" y="1393031"/>
                      </a:lnTo>
                      <a:lnTo>
                        <a:pt x="546002" y="1294800"/>
                      </a:lnTo>
                      <a:lnTo>
                        <a:pt x="644233" y="1294800"/>
                      </a:lnTo>
                      <a:close/>
                      <a:moveTo>
                        <a:pt x="644233" y="1401956"/>
                      </a:moveTo>
                      <a:lnTo>
                        <a:pt x="644233" y="1500187"/>
                      </a:lnTo>
                      <a:lnTo>
                        <a:pt x="546002" y="1500187"/>
                      </a:lnTo>
                      <a:lnTo>
                        <a:pt x="546002" y="1401956"/>
                      </a:lnTo>
                      <a:lnTo>
                        <a:pt x="644233" y="1401956"/>
                      </a:lnTo>
                      <a:close/>
                      <a:moveTo>
                        <a:pt x="644233" y="1509112"/>
                      </a:moveTo>
                      <a:lnTo>
                        <a:pt x="644233" y="1607344"/>
                      </a:lnTo>
                      <a:lnTo>
                        <a:pt x="546002" y="1607344"/>
                      </a:lnTo>
                      <a:lnTo>
                        <a:pt x="546002" y="1509112"/>
                      </a:lnTo>
                      <a:lnTo>
                        <a:pt x="644233" y="1509112"/>
                      </a:lnTo>
                      <a:close/>
                      <a:moveTo>
                        <a:pt x="644233" y="1616269"/>
                      </a:moveTo>
                      <a:lnTo>
                        <a:pt x="644233" y="1714500"/>
                      </a:lnTo>
                      <a:lnTo>
                        <a:pt x="546002" y="1714500"/>
                      </a:lnTo>
                      <a:lnTo>
                        <a:pt x="546002" y="1616269"/>
                      </a:lnTo>
                      <a:lnTo>
                        <a:pt x="644233" y="1616269"/>
                      </a:lnTo>
                      <a:close/>
                      <a:moveTo>
                        <a:pt x="653167" y="1616269"/>
                      </a:moveTo>
                      <a:lnTo>
                        <a:pt x="751399" y="1616269"/>
                      </a:lnTo>
                      <a:lnTo>
                        <a:pt x="751399" y="1714500"/>
                      </a:lnTo>
                      <a:lnTo>
                        <a:pt x="653167" y="1714500"/>
                      </a:lnTo>
                      <a:lnTo>
                        <a:pt x="653167" y="1616269"/>
                      </a:lnTo>
                      <a:close/>
                      <a:moveTo>
                        <a:pt x="751389" y="1723425"/>
                      </a:moveTo>
                      <a:lnTo>
                        <a:pt x="751389" y="1821656"/>
                      </a:lnTo>
                      <a:lnTo>
                        <a:pt x="653158" y="1821656"/>
                      </a:lnTo>
                      <a:lnTo>
                        <a:pt x="653158" y="1723425"/>
                      </a:lnTo>
                      <a:lnTo>
                        <a:pt x="751389" y="1723425"/>
                      </a:lnTo>
                      <a:close/>
                      <a:moveTo>
                        <a:pt x="760324" y="1723425"/>
                      </a:moveTo>
                      <a:lnTo>
                        <a:pt x="858555" y="1723425"/>
                      </a:lnTo>
                      <a:lnTo>
                        <a:pt x="858555" y="1821656"/>
                      </a:lnTo>
                      <a:lnTo>
                        <a:pt x="760324" y="1821656"/>
                      </a:lnTo>
                      <a:lnTo>
                        <a:pt x="760324" y="1723425"/>
                      </a:lnTo>
                      <a:close/>
                      <a:moveTo>
                        <a:pt x="867480" y="1723425"/>
                      </a:moveTo>
                      <a:lnTo>
                        <a:pt x="965711" y="1723425"/>
                      </a:lnTo>
                      <a:lnTo>
                        <a:pt x="965711" y="1821656"/>
                      </a:lnTo>
                      <a:lnTo>
                        <a:pt x="867480" y="1821656"/>
                      </a:lnTo>
                      <a:lnTo>
                        <a:pt x="867480" y="1723425"/>
                      </a:lnTo>
                      <a:close/>
                      <a:moveTo>
                        <a:pt x="974636" y="1723425"/>
                      </a:moveTo>
                      <a:lnTo>
                        <a:pt x="1072867" y="1723425"/>
                      </a:lnTo>
                      <a:lnTo>
                        <a:pt x="1072867" y="1821656"/>
                      </a:lnTo>
                      <a:lnTo>
                        <a:pt x="974636" y="1821656"/>
                      </a:lnTo>
                      <a:lnTo>
                        <a:pt x="974636" y="1723425"/>
                      </a:lnTo>
                      <a:close/>
                      <a:moveTo>
                        <a:pt x="1081792" y="1723425"/>
                      </a:moveTo>
                      <a:lnTo>
                        <a:pt x="1180024" y="1723425"/>
                      </a:lnTo>
                      <a:lnTo>
                        <a:pt x="1180024" y="1821656"/>
                      </a:lnTo>
                      <a:lnTo>
                        <a:pt x="1081792" y="1821656"/>
                      </a:lnTo>
                      <a:lnTo>
                        <a:pt x="1081792" y="1723425"/>
                      </a:lnTo>
                      <a:close/>
                      <a:moveTo>
                        <a:pt x="1081792" y="1714500"/>
                      </a:moveTo>
                      <a:lnTo>
                        <a:pt x="1081792" y="1616269"/>
                      </a:lnTo>
                      <a:lnTo>
                        <a:pt x="1180024" y="1616269"/>
                      </a:lnTo>
                      <a:lnTo>
                        <a:pt x="1180024" y="1714500"/>
                      </a:lnTo>
                      <a:lnTo>
                        <a:pt x="1081792" y="1714500"/>
                      </a:lnTo>
                      <a:close/>
                      <a:moveTo>
                        <a:pt x="1188949" y="1616269"/>
                      </a:moveTo>
                      <a:lnTo>
                        <a:pt x="1287180" y="1616269"/>
                      </a:lnTo>
                      <a:lnTo>
                        <a:pt x="1287180" y="1714500"/>
                      </a:lnTo>
                      <a:lnTo>
                        <a:pt x="1188949" y="1714500"/>
                      </a:lnTo>
                      <a:lnTo>
                        <a:pt x="1188949" y="1616269"/>
                      </a:lnTo>
                      <a:close/>
                      <a:moveTo>
                        <a:pt x="1188949" y="1607344"/>
                      </a:moveTo>
                      <a:lnTo>
                        <a:pt x="1188949" y="1509112"/>
                      </a:lnTo>
                      <a:lnTo>
                        <a:pt x="1287180" y="1509112"/>
                      </a:lnTo>
                      <a:lnTo>
                        <a:pt x="1287180" y="1607344"/>
                      </a:lnTo>
                      <a:lnTo>
                        <a:pt x="1188949" y="1607344"/>
                      </a:lnTo>
                      <a:close/>
                      <a:moveTo>
                        <a:pt x="1188949" y="1500187"/>
                      </a:moveTo>
                      <a:lnTo>
                        <a:pt x="1188949" y="1401956"/>
                      </a:lnTo>
                      <a:lnTo>
                        <a:pt x="1287180" y="1401956"/>
                      </a:lnTo>
                      <a:lnTo>
                        <a:pt x="1287180" y="1500187"/>
                      </a:lnTo>
                      <a:lnTo>
                        <a:pt x="1188949" y="1500187"/>
                      </a:lnTo>
                      <a:close/>
                      <a:moveTo>
                        <a:pt x="1188949" y="1393031"/>
                      </a:moveTo>
                      <a:lnTo>
                        <a:pt x="1188949" y="1294800"/>
                      </a:lnTo>
                      <a:lnTo>
                        <a:pt x="1287180" y="1294800"/>
                      </a:lnTo>
                      <a:lnTo>
                        <a:pt x="1287180" y="1393031"/>
                      </a:lnTo>
                      <a:lnTo>
                        <a:pt x="1188949" y="1393031"/>
                      </a:lnTo>
                      <a:close/>
                      <a:moveTo>
                        <a:pt x="1188949" y="1285875"/>
                      </a:moveTo>
                      <a:lnTo>
                        <a:pt x="1188949" y="1187644"/>
                      </a:lnTo>
                      <a:lnTo>
                        <a:pt x="1287180" y="1187644"/>
                      </a:lnTo>
                      <a:lnTo>
                        <a:pt x="1287180" y="1285875"/>
                      </a:lnTo>
                      <a:lnTo>
                        <a:pt x="1188949" y="1285875"/>
                      </a:lnTo>
                      <a:close/>
                      <a:moveTo>
                        <a:pt x="1188949" y="1178719"/>
                      </a:moveTo>
                      <a:lnTo>
                        <a:pt x="1188949" y="1080487"/>
                      </a:lnTo>
                      <a:lnTo>
                        <a:pt x="1287180" y="1080487"/>
                      </a:lnTo>
                      <a:lnTo>
                        <a:pt x="1287180" y="1178719"/>
                      </a:lnTo>
                      <a:lnTo>
                        <a:pt x="1188949" y="1178719"/>
                      </a:lnTo>
                      <a:close/>
                      <a:moveTo>
                        <a:pt x="1188949" y="1071562"/>
                      </a:moveTo>
                      <a:lnTo>
                        <a:pt x="1188949" y="973331"/>
                      </a:lnTo>
                      <a:lnTo>
                        <a:pt x="1287180" y="973331"/>
                      </a:lnTo>
                      <a:lnTo>
                        <a:pt x="1287180" y="1071562"/>
                      </a:lnTo>
                      <a:lnTo>
                        <a:pt x="1188949" y="1071562"/>
                      </a:lnTo>
                      <a:close/>
                      <a:moveTo>
                        <a:pt x="1188949" y="964406"/>
                      </a:moveTo>
                      <a:lnTo>
                        <a:pt x="1188949" y="866175"/>
                      </a:lnTo>
                      <a:lnTo>
                        <a:pt x="1287180" y="866175"/>
                      </a:lnTo>
                      <a:lnTo>
                        <a:pt x="1287180" y="964406"/>
                      </a:lnTo>
                      <a:lnTo>
                        <a:pt x="1188949" y="964406"/>
                      </a:lnTo>
                      <a:close/>
                      <a:moveTo>
                        <a:pt x="1188949" y="857250"/>
                      </a:moveTo>
                      <a:lnTo>
                        <a:pt x="1188949" y="759019"/>
                      </a:lnTo>
                      <a:lnTo>
                        <a:pt x="1287180" y="759019"/>
                      </a:lnTo>
                      <a:lnTo>
                        <a:pt x="1287180" y="857250"/>
                      </a:lnTo>
                      <a:lnTo>
                        <a:pt x="1188949" y="857250"/>
                      </a:lnTo>
                      <a:close/>
                      <a:moveTo>
                        <a:pt x="1188949" y="750094"/>
                      </a:moveTo>
                      <a:lnTo>
                        <a:pt x="1188949" y="651862"/>
                      </a:lnTo>
                      <a:lnTo>
                        <a:pt x="1287180" y="651862"/>
                      </a:lnTo>
                      <a:lnTo>
                        <a:pt x="1287180" y="750094"/>
                      </a:lnTo>
                      <a:lnTo>
                        <a:pt x="1188949" y="750094"/>
                      </a:lnTo>
                      <a:close/>
                      <a:moveTo>
                        <a:pt x="1188949" y="642938"/>
                      </a:moveTo>
                      <a:lnTo>
                        <a:pt x="1188949" y="544706"/>
                      </a:lnTo>
                      <a:lnTo>
                        <a:pt x="1287180" y="544706"/>
                      </a:lnTo>
                      <a:lnTo>
                        <a:pt x="1287180" y="642938"/>
                      </a:lnTo>
                      <a:lnTo>
                        <a:pt x="1188949" y="642938"/>
                      </a:lnTo>
                      <a:close/>
                      <a:moveTo>
                        <a:pt x="1188949" y="535781"/>
                      </a:moveTo>
                      <a:lnTo>
                        <a:pt x="1188949" y="437550"/>
                      </a:lnTo>
                      <a:lnTo>
                        <a:pt x="1287180" y="437550"/>
                      </a:lnTo>
                      <a:lnTo>
                        <a:pt x="1287180" y="535781"/>
                      </a:lnTo>
                      <a:lnTo>
                        <a:pt x="1188949" y="535781"/>
                      </a:lnTo>
                      <a:close/>
                      <a:moveTo>
                        <a:pt x="1180014" y="535781"/>
                      </a:moveTo>
                      <a:lnTo>
                        <a:pt x="1081783" y="535781"/>
                      </a:lnTo>
                      <a:lnTo>
                        <a:pt x="1081783" y="437550"/>
                      </a:lnTo>
                      <a:lnTo>
                        <a:pt x="1180014" y="437550"/>
                      </a:lnTo>
                      <a:lnTo>
                        <a:pt x="1180014" y="535781"/>
                      </a:lnTo>
                      <a:close/>
                      <a:moveTo>
                        <a:pt x="1072858" y="535781"/>
                      </a:moveTo>
                      <a:lnTo>
                        <a:pt x="974627" y="535781"/>
                      </a:lnTo>
                      <a:lnTo>
                        <a:pt x="974627" y="437550"/>
                      </a:lnTo>
                      <a:lnTo>
                        <a:pt x="1072858" y="437550"/>
                      </a:lnTo>
                      <a:lnTo>
                        <a:pt x="1072858" y="535781"/>
                      </a:lnTo>
                      <a:close/>
                      <a:moveTo>
                        <a:pt x="965702" y="535781"/>
                      </a:moveTo>
                      <a:lnTo>
                        <a:pt x="867470" y="535781"/>
                      </a:lnTo>
                      <a:lnTo>
                        <a:pt x="867470" y="437550"/>
                      </a:lnTo>
                      <a:lnTo>
                        <a:pt x="965702" y="437550"/>
                      </a:lnTo>
                      <a:lnTo>
                        <a:pt x="965702" y="535781"/>
                      </a:lnTo>
                      <a:close/>
                      <a:moveTo>
                        <a:pt x="858546" y="535781"/>
                      </a:moveTo>
                      <a:lnTo>
                        <a:pt x="760314" y="535781"/>
                      </a:lnTo>
                      <a:lnTo>
                        <a:pt x="760314" y="437550"/>
                      </a:lnTo>
                      <a:lnTo>
                        <a:pt x="858546" y="437550"/>
                      </a:lnTo>
                      <a:lnTo>
                        <a:pt x="858546" y="535781"/>
                      </a:lnTo>
                      <a:close/>
                      <a:moveTo>
                        <a:pt x="751389" y="535781"/>
                      </a:moveTo>
                      <a:lnTo>
                        <a:pt x="653158" y="535781"/>
                      </a:lnTo>
                      <a:lnTo>
                        <a:pt x="653158" y="437550"/>
                      </a:lnTo>
                      <a:lnTo>
                        <a:pt x="751389" y="437550"/>
                      </a:lnTo>
                      <a:lnTo>
                        <a:pt x="751389" y="535781"/>
                      </a:lnTo>
                      <a:close/>
                      <a:moveTo>
                        <a:pt x="644233" y="535781"/>
                      </a:moveTo>
                      <a:lnTo>
                        <a:pt x="546002" y="535781"/>
                      </a:lnTo>
                      <a:lnTo>
                        <a:pt x="546002" y="437550"/>
                      </a:lnTo>
                      <a:lnTo>
                        <a:pt x="644233" y="437550"/>
                      </a:lnTo>
                      <a:lnTo>
                        <a:pt x="644233" y="535781"/>
                      </a:lnTo>
                      <a:close/>
                      <a:moveTo>
                        <a:pt x="644233" y="544706"/>
                      </a:moveTo>
                      <a:lnTo>
                        <a:pt x="644233" y="642938"/>
                      </a:lnTo>
                      <a:lnTo>
                        <a:pt x="546002" y="642938"/>
                      </a:lnTo>
                      <a:lnTo>
                        <a:pt x="546002" y="544706"/>
                      </a:lnTo>
                      <a:lnTo>
                        <a:pt x="644233" y="544706"/>
                      </a:lnTo>
                      <a:close/>
                      <a:moveTo>
                        <a:pt x="537077" y="642938"/>
                      </a:moveTo>
                      <a:lnTo>
                        <a:pt x="438845" y="642938"/>
                      </a:lnTo>
                      <a:lnTo>
                        <a:pt x="438845" y="544706"/>
                      </a:lnTo>
                      <a:lnTo>
                        <a:pt x="537077" y="544706"/>
                      </a:lnTo>
                      <a:lnTo>
                        <a:pt x="537077" y="642938"/>
                      </a:lnTo>
                      <a:close/>
                      <a:moveTo>
                        <a:pt x="537077" y="651862"/>
                      </a:moveTo>
                      <a:lnTo>
                        <a:pt x="537077" y="750094"/>
                      </a:lnTo>
                      <a:lnTo>
                        <a:pt x="438845" y="750094"/>
                      </a:lnTo>
                      <a:lnTo>
                        <a:pt x="438845" y="651862"/>
                      </a:lnTo>
                      <a:lnTo>
                        <a:pt x="537077" y="651862"/>
                      </a:lnTo>
                      <a:close/>
                      <a:moveTo>
                        <a:pt x="537077" y="759019"/>
                      </a:moveTo>
                      <a:lnTo>
                        <a:pt x="537077" y="857250"/>
                      </a:lnTo>
                      <a:lnTo>
                        <a:pt x="438845" y="857250"/>
                      </a:lnTo>
                      <a:lnTo>
                        <a:pt x="438845" y="759019"/>
                      </a:lnTo>
                      <a:lnTo>
                        <a:pt x="537077" y="759019"/>
                      </a:lnTo>
                      <a:close/>
                      <a:moveTo>
                        <a:pt x="537077" y="866175"/>
                      </a:moveTo>
                      <a:lnTo>
                        <a:pt x="537077" y="964406"/>
                      </a:lnTo>
                      <a:lnTo>
                        <a:pt x="438845" y="964406"/>
                      </a:lnTo>
                      <a:lnTo>
                        <a:pt x="438845" y="866175"/>
                      </a:lnTo>
                      <a:lnTo>
                        <a:pt x="537077" y="866175"/>
                      </a:lnTo>
                      <a:close/>
                      <a:moveTo>
                        <a:pt x="537077" y="973331"/>
                      </a:moveTo>
                      <a:lnTo>
                        <a:pt x="537077" y="1071562"/>
                      </a:lnTo>
                      <a:lnTo>
                        <a:pt x="438845" y="1071562"/>
                      </a:lnTo>
                      <a:lnTo>
                        <a:pt x="438845" y="973331"/>
                      </a:lnTo>
                      <a:lnTo>
                        <a:pt x="537077" y="973331"/>
                      </a:lnTo>
                      <a:close/>
                      <a:moveTo>
                        <a:pt x="537077" y="1080487"/>
                      </a:moveTo>
                      <a:lnTo>
                        <a:pt x="537077" y="1178719"/>
                      </a:lnTo>
                      <a:lnTo>
                        <a:pt x="438845" y="1178719"/>
                      </a:lnTo>
                      <a:lnTo>
                        <a:pt x="438845" y="1080487"/>
                      </a:lnTo>
                      <a:lnTo>
                        <a:pt x="537077" y="1080487"/>
                      </a:lnTo>
                      <a:close/>
                      <a:moveTo>
                        <a:pt x="537077" y="1187644"/>
                      </a:moveTo>
                      <a:lnTo>
                        <a:pt x="537077" y="1285875"/>
                      </a:lnTo>
                      <a:lnTo>
                        <a:pt x="438845" y="1285875"/>
                      </a:lnTo>
                      <a:lnTo>
                        <a:pt x="438845" y="1187644"/>
                      </a:lnTo>
                      <a:lnTo>
                        <a:pt x="537077" y="1187644"/>
                      </a:lnTo>
                      <a:close/>
                      <a:moveTo>
                        <a:pt x="537077" y="1294800"/>
                      </a:moveTo>
                      <a:lnTo>
                        <a:pt x="537077" y="1393031"/>
                      </a:lnTo>
                      <a:lnTo>
                        <a:pt x="438845" y="1393031"/>
                      </a:lnTo>
                      <a:lnTo>
                        <a:pt x="438845" y="1294800"/>
                      </a:lnTo>
                      <a:lnTo>
                        <a:pt x="537077" y="1294800"/>
                      </a:lnTo>
                      <a:close/>
                      <a:moveTo>
                        <a:pt x="537077" y="1401956"/>
                      </a:moveTo>
                      <a:lnTo>
                        <a:pt x="537077" y="1500187"/>
                      </a:lnTo>
                      <a:lnTo>
                        <a:pt x="438845" y="1500187"/>
                      </a:lnTo>
                      <a:lnTo>
                        <a:pt x="438845" y="1401956"/>
                      </a:lnTo>
                      <a:lnTo>
                        <a:pt x="537077" y="1401956"/>
                      </a:lnTo>
                      <a:close/>
                      <a:moveTo>
                        <a:pt x="537077" y="1509112"/>
                      </a:moveTo>
                      <a:lnTo>
                        <a:pt x="537077" y="1607344"/>
                      </a:lnTo>
                      <a:lnTo>
                        <a:pt x="438845" y="1607344"/>
                      </a:lnTo>
                      <a:lnTo>
                        <a:pt x="438845" y="1509112"/>
                      </a:lnTo>
                      <a:lnTo>
                        <a:pt x="537077" y="1509112"/>
                      </a:lnTo>
                      <a:close/>
                      <a:moveTo>
                        <a:pt x="537077" y="1616269"/>
                      </a:moveTo>
                      <a:lnTo>
                        <a:pt x="537077" y="1714500"/>
                      </a:lnTo>
                      <a:lnTo>
                        <a:pt x="438845" y="1714500"/>
                      </a:lnTo>
                      <a:lnTo>
                        <a:pt x="438845" y="1616269"/>
                      </a:lnTo>
                      <a:lnTo>
                        <a:pt x="537077" y="1616269"/>
                      </a:lnTo>
                      <a:close/>
                      <a:moveTo>
                        <a:pt x="537077" y="1723425"/>
                      </a:moveTo>
                      <a:lnTo>
                        <a:pt x="537077" y="1821656"/>
                      </a:lnTo>
                      <a:lnTo>
                        <a:pt x="438845" y="1821656"/>
                      </a:lnTo>
                      <a:lnTo>
                        <a:pt x="438845" y="1723425"/>
                      </a:lnTo>
                      <a:lnTo>
                        <a:pt x="537077" y="1723425"/>
                      </a:lnTo>
                      <a:close/>
                      <a:moveTo>
                        <a:pt x="546011" y="1723425"/>
                      </a:moveTo>
                      <a:lnTo>
                        <a:pt x="644243" y="1723425"/>
                      </a:lnTo>
                      <a:lnTo>
                        <a:pt x="644243" y="1821656"/>
                      </a:lnTo>
                      <a:lnTo>
                        <a:pt x="546011" y="1821656"/>
                      </a:lnTo>
                      <a:lnTo>
                        <a:pt x="546011" y="1723425"/>
                      </a:lnTo>
                      <a:close/>
                      <a:moveTo>
                        <a:pt x="644233" y="1830581"/>
                      </a:moveTo>
                      <a:lnTo>
                        <a:pt x="644233" y="1928812"/>
                      </a:lnTo>
                      <a:lnTo>
                        <a:pt x="546002" y="1928812"/>
                      </a:lnTo>
                      <a:lnTo>
                        <a:pt x="546002" y="1830581"/>
                      </a:lnTo>
                      <a:lnTo>
                        <a:pt x="644233" y="1830581"/>
                      </a:lnTo>
                      <a:close/>
                      <a:moveTo>
                        <a:pt x="653167" y="1830581"/>
                      </a:moveTo>
                      <a:lnTo>
                        <a:pt x="751399" y="1830581"/>
                      </a:lnTo>
                      <a:lnTo>
                        <a:pt x="751399" y="1928812"/>
                      </a:lnTo>
                      <a:lnTo>
                        <a:pt x="653167" y="1928812"/>
                      </a:lnTo>
                      <a:lnTo>
                        <a:pt x="653167" y="1830581"/>
                      </a:lnTo>
                      <a:close/>
                      <a:moveTo>
                        <a:pt x="760324" y="1830581"/>
                      </a:moveTo>
                      <a:lnTo>
                        <a:pt x="858555" y="1830581"/>
                      </a:lnTo>
                      <a:lnTo>
                        <a:pt x="858555" y="1928812"/>
                      </a:lnTo>
                      <a:lnTo>
                        <a:pt x="760324" y="1928812"/>
                      </a:lnTo>
                      <a:lnTo>
                        <a:pt x="760324" y="1830581"/>
                      </a:lnTo>
                      <a:close/>
                      <a:moveTo>
                        <a:pt x="867480" y="1830581"/>
                      </a:moveTo>
                      <a:lnTo>
                        <a:pt x="965711" y="1830581"/>
                      </a:lnTo>
                      <a:lnTo>
                        <a:pt x="965711" y="1928812"/>
                      </a:lnTo>
                      <a:lnTo>
                        <a:pt x="867480" y="1928812"/>
                      </a:lnTo>
                      <a:lnTo>
                        <a:pt x="867480" y="1830581"/>
                      </a:lnTo>
                      <a:close/>
                      <a:moveTo>
                        <a:pt x="974636" y="1830581"/>
                      </a:moveTo>
                      <a:lnTo>
                        <a:pt x="1072867" y="1830581"/>
                      </a:lnTo>
                      <a:lnTo>
                        <a:pt x="1072867" y="1928812"/>
                      </a:lnTo>
                      <a:lnTo>
                        <a:pt x="974636" y="1928812"/>
                      </a:lnTo>
                      <a:lnTo>
                        <a:pt x="974636" y="1830581"/>
                      </a:lnTo>
                      <a:close/>
                      <a:moveTo>
                        <a:pt x="1081792" y="1830581"/>
                      </a:moveTo>
                      <a:lnTo>
                        <a:pt x="1180024" y="1830581"/>
                      </a:lnTo>
                      <a:lnTo>
                        <a:pt x="1180024" y="1928812"/>
                      </a:lnTo>
                      <a:lnTo>
                        <a:pt x="1081792" y="1928812"/>
                      </a:lnTo>
                      <a:lnTo>
                        <a:pt x="1081792" y="1830581"/>
                      </a:lnTo>
                      <a:close/>
                      <a:moveTo>
                        <a:pt x="1188949" y="1830581"/>
                      </a:moveTo>
                      <a:lnTo>
                        <a:pt x="1287180" y="1830581"/>
                      </a:lnTo>
                      <a:lnTo>
                        <a:pt x="1287180" y="1928812"/>
                      </a:lnTo>
                      <a:lnTo>
                        <a:pt x="1188949" y="1928812"/>
                      </a:lnTo>
                      <a:lnTo>
                        <a:pt x="1188949" y="1830581"/>
                      </a:lnTo>
                      <a:close/>
                      <a:moveTo>
                        <a:pt x="1188949" y="1821656"/>
                      </a:moveTo>
                      <a:lnTo>
                        <a:pt x="1188949" y="1723425"/>
                      </a:lnTo>
                      <a:lnTo>
                        <a:pt x="1287180" y="1723425"/>
                      </a:lnTo>
                      <a:lnTo>
                        <a:pt x="1287180" y="1821656"/>
                      </a:lnTo>
                      <a:lnTo>
                        <a:pt x="1188949" y="1821656"/>
                      </a:lnTo>
                      <a:close/>
                      <a:moveTo>
                        <a:pt x="1296105" y="1723425"/>
                      </a:moveTo>
                      <a:lnTo>
                        <a:pt x="1394336" y="1723425"/>
                      </a:lnTo>
                      <a:lnTo>
                        <a:pt x="1394336" y="1821656"/>
                      </a:lnTo>
                      <a:lnTo>
                        <a:pt x="1296105" y="1821656"/>
                      </a:lnTo>
                      <a:lnTo>
                        <a:pt x="1296105" y="1723425"/>
                      </a:lnTo>
                      <a:close/>
                      <a:moveTo>
                        <a:pt x="1296105" y="1714500"/>
                      </a:moveTo>
                      <a:lnTo>
                        <a:pt x="1296105" y="1616269"/>
                      </a:lnTo>
                      <a:lnTo>
                        <a:pt x="1394336" y="1616269"/>
                      </a:lnTo>
                      <a:lnTo>
                        <a:pt x="1394336" y="1714500"/>
                      </a:lnTo>
                      <a:lnTo>
                        <a:pt x="1296105" y="1714500"/>
                      </a:lnTo>
                      <a:close/>
                      <a:moveTo>
                        <a:pt x="1296105" y="1607344"/>
                      </a:moveTo>
                      <a:lnTo>
                        <a:pt x="1296105" y="1509112"/>
                      </a:lnTo>
                      <a:lnTo>
                        <a:pt x="1394336" y="1509112"/>
                      </a:lnTo>
                      <a:lnTo>
                        <a:pt x="1394336" y="1607344"/>
                      </a:lnTo>
                      <a:lnTo>
                        <a:pt x="1296105" y="1607344"/>
                      </a:lnTo>
                      <a:close/>
                      <a:moveTo>
                        <a:pt x="1296105" y="1500187"/>
                      </a:moveTo>
                      <a:lnTo>
                        <a:pt x="1296105" y="1401956"/>
                      </a:lnTo>
                      <a:lnTo>
                        <a:pt x="1394336" y="1401956"/>
                      </a:lnTo>
                      <a:lnTo>
                        <a:pt x="1394336" y="1500187"/>
                      </a:lnTo>
                      <a:lnTo>
                        <a:pt x="1296105" y="1500187"/>
                      </a:lnTo>
                      <a:close/>
                      <a:moveTo>
                        <a:pt x="1296105" y="1393031"/>
                      </a:moveTo>
                      <a:lnTo>
                        <a:pt x="1296105" y="1294800"/>
                      </a:lnTo>
                      <a:lnTo>
                        <a:pt x="1394336" y="1294800"/>
                      </a:lnTo>
                      <a:lnTo>
                        <a:pt x="1394336" y="1393031"/>
                      </a:lnTo>
                      <a:lnTo>
                        <a:pt x="1296105" y="1393031"/>
                      </a:lnTo>
                      <a:close/>
                      <a:moveTo>
                        <a:pt x="1296105" y="1285875"/>
                      </a:moveTo>
                      <a:lnTo>
                        <a:pt x="1296105" y="1187644"/>
                      </a:lnTo>
                      <a:lnTo>
                        <a:pt x="1394336" y="1187644"/>
                      </a:lnTo>
                      <a:lnTo>
                        <a:pt x="1394336" y="1285875"/>
                      </a:lnTo>
                      <a:lnTo>
                        <a:pt x="1296105" y="1285875"/>
                      </a:lnTo>
                      <a:close/>
                      <a:moveTo>
                        <a:pt x="1296105" y="1178719"/>
                      </a:moveTo>
                      <a:lnTo>
                        <a:pt x="1296105" y="1080487"/>
                      </a:lnTo>
                      <a:lnTo>
                        <a:pt x="1394336" y="1080487"/>
                      </a:lnTo>
                      <a:lnTo>
                        <a:pt x="1394336" y="1178719"/>
                      </a:lnTo>
                      <a:lnTo>
                        <a:pt x="1296105" y="1178719"/>
                      </a:lnTo>
                      <a:close/>
                      <a:moveTo>
                        <a:pt x="1296105" y="1071562"/>
                      </a:moveTo>
                      <a:lnTo>
                        <a:pt x="1296105" y="973331"/>
                      </a:lnTo>
                      <a:lnTo>
                        <a:pt x="1394336" y="973331"/>
                      </a:lnTo>
                      <a:lnTo>
                        <a:pt x="1394336" y="1071562"/>
                      </a:lnTo>
                      <a:lnTo>
                        <a:pt x="1296105" y="1071562"/>
                      </a:lnTo>
                      <a:close/>
                      <a:moveTo>
                        <a:pt x="1296105" y="964406"/>
                      </a:moveTo>
                      <a:lnTo>
                        <a:pt x="1296105" y="866175"/>
                      </a:lnTo>
                      <a:lnTo>
                        <a:pt x="1394336" y="866175"/>
                      </a:lnTo>
                      <a:lnTo>
                        <a:pt x="1394336" y="964406"/>
                      </a:lnTo>
                      <a:lnTo>
                        <a:pt x="1296105" y="964406"/>
                      </a:lnTo>
                      <a:close/>
                      <a:moveTo>
                        <a:pt x="1296105" y="857250"/>
                      </a:moveTo>
                      <a:lnTo>
                        <a:pt x="1296105" y="759019"/>
                      </a:lnTo>
                      <a:lnTo>
                        <a:pt x="1394336" y="759019"/>
                      </a:lnTo>
                      <a:lnTo>
                        <a:pt x="1394336" y="857250"/>
                      </a:lnTo>
                      <a:lnTo>
                        <a:pt x="1296105" y="857250"/>
                      </a:lnTo>
                      <a:close/>
                      <a:moveTo>
                        <a:pt x="1296105" y="750094"/>
                      </a:moveTo>
                      <a:lnTo>
                        <a:pt x="1296105" y="651862"/>
                      </a:lnTo>
                      <a:lnTo>
                        <a:pt x="1394336" y="651862"/>
                      </a:lnTo>
                      <a:lnTo>
                        <a:pt x="1394336" y="750094"/>
                      </a:lnTo>
                      <a:lnTo>
                        <a:pt x="1296105" y="750094"/>
                      </a:lnTo>
                      <a:close/>
                      <a:moveTo>
                        <a:pt x="1296105" y="642938"/>
                      </a:moveTo>
                      <a:lnTo>
                        <a:pt x="1296105" y="544706"/>
                      </a:lnTo>
                      <a:lnTo>
                        <a:pt x="1394336" y="544706"/>
                      </a:lnTo>
                      <a:lnTo>
                        <a:pt x="1394336" y="642938"/>
                      </a:lnTo>
                      <a:lnTo>
                        <a:pt x="1296105" y="642938"/>
                      </a:lnTo>
                      <a:close/>
                      <a:moveTo>
                        <a:pt x="1296105" y="535781"/>
                      </a:moveTo>
                      <a:lnTo>
                        <a:pt x="1296105" y="437550"/>
                      </a:lnTo>
                      <a:lnTo>
                        <a:pt x="1394336" y="437550"/>
                      </a:lnTo>
                      <a:lnTo>
                        <a:pt x="1394336" y="535781"/>
                      </a:lnTo>
                      <a:lnTo>
                        <a:pt x="1296105" y="535781"/>
                      </a:lnTo>
                      <a:close/>
                      <a:moveTo>
                        <a:pt x="1296105" y="428625"/>
                      </a:moveTo>
                      <a:lnTo>
                        <a:pt x="1296105" y="330394"/>
                      </a:lnTo>
                      <a:lnTo>
                        <a:pt x="1394336" y="330394"/>
                      </a:lnTo>
                      <a:lnTo>
                        <a:pt x="1394336" y="428625"/>
                      </a:lnTo>
                      <a:lnTo>
                        <a:pt x="1296105" y="428625"/>
                      </a:lnTo>
                      <a:close/>
                      <a:moveTo>
                        <a:pt x="1287171" y="428625"/>
                      </a:moveTo>
                      <a:lnTo>
                        <a:pt x="1188939" y="428625"/>
                      </a:lnTo>
                      <a:lnTo>
                        <a:pt x="1188939" y="330394"/>
                      </a:lnTo>
                      <a:lnTo>
                        <a:pt x="1287171" y="330394"/>
                      </a:lnTo>
                      <a:lnTo>
                        <a:pt x="1287171" y="428625"/>
                      </a:lnTo>
                      <a:close/>
                      <a:moveTo>
                        <a:pt x="1180014" y="428625"/>
                      </a:moveTo>
                      <a:lnTo>
                        <a:pt x="1081783" y="428625"/>
                      </a:lnTo>
                      <a:lnTo>
                        <a:pt x="1081783" y="330394"/>
                      </a:lnTo>
                      <a:lnTo>
                        <a:pt x="1180014" y="330394"/>
                      </a:lnTo>
                      <a:lnTo>
                        <a:pt x="1180014" y="428625"/>
                      </a:lnTo>
                      <a:close/>
                      <a:moveTo>
                        <a:pt x="1072858" y="428625"/>
                      </a:moveTo>
                      <a:lnTo>
                        <a:pt x="974627" y="428625"/>
                      </a:lnTo>
                      <a:lnTo>
                        <a:pt x="974627" y="330394"/>
                      </a:lnTo>
                      <a:lnTo>
                        <a:pt x="1072858" y="330394"/>
                      </a:lnTo>
                      <a:lnTo>
                        <a:pt x="1072858" y="428625"/>
                      </a:lnTo>
                      <a:close/>
                      <a:moveTo>
                        <a:pt x="965702" y="428625"/>
                      </a:moveTo>
                      <a:lnTo>
                        <a:pt x="867470" y="428625"/>
                      </a:lnTo>
                      <a:lnTo>
                        <a:pt x="867470" y="330394"/>
                      </a:lnTo>
                      <a:lnTo>
                        <a:pt x="965702" y="330394"/>
                      </a:lnTo>
                      <a:lnTo>
                        <a:pt x="965702" y="428625"/>
                      </a:lnTo>
                      <a:close/>
                      <a:moveTo>
                        <a:pt x="858546" y="428625"/>
                      </a:moveTo>
                      <a:lnTo>
                        <a:pt x="760314" y="428625"/>
                      </a:lnTo>
                      <a:lnTo>
                        <a:pt x="760314" y="330394"/>
                      </a:lnTo>
                      <a:lnTo>
                        <a:pt x="858546" y="330394"/>
                      </a:lnTo>
                      <a:lnTo>
                        <a:pt x="858546" y="428625"/>
                      </a:lnTo>
                      <a:close/>
                      <a:moveTo>
                        <a:pt x="751389" y="428625"/>
                      </a:moveTo>
                      <a:lnTo>
                        <a:pt x="653158" y="428625"/>
                      </a:lnTo>
                      <a:lnTo>
                        <a:pt x="653158" y="330394"/>
                      </a:lnTo>
                      <a:lnTo>
                        <a:pt x="751389" y="330394"/>
                      </a:lnTo>
                      <a:lnTo>
                        <a:pt x="751389" y="428625"/>
                      </a:lnTo>
                      <a:close/>
                      <a:moveTo>
                        <a:pt x="644233" y="428625"/>
                      </a:moveTo>
                      <a:lnTo>
                        <a:pt x="546002" y="428625"/>
                      </a:lnTo>
                      <a:lnTo>
                        <a:pt x="546002" y="330394"/>
                      </a:lnTo>
                      <a:lnTo>
                        <a:pt x="644233" y="330394"/>
                      </a:lnTo>
                      <a:lnTo>
                        <a:pt x="644233" y="428625"/>
                      </a:lnTo>
                      <a:close/>
                      <a:moveTo>
                        <a:pt x="537077" y="428625"/>
                      </a:moveTo>
                      <a:lnTo>
                        <a:pt x="438845" y="428625"/>
                      </a:lnTo>
                      <a:lnTo>
                        <a:pt x="438845" y="330394"/>
                      </a:lnTo>
                      <a:lnTo>
                        <a:pt x="537077" y="330394"/>
                      </a:lnTo>
                      <a:lnTo>
                        <a:pt x="537077" y="428625"/>
                      </a:lnTo>
                      <a:close/>
                      <a:moveTo>
                        <a:pt x="537077" y="437550"/>
                      </a:moveTo>
                      <a:lnTo>
                        <a:pt x="537077" y="535781"/>
                      </a:lnTo>
                      <a:lnTo>
                        <a:pt x="438845" y="535781"/>
                      </a:lnTo>
                      <a:lnTo>
                        <a:pt x="438845" y="437550"/>
                      </a:lnTo>
                      <a:lnTo>
                        <a:pt x="537077" y="437550"/>
                      </a:lnTo>
                      <a:close/>
                      <a:moveTo>
                        <a:pt x="429920" y="535781"/>
                      </a:moveTo>
                      <a:lnTo>
                        <a:pt x="331689" y="535781"/>
                      </a:lnTo>
                      <a:lnTo>
                        <a:pt x="331689" y="437550"/>
                      </a:lnTo>
                      <a:lnTo>
                        <a:pt x="429920" y="437550"/>
                      </a:lnTo>
                      <a:lnTo>
                        <a:pt x="429920" y="535781"/>
                      </a:lnTo>
                      <a:close/>
                      <a:moveTo>
                        <a:pt x="429920" y="544706"/>
                      </a:moveTo>
                      <a:lnTo>
                        <a:pt x="429920" y="642938"/>
                      </a:lnTo>
                      <a:lnTo>
                        <a:pt x="331689" y="642938"/>
                      </a:lnTo>
                      <a:lnTo>
                        <a:pt x="331689" y="544706"/>
                      </a:lnTo>
                      <a:lnTo>
                        <a:pt x="429920" y="544706"/>
                      </a:lnTo>
                      <a:close/>
                      <a:moveTo>
                        <a:pt x="429920" y="651862"/>
                      </a:moveTo>
                      <a:lnTo>
                        <a:pt x="429920" y="750094"/>
                      </a:lnTo>
                      <a:lnTo>
                        <a:pt x="331689" y="750094"/>
                      </a:lnTo>
                      <a:lnTo>
                        <a:pt x="331689" y="651862"/>
                      </a:lnTo>
                      <a:lnTo>
                        <a:pt x="429920" y="651862"/>
                      </a:lnTo>
                      <a:close/>
                      <a:moveTo>
                        <a:pt x="429920" y="759019"/>
                      </a:moveTo>
                      <a:lnTo>
                        <a:pt x="429920" y="857250"/>
                      </a:lnTo>
                      <a:lnTo>
                        <a:pt x="331689" y="857250"/>
                      </a:lnTo>
                      <a:lnTo>
                        <a:pt x="331689" y="759019"/>
                      </a:lnTo>
                      <a:lnTo>
                        <a:pt x="429920" y="759019"/>
                      </a:lnTo>
                      <a:close/>
                      <a:moveTo>
                        <a:pt x="429920" y="866175"/>
                      </a:moveTo>
                      <a:lnTo>
                        <a:pt x="429920" y="964406"/>
                      </a:lnTo>
                      <a:lnTo>
                        <a:pt x="331689" y="964406"/>
                      </a:lnTo>
                      <a:lnTo>
                        <a:pt x="331689" y="866175"/>
                      </a:lnTo>
                      <a:lnTo>
                        <a:pt x="429920" y="866175"/>
                      </a:lnTo>
                      <a:close/>
                      <a:moveTo>
                        <a:pt x="429920" y="973331"/>
                      </a:moveTo>
                      <a:lnTo>
                        <a:pt x="429920" y="1071562"/>
                      </a:lnTo>
                      <a:lnTo>
                        <a:pt x="331689" y="1071562"/>
                      </a:lnTo>
                      <a:lnTo>
                        <a:pt x="331689" y="973331"/>
                      </a:lnTo>
                      <a:lnTo>
                        <a:pt x="429920" y="973331"/>
                      </a:lnTo>
                      <a:close/>
                      <a:moveTo>
                        <a:pt x="429920" y="1080487"/>
                      </a:moveTo>
                      <a:lnTo>
                        <a:pt x="429920" y="1178719"/>
                      </a:lnTo>
                      <a:lnTo>
                        <a:pt x="331689" y="1178719"/>
                      </a:lnTo>
                      <a:lnTo>
                        <a:pt x="331689" y="1080487"/>
                      </a:lnTo>
                      <a:lnTo>
                        <a:pt x="429920" y="1080487"/>
                      </a:lnTo>
                      <a:close/>
                      <a:moveTo>
                        <a:pt x="429920" y="1187644"/>
                      </a:moveTo>
                      <a:lnTo>
                        <a:pt x="429920" y="1285875"/>
                      </a:lnTo>
                      <a:lnTo>
                        <a:pt x="331689" y="1285875"/>
                      </a:lnTo>
                      <a:lnTo>
                        <a:pt x="331689" y="1187644"/>
                      </a:lnTo>
                      <a:lnTo>
                        <a:pt x="429920" y="1187644"/>
                      </a:lnTo>
                      <a:close/>
                      <a:moveTo>
                        <a:pt x="429920" y="1294800"/>
                      </a:moveTo>
                      <a:lnTo>
                        <a:pt x="429920" y="1393031"/>
                      </a:lnTo>
                      <a:lnTo>
                        <a:pt x="331689" y="1393031"/>
                      </a:lnTo>
                      <a:lnTo>
                        <a:pt x="331689" y="1294800"/>
                      </a:lnTo>
                      <a:lnTo>
                        <a:pt x="429920" y="1294800"/>
                      </a:lnTo>
                      <a:close/>
                      <a:moveTo>
                        <a:pt x="429920" y="1401956"/>
                      </a:moveTo>
                      <a:lnTo>
                        <a:pt x="429920" y="1500187"/>
                      </a:lnTo>
                      <a:lnTo>
                        <a:pt x="331689" y="1500187"/>
                      </a:lnTo>
                      <a:lnTo>
                        <a:pt x="331689" y="1401956"/>
                      </a:lnTo>
                      <a:lnTo>
                        <a:pt x="429920" y="1401956"/>
                      </a:lnTo>
                      <a:close/>
                      <a:moveTo>
                        <a:pt x="429920" y="1509112"/>
                      </a:moveTo>
                      <a:lnTo>
                        <a:pt x="429920" y="1607344"/>
                      </a:lnTo>
                      <a:lnTo>
                        <a:pt x="331689" y="1607344"/>
                      </a:lnTo>
                      <a:lnTo>
                        <a:pt x="331689" y="1509112"/>
                      </a:lnTo>
                      <a:lnTo>
                        <a:pt x="429920" y="1509112"/>
                      </a:lnTo>
                      <a:close/>
                      <a:moveTo>
                        <a:pt x="429920" y="1616269"/>
                      </a:moveTo>
                      <a:lnTo>
                        <a:pt x="429920" y="1714500"/>
                      </a:lnTo>
                      <a:lnTo>
                        <a:pt x="331689" y="1714500"/>
                      </a:lnTo>
                      <a:lnTo>
                        <a:pt x="331689" y="1616269"/>
                      </a:lnTo>
                      <a:lnTo>
                        <a:pt x="429920" y="1616269"/>
                      </a:lnTo>
                      <a:close/>
                      <a:moveTo>
                        <a:pt x="429920" y="1723425"/>
                      </a:moveTo>
                      <a:lnTo>
                        <a:pt x="429920" y="1821656"/>
                      </a:lnTo>
                      <a:lnTo>
                        <a:pt x="331689" y="1821656"/>
                      </a:lnTo>
                      <a:lnTo>
                        <a:pt x="331689" y="1723425"/>
                      </a:lnTo>
                      <a:lnTo>
                        <a:pt x="429920" y="1723425"/>
                      </a:lnTo>
                      <a:close/>
                      <a:moveTo>
                        <a:pt x="429920" y="1830581"/>
                      </a:moveTo>
                      <a:lnTo>
                        <a:pt x="429920" y="1928812"/>
                      </a:lnTo>
                      <a:lnTo>
                        <a:pt x="331689" y="1928812"/>
                      </a:lnTo>
                      <a:lnTo>
                        <a:pt x="331689" y="1830581"/>
                      </a:lnTo>
                      <a:lnTo>
                        <a:pt x="429920" y="1830581"/>
                      </a:lnTo>
                      <a:close/>
                      <a:moveTo>
                        <a:pt x="438855" y="1830581"/>
                      </a:moveTo>
                      <a:lnTo>
                        <a:pt x="537086" y="1830581"/>
                      </a:lnTo>
                      <a:lnTo>
                        <a:pt x="537086" y="1928812"/>
                      </a:lnTo>
                      <a:lnTo>
                        <a:pt x="438855" y="1928812"/>
                      </a:lnTo>
                      <a:lnTo>
                        <a:pt x="438855" y="1830581"/>
                      </a:lnTo>
                      <a:close/>
                      <a:moveTo>
                        <a:pt x="537077" y="1937737"/>
                      </a:moveTo>
                      <a:lnTo>
                        <a:pt x="537077" y="2035969"/>
                      </a:lnTo>
                      <a:lnTo>
                        <a:pt x="438845" y="2035969"/>
                      </a:lnTo>
                      <a:lnTo>
                        <a:pt x="438845" y="1937737"/>
                      </a:lnTo>
                      <a:lnTo>
                        <a:pt x="537077" y="1937737"/>
                      </a:lnTo>
                      <a:close/>
                      <a:moveTo>
                        <a:pt x="546011" y="1937737"/>
                      </a:moveTo>
                      <a:lnTo>
                        <a:pt x="644243" y="1937737"/>
                      </a:lnTo>
                      <a:lnTo>
                        <a:pt x="644243" y="2035969"/>
                      </a:lnTo>
                      <a:lnTo>
                        <a:pt x="546011" y="2035969"/>
                      </a:lnTo>
                      <a:lnTo>
                        <a:pt x="546011" y="1937737"/>
                      </a:lnTo>
                      <a:close/>
                      <a:moveTo>
                        <a:pt x="653167" y="1937737"/>
                      </a:moveTo>
                      <a:lnTo>
                        <a:pt x="751399" y="1937737"/>
                      </a:lnTo>
                      <a:lnTo>
                        <a:pt x="751399" y="2035969"/>
                      </a:lnTo>
                      <a:lnTo>
                        <a:pt x="653167" y="2035969"/>
                      </a:lnTo>
                      <a:lnTo>
                        <a:pt x="653167" y="1937737"/>
                      </a:lnTo>
                      <a:close/>
                      <a:moveTo>
                        <a:pt x="760324" y="1937737"/>
                      </a:moveTo>
                      <a:lnTo>
                        <a:pt x="858555" y="1937737"/>
                      </a:lnTo>
                      <a:lnTo>
                        <a:pt x="858555" y="2035969"/>
                      </a:lnTo>
                      <a:lnTo>
                        <a:pt x="760324" y="2035969"/>
                      </a:lnTo>
                      <a:lnTo>
                        <a:pt x="760324" y="1937737"/>
                      </a:lnTo>
                      <a:close/>
                      <a:moveTo>
                        <a:pt x="867480" y="1937737"/>
                      </a:moveTo>
                      <a:lnTo>
                        <a:pt x="965711" y="1937737"/>
                      </a:lnTo>
                      <a:lnTo>
                        <a:pt x="965711" y="2035969"/>
                      </a:lnTo>
                      <a:lnTo>
                        <a:pt x="867480" y="2035969"/>
                      </a:lnTo>
                      <a:lnTo>
                        <a:pt x="867480" y="1937737"/>
                      </a:lnTo>
                      <a:close/>
                      <a:moveTo>
                        <a:pt x="974636" y="1937737"/>
                      </a:moveTo>
                      <a:lnTo>
                        <a:pt x="1072867" y="1937737"/>
                      </a:lnTo>
                      <a:lnTo>
                        <a:pt x="1072867" y="2035969"/>
                      </a:lnTo>
                      <a:lnTo>
                        <a:pt x="974636" y="2035969"/>
                      </a:lnTo>
                      <a:lnTo>
                        <a:pt x="974636" y="1937737"/>
                      </a:lnTo>
                      <a:close/>
                      <a:moveTo>
                        <a:pt x="1081792" y="1937737"/>
                      </a:moveTo>
                      <a:lnTo>
                        <a:pt x="1180024" y="1937737"/>
                      </a:lnTo>
                      <a:lnTo>
                        <a:pt x="1180024" y="2035969"/>
                      </a:lnTo>
                      <a:lnTo>
                        <a:pt x="1081792" y="2035969"/>
                      </a:lnTo>
                      <a:lnTo>
                        <a:pt x="1081792" y="1937737"/>
                      </a:lnTo>
                      <a:close/>
                      <a:moveTo>
                        <a:pt x="1188949" y="1937737"/>
                      </a:moveTo>
                      <a:lnTo>
                        <a:pt x="1287180" y="1937737"/>
                      </a:lnTo>
                      <a:lnTo>
                        <a:pt x="1287180" y="2035969"/>
                      </a:lnTo>
                      <a:lnTo>
                        <a:pt x="1188949" y="2035969"/>
                      </a:lnTo>
                      <a:lnTo>
                        <a:pt x="1188949" y="1937737"/>
                      </a:lnTo>
                      <a:close/>
                      <a:moveTo>
                        <a:pt x="1296105" y="1937737"/>
                      </a:moveTo>
                      <a:lnTo>
                        <a:pt x="1394336" y="1937737"/>
                      </a:lnTo>
                      <a:lnTo>
                        <a:pt x="1394336" y="2035969"/>
                      </a:lnTo>
                      <a:lnTo>
                        <a:pt x="1296105" y="2035969"/>
                      </a:lnTo>
                      <a:lnTo>
                        <a:pt x="1296105" y="1937737"/>
                      </a:lnTo>
                      <a:close/>
                      <a:moveTo>
                        <a:pt x="1296105" y="1928812"/>
                      </a:moveTo>
                      <a:lnTo>
                        <a:pt x="1296105" y="1830581"/>
                      </a:lnTo>
                      <a:lnTo>
                        <a:pt x="1394336" y="1830581"/>
                      </a:lnTo>
                      <a:lnTo>
                        <a:pt x="1394336" y="1928812"/>
                      </a:lnTo>
                      <a:lnTo>
                        <a:pt x="1296105" y="1928812"/>
                      </a:lnTo>
                      <a:close/>
                      <a:moveTo>
                        <a:pt x="1403261" y="1830581"/>
                      </a:moveTo>
                      <a:lnTo>
                        <a:pt x="1501492" y="1830581"/>
                      </a:lnTo>
                      <a:lnTo>
                        <a:pt x="1501492" y="1928812"/>
                      </a:lnTo>
                      <a:lnTo>
                        <a:pt x="1403261" y="1928812"/>
                      </a:lnTo>
                      <a:lnTo>
                        <a:pt x="1403261" y="1830581"/>
                      </a:lnTo>
                      <a:close/>
                      <a:moveTo>
                        <a:pt x="1403261" y="1821656"/>
                      </a:moveTo>
                      <a:lnTo>
                        <a:pt x="1403261" y="1723425"/>
                      </a:lnTo>
                      <a:lnTo>
                        <a:pt x="1501492" y="1723425"/>
                      </a:lnTo>
                      <a:lnTo>
                        <a:pt x="1501492" y="1821656"/>
                      </a:lnTo>
                      <a:lnTo>
                        <a:pt x="1403261" y="1821656"/>
                      </a:lnTo>
                      <a:close/>
                      <a:moveTo>
                        <a:pt x="1403261" y="1714500"/>
                      </a:moveTo>
                      <a:lnTo>
                        <a:pt x="1403261" y="1616269"/>
                      </a:lnTo>
                      <a:lnTo>
                        <a:pt x="1501492" y="1616269"/>
                      </a:lnTo>
                      <a:lnTo>
                        <a:pt x="1501492" y="1714500"/>
                      </a:lnTo>
                      <a:lnTo>
                        <a:pt x="1403261" y="1714500"/>
                      </a:lnTo>
                      <a:close/>
                      <a:moveTo>
                        <a:pt x="1403261" y="1607344"/>
                      </a:moveTo>
                      <a:lnTo>
                        <a:pt x="1403261" y="1509112"/>
                      </a:lnTo>
                      <a:lnTo>
                        <a:pt x="1501492" y="1509112"/>
                      </a:lnTo>
                      <a:lnTo>
                        <a:pt x="1501492" y="1607344"/>
                      </a:lnTo>
                      <a:lnTo>
                        <a:pt x="1403261" y="1607344"/>
                      </a:lnTo>
                      <a:close/>
                      <a:moveTo>
                        <a:pt x="1403261" y="1500187"/>
                      </a:moveTo>
                      <a:lnTo>
                        <a:pt x="1403261" y="1401956"/>
                      </a:lnTo>
                      <a:lnTo>
                        <a:pt x="1501492" y="1401956"/>
                      </a:lnTo>
                      <a:lnTo>
                        <a:pt x="1501492" y="1500187"/>
                      </a:lnTo>
                      <a:lnTo>
                        <a:pt x="1403261" y="1500187"/>
                      </a:lnTo>
                      <a:close/>
                      <a:moveTo>
                        <a:pt x="1403261" y="1393031"/>
                      </a:moveTo>
                      <a:lnTo>
                        <a:pt x="1403261" y="1294800"/>
                      </a:lnTo>
                      <a:lnTo>
                        <a:pt x="1501492" y="1294800"/>
                      </a:lnTo>
                      <a:lnTo>
                        <a:pt x="1501492" y="1393031"/>
                      </a:lnTo>
                      <a:lnTo>
                        <a:pt x="1403261" y="1393031"/>
                      </a:lnTo>
                      <a:close/>
                      <a:moveTo>
                        <a:pt x="1403261" y="1285875"/>
                      </a:moveTo>
                      <a:lnTo>
                        <a:pt x="1403261" y="1187644"/>
                      </a:lnTo>
                      <a:lnTo>
                        <a:pt x="1501492" y="1187644"/>
                      </a:lnTo>
                      <a:lnTo>
                        <a:pt x="1501492" y="1285875"/>
                      </a:lnTo>
                      <a:lnTo>
                        <a:pt x="1403261" y="1285875"/>
                      </a:lnTo>
                      <a:close/>
                      <a:moveTo>
                        <a:pt x="1403261" y="1178719"/>
                      </a:moveTo>
                      <a:lnTo>
                        <a:pt x="1403261" y="1080487"/>
                      </a:lnTo>
                      <a:lnTo>
                        <a:pt x="1501492" y="1080487"/>
                      </a:lnTo>
                      <a:lnTo>
                        <a:pt x="1501492" y="1178719"/>
                      </a:lnTo>
                      <a:lnTo>
                        <a:pt x="1403261" y="1178719"/>
                      </a:lnTo>
                      <a:close/>
                      <a:moveTo>
                        <a:pt x="1403261" y="1071562"/>
                      </a:moveTo>
                      <a:lnTo>
                        <a:pt x="1403261" y="973331"/>
                      </a:lnTo>
                      <a:lnTo>
                        <a:pt x="1501492" y="973331"/>
                      </a:lnTo>
                      <a:lnTo>
                        <a:pt x="1501492" y="1071562"/>
                      </a:lnTo>
                      <a:lnTo>
                        <a:pt x="1403261" y="1071562"/>
                      </a:lnTo>
                      <a:close/>
                      <a:moveTo>
                        <a:pt x="1403261" y="964406"/>
                      </a:moveTo>
                      <a:lnTo>
                        <a:pt x="1403261" y="866175"/>
                      </a:lnTo>
                      <a:lnTo>
                        <a:pt x="1501492" y="866175"/>
                      </a:lnTo>
                      <a:lnTo>
                        <a:pt x="1501492" y="964406"/>
                      </a:lnTo>
                      <a:lnTo>
                        <a:pt x="1403261" y="964406"/>
                      </a:lnTo>
                      <a:close/>
                      <a:moveTo>
                        <a:pt x="1403261" y="857250"/>
                      </a:moveTo>
                      <a:lnTo>
                        <a:pt x="1403261" y="759019"/>
                      </a:lnTo>
                      <a:lnTo>
                        <a:pt x="1501492" y="759019"/>
                      </a:lnTo>
                      <a:lnTo>
                        <a:pt x="1501492" y="857250"/>
                      </a:lnTo>
                      <a:lnTo>
                        <a:pt x="1403261" y="857250"/>
                      </a:lnTo>
                      <a:close/>
                      <a:moveTo>
                        <a:pt x="1403261" y="750094"/>
                      </a:moveTo>
                      <a:lnTo>
                        <a:pt x="1403261" y="651862"/>
                      </a:lnTo>
                      <a:lnTo>
                        <a:pt x="1501492" y="651862"/>
                      </a:lnTo>
                      <a:lnTo>
                        <a:pt x="1501492" y="750094"/>
                      </a:lnTo>
                      <a:lnTo>
                        <a:pt x="1403261" y="750094"/>
                      </a:lnTo>
                      <a:close/>
                      <a:moveTo>
                        <a:pt x="1403261" y="642938"/>
                      </a:moveTo>
                      <a:lnTo>
                        <a:pt x="1403261" y="544706"/>
                      </a:lnTo>
                      <a:lnTo>
                        <a:pt x="1501492" y="544706"/>
                      </a:lnTo>
                      <a:lnTo>
                        <a:pt x="1501492" y="642938"/>
                      </a:lnTo>
                      <a:lnTo>
                        <a:pt x="1403261" y="642938"/>
                      </a:lnTo>
                      <a:close/>
                      <a:moveTo>
                        <a:pt x="1403261" y="535781"/>
                      </a:moveTo>
                      <a:lnTo>
                        <a:pt x="1403261" y="437550"/>
                      </a:lnTo>
                      <a:lnTo>
                        <a:pt x="1501492" y="437550"/>
                      </a:lnTo>
                      <a:lnTo>
                        <a:pt x="1501492" y="535781"/>
                      </a:lnTo>
                      <a:lnTo>
                        <a:pt x="1403261" y="535781"/>
                      </a:lnTo>
                      <a:close/>
                      <a:moveTo>
                        <a:pt x="1403261" y="428625"/>
                      </a:moveTo>
                      <a:lnTo>
                        <a:pt x="1403261" y="330394"/>
                      </a:lnTo>
                      <a:lnTo>
                        <a:pt x="1501492" y="330394"/>
                      </a:lnTo>
                      <a:lnTo>
                        <a:pt x="1501492" y="428625"/>
                      </a:lnTo>
                      <a:lnTo>
                        <a:pt x="1403261" y="428625"/>
                      </a:lnTo>
                      <a:close/>
                      <a:moveTo>
                        <a:pt x="1403261" y="321469"/>
                      </a:moveTo>
                      <a:lnTo>
                        <a:pt x="1403261" y="223237"/>
                      </a:lnTo>
                      <a:lnTo>
                        <a:pt x="1501492" y="223237"/>
                      </a:lnTo>
                      <a:lnTo>
                        <a:pt x="1501492" y="321469"/>
                      </a:lnTo>
                      <a:lnTo>
                        <a:pt x="1403261" y="321469"/>
                      </a:lnTo>
                      <a:close/>
                      <a:moveTo>
                        <a:pt x="1394327" y="321469"/>
                      </a:moveTo>
                      <a:lnTo>
                        <a:pt x="1296095" y="321469"/>
                      </a:lnTo>
                      <a:lnTo>
                        <a:pt x="1296095" y="223237"/>
                      </a:lnTo>
                      <a:lnTo>
                        <a:pt x="1394327" y="223237"/>
                      </a:lnTo>
                      <a:lnTo>
                        <a:pt x="1394327" y="321469"/>
                      </a:lnTo>
                      <a:close/>
                      <a:moveTo>
                        <a:pt x="1287171" y="321469"/>
                      </a:moveTo>
                      <a:lnTo>
                        <a:pt x="1188939" y="321469"/>
                      </a:lnTo>
                      <a:lnTo>
                        <a:pt x="1188939" y="223237"/>
                      </a:lnTo>
                      <a:lnTo>
                        <a:pt x="1287171" y="223237"/>
                      </a:lnTo>
                      <a:lnTo>
                        <a:pt x="1287171" y="321469"/>
                      </a:lnTo>
                      <a:close/>
                      <a:moveTo>
                        <a:pt x="1180014" y="321469"/>
                      </a:moveTo>
                      <a:lnTo>
                        <a:pt x="1081783" y="321469"/>
                      </a:lnTo>
                      <a:lnTo>
                        <a:pt x="1081783" y="223237"/>
                      </a:lnTo>
                      <a:lnTo>
                        <a:pt x="1180014" y="223237"/>
                      </a:lnTo>
                      <a:lnTo>
                        <a:pt x="1180014" y="321469"/>
                      </a:lnTo>
                      <a:close/>
                      <a:moveTo>
                        <a:pt x="1072858" y="321469"/>
                      </a:moveTo>
                      <a:lnTo>
                        <a:pt x="974627" y="321469"/>
                      </a:lnTo>
                      <a:lnTo>
                        <a:pt x="974627" y="223237"/>
                      </a:lnTo>
                      <a:lnTo>
                        <a:pt x="1072858" y="223237"/>
                      </a:lnTo>
                      <a:lnTo>
                        <a:pt x="1072858" y="321469"/>
                      </a:lnTo>
                      <a:close/>
                      <a:moveTo>
                        <a:pt x="965702" y="321469"/>
                      </a:moveTo>
                      <a:lnTo>
                        <a:pt x="867470" y="321469"/>
                      </a:lnTo>
                      <a:lnTo>
                        <a:pt x="867470" y="223237"/>
                      </a:lnTo>
                      <a:lnTo>
                        <a:pt x="965702" y="223237"/>
                      </a:lnTo>
                      <a:lnTo>
                        <a:pt x="965702" y="321469"/>
                      </a:lnTo>
                      <a:close/>
                      <a:moveTo>
                        <a:pt x="858546" y="321469"/>
                      </a:moveTo>
                      <a:lnTo>
                        <a:pt x="760314" y="321469"/>
                      </a:lnTo>
                      <a:lnTo>
                        <a:pt x="760314" y="223237"/>
                      </a:lnTo>
                      <a:lnTo>
                        <a:pt x="858546" y="223237"/>
                      </a:lnTo>
                      <a:lnTo>
                        <a:pt x="858546" y="321469"/>
                      </a:lnTo>
                      <a:close/>
                      <a:moveTo>
                        <a:pt x="751389" y="321469"/>
                      </a:moveTo>
                      <a:lnTo>
                        <a:pt x="653158" y="321469"/>
                      </a:lnTo>
                      <a:lnTo>
                        <a:pt x="653158" y="223237"/>
                      </a:lnTo>
                      <a:lnTo>
                        <a:pt x="751389" y="223237"/>
                      </a:lnTo>
                      <a:lnTo>
                        <a:pt x="751389" y="321469"/>
                      </a:lnTo>
                      <a:close/>
                      <a:moveTo>
                        <a:pt x="644233" y="321469"/>
                      </a:moveTo>
                      <a:lnTo>
                        <a:pt x="546002" y="321469"/>
                      </a:lnTo>
                      <a:lnTo>
                        <a:pt x="546002" y="223237"/>
                      </a:lnTo>
                      <a:lnTo>
                        <a:pt x="644233" y="223237"/>
                      </a:lnTo>
                      <a:lnTo>
                        <a:pt x="644233" y="321469"/>
                      </a:lnTo>
                      <a:close/>
                      <a:moveTo>
                        <a:pt x="537077" y="321469"/>
                      </a:moveTo>
                      <a:lnTo>
                        <a:pt x="438845" y="321469"/>
                      </a:lnTo>
                      <a:lnTo>
                        <a:pt x="438845" y="223237"/>
                      </a:lnTo>
                      <a:lnTo>
                        <a:pt x="537077" y="223237"/>
                      </a:lnTo>
                      <a:lnTo>
                        <a:pt x="537077" y="321469"/>
                      </a:lnTo>
                      <a:close/>
                      <a:moveTo>
                        <a:pt x="429920" y="321469"/>
                      </a:moveTo>
                      <a:lnTo>
                        <a:pt x="331689" y="321469"/>
                      </a:lnTo>
                      <a:lnTo>
                        <a:pt x="331689" y="223237"/>
                      </a:lnTo>
                      <a:lnTo>
                        <a:pt x="429920" y="223237"/>
                      </a:lnTo>
                      <a:lnTo>
                        <a:pt x="429920" y="321469"/>
                      </a:lnTo>
                      <a:close/>
                      <a:moveTo>
                        <a:pt x="429920" y="330394"/>
                      </a:moveTo>
                      <a:lnTo>
                        <a:pt x="429920" y="428625"/>
                      </a:lnTo>
                      <a:lnTo>
                        <a:pt x="331689" y="428625"/>
                      </a:lnTo>
                      <a:lnTo>
                        <a:pt x="331689" y="330394"/>
                      </a:lnTo>
                      <a:lnTo>
                        <a:pt x="429920" y="330394"/>
                      </a:lnTo>
                      <a:close/>
                      <a:moveTo>
                        <a:pt x="322764" y="428625"/>
                      </a:moveTo>
                      <a:lnTo>
                        <a:pt x="224533" y="428625"/>
                      </a:lnTo>
                      <a:lnTo>
                        <a:pt x="224533" y="330394"/>
                      </a:lnTo>
                      <a:lnTo>
                        <a:pt x="322764" y="330394"/>
                      </a:lnTo>
                      <a:lnTo>
                        <a:pt x="322764" y="428625"/>
                      </a:lnTo>
                      <a:close/>
                      <a:moveTo>
                        <a:pt x="322764" y="437550"/>
                      </a:moveTo>
                      <a:lnTo>
                        <a:pt x="322764" y="535781"/>
                      </a:lnTo>
                      <a:lnTo>
                        <a:pt x="224533" y="535781"/>
                      </a:lnTo>
                      <a:lnTo>
                        <a:pt x="224533" y="437550"/>
                      </a:lnTo>
                      <a:lnTo>
                        <a:pt x="322764" y="437550"/>
                      </a:lnTo>
                      <a:close/>
                      <a:moveTo>
                        <a:pt x="322764" y="544706"/>
                      </a:moveTo>
                      <a:lnTo>
                        <a:pt x="322764" y="642938"/>
                      </a:lnTo>
                      <a:lnTo>
                        <a:pt x="224533" y="642938"/>
                      </a:lnTo>
                      <a:lnTo>
                        <a:pt x="224533" y="544706"/>
                      </a:lnTo>
                      <a:lnTo>
                        <a:pt x="322764" y="544706"/>
                      </a:lnTo>
                      <a:close/>
                      <a:moveTo>
                        <a:pt x="322764" y="651862"/>
                      </a:moveTo>
                      <a:lnTo>
                        <a:pt x="322764" y="750094"/>
                      </a:lnTo>
                      <a:lnTo>
                        <a:pt x="224533" y="750094"/>
                      </a:lnTo>
                      <a:lnTo>
                        <a:pt x="224533" y="651862"/>
                      </a:lnTo>
                      <a:lnTo>
                        <a:pt x="322764" y="651862"/>
                      </a:lnTo>
                      <a:close/>
                      <a:moveTo>
                        <a:pt x="322764" y="759019"/>
                      </a:moveTo>
                      <a:lnTo>
                        <a:pt x="322764" y="857250"/>
                      </a:lnTo>
                      <a:lnTo>
                        <a:pt x="224533" y="857250"/>
                      </a:lnTo>
                      <a:lnTo>
                        <a:pt x="224533" y="759019"/>
                      </a:lnTo>
                      <a:lnTo>
                        <a:pt x="322764" y="759019"/>
                      </a:lnTo>
                      <a:close/>
                      <a:moveTo>
                        <a:pt x="322764" y="866175"/>
                      </a:moveTo>
                      <a:lnTo>
                        <a:pt x="322764" y="964406"/>
                      </a:lnTo>
                      <a:lnTo>
                        <a:pt x="224533" y="964406"/>
                      </a:lnTo>
                      <a:lnTo>
                        <a:pt x="224533" y="866175"/>
                      </a:lnTo>
                      <a:lnTo>
                        <a:pt x="322764" y="866175"/>
                      </a:lnTo>
                      <a:close/>
                      <a:moveTo>
                        <a:pt x="322764" y="973331"/>
                      </a:moveTo>
                      <a:lnTo>
                        <a:pt x="322764" y="1071562"/>
                      </a:lnTo>
                      <a:lnTo>
                        <a:pt x="224533" y="1071562"/>
                      </a:lnTo>
                      <a:lnTo>
                        <a:pt x="224533" y="973331"/>
                      </a:lnTo>
                      <a:lnTo>
                        <a:pt x="322764" y="973331"/>
                      </a:lnTo>
                      <a:close/>
                      <a:moveTo>
                        <a:pt x="322764" y="1080487"/>
                      </a:moveTo>
                      <a:lnTo>
                        <a:pt x="322764" y="1178719"/>
                      </a:lnTo>
                      <a:lnTo>
                        <a:pt x="224533" y="1178719"/>
                      </a:lnTo>
                      <a:lnTo>
                        <a:pt x="224533" y="1080487"/>
                      </a:lnTo>
                      <a:lnTo>
                        <a:pt x="322764" y="1080487"/>
                      </a:lnTo>
                      <a:close/>
                      <a:moveTo>
                        <a:pt x="322764" y="1187644"/>
                      </a:moveTo>
                      <a:lnTo>
                        <a:pt x="322764" y="1285875"/>
                      </a:lnTo>
                      <a:lnTo>
                        <a:pt x="224533" y="1285875"/>
                      </a:lnTo>
                      <a:lnTo>
                        <a:pt x="224533" y="1187644"/>
                      </a:lnTo>
                      <a:lnTo>
                        <a:pt x="322764" y="1187644"/>
                      </a:lnTo>
                      <a:close/>
                      <a:moveTo>
                        <a:pt x="322764" y="1294800"/>
                      </a:moveTo>
                      <a:lnTo>
                        <a:pt x="322764" y="1393031"/>
                      </a:lnTo>
                      <a:lnTo>
                        <a:pt x="224533" y="1393031"/>
                      </a:lnTo>
                      <a:lnTo>
                        <a:pt x="224533" y="1294800"/>
                      </a:lnTo>
                      <a:lnTo>
                        <a:pt x="322764" y="1294800"/>
                      </a:lnTo>
                      <a:close/>
                      <a:moveTo>
                        <a:pt x="322764" y="1401956"/>
                      </a:moveTo>
                      <a:lnTo>
                        <a:pt x="322764" y="1500187"/>
                      </a:lnTo>
                      <a:lnTo>
                        <a:pt x="224533" y="1500187"/>
                      </a:lnTo>
                      <a:lnTo>
                        <a:pt x="224533" y="1401956"/>
                      </a:lnTo>
                      <a:lnTo>
                        <a:pt x="322764" y="1401956"/>
                      </a:lnTo>
                      <a:close/>
                      <a:moveTo>
                        <a:pt x="322764" y="1509112"/>
                      </a:moveTo>
                      <a:lnTo>
                        <a:pt x="322764" y="1607344"/>
                      </a:lnTo>
                      <a:lnTo>
                        <a:pt x="224533" y="1607344"/>
                      </a:lnTo>
                      <a:lnTo>
                        <a:pt x="224533" y="1509112"/>
                      </a:lnTo>
                      <a:lnTo>
                        <a:pt x="322764" y="1509112"/>
                      </a:lnTo>
                      <a:close/>
                      <a:moveTo>
                        <a:pt x="322764" y="1616269"/>
                      </a:moveTo>
                      <a:lnTo>
                        <a:pt x="322764" y="1714500"/>
                      </a:lnTo>
                      <a:lnTo>
                        <a:pt x="224533" y="1714500"/>
                      </a:lnTo>
                      <a:lnTo>
                        <a:pt x="224533" y="1616269"/>
                      </a:lnTo>
                      <a:lnTo>
                        <a:pt x="322764" y="1616269"/>
                      </a:lnTo>
                      <a:close/>
                      <a:moveTo>
                        <a:pt x="322764" y="1723425"/>
                      </a:moveTo>
                      <a:lnTo>
                        <a:pt x="322764" y="1821656"/>
                      </a:lnTo>
                      <a:lnTo>
                        <a:pt x="224533" y="1821656"/>
                      </a:lnTo>
                      <a:lnTo>
                        <a:pt x="224533" y="1723425"/>
                      </a:lnTo>
                      <a:lnTo>
                        <a:pt x="322764" y="1723425"/>
                      </a:lnTo>
                      <a:close/>
                      <a:moveTo>
                        <a:pt x="322764" y="1830581"/>
                      </a:moveTo>
                      <a:lnTo>
                        <a:pt x="322764" y="1928812"/>
                      </a:lnTo>
                      <a:lnTo>
                        <a:pt x="224533" y="1928812"/>
                      </a:lnTo>
                      <a:lnTo>
                        <a:pt x="224533" y="1830581"/>
                      </a:lnTo>
                      <a:lnTo>
                        <a:pt x="322764" y="1830581"/>
                      </a:lnTo>
                      <a:close/>
                      <a:moveTo>
                        <a:pt x="322764" y="1937737"/>
                      </a:moveTo>
                      <a:lnTo>
                        <a:pt x="322764" y="2035969"/>
                      </a:lnTo>
                      <a:lnTo>
                        <a:pt x="224533" y="2035969"/>
                      </a:lnTo>
                      <a:lnTo>
                        <a:pt x="224533" y="1937737"/>
                      </a:lnTo>
                      <a:lnTo>
                        <a:pt x="322764" y="1937737"/>
                      </a:lnTo>
                      <a:close/>
                      <a:moveTo>
                        <a:pt x="331699" y="1937737"/>
                      </a:moveTo>
                      <a:lnTo>
                        <a:pt x="429930" y="1937737"/>
                      </a:lnTo>
                      <a:lnTo>
                        <a:pt x="429930" y="2035969"/>
                      </a:lnTo>
                      <a:lnTo>
                        <a:pt x="331699" y="2035969"/>
                      </a:lnTo>
                      <a:lnTo>
                        <a:pt x="331699" y="1937737"/>
                      </a:lnTo>
                      <a:close/>
                      <a:moveTo>
                        <a:pt x="429920" y="2044894"/>
                      </a:moveTo>
                      <a:lnTo>
                        <a:pt x="429920" y="2143125"/>
                      </a:lnTo>
                      <a:lnTo>
                        <a:pt x="331689" y="2143125"/>
                      </a:lnTo>
                      <a:lnTo>
                        <a:pt x="331689" y="2044894"/>
                      </a:lnTo>
                      <a:lnTo>
                        <a:pt x="429920" y="2044894"/>
                      </a:lnTo>
                      <a:close/>
                      <a:moveTo>
                        <a:pt x="438855" y="2044894"/>
                      </a:moveTo>
                      <a:lnTo>
                        <a:pt x="537086" y="2044894"/>
                      </a:lnTo>
                      <a:lnTo>
                        <a:pt x="537086" y="2143125"/>
                      </a:lnTo>
                      <a:lnTo>
                        <a:pt x="438855" y="2143125"/>
                      </a:lnTo>
                      <a:lnTo>
                        <a:pt x="438855" y="2044894"/>
                      </a:lnTo>
                      <a:close/>
                      <a:moveTo>
                        <a:pt x="546011" y="2044894"/>
                      </a:moveTo>
                      <a:lnTo>
                        <a:pt x="644243" y="2044894"/>
                      </a:lnTo>
                      <a:lnTo>
                        <a:pt x="644243" y="2143125"/>
                      </a:lnTo>
                      <a:lnTo>
                        <a:pt x="546011" y="2143125"/>
                      </a:lnTo>
                      <a:lnTo>
                        <a:pt x="546011" y="2044894"/>
                      </a:lnTo>
                      <a:close/>
                      <a:moveTo>
                        <a:pt x="653167" y="2044894"/>
                      </a:moveTo>
                      <a:lnTo>
                        <a:pt x="751399" y="2044894"/>
                      </a:lnTo>
                      <a:lnTo>
                        <a:pt x="751399" y="2143125"/>
                      </a:lnTo>
                      <a:lnTo>
                        <a:pt x="653167" y="2143125"/>
                      </a:lnTo>
                      <a:lnTo>
                        <a:pt x="653167" y="2044894"/>
                      </a:lnTo>
                      <a:close/>
                      <a:moveTo>
                        <a:pt x="760324" y="2044894"/>
                      </a:moveTo>
                      <a:lnTo>
                        <a:pt x="858555" y="2044894"/>
                      </a:lnTo>
                      <a:lnTo>
                        <a:pt x="858555" y="2143125"/>
                      </a:lnTo>
                      <a:lnTo>
                        <a:pt x="760324" y="2143125"/>
                      </a:lnTo>
                      <a:lnTo>
                        <a:pt x="760324" y="2044894"/>
                      </a:lnTo>
                      <a:close/>
                      <a:moveTo>
                        <a:pt x="867480" y="2044894"/>
                      </a:moveTo>
                      <a:lnTo>
                        <a:pt x="965711" y="2044894"/>
                      </a:lnTo>
                      <a:lnTo>
                        <a:pt x="965711" y="2143125"/>
                      </a:lnTo>
                      <a:lnTo>
                        <a:pt x="867480" y="2143125"/>
                      </a:lnTo>
                      <a:lnTo>
                        <a:pt x="867480" y="2044894"/>
                      </a:lnTo>
                      <a:close/>
                      <a:moveTo>
                        <a:pt x="974636" y="2044894"/>
                      </a:moveTo>
                      <a:lnTo>
                        <a:pt x="1072867" y="2044894"/>
                      </a:lnTo>
                      <a:lnTo>
                        <a:pt x="1072867" y="2143125"/>
                      </a:lnTo>
                      <a:lnTo>
                        <a:pt x="974636" y="2143125"/>
                      </a:lnTo>
                      <a:lnTo>
                        <a:pt x="974636" y="2044894"/>
                      </a:lnTo>
                      <a:close/>
                      <a:moveTo>
                        <a:pt x="1081792" y="2044894"/>
                      </a:moveTo>
                      <a:lnTo>
                        <a:pt x="1180024" y="2044894"/>
                      </a:lnTo>
                      <a:lnTo>
                        <a:pt x="1180024" y="2143125"/>
                      </a:lnTo>
                      <a:lnTo>
                        <a:pt x="1081792" y="2143125"/>
                      </a:lnTo>
                      <a:lnTo>
                        <a:pt x="1081792" y="2044894"/>
                      </a:lnTo>
                      <a:close/>
                      <a:moveTo>
                        <a:pt x="1188949" y="2044894"/>
                      </a:moveTo>
                      <a:lnTo>
                        <a:pt x="1287180" y="2044894"/>
                      </a:lnTo>
                      <a:lnTo>
                        <a:pt x="1287180" y="2143125"/>
                      </a:lnTo>
                      <a:lnTo>
                        <a:pt x="1188949" y="2143125"/>
                      </a:lnTo>
                      <a:lnTo>
                        <a:pt x="1188949" y="2044894"/>
                      </a:lnTo>
                      <a:close/>
                      <a:moveTo>
                        <a:pt x="1296105" y="2044894"/>
                      </a:moveTo>
                      <a:lnTo>
                        <a:pt x="1394336" y="2044894"/>
                      </a:lnTo>
                      <a:lnTo>
                        <a:pt x="1394336" y="2143125"/>
                      </a:lnTo>
                      <a:lnTo>
                        <a:pt x="1296105" y="2143125"/>
                      </a:lnTo>
                      <a:lnTo>
                        <a:pt x="1296105" y="2044894"/>
                      </a:lnTo>
                      <a:close/>
                      <a:moveTo>
                        <a:pt x="1403261" y="2044894"/>
                      </a:moveTo>
                      <a:lnTo>
                        <a:pt x="1501492" y="2044894"/>
                      </a:lnTo>
                      <a:lnTo>
                        <a:pt x="1501492" y="2143125"/>
                      </a:lnTo>
                      <a:lnTo>
                        <a:pt x="1403261" y="2143125"/>
                      </a:lnTo>
                      <a:lnTo>
                        <a:pt x="1403261" y="2044894"/>
                      </a:lnTo>
                      <a:close/>
                      <a:moveTo>
                        <a:pt x="1403261" y="2035969"/>
                      </a:moveTo>
                      <a:lnTo>
                        <a:pt x="1403261" y="1937737"/>
                      </a:lnTo>
                      <a:lnTo>
                        <a:pt x="1501492" y="1937737"/>
                      </a:lnTo>
                      <a:lnTo>
                        <a:pt x="1501492" y="2035969"/>
                      </a:lnTo>
                      <a:lnTo>
                        <a:pt x="1403261" y="2035969"/>
                      </a:lnTo>
                      <a:close/>
                      <a:moveTo>
                        <a:pt x="1510417" y="1937737"/>
                      </a:moveTo>
                      <a:lnTo>
                        <a:pt x="1608649" y="1937737"/>
                      </a:lnTo>
                      <a:lnTo>
                        <a:pt x="1608649" y="2035969"/>
                      </a:lnTo>
                      <a:lnTo>
                        <a:pt x="1510417" y="2035969"/>
                      </a:lnTo>
                      <a:lnTo>
                        <a:pt x="1510417" y="1937737"/>
                      </a:lnTo>
                      <a:close/>
                      <a:moveTo>
                        <a:pt x="1510417" y="1928812"/>
                      </a:moveTo>
                      <a:lnTo>
                        <a:pt x="1510417" y="1830581"/>
                      </a:lnTo>
                      <a:lnTo>
                        <a:pt x="1608649" y="1830581"/>
                      </a:lnTo>
                      <a:lnTo>
                        <a:pt x="1608649" y="1928812"/>
                      </a:lnTo>
                      <a:lnTo>
                        <a:pt x="1510417" y="1928812"/>
                      </a:lnTo>
                      <a:close/>
                      <a:moveTo>
                        <a:pt x="1510417" y="1821656"/>
                      </a:moveTo>
                      <a:lnTo>
                        <a:pt x="1510417" y="1723425"/>
                      </a:lnTo>
                      <a:lnTo>
                        <a:pt x="1608649" y="1723425"/>
                      </a:lnTo>
                      <a:lnTo>
                        <a:pt x="1608649" y="1821656"/>
                      </a:lnTo>
                      <a:lnTo>
                        <a:pt x="1510417" y="1821656"/>
                      </a:lnTo>
                      <a:close/>
                      <a:moveTo>
                        <a:pt x="1510417" y="1714500"/>
                      </a:moveTo>
                      <a:lnTo>
                        <a:pt x="1510417" y="1616269"/>
                      </a:lnTo>
                      <a:lnTo>
                        <a:pt x="1608649" y="1616269"/>
                      </a:lnTo>
                      <a:lnTo>
                        <a:pt x="1608649" y="1714500"/>
                      </a:lnTo>
                      <a:lnTo>
                        <a:pt x="1510417" y="1714500"/>
                      </a:lnTo>
                      <a:close/>
                      <a:moveTo>
                        <a:pt x="1510417" y="1607344"/>
                      </a:moveTo>
                      <a:lnTo>
                        <a:pt x="1510417" y="1509112"/>
                      </a:lnTo>
                      <a:lnTo>
                        <a:pt x="1608649" y="1509112"/>
                      </a:lnTo>
                      <a:lnTo>
                        <a:pt x="1608649" y="1607344"/>
                      </a:lnTo>
                      <a:lnTo>
                        <a:pt x="1510417" y="1607344"/>
                      </a:lnTo>
                      <a:close/>
                      <a:moveTo>
                        <a:pt x="1510417" y="1500187"/>
                      </a:moveTo>
                      <a:lnTo>
                        <a:pt x="1510417" y="1401956"/>
                      </a:lnTo>
                      <a:lnTo>
                        <a:pt x="1608649" y="1401956"/>
                      </a:lnTo>
                      <a:lnTo>
                        <a:pt x="1608649" y="1500187"/>
                      </a:lnTo>
                      <a:lnTo>
                        <a:pt x="1510417" y="1500187"/>
                      </a:lnTo>
                      <a:close/>
                      <a:moveTo>
                        <a:pt x="1510417" y="1393031"/>
                      </a:moveTo>
                      <a:lnTo>
                        <a:pt x="1510417" y="1294800"/>
                      </a:lnTo>
                      <a:lnTo>
                        <a:pt x="1608649" y="1294800"/>
                      </a:lnTo>
                      <a:lnTo>
                        <a:pt x="1608649" y="1393031"/>
                      </a:lnTo>
                      <a:lnTo>
                        <a:pt x="1510417" y="1393031"/>
                      </a:lnTo>
                      <a:close/>
                      <a:moveTo>
                        <a:pt x="1510417" y="1285875"/>
                      </a:moveTo>
                      <a:lnTo>
                        <a:pt x="1510417" y="1187644"/>
                      </a:lnTo>
                      <a:lnTo>
                        <a:pt x="1608649" y="1187644"/>
                      </a:lnTo>
                      <a:lnTo>
                        <a:pt x="1608649" y="1285875"/>
                      </a:lnTo>
                      <a:lnTo>
                        <a:pt x="1510417" y="1285875"/>
                      </a:lnTo>
                      <a:close/>
                      <a:moveTo>
                        <a:pt x="1510417" y="1178719"/>
                      </a:moveTo>
                      <a:lnTo>
                        <a:pt x="1510417" y="1080487"/>
                      </a:lnTo>
                      <a:lnTo>
                        <a:pt x="1608649" y="1080487"/>
                      </a:lnTo>
                      <a:lnTo>
                        <a:pt x="1608649" y="1178719"/>
                      </a:lnTo>
                      <a:lnTo>
                        <a:pt x="1510417" y="1178719"/>
                      </a:lnTo>
                      <a:close/>
                      <a:moveTo>
                        <a:pt x="1510417" y="1071562"/>
                      </a:moveTo>
                      <a:lnTo>
                        <a:pt x="1510417" y="973331"/>
                      </a:lnTo>
                      <a:lnTo>
                        <a:pt x="1608649" y="973331"/>
                      </a:lnTo>
                      <a:lnTo>
                        <a:pt x="1608649" y="1071562"/>
                      </a:lnTo>
                      <a:lnTo>
                        <a:pt x="1510417" y="1071562"/>
                      </a:lnTo>
                      <a:close/>
                      <a:moveTo>
                        <a:pt x="1510417" y="964406"/>
                      </a:moveTo>
                      <a:lnTo>
                        <a:pt x="1510417" y="866175"/>
                      </a:lnTo>
                      <a:lnTo>
                        <a:pt x="1608649" y="866175"/>
                      </a:lnTo>
                      <a:lnTo>
                        <a:pt x="1608649" y="964406"/>
                      </a:lnTo>
                      <a:lnTo>
                        <a:pt x="1510417" y="964406"/>
                      </a:lnTo>
                      <a:close/>
                      <a:moveTo>
                        <a:pt x="1510417" y="857250"/>
                      </a:moveTo>
                      <a:lnTo>
                        <a:pt x="1510417" y="759019"/>
                      </a:lnTo>
                      <a:lnTo>
                        <a:pt x="1608649" y="759019"/>
                      </a:lnTo>
                      <a:lnTo>
                        <a:pt x="1608649" y="857250"/>
                      </a:lnTo>
                      <a:lnTo>
                        <a:pt x="1510417" y="857250"/>
                      </a:lnTo>
                      <a:close/>
                      <a:moveTo>
                        <a:pt x="1510417" y="750094"/>
                      </a:moveTo>
                      <a:lnTo>
                        <a:pt x="1510417" y="651862"/>
                      </a:lnTo>
                      <a:lnTo>
                        <a:pt x="1608649" y="651862"/>
                      </a:lnTo>
                      <a:lnTo>
                        <a:pt x="1608649" y="750094"/>
                      </a:lnTo>
                      <a:lnTo>
                        <a:pt x="1510417" y="750094"/>
                      </a:lnTo>
                      <a:close/>
                      <a:moveTo>
                        <a:pt x="1510417" y="642938"/>
                      </a:moveTo>
                      <a:lnTo>
                        <a:pt x="1510417" y="544706"/>
                      </a:lnTo>
                      <a:lnTo>
                        <a:pt x="1608649" y="544706"/>
                      </a:lnTo>
                      <a:lnTo>
                        <a:pt x="1608649" y="642938"/>
                      </a:lnTo>
                      <a:lnTo>
                        <a:pt x="1510417" y="642938"/>
                      </a:lnTo>
                      <a:close/>
                      <a:moveTo>
                        <a:pt x="1510417" y="535781"/>
                      </a:moveTo>
                      <a:lnTo>
                        <a:pt x="1510417" y="437550"/>
                      </a:lnTo>
                      <a:lnTo>
                        <a:pt x="1608649" y="437550"/>
                      </a:lnTo>
                      <a:lnTo>
                        <a:pt x="1608649" y="535781"/>
                      </a:lnTo>
                      <a:lnTo>
                        <a:pt x="1510417" y="535781"/>
                      </a:lnTo>
                      <a:close/>
                      <a:moveTo>
                        <a:pt x="1510417" y="428625"/>
                      </a:moveTo>
                      <a:lnTo>
                        <a:pt x="1510417" y="330394"/>
                      </a:lnTo>
                      <a:lnTo>
                        <a:pt x="1608649" y="330394"/>
                      </a:lnTo>
                      <a:lnTo>
                        <a:pt x="1608649" y="428625"/>
                      </a:lnTo>
                      <a:lnTo>
                        <a:pt x="1510417" y="428625"/>
                      </a:lnTo>
                      <a:close/>
                      <a:moveTo>
                        <a:pt x="1510417" y="321469"/>
                      </a:moveTo>
                      <a:lnTo>
                        <a:pt x="1510417" y="223237"/>
                      </a:lnTo>
                      <a:lnTo>
                        <a:pt x="1608649" y="223237"/>
                      </a:lnTo>
                      <a:lnTo>
                        <a:pt x="1608649" y="321469"/>
                      </a:lnTo>
                      <a:lnTo>
                        <a:pt x="1510417" y="321469"/>
                      </a:lnTo>
                      <a:close/>
                      <a:moveTo>
                        <a:pt x="1510417" y="214313"/>
                      </a:moveTo>
                      <a:lnTo>
                        <a:pt x="1510417" y="116081"/>
                      </a:lnTo>
                      <a:lnTo>
                        <a:pt x="1608649" y="116081"/>
                      </a:lnTo>
                      <a:lnTo>
                        <a:pt x="1608649" y="214313"/>
                      </a:lnTo>
                      <a:lnTo>
                        <a:pt x="1510417" y="214313"/>
                      </a:lnTo>
                      <a:close/>
                      <a:moveTo>
                        <a:pt x="1501483" y="214313"/>
                      </a:moveTo>
                      <a:lnTo>
                        <a:pt x="1403252" y="214313"/>
                      </a:lnTo>
                      <a:lnTo>
                        <a:pt x="1403252" y="116081"/>
                      </a:lnTo>
                      <a:lnTo>
                        <a:pt x="1501483" y="116081"/>
                      </a:lnTo>
                      <a:lnTo>
                        <a:pt x="1501483" y="214313"/>
                      </a:lnTo>
                      <a:close/>
                      <a:moveTo>
                        <a:pt x="1394327" y="214313"/>
                      </a:moveTo>
                      <a:lnTo>
                        <a:pt x="1296095" y="214313"/>
                      </a:lnTo>
                      <a:lnTo>
                        <a:pt x="1296095" y="116081"/>
                      </a:lnTo>
                      <a:lnTo>
                        <a:pt x="1394327" y="116081"/>
                      </a:lnTo>
                      <a:lnTo>
                        <a:pt x="1394327" y="214313"/>
                      </a:lnTo>
                      <a:close/>
                      <a:moveTo>
                        <a:pt x="1287171" y="214313"/>
                      </a:moveTo>
                      <a:lnTo>
                        <a:pt x="1188939" y="214313"/>
                      </a:lnTo>
                      <a:lnTo>
                        <a:pt x="1188939" y="116081"/>
                      </a:lnTo>
                      <a:lnTo>
                        <a:pt x="1287171" y="116081"/>
                      </a:lnTo>
                      <a:lnTo>
                        <a:pt x="1287171" y="214313"/>
                      </a:lnTo>
                      <a:close/>
                      <a:moveTo>
                        <a:pt x="1180014" y="214313"/>
                      </a:moveTo>
                      <a:lnTo>
                        <a:pt x="1081783" y="214313"/>
                      </a:lnTo>
                      <a:lnTo>
                        <a:pt x="1081783" y="116081"/>
                      </a:lnTo>
                      <a:lnTo>
                        <a:pt x="1180014" y="116081"/>
                      </a:lnTo>
                      <a:lnTo>
                        <a:pt x="1180014" y="214313"/>
                      </a:lnTo>
                      <a:close/>
                      <a:moveTo>
                        <a:pt x="1072858" y="214313"/>
                      </a:moveTo>
                      <a:lnTo>
                        <a:pt x="974627" y="214313"/>
                      </a:lnTo>
                      <a:lnTo>
                        <a:pt x="974627" y="116081"/>
                      </a:lnTo>
                      <a:lnTo>
                        <a:pt x="1072858" y="116081"/>
                      </a:lnTo>
                      <a:lnTo>
                        <a:pt x="1072858" y="214313"/>
                      </a:lnTo>
                      <a:close/>
                      <a:moveTo>
                        <a:pt x="965702" y="214313"/>
                      </a:moveTo>
                      <a:lnTo>
                        <a:pt x="867470" y="214313"/>
                      </a:lnTo>
                      <a:lnTo>
                        <a:pt x="867470" y="116081"/>
                      </a:lnTo>
                      <a:lnTo>
                        <a:pt x="965702" y="116081"/>
                      </a:lnTo>
                      <a:lnTo>
                        <a:pt x="965702" y="214313"/>
                      </a:lnTo>
                      <a:close/>
                      <a:moveTo>
                        <a:pt x="858546" y="214313"/>
                      </a:moveTo>
                      <a:lnTo>
                        <a:pt x="760314" y="214313"/>
                      </a:lnTo>
                      <a:lnTo>
                        <a:pt x="760314" y="116081"/>
                      </a:lnTo>
                      <a:lnTo>
                        <a:pt x="858546" y="116081"/>
                      </a:lnTo>
                      <a:lnTo>
                        <a:pt x="858546" y="214313"/>
                      </a:lnTo>
                      <a:close/>
                      <a:moveTo>
                        <a:pt x="751389" y="214313"/>
                      </a:moveTo>
                      <a:lnTo>
                        <a:pt x="653158" y="214313"/>
                      </a:lnTo>
                      <a:lnTo>
                        <a:pt x="653158" y="116081"/>
                      </a:lnTo>
                      <a:lnTo>
                        <a:pt x="751389" y="116081"/>
                      </a:lnTo>
                      <a:lnTo>
                        <a:pt x="751389" y="214313"/>
                      </a:lnTo>
                      <a:close/>
                      <a:moveTo>
                        <a:pt x="644233" y="214313"/>
                      </a:moveTo>
                      <a:lnTo>
                        <a:pt x="546002" y="214313"/>
                      </a:lnTo>
                      <a:lnTo>
                        <a:pt x="546002" y="116081"/>
                      </a:lnTo>
                      <a:lnTo>
                        <a:pt x="644233" y="116081"/>
                      </a:lnTo>
                      <a:lnTo>
                        <a:pt x="644233" y="214313"/>
                      </a:lnTo>
                      <a:close/>
                      <a:moveTo>
                        <a:pt x="537077" y="214313"/>
                      </a:moveTo>
                      <a:lnTo>
                        <a:pt x="438845" y="214313"/>
                      </a:lnTo>
                      <a:lnTo>
                        <a:pt x="438845" y="116081"/>
                      </a:lnTo>
                      <a:lnTo>
                        <a:pt x="537077" y="116081"/>
                      </a:lnTo>
                      <a:lnTo>
                        <a:pt x="537077" y="214313"/>
                      </a:lnTo>
                      <a:close/>
                      <a:moveTo>
                        <a:pt x="429920" y="214313"/>
                      </a:moveTo>
                      <a:lnTo>
                        <a:pt x="331689" y="214313"/>
                      </a:lnTo>
                      <a:lnTo>
                        <a:pt x="331689" y="116081"/>
                      </a:lnTo>
                      <a:lnTo>
                        <a:pt x="429920" y="116081"/>
                      </a:lnTo>
                      <a:lnTo>
                        <a:pt x="429920" y="214313"/>
                      </a:lnTo>
                      <a:close/>
                      <a:moveTo>
                        <a:pt x="322764" y="214313"/>
                      </a:moveTo>
                      <a:lnTo>
                        <a:pt x="224533" y="214313"/>
                      </a:lnTo>
                      <a:lnTo>
                        <a:pt x="224533" y="116081"/>
                      </a:lnTo>
                      <a:lnTo>
                        <a:pt x="322764" y="116081"/>
                      </a:lnTo>
                      <a:lnTo>
                        <a:pt x="322764" y="214313"/>
                      </a:lnTo>
                      <a:close/>
                      <a:moveTo>
                        <a:pt x="322764" y="223237"/>
                      </a:moveTo>
                      <a:lnTo>
                        <a:pt x="322764" y="321469"/>
                      </a:lnTo>
                      <a:lnTo>
                        <a:pt x="224533" y="321469"/>
                      </a:lnTo>
                      <a:lnTo>
                        <a:pt x="224533" y="223237"/>
                      </a:lnTo>
                      <a:lnTo>
                        <a:pt x="322764" y="223237"/>
                      </a:lnTo>
                      <a:close/>
                      <a:moveTo>
                        <a:pt x="215608" y="321469"/>
                      </a:moveTo>
                      <a:lnTo>
                        <a:pt x="117377" y="321469"/>
                      </a:lnTo>
                      <a:lnTo>
                        <a:pt x="117377" y="223237"/>
                      </a:lnTo>
                      <a:lnTo>
                        <a:pt x="215608" y="223237"/>
                      </a:lnTo>
                      <a:lnTo>
                        <a:pt x="215608" y="321469"/>
                      </a:lnTo>
                      <a:close/>
                      <a:moveTo>
                        <a:pt x="215608" y="330394"/>
                      </a:moveTo>
                      <a:lnTo>
                        <a:pt x="215608" y="428625"/>
                      </a:lnTo>
                      <a:lnTo>
                        <a:pt x="117377" y="428625"/>
                      </a:lnTo>
                      <a:lnTo>
                        <a:pt x="117377" y="330394"/>
                      </a:lnTo>
                      <a:lnTo>
                        <a:pt x="215608" y="330394"/>
                      </a:lnTo>
                      <a:close/>
                      <a:moveTo>
                        <a:pt x="215608" y="437550"/>
                      </a:moveTo>
                      <a:lnTo>
                        <a:pt x="215608" y="535781"/>
                      </a:lnTo>
                      <a:lnTo>
                        <a:pt x="117377" y="535781"/>
                      </a:lnTo>
                      <a:lnTo>
                        <a:pt x="117377" y="437550"/>
                      </a:lnTo>
                      <a:lnTo>
                        <a:pt x="215608" y="437550"/>
                      </a:lnTo>
                      <a:close/>
                      <a:moveTo>
                        <a:pt x="215608" y="544706"/>
                      </a:moveTo>
                      <a:lnTo>
                        <a:pt x="215608" y="642938"/>
                      </a:lnTo>
                      <a:lnTo>
                        <a:pt x="117377" y="642938"/>
                      </a:lnTo>
                      <a:lnTo>
                        <a:pt x="117377" y="544706"/>
                      </a:lnTo>
                      <a:lnTo>
                        <a:pt x="215608" y="544706"/>
                      </a:lnTo>
                      <a:close/>
                      <a:moveTo>
                        <a:pt x="215608" y="651862"/>
                      </a:moveTo>
                      <a:lnTo>
                        <a:pt x="215608" y="750094"/>
                      </a:lnTo>
                      <a:lnTo>
                        <a:pt x="117377" y="750094"/>
                      </a:lnTo>
                      <a:lnTo>
                        <a:pt x="117377" y="651862"/>
                      </a:lnTo>
                      <a:lnTo>
                        <a:pt x="215608" y="651862"/>
                      </a:lnTo>
                      <a:close/>
                      <a:moveTo>
                        <a:pt x="215608" y="759019"/>
                      </a:moveTo>
                      <a:lnTo>
                        <a:pt x="215608" y="857250"/>
                      </a:lnTo>
                      <a:lnTo>
                        <a:pt x="117377" y="857250"/>
                      </a:lnTo>
                      <a:lnTo>
                        <a:pt x="117377" y="759019"/>
                      </a:lnTo>
                      <a:lnTo>
                        <a:pt x="215608" y="759019"/>
                      </a:lnTo>
                      <a:close/>
                      <a:moveTo>
                        <a:pt x="215608" y="866175"/>
                      </a:moveTo>
                      <a:lnTo>
                        <a:pt x="215608" y="964406"/>
                      </a:lnTo>
                      <a:lnTo>
                        <a:pt x="117377" y="964406"/>
                      </a:lnTo>
                      <a:lnTo>
                        <a:pt x="117377" y="866175"/>
                      </a:lnTo>
                      <a:lnTo>
                        <a:pt x="215608" y="866175"/>
                      </a:lnTo>
                      <a:close/>
                      <a:moveTo>
                        <a:pt x="215608" y="973331"/>
                      </a:moveTo>
                      <a:lnTo>
                        <a:pt x="215608" y="1071562"/>
                      </a:lnTo>
                      <a:lnTo>
                        <a:pt x="117377" y="1071562"/>
                      </a:lnTo>
                      <a:lnTo>
                        <a:pt x="117377" y="973331"/>
                      </a:lnTo>
                      <a:lnTo>
                        <a:pt x="215608" y="973331"/>
                      </a:lnTo>
                      <a:close/>
                      <a:moveTo>
                        <a:pt x="215608" y="1080487"/>
                      </a:moveTo>
                      <a:lnTo>
                        <a:pt x="215608" y="1178719"/>
                      </a:lnTo>
                      <a:lnTo>
                        <a:pt x="117377" y="1178719"/>
                      </a:lnTo>
                      <a:lnTo>
                        <a:pt x="117377" y="1080487"/>
                      </a:lnTo>
                      <a:lnTo>
                        <a:pt x="215608" y="1080487"/>
                      </a:lnTo>
                      <a:close/>
                      <a:moveTo>
                        <a:pt x="215608" y="1187644"/>
                      </a:moveTo>
                      <a:lnTo>
                        <a:pt x="215608" y="1285875"/>
                      </a:lnTo>
                      <a:lnTo>
                        <a:pt x="117377" y="1285875"/>
                      </a:lnTo>
                      <a:lnTo>
                        <a:pt x="117377" y="1187644"/>
                      </a:lnTo>
                      <a:lnTo>
                        <a:pt x="215608" y="1187644"/>
                      </a:lnTo>
                      <a:close/>
                      <a:moveTo>
                        <a:pt x="215608" y="1294800"/>
                      </a:moveTo>
                      <a:lnTo>
                        <a:pt x="215608" y="1393031"/>
                      </a:lnTo>
                      <a:lnTo>
                        <a:pt x="117377" y="1393031"/>
                      </a:lnTo>
                      <a:lnTo>
                        <a:pt x="117377" y="1294800"/>
                      </a:lnTo>
                      <a:lnTo>
                        <a:pt x="215608" y="1294800"/>
                      </a:lnTo>
                      <a:close/>
                      <a:moveTo>
                        <a:pt x="215608" y="1401956"/>
                      </a:moveTo>
                      <a:lnTo>
                        <a:pt x="215608" y="1500187"/>
                      </a:lnTo>
                      <a:lnTo>
                        <a:pt x="117377" y="1500187"/>
                      </a:lnTo>
                      <a:lnTo>
                        <a:pt x="117377" y="1401956"/>
                      </a:lnTo>
                      <a:lnTo>
                        <a:pt x="215608" y="1401956"/>
                      </a:lnTo>
                      <a:close/>
                      <a:moveTo>
                        <a:pt x="215608" y="1509112"/>
                      </a:moveTo>
                      <a:lnTo>
                        <a:pt x="215608" y="1607344"/>
                      </a:lnTo>
                      <a:lnTo>
                        <a:pt x="117377" y="1607344"/>
                      </a:lnTo>
                      <a:lnTo>
                        <a:pt x="117377" y="1509112"/>
                      </a:lnTo>
                      <a:lnTo>
                        <a:pt x="215608" y="1509112"/>
                      </a:lnTo>
                      <a:close/>
                      <a:moveTo>
                        <a:pt x="215608" y="1616269"/>
                      </a:moveTo>
                      <a:lnTo>
                        <a:pt x="215608" y="1714500"/>
                      </a:lnTo>
                      <a:lnTo>
                        <a:pt x="117377" y="1714500"/>
                      </a:lnTo>
                      <a:lnTo>
                        <a:pt x="117377" y="1616269"/>
                      </a:lnTo>
                      <a:lnTo>
                        <a:pt x="215608" y="1616269"/>
                      </a:lnTo>
                      <a:close/>
                      <a:moveTo>
                        <a:pt x="215608" y="1723425"/>
                      </a:moveTo>
                      <a:lnTo>
                        <a:pt x="215608" y="1821656"/>
                      </a:lnTo>
                      <a:lnTo>
                        <a:pt x="117377" y="1821656"/>
                      </a:lnTo>
                      <a:lnTo>
                        <a:pt x="117377" y="1723425"/>
                      </a:lnTo>
                      <a:lnTo>
                        <a:pt x="215608" y="1723425"/>
                      </a:lnTo>
                      <a:close/>
                      <a:moveTo>
                        <a:pt x="215608" y="1830581"/>
                      </a:moveTo>
                      <a:lnTo>
                        <a:pt x="215608" y="1928812"/>
                      </a:lnTo>
                      <a:lnTo>
                        <a:pt x="117377" y="1928812"/>
                      </a:lnTo>
                      <a:lnTo>
                        <a:pt x="117377" y="1830581"/>
                      </a:lnTo>
                      <a:lnTo>
                        <a:pt x="215608" y="1830581"/>
                      </a:lnTo>
                      <a:close/>
                      <a:moveTo>
                        <a:pt x="215608" y="1937737"/>
                      </a:moveTo>
                      <a:lnTo>
                        <a:pt x="215608" y="2035969"/>
                      </a:lnTo>
                      <a:lnTo>
                        <a:pt x="117377" y="2035969"/>
                      </a:lnTo>
                      <a:lnTo>
                        <a:pt x="117377" y="1937737"/>
                      </a:lnTo>
                      <a:lnTo>
                        <a:pt x="215608" y="1937737"/>
                      </a:lnTo>
                      <a:close/>
                      <a:moveTo>
                        <a:pt x="215608" y="2044894"/>
                      </a:moveTo>
                      <a:lnTo>
                        <a:pt x="215608" y="2143125"/>
                      </a:lnTo>
                      <a:lnTo>
                        <a:pt x="117377" y="2143125"/>
                      </a:lnTo>
                      <a:lnTo>
                        <a:pt x="117377" y="2044894"/>
                      </a:lnTo>
                      <a:lnTo>
                        <a:pt x="215608" y="2044894"/>
                      </a:lnTo>
                      <a:close/>
                      <a:moveTo>
                        <a:pt x="224542" y="2044894"/>
                      </a:moveTo>
                      <a:lnTo>
                        <a:pt x="322774" y="2044894"/>
                      </a:lnTo>
                      <a:lnTo>
                        <a:pt x="322774" y="2143125"/>
                      </a:lnTo>
                      <a:lnTo>
                        <a:pt x="224542" y="2143125"/>
                      </a:lnTo>
                      <a:lnTo>
                        <a:pt x="224542" y="2044894"/>
                      </a:lnTo>
                      <a:close/>
                      <a:moveTo>
                        <a:pt x="322764" y="2152050"/>
                      </a:moveTo>
                      <a:lnTo>
                        <a:pt x="322764" y="2250281"/>
                      </a:lnTo>
                      <a:lnTo>
                        <a:pt x="224533" y="2250281"/>
                      </a:lnTo>
                      <a:lnTo>
                        <a:pt x="224533" y="2152050"/>
                      </a:lnTo>
                      <a:lnTo>
                        <a:pt x="322764" y="2152050"/>
                      </a:lnTo>
                      <a:close/>
                      <a:moveTo>
                        <a:pt x="331699" y="2152050"/>
                      </a:moveTo>
                      <a:lnTo>
                        <a:pt x="429930" y="2152050"/>
                      </a:lnTo>
                      <a:lnTo>
                        <a:pt x="429930" y="2250281"/>
                      </a:lnTo>
                      <a:lnTo>
                        <a:pt x="331699" y="2250281"/>
                      </a:lnTo>
                      <a:lnTo>
                        <a:pt x="331699" y="2152050"/>
                      </a:lnTo>
                      <a:close/>
                      <a:moveTo>
                        <a:pt x="438855" y="2152050"/>
                      </a:moveTo>
                      <a:lnTo>
                        <a:pt x="537086" y="2152050"/>
                      </a:lnTo>
                      <a:lnTo>
                        <a:pt x="537086" y="2250281"/>
                      </a:lnTo>
                      <a:lnTo>
                        <a:pt x="438855" y="2250281"/>
                      </a:lnTo>
                      <a:lnTo>
                        <a:pt x="438855" y="2152050"/>
                      </a:lnTo>
                      <a:close/>
                      <a:moveTo>
                        <a:pt x="546011" y="2152050"/>
                      </a:moveTo>
                      <a:lnTo>
                        <a:pt x="644243" y="2152050"/>
                      </a:lnTo>
                      <a:lnTo>
                        <a:pt x="644243" y="2250281"/>
                      </a:lnTo>
                      <a:lnTo>
                        <a:pt x="546011" y="2250281"/>
                      </a:lnTo>
                      <a:lnTo>
                        <a:pt x="546011" y="2152050"/>
                      </a:lnTo>
                      <a:close/>
                      <a:moveTo>
                        <a:pt x="653167" y="2152050"/>
                      </a:moveTo>
                      <a:lnTo>
                        <a:pt x="751399" y="2152050"/>
                      </a:lnTo>
                      <a:lnTo>
                        <a:pt x="751399" y="2250281"/>
                      </a:lnTo>
                      <a:lnTo>
                        <a:pt x="653167" y="2250281"/>
                      </a:lnTo>
                      <a:lnTo>
                        <a:pt x="653167" y="2152050"/>
                      </a:lnTo>
                      <a:close/>
                      <a:moveTo>
                        <a:pt x="760324" y="2152050"/>
                      </a:moveTo>
                      <a:lnTo>
                        <a:pt x="858555" y="2152050"/>
                      </a:lnTo>
                      <a:lnTo>
                        <a:pt x="858555" y="2250281"/>
                      </a:lnTo>
                      <a:lnTo>
                        <a:pt x="760324" y="2250281"/>
                      </a:lnTo>
                      <a:lnTo>
                        <a:pt x="760324" y="2152050"/>
                      </a:lnTo>
                      <a:close/>
                      <a:moveTo>
                        <a:pt x="867480" y="2152050"/>
                      </a:moveTo>
                      <a:lnTo>
                        <a:pt x="965711" y="2152050"/>
                      </a:lnTo>
                      <a:lnTo>
                        <a:pt x="965711" y="2250281"/>
                      </a:lnTo>
                      <a:lnTo>
                        <a:pt x="867480" y="2250281"/>
                      </a:lnTo>
                      <a:lnTo>
                        <a:pt x="867480" y="2152050"/>
                      </a:lnTo>
                      <a:close/>
                      <a:moveTo>
                        <a:pt x="974636" y="2152050"/>
                      </a:moveTo>
                      <a:lnTo>
                        <a:pt x="1072867" y="2152050"/>
                      </a:lnTo>
                      <a:lnTo>
                        <a:pt x="1072867" y="2250281"/>
                      </a:lnTo>
                      <a:lnTo>
                        <a:pt x="974636" y="2250281"/>
                      </a:lnTo>
                      <a:lnTo>
                        <a:pt x="974636" y="2152050"/>
                      </a:lnTo>
                      <a:close/>
                      <a:moveTo>
                        <a:pt x="1081792" y="2152050"/>
                      </a:moveTo>
                      <a:lnTo>
                        <a:pt x="1180024" y="2152050"/>
                      </a:lnTo>
                      <a:lnTo>
                        <a:pt x="1180024" y="2250281"/>
                      </a:lnTo>
                      <a:lnTo>
                        <a:pt x="1081792" y="2250281"/>
                      </a:lnTo>
                      <a:lnTo>
                        <a:pt x="1081792" y="2152050"/>
                      </a:lnTo>
                      <a:close/>
                      <a:moveTo>
                        <a:pt x="1188949" y="2152050"/>
                      </a:moveTo>
                      <a:lnTo>
                        <a:pt x="1287180" y="2152050"/>
                      </a:lnTo>
                      <a:lnTo>
                        <a:pt x="1287180" y="2250281"/>
                      </a:lnTo>
                      <a:lnTo>
                        <a:pt x="1188949" y="2250281"/>
                      </a:lnTo>
                      <a:lnTo>
                        <a:pt x="1188949" y="2152050"/>
                      </a:lnTo>
                      <a:close/>
                      <a:moveTo>
                        <a:pt x="1296105" y="2152050"/>
                      </a:moveTo>
                      <a:lnTo>
                        <a:pt x="1394336" y="2152050"/>
                      </a:lnTo>
                      <a:lnTo>
                        <a:pt x="1394336" y="2250281"/>
                      </a:lnTo>
                      <a:lnTo>
                        <a:pt x="1296105" y="2250281"/>
                      </a:lnTo>
                      <a:lnTo>
                        <a:pt x="1296105" y="2152050"/>
                      </a:lnTo>
                      <a:close/>
                      <a:moveTo>
                        <a:pt x="1403261" y="2152050"/>
                      </a:moveTo>
                      <a:lnTo>
                        <a:pt x="1501492" y="2152050"/>
                      </a:lnTo>
                      <a:lnTo>
                        <a:pt x="1501492" y="2250281"/>
                      </a:lnTo>
                      <a:lnTo>
                        <a:pt x="1403261" y="2250281"/>
                      </a:lnTo>
                      <a:lnTo>
                        <a:pt x="1403261" y="2152050"/>
                      </a:lnTo>
                      <a:close/>
                      <a:moveTo>
                        <a:pt x="1510417" y="2152050"/>
                      </a:moveTo>
                      <a:lnTo>
                        <a:pt x="1608649" y="2152050"/>
                      </a:lnTo>
                      <a:lnTo>
                        <a:pt x="1608649" y="2250281"/>
                      </a:lnTo>
                      <a:lnTo>
                        <a:pt x="1510417" y="2250281"/>
                      </a:lnTo>
                      <a:lnTo>
                        <a:pt x="1510417" y="2152050"/>
                      </a:lnTo>
                      <a:close/>
                      <a:moveTo>
                        <a:pt x="1510417" y="2143125"/>
                      </a:moveTo>
                      <a:lnTo>
                        <a:pt x="1510417" y="2044894"/>
                      </a:lnTo>
                      <a:lnTo>
                        <a:pt x="1608649" y="2044894"/>
                      </a:lnTo>
                      <a:lnTo>
                        <a:pt x="1608649" y="2143125"/>
                      </a:lnTo>
                      <a:lnTo>
                        <a:pt x="1510417" y="2143125"/>
                      </a:lnTo>
                      <a:close/>
                      <a:moveTo>
                        <a:pt x="1617574" y="2044894"/>
                      </a:moveTo>
                      <a:lnTo>
                        <a:pt x="1715805" y="2044894"/>
                      </a:lnTo>
                      <a:lnTo>
                        <a:pt x="1715805" y="2143125"/>
                      </a:lnTo>
                      <a:lnTo>
                        <a:pt x="1617574" y="2143125"/>
                      </a:lnTo>
                      <a:lnTo>
                        <a:pt x="1617574" y="2044894"/>
                      </a:lnTo>
                      <a:close/>
                      <a:moveTo>
                        <a:pt x="1617574" y="2035969"/>
                      </a:moveTo>
                      <a:lnTo>
                        <a:pt x="1617574" y="1937737"/>
                      </a:lnTo>
                      <a:lnTo>
                        <a:pt x="1715805" y="1937737"/>
                      </a:lnTo>
                      <a:lnTo>
                        <a:pt x="1715805" y="2035969"/>
                      </a:lnTo>
                      <a:lnTo>
                        <a:pt x="1617574" y="2035969"/>
                      </a:lnTo>
                      <a:close/>
                      <a:moveTo>
                        <a:pt x="1617574" y="1928812"/>
                      </a:moveTo>
                      <a:lnTo>
                        <a:pt x="1617574" y="1830581"/>
                      </a:lnTo>
                      <a:lnTo>
                        <a:pt x="1715805" y="1830581"/>
                      </a:lnTo>
                      <a:lnTo>
                        <a:pt x="1715805" y="1928812"/>
                      </a:lnTo>
                      <a:lnTo>
                        <a:pt x="1617574" y="1928812"/>
                      </a:lnTo>
                      <a:close/>
                      <a:moveTo>
                        <a:pt x="1617574" y="1821656"/>
                      </a:moveTo>
                      <a:lnTo>
                        <a:pt x="1617574" y="1723425"/>
                      </a:lnTo>
                      <a:lnTo>
                        <a:pt x="1715805" y="1723425"/>
                      </a:lnTo>
                      <a:lnTo>
                        <a:pt x="1715805" y="1821656"/>
                      </a:lnTo>
                      <a:lnTo>
                        <a:pt x="1617574" y="1821656"/>
                      </a:lnTo>
                      <a:close/>
                      <a:moveTo>
                        <a:pt x="1617574" y="1714500"/>
                      </a:moveTo>
                      <a:lnTo>
                        <a:pt x="1617574" y="1616269"/>
                      </a:lnTo>
                      <a:lnTo>
                        <a:pt x="1715805" y="1616269"/>
                      </a:lnTo>
                      <a:lnTo>
                        <a:pt x="1715805" y="1714500"/>
                      </a:lnTo>
                      <a:lnTo>
                        <a:pt x="1617574" y="1714500"/>
                      </a:lnTo>
                      <a:close/>
                      <a:moveTo>
                        <a:pt x="1617574" y="1607344"/>
                      </a:moveTo>
                      <a:lnTo>
                        <a:pt x="1617574" y="1509112"/>
                      </a:lnTo>
                      <a:lnTo>
                        <a:pt x="1715805" y="1509112"/>
                      </a:lnTo>
                      <a:lnTo>
                        <a:pt x="1715805" y="1607344"/>
                      </a:lnTo>
                      <a:lnTo>
                        <a:pt x="1617574" y="1607344"/>
                      </a:lnTo>
                      <a:close/>
                      <a:moveTo>
                        <a:pt x="1617574" y="1500187"/>
                      </a:moveTo>
                      <a:lnTo>
                        <a:pt x="1617574" y="1401956"/>
                      </a:lnTo>
                      <a:lnTo>
                        <a:pt x="1715805" y="1401956"/>
                      </a:lnTo>
                      <a:lnTo>
                        <a:pt x="1715805" y="1500187"/>
                      </a:lnTo>
                      <a:lnTo>
                        <a:pt x="1617574" y="1500187"/>
                      </a:lnTo>
                      <a:close/>
                      <a:moveTo>
                        <a:pt x="1617574" y="1393031"/>
                      </a:moveTo>
                      <a:lnTo>
                        <a:pt x="1617574" y="1294800"/>
                      </a:lnTo>
                      <a:lnTo>
                        <a:pt x="1715805" y="1294800"/>
                      </a:lnTo>
                      <a:lnTo>
                        <a:pt x="1715805" y="1393031"/>
                      </a:lnTo>
                      <a:lnTo>
                        <a:pt x="1617574" y="1393031"/>
                      </a:lnTo>
                      <a:close/>
                      <a:moveTo>
                        <a:pt x="1617574" y="1285875"/>
                      </a:moveTo>
                      <a:lnTo>
                        <a:pt x="1617574" y="1187644"/>
                      </a:lnTo>
                      <a:lnTo>
                        <a:pt x="1715805" y="1187644"/>
                      </a:lnTo>
                      <a:lnTo>
                        <a:pt x="1715805" y="1285875"/>
                      </a:lnTo>
                      <a:lnTo>
                        <a:pt x="1617574" y="1285875"/>
                      </a:lnTo>
                      <a:close/>
                      <a:moveTo>
                        <a:pt x="1617574" y="1178719"/>
                      </a:moveTo>
                      <a:lnTo>
                        <a:pt x="1617574" y="1080487"/>
                      </a:lnTo>
                      <a:lnTo>
                        <a:pt x="1715805" y="1080487"/>
                      </a:lnTo>
                      <a:lnTo>
                        <a:pt x="1715805" y="1178719"/>
                      </a:lnTo>
                      <a:lnTo>
                        <a:pt x="1617574" y="1178719"/>
                      </a:lnTo>
                      <a:close/>
                      <a:moveTo>
                        <a:pt x="1617574" y="1071562"/>
                      </a:moveTo>
                      <a:lnTo>
                        <a:pt x="1617574" y="973331"/>
                      </a:lnTo>
                      <a:lnTo>
                        <a:pt x="1715805" y="973331"/>
                      </a:lnTo>
                      <a:lnTo>
                        <a:pt x="1715805" y="1071562"/>
                      </a:lnTo>
                      <a:lnTo>
                        <a:pt x="1617574" y="1071562"/>
                      </a:lnTo>
                      <a:close/>
                      <a:moveTo>
                        <a:pt x="1617574" y="964406"/>
                      </a:moveTo>
                      <a:lnTo>
                        <a:pt x="1617574" y="866175"/>
                      </a:lnTo>
                      <a:lnTo>
                        <a:pt x="1715805" y="866175"/>
                      </a:lnTo>
                      <a:lnTo>
                        <a:pt x="1715805" y="964406"/>
                      </a:lnTo>
                      <a:lnTo>
                        <a:pt x="1617574" y="964406"/>
                      </a:lnTo>
                      <a:close/>
                      <a:moveTo>
                        <a:pt x="1617574" y="857250"/>
                      </a:moveTo>
                      <a:lnTo>
                        <a:pt x="1617574" y="759019"/>
                      </a:lnTo>
                      <a:lnTo>
                        <a:pt x="1715805" y="759019"/>
                      </a:lnTo>
                      <a:lnTo>
                        <a:pt x="1715805" y="857250"/>
                      </a:lnTo>
                      <a:lnTo>
                        <a:pt x="1617574" y="857250"/>
                      </a:lnTo>
                      <a:close/>
                      <a:moveTo>
                        <a:pt x="1617574" y="750094"/>
                      </a:moveTo>
                      <a:lnTo>
                        <a:pt x="1617574" y="651862"/>
                      </a:lnTo>
                      <a:lnTo>
                        <a:pt x="1715805" y="651862"/>
                      </a:lnTo>
                      <a:lnTo>
                        <a:pt x="1715805" y="750094"/>
                      </a:lnTo>
                      <a:lnTo>
                        <a:pt x="1617574" y="750094"/>
                      </a:lnTo>
                      <a:close/>
                      <a:moveTo>
                        <a:pt x="1617574" y="642938"/>
                      </a:moveTo>
                      <a:lnTo>
                        <a:pt x="1617574" y="544706"/>
                      </a:lnTo>
                      <a:lnTo>
                        <a:pt x="1715805" y="544706"/>
                      </a:lnTo>
                      <a:lnTo>
                        <a:pt x="1715805" y="642938"/>
                      </a:lnTo>
                      <a:lnTo>
                        <a:pt x="1617574" y="642938"/>
                      </a:lnTo>
                      <a:close/>
                      <a:moveTo>
                        <a:pt x="1617574" y="535781"/>
                      </a:moveTo>
                      <a:lnTo>
                        <a:pt x="1617574" y="437550"/>
                      </a:lnTo>
                      <a:lnTo>
                        <a:pt x="1715805" y="437550"/>
                      </a:lnTo>
                      <a:lnTo>
                        <a:pt x="1715805" y="535781"/>
                      </a:lnTo>
                      <a:lnTo>
                        <a:pt x="1617574" y="535781"/>
                      </a:lnTo>
                      <a:close/>
                      <a:moveTo>
                        <a:pt x="1617574" y="428625"/>
                      </a:moveTo>
                      <a:lnTo>
                        <a:pt x="1617574" y="330394"/>
                      </a:lnTo>
                      <a:lnTo>
                        <a:pt x="1715805" y="330394"/>
                      </a:lnTo>
                      <a:lnTo>
                        <a:pt x="1715805" y="428625"/>
                      </a:lnTo>
                      <a:lnTo>
                        <a:pt x="1617574" y="428625"/>
                      </a:lnTo>
                      <a:close/>
                      <a:moveTo>
                        <a:pt x="1617574" y="321469"/>
                      </a:moveTo>
                      <a:lnTo>
                        <a:pt x="1617574" y="223237"/>
                      </a:lnTo>
                      <a:lnTo>
                        <a:pt x="1715805" y="223237"/>
                      </a:lnTo>
                      <a:lnTo>
                        <a:pt x="1715805" y="321469"/>
                      </a:lnTo>
                      <a:lnTo>
                        <a:pt x="1617574" y="321469"/>
                      </a:lnTo>
                      <a:close/>
                      <a:moveTo>
                        <a:pt x="1617574" y="214313"/>
                      </a:moveTo>
                      <a:lnTo>
                        <a:pt x="1617574" y="116081"/>
                      </a:lnTo>
                      <a:lnTo>
                        <a:pt x="1715805" y="116081"/>
                      </a:lnTo>
                      <a:lnTo>
                        <a:pt x="1715805" y="214313"/>
                      </a:lnTo>
                      <a:lnTo>
                        <a:pt x="1617574" y="214313"/>
                      </a:lnTo>
                      <a:close/>
                      <a:moveTo>
                        <a:pt x="1617574" y="107156"/>
                      </a:moveTo>
                      <a:lnTo>
                        <a:pt x="1617574" y="8925"/>
                      </a:lnTo>
                      <a:lnTo>
                        <a:pt x="1715805" y="8925"/>
                      </a:lnTo>
                      <a:lnTo>
                        <a:pt x="1715805" y="107156"/>
                      </a:lnTo>
                      <a:lnTo>
                        <a:pt x="1617574" y="107156"/>
                      </a:lnTo>
                      <a:close/>
                      <a:moveTo>
                        <a:pt x="1608639" y="107156"/>
                      </a:moveTo>
                      <a:lnTo>
                        <a:pt x="1510408" y="107156"/>
                      </a:lnTo>
                      <a:lnTo>
                        <a:pt x="1510408" y="8925"/>
                      </a:lnTo>
                      <a:lnTo>
                        <a:pt x="1608639" y="8925"/>
                      </a:lnTo>
                      <a:lnTo>
                        <a:pt x="1608639" y="107156"/>
                      </a:lnTo>
                      <a:close/>
                      <a:moveTo>
                        <a:pt x="1501483" y="107156"/>
                      </a:moveTo>
                      <a:lnTo>
                        <a:pt x="1403252" y="107156"/>
                      </a:lnTo>
                      <a:lnTo>
                        <a:pt x="1403252" y="8925"/>
                      </a:lnTo>
                      <a:lnTo>
                        <a:pt x="1501483" y="8925"/>
                      </a:lnTo>
                      <a:lnTo>
                        <a:pt x="1501483" y="107156"/>
                      </a:lnTo>
                      <a:close/>
                      <a:moveTo>
                        <a:pt x="1394327" y="107156"/>
                      </a:moveTo>
                      <a:lnTo>
                        <a:pt x="1296095" y="107156"/>
                      </a:lnTo>
                      <a:lnTo>
                        <a:pt x="1296095" y="8925"/>
                      </a:lnTo>
                      <a:lnTo>
                        <a:pt x="1394327" y="8925"/>
                      </a:lnTo>
                      <a:lnTo>
                        <a:pt x="1394327" y="107156"/>
                      </a:lnTo>
                      <a:close/>
                      <a:moveTo>
                        <a:pt x="1287171" y="107156"/>
                      </a:moveTo>
                      <a:lnTo>
                        <a:pt x="1188939" y="107156"/>
                      </a:lnTo>
                      <a:lnTo>
                        <a:pt x="1188939" y="8925"/>
                      </a:lnTo>
                      <a:lnTo>
                        <a:pt x="1287171" y="8925"/>
                      </a:lnTo>
                      <a:lnTo>
                        <a:pt x="1287171" y="107156"/>
                      </a:lnTo>
                      <a:close/>
                      <a:moveTo>
                        <a:pt x="1180014" y="107156"/>
                      </a:moveTo>
                      <a:lnTo>
                        <a:pt x="1081783" y="107156"/>
                      </a:lnTo>
                      <a:lnTo>
                        <a:pt x="1081783" y="8925"/>
                      </a:lnTo>
                      <a:lnTo>
                        <a:pt x="1180014" y="8925"/>
                      </a:lnTo>
                      <a:lnTo>
                        <a:pt x="1180014" y="107156"/>
                      </a:lnTo>
                      <a:close/>
                      <a:moveTo>
                        <a:pt x="1072858" y="107156"/>
                      </a:moveTo>
                      <a:lnTo>
                        <a:pt x="974627" y="107156"/>
                      </a:lnTo>
                      <a:lnTo>
                        <a:pt x="974627" y="8925"/>
                      </a:lnTo>
                      <a:lnTo>
                        <a:pt x="1072858" y="8925"/>
                      </a:lnTo>
                      <a:lnTo>
                        <a:pt x="1072858" y="107156"/>
                      </a:lnTo>
                      <a:close/>
                      <a:moveTo>
                        <a:pt x="965702" y="107156"/>
                      </a:moveTo>
                      <a:lnTo>
                        <a:pt x="867470" y="107156"/>
                      </a:lnTo>
                      <a:lnTo>
                        <a:pt x="867470" y="8925"/>
                      </a:lnTo>
                      <a:lnTo>
                        <a:pt x="965702" y="8925"/>
                      </a:lnTo>
                      <a:lnTo>
                        <a:pt x="965702" y="107156"/>
                      </a:lnTo>
                      <a:close/>
                      <a:moveTo>
                        <a:pt x="858546" y="107156"/>
                      </a:moveTo>
                      <a:lnTo>
                        <a:pt x="760314" y="107156"/>
                      </a:lnTo>
                      <a:lnTo>
                        <a:pt x="760314" y="8925"/>
                      </a:lnTo>
                      <a:lnTo>
                        <a:pt x="858546" y="8925"/>
                      </a:lnTo>
                      <a:lnTo>
                        <a:pt x="858546" y="107156"/>
                      </a:lnTo>
                      <a:close/>
                      <a:moveTo>
                        <a:pt x="751389" y="107156"/>
                      </a:moveTo>
                      <a:lnTo>
                        <a:pt x="653158" y="107156"/>
                      </a:lnTo>
                      <a:lnTo>
                        <a:pt x="653158" y="8925"/>
                      </a:lnTo>
                      <a:lnTo>
                        <a:pt x="751389" y="8925"/>
                      </a:lnTo>
                      <a:lnTo>
                        <a:pt x="751389" y="107156"/>
                      </a:lnTo>
                      <a:close/>
                      <a:moveTo>
                        <a:pt x="644233" y="107156"/>
                      </a:moveTo>
                      <a:lnTo>
                        <a:pt x="546002" y="107156"/>
                      </a:lnTo>
                      <a:lnTo>
                        <a:pt x="546002" y="8925"/>
                      </a:lnTo>
                      <a:lnTo>
                        <a:pt x="644233" y="8925"/>
                      </a:lnTo>
                      <a:lnTo>
                        <a:pt x="644233" y="107156"/>
                      </a:lnTo>
                      <a:close/>
                      <a:moveTo>
                        <a:pt x="537077" y="107156"/>
                      </a:moveTo>
                      <a:lnTo>
                        <a:pt x="438845" y="107156"/>
                      </a:lnTo>
                      <a:lnTo>
                        <a:pt x="438845" y="8925"/>
                      </a:lnTo>
                      <a:lnTo>
                        <a:pt x="537077" y="8925"/>
                      </a:lnTo>
                      <a:lnTo>
                        <a:pt x="537077" y="107156"/>
                      </a:lnTo>
                      <a:close/>
                      <a:moveTo>
                        <a:pt x="429920" y="107156"/>
                      </a:moveTo>
                      <a:lnTo>
                        <a:pt x="331689" y="107156"/>
                      </a:lnTo>
                      <a:lnTo>
                        <a:pt x="331689" y="8925"/>
                      </a:lnTo>
                      <a:lnTo>
                        <a:pt x="429920" y="8925"/>
                      </a:lnTo>
                      <a:lnTo>
                        <a:pt x="429920" y="107156"/>
                      </a:lnTo>
                      <a:close/>
                      <a:moveTo>
                        <a:pt x="322764" y="107156"/>
                      </a:moveTo>
                      <a:lnTo>
                        <a:pt x="224533" y="107156"/>
                      </a:lnTo>
                      <a:lnTo>
                        <a:pt x="224533" y="8925"/>
                      </a:lnTo>
                      <a:lnTo>
                        <a:pt x="322764" y="8925"/>
                      </a:lnTo>
                      <a:lnTo>
                        <a:pt x="322764" y="107156"/>
                      </a:lnTo>
                      <a:close/>
                      <a:moveTo>
                        <a:pt x="215608" y="107156"/>
                      </a:moveTo>
                      <a:lnTo>
                        <a:pt x="117377" y="107156"/>
                      </a:lnTo>
                      <a:lnTo>
                        <a:pt x="117377" y="8925"/>
                      </a:lnTo>
                      <a:lnTo>
                        <a:pt x="215608" y="8925"/>
                      </a:lnTo>
                      <a:lnTo>
                        <a:pt x="215608" y="107156"/>
                      </a:lnTo>
                      <a:close/>
                      <a:moveTo>
                        <a:pt x="215608" y="116081"/>
                      </a:moveTo>
                      <a:lnTo>
                        <a:pt x="215608" y="214313"/>
                      </a:lnTo>
                      <a:lnTo>
                        <a:pt x="117377" y="214313"/>
                      </a:lnTo>
                      <a:lnTo>
                        <a:pt x="117377" y="116081"/>
                      </a:lnTo>
                      <a:lnTo>
                        <a:pt x="215608" y="116081"/>
                      </a:lnTo>
                      <a:close/>
                      <a:moveTo>
                        <a:pt x="108452" y="214313"/>
                      </a:moveTo>
                      <a:lnTo>
                        <a:pt x="8925" y="214313"/>
                      </a:lnTo>
                      <a:lnTo>
                        <a:pt x="8925" y="116081"/>
                      </a:lnTo>
                      <a:lnTo>
                        <a:pt x="108452" y="116081"/>
                      </a:lnTo>
                      <a:lnTo>
                        <a:pt x="108452" y="214313"/>
                      </a:lnTo>
                      <a:close/>
                      <a:moveTo>
                        <a:pt x="8925" y="223237"/>
                      </a:moveTo>
                      <a:lnTo>
                        <a:pt x="108452" y="223237"/>
                      </a:lnTo>
                      <a:lnTo>
                        <a:pt x="108452" y="321469"/>
                      </a:lnTo>
                      <a:lnTo>
                        <a:pt x="8925" y="321469"/>
                      </a:lnTo>
                      <a:lnTo>
                        <a:pt x="8925" y="223237"/>
                      </a:lnTo>
                      <a:close/>
                      <a:moveTo>
                        <a:pt x="108452" y="330394"/>
                      </a:moveTo>
                      <a:lnTo>
                        <a:pt x="108452" y="428625"/>
                      </a:lnTo>
                      <a:lnTo>
                        <a:pt x="8925" y="428625"/>
                      </a:lnTo>
                      <a:lnTo>
                        <a:pt x="8925" y="330394"/>
                      </a:lnTo>
                      <a:lnTo>
                        <a:pt x="108452" y="330394"/>
                      </a:lnTo>
                      <a:close/>
                      <a:moveTo>
                        <a:pt x="8925" y="437550"/>
                      </a:moveTo>
                      <a:lnTo>
                        <a:pt x="108452" y="437550"/>
                      </a:lnTo>
                      <a:lnTo>
                        <a:pt x="108452" y="535781"/>
                      </a:lnTo>
                      <a:lnTo>
                        <a:pt x="8925" y="535781"/>
                      </a:lnTo>
                      <a:lnTo>
                        <a:pt x="8925" y="437550"/>
                      </a:lnTo>
                      <a:close/>
                      <a:moveTo>
                        <a:pt x="108452" y="544706"/>
                      </a:moveTo>
                      <a:lnTo>
                        <a:pt x="108452" y="642938"/>
                      </a:lnTo>
                      <a:lnTo>
                        <a:pt x="8925" y="642938"/>
                      </a:lnTo>
                      <a:lnTo>
                        <a:pt x="8925" y="544706"/>
                      </a:lnTo>
                      <a:lnTo>
                        <a:pt x="108452" y="544706"/>
                      </a:lnTo>
                      <a:close/>
                      <a:moveTo>
                        <a:pt x="8925" y="651862"/>
                      </a:moveTo>
                      <a:lnTo>
                        <a:pt x="108452" y="651862"/>
                      </a:lnTo>
                      <a:lnTo>
                        <a:pt x="108452" y="750094"/>
                      </a:lnTo>
                      <a:lnTo>
                        <a:pt x="8925" y="750094"/>
                      </a:lnTo>
                      <a:lnTo>
                        <a:pt x="8925" y="651862"/>
                      </a:lnTo>
                      <a:close/>
                      <a:moveTo>
                        <a:pt x="108452" y="759019"/>
                      </a:moveTo>
                      <a:lnTo>
                        <a:pt x="108452" y="857250"/>
                      </a:lnTo>
                      <a:lnTo>
                        <a:pt x="8925" y="857250"/>
                      </a:lnTo>
                      <a:lnTo>
                        <a:pt x="8925" y="759019"/>
                      </a:lnTo>
                      <a:lnTo>
                        <a:pt x="108452" y="759019"/>
                      </a:lnTo>
                      <a:close/>
                      <a:moveTo>
                        <a:pt x="8925" y="866175"/>
                      </a:moveTo>
                      <a:lnTo>
                        <a:pt x="108452" y="866175"/>
                      </a:lnTo>
                      <a:lnTo>
                        <a:pt x="108452" y="964406"/>
                      </a:lnTo>
                      <a:lnTo>
                        <a:pt x="8925" y="964406"/>
                      </a:lnTo>
                      <a:lnTo>
                        <a:pt x="8925" y="866175"/>
                      </a:lnTo>
                      <a:close/>
                      <a:moveTo>
                        <a:pt x="108452" y="973331"/>
                      </a:moveTo>
                      <a:lnTo>
                        <a:pt x="108452" y="1071562"/>
                      </a:lnTo>
                      <a:lnTo>
                        <a:pt x="8925" y="1071562"/>
                      </a:lnTo>
                      <a:lnTo>
                        <a:pt x="8925" y="973331"/>
                      </a:lnTo>
                      <a:lnTo>
                        <a:pt x="108452" y="973331"/>
                      </a:lnTo>
                      <a:close/>
                      <a:moveTo>
                        <a:pt x="8925" y="1080487"/>
                      </a:moveTo>
                      <a:lnTo>
                        <a:pt x="108452" y="1080487"/>
                      </a:lnTo>
                      <a:lnTo>
                        <a:pt x="108452" y="1178719"/>
                      </a:lnTo>
                      <a:lnTo>
                        <a:pt x="8925" y="1178719"/>
                      </a:lnTo>
                      <a:lnTo>
                        <a:pt x="8925" y="1080487"/>
                      </a:lnTo>
                      <a:close/>
                      <a:moveTo>
                        <a:pt x="108452" y="1187644"/>
                      </a:moveTo>
                      <a:lnTo>
                        <a:pt x="108452" y="1285875"/>
                      </a:lnTo>
                      <a:lnTo>
                        <a:pt x="8925" y="1285875"/>
                      </a:lnTo>
                      <a:lnTo>
                        <a:pt x="8925" y="1187644"/>
                      </a:lnTo>
                      <a:lnTo>
                        <a:pt x="108452" y="1187644"/>
                      </a:lnTo>
                      <a:close/>
                      <a:moveTo>
                        <a:pt x="8925" y="1294800"/>
                      </a:moveTo>
                      <a:lnTo>
                        <a:pt x="108452" y="1294800"/>
                      </a:lnTo>
                      <a:lnTo>
                        <a:pt x="108452" y="1393031"/>
                      </a:lnTo>
                      <a:lnTo>
                        <a:pt x="8925" y="1393031"/>
                      </a:lnTo>
                      <a:lnTo>
                        <a:pt x="8925" y="1294800"/>
                      </a:lnTo>
                      <a:close/>
                      <a:moveTo>
                        <a:pt x="108452" y="1401956"/>
                      </a:moveTo>
                      <a:lnTo>
                        <a:pt x="108452" y="1500187"/>
                      </a:lnTo>
                      <a:lnTo>
                        <a:pt x="8925" y="1500187"/>
                      </a:lnTo>
                      <a:lnTo>
                        <a:pt x="8925" y="1401956"/>
                      </a:lnTo>
                      <a:lnTo>
                        <a:pt x="108452" y="1401956"/>
                      </a:lnTo>
                      <a:close/>
                      <a:moveTo>
                        <a:pt x="8925" y="1509112"/>
                      </a:moveTo>
                      <a:lnTo>
                        <a:pt x="108452" y="1509112"/>
                      </a:lnTo>
                      <a:lnTo>
                        <a:pt x="108452" y="1607344"/>
                      </a:lnTo>
                      <a:lnTo>
                        <a:pt x="8925" y="1607344"/>
                      </a:lnTo>
                      <a:lnTo>
                        <a:pt x="8925" y="1509112"/>
                      </a:lnTo>
                      <a:close/>
                      <a:moveTo>
                        <a:pt x="108452" y="1616269"/>
                      </a:moveTo>
                      <a:lnTo>
                        <a:pt x="108452" y="1714500"/>
                      </a:lnTo>
                      <a:lnTo>
                        <a:pt x="8925" y="1714500"/>
                      </a:lnTo>
                      <a:lnTo>
                        <a:pt x="8925" y="1616269"/>
                      </a:lnTo>
                      <a:lnTo>
                        <a:pt x="108452" y="1616269"/>
                      </a:lnTo>
                      <a:close/>
                      <a:moveTo>
                        <a:pt x="8925" y="1723425"/>
                      </a:moveTo>
                      <a:lnTo>
                        <a:pt x="108452" y="1723425"/>
                      </a:lnTo>
                      <a:lnTo>
                        <a:pt x="108452" y="1821656"/>
                      </a:lnTo>
                      <a:lnTo>
                        <a:pt x="8925" y="1821656"/>
                      </a:lnTo>
                      <a:lnTo>
                        <a:pt x="8925" y="1723425"/>
                      </a:lnTo>
                      <a:close/>
                      <a:moveTo>
                        <a:pt x="108452" y="1830581"/>
                      </a:moveTo>
                      <a:lnTo>
                        <a:pt x="108452" y="1928812"/>
                      </a:lnTo>
                      <a:lnTo>
                        <a:pt x="8925" y="1928812"/>
                      </a:lnTo>
                      <a:lnTo>
                        <a:pt x="8925" y="1830581"/>
                      </a:lnTo>
                      <a:lnTo>
                        <a:pt x="108452" y="1830581"/>
                      </a:lnTo>
                      <a:close/>
                      <a:moveTo>
                        <a:pt x="8925" y="1937737"/>
                      </a:moveTo>
                      <a:lnTo>
                        <a:pt x="108452" y="1937737"/>
                      </a:lnTo>
                      <a:lnTo>
                        <a:pt x="108452" y="2035969"/>
                      </a:lnTo>
                      <a:lnTo>
                        <a:pt x="8925" y="2035969"/>
                      </a:lnTo>
                      <a:lnTo>
                        <a:pt x="8925" y="1937737"/>
                      </a:lnTo>
                      <a:close/>
                      <a:moveTo>
                        <a:pt x="108452" y="2044894"/>
                      </a:moveTo>
                      <a:lnTo>
                        <a:pt x="108452" y="2143125"/>
                      </a:lnTo>
                      <a:lnTo>
                        <a:pt x="8925" y="2143125"/>
                      </a:lnTo>
                      <a:lnTo>
                        <a:pt x="8925" y="2044894"/>
                      </a:lnTo>
                      <a:lnTo>
                        <a:pt x="108452" y="2044894"/>
                      </a:lnTo>
                      <a:close/>
                      <a:moveTo>
                        <a:pt x="8925" y="2152050"/>
                      </a:moveTo>
                      <a:lnTo>
                        <a:pt x="108452" y="2152050"/>
                      </a:lnTo>
                      <a:lnTo>
                        <a:pt x="108452" y="2250281"/>
                      </a:lnTo>
                      <a:lnTo>
                        <a:pt x="8925" y="2250281"/>
                      </a:lnTo>
                      <a:lnTo>
                        <a:pt x="8925" y="2152050"/>
                      </a:lnTo>
                      <a:close/>
                      <a:moveTo>
                        <a:pt x="117386" y="2152050"/>
                      </a:moveTo>
                      <a:lnTo>
                        <a:pt x="215618" y="2152050"/>
                      </a:lnTo>
                      <a:lnTo>
                        <a:pt x="215618" y="2250281"/>
                      </a:lnTo>
                      <a:lnTo>
                        <a:pt x="117386" y="2250281"/>
                      </a:lnTo>
                      <a:lnTo>
                        <a:pt x="117386" y="2152050"/>
                      </a:lnTo>
                      <a:close/>
                      <a:moveTo>
                        <a:pt x="215608" y="2259206"/>
                      </a:moveTo>
                      <a:lnTo>
                        <a:pt x="215608" y="2357437"/>
                      </a:lnTo>
                      <a:lnTo>
                        <a:pt x="117377" y="2357437"/>
                      </a:lnTo>
                      <a:lnTo>
                        <a:pt x="117377" y="2259206"/>
                      </a:lnTo>
                      <a:lnTo>
                        <a:pt x="215608" y="2259206"/>
                      </a:lnTo>
                      <a:close/>
                      <a:moveTo>
                        <a:pt x="224542" y="2259206"/>
                      </a:moveTo>
                      <a:lnTo>
                        <a:pt x="322774" y="2259206"/>
                      </a:lnTo>
                      <a:lnTo>
                        <a:pt x="322774" y="2357437"/>
                      </a:lnTo>
                      <a:lnTo>
                        <a:pt x="224542" y="2357437"/>
                      </a:lnTo>
                      <a:lnTo>
                        <a:pt x="224542" y="2259206"/>
                      </a:lnTo>
                      <a:close/>
                      <a:moveTo>
                        <a:pt x="331699" y="2259206"/>
                      </a:moveTo>
                      <a:lnTo>
                        <a:pt x="429930" y="2259206"/>
                      </a:lnTo>
                      <a:lnTo>
                        <a:pt x="429930" y="2357437"/>
                      </a:lnTo>
                      <a:lnTo>
                        <a:pt x="331699" y="2357437"/>
                      </a:lnTo>
                      <a:lnTo>
                        <a:pt x="331699" y="2259206"/>
                      </a:lnTo>
                      <a:close/>
                      <a:moveTo>
                        <a:pt x="438855" y="2259206"/>
                      </a:moveTo>
                      <a:lnTo>
                        <a:pt x="537086" y="2259206"/>
                      </a:lnTo>
                      <a:lnTo>
                        <a:pt x="537086" y="2357437"/>
                      </a:lnTo>
                      <a:lnTo>
                        <a:pt x="438855" y="2357437"/>
                      </a:lnTo>
                      <a:lnTo>
                        <a:pt x="438855" y="2259206"/>
                      </a:lnTo>
                      <a:close/>
                      <a:moveTo>
                        <a:pt x="546011" y="2259206"/>
                      </a:moveTo>
                      <a:lnTo>
                        <a:pt x="644243" y="2259206"/>
                      </a:lnTo>
                      <a:lnTo>
                        <a:pt x="644243" y="2357437"/>
                      </a:lnTo>
                      <a:lnTo>
                        <a:pt x="546011" y="2357437"/>
                      </a:lnTo>
                      <a:lnTo>
                        <a:pt x="546011" y="2259206"/>
                      </a:lnTo>
                      <a:close/>
                      <a:moveTo>
                        <a:pt x="653167" y="2259206"/>
                      </a:moveTo>
                      <a:lnTo>
                        <a:pt x="751399" y="2259206"/>
                      </a:lnTo>
                      <a:lnTo>
                        <a:pt x="751399" y="2357437"/>
                      </a:lnTo>
                      <a:lnTo>
                        <a:pt x="653167" y="2357437"/>
                      </a:lnTo>
                      <a:lnTo>
                        <a:pt x="653167" y="2259206"/>
                      </a:lnTo>
                      <a:close/>
                      <a:moveTo>
                        <a:pt x="760324" y="2259206"/>
                      </a:moveTo>
                      <a:lnTo>
                        <a:pt x="858555" y="2259206"/>
                      </a:lnTo>
                      <a:lnTo>
                        <a:pt x="858555" y="2357437"/>
                      </a:lnTo>
                      <a:lnTo>
                        <a:pt x="760324" y="2357437"/>
                      </a:lnTo>
                      <a:lnTo>
                        <a:pt x="760324" y="2259206"/>
                      </a:lnTo>
                      <a:close/>
                      <a:moveTo>
                        <a:pt x="867480" y="2259206"/>
                      </a:moveTo>
                      <a:lnTo>
                        <a:pt x="965711" y="2259206"/>
                      </a:lnTo>
                      <a:lnTo>
                        <a:pt x="965711" y="2357437"/>
                      </a:lnTo>
                      <a:lnTo>
                        <a:pt x="867480" y="2357437"/>
                      </a:lnTo>
                      <a:lnTo>
                        <a:pt x="867480" y="2259206"/>
                      </a:lnTo>
                      <a:close/>
                      <a:moveTo>
                        <a:pt x="974636" y="2259206"/>
                      </a:moveTo>
                      <a:lnTo>
                        <a:pt x="1072867" y="2259206"/>
                      </a:lnTo>
                      <a:lnTo>
                        <a:pt x="1072867" y="2357437"/>
                      </a:lnTo>
                      <a:lnTo>
                        <a:pt x="974636" y="2357437"/>
                      </a:lnTo>
                      <a:lnTo>
                        <a:pt x="974636" y="2259206"/>
                      </a:lnTo>
                      <a:close/>
                      <a:moveTo>
                        <a:pt x="1081792" y="2259206"/>
                      </a:moveTo>
                      <a:lnTo>
                        <a:pt x="1180024" y="2259206"/>
                      </a:lnTo>
                      <a:lnTo>
                        <a:pt x="1180024" y="2357437"/>
                      </a:lnTo>
                      <a:lnTo>
                        <a:pt x="1081792" y="2357437"/>
                      </a:lnTo>
                      <a:lnTo>
                        <a:pt x="1081792" y="2259206"/>
                      </a:lnTo>
                      <a:close/>
                      <a:moveTo>
                        <a:pt x="1188949" y="2259206"/>
                      </a:moveTo>
                      <a:lnTo>
                        <a:pt x="1287180" y="2259206"/>
                      </a:lnTo>
                      <a:lnTo>
                        <a:pt x="1287180" y="2357437"/>
                      </a:lnTo>
                      <a:lnTo>
                        <a:pt x="1188949" y="2357437"/>
                      </a:lnTo>
                      <a:lnTo>
                        <a:pt x="1188949" y="2259206"/>
                      </a:lnTo>
                      <a:close/>
                      <a:moveTo>
                        <a:pt x="1296105" y="2259206"/>
                      </a:moveTo>
                      <a:lnTo>
                        <a:pt x="1394336" y="2259206"/>
                      </a:lnTo>
                      <a:lnTo>
                        <a:pt x="1394336" y="2357437"/>
                      </a:lnTo>
                      <a:lnTo>
                        <a:pt x="1296105" y="2357437"/>
                      </a:lnTo>
                      <a:lnTo>
                        <a:pt x="1296105" y="2259206"/>
                      </a:lnTo>
                      <a:close/>
                      <a:moveTo>
                        <a:pt x="1403261" y="2259206"/>
                      </a:moveTo>
                      <a:lnTo>
                        <a:pt x="1501492" y="2259206"/>
                      </a:lnTo>
                      <a:lnTo>
                        <a:pt x="1501492" y="2357437"/>
                      </a:lnTo>
                      <a:lnTo>
                        <a:pt x="1403261" y="2357437"/>
                      </a:lnTo>
                      <a:lnTo>
                        <a:pt x="1403261" y="2259206"/>
                      </a:lnTo>
                      <a:close/>
                      <a:moveTo>
                        <a:pt x="1510417" y="2259206"/>
                      </a:moveTo>
                      <a:lnTo>
                        <a:pt x="1608649" y="2259206"/>
                      </a:lnTo>
                      <a:lnTo>
                        <a:pt x="1608649" y="2357437"/>
                      </a:lnTo>
                      <a:lnTo>
                        <a:pt x="1510417" y="2357437"/>
                      </a:lnTo>
                      <a:lnTo>
                        <a:pt x="1510417" y="2259206"/>
                      </a:lnTo>
                      <a:close/>
                      <a:moveTo>
                        <a:pt x="1617574" y="2259206"/>
                      </a:moveTo>
                      <a:lnTo>
                        <a:pt x="1715805" y="2259206"/>
                      </a:lnTo>
                      <a:lnTo>
                        <a:pt x="1715805" y="2357437"/>
                      </a:lnTo>
                      <a:lnTo>
                        <a:pt x="1617574" y="2357437"/>
                      </a:lnTo>
                      <a:lnTo>
                        <a:pt x="1617574" y="2259206"/>
                      </a:lnTo>
                      <a:close/>
                      <a:moveTo>
                        <a:pt x="1617574" y="2250281"/>
                      </a:moveTo>
                      <a:lnTo>
                        <a:pt x="1617574" y="2152050"/>
                      </a:lnTo>
                      <a:lnTo>
                        <a:pt x="1715805" y="2152050"/>
                      </a:lnTo>
                      <a:lnTo>
                        <a:pt x="1715805" y="2250281"/>
                      </a:lnTo>
                      <a:lnTo>
                        <a:pt x="1617574" y="2250281"/>
                      </a:lnTo>
                      <a:close/>
                      <a:moveTo>
                        <a:pt x="1724730" y="2152050"/>
                      </a:moveTo>
                      <a:lnTo>
                        <a:pt x="1821656" y="2152050"/>
                      </a:lnTo>
                      <a:lnTo>
                        <a:pt x="1821656" y="2250281"/>
                      </a:lnTo>
                      <a:lnTo>
                        <a:pt x="1724730" y="2250281"/>
                      </a:lnTo>
                      <a:lnTo>
                        <a:pt x="1724730" y="2152050"/>
                      </a:lnTo>
                      <a:close/>
                      <a:moveTo>
                        <a:pt x="1724730" y="2143125"/>
                      </a:moveTo>
                      <a:lnTo>
                        <a:pt x="1724730" y="2044894"/>
                      </a:lnTo>
                      <a:lnTo>
                        <a:pt x="1821656" y="2044894"/>
                      </a:lnTo>
                      <a:lnTo>
                        <a:pt x="1821656" y="2143125"/>
                      </a:lnTo>
                      <a:lnTo>
                        <a:pt x="1724730" y="2143125"/>
                      </a:lnTo>
                      <a:close/>
                      <a:moveTo>
                        <a:pt x="1821656" y="2035969"/>
                      </a:moveTo>
                      <a:lnTo>
                        <a:pt x="1724730" y="2035969"/>
                      </a:lnTo>
                      <a:lnTo>
                        <a:pt x="1724730" y="1937737"/>
                      </a:lnTo>
                      <a:lnTo>
                        <a:pt x="1821656" y="1937737"/>
                      </a:lnTo>
                      <a:lnTo>
                        <a:pt x="1821656" y="2035969"/>
                      </a:lnTo>
                      <a:close/>
                      <a:moveTo>
                        <a:pt x="1724730" y="1928812"/>
                      </a:moveTo>
                      <a:lnTo>
                        <a:pt x="1724730" y="1830581"/>
                      </a:lnTo>
                      <a:lnTo>
                        <a:pt x="1821656" y="1830581"/>
                      </a:lnTo>
                      <a:lnTo>
                        <a:pt x="1821656" y="1928812"/>
                      </a:lnTo>
                      <a:lnTo>
                        <a:pt x="1724730" y="1928812"/>
                      </a:lnTo>
                      <a:close/>
                      <a:moveTo>
                        <a:pt x="1821656" y="1821656"/>
                      </a:moveTo>
                      <a:lnTo>
                        <a:pt x="1724730" y="1821656"/>
                      </a:lnTo>
                      <a:lnTo>
                        <a:pt x="1724730" y="1723425"/>
                      </a:lnTo>
                      <a:lnTo>
                        <a:pt x="1821656" y="1723425"/>
                      </a:lnTo>
                      <a:lnTo>
                        <a:pt x="1821656" y="1821656"/>
                      </a:lnTo>
                      <a:close/>
                      <a:moveTo>
                        <a:pt x="1724730" y="1714500"/>
                      </a:moveTo>
                      <a:lnTo>
                        <a:pt x="1724730" y="1616269"/>
                      </a:lnTo>
                      <a:lnTo>
                        <a:pt x="1821656" y="1616269"/>
                      </a:lnTo>
                      <a:lnTo>
                        <a:pt x="1821656" y="1714500"/>
                      </a:lnTo>
                      <a:lnTo>
                        <a:pt x="1724730" y="1714500"/>
                      </a:lnTo>
                      <a:close/>
                      <a:moveTo>
                        <a:pt x="1821656" y="1607344"/>
                      </a:moveTo>
                      <a:lnTo>
                        <a:pt x="1724730" y="1607344"/>
                      </a:lnTo>
                      <a:lnTo>
                        <a:pt x="1724730" y="1509112"/>
                      </a:lnTo>
                      <a:lnTo>
                        <a:pt x="1821656" y="1509112"/>
                      </a:lnTo>
                      <a:lnTo>
                        <a:pt x="1821656" y="1607344"/>
                      </a:lnTo>
                      <a:close/>
                      <a:moveTo>
                        <a:pt x="1724730" y="1500187"/>
                      </a:moveTo>
                      <a:lnTo>
                        <a:pt x="1724730" y="1401956"/>
                      </a:lnTo>
                      <a:lnTo>
                        <a:pt x="1821656" y="1401956"/>
                      </a:lnTo>
                      <a:lnTo>
                        <a:pt x="1821656" y="1500187"/>
                      </a:lnTo>
                      <a:lnTo>
                        <a:pt x="1724730" y="1500187"/>
                      </a:lnTo>
                      <a:close/>
                      <a:moveTo>
                        <a:pt x="1821656" y="1393031"/>
                      </a:moveTo>
                      <a:lnTo>
                        <a:pt x="1724730" y="1393031"/>
                      </a:lnTo>
                      <a:lnTo>
                        <a:pt x="1724730" y="1294800"/>
                      </a:lnTo>
                      <a:lnTo>
                        <a:pt x="1821656" y="1294800"/>
                      </a:lnTo>
                      <a:lnTo>
                        <a:pt x="1821656" y="1393031"/>
                      </a:lnTo>
                      <a:close/>
                      <a:moveTo>
                        <a:pt x="1724730" y="1285875"/>
                      </a:moveTo>
                      <a:lnTo>
                        <a:pt x="1724730" y="1187644"/>
                      </a:lnTo>
                      <a:lnTo>
                        <a:pt x="1821656" y="1187644"/>
                      </a:lnTo>
                      <a:lnTo>
                        <a:pt x="1821656" y="1285875"/>
                      </a:lnTo>
                      <a:lnTo>
                        <a:pt x="1724730" y="1285875"/>
                      </a:lnTo>
                      <a:close/>
                      <a:moveTo>
                        <a:pt x="1821656" y="1178719"/>
                      </a:moveTo>
                      <a:lnTo>
                        <a:pt x="1724730" y="1178719"/>
                      </a:lnTo>
                      <a:lnTo>
                        <a:pt x="1724730" y="1080487"/>
                      </a:lnTo>
                      <a:lnTo>
                        <a:pt x="1821656" y="1080487"/>
                      </a:lnTo>
                      <a:lnTo>
                        <a:pt x="1821656" y="1178719"/>
                      </a:lnTo>
                      <a:close/>
                      <a:moveTo>
                        <a:pt x="1724730" y="1071562"/>
                      </a:moveTo>
                      <a:lnTo>
                        <a:pt x="1724730" y="973331"/>
                      </a:lnTo>
                      <a:lnTo>
                        <a:pt x="1821656" y="973331"/>
                      </a:lnTo>
                      <a:lnTo>
                        <a:pt x="1821656" y="1071562"/>
                      </a:lnTo>
                      <a:lnTo>
                        <a:pt x="1724730" y="1071562"/>
                      </a:lnTo>
                      <a:close/>
                      <a:moveTo>
                        <a:pt x="1821656" y="964406"/>
                      </a:moveTo>
                      <a:lnTo>
                        <a:pt x="1724730" y="964406"/>
                      </a:lnTo>
                      <a:lnTo>
                        <a:pt x="1724730" y="866175"/>
                      </a:lnTo>
                      <a:lnTo>
                        <a:pt x="1821656" y="866175"/>
                      </a:lnTo>
                      <a:lnTo>
                        <a:pt x="1821656" y="964406"/>
                      </a:lnTo>
                      <a:close/>
                      <a:moveTo>
                        <a:pt x="1724730" y="857250"/>
                      </a:moveTo>
                      <a:lnTo>
                        <a:pt x="1724730" y="759019"/>
                      </a:lnTo>
                      <a:lnTo>
                        <a:pt x="1821656" y="759019"/>
                      </a:lnTo>
                      <a:lnTo>
                        <a:pt x="1821656" y="857250"/>
                      </a:lnTo>
                      <a:lnTo>
                        <a:pt x="1724730" y="857250"/>
                      </a:lnTo>
                      <a:close/>
                      <a:moveTo>
                        <a:pt x="1821656" y="750094"/>
                      </a:moveTo>
                      <a:lnTo>
                        <a:pt x="1724730" y="750094"/>
                      </a:lnTo>
                      <a:lnTo>
                        <a:pt x="1724730" y="651862"/>
                      </a:lnTo>
                      <a:lnTo>
                        <a:pt x="1821656" y="651862"/>
                      </a:lnTo>
                      <a:lnTo>
                        <a:pt x="1821656" y="750094"/>
                      </a:lnTo>
                      <a:close/>
                      <a:moveTo>
                        <a:pt x="1724730" y="642938"/>
                      </a:moveTo>
                      <a:lnTo>
                        <a:pt x="1724730" y="544706"/>
                      </a:lnTo>
                      <a:lnTo>
                        <a:pt x="1821656" y="544706"/>
                      </a:lnTo>
                      <a:lnTo>
                        <a:pt x="1821656" y="642938"/>
                      </a:lnTo>
                      <a:lnTo>
                        <a:pt x="1724730" y="642938"/>
                      </a:lnTo>
                      <a:close/>
                      <a:moveTo>
                        <a:pt x="1821656" y="535781"/>
                      </a:moveTo>
                      <a:lnTo>
                        <a:pt x="1724730" y="535781"/>
                      </a:lnTo>
                      <a:lnTo>
                        <a:pt x="1724730" y="437550"/>
                      </a:lnTo>
                      <a:lnTo>
                        <a:pt x="1821656" y="437550"/>
                      </a:lnTo>
                      <a:lnTo>
                        <a:pt x="1821656" y="535781"/>
                      </a:lnTo>
                      <a:close/>
                      <a:moveTo>
                        <a:pt x="1724730" y="428625"/>
                      </a:moveTo>
                      <a:lnTo>
                        <a:pt x="1724730" y="330394"/>
                      </a:lnTo>
                      <a:lnTo>
                        <a:pt x="1821656" y="330394"/>
                      </a:lnTo>
                      <a:lnTo>
                        <a:pt x="1821656" y="428625"/>
                      </a:lnTo>
                      <a:lnTo>
                        <a:pt x="1724730" y="428625"/>
                      </a:lnTo>
                      <a:close/>
                      <a:moveTo>
                        <a:pt x="1821656" y="321469"/>
                      </a:moveTo>
                      <a:lnTo>
                        <a:pt x="1724730" y="321469"/>
                      </a:lnTo>
                      <a:lnTo>
                        <a:pt x="1724730" y="223237"/>
                      </a:lnTo>
                      <a:lnTo>
                        <a:pt x="1821656" y="223237"/>
                      </a:lnTo>
                      <a:lnTo>
                        <a:pt x="1821656" y="321469"/>
                      </a:lnTo>
                      <a:close/>
                      <a:moveTo>
                        <a:pt x="1724730" y="214313"/>
                      </a:moveTo>
                      <a:lnTo>
                        <a:pt x="1724730" y="116081"/>
                      </a:lnTo>
                      <a:lnTo>
                        <a:pt x="1821656" y="116081"/>
                      </a:lnTo>
                      <a:lnTo>
                        <a:pt x="1821656" y="214313"/>
                      </a:lnTo>
                      <a:lnTo>
                        <a:pt x="1724730" y="214313"/>
                      </a:lnTo>
                      <a:close/>
                      <a:moveTo>
                        <a:pt x="1821656" y="107156"/>
                      </a:moveTo>
                      <a:lnTo>
                        <a:pt x="1724730" y="107156"/>
                      </a:lnTo>
                      <a:lnTo>
                        <a:pt x="1724730" y="8925"/>
                      </a:lnTo>
                      <a:lnTo>
                        <a:pt x="1821656" y="8925"/>
                      </a:lnTo>
                      <a:lnTo>
                        <a:pt x="1821656" y="107156"/>
                      </a:lnTo>
                      <a:close/>
                      <a:moveTo>
                        <a:pt x="108452" y="8925"/>
                      </a:moveTo>
                      <a:lnTo>
                        <a:pt x="108452" y="107156"/>
                      </a:lnTo>
                      <a:lnTo>
                        <a:pt x="8925" y="107156"/>
                      </a:lnTo>
                      <a:lnTo>
                        <a:pt x="8925" y="8925"/>
                      </a:lnTo>
                      <a:lnTo>
                        <a:pt x="108452" y="8925"/>
                      </a:lnTo>
                      <a:close/>
                      <a:moveTo>
                        <a:pt x="8925" y="2259206"/>
                      </a:moveTo>
                      <a:lnTo>
                        <a:pt x="108452" y="2259206"/>
                      </a:lnTo>
                      <a:lnTo>
                        <a:pt x="108452" y="2357437"/>
                      </a:lnTo>
                      <a:lnTo>
                        <a:pt x="8925" y="2357437"/>
                      </a:lnTo>
                      <a:lnTo>
                        <a:pt x="8925" y="2259206"/>
                      </a:lnTo>
                      <a:close/>
                      <a:moveTo>
                        <a:pt x="1724730" y="2357437"/>
                      </a:moveTo>
                      <a:lnTo>
                        <a:pt x="1724730" y="2259206"/>
                      </a:lnTo>
                      <a:lnTo>
                        <a:pt x="1821656" y="2259206"/>
                      </a:lnTo>
                      <a:lnTo>
                        <a:pt x="1821656" y="2357437"/>
                      </a:lnTo>
                      <a:lnTo>
                        <a:pt x="1724730" y="2357437"/>
                      </a:lnTo>
                      <a:close/>
                    </a:path>
                  </a:pathLst>
                </a:custGeom>
                <a:solidFill>
                  <a:schemeClr val="bg1">
                    <a:lumMod val="95000"/>
                  </a:schemeClr>
                </a:solidFill>
                <a:ln w="9525" cap="flat">
                  <a:noFill/>
                  <a:prstDash val="solid"/>
                  <a:miter/>
                </a:ln>
              </p:spPr>
              <p:txBody>
                <a:bodyPr rtlCol="0" anchor="ctr"/>
                <a:lstStyle/>
                <a:p>
                  <a:endParaRPr lang="en-GB" sz="800" noProof="0" dirty="0"/>
                </a:p>
              </p:txBody>
            </p:sp>
            <p:sp>
              <p:nvSpPr>
                <p:cNvPr id="28" name="Freeform: Shape 27">
                  <a:extLst>
                    <a:ext uri="{FF2B5EF4-FFF2-40B4-BE49-F238E27FC236}">
                      <a16:creationId xmlns:a16="http://schemas.microsoft.com/office/drawing/2014/main" id="{1E78BF37-E256-E482-0D34-7427AFA067F9}"/>
                    </a:ext>
                  </a:extLst>
                </p:cNvPr>
                <p:cNvSpPr/>
                <p:nvPr/>
              </p:nvSpPr>
              <p:spPr>
                <a:xfrm>
                  <a:off x="6262796" y="6416419"/>
                  <a:ext cx="2134200" cy="214312"/>
                </a:xfrm>
                <a:custGeom>
                  <a:avLst/>
                  <a:gdLst>
                    <a:gd name="connsiteX0" fmla="*/ 0 w 2134200"/>
                    <a:gd name="connsiteY0" fmla="*/ 0 h 214312"/>
                    <a:gd name="connsiteX1" fmla="*/ 2134200 w 2134200"/>
                    <a:gd name="connsiteY1" fmla="*/ 0 h 214312"/>
                    <a:gd name="connsiteX2" fmla="*/ 2134200 w 2134200"/>
                    <a:gd name="connsiteY2" fmla="*/ 214313 h 214312"/>
                    <a:gd name="connsiteX3" fmla="*/ 0 w 2134200"/>
                    <a:gd name="connsiteY3" fmla="*/ 214313 h 214312"/>
                  </a:gdLst>
                  <a:ahLst/>
                  <a:cxnLst>
                    <a:cxn ang="0">
                      <a:pos x="connsiteX0" y="connsiteY0"/>
                    </a:cxn>
                    <a:cxn ang="0">
                      <a:pos x="connsiteX1" y="connsiteY1"/>
                    </a:cxn>
                    <a:cxn ang="0">
                      <a:pos x="connsiteX2" y="connsiteY2"/>
                    </a:cxn>
                    <a:cxn ang="0">
                      <a:pos x="connsiteX3" y="connsiteY3"/>
                    </a:cxn>
                  </a:cxnLst>
                  <a:rect l="l" t="t" r="r" b="b"/>
                  <a:pathLst>
                    <a:path w="2134200" h="214312">
                      <a:moveTo>
                        <a:pt x="0" y="0"/>
                      </a:moveTo>
                      <a:lnTo>
                        <a:pt x="2134200" y="0"/>
                      </a:lnTo>
                      <a:lnTo>
                        <a:pt x="2134200" y="214313"/>
                      </a:lnTo>
                      <a:lnTo>
                        <a:pt x="0" y="214313"/>
                      </a:lnTo>
                      <a:close/>
                    </a:path>
                  </a:pathLst>
                </a:custGeom>
                <a:solidFill>
                  <a:schemeClr val="accent4"/>
                </a:solidFill>
                <a:ln w="9525" cap="flat">
                  <a:noFill/>
                  <a:prstDash val="solid"/>
                  <a:miter/>
                </a:ln>
              </p:spPr>
              <p:txBody>
                <a:bodyPr rtlCol="0" anchor="ctr"/>
                <a:lstStyle/>
                <a:p>
                  <a:endParaRPr lang="en-GB" sz="800" noProof="0" dirty="0"/>
                </a:p>
              </p:txBody>
            </p:sp>
            <p:sp>
              <p:nvSpPr>
                <p:cNvPr id="29" name="Freeform: Shape 28">
                  <a:extLst>
                    <a:ext uri="{FF2B5EF4-FFF2-40B4-BE49-F238E27FC236}">
                      <a16:creationId xmlns:a16="http://schemas.microsoft.com/office/drawing/2014/main" id="{25382167-25E7-B156-73D3-0E7B3B44FDFC}"/>
                    </a:ext>
                  </a:extLst>
                </p:cNvPr>
                <p:cNvSpPr/>
                <p:nvPr/>
              </p:nvSpPr>
              <p:spPr>
                <a:xfrm>
                  <a:off x="6544079" y="6477274"/>
                  <a:ext cx="107156" cy="107156"/>
                </a:xfrm>
                <a:custGeom>
                  <a:avLst/>
                  <a:gdLst>
                    <a:gd name="connsiteX0" fmla="*/ 107156 w 107156"/>
                    <a:gd name="connsiteY0" fmla="*/ 53578 h 107156"/>
                    <a:gd name="connsiteX1" fmla="*/ 53578 w 107156"/>
                    <a:gd name="connsiteY1" fmla="*/ 107156 h 107156"/>
                    <a:gd name="connsiteX2" fmla="*/ 0 w 107156"/>
                    <a:gd name="connsiteY2" fmla="*/ 53578 h 107156"/>
                    <a:gd name="connsiteX3" fmla="*/ 53578 w 107156"/>
                    <a:gd name="connsiteY3" fmla="*/ 0 h 107156"/>
                    <a:gd name="connsiteX4" fmla="*/ 107156 w 107156"/>
                    <a:gd name="connsiteY4" fmla="*/ 53578 h 107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56" h="107156">
                      <a:moveTo>
                        <a:pt x="107156" y="53578"/>
                      </a:moveTo>
                      <a:cubicBezTo>
                        <a:pt x="107156" y="83169"/>
                        <a:pt x="83168" y="107156"/>
                        <a:pt x="53578" y="107156"/>
                      </a:cubicBezTo>
                      <a:cubicBezTo>
                        <a:pt x="23988" y="107156"/>
                        <a:pt x="0" y="83169"/>
                        <a:pt x="0" y="53578"/>
                      </a:cubicBezTo>
                      <a:cubicBezTo>
                        <a:pt x="0" y="23988"/>
                        <a:pt x="23988" y="0"/>
                        <a:pt x="53578" y="0"/>
                      </a:cubicBezTo>
                      <a:cubicBezTo>
                        <a:pt x="83168" y="0"/>
                        <a:pt x="107156" y="23988"/>
                        <a:pt x="107156" y="53578"/>
                      </a:cubicBezTo>
                      <a:close/>
                    </a:path>
                  </a:pathLst>
                </a:custGeom>
                <a:solidFill>
                  <a:srgbClr val="FFFFFF"/>
                </a:solidFill>
                <a:ln w="9525" cap="flat">
                  <a:noFill/>
                  <a:prstDash val="solid"/>
                  <a:miter/>
                </a:ln>
              </p:spPr>
              <p:txBody>
                <a:bodyPr rtlCol="0" anchor="ctr"/>
                <a:lstStyle/>
                <a:p>
                  <a:endParaRPr lang="en-GB" sz="800" noProof="0" dirty="0"/>
                </a:p>
              </p:txBody>
            </p:sp>
            <p:sp>
              <p:nvSpPr>
                <p:cNvPr id="30" name="Freeform: Shape 29">
                  <a:extLst>
                    <a:ext uri="{FF2B5EF4-FFF2-40B4-BE49-F238E27FC236}">
                      <a16:creationId xmlns:a16="http://schemas.microsoft.com/office/drawing/2014/main" id="{66EE89D8-6FB7-56C2-4DCC-D4FEF139B6E4}"/>
                    </a:ext>
                  </a:extLst>
                </p:cNvPr>
                <p:cNvSpPr/>
                <p:nvPr/>
              </p:nvSpPr>
              <p:spPr>
                <a:xfrm>
                  <a:off x="8044266" y="6477274"/>
                  <a:ext cx="107156" cy="107156"/>
                </a:xfrm>
                <a:custGeom>
                  <a:avLst/>
                  <a:gdLst>
                    <a:gd name="connsiteX0" fmla="*/ 107156 w 107156"/>
                    <a:gd name="connsiteY0" fmla="*/ 53578 h 107156"/>
                    <a:gd name="connsiteX1" fmla="*/ 53578 w 107156"/>
                    <a:gd name="connsiteY1" fmla="*/ 107156 h 107156"/>
                    <a:gd name="connsiteX2" fmla="*/ 0 w 107156"/>
                    <a:gd name="connsiteY2" fmla="*/ 53578 h 107156"/>
                    <a:gd name="connsiteX3" fmla="*/ 53578 w 107156"/>
                    <a:gd name="connsiteY3" fmla="*/ 0 h 107156"/>
                    <a:gd name="connsiteX4" fmla="*/ 107156 w 107156"/>
                    <a:gd name="connsiteY4" fmla="*/ 53578 h 107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56" h="107156">
                      <a:moveTo>
                        <a:pt x="107156" y="53578"/>
                      </a:moveTo>
                      <a:cubicBezTo>
                        <a:pt x="107156" y="83169"/>
                        <a:pt x="83169" y="107156"/>
                        <a:pt x="53578" y="107156"/>
                      </a:cubicBezTo>
                      <a:cubicBezTo>
                        <a:pt x="23988" y="107156"/>
                        <a:pt x="0" y="83169"/>
                        <a:pt x="0" y="53578"/>
                      </a:cubicBezTo>
                      <a:cubicBezTo>
                        <a:pt x="0" y="23988"/>
                        <a:pt x="23988" y="0"/>
                        <a:pt x="53578" y="0"/>
                      </a:cubicBezTo>
                      <a:cubicBezTo>
                        <a:pt x="83169" y="0"/>
                        <a:pt x="107156" y="23988"/>
                        <a:pt x="107156" y="53578"/>
                      </a:cubicBezTo>
                      <a:close/>
                    </a:path>
                  </a:pathLst>
                </a:custGeom>
                <a:solidFill>
                  <a:srgbClr val="FFFFFF"/>
                </a:solidFill>
                <a:ln w="9525" cap="flat">
                  <a:noFill/>
                  <a:prstDash val="solid"/>
                  <a:miter/>
                </a:ln>
              </p:spPr>
              <p:txBody>
                <a:bodyPr rtlCol="0" anchor="ctr"/>
                <a:lstStyle/>
                <a:p>
                  <a:endParaRPr lang="en-GB" sz="800" noProof="0" dirty="0"/>
                </a:p>
              </p:txBody>
            </p:sp>
          </p:grpSp>
        </p:grpSp>
        <p:grpSp>
          <p:nvGrpSpPr>
            <p:cNvPr id="11" name="Graphic 21" descr="Graph and note paper pads with pencil">
              <a:extLst>
                <a:ext uri="{FF2B5EF4-FFF2-40B4-BE49-F238E27FC236}">
                  <a16:creationId xmlns:a16="http://schemas.microsoft.com/office/drawing/2014/main" id="{D97E6CBB-BCDF-0552-4496-DCB55CF2BFDB}"/>
                </a:ext>
              </a:extLst>
            </p:cNvPr>
            <p:cNvGrpSpPr/>
            <p:nvPr/>
          </p:nvGrpSpPr>
          <p:grpSpPr>
            <a:xfrm>
              <a:off x="5950163" y="7883109"/>
              <a:ext cx="1505915" cy="1578004"/>
              <a:chOff x="5950163" y="7883109"/>
              <a:chExt cx="1505915" cy="1578004"/>
            </a:xfrm>
          </p:grpSpPr>
          <p:sp>
            <p:nvSpPr>
              <p:cNvPr id="14" name="Freeform: Shape 13">
                <a:extLst>
                  <a:ext uri="{FF2B5EF4-FFF2-40B4-BE49-F238E27FC236}">
                    <a16:creationId xmlns:a16="http://schemas.microsoft.com/office/drawing/2014/main" id="{B2775876-304B-5EE7-482C-FB0713259D3F}"/>
                  </a:ext>
                </a:extLst>
              </p:cNvPr>
              <p:cNvSpPr/>
              <p:nvPr/>
            </p:nvSpPr>
            <p:spPr>
              <a:xfrm>
                <a:off x="5950176" y="7955135"/>
                <a:ext cx="1505902" cy="1505978"/>
              </a:xfrm>
              <a:custGeom>
                <a:avLst/>
                <a:gdLst>
                  <a:gd name="connsiteX0" fmla="*/ 1377944 w 1505902"/>
                  <a:gd name="connsiteY0" fmla="*/ 1321184 h 1505978"/>
                  <a:gd name="connsiteX1" fmla="*/ 1392145 w 1505902"/>
                  <a:gd name="connsiteY1" fmla="*/ 1306973 h 1505978"/>
                  <a:gd name="connsiteX2" fmla="*/ 1293019 w 1505902"/>
                  <a:gd name="connsiteY2" fmla="*/ 1207846 h 1505978"/>
                  <a:gd name="connsiteX3" fmla="*/ 1335643 w 1505902"/>
                  <a:gd name="connsiteY3" fmla="*/ 1165222 h 1505978"/>
                  <a:gd name="connsiteX4" fmla="*/ 937641 w 1505902"/>
                  <a:gd name="connsiteY4" fmla="*/ 767220 h 1505978"/>
                  <a:gd name="connsiteX5" fmla="*/ 937641 w 1505902"/>
                  <a:gd name="connsiteY5" fmla="*/ 824046 h 1505978"/>
                  <a:gd name="connsiteX6" fmla="*/ 1278817 w 1505902"/>
                  <a:gd name="connsiteY6" fmla="*/ 1165222 h 1505978"/>
                  <a:gd name="connsiteX7" fmla="*/ 1264606 w 1505902"/>
                  <a:gd name="connsiteY7" fmla="*/ 1179433 h 1505978"/>
                  <a:gd name="connsiteX8" fmla="*/ 246250 w 1505902"/>
                  <a:gd name="connsiteY8" fmla="*/ 161058 h 1505978"/>
                  <a:gd name="connsiteX9" fmla="*/ 51749 w 1505902"/>
                  <a:gd name="connsiteY9" fmla="*/ 32852 h 1505978"/>
                  <a:gd name="connsiteX10" fmla="*/ 47063 w 1505902"/>
                  <a:gd name="connsiteY10" fmla="*/ 37538 h 1505978"/>
                  <a:gd name="connsiteX11" fmla="*/ 9525 w 1505902"/>
                  <a:gd name="connsiteY11" fmla="*/ 0 h 1505978"/>
                  <a:gd name="connsiteX12" fmla="*/ 0 w 1505902"/>
                  <a:gd name="connsiteY12" fmla="*/ 9525 h 1505978"/>
                  <a:gd name="connsiteX13" fmla="*/ 37538 w 1505902"/>
                  <a:gd name="connsiteY13" fmla="*/ 47063 h 1505978"/>
                  <a:gd name="connsiteX14" fmla="*/ 32804 w 1505902"/>
                  <a:gd name="connsiteY14" fmla="*/ 51797 h 1505978"/>
                  <a:gd name="connsiteX15" fmla="*/ 161001 w 1505902"/>
                  <a:gd name="connsiteY15" fmla="*/ 246297 h 1505978"/>
                  <a:gd name="connsiteX16" fmla="*/ 1306906 w 1505902"/>
                  <a:gd name="connsiteY16" fmla="*/ 1392212 h 1505978"/>
                  <a:gd name="connsiteX17" fmla="*/ 1321118 w 1505902"/>
                  <a:gd name="connsiteY17" fmla="*/ 1378010 h 1505978"/>
                  <a:gd name="connsiteX18" fmla="*/ 1449076 w 1505902"/>
                  <a:gd name="connsiteY18" fmla="*/ 1505979 h 1505978"/>
                  <a:gd name="connsiteX19" fmla="*/ 1505902 w 1505902"/>
                  <a:gd name="connsiteY19" fmla="*/ 1449153 h 1505978"/>
                  <a:gd name="connsiteX20" fmla="*/ 1377944 w 1505902"/>
                  <a:gd name="connsiteY20" fmla="*/ 1321184 h 150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05902" h="1505978">
                    <a:moveTo>
                      <a:pt x="1377944" y="1321184"/>
                    </a:moveTo>
                    <a:lnTo>
                      <a:pt x="1392145" y="1306973"/>
                    </a:lnTo>
                    <a:lnTo>
                      <a:pt x="1293019" y="1207846"/>
                    </a:lnTo>
                    <a:lnTo>
                      <a:pt x="1335643" y="1165222"/>
                    </a:lnTo>
                    <a:lnTo>
                      <a:pt x="937641" y="767220"/>
                    </a:lnTo>
                    <a:cubicBezTo>
                      <a:pt x="921944" y="782907"/>
                      <a:pt x="921944" y="808358"/>
                      <a:pt x="937641" y="824046"/>
                    </a:cubicBezTo>
                    <a:lnTo>
                      <a:pt x="1278817" y="1165222"/>
                    </a:lnTo>
                    <a:lnTo>
                      <a:pt x="1264606" y="1179433"/>
                    </a:lnTo>
                    <a:lnTo>
                      <a:pt x="246250" y="161058"/>
                    </a:lnTo>
                    <a:lnTo>
                      <a:pt x="51749" y="32852"/>
                    </a:lnTo>
                    <a:lnTo>
                      <a:pt x="47063" y="37538"/>
                    </a:lnTo>
                    <a:lnTo>
                      <a:pt x="9525" y="0"/>
                    </a:lnTo>
                    <a:lnTo>
                      <a:pt x="0" y="9525"/>
                    </a:lnTo>
                    <a:lnTo>
                      <a:pt x="37538" y="47063"/>
                    </a:lnTo>
                    <a:lnTo>
                      <a:pt x="32804" y="51797"/>
                    </a:lnTo>
                    <a:lnTo>
                      <a:pt x="161001" y="246297"/>
                    </a:lnTo>
                    <a:lnTo>
                      <a:pt x="1306906" y="1392212"/>
                    </a:lnTo>
                    <a:lnTo>
                      <a:pt x="1321118" y="1378010"/>
                    </a:lnTo>
                    <a:lnTo>
                      <a:pt x="1449076" y="1505979"/>
                    </a:lnTo>
                    <a:lnTo>
                      <a:pt x="1505902" y="1449153"/>
                    </a:lnTo>
                    <a:lnTo>
                      <a:pt x="1377944" y="1321184"/>
                    </a:lnTo>
                    <a:close/>
                  </a:path>
                </a:pathLst>
              </a:custGeom>
              <a:solidFill>
                <a:srgbClr val="D2D2D2"/>
              </a:solidFill>
              <a:ln w="9525" cap="flat">
                <a:noFill/>
                <a:prstDash val="solid"/>
                <a:miter/>
              </a:ln>
            </p:spPr>
            <p:txBody>
              <a:bodyPr rtlCol="0" anchor="ctr"/>
              <a:lstStyle/>
              <a:p>
                <a:endParaRPr lang="en-GB" sz="800" noProof="0" dirty="0"/>
              </a:p>
            </p:txBody>
          </p:sp>
          <p:grpSp>
            <p:nvGrpSpPr>
              <p:cNvPr id="15" name="Graphic 21" descr="Graph and note paper pads with pencil">
                <a:extLst>
                  <a:ext uri="{FF2B5EF4-FFF2-40B4-BE49-F238E27FC236}">
                    <a16:creationId xmlns:a16="http://schemas.microsoft.com/office/drawing/2014/main" id="{84FDA74A-0EF8-28AF-1B40-173A4344B61C}"/>
                  </a:ext>
                </a:extLst>
              </p:cNvPr>
              <p:cNvGrpSpPr/>
              <p:nvPr/>
            </p:nvGrpSpPr>
            <p:grpSpPr>
              <a:xfrm>
                <a:off x="5950163" y="7883109"/>
                <a:ext cx="1505903" cy="1505931"/>
                <a:chOff x="5950163" y="7883109"/>
                <a:chExt cx="1505903" cy="1505931"/>
              </a:xfrm>
            </p:grpSpPr>
            <p:sp>
              <p:nvSpPr>
                <p:cNvPr id="16" name="Freeform: Shape 15">
                  <a:extLst>
                    <a:ext uri="{FF2B5EF4-FFF2-40B4-BE49-F238E27FC236}">
                      <a16:creationId xmlns:a16="http://schemas.microsoft.com/office/drawing/2014/main" id="{38676F34-1C67-6D77-114D-88880174262B}"/>
                    </a:ext>
                  </a:extLst>
                </p:cNvPr>
                <p:cNvSpPr/>
                <p:nvPr/>
              </p:nvSpPr>
              <p:spPr>
                <a:xfrm rot="-2700000">
                  <a:off x="5973003" y="7877594"/>
                  <a:ext cx="13468" cy="70179"/>
                </a:xfrm>
                <a:custGeom>
                  <a:avLst/>
                  <a:gdLst>
                    <a:gd name="connsiteX0" fmla="*/ 0 w 13468"/>
                    <a:gd name="connsiteY0" fmla="*/ 0 h 70179"/>
                    <a:gd name="connsiteX1" fmla="*/ 13468 w 13468"/>
                    <a:gd name="connsiteY1" fmla="*/ 0 h 70179"/>
                    <a:gd name="connsiteX2" fmla="*/ 13468 w 13468"/>
                    <a:gd name="connsiteY2" fmla="*/ 70179 h 70179"/>
                    <a:gd name="connsiteX3" fmla="*/ 0 w 13468"/>
                    <a:gd name="connsiteY3" fmla="*/ 70179 h 70179"/>
                  </a:gdLst>
                  <a:ahLst/>
                  <a:cxnLst>
                    <a:cxn ang="0">
                      <a:pos x="connsiteX0" y="connsiteY0"/>
                    </a:cxn>
                    <a:cxn ang="0">
                      <a:pos x="connsiteX1" y="connsiteY1"/>
                    </a:cxn>
                    <a:cxn ang="0">
                      <a:pos x="connsiteX2" y="connsiteY2"/>
                    </a:cxn>
                    <a:cxn ang="0">
                      <a:pos x="connsiteX3" y="connsiteY3"/>
                    </a:cxn>
                  </a:cxnLst>
                  <a:rect l="l" t="t" r="r" b="b"/>
                  <a:pathLst>
                    <a:path w="13468" h="70179">
                      <a:moveTo>
                        <a:pt x="0" y="0"/>
                      </a:moveTo>
                      <a:lnTo>
                        <a:pt x="13468" y="0"/>
                      </a:lnTo>
                      <a:lnTo>
                        <a:pt x="13468" y="70179"/>
                      </a:lnTo>
                      <a:lnTo>
                        <a:pt x="0" y="70179"/>
                      </a:lnTo>
                      <a:close/>
                    </a:path>
                  </a:pathLst>
                </a:custGeom>
                <a:solidFill>
                  <a:srgbClr val="505050"/>
                </a:solidFill>
                <a:ln w="9525" cap="flat">
                  <a:noFill/>
                  <a:prstDash val="solid"/>
                  <a:miter/>
                </a:ln>
              </p:spPr>
              <p:txBody>
                <a:bodyPr rtlCol="0" anchor="ctr"/>
                <a:lstStyle/>
                <a:p>
                  <a:endParaRPr lang="en-GB" sz="800" noProof="0" dirty="0"/>
                </a:p>
              </p:txBody>
            </p:sp>
            <p:sp>
              <p:nvSpPr>
                <p:cNvPr id="19" name="Freeform: Shape 18">
                  <a:extLst>
                    <a:ext uri="{FF2B5EF4-FFF2-40B4-BE49-F238E27FC236}">
                      <a16:creationId xmlns:a16="http://schemas.microsoft.com/office/drawing/2014/main" id="{CB628C8A-7A78-0E85-B9DB-B3254F476FCE}"/>
                    </a:ext>
                  </a:extLst>
                </p:cNvPr>
                <p:cNvSpPr/>
                <p:nvPr/>
              </p:nvSpPr>
              <p:spPr>
                <a:xfrm rot="-2700000">
                  <a:off x="7314895" y="9185424"/>
                  <a:ext cx="80371" cy="205261"/>
                </a:xfrm>
                <a:custGeom>
                  <a:avLst/>
                  <a:gdLst>
                    <a:gd name="connsiteX0" fmla="*/ 0 w 80371"/>
                    <a:gd name="connsiteY0" fmla="*/ 0 h 205261"/>
                    <a:gd name="connsiteX1" fmla="*/ 80371 w 80371"/>
                    <a:gd name="connsiteY1" fmla="*/ 0 h 205261"/>
                    <a:gd name="connsiteX2" fmla="*/ 80371 w 80371"/>
                    <a:gd name="connsiteY2" fmla="*/ 205262 h 205261"/>
                    <a:gd name="connsiteX3" fmla="*/ 0 w 80371"/>
                    <a:gd name="connsiteY3" fmla="*/ 205262 h 205261"/>
                  </a:gdLst>
                  <a:ahLst/>
                  <a:cxnLst>
                    <a:cxn ang="0">
                      <a:pos x="connsiteX0" y="connsiteY0"/>
                    </a:cxn>
                    <a:cxn ang="0">
                      <a:pos x="connsiteX1" y="connsiteY1"/>
                    </a:cxn>
                    <a:cxn ang="0">
                      <a:pos x="connsiteX2" y="connsiteY2"/>
                    </a:cxn>
                    <a:cxn ang="0">
                      <a:pos x="connsiteX3" y="connsiteY3"/>
                    </a:cxn>
                  </a:cxnLst>
                  <a:rect l="l" t="t" r="r" b="b"/>
                  <a:pathLst>
                    <a:path w="80371" h="205261">
                      <a:moveTo>
                        <a:pt x="0" y="0"/>
                      </a:moveTo>
                      <a:lnTo>
                        <a:pt x="80371" y="0"/>
                      </a:lnTo>
                      <a:lnTo>
                        <a:pt x="80371" y="205262"/>
                      </a:lnTo>
                      <a:lnTo>
                        <a:pt x="0" y="205262"/>
                      </a:lnTo>
                      <a:close/>
                    </a:path>
                  </a:pathLst>
                </a:custGeom>
                <a:solidFill>
                  <a:srgbClr val="737373"/>
                </a:solidFill>
                <a:ln w="9525" cap="flat">
                  <a:noFill/>
                  <a:prstDash val="solid"/>
                  <a:miter/>
                </a:ln>
              </p:spPr>
              <p:txBody>
                <a:bodyPr rtlCol="0" anchor="ctr"/>
                <a:lstStyle/>
                <a:p>
                  <a:endParaRPr lang="en-GB" sz="800" noProof="0" dirty="0"/>
                </a:p>
              </p:txBody>
            </p:sp>
            <p:sp>
              <p:nvSpPr>
                <p:cNvPr id="20" name="Freeform: Shape 19">
                  <a:extLst>
                    <a:ext uri="{FF2B5EF4-FFF2-40B4-BE49-F238E27FC236}">
                      <a16:creationId xmlns:a16="http://schemas.microsoft.com/office/drawing/2014/main" id="{6D8330DB-DA73-00A7-DE03-FC7410C5D87B}"/>
                    </a:ext>
                  </a:extLst>
                </p:cNvPr>
                <p:cNvSpPr/>
                <p:nvPr/>
              </p:nvSpPr>
              <p:spPr>
                <a:xfrm>
                  <a:off x="6111187" y="8044209"/>
                  <a:ext cx="1231144" cy="1231186"/>
                </a:xfrm>
                <a:custGeom>
                  <a:avLst/>
                  <a:gdLst>
                    <a:gd name="connsiteX0" fmla="*/ 1231145 w 1231144"/>
                    <a:gd name="connsiteY0" fmla="*/ 1145947 h 1231186"/>
                    <a:gd name="connsiteX1" fmla="*/ 1145896 w 1231144"/>
                    <a:gd name="connsiteY1" fmla="*/ 1231187 h 1231186"/>
                    <a:gd name="connsiteX2" fmla="*/ 0 w 1231144"/>
                    <a:gd name="connsiteY2" fmla="*/ 85272 h 1231186"/>
                    <a:gd name="connsiteX3" fmla="*/ 26241 w 1231144"/>
                    <a:gd name="connsiteY3" fmla="*/ 24121 h 1231186"/>
                    <a:gd name="connsiteX4" fmla="*/ 85249 w 1231144"/>
                    <a:gd name="connsiteY4" fmla="*/ 33 h 1231186"/>
                    <a:gd name="connsiteX5" fmla="*/ 1231145 w 1231144"/>
                    <a:gd name="connsiteY5" fmla="*/ 1145947 h 123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1144" h="1231186">
                      <a:moveTo>
                        <a:pt x="1231145" y="1145947"/>
                      </a:moveTo>
                      <a:lnTo>
                        <a:pt x="1145896" y="1231187"/>
                      </a:lnTo>
                      <a:lnTo>
                        <a:pt x="0" y="85272"/>
                      </a:lnTo>
                      <a:cubicBezTo>
                        <a:pt x="0" y="85272"/>
                        <a:pt x="200" y="50153"/>
                        <a:pt x="26241" y="24121"/>
                      </a:cubicBezTo>
                      <a:cubicBezTo>
                        <a:pt x="52283" y="-1910"/>
                        <a:pt x="85249" y="33"/>
                        <a:pt x="85249" y="33"/>
                      </a:cubicBezTo>
                      <a:lnTo>
                        <a:pt x="1231145" y="1145947"/>
                      </a:lnTo>
                      <a:close/>
                    </a:path>
                  </a:pathLst>
                </a:custGeom>
                <a:solidFill>
                  <a:schemeClr val="accent4"/>
                </a:solidFill>
                <a:ln w="9525" cap="flat">
                  <a:noFill/>
                  <a:prstDash val="solid"/>
                  <a:miter/>
                </a:ln>
              </p:spPr>
              <p:txBody>
                <a:bodyPr rtlCol="0" anchor="ctr"/>
                <a:lstStyle/>
                <a:p>
                  <a:endParaRPr lang="en-GB" sz="800" noProof="0" dirty="0"/>
                </a:p>
              </p:txBody>
            </p:sp>
            <p:sp>
              <p:nvSpPr>
                <p:cNvPr id="21" name="Freeform: Shape 20">
                  <a:extLst>
                    <a:ext uri="{FF2B5EF4-FFF2-40B4-BE49-F238E27FC236}">
                      <a16:creationId xmlns:a16="http://schemas.microsoft.com/office/drawing/2014/main" id="{10BD3770-76A9-37F5-B32D-EC08A4CD7CD1}"/>
                    </a:ext>
                  </a:extLst>
                </p:cNvPr>
                <p:cNvSpPr/>
                <p:nvPr/>
              </p:nvSpPr>
              <p:spPr>
                <a:xfrm>
                  <a:off x="5982980" y="7916035"/>
                  <a:ext cx="213445" cy="213445"/>
                </a:xfrm>
                <a:custGeom>
                  <a:avLst/>
                  <a:gdLst>
                    <a:gd name="connsiteX0" fmla="*/ 0 w 213445"/>
                    <a:gd name="connsiteY0" fmla="*/ 18936 h 213445"/>
                    <a:gd name="connsiteX1" fmla="*/ 128206 w 213445"/>
                    <a:gd name="connsiteY1" fmla="*/ 213446 h 213445"/>
                    <a:gd name="connsiteX2" fmla="*/ 213446 w 213445"/>
                    <a:gd name="connsiteY2" fmla="*/ 128206 h 213445"/>
                    <a:gd name="connsiteX3" fmla="*/ 18945 w 213445"/>
                    <a:gd name="connsiteY3" fmla="*/ 0 h 213445"/>
                  </a:gdLst>
                  <a:ahLst/>
                  <a:cxnLst>
                    <a:cxn ang="0">
                      <a:pos x="connsiteX0" y="connsiteY0"/>
                    </a:cxn>
                    <a:cxn ang="0">
                      <a:pos x="connsiteX1" y="connsiteY1"/>
                    </a:cxn>
                    <a:cxn ang="0">
                      <a:pos x="connsiteX2" y="connsiteY2"/>
                    </a:cxn>
                    <a:cxn ang="0">
                      <a:pos x="connsiteX3" y="connsiteY3"/>
                    </a:cxn>
                  </a:cxnLst>
                  <a:rect l="l" t="t" r="r" b="b"/>
                  <a:pathLst>
                    <a:path w="213445" h="213445">
                      <a:moveTo>
                        <a:pt x="0" y="18936"/>
                      </a:moveTo>
                      <a:lnTo>
                        <a:pt x="128206" y="213446"/>
                      </a:lnTo>
                      <a:lnTo>
                        <a:pt x="213446" y="128206"/>
                      </a:lnTo>
                      <a:lnTo>
                        <a:pt x="18945" y="0"/>
                      </a:lnTo>
                      <a:close/>
                    </a:path>
                  </a:pathLst>
                </a:custGeom>
                <a:solidFill>
                  <a:srgbClr val="737373"/>
                </a:solidFill>
                <a:ln w="9525" cap="flat">
                  <a:noFill/>
                  <a:prstDash val="solid"/>
                  <a:miter/>
                </a:ln>
              </p:spPr>
              <p:txBody>
                <a:bodyPr rtlCol="0" anchor="ctr"/>
                <a:lstStyle/>
                <a:p>
                  <a:endParaRPr lang="en-GB" sz="800" noProof="0" dirty="0"/>
                </a:p>
              </p:txBody>
            </p:sp>
            <p:sp>
              <p:nvSpPr>
                <p:cNvPr id="22" name="Freeform: Shape 21">
                  <a:extLst>
                    <a:ext uri="{FF2B5EF4-FFF2-40B4-BE49-F238E27FC236}">
                      <a16:creationId xmlns:a16="http://schemas.microsoft.com/office/drawing/2014/main" id="{A6450DCA-365D-B462-DE33-C05C8366EFF7}"/>
                    </a:ext>
                  </a:extLst>
                </p:cNvPr>
                <p:cNvSpPr/>
                <p:nvPr/>
              </p:nvSpPr>
              <p:spPr>
                <a:xfrm>
                  <a:off x="6876044" y="8650393"/>
                  <a:ext cx="409774" cy="526208"/>
                </a:xfrm>
                <a:custGeom>
                  <a:avLst/>
                  <a:gdLst>
                    <a:gd name="connsiteX0" fmla="*/ 409775 w 409774"/>
                    <a:gd name="connsiteY0" fmla="*/ 398012 h 526208"/>
                    <a:gd name="connsiteX1" fmla="*/ 11773 w 409774"/>
                    <a:gd name="connsiteY1" fmla="*/ 0 h 526208"/>
                    <a:gd name="connsiteX2" fmla="*/ 11773 w 409774"/>
                    <a:gd name="connsiteY2" fmla="*/ 56826 h 526208"/>
                    <a:gd name="connsiteX3" fmla="*/ 352949 w 409774"/>
                    <a:gd name="connsiteY3" fmla="*/ 398002 h 526208"/>
                    <a:gd name="connsiteX4" fmla="*/ 339233 w 409774"/>
                    <a:gd name="connsiteY4" fmla="*/ 411718 h 526208"/>
                    <a:gd name="connsiteX5" fmla="*/ 310601 w 409774"/>
                    <a:gd name="connsiteY5" fmla="*/ 383086 h 526208"/>
                    <a:gd name="connsiteX6" fmla="*/ 224295 w 409774"/>
                    <a:gd name="connsiteY6" fmla="*/ 469382 h 526208"/>
                    <a:gd name="connsiteX7" fmla="*/ 281121 w 409774"/>
                    <a:gd name="connsiteY7" fmla="*/ 526209 h 526208"/>
                    <a:gd name="connsiteX8" fmla="*/ 409775 w 409774"/>
                    <a:gd name="connsiteY8" fmla="*/ 398012 h 526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9774" h="526208">
                      <a:moveTo>
                        <a:pt x="409775" y="398012"/>
                      </a:moveTo>
                      <a:lnTo>
                        <a:pt x="11773" y="0"/>
                      </a:lnTo>
                      <a:cubicBezTo>
                        <a:pt x="-3924" y="15697"/>
                        <a:pt x="-3924" y="41138"/>
                        <a:pt x="11773" y="56826"/>
                      </a:cubicBezTo>
                      <a:lnTo>
                        <a:pt x="352949" y="398002"/>
                      </a:lnTo>
                      <a:lnTo>
                        <a:pt x="339233" y="411718"/>
                      </a:lnTo>
                      <a:lnTo>
                        <a:pt x="310601" y="383086"/>
                      </a:lnTo>
                      <a:lnTo>
                        <a:pt x="224295" y="469382"/>
                      </a:lnTo>
                      <a:lnTo>
                        <a:pt x="281121" y="526209"/>
                      </a:lnTo>
                      <a:lnTo>
                        <a:pt x="409775" y="398012"/>
                      </a:lnTo>
                      <a:close/>
                    </a:path>
                  </a:pathLst>
                </a:custGeom>
                <a:solidFill>
                  <a:srgbClr val="737373"/>
                </a:solidFill>
                <a:ln w="9525" cap="flat">
                  <a:noFill/>
                  <a:prstDash val="solid"/>
                  <a:miter/>
                </a:ln>
              </p:spPr>
              <p:txBody>
                <a:bodyPr rtlCol="0" anchor="ctr"/>
                <a:lstStyle/>
                <a:p>
                  <a:endParaRPr lang="en-GB" sz="800" noProof="0" dirty="0"/>
                </a:p>
              </p:txBody>
            </p:sp>
          </p:grpSp>
        </p:grpSp>
      </p:grpSp>
      <p:grpSp>
        <p:nvGrpSpPr>
          <p:cNvPr id="60" name="Group 59">
            <a:extLst>
              <a:ext uri="{FF2B5EF4-FFF2-40B4-BE49-F238E27FC236}">
                <a16:creationId xmlns:a16="http://schemas.microsoft.com/office/drawing/2014/main" id="{A69B8335-27C5-2E24-7373-255B2BF3215A}"/>
              </a:ext>
            </a:extLst>
          </p:cNvPr>
          <p:cNvGrpSpPr/>
          <p:nvPr/>
        </p:nvGrpSpPr>
        <p:grpSpPr>
          <a:xfrm>
            <a:off x="6226135" y="2552106"/>
            <a:ext cx="436876" cy="571351"/>
            <a:chOff x="8487619" y="1102570"/>
            <a:chExt cx="2915543" cy="3812977"/>
          </a:xfrm>
        </p:grpSpPr>
        <p:sp>
          <p:nvSpPr>
            <p:cNvPr id="61" name="Freeform: Shape 60">
              <a:extLst>
                <a:ext uri="{FF2B5EF4-FFF2-40B4-BE49-F238E27FC236}">
                  <a16:creationId xmlns:a16="http://schemas.microsoft.com/office/drawing/2014/main" id="{80FC26AE-EEDF-7DF9-4BA8-4598D38672AF}"/>
                </a:ext>
              </a:extLst>
            </p:cNvPr>
            <p:cNvSpPr/>
            <p:nvPr/>
          </p:nvSpPr>
          <p:spPr>
            <a:xfrm>
              <a:off x="8487619" y="1677613"/>
              <a:ext cx="2143124" cy="3214689"/>
            </a:xfrm>
            <a:custGeom>
              <a:avLst/>
              <a:gdLst>
                <a:gd name="connsiteX0" fmla="*/ 0 w 2143125"/>
                <a:gd name="connsiteY0" fmla="*/ 0 h 3214687"/>
                <a:gd name="connsiteX1" fmla="*/ 2143125 w 2143125"/>
                <a:gd name="connsiteY1" fmla="*/ 0 h 3214687"/>
                <a:gd name="connsiteX2" fmla="*/ 2143125 w 2143125"/>
                <a:gd name="connsiteY2" fmla="*/ 3214688 h 3214687"/>
                <a:gd name="connsiteX3" fmla="*/ 0 w 2143125"/>
                <a:gd name="connsiteY3" fmla="*/ 3214688 h 3214687"/>
              </a:gdLst>
              <a:ahLst/>
              <a:cxnLst>
                <a:cxn ang="0">
                  <a:pos x="connsiteX0" y="connsiteY0"/>
                </a:cxn>
                <a:cxn ang="0">
                  <a:pos x="connsiteX1" y="connsiteY1"/>
                </a:cxn>
                <a:cxn ang="0">
                  <a:pos x="connsiteX2" y="connsiteY2"/>
                </a:cxn>
                <a:cxn ang="0">
                  <a:pos x="connsiteX3" y="connsiteY3"/>
                </a:cxn>
              </a:cxnLst>
              <a:rect l="l" t="t" r="r" b="b"/>
              <a:pathLst>
                <a:path w="2143125" h="3214687">
                  <a:moveTo>
                    <a:pt x="0" y="0"/>
                  </a:moveTo>
                  <a:lnTo>
                    <a:pt x="2143125" y="0"/>
                  </a:lnTo>
                  <a:lnTo>
                    <a:pt x="2143125" y="3214688"/>
                  </a:lnTo>
                  <a:lnTo>
                    <a:pt x="0" y="3214688"/>
                  </a:lnTo>
                  <a:close/>
                </a:path>
              </a:pathLst>
            </a:custGeom>
            <a:solidFill>
              <a:schemeClr val="bg2">
                <a:lumMod val="50000"/>
              </a:schemeClr>
            </a:solidFill>
            <a:ln w="7144" cap="flat">
              <a:noFill/>
              <a:prstDash val="solid"/>
              <a:miter/>
            </a:ln>
          </p:spPr>
          <p:txBody>
            <a:bodyPr rtlCol="0" anchor="ctr"/>
            <a:lstStyle/>
            <a:p>
              <a:endParaRPr lang="en-GB" sz="800" noProof="0" dirty="0"/>
            </a:p>
          </p:txBody>
        </p:sp>
        <p:grpSp>
          <p:nvGrpSpPr>
            <p:cNvPr id="62" name="Graphic 23" descr="Graph and note paper with pencils">
              <a:extLst>
                <a:ext uri="{FF2B5EF4-FFF2-40B4-BE49-F238E27FC236}">
                  <a16:creationId xmlns:a16="http://schemas.microsoft.com/office/drawing/2014/main" id="{88AE5E3B-B383-3E4D-E863-B055C0CAAC44}"/>
                </a:ext>
              </a:extLst>
            </p:cNvPr>
            <p:cNvGrpSpPr/>
            <p:nvPr/>
          </p:nvGrpSpPr>
          <p:grpSpPr>
            <a:xfrm>
              <a:off x="8719792" y="1102570"/>
              <a:ext cx="2143125" cy="3277195"/>
              <a:chOff x="8719792" y="1102570"/>
              <a:chExt cx="2143125" cy="3277195"/>
            </a:xfrm>
          </p:grpSpPr>
          <p:sp>
            <p:nvSpPr>
              <p:cNvPr id="4106" name="Freeform: Shape 4105">
                <a:extLst>
                  <a:ext uri="{FF2B5EF4-FFF2-40B4-BE49-F238E27FC236}">
                    <a16:creationId xmlns:a16="http://schemas.microsoft.com/office/drawing/2014/main" id="{B7DF69F2-BEE9-05E6-C593-7E6E5534C40C}"/>
                  </a:ext>
                </a:extLst>
              </p:cNvPr>
              <p:cNvSpPr/>
              <p:nvPr/>
            </p:nvSpPr>
            <p:spPr>
              <a:xfrm>
                <a:off x="8737651" y="1165078"/>
                <a:ext cx="2125265" cy="3214687"/>
              </a:xfrm>
              <a:custGeom>
                <a:avLst/>
                <a:gdLst>
                  <a:gd name="connsiteX0" fmla="*/ 0 w 2125265"/>
                  <a:gd name="connsiteY0" fmla="*/ 0 h 3214687"/>
                  <a:gd name="connsiteX1" fmla="*/ 2125266 w 2125265"/>
                  <a:gd name="connsiteY1" fmla="*/ 0 h 3214687"/>
                  <a:gd name="connsiteX2" fmla="*/ 2125266 w 2125265"/>
                  <a:gd name="connsiteY2" fmla="*/ 3214688 h 3214687"/>
                  <a:gd name="connsiteX3" fmla="*/ 0 w 2125265"/>
                  <a:gd name="connsiteY3" fmla="*/ 3214688 h 3214687"/>
                </a:gdLst>
                <a:ahLst/>
                <a:cxnLst>
                  <a:cxn ang="0">
                    <a:pos x="connsiteX0" y="connsiteY0"/>
                  </a:cxn>
                  <a:cxn ang="0">
                    <a:pos x="connsiteX1" y="connsiteY1"/>
                  </a:cxn>
                  <a:cxn ang="0">
                    <a:pos x="connsiteX2" y="connsiteY2"/>
                  </a:cxn>
                  <a:cxn ang="0">
                    <a:pos x="connsiteX3" y="connsiteY3"/>
                  </a:cxn>
                </a:cxnLst>
                <a:rect l="l" t="t" r="r" b="b"/>
                <a:pathLst>
                  <a:path w="2125265" h="3214687">
                    <a:moveTo>
                      <a:pt x="0" y="0"/>
                    </a:moveTo>
                    <a:lnTo>
                      <a:pt x="2125266" y="0"/>
                    </a:lnTo>
                    <a:lnTo>
                      <a:pt x="2125266" y="3214688"/>
                    </a:lnTo>
                    <a:lnTo>
                      <a:pt x="0" y="3214688"/>
                    </a:lnTo>
                    <a:close/>
                  </a:path>
                </a:pathLst>
              </a:custGeom>
              <a:solidFill>
                <a:srgbClr val="D2D2D2"/>
              </a:solidFill>
              <a:ln w="7144" cap="flat">
                <a:noFill/>
                <a:prstDash val="solid"/>
                <a:miter/>
              </a:ln>
            </p:spPr>
            <p:txBody>
              <a:bodyPr rtlCol="0" anchor="ctr"/>
              <a:lstStyle/>
              <a:p>
                <a:endParaRPr lang="en-GB" sz="800" noProof="0" dirty="0"/>
              </a:p>
            </p:txBody>
          </p:sp>
          <p:sp>
            <p:nvSpPr>
              <p:cNvPr id="4107" name="Freeform: Shape 4106">
                <a:extLst>
                  <a:ext uri="{FF2B5EF4-FFF2-40B4-BE49-F238E27FC236}">
                    <a16:creationId xmlns:a16="http://schemas.microsoft.com/office/drawing/2014/main" id="{BB283FF2-A993-C02F-9EAF-D4EDBA0E9E99}"/>
                  </a:ext>
                </a:extLst>
              </p:cNvPr>
              <p:cNvSpPr/>
              <p:nvPr/>
            </p:nvSpPr>
            <p:spPr>
              <a:xfrm>
                <a:off x="8719792" y="1102570"/>
                <a:ext cx="2143125" cy="3214687"/>
              </a:xfrm>
              <a:custGeom>
                <a:avLst/>
                <a:gdLst>
                  <a:gd name="connsiteX0" fmla="*/ 0 w 2143125"/>
                  <a:gd name="connsiteY0" fmla="*/ 0 h 3214687"/>
                  <a:gd name="connsiteX1" fmla="*/ 2143125 w 2143125"/>
                  <a:gd name="connsiteY1" fmla="*/ 0 h 3214687"/>
                  <a:gd name="connsiteX2" fmla="*/ 2143125 w 2143125"/>
                  <a:gd name="connsiteY2" fmla="*/ 3214688 h 3214687"/>
                  <a:gd name="connsiteX3" fmla="*/ 0 w 2143125"/>
                  <a:gd name="connsiteY3" fmla="*/ 3214688 h 3214687"/>
                </a:gdLst>
                <a:ahLst/>
                <a:cxnLst>
                  <a:cxn ang="0">
                    <a:pos x="connsiteX0" y="connsiteY0"/>
                  </a:cxn>
                  <a:cxn ang="0">
                    <a:pos x="connsiteX1" y="connsiteY1"/>
                  </a:cxn>
                  <a:cxn ang="0">
                    <a:pos x="connsiteX2" y="connsiteY2"/>
                  </a:cxn>
                  <a:cxn ang="0">
                    <a:pos x="connsiteX3" y="connsiteY3"/>
                  </a:cxn>
                </a:cxnLst>
                <a:rect l="l" t="t" r="r" b="b"/>
                <a:pathLst>
                  <a:path w="2143125" h="3214687">
                    <a:moveTo>
                      <a:pt x="0" y="0"/>
                    </a:moveTo>
                    <a:lnTo>
                      <a:pt x="2143125" y="0"/>
                    </a:lnTo>
                    <a:lnTo>
                      <a:pt x="2143125" y="3214688"/>
                    </a:lnTo>
                    <a:lnTo>
                      <a:pt x="0" y="3214688"/>
                    </a:lnTo>
                    <a:close/>
                  </a:path>
                </a:pathLst>
              </a:custGeom>
              <a:solidFill>
                <a:srgbClr val="E6E6E6"/>
              </a:solidFill>
              <a:ln w="7144" cap="flat">
                <a:noFill/>
                <a:prstDash val="solid"/>
                <a:miter/>
              </a:ln>
            </p:spPr>
            <p:txBody>
              <a:bodyPr rtlCol="0" anchor="ctr"/>
              <a:lstStyle/>
              <a:p>
                <a:endParaRPr lang="en-GB" sz="800" noProof="0" dirty="0"/>
              </a:p>
            </p:txBody>
          </p:sp>
          <p:grpSp>
            <p:nvGrpSpPr>
              <p:cNvPr id="4108" name="Graphic 23" descr="Graph and note paper with pencils">
                <a:extLst>
                  <a:ext uri="{FF2B5EF4-FFF2-40B4-BE49-F238E27FC236}">
                    <a16:creationId xmlns:a16="http://schemas.microsoft.com/office/drawing/2014/main" id="{A6BD6AAF-111A-7B5B-3EED-E691584DE93E}"/>
                  </a:ext>
                </a:extLst>
              </p:cNvPr>
              <p:cNvGrpSpPr/>
              <p:nvPr/>
            </p:nvGrpSpPr>
            <p:grpSpPr>
              <a:xfrm>
                <a:off x="8898385" y="1633887"/>
                <a:ext cx="1785944" cy="2366367"/>
                <a:chOff x="8898385" y="1633887"/>
                <a:chExt cx="1785944" cy="2366367"/>
              </a:xfrm>
              <a:solidFill>
                <a:srgbClr val="D2D2D2"/>
              </a:solidFill>
            </p:grpSpPr>
            <p:grpSp>
              <p:nvGrpSpPr>
                <p:cNvPr id="4112" name="Graphic 23" descr="Graph and note paper with pencils">
                  <a:extLst>
                    <a:ext uri="{FF2B5EF4-FFF2-40B4-BE49-F238E27FC236}">
                      <a16:creationId xmlns:a16="http://schemas.microsoft.com/office/drawing/2014/main" id="{5AE317B3-4A54-75F7-B3FB-F20D1A2EFF8E}"/>
                    </a:ext>
                  </a:extLst>
                </p:cNvPr>
                <p:cNvGrpSpPr/>
                <p:nvPr/>
              </p:nvGrpSpPr>
              <p:grpSpPr>
                <a:xfrm>
                  <a:off x="8898385" y="1633887"/>
                  <a:ext cx="1785944" cy="759023"/>
                  <a:chOff x="8898385" y="1633887"/>
                  <a:chExt cx="1785944" cy="759023"/>
                </a:xfrm>
                <a:solidFill>
                  <a:srgbClr val="D2D2D2"/>
                </a:solidFill>
              </p:grpSpPr>
              <p:sp>
                <p:nvSpPr>
                  <p:cNvPr id="4130" name="Freeform: Shape 4129">
                    <a:extLst>
                      <a:ext uri="{FF2B5EF4-FFF2-40B4-BE49-F238E27FC236}">
                        <a16:creationId xmlns:a16="http://schemas.microsoft.com/office/drawing/2014/main" id="{7B598ACC-31DD-D574-8EB3-90926F187AD6}"/>
                      </a:ext>
                    </a:extLst>
                  </p:cNvPr>
                  <p:cNvSpPr/>
                  <p:nvPr/>
                </p:nvSpPr>
                <p:spPr>
                  <a:xfrm>
                    <a:off x="8899693" y="1633887"/>
                    <a:ext cx="1784637" cy="8929"/>
                  </a:xfrm>
                  <a:custGeom>
                    <a:avLst/>
                    <a:gdLst>
                      <a:gd name="connsiteX0" fmla="*/ 0 w 1784637"/>
                      <a:gd name="connsiteY0" fmla="*/ 0 h 8929"/>
                      <a:gd name="connsiteX1" fmla="*/ 1784637 w 1784637"/>
                      <a:gd name="connsiteY1" fmla="*/ 0 h 8929"/>
                      <a:gd name="connsiteX2" fmla="*/ 1784637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7" y="0"/>
                        </a:lnTo>
                        <a:lnTo>
                          <a:pt x="1784637"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31" name="Freeform: Shape 4130">
                    <a:extLst>
                      <a:ext uri="{FF2B5EF4-FFF2-40B4-BE49-F238E27FC236}">
                        <a16:creationId xmlns:a16="http://schemas.microsoft.com/office/drawing/2014/main" id="{665BF85E-CAFA-4A80-0D40-AA9B26F213FF}"/>
                      </a:ext>
                    </a:extLst>
                  </p:cNvPr>
                  <p:cNvSpPr/>
                  <p:nvPr/>
                </p:nvSpPr>
                <p:spPr>
                  <a:xfrm>
                    <a:off x="8898385" y="1741043"/>
                    <a:ext cx="1784637" cy="8929"/>
                  </a:xfrm>
                  <a:custGeom>
                    <a:avLst/>
                    <a:gdLst>
                      <a:gd name="connsiteX0" fmla="*/ 0 w 1784637"/>
                      <a:gd name="connsiteY0" fmla="*/ 0 h 8929"/>
                      <a:gd name="connsiteX1" fmla="*/ 1784638 w 1784637"/>
                      <a:gd name="connsiteY1" fmla="*/ 0 h 8929"/>
                      <a:gd name="connsiteX2" fmla="*/ 1784638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8" y="0"/>
                        </a:lnTo>
                        <a:lnTo>
                          <a:pt x="1784638"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32" name="Freeform: Shape 4131">
                    <a:extLst>
                      <a:ext uri="{FF2B5EF4-FFF2-40B4-BE49-F238E27FC236}">
                        <a16:creationId xmlns:a16="http://schemas.microsoft.com/office/drawing/2014/main" id="{10974164-FA9E-42CB-00CA-C3F9A09D4295}"/>
                      </a:ext>
                    </a:extLst>
                  </p:cNvPr>
                  <p:cNvSpPr/>
                  <p:nvPr/>
                </p:nvSpPr>
                <p:spPr>
                  <a:xfrm>
                    <a:off x="8899693" y="1848199"/>
                    <a:ext cx="1784637" cy="8929"/>
                  </a:xfrm>
                  <a:custGeom>
                    <a:avLst/>
                    <a:gdLst>
                      <a:gd name="connsiteX0" fmla="*/ 0 w 1784637"/>
                      <a:gd name="connsiteY0" fmla="*/ 0 h 8929"/>
                      <a:gd name="connsiteX1" fmla="*/ 1784637 w 1784637"/>
                      <a:gd name="connsiteY1" fmla="*/ 0 h 8929"/>
                      <a:gd name="connsiteX2" fmla="*/ 1784637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7" y="0"/>
                        </a:lnTo>
                        <a:lnTo>
                          <a:pt x="1784637"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33" name="Freeform: Shape 4132">
                    <a:extLst>
                      <a:ext uri="{FF2B5EF4-FFF2-40B4-BE49-F238E27FC236}">
                        <a16:creationId xmlns:a16="http://schemas.microsoft.com/office/drawing/2014/main" id="{0A4E15FC-D0CA-54E1-4284-21CAC543E96A}"/>
                      </a:ext>
                    </a:extLst>
                  </p:cNvPr>
                  <p:cNvSpPr/>
                  <p:nvPr/>
                </p:nvSpPr>
                <p:spPr>
                  <a:xfrm>
                    <a:off x="8898385" y="1955355"/>
                    <a:ext cx="1784637" cy="8929"/>
                  </a:xfrm>
                  <a:custGeom>
                    <a:avLst/>
                    <a:gdLst>
                      <a:gd name="connsiteX0" fmla="*/ 0 w 1784637"/>
                      <a:gd name="connsiteY0" fmla="*/ 0 h 8929"/>
                      <a:gd name="connsiteX1" fmla="*/ 1784638 w 1784637"/>
                      <a:gd name="connsiteY1" fmla="*/ 0 h 8929"/>
                      <a:gd name="connsiteX2" fmla="*/ 1784638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8" y="0"/>
                        </a:lnTo>
                        <a:lnTo>
                          <a:pt x="1784638"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34" name="Freeform: Shape 4133">
                    <a:extLst>
                      <a:ext uri="{FF2B5EF4-FFF2-40B4-BE49-F238E27FC236}">
                        <a16:creationId xmlns:a16="http://schemas.microsoft.com/office/drawing/2014/main" id="{14A5A455-E760-2ECF-C39F-5F6A5952525B}"/>
                      </a:ext>
                    </a:extLst>
                  </p:cNvPr>
                  <p:cNvSpPr/>
                  <p:nvPr/>
                </p:nvSpPr>
                <p:spPr>
                  <a:xfrm>
                    <a:off x="8899693" y="2062512"/>
                    <a:ext cx="1784637" cy="8929"/>
                  </a:xfrm>
                  <a:custGeom>
                    <a:avLst/>
                    <a:gdLst>
                      <a:gd name="connsiteX0" fmla="*/ 0 w 1784637"/>
                      <a:gd name="connsiteY0" fmla="*/ 0 h 8929"/>
                      <a:gd name="connsiteX1" fmla="*/ 1784637 w 1784637"/>
                      <a:gd name="connsiteY1" fmla="*/ 0 h 8929"/>
                      <a:gd name="connsiteX2" fmla="*/ 1784637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7" y="0"/>
                        </a:lnTo>
                        <a:lnTo>
                          <a:pt x="1784637"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35" name="Freeform: Shape 4134">
                    <a:extLst>
                      <a:ext uri="{FF2B5EF4-FFF2-40B4-BE49-F238E27FC236}">
                        <a16:creationId xmlns:a16="http://schemas.microsoft.com/office/drawing/2014/main" id="{47921609-0193-ECBC-1262-FFE6853C4120}"/>
                      </a:ext>
                    </a:extLst>
                  </p:cNvPr>
                  <p:cNvSpPr/>
                  <p:nvPr/>
                </p:nvSpPr>
                <p:spPr>
                  <a:xfrm>
                    <a:off x="8898385" y="2169668"/>
                    <a:ext cx="1784637" cy="8929"/>
                  </a:xfrm>
                  <a:custGeom>
                    <a:avLst/>
                    <a:gdLst>
                      <a:gd name="connsiteX0" fmla="*/ 0 w 1784637"/>
                      <a:gd name="connsiteY0" fmla="*/ 0 h 8929"/>
                      <a:gd name="connsiteX1" fmla="*/ 1784638 w 1784637"/>
                      <a:gd name="connsiteY1" fmla="*/ 0 h 8929"/>
                      <a:gd name="connsiteX2" fmla="*/ 1784638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8" y="0"/>
                        </a:lnTo>
                        <a:lnTo>
                          <a:pt x="1784638"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36" name="Freeform: Shape 4135">
                    <a:extLst>
                      <a:ext uri="{FF2B5EF4-FFF2-40B4-BE49-F238E27FC236}">
                        <a16:creationId xmlns:a16="http://schemas.microsoft.com/office/drawing/2014/main" id="{F1F3B72C-D8E6-BBE3-7C1C-6E325D120CC1}"/>
                      </a:ext>
                    </a:extLst>
                  </p:cNvPr>
                  <p:cNvSpPr/>
                  <p:nvPr/>
                </p:nvSpPr>
                <p:spPr>
                  <a:xfrm>
                    <a:off x="8899693" y="2276824"/>
                    <a:ext cx="1784637" cy="8929"/>
                  </a:xfrm>
                  <a:custGeom>
                    <a:avLst/>
                    <a:gdLst>
                      <a:gd name="connsiteX0" fmla="*/ 0 w 1784637"/>
                      <a:gd name="connsiteY0" fmla="*/ 0 h 8929"/>
                      <a:gd name="connsiteX1" fmla="*/ 1784637 w 1784637"/>
                      <a:gd name="connsiteY1" fmla="*/ 0 h 8929"/>
                      <a:gd name="connsiteX2" fmla="*/ 1784637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7" y="0"/>
                        </a:lnTo>
                        <a:lnTo>
                          <a:pt x="1784637"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37" name="Freeform: Shape 4136">
                    <a:extLst>
                      <a:ext uri="{FF2B5EF4-FFF2-40B4-BE49-F238E27FC236}">
                        <a16:creationId xmlns:a16="http://schemas.microsoft.com/office/drawing/2014/main" id="{48E6C5B9-F723-E71D-9ACC-055D54467346}"/>
                      </a:ext>
                    </a:extLst>
                  </p:cNvPr>
                  <p:cNvSpPr/>
                  <p:nvPr/>
                </p:nvSpPr>
                <p:spPr>
                  <a:xfrm>
                    <a:off x="8898385" y="2383980"/>
                    <a:ext cx="1784637" cy="8929"/>
                  </a:xfrm>
                  <a:custGeom>
                    <a:avLst/>
                    <a:gdLst>
                      <a:gd name="connsiteX0" fmla="*/ 0 w 1784637"/>
                      <a:gd name="connsiteY0" fmla="*/ 0 h 8929"/>
                      <a:gd name="connsiteX1" fmla="*/ 1784638 w 1784637"/>
                      <a:gd name="connsiteY1" fmla="*/ 0 h 8929"/>
                      <a:gd name="connsiteX2" fmla="*/ 1784638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8" y="0"/>
                        </a:lnTo>
                        <a:lnTo>
                          <a:pt x="1784638" y="8930"/>
                        </a:lnTo>
                        <a:lnTo>
                          <a:pt x="0" y="8930"/>
                        </a:lnTo>
                        <a:close/>
                      </a:path>
                    </a:pathLst>
                  </a:custGeom>
                  <a:solidFill>
                    <a:srgbClr val="D2D2D2"/>
                  </a:solidFill>
                  <a:ln w="7144" cap="flat">
                    <a:noFill/>
                    <a:prstDash val="solid"/>
                    <a:miter/>
                  </a:ln>
                </p:spPr>
                <p:txBody>
                  <a:bodyPr rtlCol="0" anchor="ctr"/>
                  <a:lstStyle/>
                  <a:p>
                    <a:endParaRPr lang="en-GB" sz="800" noProof="0" dirty="0"/>
                  </a:p>
                </p:txBody>
              </p:sp>
            </p:grpSp>
            <p:grpSp>
              <p:nvGrpSpPr>
                <p:cNvPr id="4113" name="Graphic 23" descr="Graph and note paper with pencils">
                  <a:extLst>
                    <a:ext uri="{FF2B5EF4-FFF2-40B4-BE49-F238E27FC236}">
                      <a16:creationId xmlns:a16="http://schemas.microsoft.com/office/drawing/2014/main" id="{D7921C30-C664-7A0A-1946-4E70F142CA39}"/>
                    </a:ext>
                  </a:extLst>
                </p:cNvPr>
                <p:cNvGrpSpPr/>
                <p:nvPr/>
              </p:nvGrpSpPr>
              <p:grpSpPr>
                <a:xfrm>
                  <a:off x="8898385" y="2491137"/>
                  <a:ext cx="1785944" cy="759023"/>
                  <a:chOff x="8898385" y="2491137"/>
                  <a:chExt cx="1785944" cy="759023"/>
                </a:xfrm>
                <a:solidFill>
                  <a:srgbClr val="D2D2D2"/>
                </a:solidFill>
              </p:grpSpPr>
              <p:sp>
                <p:nvSpPr>
                  <p:cNvPr id="4122" name="Freeform: Shape 4121">
                    <a:extLst>
                      <a:ext uri="{FF2B5EF4-FFF2-40B4-BE49-F238E27FC236}">
                        <a16:creationId xmlns:a16="http://schemas.microsoft.com/office/drawing/2014/main" id="{DD246A38-1F56-74A1-5B8F-765D8C92CDF2}"/>
                      </a:ext>
                    </a:extLst>
                  </p:cNvPr>
                  <p:cNvSpPr/>
                  <p:nvPr/>
                </p:nvSpPr>
                <p:spPr>
                  <a:xfrm>
                    <a:off x="8899693" y="2491137"/>
                    <a:ext cx="1784637" cy="8929"/>
                  </a:xfrm>
                  <a:custGeom>
                    <a:avLst/>
                    <a:gdLst>
                      <a:gd name="connsiteX0" fmla="*/ 0 w 1784637"/>
                      <a:gd name="connsiteY0" fmla="*/ 0 h 8929"/>
                      <a:gd name="connsiteX1" fmla="*/ 1784637 w 1784637"/>
                      <a:gd name="connsiteY1" fmla="*/ 0 h 8929"/>
                      <a:gd name="connsiteX2" fmla="*/ 1784637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7" y="0"/>
                        </a:lnTo>
                        <a:lnTo>
                          <a:pt x="1784637"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23" name="Freeform: Shape 4122">
                    <a:extLst>
                      <a:ext uri="{FF2B5EF4-FFF2-40B4-BE49-F238E27FC236}">
                        <a16:creationId xmlns:a16="http://schemas.microsoft.com/office/drawing/2014/main" id="{4573293E-72C0-797F-287E-251997382F12}"/>
                      </a:ext>
                    </a:extLst>
                  </p:cNvPr>
                  <p:cNvSpPr/>
                  <p:nvPr/>
                </p:nvSpPr>
                <p:spPr>
                  <a:xfrm>
                    <a:off x="8898385" y="2598293"/>
                    <a:ext cx="1784637" cy="8929"/>
                  </a:xfrm>
                  <a:custGeom>
                    <a:avLst/>
                    <a:gdLst>
                      <a:gd name="connsiteX0" fmla="*/ 0 w 1784637"/>
                      <a:gd name="connsiteY0" fmla="*/ 0 h 8929"/>
                      <a:gd name="connsiteX1" fmla="*/ 1784638 w 1784637"/>
                      <a:gd name="connsiteY1" fmla="*/ 0 h 8929"/>
                      <a:gd name="connsiteX2" fmla="*/ 1784638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8" y="0"/>
                        </a:lnTo>
                        <a:lnTo>
                          <a:pt x="1784638"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24" name="Freeform: Shape 4123">
                    <a:extLst>
                      <a:ext uri="{FF2B5EF4-FFF2-40B4-BE49-F238E27FC236}">
                        <a16:creationId xmlns:a16="http://schemas.microsoft.com/office/drawing/2014/main" id="{44A708E8-A6BE-AECB-59F2-CB79430E216E}"/>
                      </a:ext>
                    </a:extLst>
                  </p:cNvPr>
                  <p:cNvSpPr/>
                  <p:nvPr/>
                </p:nvSpPr>
                <p:spPr>
                  <a:xfrm>
                    <a:off x="8899693" y="2705449"/>
                    <a:ext cx="1784637" cy="8929"/>
                  </a:xfrm>
                  <a:custGeom>
                    <a:avLst/>
                    <a:gdLst>
                      <a:gd name="connsiteX0" fmla="*/ 0 w 1784637"/>
                      <a:gd name="connsiteY0" fmla="*/ 0 h 8929"/>
                      <a:gd name="connsiteX1" fmla="*/ 1784637 w 1784637"/>
                      <a:gd name="connsiteY1" fmla="*/ 0 h 8929"/>
                      <a:gd name="connsiteX2" fmla="*/ 1784637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7" y="0"/>
                        </a:lnTo>
                        <a:lnTo>
                          <a:pt x="1784637"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25" name="Freeform: Shape 4124">
                    <a:extLst>
                      <a:ext uri="{FF2B5EF4-FFF2-40B4-BE49-F238E27FC236}">
                        <a16:creationId xmlns:a16="http://schemas.microsoft.com/office/drawing/2014/main" id="{A15F73CF-4AB7-7C02-0D7F-FD37CE11695B}"/>
                      </a:ext>
                    </a:extLst>
                  </p:cNvPr>
                  <p:cNvSpPr/>
                  <p:nvPr/>
                </p:nvSpPr>
                <p:spPr>
                  <a:xfrm>
                    <a:off x="8898385" y="2812605"/>
                    <a:ext cx="1784637" cy="8929"/>
                  </a:xfrm>
                  <a:custGeom>
                    <a:avLst/>
                    <a:gdLst>
                      <a:gd name="connsiteX0" fmla="*/ 0 w 1784637"/>
                      <a:gd name="connsiteY0" fmla="*/ 0 h 8929"/>
                      <a:gd name="connsiteX1" fmla="*/ 1784638 w 1784637"/>
                      <a:gd name="connsiteY1" fmla="*/ 0 h 8929"/>
                      <a:gd name="connsiteX2" fmla="*/ 1784638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8" y="0"/>
                        </a:lnTo>
                        <a:lnTo>
                          <a:pt x="1784638"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26" name="Freeform: Shape 4125">
                    <a:extLst>
                      <a:ext uri="{FF2B5EF4-FFF2-40B4-BE49-F238E27FC236}">
                        <a16:creationId xmlns:a16="http://schemas.microsoft.com/office/drawing/2014/main" id="{0F53ACA7-7A97-4D14-8CC6-7C320B700869}"/>
                      </a:ext>
                    </a:extLst>
                  </p:cNvPr>
                  <p:cNvSpPr/>
                  <p:nvPr/>
                </p:nvSpPr>
                <p:spPr>
                  <a:xfrm>
                    <a:off x="8899693" y="2919762"/>
                    <a:ext cx="1784637" cy="8929"/>
                  </a:xfrm>
                  <a:custGeom>
                    <a:avLst/>
                    <a:gdLst>
                      <a:gd name="connsiteX0" fmla="*/ 0 w 1784637"/>
                      <a:gd name="connsiteY0" fmla="*/ 0 h 8929"/>
                      <a:gd name="connsiteX1" fmla="*/ 1784637 w 1784637"/>
                      <a:gd name="connsiteY1" fmla="*/ 0 h 8929"/>
                      <a:gd name="connsiteX2" fmla="*/ 1784637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7" y="0"/>
                        </a:lnTo>
                        <a:lnTo>
                          <a:pt x="1784637"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27" name="Freeform: Shape 4126">
                    <a:extLst>
                      <a:ext uri="{FF2B5EF4-FFF2-40B4-BE49-F238E27FC236}">
                        <a16:creationId xmlns:a16="http://schemas.microsoft.com/office/drawing/2014/main" id="{211395F2-6463-AF17-43FF-34560E4F5BE2}"/>
                      </a:ext>
                    </a:extLst>
                  </p:cNvPr>
                  <p:cNvSpPr/>
                  <p:nvPr/>
                </p:nvSpPr>
                <p:spPr>
                  <a:xfrm>
                    <a:off x="8898385" y="3026918"/>
                    <a:ext cx="1784637" cy="8929"/>
                  </a:xfrm>
                  <a:custGeom>
                    <a:avLst/>
                    <a:gdLst>
                      <a:gd name="connsiteX0" fmla="*/ 0 w 1784637"/>
                      <a:gd name="connsiteY0" fmla="*/ 0 h 8929"/>
                      <a:gd name="connsiteX1" fmla="*/ 1784638 w 1784637"/>
                      <a:gd name="connsiteY1" fmla="*/ 0 h 8929"/>
                      <a:gd name="connsiteX2" fmla="*/ 1784638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8" y="0"/>
                        </a:lnTo>
                        <a:lnTo>
                          <a:pt x="1784638"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28" name="Freeform: Shape 4127">
                    <a:extLst>
                      <a:ext uri="{FF2B5EF4-FFF2-40B4-BE49-F238E27FC236}">
                        <a16:creationId xmlns:a16="http://schemas.microsoft.com/office/drawing/2014/main" id="{3034E841-AACB-1AE1-80BB-DAE4B905281D}"/>
                      </a:ext>
                    </a:extLst>
                  </p:cNvPr>
                  <p:cNvSpPr/>
                  <p:nvPr/>
                </p:nvSpPr>
                <p:spPr>
                  <a:xfrm>
                    <a:off x="8899693" y="3134074"/>
                    <a:ext cx="1784637" cy="8929"/>
                  </a:xfrm>
                  <a:custGeom>
                    <a:avLst/>
                    <a:gdLst>
                      <a:gd name="connsiteX0" fmla="*/ 0 w 1784637"/>
                      <a:gd name="connsiteY0" fmla="*/ 0 h 8929"/>
                      <a:gd name="connsiteX1" fmla="*/ 1784637 w 1784637"/>
                      <a:gd name="connsiteY1" fmla="*/ 0 h 8929"/>
                      <a:gd name="connsiteX2" fmla="*/ 1784637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7" y="0"/>
                        </a:lnTo>
                        <a:lnTo>
                          <a:pt x="1784637"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29" name="Freeform: Shape 4128">
                    <a:extLst>
                      <a:ext uri="{FF2B5EF4-FFF2-40B4-BE49-F238E27FC236}">
                        <a16:creationId xmlns:a16="http://schemas.microsoft.com/office/drawing/2014/main" id="{6928EBF5-1EEA-A1F9-7AB6-9F70D78F9032}"/>
                      </a:ext>
                    </a:extLst>
                  </p:cNvPr>
                  <p:cNvSpPr/>
                  <p:nvPr/>
                </p:nvSpPr>
                <p:spPr>
                  <a:xfrm>
                    <a:off x="8898385" y="3241230"/>
                    <a:ext cx="1784637" cy="8929"/>
                  </a:xfrm>
                  <a:custGeom>
                    <a:avLst/>
                    <a:gdLst>
                      <a:gd name="connsiteX0" fmla="*/ 0 w 1784637"/>
                      <a:gd name="connsiteY0" fmla="*/ 0 h 8929"/>
                      <a:gd name="connsiteX1" fmla="*/ 1784638 w 1784637"/>
                      <a:gd name="connsiteY1" fmla="*/ 0 h 8929"/>
                      <a:gd name="connsiteX2" fmla="*/ 1784638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8" y="0"/>
                        </a:lnTo>
                        <a:lnTo>
                          <a:pt x="1784638" y="8930"/>
                        </a:lnTo>
                        <a:lnTo>
                          <a:pt x="0" y="8930"/>
                        </a:lnTo>
                        <a:close/>
                      </a:path>
                    </a:pathLst>
                  </a:custGeom>
                  <a:solidFill>
                    <a:srgbClr val="D2D2D2"/>
                  </a:solidFill>
                  <a:ln w="7144" cap="flat">
                    <a:noFill/>
                    <a:prstDash val="solid"/>
                    <a:miter/>
                  </a:ln>
                </p:spPr>
                <p:txBody>
                  <a:bodyPr rtlCol="0" anchor="ctr"/>
                  <a:lstStyle/>
                  <a:p>
                    <a:endParaRPr lang="en-GB" sz="800" noProof="0" dirty="0"/>
                  </a:p>
                </p:txBody>
              </p:sp>
            </p:grpSp>
            <p:grpSp>
              <p:nvGrpSpPr>
                <p:cNvPr id="4114" name="Graphic 23" descr="Graph and note paper with pencils">
                  <a:extLst>
                    <a:ext uri="{FF2B5EF4-FFF2-40B4-BE49-F238E27FC236}">
                      <a16:creationId xmlns:a16="http://schemas.microsoft.com/office/drawing/2014/main" id="{D98F4254-DC1A-624E-A599-CECD686C333F}"/>
                    </a:ext>
                  </a:extLst>
                </p:cNvPr>
                <p:cNvGrpSpPr/>
                <p:nvPr/>
              </p:nvGrpSpPr>
              <p:grpSpPr>
                <a:xfrm>
                  <a:off x="8898385" y="3348387"/>
                  <a:ext cx="1785944" cy="651867"/>
                  <a:chOff x="8898385" y="3348387"/>
                  <a:chExt cx="1785944" cy="651867"/>
                </a:xfrm>
                <a:solidFill>
                  <a:srgbClr val="D2D2D2"/>
                </a:solidFill>
              </p:grpSpPr>
              <p:sp>
                <p:nvSpPr>
                  <p:cNvPr id="4115" name="Freeform: Shape 4114">
                    <a:extLst>
                      <a:ext uri="{FF2B5EF4-FFF2-40B4-BE49-F238E27FC236}">
                        <a16:creationId xmlns:a16="http://schemas.microsoft.com/office/drawing/2014/main" id="{9D9B4067-31C3-B780-F314-EAF3EF3E88F6}"/>
                      </a:ext>
                    </a:extLst>
                  </p:cNvPr>
                  <p:cNvSpPr/>
                  <p:nvPr/>
                </p:nvSpPr>
                <p:spPr>
                  <a:xfrm>
                    <a:off x="8899693" y="3348387"/>
                    <a:ext cx="1784637" cy="8929"/>
                  </a:xfrm>
                  <a:custGeom>
                    <a:avLst/>
                    <a:gdLst>
                      <a:gd name="connsiteX0" fmla="*/ 0 w 1784637"/>
                      <a:gd name="connsiteY0" fmla="*/ 0 h 8929"/>
                      <a:gd name="connsiteX1" fmla="*/ 1784637 w 1784637"/>
                      <a:gd name="connsiteY1" fmla="*/ 0 h 8929"/>
                      <a:gd name="connsiteX2" fmla="*/ 1784637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7" y="0"/>
                        </a:lnTo>
                        <a:lnTo>
                          <a:pt x="1784637"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16" name="Freeform: Shape 4115">
                    <a:extLst>
                      <a:ext uri="{FF2B5EF4-FFF2-40B4-BE49-F238E27FC236}">
                        <a16:creationId xmlns:a16="http://schemas.microsoft.com/office/drawing/2014/main" id="{B1D8C7AF-68B1-91F1-9E5A-2920B7E4D7C1}"/>
                      </a:ext>
                    </a:extLst>
                  </p:cNvPr>
                  <p:cNvSpPr/>
                  <p:nvPr/>
                </p:nvSpPr>
                <p:spPr>
                  <a:xfrm>
                    <a:off x="8898385" y="3455543"/>
                    <a:ext cx="1784637" cy="8929"/>
                  </a:xfrm>
                  <a:custGeom>
                    <a:avLst/>
                    <a:gdLst>
                      <a:gd name="connsiteX0" fmla="*/ 0 w 1784637"/>
                      <a:gd name="connsiteY0" fmla="*/ 0 h 8929"/>
                      <a:gd name="connsiteX1" fmla="*/ 1784638 w 1784637"/>
                      <a:gd name="connsiteY1" fmla="*/ 0 h 8929"/>
                      <a:gd name="connsiteX2" fmla="*/ 1784638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8" y="0"/>
                        </a:lnTo>
                        <a:lnTo>
                          <a:pt x="1784638"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17" name="Freeform: Shape 4116">
                    <a:extLst>
                      <a:ext uri="{FF2B5EF4-FFF2-40B4-BE49-F238E27FC236}">
                        <a16:creationId xmlns:a16="http://schemas.microsoft.com/office/drawing/2014/main" id="{8A134D1E-FB97-A963-7D9A-F98E95567CC0}"/>
                      </a:ext>
                    </a:extLst>
                  </p:cNvPr>
                  <p:cNvSpPr/>
                  <p:nvPr/>
                </p:nvSpPr>
                <p:spPr>
                  <a:xfrm>
                    <a:off x="8899693" y="3562699"/>
                    <a:ext cx="1784637" cy="8929"/>
                  </a:xfrm>
                  <a:custGeom>
                    <a:avLst/>
                    <a:gdLst>
                      <a:gd name="connsiteX0" fmla="*/ 0 w 1784637"/>
                      <a:gd name="connsiteY0" fmla="*/ 0 h 8929"/>
                      <a:gd name="connsiteX1" fmla="*/ 1784637 w 1784637"/>
                      <a:gd name="connsiteY1" fmla="*/ 0 h 8929"/>
                      <a:gd name="connsiteX2" fmla="*/ 1784637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7" y="0"/>
                        </a:lnTo>
                        <a:lnTo>
                          <a:pt x="1784637"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18" name="Freeform: Shape 4117">
                    <a:extLst>
                      <a:ext uri="{FF2B5EF4-FFF2-40B4-BE49-F238E27FC236}">
                        <a16:creationId xmlns:a16="http://schemas.microsoft.com/office/drawing/2014/main" id="{F02BBA99-D032-F2CB-5BF0-656045A29737}"/>
                      </a:ext>
                    </a:extLst>
                  </p:cNvPr>
                  <p:cNvSpPr/>
                  <p:nvPr/>
                </p:nvSpPr>
                <p:spPr>
                  <a:xfrm>
                    <a:off x="8898385" y="3669855"/>
                    <a:ext cx="1784637" cy="8929"/>
                  </a:xfrm>
                  <a:custGeom>
                    <a:avLst/>
                    <a:gdLst>
                      <a:gd name="connsiteX0" fmla="*/ 0 w 1784637"/>
                      <a:gd name="connsiteY0" fmla="*/ 0 h 8929"/>
                      <a:gd name="connsiteX1" fmla="*/ 1784638 w 1784637"/>
                      <a:gd name="connsiteY1" fmla="*/ 0 h 8929"/>
                      <a:gd name="connsiteX2" fmla="*/ 1784638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8" y="0"/>
                        </a:lnTo>
                        <a:lnTo>
                          <a:pt x="1784638"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19" name="Freeform: Shape 4118">
                    <a:extLst>
                      <a:ext uri="{FF2B5EF4-FFF2-40B4-BE49-F238E27FC236}">
                        <a16:creationId xmlns:a16="http://schemas.microsoft.com/office/drawing/2014/main" id="{9F221FB2-848D-37F9-849B-3E7DFD5039B0}"/>
                      </a:ext>
                    </a:extLst>
                  </p:cNvPr>
                  <p:cNvSpPr/>
                  <p:nvPr/>
                </p:nvSpPr>
                <p:spPr>
                  <a:xfrm>
                    <a:off x="8899693" y="3777012"/>
                    <a:ext cx="1784637" cy="8929"/>
                  </a:xfrm>
                  <a:custGeom>
                    <a:avLst/>
                    <a:gdLst>
                      <a:gd name="connsiteX0" fmla="*/ 0 w 1784637"/>
                      <a:gd name="connsiteY0" fmla="*/ 0 h 8929"/>
                      <a:gd name="connsiteX1" fmla="*/ 1784637 w 1784637"/>
                      <a:gd name="connsiteY1" fmla="*/ 0 h 8929"/>
                      <a:gd name="connsiteX2" fmla="*/ 1784637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7" y="0"/>
                        </a:lnTo>
                        <a:lnTo>
                          <a:pt x="1784637"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20" name="Freeform: Shape 4119">
                    <a:extLst>
                      <a:ext uri="{FF2B5EF4-FFF2-40B4-BE49-F238E27FC236}">
                        <a16:creationId xmlns:a16="http://schemas.microsoft.com/office/drawing/2014/main" id="{0D673765-A52F-BD2C-2338-FDDFE680B391}"/>
                      </a:ext>
                    </a:extLst>
                  </p:cNvPr>
                  <p:cNvSpPr/>
                  <p:nvPr/>
                </p:nvSpPr>
                <p:spPr>
                  <a:xfrm>
                    <a:off x="8898385" y="3884168"/>
                    <a:ext cx="1784637" cy="8929"/>
                  </a:xfrm>
                  <a:custGeom>
                    <a:avLst/>
                    <a:gdLst>
                      <a:gd name="connsiteX0" fmla="*/ 0 w 1784637"/>
                      <a:gd name="connsiteY0" fmla="*/ 0 h 8929"/>
                      <a:gd name="connsiteX1" fmla="*/ 1784638 w 1784637"/>
                      <a:gd name="connsiteY1" fmla="*/ 0 h 8929"/>
                      <a:gd name="connsiteX2" fmla="*/ 1784638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8" y="0"/>
                        </a:lnTo>
                        <a:lnTo>
                          <a:pt x="1784638" y="8930"/>
                        </a:lnTo>
                        <a:lnTo>
                          <a:pt x="0" y="8930"/>
                        </a:lnTo>
                        <a:close/>
                      </a:path>
                    </a:pathLst>
                  </a:custGeom>
                  <a:solidFill>
                    <a:srgbClr val="D2D2D2"/>
                  </a:solidFill>
                  <a:ln w="7144" cap="flat">
                    <a:noFill/>
                    <a:prstDash val="solid"/>
                    <a:miter/>
                  </a:ln>
                </p:spPr>
                <p:txBody>
                  <a:bodyPr rtlCol="0" anchor="ctr"/>
                  <a:lstStyle/>
                  <a:p>
                    <a:endParaRPr lang="en-GB" sz="800" noProof="0" dirty="0"/>
                  </a:p>
                </p:txBody>
              </p:sp>
              <p:sp>
                <p:nvSpPr>
                  <p:cNvPr id="4121" name="Freeform: Shape 4120">
                    <a:extLst>
                      <a:ext uri="{FF2B5EF4-FFF2-40B4-BE49-F238E27FC236}">
                        <a16:creationId xmlns:a16="http://schemas.microsoft.com/office/drawing/2014/main" id="{2C09A2E7-A416-AD7B-654E-3ED5481AFFB8}"/>
                      </a:ext>
                    </a:extLst>
                  </p:cNvPr>
                  <p:cNvSpPr/>
                  <p:nvPr/>
                </p:nvSpPr>
                <p:spPr>
                  <a:xfrm>
                    <a:off x="8899693" y="3991324"/>
                    <a:ext cx="1784637" cy="8929"/>
                  </a:xfrm>
                  <a:custGeom>
                    <a:avLst/>
                    <a:gdLst>
                      <a:gd name="connsiteX0" fmla="*/ 0 w 1784637"/>
                      <a:gd name="connsiteY0" fmla="*/ 0 h 8929"/>
                      <a:gd name="connsiteX1" fmla="*/ 1784637 w 1784637"/>
                      <a:gd name="connsiteY1" fmla="*/ 0 h 8929"/>
                      <a:gd name="connsiteX2" fmla="*/ 1784637 w 1784637"/>
                      <a:gd name="connsiteY2" fmla="*/ 8930 h 8929"/>
                      <a:gd name="connsiteX3" fmla="*/ 0 w 1784637"/>
                      <a:gd name="connsiteY3" fmla="*/ 8930 h 8929"/>
                    </a:gdLst>
                    <a:ahLst/>
                    <a:cxnLst>
                      <a:cxn ang="0">
                        <a:pos x="connsiteX0" y="connsiteY0"/>
                      </a:cxn>
                      <a:cxn ang="0">
                        <a:pos x="connsiteX1" y="connsiteY1"/>
                      </a:cxn>
                      <a:cxn ang="0">
                        <a:pos x="connsiteX2" y="connsiteY2"/>
                      </a:cxn>
                      <a:cxn ang="0">
                        <a:pos x="connsiteX3" y="connsiteY3"/>
                      </a:cxn>
                    </a:cxnLst>
                    <a:rect l="l" t="t" r="r" b="b"/>
                    <a:pathLst>
                      <a:path w="1784637" h="8929">
                        <a:moveTo>
                          <a:pt x="0" y="0"/>
                        </a:moveTo>
                        <a:lnTo>
                          <a:pt x="1784637" y="0"/>
                        </a:lnTo>
                        <a:lnTo>
                          <a:pt x="1784637" y="8930"/>
                        </a:lnTo>
                        <a:lnTo>
                          <a:pt x="0" y="8930"/>
                        </a:lnTo>
                        <a:close/>
                      </a:path>
                    </a:pathLst>
                  </a:custGeom>
                  <a:solidFill>
                    <a:srgbClr val="D2D2D2"/>
                  </a:solidFill>
                  <a:ln w="7144" cap="flat">
                    <a:noFill/>
                    <a:prstDash val="solid"/>
                    <a:miter/>
                  </a:ln>
                </p:spPr>
                <p:txBody>
                  <a:bodyPr rtlCol="0" anchor="ctr"/>
                  <a:lstStyle/>
                  <a:p>
                    <a:endParaRPr lang="en-GB" sz="800" noProof="0" dirty="0"/>
                  </a:p>
                </p:txBody>
              </p:sp>
            </p:grpSp>
          </p:grpSp>
          <p:sp>
            <p:nvSpPr>
              <p:cNvPr id="4109" name="Freeform: Shape 4108">
                <a:extLst>
                  <a:ext uri="{FF2B5EF4-FFF2-40B4-BE49-F238E27FC236}">
                    <a16:creationId xmlns:a16="http://schemas.microsoft.com/office/drawing/2014/main" id="{9F8BEB7D-E662-3213-A161-CC7A20969EE4}"/>
                  </a:ext>
                </a:extLst>
              </p:cNvPr>
              <p:cNvSpPr/>
              <p:nvPr/>
            </p:nvSpPr>
            <p:spPr>
              <a:xfrm>
                <a:off x="8719792" y="1102570"/>
                <a:ext cx="2143125" cy="214312"/>
              </a:xfrm>
              <a:custGeom>
                <a:avLst/>
                <a:gdLst>
                  <a:gd name="connsiteX0" fmla="*/ 0 w 2143125"/>
                  <a:gd name="connsiteY0" fmla="*/ 0 h 214312"/>
                  <a:gd name="connsiteX1" fmla="*/ 2143125 w 2143125"/>
                  <a:gd name="connsiteY1" fmla="*/ 0 h 214312"/>
                  <a:gd name="connsiteX2" fmla="*/ 2143125 w 2143125"/>
                  <a:gd name="connsiteY2" fmla="*/ 214313 h 214312"/>
                  <a:gd name="connsiteX3" fmla="*/ 0 w 2143125"/>
                  <a:gd name="connsiteY3" fmla="*/ 214313 h 214312"/>
                </a:gdLst>
                <a:ahLst/>
                <a:cxnLst>
                  <a:cxn ang="0">
                    <a:pos x="connsiteX0" y="connsiteY0"/>
                  </a:cxn>
                  <a:cxn ang="0">
                    <a:pos x="connsiteX1" y="connsiteY1"/>
                  </a:cxn>
                  <a:cxn ang="0">
                    <a:pos x="connsiteX2" y="connsiteY2"/>
                  </a:cxn>
                  <a:cxn ang="0">
                    <a:pos x="connsiteX3" y="connsiteY3"/>
                  </a:cxn>
                </a:cxnLst>
                <a:rect l="l" t="t" r="r" b="b"/>
                <a:pathLst>
                  <a:path w="2143125" h="214312">
                    <a:moveTo>
                      <a:pt x="0" y="0"/>
                    </a:moveTo>
                    <a:lnTo>
                      <a:pt x="2143125" y="0"/>
                    </a:lnTo>
                    <a:lnTo>
                      <a:pt x="2143125" y="214313"/>
                    </a:lnTo>
                    <a:lnTo>
                      <a:pt x="0" y="214313"/>
                    </a:lnTo>
                    <a:close/>
                  </a:path>
                </a:pathLst>
              </a:custGeom>
              <a:solidFill>
                <a:srgbClr val="737373"/>
              </a:solidFill>
              <a:ln w="7144" cap="flat">
                <a:noFill/>
                <a:prstDash val="solid"/>
                <a:miter/>
              </a:ln>
            </p:spPr>
            <p:txBody>
              <a:bodyPr rtlCol="0" anchor="ctr"/>
              <a:lstStyle/>
              <a:p>
                <a:endParaRPr lang="en-GB" sz="800" noProof="0" dirty="0"/>
              </a:p>
            </p:txBody>
          </p:sp>
          <p:sp>
            <p:nvSpPr>
              <p:cNvPr id="4110" name="Freeform: Shape 4109">
                <a:extLst>
                  <a:ext uri="{FF2B5EF4-FFF2-40B4-BE49-F238E27FC236}">
                    <a16:creationId xmlns:a16="http://schemas.microsoft.com/office/drawing/2014/main" id="{F029D4A1-89D8-BC92-9DA4-D1E664D4D26D}"/>
                  </a:ext>
                </a:extLst>
              </p:cNvPr>
              <p:cNvSpPr/>
              <p:nvPr/>
            </p:nvSpPr>
            <p:spPr>
              <a:xfrm>
                <a:off x="8987682" y="1156284"/>
                <a:ext cx="107156" cy="107156"/>
              </a:xfrm>
              <a:custGeom>
                <a:avLst/>
                <a:gdLst>
                  <a:gd name="connsiteX0" fmla="*/ 107156 w 107156"/>
                  <a:gd name="connsiteY0" fmla="*/ 53578 h 107156"/>
                  <a:gd name="connsiteX1" fmla="*/ 53578 w 107156"/>
                  <a:gd name="connsiteY1" fmla="*/ 107156 h 107156"/>
                  <a:gd name="connsiteX2" fmla="*/ 0 w 107156"/>
                  <a:gd name="connsiteY2" fmla="*/ 53578 h 107156"/>
                  <a:gd name="connsiteX3" fmla="*/ 53578 w 107156"/>
                  <a:gd name="connsiteY3" fmla="*/ 0 h 107156"/>
                  <a:gd name="connsiteX4" fmla="*/ 107156 w 107156"/>
                  <a:gd name="connsiteY4" fmla="*/ 53578 h 107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56" h="107156">
                    <a:moveTo>
                      <a:pt x="107156" y="53578"/>
                    </a:moveTo>
                    <a:cubicBezTo>
                      <a:pt x="107156" y="83168"/>
                      <a:pt x="83169" y="107156"/>
                      <a:pt x="53578" y="107156"/>
                    </a:cubicBezTo>
                    <a:cubicBezTo>
                      <a:pt x="23988" y="107156"/>
                      <a:pt x="0" y="83168"/>
                      <a:pt x="0" y="53578"/>
                    </a:cubicBezTo>
                    <a:cubicBezTo>
                      <a:pt x="0" y="23988"/>
                      <a:pt x="23988" y="0"/>
                      <a:pt x="53578" y="0"/>
                    </a:cubicBezTo>
                    <a:cubicBezTo>
                      <a:pt x="83169" y="0"/>
                      <a:pt x="107156" y="23988"/>
                      <a:pt x="107156" y="53578"/>
                    </a:cubicBezTo>
                    <a:close/>
                  </a:path>
                </a:pathLst>
              </a:custGeom>
              <a:solidFill>
                <a:srgbClr val="505050"/>
              </a:solidFill>
              <a:ln w="7144" cap="flat">
                <a:noFill/>
                <a:prstDash val="solid"/>
                <a:miter/>
              </a:ln>
            </p:spPr>
            <p:txBody>
              <a:bodyPr rtlCol="0" anchor="ctr"/>
              <a:lstStyle/>
              <a:p>
                <a:endParaRPr lang="en-GB" sz="800" noProof="0" dirty="0"/>
              </a:p>
            </p:txBody>
          </p:sp>
          <p:sp>
            <p:nvSpPr>
              <p:cNvPr id="4111" name="Freeform: Shape 4110">
                <a:extLst>
                  <a:ext uri="{FF2B5EF4-FFF2-40B4-BE49-F238E27FC236}">
                    <a16:creationId xmlns:a16="http://schemas.microsoft.com/office/drawing/2014/main" id="{E4E753DF-2DA8-9A4B-C600-CD66153714CC}"/>
                  </a:ext>
                </a:extLst>
              </p:cNvPr>
              <p:cNvSpPr/>
              <p:nvPr/>
            </p:nvSpPr>
            <p:spPr>
              <a:xfrm>
                <a:off x="10487870" y="1156284"/>
                <a:ext cx="107156" cy="107156"/>
              </a:xfrm>
              <a:custGeom>
                <a:avLst/>
                <a:gdLst>
                  <a:gd name="connsiteX0" fmla="*/ 107156 w 107156"/>
                  <a:gd name="connsiteY0" fmla="*/ 53578 h 107156"/>
                  <a:gd name="connsiteX1" fmla="*/ 53578 w 107156"/>
                  <a:gd name="connsiteY1" fmla="*/ 107156 h 107156"/>
                  <a:gd name="connsiteX2" fmla="*/ 0 w 107156"/>
                  <a:gd name="connsiteY2" fmla="*/ 53578 h 107156"/>
                  <a:gd name="connsiteX3" fmla="*/ 53578 w 107156"/>
                  <a:gd name="connsiteY3" fmla="*/ 0 h 107156"/>
                  <a:gd name="connsiteX4" fmla="*/ 107156 w 107156"/>
                  <a:gd name="connsiteY4" fmla="*/ 53578 h 107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56" h="107156">
                    <a:moveTo>
                      <a:pt x="107156" y="53578"/>
                    </a:moveTo>
                    <a:cubicBezTo>
                      <a:pt x="107156" y="83168"/>
                      <a:pt x="83168" y="107156"/>
                      <a:pt x="53578" y="107156"/>
                    </a:cubicBezTo>
                    <a:cubicBezTo>
                      <a:pt x="23987" y="107156"/>
                      <a:pt x="0" y="83168"/>
                      <a:pt x="0" y="53578"/>
                    </a:cubicBezTo>
                    <a:cubicBezTo>
                      <a:pt x="0" y="23988"/>
                      <a:pt x="23987" y="0"/>
                      <a:pt x="53578" y="0"/>
                    </a:cubicBezTo>
                    <a:cubicBezTo>
                      <a:pt x="83168" y="0"/>
                      <a:pt x="107156" y="23988"/>
                      <a:pt x="107156" y="53578"/>
                    </a:cubicBezTo>
                    <a:close/>
                  </a:path>
                </a:pathLst>
              </a:custGeom>
              <a:solidFill>
                <a:srgbClr val="505050"/>
              </a:solidFill>
              <a:ln w="7144" cap="flat">
                <a:noFill/>
                <a:prstDash val="solid"/>
                <a:miter/>
              </a:ln>
            </p:spPr>
            <p:txBody>
              <a:bodyPr rtlCol="0" anchor="ctr"/>
              <a:lstStyle/>
              <a:p>
                <a:endParaRPr lang="en-GB" sz="800" noProof="0" dirty="0"/>
              </a:p>
            </p:txBody>
          </p:sp>
        </p:grpSp>
        <p:grpSp>
          <p:nvGrpSpPr>
            <p:cNvPr id="63" name="Graphic 23" descr="Graph and note paper with pencils">
              <a:extLst>
                <a:ext uri="{FF2B5EF4-FFF2-40B4-BE49-F238E27FC236}">
                  <a16:creationId xmlns:a16="http://schemas.microsoft.com/office/drawing/2014/main" id="{62E2D11F-C7D6-D21A-C370-8B5C21B3CB5E}"/>
                </a:ext>
              </a:extLst>
            </p:cNvPr>
            <p:cNvGrpSpPr/>
            <p:nvPr/>
          </p:nvGrpSpPr>
          <p:grpSpPr>
            <a:xfrm>
              <a:off x="9251108" y="1633887"/>
              <a:ext cx="2152054" cy="3281660"/>
              <a:chOff x="9251108" y="1633887"/>
              <a:chExt cx="2152054" cy="3281660"/>
            </a:xfrm>
          </p:grpSpPr>
          <p:sp>
            <p:nvSpPr>
              <p:cNvPr id="4096" name="Freeform: Shape 4095">
                <a:extLst>
                  <a:ext uri="{FF2B5EF4-FFF2-40B4-BE49-F238E27FC236}">
                    <a16:creationId xmlns:a16="http://schemas.microsoft.com/office/drawing/2014/main" id="{F0E083C7-4730-19D9-036B-376BEE16A868}"/>
                  </a:ext>
                </a:extLst>
              </p:cNvPr>
              <p:cNvSpPr/>
              <p:nvPr/>
            </p:nvSpPr>
            <p:spPr>
              <a:xfrm>
                <a:off x="9273432" y="1700859"/>
                <a:ext cx="2125265" cy="3214687"/>
              </a:xfrm>
              <a:custGeom>
                <a:avLst/>
                <a:gdLst>
                  <a:gd name="connsiteX0" fmla="*/ 0 w 2125265"/>
                  <a:gd name="connsiteY0" fmla="*/ 0 h 3214687"/>
                  <a:gd name="connsiteX1" fmla="*/ 2125266 w 2125265"/>
                  <a:gd name="connsiteY1" fmla="*/ 0 h 3214687"/>
                  <a:gd name="connsiteX2" fmla="*/ 2125266 w 2125265"/>
                  <a:gd name="connsiteY2" fmla="*/ 3214688 h 3214687"/>
                  <a:gd name="connsiteX3" fmla="*/ 0 w 2125265"/>
                  <a:gd name="connsiteY3" fmla="*/ 3214688 h 3214687"/>
                </a:gdLst>
                <a:ahLst/>
                <a:cxnLst>
                  <a:cxn ang="0">
                    <a:pos x="connsiteX0" y="connsiteY0"/>
                  </a:cxn>
                  <a:cxn ang="0">
                    <a:pos x="connsiteX1" y="connsiteY1"/>
                  </a:cxn>
                  <a:cxn ang="0">
                    <a:pos x="connsiteX2" y="connsiteY2"/>
                  </a:cxn>
                  <a:cxn ang="0">
                    <a:pos x="connsiteX3" y="connsiteY3"/>
                  </a:cxn>
                </a:cxnLst>
                <a:rect l="l" t="t" r="r" b="b"/>
                <a:pathLst>
                  <a:path w="2125265" h="3214687">
                    <a:moveTo>
                      <a:pt x="0" y="0"/>
                    </a:moveTo>
                    <a:lnTo>
                      <a:pt x="2125266" y="0"/>
                    </a:lnTo>
                    <a:lnTo>
                      <a:pt x="2125266" y="3214688"/>
                    </a:lnTo>
                    <a:lnTo>
                      <a:pt x="0" y="3214688"/>
                    </a:lnTo>
                    <a:close/>
                  </a:path>
                </a:pathLst>
              </a:custGeom>
              <a:solidFill>
                <a:srgbClr val="D2D2D2"/>
              </a:solidFill>
              <a:ln w="7144" cap="flat">
                <a:noFill/>
                <a:prstDash val="solid"/>
                <a:miter/>
              </a:ln>
            </p:spPr>
            <p:txBody>
              <a:bodyPr rtlCol="0" anchor="ctr"/>
              <a:lstStyle/>
              <a:p>
                <a:endParaRPr lang="en-GB" sz="800" noProof="0" dirty="0"/>
              </a:p>
            </p:txBody>
          </p:sp>
          <p:sp>
            <p:nvSpPr>
              <p:cNvPr id="4097" name="Freeform: Shape 4096">
                <a:extLst>
                  <a:ext uri="{FF2B5EF4-FFF2-40B4-BE49-F238E27FC236}">
                    <a16:creationId xmlns:a16="http://schemas.microsoft.com/office/drawing/2014/main" id="{FD5851FC-3494-9610-0AF9-9689E562C38B}"/>
                  </a:ext>
                </a:extLst>
              </p:cNvPr>
              <p:cNvSpPr/>
              <p:nvPr/>
            </p:nvSpPr>
            <p:spPr>
              <a:xfrm>
                <a:off x="9255573" y="1638351"/>
                <a:ext cx="2143125" cy="3214687"/>
              </a:xfrm>
              <a:custGeom>
                <a:avLst/>
                <a:gdLst>
                  <a:gd name="connsiteX0" fmla="*/ 0 w 2143125"/>
                  <a:gd name="connsiteY0" fmla="*/ 0 h 3214687"/>
                  <a:gd name="connsiteX1" fmla="*/ 2143125 w 2143125"/>
                  <a:gd name="connsiteY1" fmla="*/ 0 h 3214687"/>
                  <a:gd name="connsiteX2" fmla="*/ 2143125 w 2143125"/>
                  <a:gd name="connsiteY2" fmla="*/ 3214688 h 3214687"/>
                  <a:gd name="connsiteX3" fmla="*/ 0 w 2143125"/>
                  <a:gd name="connsiteY3" fmla="*/ 3214688 h 3214687"/>
                </a:gdLst>
                <a:ahLst/>
                <a:cxnLst>
                  <a:cxn ang="0">
                    <a:pos x="connsiteX0" y="connsiteY0"/>
                  </a:cxn>
                  <a:cxn ang="0">
                    <a:pos x="connsiteX1" y="connsiteY1"/>
                  </a:cxn>
                  <a:cxn ang="0">
                    <a:pos x="connsiteX2" y="connsiteY2"/>
                  </a:cxn>
                  <a:cxn ang="0">
                    <a:pos x="connsiteX3" y="connsiteY3"/>
                  </a:cxn>
                </a:cxnLst>
                <a:rect l="l" t="t" r="r" b="b"/>
                <a:pathLst>
                  <a:path w="2143125" h="3214687">
                    <a:moveTo>
                      <a:pt x="0" y="0"/>
                    </a:moveTo>
                    <a:lnTo>
                      <a:pt x="2143125" y="0"/>
                    </a:lnTo>
                    <a:lnTo>
                      <a:pt x="2143125" y="3214688"/>
                    </a:lnTo>
                    <a:lnTo>
                      <a:pt x="0" y="3214688"/>
                    </a:lnTo>
                    <a:close/>
                  </a:path>
                </a:pathLst>
              </a:custGeom>
              <a:solidFill>
                <a:schemeClr val="bg1">
                  <a:lumMod val="95000"/>
                </a:schemeClr>
              </a:solidFill>
              <a:ln w="7144" cap="flat">
                <a:noFill/>
                <a:prstDash val="solid"/>
                <a:miter/>
              </a:ln>
            </p:spPr>
            <p:txBody>
              <a:bodyPr rtlCol="0" anchor="ctr"/>
              <a:lstStyle/>
              <a:p>
                <a:endParaRPr lang="en-GB" sz="800" noProof="0" dirty="0"/>
              </a:p>
            </p:txBody>
          </p:sp>
          <p:sp>
            <p:nvSpPr>
              <p:cNvPr id="4099" name="Freeform: Shape 4098">
                <a:extLst>
                  <a:ext uri="{FF2B5EF4-FFF2-40B4-BE49-F238E27FC236}">
                    <a16:creationId xmlns:a16="http://schemas.microsoft.com/office/drawing/2014/main" id="{BC107C46-03FC-2755-039A-4465E62BAB03}"/>
                  </a:ext>
                </a:extLst>
              </p:cNvPr>
              <p:cNvSpPr/>
              <p:nvPr/>
            </p:nvSpPr>
            <p:spPr>
              <a:xfrm>
                <a:off x="9251108" y="1633887"/>
                <a:ext cx="2152054" cy="3223617"/>
              </a:xfrm>
              <a:custGeom>
                <a:avLst/>
                <a:gdLst>
                  <a:gd name="connsiteX0" fmla="*/ 2152055 w 2152054"/>
                  <a:gd name="connsiteY0" fmla="*/ 3223617 h 3223617"/>
                  <a:gd name="connsiteX1" fmla="*/ 0 w 2152054"/>
                  <a:gd name="connsiteY1" fmla="*/ 3223617 h 3223617"/>
                  <a:gd name="connsiteX2" fmla="*/ 0 w 2152054"/>
                  <a:gd name="connsiteY2" fmla="*/ 0 h 3223617"/>
                  <a:gd name="connsiteX3" fmla="*/ 2152055 w 2152054"/>
                  <a:gd name="connsiteY3" fmla="*/ 0 h 3223617"/>
                  <a:gd name="connsiteX4" fmla="*/ 2152055 w 2152054"/>
                  <a:gd name="connsiteY4" fmla="*/ 3223617 h 3223617"/>
                  <a:gd name="connsiteX5" fmla="*/ 8930 w 2152054"/>
                  <a:gd name="connsiteY5" fmla="*/ 3214688 h 3223617"/>
                  <a:gd name="connsiteX6" fmla="*/ 2143125 w 2152054"/>
                  <a:gd name="connsiteY6" fmla="*/ 3214688 h 3223617"/>
                  <a:gd name="connsiteX7" fmla="*/ 2143125 w 2152054"/>
                  <a:gd name="connsiteY7" fmla="*/ 8930 h 3223617"/>
                  <a:gd name="connsiteX8" fmla="*/ 8930 w 2152054"/>
                  <a:gd name="connsiteY8" fmla="*/ 8930 h 3223617"/>
                  <a:gd name="connsiteX9" fmla="*/ 8930 w 2152054"/>
                  <a:gd name="connsiteY9" fmla="*/ 3214688 h 322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2054" h="3223617">
                    <a:moveTo>
                      <a:pt x="2152055" y="3223617"/>
                    </a:moveTo>
                    <a:lnTo>
                      <a:pt x="0" y="3223617"/>
                    </a:lnTo>
                    <a:lnTo>
                      <a:pt x="0" y="0"/>
                    </a:lnTo>
                    <a:lnTo>
                      <a:pt x="2152055" y="0"/>
                    </a:lnTo>
                    <a:lnTo>
                      <a:pt x="2152055" y="3223617"/>
                    </a:lnTo>
                    <a:close/>
                    <a:moveTo>
                      <a:pt x="8930" y="3214688"/>
                    </a:moveTo>
                    <a:lnTo>
                      <a:pt x="2143125" y="3214688"/>
                    </a:lnTo>
                    <a:lnTo>
                      <a:pt x="2143125" y="8930"/>
                    </a:lnTo>
                    <a:lnTo>
                      <a:pt x="8930" y="8930"/>
                    </a:lnTo>
                    <a:lnTo>
                      <a:pt x="8930" y="3214688"/>
                    </a:lnTo>
                    <a:close/>
                  </a:path>
                </a:pathLst>
              </a:custGeom>
              <a:solidFill>
                <a:schemeClr val="bg1">
                  <a:lumMod val="95000"/>
                </a:schemeClr>
              </a:solidFill>
              <a:ln w="7144" cap="flat">
                <a:noFill/>
                <a:prstDash val="solid"/>
                <a:miter/>
              </a:ln>
            </p:spPr>
            <p:txBody>
              <a:bodyPr rtlCol="0" anchor="ctr"/>
              <a:lstStyle/>
              <a:p>
                <a:endParaRPr lang="en-GB" sz="800" noProof="0" dirty="0"/>
              </a:p>
            </p:txBody>
          </p:sp>
          <p:sp>
            <p:nvSpPr>
              <p:cNvPr id="4101" name="Freeform: Shape 4100">
                <a:extLst>
                  <a:ext uri="{FF2B5EF4-FFF2-40B4-BE49-F238E27FC236}">
                    <a16:creationId xmlns:a16="http://schemas.microsoft.com/office/drawing/2014/main" id="{1B347CD0-DF16-1C0F-58FD-A7C306FD5C7F}"/>
                  </a:ext>
                </a:extLst>
              </p:cNvPr>
              <p:cNvSpPr/>
              <p:nvPr/>
            </p:nvSpPr>
            <p:spPr>
              <a:xfrm>
                <a:off x="9429702" y="2169668"/>
                <a:ext cx="1830585" cy="2366367"/>
              </a:xfrm>
              <a:custGeom>
                <a:avLst/>
                <a:gdLst>
                  <a:gd name="connsiteX0" fmla="*/ 0 w 1830585"/>
                  <a:gd name="connsiteY0" fmla="*/ 0 h 2366367"/>
                  <a:gd name="connsiteX1" fmla="*/ 0 w 1830585"/>
                  <a:gd name="connsiteY1" fmla="*/ 2366367 h 2366367"/>
                  <a:gd name="connsiteX2" fmla="*/ 1830586 w 1830585"/>
                  <a:gd name="connsiteY2" fmla="*/ 2366367 h 2366367"/>
                  <a:gd name="connsiteX3" fmla="*/ 1830586 w 1830585"/>
                  <a:gd name="connsiteY3" fmla="*/ 0 h 2366367"/>
                  <a:gd name="connsiteX4" fmla="*/ 0 w 1830585"/>
                  <a:gd name="connsiteY4" fmla="*/ 0 h 2366367"/>
                  <a:gd name="connsiteX5" fmla="*/ 867487 w 1830585"/>
                  <a:gd name="connsiteY5" fmla="*/ 1500188 h 2366367"/>
                  <a:gd name="connsiteX6" fmla="*/ 867487 w 1830585"/>
                  <a:gd name="connsiteY6" fmla="*/ 1401961 h 2366367"/>
                  <a:gd name="connsiteX7" fmla="*/ 965714 w 1830585"/>
                  <a:gd name="connsiteY7" fmla="*/ 1401961 h 2366367"/>
                  <a:gd name="connsiteX8" fmla="*/ 965714 w 1830585"/>
                  <a:gd name="connsiteY8" fmla="*/ 1500188 h 2366367"/>
                  <a:gd name="connsiteX9" fmla="*/ 867487 w 1830585"/>
                  <a:gd name="connsiteY9" fmla="*/ 1500188 h 2366367"/>
                  <a:gd name="connsiteX10" fmla="*/ 965714 w 1830585"/>
                  <a:gd name="connsiteY10" fmla="*/ 1509117 h 2366367"/>
                  <a:gd name="connsiteX11" fmla="*/ 965714 w 1830585"/>
                  <a:gd name="connsiteY11" fmla="*/ 1607344 h 2366367"/>
                  <a:gd name="connsiteX12" fmla="*/ 867487 w 1830585"/>
                  <a:gd name="connsiteY12" fmla="*/ 1607344 h 2366367"/>
                  <a:gd name="connsiteX13" fmla="*/ 867487 w 1830585"/>
                  <a:gd name="connsiteY13" fmla="*/ 1509117 h 2366367"/>
                  <a:gd name="connsiteX14" fmla="*/ 965714 w 1830585"/>
                  <a:gd name="connsiteY14" fmla="*/ 1509117 h 2366367"/>
                  <a:gd name="connsiteX15" fmla="*/ 965714 w 1830585"/>
                  <a:gd name="connsiteY15" fmla="*/ 866180 h 2366367"/>
                  <a:gd name="connsiteX16" fmla="*/ 965714 w 1830585"/>
                  <a:gd name="connsiteY16" fmla="*/ 964406 h 2366367"/>
                  <a:gd name="connsiteX17" fmla="*/ 867487 w 1830585"/>
                  <a:gd name="connsiteY17" fmla="*/ 964406 h 2366367"/>
                  <a:gd name="connsiteX18" fmla="*/ 867487 w 1830585"/>
                  <a:gd name="connsiteY18" fmla="*/ 866180 h 2366367"/>
                  <a:gd name="connsiteX19" fmla="*/ 965714 w 1830585"/>
                  <a:gd name="connsiteY19" fmla="*/ 866180 h 2366367"/>
                  <a:gd name="connsiteX20" fmla="*/ 867487 w 1830585"/>
                  <a:gd name="connsiteY20" fmla="*/ 857250 h 2366367"/>
                  <a:gd name="connsiteX21" fmla="*/ 867487 w 1830585"/>
                  <a:gd name="connsiteY21" fmla="*/ 759023 h 2366367"/>
                  <a:gd name="connsiteX22" fmla="*/ 965714 w 1830585"/>
                  <a:gd name="connsiteY22" fmla="*/ 759023 h 2366367"/>
                  <a:gd name="connsiteX23" fmla="*/ 965714 w 1830585"/>
                  <a:gd name="connsiteY23" fmla="*/ 857250 h 2366367"/>
                  <a:gd name="connsiteX24" fmla="*/ 867487 w 1830585"/>
                  <a:gd name="connsiteY24" fmla="*/ 857250 h 2366367"/>
                  <a:gd name="connsiteX25" fmla="*/ 867487 w 1830585"/>
                  <a:gd name="connsiteY25" fmla="*/ 1285875 h 2366367"/>
                  <a:gd name="connsiteX26" fmla="*/ 867487 w 1830585"/>
                  <a:gd name="connsiteY26" fmla="*/ 1187649 h 2366367"/>
                  <a:gd name="connsiteX27" fmla="*/ 965714 w 1830585"/>
                  <a:gd name="connsiteY27" fmla="*/ 1187649 h 2366367"/>
                  <a:gd name="connsiteX28" fmla="*/ 965714 w 1830585"/>
                  <a:gd name="connsiteY28" fmla="*/ 1285875 h 2366367"/>
                  <a:gd name="connsiteX29" fmla="*/ 867487 w 1830585"/>
                  <a:gd name="connsiteY29" fmla="*/ 1285875 h 2366367"/>
                  <a:gd name="connsiteX30" fmla="*/ 965714 w 1830585"/>
                  <a:gd name="connsiteY30" fmla="*/ 1294805 h 2366367"/>
                  <a:gd name="connsiteX31" fmla="*/ 965714 w 1830585"/>
                  <a:gd name="connsiteY31" fmla="*/ 1393031 h 2366367"/>
                  <a:gd name="connsiteX32" fmla="*/ 867487 w 1830585"/>
                  <a:gd name="connsiteY32" fmla="*/ 1393031 h 2366367"/>
                  <a:gd name="connsiteX33" fmla="*/ 867487 w 1830585"/>
                  <a:gd name="connsiteY33" fmla="*/ 1294805 h 2366367"/>
                  <a:gd name="connsiteX34" fmla="*/ 965714 w 1830585"/>
                  <a:gd name="connsiteY34" fmla="*/ 1294805 h 2366367"/>
                  <a:gd name="connsiteX35" fmla="*/ 867487 w 1830585"/>
                  <a:gd name="connsiteY35" fmla="*/ 1178719 h 2366367"/>
                  <a:gd name="connsiteX36" fmla="*/ 867487 w 1830585"/>
                  <a:gd name="connsiteY36" fmla="*/ 1080492 h 2366367"/>
                  <a:gd name="connsiteX37" fmla="*/ 965714 w 1830585"/>
                  <a:gd name="connsiteY37" fmla="*/ 1080492 h 2366367"/>
                  <a:gd name="connsiteX38" fmla="*/ 965714 w 1830585"/>
                  <a:gd name="connsiteY38" fmla="*/ 1178719 h 2366367"/>
                  <a:gd name="connsiteX39" fmla="*/ 867487 w 1830585"/>
                  <a:gd name="connsiteY39" fmla="*/ 1178719 h 2366367"/>
                  <a:gd name="connsiteX40" fmla="*/ 867487 w 1830585"/>
                  <a:gd name="connsiteY40" fmla="*/ 1071563 h 2366367"/>
                  <a:gd name="connsiteX41" fmla="*/ 867487 w 1830585"/>
                  <a:gd name="connsiteY41" fmla="*/ 973336 h 2366367"/>
                  <a:gd name="connsiteX42" fmla="*/ 965714 w 1830585"/>
                  <a:gd name="connsiteY42" fmla="*/ 973336 h 2366367"/>
                  <a:gd name="connsiteX43" fmla="*/ 965714 w 1830585"/>
                  <a:gd name="connsiteY43" fmla="*/ 1071563 h 2366367"/>
                  <a:gd name="connsiteX44" fmla="*/ 867487 w 1830585"/>
                  <a:gd name="connsiteY44" fmla="*/ 1071563 h 2366367"/>
                  <a:gd name="connsiteX45" fmla="*/ 858557 w 1830585"/>
                  <a:gd name="connsiteY45" fmla="*/ 964406 h 2366367"/>
                  <a:gd name="connsiteX46" fmla="*/ 760331 w 1830585"/>
                  <a:gd name="connsiteY46" fmla="*/ 964406 h 2366367"/>
                  <a:gd name="connsiteX47" fmla="*/ 760331 w 1830585"/>
                  <a:gd name="connsiteY47" fmla="*/ 866180 h 2366367"/>
                  <a:gd name="connsiteX48" fmla="*/ 858557 w 1830585"/>
                  <a:gd name="connsiteY48" fmla="*/ 866180 h 2366367"/>
                  <a:gd name="connsiteX49" fmla="*/ 858557 w 1830585"/>
                  <a:gd name="connsiteY49" fmla="*/ 964406 h 2366367"/>
                  <a:gd name="connsiteX50" fmla="*/ 858557 w 1830585"/>
                  <a:gd name="connsiteY50" fmla="*/ 973336 h 2366367"/>
                  <a:gd name="connsiteX51" fmla="*/ 858557 w 1830585"/>
                  <a:gd name="connsiteY51" fmla="*/ 1071563 h 2366367"/>
                  <a:gd name="connsiteX52" fmla="*/ 760331 w 1830585"/>
                  <a:gd name="connsiteY52" fmla="*/ 1071563 h 2366367"/>
                  <a:gd name="connsiteX53" fmla="*/ 760331 w 1830585"/>
                  <a:gd name="connsiteY53" fmla="*/ 973336 h 2366367"/>
                  <a:gd name="connsiteX54" fmla="*/ 858557 w 1830585"/>
                  <a:gd name="connsiteY54" fmla="*/ 973336 h 2366367"/>
                  <a:gd name="connsiteX55" fmla="*/ 858557 w 1830585"/>
                  <a:gd name="connsiteY55" fmla="*/ 1080492 h 2366367"/>
                  <a:gd name="connsiteX56" fmla="*/ 858557 w 1830585"/>
                  <a:gd name="connsiteY56" fmla="*/ 1178719 h 2366367"/>
                  <a:gd name="connsiteX57" fmla="*/ 760331 w 1830585"/>
                  <a:gd name="connsiteY57" fmla="*/ 1178719 h 2366367"/>
                  <a:gd name="connsiteX58" fmla="*/ 760331 w 1830585"/>
                  <a:gd name="connsiteY58" fmla="*/ 1080492 h 2366367"/>
                  <a:gd name="connsiteX59" fmla="*/ 858557 w 1830585"/>
                  <a:gd name="connsiteY59" fmla="*/ 1080492 h 2366367"/>
                  <a:gd name="connsiteX60" fmla="*/ 858557 w 1830585"/>
                  <a:gd name="connsiteY60" fmla="*/ 1187649 h 2366367"/>
                  <a:gd name="connsiteX61" fmla="*/ 858557 w 1830585"/>
                  <a:gd name="connsiteY61" fmla="*/ 1285875 h 2366367"/>
                  <a:gd name="connsiteX62" fmla="*/ 760331 w 1830585"/>
                  <a:gd name="connsiteY62" fmla="*/ 1285875 h 2366367"/>
                  <a:gd name="connsiteX63" fmla="*/ 760331 w 1830585"/>
                  <a:gd name="connsiteY63" fmla="*/ 1187649 h 2366367"/>
                  <a:gd name="connsiteX64" fmla="*/ 858557 w 1830585"/>
                  <a:gd name="connsiteY64" fmla="*/ 1187649 h 2366367"/>
                  <a:gd name="connsiteX65" fmla="*/ 858557 w 1830585"/>
                  <a:gd name="connsiteY65" fmla="*/ 1294805 h 2366367"/>
                  <a:gd name="connsiteX66" fmla="*/ 858557 w 1830585"/>
                  <a:gd name="connsiteY66" fmla="*/ 1393031 h 2366367"/>
                  <a:gd name="connsiteX67" fmla="*/ 760331 w 1830585"/>
                  <a:gd name="connsiteY67" fmla="*/ 1393031 h 2366367"/>
                  <a:gd name="connsiteX68" fmla="*/ 760331 w 1830585"/>
                  <a:gd name="connsiteY68" fmla="*/ 1294805 h 2366367"/>
                  <a:gd name="connsiteX69" fmla="*/ 858557 w 1830585"/>
                  <a:gd name="connsiteY69" fmla="*/ 1294805 h 2366367"/>
                  <a:gd name="connsiteX70" fmla="*/ 858557 w 1830585"/>
                  <a:gd name="connsiteY70" fmla="*/ 1401961 h 2366367"/>
                  <a:gd name="connsiteX71" fmla="*/ 858557 w 1830585"/>
                  <a:gd name="connsiteY71" fmla="*/ 1500188 h 2366367"/>
                  <a:gd name="connsiteX72" fmla="*/ 760331 w 1830585"/>
                  <a:gd name="connsiteY72" fmla="*/ 1500188 h 2366367"/>
                  <a:gd name="connsiteX73" fmla="*/ 760331 w 1830585"/>
                  <a:gd name="connsiteY73" fmla="*/ 1401961 h 2366367"/>
                  <a:gd name="connsiteX74" fmla="*/ 858557 w 1830585"/>
                  <a:gd name="connsiteY74" fmla="*/ 1401961 h 2366367"/>
                  <a:gd name="connsiteX75" fmla="*/ 974643 w 1830585"/>
                  <a:gd name="connsiteY75" fmla="*/ 1401961 h 2366367"/>
                  <a:gd name="connsiteX76" fmla="*/ 1072870 w 1830585"/>
                  <a:gd name="connsiteY76" fmla="*/ 1401961 h 2366367"/>
                  <a:gd name="connsiteX77" fmla="*/ 1072870 w 1830585"/>
                  <a:gd name="connsiteY77" fmla="*/ 1500188 h 2366367"/>
                  <a:gd name="connsiteX78" fmla="*/ 974643 w 1830585"/>
                  <a:gd name="connsiteY78" fmla="*/ 1500188 h 2366367"/>
                  <a:gd name="connsiteX79" fmla="*/ 974643 w 1830585"/>
                  <a:gd name="connsiteY79" fmla="*/ 1401961 h 2366367"/>
                  <a:gd name="connsiteX80" fmla="*/ 974643 w 1830585"/>
                  <a:gd name="connsiteY80" fmla="*/ 1393031 h 2366367"/>
                  <a:gd name="connsiteX81" fmla="*/ 974643 w 1830585"/>
                  <a:gd name="connsiteY81" fmla="*/ 1294805 h 2366367"/>
                  <a:gd name="connsiteX82" fmla="*/ 1072870 w 1830585"/>
                  <a:gd name="connsiteY82" fmla="*/ 1294805 h 2366367"/>
                  <a:gd name="connsiteX83" fmla="*/ 1072870 w 1830585"/>
                  <a:gd name="connsiteY83" fmla="*/ 1393031 h 2366367"/>
                  <a:gd name="connsiteX84" fmla="*/ 974643 w 1830585"/>
                  <a:gd name="connsiteY84" fmla="*/ 1393031 h 2366367"/>
                  <a:gd name="connsiteX85" fmla="*/ 974643 w 1830585"/>
                  <a:gd name="connsiteY85" fmla="*/ 1285875 h 2366367"/>
                  <a:gd name="connsiteX86" fmla="*/ 974643 w 1830585"/>
                  <a:gd name="connsiteY86" fmla="*/ 1187649 h 2366367"/>
                  <a:gd name="connsiteX87" fmla="*/ 1072870 w 1830585"/>
                  <a:gd name="connsiteY87" fmla="*/ 1187649 h 2366367"/>
                  <a:gd name="connsiteX88" fmla="*/ 1072870 w 1830585"/>
                  <a:gd name="connsiteY88" fmla="*/ 1285875 h 2366367"/>
                  <a:gd name="connsiteX89" fmla="*/ 974643 w 1830585"/>
                  <a:gd name="connsiteY89" fmla="*/ 1285875 h 2366367"/>
                  <a:gd name="connsiteX90" fmla="*/ 974643 w 1830585"/>
                  <a:gd name="connsiteY90" fmla="*/ 1178719 h 2366367"/>
                  <a:gd name="connsiteX91" fmla="*/ 974643 w 1830585"/>
                  <a:gd name="connsiteY91" fmla="*/ 1080492 h 2366367"/>
                  <a:gd name="connsiteX92" fmla="*/ 1072870 w 1830585"/>
                  <a:gd name="connsiteY92" fmla="*/ 1080492 h 2366367"/>
                  <a:gd name="connsiteX93" fmla="*/ 1072870 w 1830585"/>
                  <a:gd name="connsiteY93" fmla="*/ 1178719 h 2366367"/>
                  <a:gd name="connsiteX94" fmla="*/ 974643 w 1830585"/>
                  <a:gd name="connsiteY94" fmla="*/ 1178719 h 2366367"/>
                  <a:gd name="connsiteX95" fmla="*/ 974643 w 1830585"/>
                  <a:gd name="connsiteY95" fmla="*/ 1071563 h 2366367"/>
                  <a:gd name="connsiteX96" fmla="*/ 974643 w 1830585"/>
                  <a:gd name="connsiteY96" fmla="*/ 973336 h 2366367"/>
                  <a:gd name="connsiteX97" fmla="*/ 1072870 w 1830585"/>
                  <a:gd name="connsiteY97" fmla="*/ 973336 h 2366367"/>
                  <a:gd name="connsiteX98" fmla="*/ 1072870 w 1830585"/>
                  <a:gd name="connsiteY98" fmla="*/ 1071563 h 2366367"/>
                  <a:gd name="connsiteX99" fmla="*/ 974643 w 1830585"/>
                  <a:gd name="connsiteY99" fmla="*/ 1071563 h 2366367"/>
                  <a:gd name="connsiteX100" fmla="*/ 974643 w 1830585"/>
                  <a:gd name="connsiteY100" fmla="*/ 964406 h 2366367"/>
                  <a:gd name="connsiteX101" fmla="*/ 974643 w 1830585"/>
                  <a:gd name="connsiteY101" fmla="*/ 866180 h 2366367"/>
                  <a:gd name="connsiteX102" fmla="*/ 1072870 w 1830585"/>
                  <a:gd name="connsiteY102" fmla="*/ 866180 h 2366367"/>
                  <a:gd name="connsiteX103" fmla="*/ 1072870 w 1830585"/>
                  <a:gd name="connsiteY103" fmla="*/ 964406 h 2366367"/>
                  <a:gd name="connsiteX104" fmla="*/ 974643 w 1830585"/>
                  <a:gd name="connsiteY104" fmla="*/ 964406 h 2366367"/>
                  <a:gd name="connsiteX105" fmla="*/ 974643 w 1830585"/>
                  <a:gd name="connsiteY105" fmla="*/ 857250 h 2366367"/>
                  <a:gd name="connsiteX106" fmla="*/ 974643 w 1830585"/>
                  <a:gd name="connsiteY106" fmla="*/ 759023 h 2366367"/>
                  <a:gd name="connsiteX107" fmla="*/ 1072870 w 1830585"/>
                  <a:gd name="connsiteY107" fmla="*/ 759023 h 2366367"/>
                  <a:gd name="connsiteX108" fmla="*/ 1072870 w 1830585"/>
                  <a:gd name="connsiteY108" fmla="*/ 857250 h 2366367"/>
                  <a:gd name="connsiteX109" fmla="*/ 974643 w 1830585"/>
                  <a:gd name="connsiteY109" fmla="*/ 857250 h 2366367"/>
                  <a:gd name="connsiteX110" fmla="*/ 974643 w 1830585"/>
                  <a:gd name="connsiteY110" fmla="*/ 750094 h 2366367"/>
                  <a:gd name="connsiteX111" fmla="*/ 974643 w 1830585"/>
                  <a:gd name="connsiteY111" fmla="*/ 651867 h 2366367"/>
                  <a:gd name="connsiteX112" fmla="*/ 1072870 w 1830585"/>
                  <a:gd name="connsiteY112" fmla="*/ 651867 h 2366367"/>
                  <a:gd name="connsiteX113" fmla="*/ 1072870 w 1830585"/>
                  <a:gd name="connsiteY113" fmla="*/ 750094 h 2366367"/>
                  <a:gd name="connsiteX114" fmla="*/ 974643 w 1830585"/>
                  <a:gd name="connsiteY114" fmla="*/ 750094 h 2366367"/>
                  <a:gd name="connsiteX115" fmla="*/ 965714 w 1830585"/>
                  <a:gd name="connsiteY115" fmla="*/ 750094 h 2366367"/>
                  <a:gd name="connsiteX116" fmla="*/ 867487 w 1830585"/>
                  <a:gd name="connsiteY116" fmla="*/ 750094 h 2366367"/>
                  <a:gd name="connsiteX117" fmla="*/ 867487 w 1830585"/>
                  <a:gd name="connsiteY117" fmla="*/ 651867 h 2366367"/>
                  <a:gd name="connsiteX118" fmla="*/ 965714 w 1830585"/>
                  <a:gd name="connsiteY118" fmla="*/ 651867 h 2366367"/>
                  <a:gd name="connsiteX119" fmla="*/ 965714 w 1830585"/>
                  <a:gd name="connsiteY119" fmla="*/ 750094 h 2366367"/>
                  <a:gd name="connsiteX120" fmla="*/ 858557 w 1830585"/>
                  <a:gd name="connsiteY120" fmla="*/ 750094 h 2366367"/>
                  <a:gd name="connsiteX121" fmla="*/ 760331 w 1830585"/>
                  <a:gd name="connsiteY121" fmla="*/ 750094 h 2366367"/>
                  <a:gd name="connsiteX122" fmla="*/ 760331 w 1830585"/>
                  <a:gd name="connsiteY122" fmla="*/ 651867 h 2366367"/>
                  <a:gd name="connsiteX123" fmla="*/ 858557 w 1830585"/>
                  <a:gd name="connsiteY123" fmla="*/ 651867 h 2366367"/>
                  <a:gd name="connsiteX124" fmla="*/ 858557 w 1830585"/>
                  <a:gd name="connsiteY124" fmla="*/ 750094 h 2366367"/>
                  <a:gd name="connsiteX125" fmla="*/ 858557 w 1830585"/>
                  <a:gd name="connsiteY125" fmla="*/ 759023 h 2366367"/>
                  <a:gd name="connsiteX126" fmla="*/ 858557 w 1830585"/>
                  <a:gd name="connsiteY126" fmla="*/ 857250 h 2366367"/>
                  <a:gd name="connsiteX127" fmla="*/ 760331 w 1830585"/>
                  <a:gd name="connsiteY127" fmla="*/ 857250 h 2366367"/>
                  <a:gd name="connsiteX128" fmla="*/ 760331 w 1830585"/>
                  <a:gd name="connsiteY128" fmla="*/ 759023 h 2366367"/>
                  <a:gd name="connsiteX129" fmla="*/ 858557 w 1830585"/>
                  <a:gd name="connsiteY129" fmla="*/ 759023 h 2366367"/>
                  <a:gd name="connsiteX130" fmla="*/ 751401 w 1830585"/>
                  <a:gd name="connsiteY130" fmla="*/ 857250 h 2366367"/>
                  <a:gd name="connsiteX131" fmla="*/ 653175 w 1830585"/>
                  <a:gd name="connsiteY131" fmla="*/ 857250 h 2366367"/>
                  <a:gd name="connsiteX132" fmla="*/ 653175 w 1830585"/>
                  <a:gd name="connsiteY132" fmla="*/ 759023 h 2366367"/>
                  <a:gd name="connsiteX133" fmla="*/ 751401 w 1830585"/>
                  <a:gd name="connsiteY133" fmla="*/ 759023 h 2366367"/>
                  <a:gd name="connsiteX134" fmla="*/ 751401 w 1830585"/>
                  <a:gd name="connsiteY134" fmla="*/ 857250 h 2366367"/>
                  <a:gd name="connsiteX135" fmla="*/ 751401 w 1830585"/>
                  <a:gd name="connsiteY135" fmla="*/ 866180 h 2366367"/>
                  <a:gd name="connsiteX136" fmla="*/ 751401 w 1830585"/>
                  <a:gd name="connsiteY136" fmla="*/ 964406 h 2366367"/>
                  <a:gd name="connsiteX137" fmla="*/ 653175 w 1830585"/>
                  <a:gd name="connsiteY137" fmla="*/ 964406 h 2366367"/>
                  <a:gd name="connsiteX138" fmla="*/ 653175 w 1830585"/>
                  <a:gd name="connsiteY138" fmla="*/ 866180 h 2366367"/>
                  <a:gd name="connsiteX139" fmla="*/ 751401 w 1830585"/>
                  <a:gd name="connsiteY139" fmla="*/ 866180 h 2366367"/>
                  <a:gd name="connsiteX140" fmla="*/ 751401 w 1830585"/>
                  <a:gd name="connsiteY140" fmla="*/ 973336 h 2366367"/>
                  <a:gd name="connsiteX141" fmla="*/ 751401 w 1830585"/>
                  <a:gd name="connsiteY141" fmla="*/ 1071563 h 2366367"/>
                  <a:gd name="connsiteX142" fmla="*/ 653175 w 1830585"/>
                  <a:gd name="connsiteY142" fmla="*/ 1071563 h 2366367"/>
                  <a:gd name="connsiteX143" fmla="*/ 653175 w 1830585"/>
                  <a:gd name="connsiteY143" fmla="*/ 973336 h 2366367"/>
                  <a:gd name="connsiteX144" fmla="*/ 751401 w 1830585"/>
                  <a:gd name="connsiteY144" fmla="*/ 973336 h 2366367"/>
                  <a:gd name="connsiteX145" fmla="*/ 751401 w 1830585"/>
                  <a:gd name="connsiteY145" fmla="*/ 1080492 h 2366367"/>
                  <a:gd name="connsiteX146" fmla="*/ 751401 w 1830585"/>
                  <a:gd name="connsiteY146" fmla="*/ 1178719 h 2366367"/>
                  <a:gd name="connsiteX147" fmla="*/ 653175 w 1830585"/>
                  <a:gd name="connsiteY147" fmla="*/ 1178719 h 2366367"/>
                  <a:gd name="connsiteX148" fmla="*/ 653175 w 1830585"/>
                  <a:gd name="connsiteY148" fmla="*/ 1080492 h 2366367"/>
                  <a:gd name="connsiteX149" fmla="*/ 751401 w 1830585"/>
                  <a:gd name="connsiteY149" fmla="*/ 1080492 h 2366367"/>
                  <a:gd name="connsiteX150" fmla="*/ 751401 w 1830585"/>
                  <a:gd name="connsiteY150" fmla="*/ 1187649 h 2366367"/>
                  <a:gd name="connsiteX151" fmla="*/ 751401 w 1830585"/>
                  <a:gd name="connsiteY151" fmla="*/ 1285875 h 2366367"/>
                  <a:gd name="connsiteX152" fmla="*/ 653175 w 1830585"/>
                  <a:gd name="connsiteY152" fmla="*/ 1285875 h 2366367"/>
                  <a:gd name="connsiteX153" fmla="*/ 653175 w 1830585"/>
                  <a:gd name="connsiteY153" fmla="*/ 1187649 h 2366367"/>
                  <a:gd name="connsiteX154" fmla="*/ 751401 w 1830585"/>
                  <a:gd name="connsiteY154" fmla="*/ 1187649 h 2366367"/>
                  <a:gd name="connsiteX155" fmla="*/ 751401 w 1830585"/>
                  <a:gd name="connsiteY155" fmla="*/ 1294805 h 2366367"/>
                  <a:gd name="connsiteX156" fmla="*/ 751401 w 1830585"/>
                  <a:gd name="connsiteY156" fmla="*/ 1393031 h 2366367"/>
                  <a:gd name="connsiteX157" fmla="*/ 653175 w 1830585"/>
                  <a:gd name="connsiteY157" fmla="*/ 1393031 h 2366367"/>
                  <a:gd name="connsiteX158" fmla="*/ 653175 w 1830585"/>
                  <a:gd name="connsiteY158" fmla="*/ 1294805 h 2366367"/>
                  <a:gd name="connsiteX159" fmla="*/ 751401 w 1830585"/>
                  <a:gd name="connsiteY159" fmla="*/ 1294805 h 2366367"/>
                  <a:gd name="connsiteX160" fmla="*/ 751401 w 1830585"/>
                  <a:gd name="connsiteY160" fmla="*/ 1401961 h 2366367"/>
                  <a:gd name="connsiteX161" fmla="*/ 751401 w 1830585"/>
                  <a:gd name="connsiteY161" fmla="*/ 1500188 h 2366367"/>
                  <a:gd name="connsiteX162" fmla="*/ 653175 w 1830585"/>
                  <a:gd name="connsiteY162" fmla="*/ 1500188 h 2366367"/>
                  <a:gd name="connsiteX163" fmla="*/ 653175 w 1830585"/>
                  <a:gd name="connsiteY163" fmla="*/ 1401961 h 2366367"/>
                  <a:gd name="connsiteX164" fmla="*/ 751401 w 1830585"/>
                  <a:gd name="connsiteY164" fmla="*/ 1401961 h 2366367"/>
                  <a:gd name="connsiteX165" fmla="*/ 751401 w 1830585"/>
                  <a:gd name="connsiteY165" fmla="*/ 1509117 h 2366367"/>
                  <a:gd name="connsiteX166" fmla="*/ 751401 w 1830585"/>
                  <a:gd name="connsiteY166" fmla="*/ 1607344 h 2366367"/>
                  <a:gd name="connsiteX167" fmla="*/ 653175 w 1830585"/>
                  <a:gd name="connsiteY167" fmla="*/ 1607344 h 2366367"/>
                  <a:gd name="connsiteX168" fmla="*/ 653175 w 1830585"/>
                  <a:gd name="connsiteY168" fmla="*/ 1509117 h 2366367"/>
                  <a:gd name="connsiteX169" fmla="*/ 751401 w 1830585"/>
                  <a:gd name="connsiteY169" fmla="*/ 1509117 h 2366367"/>
                  <a:gd name="connsiteX170" fmla="*/ 760331 w 1830585"/>
                  <a:gd name="connsiteY170" fmla="*/ 1509117 h 2366367"/>
                  <a:gd name="connsiteX171" fmla="*/ 858557 w 1830585"/>
                  <a:gd name="connsiteY171" fmla="*/ 1509117 h 2366367"/>
                  <a:gd name="connsiteX172" fmla="*/ 858557 w 1830585"/>
                  <a:gd name="connsiteY172" fmla="*/ 1607344 h 2366367"/>
                  <a:gd name="connsiteX173" fmla="*/ 760331 w 1830585"/>
                  <a:gd name="connsiteY173" fmla="*/ 1607344 h 2366367"/>
                  <a:gd name="connsiteX174" fmla="*/ 760331 w 1830585"/>
                  <a:gd name="connsiteY174" fmla="*/ 1509117 h 2366367"/>
                  <a:gd name="connsiteX175" fmla="*/ 858557 w 1830585"/>
                  <a:gd name="connsiteY175" fmla="*/ 1616274 h 2366367"/>
                  <a:gd name="connsiteX176" fmla="*/ 858557 w 1830585"/>
                  <a:gd name="connsiteY176" fmla="*/ 1714500 h 2366367"/>
                  <a:gd name="connsiteX177" fmla="*/ 760331 w 1830585"/>
                  <a:gd name="connsiteY177" fmla="*/ 1714500 h 2366367"/>
                  <a:gd name="connsiteX178" fmla="*/ 760331 w 1830585"/>
                  <a:gd name="connsiteY178" fmla="*/ 1616274 h 2366367"/>
                  <a:gd name="connsiteX179" fmla="*/ 858557 w 1830585"/>
                  <a:gd name="connsiteY179" fmla="*/ 1616274 h 2366367"/>
                  <a:gd name="connsiteX180" fmla="*/ 867487 w 1830585"/>
                  <a:gd name="connsiteY180" fmla="*/ 1616274 h 2366367"/>
                  <a:gd name="connsiteX181" fmla="*/ 965714 w 1830585"/>
                  <a:gd name="connsiteY181" fmla="*/ 1616274 h 2366367"/>
                  <a:gd name="connsiteX182" fmla="*/ 965714 w 1830585"/>
                  <a:gd name="connsiteY182" fmla="*/ 1714500 h 2366367"/>
                  <a:gd name="connsiteX183" fmla="*/ 867487 w 1830585"/>
                  <a:gd name="connsiteY183" fmla="*/ 1714500 h 2366367"/>
                  <a:gd name="connsiteX184" fmla="*/ 867487 w 1830585"/>
                  <a:gd name="connsiteY184" fmla="*/ 1616274 h 2366367"/>
                  <a:gd name="connsiteX185" fmla="*/ 974643 w 1830585"/>
                  <a:gd name="connsiteY185" fmla="*/ 1616274 h 2366367"/>
                  <a:gd name="connsiteX186" fmla="*/ 1072870 w 1830585"/>
                  <a:gd name="connsiteY186" fmla="*/ 1616274 h 2366367"/>
                  <a:gd name="connsiteX187" fmla="*/ 1072870 w 1830585"/>
                  <a:gd name="connsiteY187" fmla="*/ 1714500 h 2366367"/>
                  <a:gd name="connsiteX188" fmla="*/ 974643 w 1830585"/>
                  <a:gd name="connsiteY188" fmla="*/ 1714500 h 2366367"/>
                  <a:gd name="connsiteX189" fmla="*/ 974643 w 1830585"/>
                  <a:gd name="connsiteY189" fmla="*/ 1616274 h 2366367"/>
                  <a:gd name="connsiteX190" fmla="*/ 974643 w 1830585"/>
                  <a:gd name="connsiteY190" fmla="*/ 1607344 h 2366367"/>
                  <a:gd name="connsiteX191" fmla="*/ 974643 w 1830585"/>
                  <a:gd name="connsiteY191" fmla="*/ 1509117 h 2366367"/>
                  <a:gd name="connsiteX192" fmla="*/ 1072870 w 1830585"/>
                  <a:gd name="connsiteY192" fmla="*/ 1509117 h 2366367"/>
                  <a:gd name="connsiteX193" fmla="*/ 1072870 w 1830585"/>
                  <a:gd name="connsiteY193" fmla="*/ 1607344 h 2366367"/>
                  <a:gd name="connsiteX194" fmla="*/ 974643 w 1830585"/>
                  <a:gd name="connsiteY194" fmla="*/ 1607344 h 2366367"/>
                  <a:gd name="connsiteX195" fmla="*/ 1081800 w 1830585"/>
                  <a:gd name="connsiteY195" fmla="*/ 1509117 h 2366367"/>
                  <a:gd name="connsiteX196" fmla="*/ 1180026 w 1830585"/>
                  <a:gd name="connsiteY196" fmla="*/ 1509117 h 2366367"/>
                  <a:gd name="connsiteX197" fmla="*/ 1180026 w 1830585"/>
                  <a:gd name="connsiteY197" fmla="*/ 1607344 h 2366367"/>
                  <a:gd name="connsiteX198" fmla="*/ 1081800 w 1830585"/>
                  <a:gd name="connsiteY198" fmla="*/ 1607344 h 2366367"/>
                  <a:gd name="connsiteX199" fmla="*/ 1081800 w 1830585"/>
                  <a:gd name="connsiteY199" fmla="*/ 1509117 h 2366367"/>
                  <a:gd name="connsiteX200" fmla="*/ 1081800 w 1830585"/>
                  <a:gd name="connsiteY200" fmla="*/ 1500188 h 2366367"/>
                  <a:gd name="connsiteX201" fmla="*/ 1081800 w 1830585"/>
                  <a:gd name="connsiteY201" fmla="*/ 1401961 h 2366367"/>
                  <a:gd name="connsiteX202" fmla="*/ 1180026 w 1830585"/>
                  <a:gd name="connsiteY202" fmla="*/ 1401961 h 2366367"/>
                  <a:gd name="connsiteX203" fmla="*/ 1180026 w 1830585"/>
                  <a:gd name="connsiteY203" fmla="*/ 1500188 h 2366367"/>
                  <a:gd name="connsiteX204" fmla="*/ 1081800 w 1830585"/>
                  <a:gd name="connsiteY204" fmla="*/ 1500188 h 2366367"/>
                  <a:gd name="connsiteX205" fmla="*/ 1081800 w 1830585"/>
                  <a:gd name="connsiteY205" fmla="*/ 1393031 h 2366367"/>
                  <a:gd name="connsiteX206" fmla="*/ 1081800 w 1830585"/>
                  <a:gd name="connsiteY206" fmla="*/ 1294805 h 2366367"/>
                  <a:gd name="connsiteX207" fmla="*/ 1180026 w 1830585"/>
                  <a:gd name="connsiteY207" fmla="*/ 1294805 h 2366367"/>
                  <a:gd name="connsiteX208" fmla="*/ 1180026 w 1830585"/>
                  <a:gd name="connsiteY208" fmla="*/ 1393031 h 2366367"/>
                  <a:gd name="connsiteX209" fmla="*/ 1081800 w 1830585"/>
                  <a:gd name="connsiteY209" fmla="*/ 1393031 h 2366367"/>
                  <a:gd name="connsiteX210" fmla="*/ 1081800 w 1830585"/>
                  <a:gd name="connsiteY210" fmla="*/ 1285875 h 2366367"/>
                  <a:gd name="connsiteX211" fmla="*/ 1081800 w 1830585"/>
                  <a:gd name="connsiteY211" fmla="*/ 1187649 h 2366367"/>
                  <a:gd name="connsiteX212" fmla="*/ 1180026 w 1830585"/>
                  <a:gd name="connsiteY212" fmla="*/ 1187649 h 2366367"/>
                  <a:gd name="connsiteX213" fmla="*/ 1180026 w 1830585"/>
                  <a:gd name="connsiteY213" fmla="*/ 1285875 h 2366367"/>
                  <a:gd name="connsiteX214" fmla="*/ 1081800 w 1830585"/>
                  <a:gd name="connsiteY214" fmla="*/ 1285875 h 2366367"/>
                  <a:gd name="connsiteX215" fmla="*/ 1081800 w 1830585"/>
                  <a:gd name="connsiteY215" fmla="*/ 1178719 h 2366367"/>
                  <a:gd name="connsiteX216" fmla="*/ 1081800 w 1830585"/>
                  <a:gd name="connsiteY216" fmla="*/ 1080492 h 2366367"/>
                  <a:gd name="connsiteX217" fmla="*/ 1180026 w 1830585"/>
                  <a:gd name="connsiteY217" fmla="*/ 1080492 h 2366367"/>
                  <a:gd name="connsiteX218" fmla="*/ 1180026 w 1830585"/>
                  <a:gd name="connsiteY218" fmla="*/ 1178719 h 2366367"/>
                  <a:gd name="connsiteX219" fmla="*/ 1081800 w 1830585"/>
                  <a:gd name="connsiteY219" fmla="*/ 1178719 h 2366367"/>
                  <a:gd name="connsiteX220" fmla="*/ 1081800 w 1830585"/>
                  <a:gd name="connsiteY220" fmla="*/ 1071563 h 2366367"/>
                  <a:gd name="connsiteX221" fmla="*/ 1081800 w 1830585"/>
                  <a:gd name="connsiteY221" fmla="*/ 973336 h 2366367"/>
                  <a:gd name="connsiteX222" fmla="*/ 1180026 w 1830585"/>
                  <a:gd name="connsiteY222" fmla="*/ 973336 h 2366367"/>
                  <a:gd name="connsiteX223" fmla="*/ 1180026 w 1830585"/>
                  <a:gd name="connsiteY223" fmla="*/ 1071563 h 2366367"/>
                  <a:gd name="connsiteX224" fmla="*/ 1081800 w 1830585"/>
                  <a:gd name="connsiteY224" fmla="*/ 1071563 h 2366367"/>
                  <a:gd name="connsiteX225" fmla="*/ 1081800 w 1830585"/>
                  <a:gd name="connsiteY225" fmla="*/ 964406 h 2366367"/>
                  <a:gd name="connsiteX226" fmla="*/ 1081800 w 1830585"/>
                  <a:gd name="connsiteY226" fmla="*/ 866180 h 2366367"/>
                  <a:gd name="connsiteX227" fmla="*/ 1180026 w 1830585"/>
                  <a:gd name="connsiteY227" fmla="*/ 866180 h 2366367"/>
                  <a:gd name="connsiteX228" fmla="*/ 1180026 w 1830585"/>
                  <a:gd name="connsiteY228" fmla="*/ 964406 h 2366367"/>
                  <a:gd name="connsiteX229" fmla="*/ 1081800 w 1830585"/>
                  <a:gd name="connsiteY229" fmla="*/ 964406 h 2366367"/>
                  <a:gd name="connsiteX230" fmla="*/ 1081800 w 1830585"/>
                  <a:gd name="connsiteY230" fmla="*/ 857250 h 2366367"/>
                  <a:gd name="connsiteX231" fmla="*/ 1081800 w 1830585"/>
                  <a:gd name="connsiteY231" fmla="*/ 759023 h 2366367"/>
                  <a:gd name="connsiteX232" fmla="*/ 1180026 w 1830585"/>
                  <a:gd name="connsiteY232" fmla="*/ 759023 h 2366367"/>
                  <a:gd name="connsiteX233" fmla="*/ 1180026 w 1830585"/>
                  <a:gd name="connsiteY233" fmla="*/ 857250 h 2366367"/>
                  <a:gd name="connsiteX234" fmla="*/ 1081800 w 1830585"/>
                  <a:gd name="connsiteY234" fmla="*/ 857250 h 2366367"/>
                  <a:gd name="connsiteX235" fmla="*/ 1081800 w 1830585"/>
                  <a:gd name="connsiteY235" fmla="*/ 750094 h 2366367"/>
                  <a:gd name="connsiteX236" fmla="*/ 1081800 w 1830585"/>
                  <a:gd name="connsiteY236" fmla="*/ 651867 h 2366367"/>
                  <a:gd name="connsiteX237" fmla="*/ 1180026 w 1830585"/>
                  <a:gd name="connsiteY237" fmla="*/ 651867 h 2366367"/>
                  <a:gd name="connsiteX238" fmla="*/ 1180026 w 1830585"/>
                  <a:gd name="connsiteY238" fmla="*/ 750094 h 2366367"/>
                  <a:gd name="connsiteX239" fmla="*/ 1081800 w 1830585"/>
                  <a:gd name="connsiteY239" fmla="*/ 750094 h 2366367"/>
                  <a:gd name="connsiteX240" fmla="*/ 1081800 w 1830585"/>
                  <a:gd name="connsiteY240" fmla="*/ 642938 h 2366367"/>
                  <a:gd name="connsiteX241" fmla="*/ 1081800 w 1830585"/>
                  <a:gd name="connsiteY241" fmla="*/ 544711 h 2366367"/>
                  <a:gd name="connsiteX242" fmla="*/ 1180026 w 1830585"/>
                  <a:gd name="connsiteY242" fmla="*/ 544711 h 2366367"/>
                  <a:gd name="connsiteX243" fmla="*/ 1180026 w 1830585"/>
                  <a:gd name="connsiteY243" fmla="*/ 642938 h 2366367"/>
                  <a:gd name="connsiteX244" fmla="*/ 1081800 w 1830585"/>
                  <a:gd name="connsiteY244" fmla="*/ 642938 h 2366367"/>
                  <a:gd name="connsiteX245" fmla="*/ 1072870 w 1830585"/>
                  <a:gd name="connsiteY245" fmla="*/ 642938 h 2366367"/>
                  <a:gd name="connsiteX246" fmla="*/ 974643 w 1830585"/>
                  <a:gd name="connsiteY246" fmla="*/ 642938 h 2366367"/>
                  <a:gd name="connsiteX247" fmla="*/ 974643 w 1830585"/>
                  <a:gd name="connsiteY247" fmla="*/ 544711 h 2366367"/>
                  <a:gd name="connsiteX248" fmla="*/ 1072870 w 1830585"/>
                  <a:gd name="connsiteY248" fmla="*/ 544711 h 2366367"/>
                  <a:gd name="connsiteX249" fmla="*/ 1072870 w 1830585"/>
                  <a:gd name="connsiteY249" fmla="*/ 642938 h 2366367"/>
                  <a:gd name="connsiteX250" fmla="*/ 965714 w 1830585"/>
                  <a:gd name="connsiteY250" fmla="*/ 642938 h 2366367"/>
                  <a:gd name="connsiteX251" fmla="*/ 867487 w 1830585"/>
                  <a:gd name="connsiteY251" fmla="*/ 642938 h 2366367"/>
                  <a:gd name="connsiteX252" fmla="*/ 867487 w 1830585"/>
                  <a:gd name="connsiteY252" fmla="*/ 544711 h 2366367"/>
                  <a:gd name="connsiteX253" fmla="*/ 965714 w 1830585"/>
                  <a:gd name="connsiteY253" fmla="*/ 544711 h 2366367"/>
                  <a:gd name="connsiteX254" fmla="*/ 965714 w 1830585"/>
                  <a:gd name="connsiteY254" fmla="*/ 642938 h 2366367"/>
                  <a:gd name="connsiteX255" fmla="*/ 858557 w 1830585"/>
                  <a:gd name="connsiteY255" fmla="*/ 642938 h 2366367"/>
                  <a:gd name="connsiteX256" fmla="*/ 760331 w 1830585"/>
                  <a:gd name="connsiteY256" fmla="*/ 642938 h 2366367"/>
                  <a:gd name="connsiteX257" fmla="*/ 760331 w 1830585"/>
                  <a:gd name="connsiteY257" fmla="*/ 544711 h 2366367"/>
                  <a:gd name="connsiteX258" fmla="*/ 858557 w 1830585"/>
                  <a:gd name="connsiteY258" fmla="*/ 544711 h 2366367"/>
                  <a:gd name="connsiteX259" fmla="*/ 858557 w 1830585"/>
                  <a:gd name="connsiteY259" fmla="*/ 642938 h 2366367"/>
                  <a:gd name="connsiteX260" fmla="*/ 751401 w 1830585"/>
                  <a:gd name="connsiteY260" fmla="*/ 642938 h 2366367"/>
                  <a:gd name="connsiteX261" fmla="*/ 653175 w 1830585"/>
                  <a:gd name="connsiteY261" fmla="*/ 642938 h 2366367"/>
                  <a:gd name="connsiteX262" fmla="*/ 653175 w 1830585"/>
                  <a:gd name="connsiteY262" fmla="*/ 544711 h 2366367"/>
                  <a:gd name="connsiteX263" fmla="*/ 751401 w 1830585"/>
                  <a:gd name="connsiteY263" fmla="*/ 544711 h 2366367"/>
                  <a:gd name="connsiteX264" fmla="*/ 751401 w 1830585"/>
                  <a:gd name="connsiteY264" fmla="*/ 642938 h 2366367"/>
                  <a:gd name="connsiteX265" fmla="*/ 751401 w 1830585"/>
                  <a:gd name="connsiteY265" fmla="*/ 651867 h 2366367"/>
                  <a:gd name="connsiteX266" fmla="*/ 751401 w 1830585"/>
                  <a:gd name="connsiteY266" fmla="*/ 750094 h 2366367"/>
                  <a:gd name="connsiteX267" fmla="*/ 653175 w 1830585"/>
                  <a:gd name="connsiteY267" fmla="*/ 750094 h 2366367"/>
                  <a:gd name="connsiteX268" fmla="*/ 653175 w 1830585"/>
                  <a:gd name="connsiteY268" fmla="*/ 651867 h 2366367"/>
                  <a:gd name="connsiteX269" fmla="*/ 751401 w 1830585"/>
                  <a:gd name="connsiteY269" fmla="*/ 651867 h 2366367"/>
                  <a:gd name="connsiteX270" fmla="*/ 644245 w 1830585"/>
                  <a:gd name="connsiteY270" fmla="*/ 750094 h 2366367"/>
                  <a:gd name="connsiteX271" fmla="*/ 546018 w 1830585"/>
                  <a:gd name="connsiteY271" fmla="*/ 750094 h 2366367"/>
                  <a:gd name="connsiteX272" fmla="*/ 546018 w 1830585"/>
                  <a:gd name="connsiteY272" fmla="*/ 651867 h 2366367"/>
                  <a:gd name="connsiteX273" fmla="*/ 644245 w 1830585"/>
                  <a:gd name="connsiteY273" fmla="*/ 651867 h 2366367"/>
                  <a:gd name="connsiteX274" fmla="*/ 644245 w 1830585"/>
                  <a:gd name="connsiteY274" fmla="*/ 750094 h 2366367"/>
                  <a:gd name="connsiteX275" fmla="*/ 644245 w 1830585"/>
                  <a:gd name="connsiteY275" fmla="*/ 759023 h 2366367"/>
                  <a:gd name="connsiteX276" fmla="*/ 644245 w 1830585"/>
                  <a:gd name="connsiteY276" fmla="*/ 857250 h 2366367"/>
                  <a:gd name="connsiteX277" fmla="*/ 546018 w 1830585"/>
                  <a:gd name="connsiteY277" fmla="*/ 857250 h 2366367"/>
                  <a:gd name="connsiteX278" fmla="*/ 546018 w 1830585"/>
                  <a:gd name="connsiteY278" fmla="*/ 759023 h 2366367"/>
                  <a:gd name="connsiteX279" fmla="*/ 644245 w 1830585"/>
                  <a:gd name="connsiteY279" fmla="*/ 759023 h 2366367"/>
                  <a:gd name="connsiteX280" fmla="*/ 644245 w 1830585"/>
                  <a:gd name="connsiteY280" fmla="*/ 866180 h 2366367"/>
                  <a:gd name="connsiteX281" fmla="*/ 644245 w 1830585"/>
                  <a:gd name="connsiteY281" fmla="*/ 964406 h 2366367"/>
                  <a:gd name="connsiteX282" fmla="*/ 546018 w 1830585"/>
                  <a:gd name="connsiteY282" fmla="*/ 964406 h 2366367"/>
                  <a:gd name="connsiteX283" fmla="*/ 546018 w 1830585"/>
                  <a:gd name="connsiteY283" fmla="*/ 866180 h 2366367"/>
                  <a:gd name="connsiteX284" fmla="*/ 644245 w 1830585"/>
                  <a:gd name="connsiteY284" fmla="*/ 866180 h 2366367"/>
                  <a:gd name="connsiteX285" fmla="*/ 644245 w 1830585"/>
                  <a:gd name="connsiteY285" fmla="*/ 973336 h 2366367"/>
                  <a:gd name="connsiteX286" fmla="*/ 644245 w 1830585"/>
                  <a:gd name="connsiteY286" fmla="*/ 1071563 h 2366367"/>
                  <a:gd name="connsiteX287" fmla="*/ 546018 w 1830585"/>
                  <a:gd name="connsiteY287" fmla="*/ 1071563 h 2366367"/>
                  <a:gd name="connsiteX288" fmla="*/ 546018 w 1830585"/>
                  <a:gd name="connsiteY288" fmla="*/ 973336 h 2366367"/>
                  <a:gd name="connsiteX289" fmla="*/ 644245 w 1830585"/>
                  <a:gd name="connsiteY289" fmla="*/ 973336 h 2366367"/>
                  <a:gd name="connsiteX290" fmla="*/ 644245 w 1830585"/>
                  <a:gd name="connsiteY290" fmla="*/ 1080492 h 2366367"/>
                  <a:gd name="connsiteX291" fmla="*/ 644245 w 1830585"/>
                  <a:gd name="connsiteY291" fmla="*/ 1178719 h 2366367"/>
                  <a:gd name="connsiteX292" fmla="*/ 546018 w 1830585"/>
                  <a:gd name="connsiteY292" fmla="*/ 1178719 h 2366367"/>
                  <a:gd name="connsiteX293" fmla="*/ 546018 w 1830585"/>
                  <a:gd name="connsiteY293" fmla="*/ 1080492 h 2366367"/>
                  <a:gd name="connsiteX294" fmla="*/ 644245 w 1830585"/>
                  <a:gd name="connsiteY294" fmla="*/ 1080492 h 2366367"/>
                  <a:gd name="connsiteX295" fmla="*/ 644245 w 1830585"/>
                  <a:gd name="connsiteY295" fmla="*/ 1187649 h 2366367"/>
                  <a:gd name="connsiteX296" fmla="*/ 644245 w 1830585"/>
                  <a:gd name="connsiteY296" fmla="*/ 1285875 h 2366367"/>
                  <a:gd name="connsiteX297" fmla="*/ 546018 w 1830585"/>
                  <a:gd name="connsiteY297" fmla="*/ 1285875 h 2366367"/>
                  <a:gd name="connsiteX298" fmla="*/ 546018 w 1830585"/>
                  <a:gd name="connsiteY298" fmla="*/ 1187649 h 2366367"/>
                  <a:gd name="connsiteX299" fmla="*/ 644245 w 1830585"/>
                  <a:gd name="connsiteY299" fmla="*/ 1187649 h 2366367"/>
                  <a:gd name="connsiteX300" fmla="*/ 644245 w 1830585"/>
                  <a:gd name="connsiteY300" fmla="*/ 1294805 h 2366367"/>
                  <a:gd name="connsiteX301" fmla="*/ 644245 w 1830585"/>
                  <a:gd name="connsiteY301" fmla="*/ 1393031 h 2366367"/>
                  <a:gd name="connsiteX302" fmla="*/ 546018 w 1830585"/>
                  <a:gd name="connsiteY302" fmla="*/ 1393031 h 2366367"/>
                  <a:gd name="connsiteX303" fmla="*/ 546018 w 1830585"/>
                  <a:gd name="connsiteY303" fmla="*/ 1294805 h 2366367"/>
                  <a:gd name="connsiteX304" fmla="*/ 644245 w 1830585"/>
                  <a:gd name="connsiteY304" fmla="*/ 1294805 h 2366367"/>
                  <a:gd name="connsiteX305" fmla="*/ 644245 w 1830585"/>
                  <a:gd name="connsiteY305" fmla="*/ 1401961 h 2366367"/>
                  <a:gd name="connsiteX306" fmla="*/ 644245 w 1830585"/>
                  <a:gd name="connsiteY306" fmla="*/ 1500188 h 2366367"/>
                  <a:gd name="connsiteX307" fmla="*/ 546018 w 1830585"/>
                  <a:gd name="connsiteY307" fmla="*/ 1500188 h 2366367"/>
                  <a:gd name="connsiteX308" fmla="*/ 546018 w 1830585"/>
                  <a:gd name="connsiteY308" fmla="*/ 1401961 h 2366367"/>
                  <a:gd name="connsiteX309" fmla="*/ 644245 w 1830585"/>
                  <a:gd name="connsiteY309" fmla="*/ 1401961 h 2366367"/>
                  <a:gd name="connsiteX310" fmla="*/ 644245 w 1830585"/>
                  <a:gd name="connsiteY310" fmla="*/ 1509117 h 2366367"/>
                  <a:gd name="connsiteX311" fmla="*/ 644245 w 1830585"/>
                  <a:gd name="connsiteY311" fmla="*/ 1607344 h 2366367"/>
                  <a:gd name="connsiteX312" fmla="*/ 546018 w 1830585"/>
                  <a:gd name="connsiteY312" fmla="*/ 1607344 h 2366367"/>
                  <a:gd name="connsiteX313" fmla="*/ 546018 w 1830585"/>
                  <a:gd name="connsiteY313" fmla="*/ 1509117 h 2366367"/>
                  <a:gd name="connsiteX314" fmla="*/ 644245 w 1830585"/>
                  <a:gd name="connsiteY314" fmla="*/ 1509117 h 2366367"/>
                  <a:gd name="connsiteX315" fmla="*/ 644245 w 1830585"/>
                  <a:gd name="connsiteY315" fmla="*/ 1616274 h 2366367"/>
                  <a:gd name="connsiteX316" fmla="*/ 644245 w 1830585"/>
                  <a:gd name="connsiteY316" fmla="*/ 1714500 h 2366367"/>
                  <a:gd name="connsiteX317" fmla="*/ 546018 w 1830585"/>
                  <a:gd name="connsiteY317" fmla="*/ 1714500 h 2366367"/>
                  <a:gd name="connsiteX318" fmla="*/ 546018 w 1830585"/>
                  <a:gd name="connsiteY318" fmla="*/ 1616274 h 2366367"/>
                  <a:gd name="connsiteX319" fmla="*/ 644245 w 1830585"/>
                  <a:gd name="connsiteY319" fmla="*/ 1616274 h 2366367"/>
                  <a:gd name="connsiteX320" fmla="*/ 653175 w 1830585"/>
                  <a:gd name="connsiteY320" fmla="*/ 1616274 h 2366367"/>
                  <a:gd name="connsiteX321" fmla="*/ 751401 w 1830585"/>
                  <a:gd name="connsiteY321" fmla="*/ 1616274 h 2366367"/>
                  <a:gd name="connsiteX322" fmla="*/ 751401 w 1830585"/>
                  <a:gd name="connsiteY322" fmla="*/ 1714500 h 2366367"/>
                  <a:gd name="connsiteX323" fmla="*/ 653175 w 1830585"/>
                  <a:gd name="connsiteY323" fmla="*/ 1714500 h 2366367"/>
                  <a:gd name="connsiteX324" fmla="*/ 653175 w 1830585"/>
                  <a:gd name="connsiteY324" fmla="*/ 1616274 h 2366367"/>
                  <a:gd name="connsiteX325" fmla="*/ 751401 w 1830585"/>
                  <a:gd name="connsiteY325" fmla="*/ 1723430 h 2366367"/>
                  <a:gd name="connsiteX326" fmla="*/ 751401 w 1830585"/>
                  <a:gd name="connsiteY326" fmla="*/ 1821656 h 2366367"/>
                  <a:gd name="connsiteX327" fmla="*/ 653175 w 1830585"/>
                  <a:gd name="connsiteY327" fmla="*/ 1821656 h 2366367"/>
                  <a:gd name="connsiteX328" fmla="*/ 653175 w 1830585"/>
                  <a:gd name="connsiteY328" fmla="*/ 1723430 h 2366367"/>
                  <a:gd name="connsiteX329" fmla="*/ 751401 w 1830585"/>
                  <a:gd name="connsiteY329" fmla="*/ 1723430 h 2366367"/>
                  <a:gd name="connsiteX330" fmla="*/ 760331 w 1830585"/>
                  <a:gd name="connsiteY330" fmla="*/ 1723430 h 2366367"/>
                  <a:gd name="connsiteX331" fmla="*/ 858557 w 1830585"/>
                  <a:gd name="connsiteY331" fmla="*/ 1723430 h 2366367"/>
                  <a:gd name="connsiteX332" fmla="*/ 858557 w 1830585"/>
                  <a:gd name="connsiteY332" fmla="*/ 1821656 h 2366367"/>
                  <a:gd name="connsiteX333" fmla="*/ 760331 w 1830585"/>
                  <a:gd name="connsiteY333" fmla="*/ 1821656 h 2366367"/>
                  <a:gd name="connsiteX334" fmla="*/ 760331 w 1830585"/>
                  <a:gd name="connsiteY334" fmla="*/ 1723430 h 2366367"/>
                  <a:gd name="connsiteX335" fmla="*/ 867487 w 1830585"/>
                  <a:gd name="connsiteY335" fmla="*/ 1723430 h 2366367"/>
                  <a:gd name="connsiteX336" fmla="*/ 965714 w 1830585"/>
                  <a:gd name="connsiteY336" fmla="*/ 1723430 h 2366367"/>
                  <a:gd name="connsiteX337" fmla="*/ 965714 w 1830585"/>
                  <a:gd name="connsiteY337" fmla="*/ 1821656 h 2366367"/>
                  <a:gd name="connsiteX338" fmla="*/ 867487 w 1830585"/>
                  <a:gd name="connsiteY338" fmla="*/ 1821656 h 2366367"/>
                  <a:gd name="connsiteX339" fmla="*/ 867487 w 1830585"/>
                  <a:gd name="connsiteY339" fmla="*/ 1723430 h 2366367"/>
                  <a:gd name="connsiteX340" fmla="*/ 974643 w 1830585"/>
                  <a:gd name="connsiteY340" fmla="*/ 1723430 h 2366367"/>
                  <a:gd name="connsiteX341" fmla="*/ 1072870 w 1830585"/>
                  <a:gd name="connsiteY341" fmla="*/ 1723430 h 2366367"/>
                  <a:gd name="connsiteX342" fmla="*/ 1072870 w 1830585"/>
                  <a:gd name="connsiteY342" fmla="*/ 1821656 h 2366367"/>
                  <a:gd name="connsiteX343" fmla="*/ 974643 w 1830585"/>
                  <a:gd name="connsiteY343" fmla="*/ 1821656 h 2366367"/>
                  <a:gd name="connsiteX344" fmla="*/ 974643 w 1830585"/>
                  <a:gd name="connsiteY344" fmla="*/ 1723430 h 2366367"/>
                  <a:gd name="connsiteX345" fmla="*/ 1081800 w 1830585"/>
                  <a:gd name="connsiteY345" fmla="*/ 1723430 h 2366367"/>
                  <a:gd name="connsiteX346" fmla="*/ 1180026 w 1830585"/>
                  <a:gd name="connsiteY346" fmla="*/ 1723430 h 2366367"/>
                  <a:gd name="connsiteX347" fmla="*/ 1180026 w 1830585"/>
                  <a:gd name="connsiteY347" fmla="*/ 1821656 h 2366367"/>
                  <a:gd name="connsiteX348" fmla="*/ 1081800 w 1830585"/>
                  <a:gd name="connsiteY348" fmla="*/ 1821656 h 2366367"/>
                  <a:gd name="connsiteX349" fmla="*/ 1081800 w 1830585"/>
                  <a:gd name="connsiteY349" fmla="*/ 1723430 h 2366367"/>
                  <a:gd name="connsiteX350" fmla="*/ 1081800 w 1830585"/>
                  <a:gd name="connsiteY350" fmla="*/ 1714500 h 2366367"/>
                  <a:gd name="connsiteX351" fmla="*/ 1081800 w 1830585"/>
                  <a:gd name="connsiteY351" fmla="*/ 1616274 h 2366367"/>
                  <a:gd name="connsiteX352" fmla="*/ 1180026 w 1830585"/>
                  <a:gd name="connsiteY352" fmla="*/ 1616274 h 2366367"/>
                  <a:gd name="connsiteX353" fmla="*/ 1180026 w 1830585"/>
                  <a:gd name="connsiteY353" fmla="*/ 1714500 h 2366367"/>
                  <a:gd name="connsiteX354" fmla="*/ 1081800 w 1830585"/>
                  <a:gd name="connsiteY354" fmla="*/ 1714500 h 2366367"/>
                  <a:gd name="connsiteX355" fmla="*/ 1188956 w 1830585"/>
                  <a:gd name="connsiteY355" fmla="*/ 1616274 h 2366367"/>
                  <a:gd name="connsiteX356" fmla="*/ 1287182 w 1830585"/>
                  <a:gd name="connsiteY356" fmla="*/ 1616274 h 2366367"/>
                  <a:gd name="connsiteX357" fmla="*/ 1287182 w 1830585"/>
                  <a:gd name="connsiteY357" fmla="*/ 1714500 h 2366367"/>
                  <a:gd name="connsiteX358" fmla="*/ 1188956 w 1830585"/>
                  <a:gd name="connsiteY358" fmla="*/ 1714500 h 2366367"/>
                  <a:gd name="connsiteX359" fmla="*/ 1188956 w 1830585"/>
                  <a:gd name="connsiteY359" fmla="*/ 1616274 h 2366367"/>
                  <a:gd name="connsiteX360" fmla="*/ 1188956 w 1830585"/>
                  <a:gd name="connsiteY360" fmla="*/ 1607344 h 2366367"/>
                  <a:gd name="connsiteX361" fmla="*/ 1188956 w 1830585"/>
                  <a:gd name="connsiteY361" fmla="*/ 1509117 h 2366367"/>
                  <a:gd name="connsiteX362" fmla="*/ 1287182 w 1830585"/>
                  <a:gd name="connsiteY362" fmla="*/ 1509117 h 2366367"/>
                  <a:gd name="connsiteX363" fmla="*/ 1287182 w 1830585"/>
                  <a:gd name="connsiteY363" fmla="*/ 1607344 h 2366367"/>
                  <a:gd name="connsiteX364" fmla="*/ 1188956 w 1830585"/>
                  <a:gd name="connsiteY364" fmla="*/ 1607344 h 2366367"/>
                  <a:gd name="connsiteX365" fmla="*/ 1188956 w 1830585"/>
                  <a:gd name="connsiteY365" fmla="*/ 1500188 h 2366367"/>
                  <a:gd name="connsiteX366" fmla="*/ 1188956 w 1830585"/>
                  <a:gd name="connsiteY366" fmla="*/ 1401961 h 2366367"/>
                  <a:gd name="connsiteX367" fmla="*/ 1287182 w 1830585"/>
                  <a:gd name="connsiteY367" fmla="*/ 1401961 h 2366367"/>
                  <a:gd name="connsiteX368" fmla="*/ 1287182 w 1830585"/>
                  <a:gd name="connsiteY368" fmla="*/ 1500188 h 2366367"/>
                  <a:gd name="connsiteX369" fmla="*/ 1188956 w 1830585"/>
                  <a:gd name="connsiteY369" fmla="*/ 1500188 h 2366367"/>
                  <a:gd name="connsiteX370" fmla="*/ 1188956 w 1830585"/>
                  <a:gd name="connsiteY370" fmla="*/ 1393031 h 2366367"/>
                  <a:gd name="connsiteX371" fmla="*/ 1188956 w 1830585"/>
                  <a:gd name="connsiteY371" fmla="*/ 1294805 h 2366367"/>
                  <a:gd name="connsiteX372" fmla="*/ 1287182 w 1830585"/>
                  <a:gd name="connsiteY372" fmla="*/ 1294805 h 2366367"/>
                  <a:gd name="connsiteX373" fmla="*/ 1287182 w 1830585"/>
                  <a:gd name="connsiteY373" fmla="*/ 1393031 h 2366367"/>
                  <a:gd name="connsiteX374" fmla="*/ 1188956 w 1830585"/>
                  <a:gd name="connsiteY374" fmla="*/ 1393031 h 2366367"/>
                  <a:gd name="connsiteX375" fmla="*/ 1188956 w 1830585"/>
                  <a:gd name="connsiteY375" fmla="*/ 1285875 h 2366367"/>
                  <a:gd name="connsiteX376" fmla="*/ 1188956 w 1830585"/>
                  <a:gd name="connsiteY376" fmla="*/ 1187649 h 2366367"/>
                  <a:gd name="connsiteX377" fmla="*/ 1287182 w 1830585"/>
                  <a:gd name="connsiteY377" fmla="*/ 1187649 h 2366367"/>
                  <a:gd name="connsiteX378" fmla="*/ 1287182 w 1830585"/>
                  <a:gd name="connsiteY378" fmla="*/ 1285875 h 2366367"/>
                  <a:gd name="connsiteX379" fmla="*/ 1188956 w 1830585"/>
                  <a:gd name="connsiteY379" fmla="*/ 1285875 h 2366367"/>
                  <a:gd name="connsiteX380" fmla="*/ 1188956 w 1830585"/>
                  <a:gd name="connsiteY380" fmla="*/ 1178719 h 2366367"/>
                  <a:gd name="connsiteX381" fmla="*/ 1188956 w 1830585"/>
                  <a:gd name="connsiteY381" fmla="*/ 1080492 h 2366367"/>
                  <a:gd name="connsiteX382" fmla="*/ 1287182 w 1830585"/>
                  <a:gd name="connsiteY382" fmla="*/ 1080492 h 2366367"/>
                  <a:gd name="connsiteX383" fmla="*/ 1287182 w 1830585"/>
                  <a:gd name="connsiteY383" fmla="*/ 1178719 h 2366367"/>
                  <a:gd name="connsiteX384" fmla="*/ 1188956 w 1830585"/>
                  <a:gd name="connsiteY384" fmla="*/ 1178719 h 2366367"/>
                  <a:gd name="connsiteX385" fmla="*/ 1188956 w 1830585"/>
                  <a:gd name="connsiteY385" fmla="*/ 1071563 h 2366367"/>
                  <a:gd name="connsiteX386" fmla="*/ 1188956 w 1830585"/>
                  <a:gd name="connsiteY386" fmla="*/ 973336 h 2366367"/>
                  <a:gd name="connsiteX387" fmla="*/ 1287182 w 1830585"/>
                  <a:gd name="connsiteY387" fmla="*/ 973336 h 2366367"/>
                  <a:gd name="connsiteX388" fmla="*/ 1287182 w 1830585"/>
                  <a:gd name="connsiteY388" fmla="*/ 1071563 h 2366367"/>
                  <a:gd name="connsiteX389" fmla="*/ 1188956 w 1830585"/>
                  <a:gd name="connsiteY389" fmla="*/ 1071563 h 2366367"/>
                  <a:gd name="connsiteX390" fmla="*/ 1188956 w 1830585"/>
                  <a:gd name="connsiteY390" fmla="*/ 964406 h 2366367"/>
                  <a:gd name="connsiteX391" fmla="*/ 1188956 w 1830585"/>
                  <a:gd name="connsiteY391" fmla="*/ 866180 h 2366367"/>
                  <a:gd name="connsiteX392" fmla="*/ 1287182 w 1830585"/>
                  <a:gd name="connsiteY392" fmla="*/ 866180 h 2366367"/>
                  <a:gd name="connsiteX393" fmla="*/ 1287182 w 1830585"/>
                  <a:gd name="connsiteY393" fmla="*/ 964406 h 2366367"/>
                  <a:gd name="connsiteX394" fmla="*/ 1188956 w 1830585"/>
                  <a:gd name="connsiteY394" fmla="*/ 964406 h 2366367"/>
                  <a:gd name="connsiteX395" fmla="*/ 1188956 w 1830585"/>
                  <a:gd name="connsiteY395" fmla="*/ 857250 h 2366367"/>
                  <a:gd name="connsiteX396" fmla="*/ 1188956 w 1830585"/>
                  <a:gd name="connsiteY396" fmla="*/ 759023 h 2366367"/>
                  <a:gd name="connsiteX397" fmla="*/ 1287182 w 1830585"/>
                  <a:gd name="connsiteY397" fmla="*/ 759023 h 2366367"/>
                  <a:gd name="connsiteX398" fmla="*/ 1287182 w 1830585"/>
                  <a:gd name="connsiteY398" fmla="*/ 857250 h 2366367"/>
                  <a:gd name="connsiteX399" fmla="*/ 1188956 w 1830585"/>
                  <a:gd name="connsiteY399" fmla="*/ 857250 h 2366367"/>
                  <a:gd name="connsiteX400" fmla="*/ 1188956 w 1830585"/>
                  <a:gd name="connsiteY400" fmla="*/ 750094 h 2366367"/>
                  <a:gd name="connsiteX401" fmla="*/ 1188956 w 1830585"/>
                  <a:gd name="connsiteY401" fmla="*/ 651867 h 2366367"/>
                  <a:gd name="connsiteX402" fmla="*/ 1287182 w 1830585"/>
                  <a:gd name="connsiteY402" fmla="*/ 651867 h 2366367"/>
                  <a:gd name="connsiteX403" fmla="*/ 1287182 w 1830585"/>
                  <a:gd name="connsiteY403" fmla="*/ 750094 h 2366367"/>
                  <a:gd name="connsiteX404" fmla="*/ 1188956 w 1830585"/>
                  <a:gd name="connsiteY404" fmla="*/ 750094 h 2366367"/>
                  <a:gd name="connsiteX405" fmla="*/ 1188956 w 1830585"/>
                  <a:gd name="connsiteY405" fmla="*/ 642938 h 2366367"/>
                  <a:gd name="connsiteX406" fmla="*/ 1188956 w 1830585"/>
                  <a:gd name="connsiteY406" fmla="*/ 544711 h 2366367"/>
                  <a:gd name="connsiteX407" fmla="*/ 1287182 w 1830585"/>
                  <a:gd name="connsiteY407" fmla="*/ 544711 h 2366367"/>
                  <a:gd name="connsiteX408" fmla="*/ 1287182 w 1830585"/>
                  <a:gd name="connsiteY408" fmla="*/ 642938 h 2366367"/>
                  <a:gd name="connsiteX409" fmla="*/ 1188956 w 1830585"/>
                  <a:gd name="connsiteY409" fmla="*/ 642938 h 2366367"/>
                  <a:gd name="connsiteX410" fmla="*/ 1188956 w 1830585"/>
                  <a:gd name="connsiteY410" fmla="*/ 535781 h 2366367"/>
                  <a:gd name="connsiteX411" fmla="*/ 1188956 w 1830585"/>
                  <a:gd name="connsiteY411" fmla="*/ 437555 h 2366367"/>
                  <a:gd name="connsiteX412" fmla="*/ 1287182 w 1830585"/>
                  <a:gd name="connsiteY412" fmla="*/ 437555 h 2366367"/>
                  <a:gd name="connsiteX413" fmla="*/ 1287182 w 1830585"/>
                  <a:gd name="connsiteY413" fmla="*/ 535781 h 2366367"/>
                  <a:gd name="connsiteX414" fmla="*/ 1188956 w 1830585"/>
                  <a:gd name="connsiteY414" fmla="*/ 535781 h 2366367"/>
                  <a:gd name="connsiteX415" fmla="*/ 1180026 w 1830585"/>
                  <a:gd name="connsiteY415" fmla="*/ 535781 h 2366367"/>
                  <a:gd name="connsiteX416" fmla="*/ 1081800 w 1830585"/>
                  <a:gd name="connsiteY416" fmla="*/ 535781 h 2366367"/>
                  <a:gd name="connsiteX417" fmla="*/ 1081800 w 1830585"/>
                  <a:gd name="connsiteY417" fmla="*/ 437555 h 2366367"/>
                  <a:gd name="connsiteX418" fmla="*/ 1180026 w 1830585"/>
                  <a:gd name="connsiteY418" fmla="*/ 437555 h 2366367"/>
                  <a:gd name="connsiteX419" fmla="*/ 1180026 w 1830585"/>
                  <a:gd name="connsiteY419" fmla="*/ 535781 h 2366367"/>
                  <a:gd name="connsiteX420" fmla="*/ 1072870 w 1830585"/>
                  <a:gd name="connsiteY420" fmla="*/ 535781 h 2366367"/>
                  <a:gd name="connsiteX421" fmla="*/ 974643 w 1830585"/>
                  <a:gd name="connsiteY421" fmla="*/ 535781 h 2366367"/>
                  <a:gd name="connsiteX422" fmla="*/ 974643 w 1830585"/>
                  <a:gd name="connsiteY422" fmla="*/ 437555 h 2366367"/>
                  <a:gd name="connsiteX423" fmla="*/ 1072870 w 1830585"/>
                  <a:gd name="connsiteY423" fmla="*/ 437555 h 2366367"/>
                  <a:gd name="connsiteX424" fmla="*/ 1072870 w 1830585"/>
                  <a:gd name="connsiteY424" fmla="*/ 535781 h 2366367"/>
                  <a:gd name="connsiteX425" fmla="*/ 965714 w 1830585"/>
                  <a:gd name="connsiteY425" fmla="*/ 535781 h 2366367"/>
                  <a:gd name="connsiteX426" fmla="*/ 867487 w 1830585"/>
                  <a:gd name="connsiteY426" fmla="*/ 535781 h 2366367"/>
                  <a:gd name="connsiteX427" fmla="*/ 867487 w 1830585"/>
                  <a:gd name="connsiteY427" fmla="*/ 437555 h 2366367"/>
                  <a:gd name="connsiteX428" fmla="*/ 965714 w 1830585"/>
                  <a:gd name="connsiteY428" fmla="*/ 437555 h 2366367"/>
                  <a:gd name="connsiteX429" fmla="*/ 965714 w 1830585"/>
                  <a:gd name="connsiteY429" fmla="*/ 535781 h 2366367"/>
                  <a:gd name="connsiteX430" fmla="*/ 858557 w 1830585"/>
                  <a:gd name="connsiteY430" fmla="*/ 535781 h 2366367"/>
                  <a:gd name="connsiteX431" fmla="*/ 760331 w 1830585"/>
                  <a:gd name="connsiteY431" fmla="*/ 535781 h 2366367"/>
                  <a:gd name="connsiteX432" fmla="*/ 760331 w 1830585"/>
                  <a:gd name="connsiteY432" fmla="*/ 437555 h 2366367"/>
                  <a:gd name="connsiteX433" fmla="*/ 858557 w 1830585"/>
                  <a:gd name="connsiteY433" fmla="*/ 437555 h 2366367"/>
                  <a:gd name="connsiteX434" fmla="*/ 858557 w 1830585"/>
                  <a:gd name="connsiteY434" fmla="*/ 535781 h 2366367"/>
                  <a:gd name="connsiteX435" fmla="*/ 751401 w 1830585"/>
                  <a:gd name="connsiteY435" fmla="*/ 535781 h 2366367"/>
                  <a:gd name="connsiteX436" fmla="*/ 653175 w 1830585"/>
                  <a:gd name="connsiteY436" fmla="*/ 535781 h 2366367"/>
                  <a:gd name="connsiteX437" fmla="*/ 653175 w 1830585"/>
                  <a:gd name="connsiteY437" fmla="*/ 437555 h 2366367"/>
                  <a:gd name="connsiteX438" fmla="*/ 751401 w 1830585"/>
                  <a:gd name="connsiteY438" fmla="*/ 437555 h 2366367"/>
                  <a:gd name="connsiteX439" fmla="*/ 751401 w 1830585"/>
                  <a:gd name="connsiteY439" fmla="*/ 535781 h 2366367"/>
                  <a:gd name="connsiteX440" fmla="*/ 644245 w 1830585"/>
                  <a:gd name="connsiteY440" fmla="*/ 535781 h 2366367"/>
                  <a:gd name="connsiteX441" fmla="*/ 546018 w 1830585"/>
                  <a:gd name="connsiteY441" fmla="*/ 535781 h 2366367"/>
                  <a:gd name="connsiteX442" fmla="*/ 546018 w 1830585"/>
                  <a:gd name="connsiteY442" fmla="*/ 437555 h 2366367"/>
                  <a:gd name="connsiteX443" fmla="*/ 644245 w 1830585"/>
                  <a:gd name="connsiteY443" fmla="*/ 437555 h 2366367"/>
                  <a:gd name="connsiteX444" fmla="*/ 644245 w 1830585"/>
                  <a:gd name="connsiteY444" fmla="*/ 535781 h 2366367"/>
                  <a:gd name="connsiteX445" fmla="*/ 644245 w 1830585"/>
                  <a:gd name="connsiteY445" fmla="*/ 544711 h 2366367"/>
                  <a:gd name="connsiteX446" fmla="*/ 644245 w 1830585"/>
                  <a:gd name="connsiteY446" fmla="*/ 642938 h 2366367"/>
                  <a:gd name="connsiteX447" fmla="*/ 546018 w 1830585"/>
                  <a:gd name="connsiteY447" fmla="*/ 642938 h 2366367"/>
                  <a:gd name="connsiteX448" fmla="*/ 546018 w 1830585"/>
                  <a:gd name="connsiteY448" fmla="*/ 544711 h 2366367"/>
                  <a:gd name="connsiteX449" fmla="*/ 644245 w 1830585"/>
                  <a:gd name="connsiteY449" fmla="*/ 544711 h 2366367"/>
                  <a:gd name="connsiteX450" fmla="*/ 537089 w 1830585"/>
                  <a:gd name="connsiteY450" fmla="*/ 642938 h 2366367"/>
                  <a:gd name="connsiteX451" fmla="*/ 438862 w 1830585"/>
                  <a:gd name="connsiteY451" fmla="*/ 642938 h 2366367"/>
                  <a:gd name="connsiteX452" fmla="*/ 438862 w 1830585"/>
                  <a:gd name="connsiteY452" fmla="*/ 544711 h 2366367"/>
                  <a:gd name="connsiteX453" fmla="*/ 537089 w 1830585"/>
                  <a:gd name="connsiteY453" fmla="*/ 544711 h 2366367"/>
                  <a:gd name="connsiteX454" fmla="*/ 537089 w 1830585"/>
                  <a:gd name="connsiteY454" fmla="*/ 642938 h 2366367"/>
                  <a:gd name="connsiteX455" fmla="*/ 537089 w 1830585"/>
                  <a:gd name="connsiteY455" fmla="*/ 651867 h 2366367"/>
                  <a:gd name="connsiteX456" fmla="*/ 537089 w 1830585"/>
                  <a:gd name="connsiteY456" fmla="*/ 750094 h 2366367"/>
                  <a:gd name="connsiteX457" fmla="*/ 438862 w 1830585"/>
                  <a:gd name="connsiteY457" fmla="*/ 750094 h 2366367"/>
                  <a:gd name="connsiteX458" fmla="*/ 438862 w 1830585"/>
                  <a:gd name="connsiteY458" fmla="*/ 651867 h 2366367"/>
                  <a:gd name="connsiteX459" fmla="*/ 537089 w 1830585"/>
                  <a:gd name="connsiteY459" fmla="*/ 651867 h 2366367"/>
                  <a:gd name="connsiteX460" fmla="*/ 537089 w 1830585"/>
                  <a:gd name="connsiteY460" fmla="*/ 759023 h 2366367"/>
                  <a:gd name="connsiteX461" fmla="*/ 537089 w 1830585"/>
                  <a:gd name="connsiteY461" fmla="*/ 857250 h 2366367"/>
                  <a:gd name="connsiteX462" fmla="*/ 438862 w 1830585"/>
                  <a:gd name="connsiteY462" fmla="*/ 857250 h 2366367"/>
                  <a:gd name="connsiteX463" fmla="*/ 438862 w 1830585"/>
                  <a:gd name="connsiteY463" fmla="*/ 759023 h 2366367"/>
                  <a:gd name="connsiteX464" fmla="*/ 537089 w 1830585"/>
                  <a:gd name="connsiteY464" fmla="*/ 759023 h 2366367"/>
                  <a:gd name="connsiteX465" fmla="*/ 537089 w 1830585"/>
                  <a:gd name="connsiteY465" fmla="*/ 866180 h 2366367"/>
                  <a:gd name="connsiteX466" fmla="*/ 537089 w 1830585"/>
                  <a:gd name="connsiteY466" fmla="*/ 964406 h 2366367"/>
                  <a:gd name="connsiteX467" fmla="*/ 438862 w 1830585"/>
                  <a:gd name="connsiteY467" fmla="*/ 964406 h 2366367"/>
                  <a:gd name="connsiteX468" fmla="*/ 438862 w 1830585"/>
                  <a:gd name="connsiteY468" fmla="*/ 866180 h 2366367"/>
                  <a:gd name="connsiteX469" fmla="*/ 537089 w 1830585"/>
                  <a:gd name="connsiteY469" fmla="*/ 866180 h 2366367"/>
                  <a:gd name="connsiteX470" fmla="*/ 537089 w 1830585"/>
                  <a:gd name="connsiteY470" fmla="*/ 973336 h 2366367"/>
                  <a:gd name="connsiteX471" fmla="*/ 537089 w 1830585"/>
                  <a:gd name="connsiteY471" fmla="*/ 1071563 h 2366367"/>
                  <a:gd name="connsiteX472" fmla="*/ 438862 w 1830585"/>
                  <a:gd name="connsiteY472" fmla="*/ 1071563 h 2366367"/>
                  <a:gd name="connsiteX473" fmla="*/ 438862 w 1830585"/>
                  <a:gd name="connsiteY473" fmla="*/ 973336 h 2366367"/>
                  <a:gd name="connsiteX474" fmla="*/ 537089 w 1830585"/>
                  <a:gd name="connsiteY474" fmla="*/ 973336 h 2366367"/>
                  <a:gd name="connsiteX475" fmla="*/ 537089 w 1830585"/>
                  <a:gd name="connsiteY475" fmla="*/ 1080492 h 2366367"/>
                  <a:gd name="connsiteX476" fmla="*/ 537089 w 1830585"/>
                  <a:gd name="connsiteY476" fmla="*/ 1178719 h 2366367"/>
                  <a:gd name="connsiteX477" fmla="*/ 438862 w 1830585"/>
                  <a:gd name="connsiteY477" fmla="*/ 1178719 h 2366367"/>
                  <a:gd name="connsiteX478" fmla="*/ 438862 w 1830585"/>
                  <a:gd name="connsiteY478" fmla="*/ 1080492 h 2366367"/>
                  <a:gd name="connsiteX479" fmla="*/ 537089 w 1830585"/>
                  <a:gd name="connsiteY479" fmla="*/ 1080492 h 2366367"/>
                  <a:gd name="connsiteX480" fmla="*/ 537089 w 1830585"/>
                  <a:gd name="connsiteY480" fmla="*/ 1187649 h 2366367"/>
                  <a:gd name="connsiteX481" fmla="*/ 537089 w 1830585"/>
                  <a:gd name="connsiteY481" fmla="*/ 1285875 h 2366367"/>
                  <a:gd name="connsiteX482" fmla="*/ 438862 w 1830585"/>
                  <a:gd name="connsiteY482" fmla="*/ 1285875 h 2366367"/>
                  <a:gd name="connsiteX483" fmla="*/ 438862 w 1830585"/>
                  <a:gd name="connsiteY483" fmla="*/ 1187649 h 2366367"/>
                  <a:gd name="connsiteX484" fmla="*/ 537089 w 1830585"/>
                  <a:gd name="connsiteY484" fmla="*/ 1187649 h 2366367"/>
                  <a:gd name="connsiteX485" fmla="*/ 537089 w 1830585"/>
                  <a:gd name="connsiteY485" fmla="*/ 1294805 h 2366367"/>
                  <a:gd name="connsiteX486" fmla="*/ 537089 w 1830585"/>
                  <a:gd name="connsiteY486" fmla="*/ 1393031 h 2366367"/>
                  <a:gd name="connsiteX487" fmla="*/ 438862 w 1830585"/>
                  <a:gd name="connsiteY487" fmla="*/ 1393031 h 2366367"/>
                  <a:gd name="connsiteX488" fmla="*/ 438862 w 1830585"/>
                  <a:gd name="connsiteY488" fmla="*/ 1294805 h 2366367"/>
                  <a:gd name="connsiteX489" fmla="*/ 537089 w 1830585"/>
                  <a:gd name="connsiteY489" fmla="*/ 1294805 h 2366367"/>
                  <a:gd name="connsiteX490" fmla="*/ 537089 w 1830585"/>
                  <a:gd name="connsiteY490" fmla="*/ 1401961 h 2366367"/>
                  <a:gd name="connsiteX491" fmla="*/ 537089 w 1830585"/>
                  <a:gd name="connsiteY491" fmla="*/ 1500188 h 2366367"/>
                  <a:gd name="connsiteX492" fmla="*/ 438862 w 1830585"/>
                  <a:gd name="connsiteY492" fmla="*/ 1500188 h 2366367"/>
                  <a:gd name="connsiteX493" fmla="*/ 438862 w 1830585"/>
                  <a:gd name="connsiteY493" fmla="*/ 1401961 h 2366367"/>
                  <a:gd name="connsiteX494" fmla="*/ 537089 w 1830585"/>
                  <a:gd name="connsiteY494" fmla="*/ 1401961 h 2366367"/>
                  <a:gd name="connsiteX495" fmla="*/ 537089 w 1830585"/>
                  <a:gd name="connsiteY495" fmla="*/ 1509117 h 2366367"/>
                  <a:gd name="connsiteX496" fmla="*/ 537089 w 1830585"/>
                  <a:gd name="connsiteY496" fmla="*/ 1607344 h 2366367"/>
                  <a:gd name="connsiteX497" fmla="*/ 438862 w 1830585"/>
                  <a:gd name="connsiteY497" fmla="*/ 1607344 h 2366367"/>
                  <a:gd name="connsiteX498" fmla="*/ 438862 w 1830585"/>
                  <a:gd name="connsiteY498" fmla="*/ 1509117 h 2366367"/>
                  <a:gd name="connsiteX499" fmla="*/ 537089 w 1830585"/>
                  <a:gd name="connsiteY499" fmla="*/ 1509117 h 2366367"/>
                  <a:gd name="connsiteX500" fmla="*/ 537089 w 1830585"/>
                  <a:gd name="connsiteY500" fmla="*/ 1616274 h 2366367"/>
                  <a:gd name="connsiteX501" fmla="*/ 537089 w 1830585"/>
                  <a:gd name="connsiteY501" fmla="*/ 1714500 h 2366367"/>
                  <a:gd name="connsiteX502" fmla="*/ 438862 w 1830585"/>
                  <a:gd name="connsiteY502" fmla="*/ 1714500 h 2366367"/>
                  <a:gd name="connsiteX503" fmla="*/ 438862 w 1830585"/>
                  <a:gd name="connsiteY503" fmla="*/ 1616274 h 2366367"/>
                  <a:gd name="connsiteX504" fmla="*/ 537089 w 1830585"/>
                  <a:gd name="connsiteY504" fmla="*/ 1616274 h 2366367"/>
                  <a:gd name="connsiteX505" fmla="*/ 537089 w 1830585"/>
                  <a:gd name="connsiteY505" fmla="*/ 1723430 h 2366367"/>
                  <a:gd name="connsiteX506" fmla="*/ 537089 w 1830585"/>
                  <a:gd name="connsiteY506" fmla="*/ 1821656 h 2366367"/>
                  <a:gd name="connsiteX507" fmla="*/ 438862 w 1830585"/>
                  <a:gd name="connsiteY507" fmla="*/ 1821656 h 2366367"/>
                  <a:gd name="connsiteX508" fmla="*/ 438862 w 1830585"/>
                  <a:gd name="connsiteY508" fmla="*/ 1723430 h 2366367"/>
                  <a:gd name="connsiteX509" fmla="*/ 537089 w 1830585"/>
                  <a:gd name="connsiteY509" fmla="*/ 1723430 h 2366367"/>
                  <a:gd name="connsiteX510" fmla="*/ 546018 w 1830585"/>
                  <a:gd name="connsiteY510" fmla="*/ 1723430 h 2366367"/>
                  <a:gd name="connsiteX511" fmla="*/ 644245 w 1830585"/>
                  <a:gd name="connsiteY511" fmla="*/ 1723430 h 2366367"/>
                  <a:gd name="connsiteX512" fmla="*/ 644245 w 1830585"/>
                  <a:gd name="connsiteY512" fmla="*/ 1821656 h 2366367"/>
                  <a:gd name="connsiteX513" fmla="*/ 546018 w 1830585"/>
                  <a:gd name="connsiteY513" fmla="*/ 1821656 h 2366367"/>
                  <a:gd name="connsiteX514" fmla="*/ 546018 w 1830585"/>
                  <a:gd name="connsiteY514" fmla="*/ 1723430 h 2366367"/>
                  <a:gd name="connsiteX515" fmla="*/ 644245 w 1830585"/>
                  <a:gd name="connsiteY515" fmla="*/ 1830586 h 2366367"/>
                  <a:gd name="connsiteX516" fmla="*/ 644245 w 1830585"/>
                  <a:gd name="connsiteY516" fmla="*/ 1928813 h 2366367"/>
                  <a:gd name="connsiteX517" fmla="*/ 546018 w 1830585"/>
                  <a:gd name="connsiteY517" fmla="*/ 1928813 h 2366367"/>
                  <a:gd name="connsiteX518" fmla="*/ 546018 w 1830585"/>
                  <a:gd name="connsiteY518" fmla="*/ 1830586 h 2366367"/>
                  <a:gd name="connsiteX519" fmla="*/ 644245 w 1830585"/>
                  <a:gd name="connsiteY519" fmla="*/ 1830586 h 2366367"/>
                  <a:gd name="connsiteX520" fmla="*/ 653175 w 1830585"/>
                  <a:gd name="connsiteY520" fmla="*/ 1830586 h 2366367"/>
                  <a:gd name="connsiteX521" fmla="*/ 751401 w 1830585"/>
                  <a:gd name="connsiteY521" fmla="*/ 1830586 h 2366367"/>
                  <a:gd name="connsiteX522" fmla="*/ 751401 w 1830585"/>
                  <a:gd name="connsiteY522" fmla="*/ 1928813 h 2366367"/>
                  <a:gd name="connsiteX523" fmla="*/ 653175 w 1830585"/>
                  <a:gd name="connsiteY523" fmla="*/ 1928813 h 2366367"/>
                  <a:gd name="connsiteX524" fmla="*/ 653175 w 1830585"/>
                  <a:gd name="connsiteY524" fmla="*/ 1830586 h 2366367"/>
                  <a:gd name="connsiteX525" fmla="*/ 760331 w 1830585"/>
                  <a:gd name="connsiteY525" fmla="*/ 1830586 h 2366367"/>
                  <a:gd name="connsiteX526" fmla="*/ 858557 w 1830585"/>
                  <a:gd name="connsiteY526" fmla="*/ 1830586 h 2366367"/>
                  <a:gd name="connsiteX527" fmla="*/ 858557 w 1830585"/>
                  <a:gd name="connsiteY527" fmla="*/ 1928813 h 2366367"/>
                  <a:gd name="connsiteX528" fmla="*/ 760331 w 1830585"/>
                  <a:gd name="connsiteY528" fmla="*/ 1928813 h 2366367"/>
                  <a:gd name="connsiteX529" fmla="*/ 760331 w 1830585"/>
                  <a:gd name="connsiteY529" fmla="*/ 1830586 h 2366367"/>
                  <a:gd name="connsiteX530" fmla="*/ 867487 w 1830585"/>
                  <a:gd name="connsiteY530" fmla="*/ 1830586 h 2366367"/>
                  <a:gd name="connsiteX531" fmla="*/ 965714 w 1830585"/>
                  <a:gd name="connsiteY531" fmla="*/ 1830586 h 2366367"/>
                  <a:gd name="connsiteX532" fmla="*/ 965714 w 1830585"/>
                  <a:gd name="connsiteY532" fmla="*/ 1928813 h 2366367"/>
                  <a:gd name="connsiteX533" fmla="*/ 867487 w 1830585"/>
                  <a:gd name="connsiteY533" fmla="*/ 1928813 h 2366367"/>
                  <a:gd name="connsiteX534" fmla="*/ 867487 w 1830585"/>
                  <a:gd name="connsiteY534" fmla="*/ 1830586 h 2366367"/>
                  <a:gd name="connsiteX535" fmla="*/ 974643 w 1830585"/>
                  <a:gd name="connsiteY535" fmla="*/ 1830586 h 2366367"/>
                  <a:gd name="connsiteX536" fmla="*/ 1072870 w 1830585"/>
                  <a:gd name="connsiteY536" fmla="*/ 1830586 h 2366367"/>
                  <a:gd name="connsiteX537" fmla="*/ 1072870 w 1830585"/>
                  <a:gd name="connsiteY537" fmla="*/ 1928813 h 2366367"/>
                  <a:gd name="connsiteX538" fmla="*/ 974643 w 1830585"/>
                  <a:gd name="connsiteY538" fmla="*/ 1928813 h 2366367"/>
                  <a:gd name="connsiteX539" fmla="*/ 974643 w 1830585"/>
                  <a:gd name="connsiteY539" fmla="*/ 1830586 h 2366367"/>
                  <a:gd name="connsiteX540" fmla="*/ 1081800 w 1830585"/>
                  <a:gd name="connsiteY540" fmla="*/ 1830586 h 2366367"/>
                  <a:gd name="connsiteX541" fmla="*/ 1180026 w 1830585"/>
                  <a:gd name="connsiteY541" fmla="*/ 1830586 h 2366367"/>
                  <a:gd name="connsiteX542" fmla="*/ 1180026 w 1830585"/>
                  <a:gd name="connsiteY542" fmla="*/ 1928813 h 2366367"/>
                  <a:gd name="connsiteX543" fmla="*/ 1081800 w 1830585"/>
                  <a:gd name="connsiteY543" fmla="*/ 1928813 h 2366367"/>
                  <a:gd name="connsiteX544" fmla="*/ 1081800 w 1830585"/>
                  <a:gd name="connsiteY544" fmla="*/ 1830586 h 2366367"/>
                  <a:gd name="connsiteX545" fmla="*/ 1188956 w 1830585"/>
                  <a:gd name="connsiteY545" fmla="*/ 1830586 h 2366367"/>
                  <a:gd name="connsiteX546" fmla="*/ 1287182 w 1830585"/>
                  <a:gd name="connsiteY546" fmla="*/ 1830586 h 2366367"/>
                  <a:gd name="connsiteX547" fmla="*/ 1287182 w 1830585"/>
                  <a:gd name="connsiteY547" fmla="*/ 1928813 h 2366367"/>
                  <a:gd name="connsiteX548" fmla="*/ 1188956 w 1830585"/>
                  <a:gd name="connsiteY548" fmla="*/ 1928813 h 2366367"/>
                  <a:gd name="connsiteX549" fmla="*/ 1188956 w 1830585"/>
                  <a:gd name="connsiteY549" fmla="*/ 1830586 h 2366367"/>
                  <a:gd name="connsiteX550" fmla="*/ 1188956 w 1830585"/>
                  <a:gd name="connsiteY550" fmla="*/ 1821656 h 2366367"/>
                  <a:gd name="connsiteX551" fmla="*/ 1188956 w 1830585"/>
                  <a:gd name="connsiteY551" fmla="*/ 1723430 h 2366367"/>
                  <a:gd name="connsiteX552" fmla="*/ 1287182 w 1830585"/>
                  <a:gd name="connsiteY552" fmla="*/ 1723430 h 2366367"/>
                  <a:gd name="connsiteX553" fmla="*/ 1287182 w 1830585"/>
                  <a:gd name="connsiteY553" fmla="*/ 1821656 h 2366367"/>
                  <a:gd name="connsiteX554" fmla="*/ 1188956 w 1830585"/>
                  <a:gd name="connsiteY554" fmla="*/ 1821656 h 2366367"/>
                  <a:gd name="connsiteX555" fmla="*/ 1296112 w 1830585"/>
                  <a:gd name="connsiteY555" fmla="*/ 1723430 h 2366367"/>
                  <a:gd name="connsiteX556" fmla="*/ 1394339 w 1830585"/>
                  <a:gd name="connsiteY556" fmla="*/ 1723430 h 2366367"/>
                  <a:gd name="connsiteX557" fmla="*/ 1394339 w 1830585"/>
                  <a:gd name="connsiteY557" fmla="*/ 1821656 h 2366367"/>
                  <a:gd name="connsiteX558" fmla="*/ 1296112 w 1830585"/>
                  <a:gd name="connsiteY558" fmla="*/ 1821656 h 2366367"/>
                  <a:gd name="connsiteX559" fmla="*/ 1296112 w 1830585"/>
                  <a:gd name="connsiteY559" fmla="*/ 1723430 h 2366367"/>
                  <a:gd name="connsiteX560" fmla="*/ 1296112 w 1830585"/>
                  <a:gd name="connsiteY560" fmla="*/ 1714500 h 2366367"/>
                  <a:gd name="connsiteX561" fmla="*/ 1296112 w 1830585"/>
                  <a:gd name="connsiteY561" fmla="*/ 1616274 h 2366367"/>
                  <a:gd name="connsiteX562" fmla="*/ 1394339 w 1830585"/>
                  <a:gd name="connsiteY562" fmla="*/ 1616274 h 2366367"/>
                  <a:gd name="connsiteX563" fmla="*/ 1394339 w 1830585"/>
                  <a:gd name="connsiteY563" fmla="*/ 1714500 h 2366367"/>
                  <a:gd name="connsiteX564" fmla="*/ 1296112 w 1830585"/>
                  <a:gd name="connsiteY564" fmla="*/ 1714500 h 2366367"/>
                  <a:gd name="connsiteX565" fmla="*/ 1296112 w 1830585"/>
                  <a:gd name="connsiteY565" fmla="*/ 1607344 h 2366367"/>
                  <a:gd name="connsiteX566" fmla="*/ 1296112 w 1830585"/>
                  <a:gd name="connsiteY566" fmla="*/ 1509117 h 2366367"/>
                  <a:gd name="connsiteX567" fmla="*/ 1394339 w 1830585"/>
                  <a:gd name="connsiteY567" fmla="*/ 1509117 h 2366367"/>
                  <a:gd name="connsiteX568" fmla="*/ 1394339 w 1830585"/>
                  <a:gd name="connsiteY568" fmla="*/ 1607344 h 2366367"/>
                  <a:gd name="connsiteX569" fmla="*/ 1296112 w 1830585"/>
                  <a:gd name="connsiteY569" fmla="*/ 1607344 h 2366367"/>
                  <a:gd name="connsiteX570" fmla="*/ 1296112 w 1830585"/>
                  <a:gd name="connsiteY570" fmla="*/ 1500188 h 2366367"/>
                  <a:gd name="connsiteX571" fmla="*/ 1296112 w 1830585"/>
                  <a:gd name="connsiteY571" fmla="*/ 1401961 h 2366367"/>
                  <a:gd name="connsiteX572" fmla="*/ 1394339 w 1830585"/>
                  <a:gd name="connsiteY572" fmla="*/ 1401961 h 2366367"/>
                  <a:gd name="connsiteX573" fmla="*/ 1394339 w 1830585"/>
                  <a:gd name="connsiteY573" fmla="*/ 1500188 h 2366367"/>
                  <a:gd name="connsiteX574" fmla="*/ 1296112 w 1830585"/>
                  <a:gd name="connsiteY574" fmla="*/ 1500188 h 2366367"/>
                  <a:gd name="connsiteX575" fmla="*/ 1296112 w 1830585"/>
                  <a:gd name="connsiteY575" fmla="*/ 1393031 h 2366367"/>
                  <a:gd name="connsiteX576" fmla="*/ 1296112 w 1830585"/>
                  <a:gd name="connsiteY576" fmla="*/ 1294805 h 2366367"/>
                  <a:gd name="connsiteX577" fmla="*/ 1394339 w 1830585"/>
                  <a:gd name="connsiteY577" fmla="*/ 1294805 h 2366367"/>
                  <a:gd name="connsiteX578" fmla="*/ 1394339 w 1830585"/>
                  <a:gd name="connsiteY578" fmla="*/ 1393031 h 2366367"/>
                  <a:gd name="connsiteX579" fmla="*/ 1296112 w 1830585"/>
                  <a:gd name="connsiteY579" fmla="*/ 1393031 h 2366367"/>
                  <a:gd name="connsiteX580" fmla="*/ 1296112 w 1830585"/>
                  <a:gd name="connsiteY580" fmla="*/ 1285875 h 2366367"/>
                  <a:gd name="connsiteX581" fmla="*/ 1296112 w 1830585"/>
                  <a:gd name="connsiteY581" fmla="*/ 1187649 h 2366367"/>
                  <a:gd name="connsiteX582" fmla="*/ 1394339 w 1830585"/>
                  <a:gd name="connsiteY582" fmla="*/ 1187649 h 2366367"/>
                  <a:gd name="connsiteX583" fmla="*/ 1394339 w 1830585"/>
                  <a:gd name="connsiteY583" fmla="*/ 1285875 h 2366367"/>
                  <a:gd name="connsiteX584" fmla="*/ 1296112 w 1830585"/>
                  <a:gd name="connsiteY584" fmla="*/ 1285875 h 2366367"/>
                  <a:gd name="connsiteX585" fmla="*/ 1296112 w 1830585"/>
                  <a:gd name="connsiteY585" fmla="*/ 1178719 h 2366367"/>
                  <a:gd name="connsiteX586" fmla="*/ 1296112 w 1830585"/>
                  <a:gd name="connsiteY586" fmla="*/ 1080492 h 2366367"/>
                  <a:gd name="connsiteX587" fmla="*/ 1394339 w 1830585"/>
                  <a:gd name="connsiteY587" fmla="*/ 1080492 h 2366367"/>
                  <a:gd name="connsiteX588" fmla="*/ 1394339 w 1830585"/>
                  <a:gd name="connsiteY588" fmla="*/ 1178719 h 2366367"/>
                  <a:gd name="connsiteX589" fmla="*/ 1296112 w 1830585"/>
                  <a:gd name="connsiteY589" fmla="*/ 1178719 h 2366367"/>
                  <a:gd name="connsiteX590" fmla="*/ 1296112 w 1830585"/>
                  <a:gd name="connsiteY590" fmla="*/ 1071563 h 2366367"/>
                  <a:gd name="connsiteX591" fmla="*/ 1296112 w 1830585"/>
                  <a:gd name="connsiteY591" fmla="*/ 973336 h 2366367"/>
                  <a:gd name="connsiteX592" fmla="*/ 1394339 w 1830585"/>
                  <a:gd name="connsiteY592" fmla="*/ 973336 h 2366367"/>
                  <a:gd name="connsiteX593" fmla="*/ 1394339 w 1830585"/>
                  <a:gd name="connsiteY593" fmla="*/ 1071563 h 2366367"/>
                  <a:gd name="connsiteX594" fmla="*/ 1296112 w 1830585"/>
                  <a:gd name="connsiteY594" fmla="*/ 1071563 h 2366367"/>
                  <a:gd name="connsiteX595" fmla="*/ 1296112 w 1830585"/>
                  <a:gd name="connsiteY595" fmla="*/ 964406 h 2366367"/>
                  <a:gd name="connsiteX596" fmla="*/ 1296112 w 1830585"/>
                  <a:gd name="connsiteY596" fmla="*/ 866180 h 2366367"/>
                  <a:gd name="connsiteX597" fmla="*/ 1394339 w 1830585"/>
                  <a:gd name="connsiteY597" fmla="*/ 866180 h 2366367"/>
                  <a:gd name="connsiteX598" fmla="*/ 1394339 w 1830585"/>
                  <a:gd name="connsiteY598" fmla="*/ 964406 h 2366367"/>
                  <a:gd name="connsiteX599" fmla="*/ 1296112 w 1830585"/>
                  <a:gd name="connsiteY599" fmla="*/ 964406 h 2366367"/>
                  <a:gd name="connsiteX600" fmla="*/ 1296112 w 1830585"/>
                  <a:gd name="connsiteY600" fmla="*/ 857250 h 2366367"/>
                  <a:gd name="connsiteX601" fmla="*/ 1296112 w 1830585"/>
                  <a:gd name="connsiteY601" fmla="*/ 759023 h 2366367"/>
                  <a:gd name="connsiteX602" fmla="*/ 1394339 w 1830585"/>
                  <a:gd name="connsiteY602" fmla="*/ 759023 h 2366367"/>
                  <a:gd name="connsiteX603" fmla="*/ 1394339 w 1830585"/>
                  <a:gd name="connsiteY603" fmla="*/ 857250 h 2366367"/>
                  <a:gd name="connsiteX604" fmla="*/ 1296112 w 1830585"/>
                  <a:gd name="connsiteY604" fmla="*/ 857250 h 2366367"/>
                  <a:gd name="connsiteX605" fmla="*/ 1296112 w 1830585"/>
                  <a:gd name="connsiteY605" fmla="*/ 750094 h 2366367"/>
                  <a:gd name="connsiteX606" fmla="*/ 1296112 w 1830585"/>
                  <a:gd name="connsiteY606" fmla="*/ 651867 h 2366367"/>
                  <a:gd name="connsiteX607" fmla="*/ 1394339 w 1830585"/>
                  <a:gd name="connsiteY607" fmla="*/ 651867 h 2366367"/>
                  <a:gd name="connsiteX608" fmla="*/ 1394339 w 1830585"/>
                  <a:gd name="connsiteY608" fmla="*/ 750094 h 2366367"/>
                  <a:gd name="connsiteX609" fmla="*/ 1296112 w 1830585"/>
                  <a:gd name="connsiteY609" fmla="*/ 750094 h 2366367"/>
                  <a:gd name="connsiteX610" fmla="*/ 1296112 w 1830585"/>
                  <a:gd name="connsiteY610" fmla="*/ 642938 h 2366367"/>
                  <a:gd name="connsiteX611" fmla="*/ 1296112 w 1830585"/>
                  <a:gd name="connsiteY611" fmla="*/ 544711 h 2366367"/>
                  <a:gd name="connsiteX612" fmla="*/ 1394339 w 1830585"/>
                  <a:gd name="connsiteY612" fmla="*/ 544711 h 2366367"/>
                  <a:gd name="connsiteX613" fmla="*/ 1394339 w 1830585"/>
                  <a:gd name="connsiteY613" fmla="*/ 642938 h 2366367"/>
                  <a:gd name="connsiteX614" fmla="*/ 1296112 w 1830585"/>
                  <a:gd name="connsiteY614" fmla="*/ 642938 h 2366367"/>
                  <a:gd name="connsiteX615" fmla="*/ 1296112 w 1830585"/>
                  <a:gd name="connsiteY615" fmla="*/ 535781 h 2366367"/>
                  <a:gd name="connsiteX616" fmla="*/ 1296112 w 1830585"/>
                  <a:gd name="connsiteY616" fmla="*/ 437555 h 2366367"/>
                  <a:gd name="connsiteX617" fmla="*/ 1394339 w 1830585"/>
                  <a:gd name="connsiteY617" fmla="*/ 437555 h 2366367"/>
                  <a:gd name="connsiteX618" fmla="*/ 1394339 w 1830585"/>
                  <a:gd name="connsiteY618" fmla="*/ 535781 h 2366367"/>
                  <a:gd name="connsiteX619" fmla="*/ 1296112 w 1830585"/>
                  <a:gd name="connsiteY619" fmla="*/ 535781 h 2366367"/>
                  <a:gd name="connsiteX620" fmla="*/ 1296112 w 1830585"/>
                  <a:gd name="connsiteY620" fmla="*/ 428625 h 2366367"/>
                  <a:gd name="connsiteX621" fmla="*/ 1296112 w 1830585"/>
                  <a:gd name="connsiteY621" fmla="*/ 330398 h 2366367"/>
                  <a:gd name="connsiteX622" fmla="*/ 1394339 w 1830585"/>
                  <a:gd name="connsiteY622" fmla="*/ 330398 h 2366367"/>
                  <a:gd name="connsiteX623" fmla="*/ 1394339 w 1830585"/>
                  <a:gd name="connsiteY623" fmla="*/ 428625 h 2366367"/>
                  <a:gd name="connsiteX624" fmla="*/ 1296112 w 1830585"/>
                  <a:gd name="connsiteY624" fmla="*/ 428625 h 2366367"/>
                  <a:gd name="connsiteX625" fmla="*/ 1287182 w 1830585"/>
                  <a:gd name="connsiteY625" fmla="*/ 428625 h 2366367"/>
                  <a:gd name="connsiteX626" fmla="*/ 1188956 w 1830585"/>
                  <a:gd name="connsiteY626" fmla="*/ 428625 h 2366367"/>
                  <a:gd name="connsiteX627" fmla="*/ 1188956 w 1830585"/>
                  <a:gd name="connsiteY627" fmla="*/ 330398 h 2366367"/>
                  <a:gd name="connsiteX628" fmla="*/ 1287182 w 1830585"/>
                  <a:gd name="connsiteY628" fmla="*/ 330398 h 2366367"/>
                  <a:gd name="connsiteX629" fmla="*/ 1287182 w 1830585"/>
                  <a:gd name="connsiteY629" fmla="*/ 428625 h 2366367"/>
                  <a:gd name="connsiteX630" fmla="*/ 1180026 w 1830585"/>
                  <a:gd name="connsiteY630" fmla="*/ 428625 h 2366367"/>
                  <a:gd name="connsiteX631" fmla="*/ 1081800 w 1830585"/>
                  <a:gd name="connsiteY631" fmla="*/ 428625 h 2366367"/>
                  <a:gd name="connsiteX632" fmla="*/ 1081800 w 1830585"/>
                  <a:gd name="connsiteY632" fmla="*/ 330398 h 2366367"/>
                  <a:gd name="connsiteX633" fmla="*/ 1180026 w 1830585"/>
                  <a:gd name="connsiteY633" fmla="*/ 330398 h 2366367"/>
                  <a:gd name="connsiteX634" fmla="*/ 1180026 w 1830585"/>
                  <a:gd name="connsiteY634" fmla="*/ 428625 h 2366367"/>
                  <a:gd name="connsiteX635" fmla="*/ 1072870 w 1830585"/>
                  <a:gd name="connsiteY635" fmla="*/ 428625 h 2366367"/>
                  <a:gd name="connsiteX636" fmla="*/ 974643 w 1830585"/>
                  <a:gd name="connsiteY636" fmla="*/ 428625 h 2366367"/>
                  <a:gd name="connsiteX637" fmla="*/ 974643 w 1830585"/>
                  <a:gd name="connsiteY637" fmla="*/ 330398 h 2366367"/>
                  <a:gd name="connsiteX638" fmla="*/ 1072870 w 1830585"/>
                  <a:gd name="connsiteY638" fmla="*/ 330398 h 2366367"/>
                  <a:gd name="connsiteX639" fmla="*/ 1072870 w 1830585"/>
                  <a:gd name="connsiteY639" fmla="*/ 428625 h 2366367"/>
                  <a:gd name="connsiteX640" fmla="*/ 965714 w 1830585"/>
                  <a:gd name="connsiteY640" fmla="*/ 428625 h 2366367"/>
                  <a:gd name="connsiteX641" fmla="*/ 867487 w 1830585"/>
                  <a:gd name="connsiteY641" fmla="*/ 428625 h 2366367"/>
                  <a:gd name="connsiteX642" fmla="*/ 867487 w 1830585"/>
                  <a:gd name="connsiteY642" fmla="*/ 330398 h 2366367"/>
                  <a:gd name="connsiteX643" fmla="*/ 965714 w 1830585"/>
                  <a:gd name="connsiteY643" fmla="*/ 330398 h 2366367"/>
                  <a:gd name="connsiteX644" fmla="*/ 965714 w 1830585"/>
                  <a:gd name="connsiteY644" fmla="*/ 428625 h 2366367"/>
                  <a:gd name="connsiteX645" fmla="*/ 858557 w 1830585"/>
                  <a:gd name="connsiteY645" fmla="*/ 428625 h 2366367"/>
                  <a:gd name="connsiteX646" fmla="*/ 760331 w 1830585"/>
                  <a:gd name="connsiteY646" fmla="*/ 428625 h 2366367"/>
                  <a:gd name="connsiteX647" fmla="*/ 760331 w 1830585"/>
                  <a:gd name="connsiteY647" fmla="*/ 330398 h 2366367"/>
                  <a:gd name="connsiteX648" fmla="*/ 858557 w 1830585"/>
                  <a:gd name="connsiteY648" fmla="*/ 330398 h 2366367"/>
                  <a:gd name="connsiteX649" fmla="*/ 858557 w 1830585"/>
                  <a:gd name="connsiteY649" fmla="*/ 428625 h 2366367"/>
                  <a:gd name="connsiteX650" fmla="*/ 751401 w 1830585"/>
                  <a:gd name="connsiteY650" fmla="*/ 428625 h 2366367"/>
                  <a:gd name="connsiteX651" fmla="*/ 653175 w 1830585"/>
                  <a:gd name="connsiteY651" fmla="*/ 428625 h 2366367"/>
                  <a:gd name="connsiteX652" fmla="*/ 653175 w 1830585"/>
                  <a:gd name="connsiteY652" fmla="*/ 330398 h 2366367"/>
                  <a:gd name="connsiteX653" fmla="*/ 751401 w 1830585"/>
                  <a:gd name="connsiteY653" fmla="*/ 330398 h 2366367"/>
                  <a:gd name="connsiteX654" fmla="*/ 751401 w 1830585"/>
                  <a:gd name="connsiteY654" fmla="*/ 428625 h 2366367"/>
                  <a:gd name="connsiteX655" fmla="*/ 644245 w 1830585"/>
                  <a:gd name="connsiteY655" fmla="*/ 428625 h 2366367"/>
                  <a:gd name="connsiteX656" fmla="*/ 546018 w 1830585"/>
                  <a:gd name="connsiteY656" fmla="*/ 428625 h 2366367"/>
                  <a:gd name="connsiteX657" fmla="*/ 546018 w 1830585"/>
                  <a:gd name="connsiteY657" fmla="*/ 330398 h 2366367"/>
                  <a:gd name="connsiteX658" fmla="*/ 644245 w 1830585"/>
                  <a:gd name="connsiteY658" fmla="*/ 330398 h 2366367"/>
                  <a:gd name="connsiteX659" fmla="*/ 644245 w 1830585"/>
                  <a:gd name="connsiteY659" fmla="*/ 428625 h 2366367"/>
                  <a:gd name="connsiteX660" fmla="*/ 537089 w 1830585"/>
                  <a:gd name="connsiteY660" fmla="*/ 428625 h 2366367"/>
                  <a:gd name="connsiteX661" fmla="*/ 438862 w 1830585"/>
                  <a:gd name="connsiteY661" fmla="*/ 428625 h 2366367"/>
                  <a:gd name="connsiteX662" fmla="*/ 438862 w 1830585"/>
                  <a:gd name="connsiteY662" fmla="*/ 330398 h 2366367"/>
                  <a:gd name="connsiteX663" fmla="*/ 537089 w 1830585"/>
                  <a:gd name="connsiteY663" fmla="*/ 330398 h 2366367"/>
                  <a:gd name="connsiteX664" fmla="*/ 537089 w 1830585"/>
                  <a:gd name="connsiteY664" fmla="*/ 428625 h 2366367"/>
                  <a:gd name="connsiteX665" fmla="*/ 537089 w 1830585"/>
                  <a:gd name="connsiteY665" fmla="*/ 437555 h 2366367"/>
                  <a:gd name="connsiteX666" fmla="*/ 537089 w 1830585"/>
                  <a:gd name="connsiteY666" fmla="*/ 535781 h 2366367"/>
                  <a:gd name="connsiteX667" fmla="*/ 438862 w 1830585"/>
                  <a:gd name="connsiteY667" fmla="*/ 535781 h 2366367"/>
                  <a:gd name="connsiteX668" fmla="*/ 438862 w 1830585"/>
                  <a:gd name="connsiteY668" fmla="*/ 437555 h 2366367"/>
                  <a:gd name="connsiteX669" fmla="*/ 537089 w 1830585"/>
                  <a:gd name="connsiteY669" fmla="*/ 437555 h 2366367"/>
                  <a:gd name="connsiteX670" fmla="*/ 429932 w 1830585"/>
                  <a:gd name="connsiteY670" fmla="*/ 535781 h 2366367"/>
                  <a:gd name="connsiteX671" fmla="*/ 331706 w 1830585"/>
                  <a:gd name="connsiteY671" fmla="*/ 535781 h 2366367"/>
                  <a:gd name="connsiteX672" fmla="*/ 331706 w 1830585"/>
                  <a:gd name="connsiteY672" fmla="*/ 437555 h 2366367"/>
                  <a:gd name="connsiteX673" fmla="*/ 429932 w 1830585"/>
                  <a:gd name="connsiteY673" fmla="*/ 437555 h 2366367"/>
                  <a:gd name="connsiteX674" fmla="*/ 429932 w 1830585"/>
                  <a:gd name="connsiteY674" fmla="*/ 535781 h 2366367"/>
                  <a:gd name="connsiteX675" fmla="*/ 429932 w 1830585"/>
                  <a:gd name="connsiteY675" fmla="*/ 544711 h 2366367"/>
                  <a:gd name="connsiteX676" fmla="*/ 429932 w 1830585"/>
                  <a:gd name="connsiteY676" fmla="*/ 642938 h 2366367"/>
                  <a:gd name="connsiteX677" fmla="*/ 331706 w 1830585"/>
                  <a:gd name="connsiteY677" fmla="*/ 642938 h 2366367"/>
                  <a:gd name="connsiteX678" fmla="*/ 331706 w 1830585"/>
                  <a:gd name="connsiteY678" fmla="*/ 544711 h 2366367"/>
                  <a:gd name="connsiteX679" fmla="*/ 429932 w 1830585"/>
                  <a:gd name="connsiteY679" fmla="*/ 544711 h 2366367"/>
                  <a:gd name="connsiteX680" fmla="*/ 429932 w 1830585"/>
                  <a:gd name="connsiteY680" fmla="*/ 651867 h 2366367"/>
                  <a:gd name="connsiteX681" fmla="*/ 429932 w 1830585"/>
                  <a:gd name="connsiteY681" fmla="*/ 750094 h 2366367"/>
                  <a:gd name="connsiteX682" fmla="*/ 331706 w 1830585"/>
                  <a:gd name="connsiteY682" fmla="*/ 750094 h 2366367"/>
                  <a:gd name="connsiteX683" fmla="*/ 331706 w 1830585"/>
                  <a:gd name="connsiteY683" fmla="*/ 651867 h 2366367"/>
                  <a:gd name="connsiteX684" fmla="*/ 429932 w 1830585"/>
                  <a:gd name="connsiteY684" fmla="*/ 651867 h 2366367"/>
                  <a:gd name="connsiteX685" fmla="*/ 429932 w 1830585"/>
                  <a:gd name="connsiteY685" fmla="*/ 759023 h 2366367"/>
                  <a:gd name="connsiteX686" fmla="*/ 429932 w 1830585"/>
                  <a:gd name="connsiteY686" fmla="*/ 857250 h 2366367"/>
                  <a:gd name="connsiteX687" fmla="*/ 331706 w 1830585"/>
                  <a:gd name="connsiteY687" fmla="*/ 857250 h 2366367"/>
                  <a:gd name="connsiteX688" fmla="*/ 331706 w 1830585"/>
                  <a:gd name="connsiteY688" fmla="*/ 759023 h 2366367"/>
                  <a:gd name="connsiteX689" fmla="*/ 429932 w 1830585"/>
                  <a:gd name="connsiteY689" fmla="*/ 759023 h 2366367"/>
                  <a:gd name="connsiteX690" fmla="*/ 429932 w 1830585"/>
                  <a:gd name="connsiteY690" fmla="*/ 866180 h 2366367"/>
                  <a:gd name="connsiteX691" fmla="*/ 429932 w 1830585"/>
                  <a:gd name="connsiteY691" fmla="*/ 964406 h 2366367"/>
                  <a:gd name="connsiteX692" fmla="*/ 331706 w 1830585"/>
                  <a:gd name="connsiteY692" fmla="*/ 964406 h 2366367"/>
                  <a:gd name="connsiteX693" fmla="*/ 331706 w 1830585"/>
                  <a:gd name="connsiteY693" fmla="*/ 866180 h 2366367"/>
                  <a:gd name="connsiteX694" fmla="*/ 429932 w 1830585"/>
                  <a:gd name="connsiteY694" fmla="*/ 866180 h 2366367"/>
                  <a:gd name="connsiteX695" fmla="*/ 429932 w 1830585"/>
                  <a:gd name="connsiteY695" fmla="*/ 973336 h 2366367"/>
                  <a:gd name="connsiteX696" fmla="*/ 429932 w 1830585"/>
                  <a:gd name="connsiteY696" fmla="*/ 1071563 h 2366367"/>
                  <a:gd name="connsiteX697" fmla="*/ 331706 w 1830585"/>
                  <a:gd name="connsiteY697" fmla="*/ 1071563 h 2366367"/>
                  <a:gd name="connsiteX698" fmla="*/ 331706 w 1830585"/>
                  <a:gd name="connsiteY698" fmla="*/ 973336 h 2366367"/>
                  <a:gd name="connsiteX699" fmla="*/ 429932 w 1830585"/>
                  <a:gd name="connsiteY699" fmla="*/ 973336 h 2366367"/>
                  <a:gd name="connsiteX700" fmla="*/ 429932 w 1830585"/>
                  <a:gd name="connsiteY700" fmla="*/ 1080492 h 2366367"/>
                  <a:gd name="connsiteX701" fmla="*/ 429932 w 1830585"/>
                  <a:gd name="connsiteY701" fmla="*/ 1178719 h 2366367"/>
                  <a:gd name="connsiteX702" fmla="*/ 331706 w 1830585"/>
                  <a:gd name="connsiteY702" fmla="*/ 1178719 h 2366367"/>
                  <a:gd name="connsiteX703" fmla="*/ 331706 w 1830585"/>
                  <a:gd name="connsiteY703" fmla="*/ 1080492 h 2366367"/>
                  <a:gd name="connsiteX704" fmla="*/ 429932 w 1830585"/>
                  <a:gd name="connsiteY704" fmla="*/ 1080492 h 2366367"/>
                  <a:gd name="connsiteX705" fmla="*/ 429932 w 1830585"/>
                  <a:gd name="connsiteY705" fmla="*/ 1187649 h 2366367"/>
                  <a:gd name="connsiteX706" fmla="*/ 429932 w 1830585"/>
                  <a:gd name="connsiteY706" fmla="*/ 1285875 h 2366367"/>
                  <a:gd name="connsiteX707" fmla="*/ 331706 w 1830585"/>
                  <a:gd name="connsiteY707" fmla="*/ 1285875 h 2366367"/>
                  <a:gd name="connsiteX708" fmla="*/ 331706 w 1830585"/>
                  <a:gd name="connsiteY708" fmla="*/ 1187649 h 2366367"/>
                  <a:gd name="connsiteX709" fmla="*/ 429932 w 1830585"/>
                  <a:gd name="connsiteY709" fmla="*/ 1187649 h 2366367"/>
                  <a:gd name="connsiteX710" fmla="*/ 429932 w 1830585"/>
                  <a:gd name="connsiteY710" fmla="*/ 1294805 h 2366367"/>
                  <a:gd name="connsiteX711" fmla="*/ 429932 w 1830585"/>
                  <a:gd name="connsiteY711" fmla="*/ 1393031 h 2366367"/>
                  <a:gd name="connsiteX712" fmla="*/ 331706 w 1830585"/>
                  <a:gd name="connsiteY712" fmla="*/ 1393031 h 2366367"/>
                  <a:gd name="connsiteX713" fmla="*/ 331706 w 1830585"/>
                  <a:gd name="connsiteY713" fmla="*/ 1294805 h 2366367"/>
                  <a:gd name="connsiteX714" fmla="*/ 429932 w 1830585"/>
                  <a:gd name="connsiteY714" fmla="*/ 1294805 h 2366367"/>
                  <a:gd name="connsiteX715" fmla="*/ 429932 w 1830585"/>
                  <a:gd name="connsiteY715" fmla="*/ 1401961 h 2366367"/>
                  <a:gd name="connsiteX716" fmla="*/ 429932 w 1830585"/>
                  <a:gd name="connsiteY716" fmla="*/ 1500188 h 2366367"/>
                  <a:gd name="connsiteX717" fmla="*/ 331706 w 1830585"/>
                  <a:gd name="connsiteY717" fmla="*/ 1500188 h 2366367"/>
                  <a:gd name="connsiteX718" fmla="*/ 331706 w 1830585"/>
                  <a:gd name="connsiteY718" fmla="*/ 1401961 h 2366367"/>
                  <a:gd name="connsiteX719" fmla="*/ 429932 w 1830585"/>
                  <a:gd name="connsiteY719" fmla="*/ 1401961 h 2366367"/>
                  <a:gd name="connsiteX720" fmla="*/ 429932 w 1830585"/>
                  <a:gd name="connsiteY720" fmla="*/ 1509117 h 2366367"/>
                  <a:gd name="connsiteX721" fmla="*/ 429932 w 1830585"/>
                  <a:gd name="connsiteY721" fmla="*/ 1607344 h 2366367"/>
                  <a:gd name="connsiteX722" fmla="*/ 331706 w 1830585"/>
                  <a:gd name="connsiteY722" fmla="*/ 1607344 h 2366367"/>
                  <a:gd name="connsiteX723" fmla="*/ 331706 w 1830585"/>
                  <a:gd name="connsiteY723" fmla="*/ 1509117 h 2366367"/>
                  <a:gd name="connsiteX724" fmla="*/ 429932 w 1830585"/>
                  <a:gd name="connsiteY724" fmla="*/ 1509117 h 2366367"/>
                  <a:gd name="connsiteX725" fmla="*/ 429932 w 1830585"/>
                  <a:gd name="connsiteY725" fmla="*/ 1616274 h 2366367"/>
                  <a:gd name="connsiteX726" fmla="*/ 429932 w 1830585"/>
                  <a:gd name="connsiteY726" fmla="*/ 1714500 h 2366367"/>
                  <a:gd name="connsiteX727" fmla="*/ 331706 w 1830585"/>
                  <a:gd name="connsiteY727" fmla="*/ 1714500 h 2366367"/>
                  <a:gd name="connsiteX728" fmla="*/ 331706 w 1830585"/>
                  <a:gd name="connsiteY728" fmla="*/ 1616274 h 2366367"/>
                  <a:gd name="connsiteX729" fmla="*/ 429932 w 1830585"/>
                  <a:gd name="connsiteY729" fmla="*/ 1616274 h 2366367"/>
                  <a:gd name="connsiteX730" fmla="*/ 429932 w 1830585"/>
                  <a:gd name="connsiteY730" fmla="*/ 1723430 h 2366367"/>
                  <a:gd name="connsiteX731" fmla="*/ 429932 w 1830585"/>
                  <a:gd name="connsiteY731" fmla="*/ 1821656 h 2366367"/>
                  <a:gd name="connsiteX732" fmla="*/ 331706 w 1830585"/>
                  <a:gd name="connsiteY732" fmla="*/ 1821656 h 2366367"/>
                  <a:gd name="connsiteX733" fmla="*/ 331706 w 1830585"/>
                  <a:gd name="connsiteY733" fmla="*/ 1723430 h 2366367"/>
                  <a:gd name="connsiteX734" fmla="*/ 429932 w 1830585"/>
                  <a:gd name="connsiteY734" fmla="*/ 1723430 h 2366367"/>
                  <a:gd name="connsiteX735" fmla="*/ 429932 w 1830585"/>
                  <a:gd name="connsiteY735" fmla="*/ 1830586 h 2366367"/>
                  <a:gd name="connsiteX736" fmla="*/ 429932 w 1830585"/>
                  <a:gd name="connsiteY736" fmla="*/ 1928813 h 2366367"/>
                  <a:gd name="connsiteX737" fmla="*/ 331706 w 1830585"/>
                  <a:gd name="connsiteY737" fmla="*/ 1928813 h 2366367"/>
                  <a:gd name="connsiteX738" fmla="*/ 331706 w 1830585"/>
                  <a:gd name="connsiteY738" fmla="*/ 1830586 h 2366367"/>
                  <a:gd name="connsiteX739" fmla="*/ 429932 w 1830585"/>
                  <a:gd name="connsiteY739" fmla="*/ 1830586 h 2366367"/>
                  <a:gd name="connsiteX740" fmla="*/ 438862 w 1830585"/>
                  <a:gd name="connsiteY740" fmla="*/ 1830586 h 2366367"/>
                  <a:gd name="connsiteX741" fmla="*/ 537089 w 1830585"/>
                  <a:gd name="connsiteY741" fmla="*/ 1830586 h 2366367"/>
                  <a:gd name="connsiteX742" fmla="*/ 537089 w 1830585"/>
                  <a:gd name="connsiteY742" fmla="*/ 1928813 h 2366367"/>
                  <a:gd name="connsiteX743" fmla="*/ 438862 w 1830585"/>
                  <a:gd name="connsiteY743" fmla="*/ 1928813 h 2366367"/>
                  <a:gd name="connsiteX744" fmla="*/ 438862 w 1830585"/>
                  <a:gd name="connsiteY744" fmla="*/ 1830586 h 2366367"/>
                  <a:gd name="connsiteX745" fmla="*/ 537089 w 1830585"/>
                  <a:gd name="connsiteY745" fmla="*/ 1937742 h 2366367"/>
                  <a:gd name="connsiteX746" fmla="*/ 537089 w 1830585"/>
                  <a:gd name="connsiteY746" fmla="*/ 2035969 h 2366367"/>
                  <a:gd name="connsiteX747" fmla="*/ 438862 w 1830585"/>
                  <a:gd name="connsiteY747" fmla="*/ 2035969 h 2366367"/>
                  <a:gd name="connsiteX748" fmla="*/ 438862 w 1830585"/>
                  <a:gd name="connsiteY748" fmla="*/ 1937742 h 2366367"/>
                  <a:gd name="connsiteX749" fmla="*/ 537089 w 1830585"/>
                  <a:gd name="connsiteY749" fmla="*/ 1937742 h 2366367"/>
                  <a:gd name="connsiteX750" fmla="*/ 546018 w 1830585"/>
                  <a:gd name="connsiteY750" fmla="*/ 1937742 h 2366367"/>
                  <a:gd name="connsiteX751" fmla="*/ 644245 w 1830585"/>
                  <a:gd name="connsiteY751" fmla="*/ 1937742 h 2366367"/>
                  <a:gd name="connsiteX752" fmla="*/ 644245 w 1830585"/>
                  <a:gd name="connsiteY752" fmla="*/ 2035969 h 2366367"/>
                  <a:gd name="connsiteX753" fmla="*/ 546018 w 1830585"/>
                  <a:gd name="connsiteY753" fmla="*/ 2035969 h 2366367"/>
                  <a:gd name="connsiteX754" fmla="*/ 546018 w 1830585"/>
                  <a:gd name="connsiteY754" fmla="*/ 1937742 h 2366367"/>
                  <a:gd name="connsiteX755" fmla="*/ 653175 w 1830585"/>
                  <a:gd name="connsiteY755" fmla="*/ 1937742 h 2366367"/>
                  <a:gd name="connsiteX756" fmla="*/ 751401 w 1830585"/>
                  <a:gd name="connsiteY756" fmla="*/ 1937742 h 2366367"/>
                  <a:gd name="connsiteX757" fmla="*/ 751401 w 1830585"/>
                  <a:gd name="connsiteY757" fmla="*/ 2035969 h 2366367"/>
                  <a:gd name="connsiteX758" fmla="*/ 653175 w 1830585"/>
                  <a:gd name="connsiteY758" fmla="*/ 2035969 h 2366367"/>
                  <a:gd name="connsiteX759" fmla="*/ 653175 w 1830585"/>
                  <a:gd name="connsiteY759" fmla="*/ 1937742 h 2366367"/>
                  <a:gd name="connsiteX760" fmla="*/ 760331 w 1830585"/>
                  <a:gd name="connsiteY760" fmla="*/ 1937742 h 2366367"/>
                  <a:gd name="connsiteX761" fmla="*/ 858557 w 1830585"/>
                  <a:gd name="connsiteY761" fmla="*/ 1937742 h 2366367"/>
                  <a:gd name="connsiteX762" fmla="*/ 858557 w 1830585"/>
                  <a:gd name="connsiteY762" fmla="*/ 2035969 h 2366367"/>
                  <a:gd name="connsiteX763" fmla="*/ 760331 w 1830585"/>
                  <a:gd name="connsiteY763" fmla="*/ 2035969 h 2366367"/>
                  <a:gd name="connsiteX764" fmla="*/ 760331 w 1830585"/>
                  <a:gd name="connsiteY764" fmla="*/ 1937742 h 2366367"/>
                  <a:gd name="connsiteX765" fmla="*/ 867487 w 1830585"/>
                  <a:gd name="connsiteY765" fmla="*/ 1937742 h 2366367"/>
                  <a:gd name="connsiteX766" fmla="*/ 965714 w 1830585"/>
                  <a:gd name="connsiteY766" fmla="*/ 1937742 h 2366367"/>
                  <a:gd name="connsiteX767" fmla="*/ 965714 w 1830585"/>
                  <a:gd name="connsiteY767" fmla="*/ 2035969 h 2366367"/>
                  <a:gd name="connsiteX768" fmla="*/ 867487 w 1830585"/>
                  <a:gd name="connsiteY768" fmla="*/ 2035969 h 2366367"/>
                  <a:gd name="connsiteX769" fmla="*/ 867487 w 1830585"/>
                  <a:gd name="connsiteY769" fmla="*/ 1937742 h 2366367"/>
                  <a:gd name="connsiteX770" fmla="*/ 974643 w 1830585"/>
                  <a:gd name="connsiteY770" fmla="*/ 1937742 h 2366367"/>
                  <a:gd name="connsiteX771" fmla="*/ 1072870 w 1830585"/>
                  <a:gd name="connsiteY771" fmla="*/ 1937742 h 2366367"/>
                  <a:gd name="connsiteX772" fmla="*/ 1072870 w 1830585"/>
                  <a:gd name="connsiteY772" fmla="*/ 2035969 h 2366367"/>
                  <a:gd name="connsiteX773" fmla="*/ 974643 w 1830585"/>
                  <a:gd name="connsiteY773" fmla="*/ 2035969 h 2366367"/>
                  <a:gd name="connsiteX774" fmla="*/ 974643 w 1830585"/>
                  <a:gd name="connsiteY774" fmla="*/ 1937742 h 2366367"/>
                  <a:gd name="connsiteX775" fmla="*/ 1081800 w 1830585"/>
                  <a:gd name="connsiteY775" fmla="*/ 1937742 h 2366367"/>
                  <a:gd name="connsiteX776" fmla="*/ 1180026 w 1830585"/>
                  <a:gd name="connsiteY776" fmla="*/ 1937742 h 2366367"/>
                  <a:gd name="connsiteX777" fmla="*/ 1180026 w 1830585"/>
                  <a:gd name="connsiteY777" fmla="*/ 2035969 h 2366367"/>
                  <a:gd name="connsiteX778" fmla="*/ 1081800 w 1830585"/>
                  <a:gd name="connsiteY778" fmla="*/ 2035969 h 2366367"/>
                  <a:gd name="connsiteX779" fmla="*/ 1081800 w 1830585"/>
                  <a:gd name="connsiteY779" fmla="*/ 1937742 h 2366367"/>
                  <a:gd name="connsiteX780" fmla="*/ 1188956 w 1830585"/>
                  <a:gd name="connsiteY780" fmla="*/ 1937742 h 2366367"/>
                  <a:gd name="connsiteX781" fmla="*/ 1287182 w 1830585"/>
                  <a:gd name="connsiteY781" fmla="*/ 1937742 h 2366367"/>
                  <a:gd name="connsiteX782" fmla="*/ 1287182 w 1830585"/>
                  <a:gd name="connsiteY782" fmla="*/ 2035969 h 2366367"/>
                  <a:gd name="connsiteX783" fmla="*/ 1188956 w 1830585"/>
                  <a:gd name="connsiteY783" fmla="*/ 2035969 h 2366367"/>
                  <a:gd name="connsiteX784" fmla="*/ 1188956 w 1830585"/>
                  <a:gd name="connsiteY784" fmla="*/ 1937742 h 2366367"/>
                  <a:gd name="connsiteX785" fmla="*/ 1296112 w 1830585"/>
                  <a:gd name="connsiteY785" fmla="*/ 1937742 h 2366367"/>
                  <a:gd name="connsiteX786" fmla="*/ 1394339 w 1830585"/>
                  <a:gd name="connsiteY786" fmla="*/ 1937742 h 2366367"/>
                  <a:gd name="connsiteX787" fmla="*/ 1394339 w 1830585"/>
                  <a:gd name="connsiteY787" fmla="*/ 2035969 h 2366367"/>
                  <a:gd name="connsiteX788" fmla="*/ 1296112 w 1830585"/>
                  <a:gd name="connsiteY788" fmla="*/ 2035969 h 2366367"/>
                  <a:gd name="connsiteX789" fmla="*/ 1296112 w 1830585"/>
                  <a:gd name="connsiteY789" fmla="*/ 1937742 h 2366367"/>
                  <a:gd name="connsiteX790" fmla="*/ 1296112 w 1830585"/>
                  <a:gd name="connsiteY790" fmla="*/ 1928813 h 2366367"/>
                  <a:gd name="connsiteX791" fmla="*/ 1296112 w 1830585"/>
                  <a:gd name="connsiteY791" fmla="*/ 1830586 h 2366367"/>
                  <a:gd name="connsiteX792" fmla="*/ 1394339 w 1830585"/>
                  <a:gd name="connsiteY792" fmla="*/ 1830586 h 2366367"/>
                  <a:gd name="connsiteX793" fmla="*/ 1394339 w 1830585"/>
                  <a:gd name="connsiteY793" fmla="*/ 1928813 h 2366367"/>
                  <a:gd name="connsiteX794" fmla="*/ 1296112 w 1830585"/>
                  <a:gd name="connsiteY794" fmla="*/ 1928813 h 2366367"/>
                  <a:gd name="connsiteX795" fmla="*/ 1403268 w 1830585"/>
                  <a:gd name="connsiteY795" fmla="*/ 1830586 h 2366367"/>
                  <a:gd name="connsiteX796" fmla="*/ 1501495 w 1830585"/>
                  <a:gd name="connsiteY796" fmla="*/ 1830586 h 2366367"/>
                  <a:gd name="connsiteX797" fmla="*/ 1501495 w 1830585"/>
                  <a:gd name="connsiteY797" fmla="*/ 1928813 h 2366367"/>
                  <a:gd name="connsiteX798" fmla="*/ 1403268 w 1830585"/>
                  <a:gd name="connsiteY798" fmla="*/ 1928813 h 2366367"/>
                  <a:gd name="connsiteX799" fmla="*/ 1403268 w 1830585"/>
                  <a:gd name="connsiteY799" fmla="*/ 1830586 h 2366367"/>
                  <a:gd name="connsiteX800" fmla="*/ 1403268 w 1830585"/>
                  <a:gd name="connsiteY800" fmla="*/ 1821656 h 2366367"/>
                  <a:gd name="connsiteX801" fmla="*/ 1403268 w 1830585"/>
                  <a:gd name="connsiteY801" fmla="*/ 1723430 h 2366367"/>
                  <a:gd name="connsiteX802" fmla="*/ 1501495 w 1830585"/>
                  <a:gd name="connsiteY802" fmla="*/ 1723430 h 2366367"/>
                  <a:gd name="connsiteX803" fmla="*/ 1501495 w 1830585"/>
                  <a:gd name="connsiteY803" fmla="*/ 1821656 h 2366367"/>
                  <a:gd name="connsiteX804" fmla="*/ 1403268 w 1830585"/>
                  <a:gd name="connsiteY804" fmla="*/ 1821656 h 2366367"/>
                  <a:gd name="connsiteX805" fmla="*/ 1403268 w 1830585"/>
                  <a:gd name="connsiteY805" fmla="*/ 1714500 h 2366367"/>
                  <a:gd name="connsiteX806" fmla="*/ 1403268 w 1830585"/>
                  <a:gd name="connsiteY806" fmla="*/ 1616274 h 2366367"/>
                  <a:gd name="connsiteX807" fmla="*/ 1501495 w 1830585"/>
                  <a:gd name="connsiteY807" fmla="*/ 1616274 h 2366367"/>
                  <a:gd name="connsiteX808" fmla="*/ 1501495 w 1830585"/>
                  <a:gd name="connsiteY808" fmla="*/ 1714500 h 2366367"/>
                  <a:gd name="connsiteX809" fmla="*/ 1403268 w 1830585"/>
                  <a:gd name="connsiteY809" fmla="*/ 1714500 h 2366367"/>
                  <a:gd name="connsiteX810" fmla="*/ 1403268 w 1830585"/>
                  <a:gd name="connsiteY810" fmla="*/ 1607344 h 2366367"/>
                  <a:gd name="connsiteX811" fmla="*/ 1403268 w 1830585"/>
                  <a:gd name="connsiteY811" fmla="*/ 1509117 h 2366367"/>
                  <a:gd name="connsiteX812" fmla="*/ 1501495 w 1830585"/>
                  <a:gd name="connsiteY812" fmla="*/ 1509117 h 2366367"/>
                  <a:gd name="connsiteX813" fmla="*/ 1501495 w 1830585"/>
                  <a:gd name="connsiteY813" fmla="*/ 1607344 h 2366367"/>
                  <a:gd name="connsiteX814" fmla="*/ 1403268 w 1830585"/>
                  <a:gd name="connsiteY814" fmla="*/ 1607344 h 2366367"/>
                  <a:gd name="connsiteX815" fmla="*/ 1403268 w 1830585"/>
                  <a:gd name="connsiteY815" fmla="*/ 1500188 h 2366367"/>
                  <a:gd name="connsiteX816" fmla="*/ 1403268 w 1830585"/>
                  <a:gd name="connsiteY816" fmla="*/ 1401961 h 2366367"/>
                  <a:gd name="connsiteX817" fmla="*/ 1501495 w 1830585"/>
                  <a:gd name="connsiteY817" fmla="*/ 1401961 h 2366367"/>
                  <a:gd name="connsiteX818" fmla="*/ 1501495 w 1830585"/>
                  <a:gd name="connsiteY818" fmla="*/ 1500188 h 2366367"/>
                  <a:gd name="connsiteX819" fmla="*/ 1403268 w 1830585"/>
                  <a:gd name="connsiteY819" fmla="*/ 1500188 h 2366367"/>
                  <a:gd name="connsiteX820" fmla="*/ 1403268 w 1830585"/>
                  <a:gd name="connsiteY820" fmla="*/ 1393031 h 2366367"/>
                  <a:gd name="connsiteX821" fmla="*/ 1403268 w 1830585"/>
                  <a:gd name="connsiteY821" fmla="*/ 1294805 h 2366367"/>
                  <a:gd name="connsiteX822" fmla="*/ 1501495 w 1830585"/>
                  <a:gd name="connsiteY822" fmla="*/ 1294805 h 2366367"/>
                  <a:gd name="connsiteX823" fmla="*/ 1501495 w 1830585"/>
                  <a:gd name="connsiteY823" fmla="*/ 1393031 h 2366367"/>
                  <a:gd name="connsiteX824" fmla="*/ 1403268 w 1830585"/>
                  <a:gd name="connsiteY824" fmla="*/ 1393031 h 2366367"/>
                  <a:gd name="connsiteX825" fmla="*/ 1403268 w 1830585"/>
                  <a:gd name="connsiteY825" fmla="*/ 1285875 h 2366367"/>
                  <a:gd name="connsiteX826" fmla="*/ 1403268 w 1830585"/>
                  <a:gd name="connsiteY826" fmla="*/ 1187649 h 2366367"/>
                  <a:gd name="connsiteX827" fmla="*/ 1501495 w 1830585"/>
                  <a:gd name="connsiteY827" fmla="*/ 1187649 h 2366367"/>
                  <a:gd name="connsiteX828" fmla="*/ 1501495 w 1830585"/>
                  <a:gd name="connsiteY828" fmla="*/ 1285875 h 2366367"/>
                  <a:gd name="connsiteX829" fmla="*/ 1403268 w 1830585"/>
                  <a:gd name="connsiteY829" fmla="*/ 1285875 h 2366367"/>
                  <a:gd name="connsiteX830" fmla="*/ 1403268 w 1830585"/>
                  <a:gd name="connsiteY830" fmla="*/ 1178719 h 2366367"/>
                  <a:gd name="connsiteX831" fmla="*/ 1403268 w 1830585"/>
                  <a:gd name="connsiteY831" fmla="*/ 1080492 h 2366367"/>
                  <a:gd name="connsiteX832" fmla="*/ 1501495 w 1830585"/>
                  <a:gd name="connsiteY832" fmla="*/ 1080492 h 2366367"/>
                  <a:gd name="connsiteX833" fmla="*/ 1501495 w 1830585"/>
                  <a:gd name="connsiteY833" fmla="*/ 1178719 h 2366367"/>
                  <a:gd name="connsiteX834" fmla="*/ 1403268 w 1830585"/>
                  <a:gd name="connsiteY834" fmla="*/ 1178719 h 2366367"/>
                  <a:gd name="connsiteX835" fmla="*/ 1403268 w 1830585"/>
                  <a:gd name="connsiteY835" fmla="*/ 1071563 h 2366367"/>
                  <a:gd name="connsiteX836" fmla="*/ 1403268 w 1830585"/>
                  <a:gd name="connsiteY836" fmla="*/ 973336 h 2366367"/>
                  <a:gd name="connsiteX837" fmla="*/ 1501495 w 1830585"/>
                  <a:gd name="connsiteY837" fmla="*/ 973336 h 2366367"/>
                  <a:gd name="connsiteX838" fmla="*/ 1501495 w 1830585"/>
                  <a:gd name="connsiteY838" fmla="*/ 1071563 h 2366367"/>
                  <a:gd name="connsiteX839" fmla="*/ 1403268 w 1830585"/>
                  <a:gd name="connsiteY839" fmla="*/ 1071563 h 2366367"/>
                  <a:gd name="connsiteX840" fmla="*/ 1403268 w 1830585"/>
                  <a:gd name="connsiteY840" fmla="*/ 964406 h 2366367"/>
                  <a:gd name="connsiteX841" fmla="*/ 1403268 w 1830585"/>
                  <a:gd name="connsiteY841" fmla="*/ 866180 h 2366367"/>
                  <a:gd name="connsiteX842" fmla="*/ 1501495 w 1830585"/>
                  <a:gd name="connsiteY842" fmla="*/ 866180 h 2366367"/>
                  <a:gd name="connsiteX843" fmla="*/ 1501495 w 1830585"/>
                  <a:gd name="connsiteY843" fmla="*/ 964406 h 2366367"/>
                  <a:gd name="connsiteX844" fmla="*/ 1403268 w 1830585"/>
                  <a:gd name="connsiteY844" fmla="*/ 964406 h 2366367"/>
                  <a:gd name="connsiteX845" fmla="*/ 1403268 w 1830585"/>
                  <a:gd name="connsiteY845" fmla="*/ 857250 h 2366367"/>
                  <a:gd name="connsiteX846" fmla="*/ 1403268 w 1830585"/>
                  <a:gd name="connsiteY846" fmla="*/ 759023 h 2366367"/>
                  <a:gd name="connsiteX847" fmla="*/ 1501495 w 1830585"/>
                  <a:gd name="connsiteY847" fmla="*/ 759023 h 2366367"/>
                  <a:gd name="connsiteX848" fmla="*/ 1501495 w 1830585"/>
                  <a:gd name="connsiteY848" fmla="*/ 857250 h 2366367"/>
                  <a:gd name="connsiteX849" fmla="*/ 1403268 w 1830585"/>
                  <a:gd name="connsiteY849" fmla="*/ 857250 h 2366367"/>
                  <a:gd name="connsiteX850" fmla="*/ 1403268 w 1830585"/>
                  <a:gd name="connsiteY850" fmla="*/ 750094 h 2366367"/>
                  <a:gd name="connsiteX851" fmla="*/ 1403268 w 1830585"/>
                  <a:gd name="connsiteY851" fmla="*/ 651867 h 2366367"/>
                  <a:gd name="connsiteX852" fmla="*/ 1501495 w 1830585"/>
                  <a:gd name="connsiteY852" fmla="*/ 651867 h 2366367"/>
                  <a:gd name="connsiteX853" fmla="*/ 1501495 w 1830585"/>
                  <a:gd name="connsiteY853" fmla="*/ 750094 h 2366367"/>
                  <a:gd name="connsiteX854" fmla="*/ 1403268 w 1830585"/>
                  <a:gd name="connsiteY854" fmla="*/ 750094 h 2366367"/>
                  <a:gd name="connsiteX855" fmla="*/ 1403268 w 1830585"/>
                  <a:gd name="connsiteY855" fmla="*/ 642938 h 2366367"/>
                  <a:gd name="connsiteX856" fmla="*/ 1403268 w 1830585"/>
                  <a:gd name="connsiteY856" fmla="*/ 544711 h 2366367"/>
                  <a:gd name="connsiteX857" fmla="*/ 1501495 w 1830585"/>
                  <a:gd name="connsiteY857" fmla="*/ 544711 h 2366367"/>
                  <a:gd name="connsiteX858" fmla="*/ 1501495 w 1830585"/>
                  <a:gd name="connsiteY858" fmla="*/ 642938 h 2366367"/>
                  <a:gd name="connsiteX859" fmla="*/ 1403268 w 1830585"/>
                  <a:gd name="connsiteY859" fmla="*/ 642938 h 2366367"/>
                  <a:gd name="connsiteX860" fmla="*/ 1403268 w 1830585"/>
                  <a:gd name="connsiteY860" fmla="*/ 535781 h 2366367"/>
                  <a:gd name="connsiteX861" fmla="*/ 1403268 w 1830585"/>
                  <a:gd name="connsiteY861" fmla="*/ 437555 h 2366367"/>
                  <a:gd name="connsiteX862" fmla="*/ 1501495 w 1830585"/>
                  <a:gd name="connsiteY862" fmla="*/ 437555 h 2366367"/>
                  <a:gd name="connsiteX863" fmla="*/ 1501495 w 1830585"/>
                  <a:gd name="connsiteY863" fmla="*/ 535781 h 2366367"/>
                  <a:gd name="connsiteX864" fmla="*/ 1403268 w 1830585"/>
                  <a:gd name="connsiteY864" fmla="*/ 535781 h 2366367"/>
                  <a:gd name="connsiteX865" fmla="*/ 1403268 w 1830585"/>
                  <a:gd name="connsiteY865" fmla="*/ 428625 h 2366367"/>
                  <a:gd name="connsiteX866" fmla="*/ 1403268 w 1830585"/>
                  <a:gd name="connsiteY866" fmla="*/ 330398 h 2366367"/>
                  <a:gd name="connsiteX867" fmla="*/ 1501495 w 1830585"/>
                  <a:gd name="connsiteY867" fmla="*/ 330398 h 2366367"/>
                  <a:gd name="connsiteX868" fmla="*/ 1501495 w 1830585"/>
                  <a:gd name="connsiteY868" fmla="*/ 428625 h 2366367"/>
                  <a:gd name="connsiteX869" fmla="*/ 1403268 w 1830585"/>
                  <a:gd name="connsiteY869" fmla="*/ 428625 h 2366367"/>
                  <a:gd name="connsiteX870" fmla="*/ 1403268 w 1830585"/>
                  <a:gd name="connsiteY870" fmla="*/ 321469 h 2366367"/>
                  <a:gd name="connsiteX871" fmla="*/ 1403268 w 1830585"/>
                  <a:gd name="connsiteY871" fmla="*/ 223242 h 2366367"/>
                  <a:gd name="connsiteX872" fmla="*/ 1501495 w 1830585"/>
                  <a:gd name="connsiteY872" fmla="*/ 223242 h 2366367"/>
                  <a:gd name="connsiteX873" fmla="*/ 1501495 w 1830585"/>
                  <a:gd name="connsiteY873" fmla="*/ 321469 h 2366367"/>
                  <a:gd name="connsiteX874" fmla="*/ 1403268 w 1830585"/>
                  <a:gd name="connsiteY874" fmla="*/ 321469 h 2366367"/>
                  <a:gd name="connsiteX875" fmla="*/ 1394339 w 1830585"/>
                  <a:gd name="connsiteY875" fmla="*/ 321469 h 2366367"/>
                  <a:gd name="connsiteX876" fmla="*/ 1296112 w 1830585"/>
                  <a:gd name="connsiteY876" fmla="*/ 321469 h 2366367"/>
                  <a:gd name="connsiteX877" fmla="*/ 1296112 w 1830585"/>
                  <a:gd name="connsiteY877" fmla="*/ 223242 h 2366367"/>
                  <a:gd name="connsiteX878" fmla="*/ 1394339 w 1830585"/>
                  <a:gd name="connsiteY878" fmla="*/ 223242 h 2366367"/>
                  <a:gd name="connsiteX879" fmla="*/ 1394339 w 1830585"/>
                  <a:gd name="connsiteY879" fmla="*/ 321469 h 2366367"/>
                  <a:gd name="connsiteX880" fmla="*/ 1287182 w 1830585"/>
                  <a:gd name="connsiteY880" fmla="*/ 321469 h 2366367"/>
                  <a:gd name="connsiteX881" fmla="*/ 1188956 w 1830585"/>
                  <a:gd name="connsiteY881" fmla="*/ 321469 h 2366367"/>
                  <a:gd name="connsiteX882" fmla="*/ 1188956 w 1830585"/>
                  <a:gd name="connsiteY882" fmla="*/ 223242 h 2366367"/>
                  <a:gd name="connsiteX883" fmla="*/ 1287182 w 1830585"/>
                  <a:gd name="connsiteY883" fmla="*/ 223242 h 2366367"/>
                  <a:gd name="connsiteX884" fmla="*/ 1287182 w 1830585"/>
                  <a:gd name="connsiteY884" fmla="*/ 321469 h 2366367"/>
                  <a:gd name="connsiteX885" fmla="*/ 1180026 w 1830585"/>
                  <a:gd name="connsiteY885" fmla="*/ 321469 h 2366367"/>
                  <a:gd name="connsiteX886" fmla="*/ 1081800 w 1830585"/>
                  <a:gd name="connsiteY886" fmla="*/ 321469 h 2366367"/>
                  <a:gd name="connsiteX887" fmla="*/ 1081800 w 1830585"/>
                  <a:gd name="connsiteY887" fmla="*/ 223242 h 2366367"/>
                  <a:gd name="connsiteX888" fmla="*/ 1180026 w 1830585"/>
                  <a:gd name="connsiteY888" fmla="*/ 223242 h 2366367"/>
                  <a:gd name="connsiteX889" fmla="*/ 1180026 w 1830585"/>
                  <a:gd name="connsiteY889" fmla="*/ 321469 h 2366367"/>
                  <a:gd name="connsiteX890" fmla="*/ 1072870 w 1830585"/>
                  <a:gd name="connsiteY890" fmla="*/ 321469 h 2366367"/>
                  <a:gd name="connsiteX891" fmla="*/ 974643 w 1830585"/>
                  <a:gd name="connsiteY891" fmla="*/ 321469 h 2366367"/>
                  <a:gd name="connsiteX892" fmla="*/ 974643 w 1830585"/>
                  <a:gd name="connsiteY892" fmla="*/ 223242 h 2366367"/>
                  <a:gd name="connsiteX893" fmla="*/ 1072870 w 1830585"/>
                  <a:gd name="connsiteY893" fmla="*/ 223242 h 2366367"/>
                  <a:gd name="connsiteX894" fmla="*/ 1072870 w 1830585"/>
                  <a:gd name="connsiteY894" fmla="*/ 321469 h 2366367"/>
                  <a:gd name="connsiteX895" fmla="*/ 965714 w 1830585"/>
                  <a:gd name="connsiteY895" fmla="*/ 321469 h 2366367"/>
                  <a:gd name="connsiteX896" fmla="*/ 867487 w 1830585"/>
                  <a:gd name="connsiteY896" fmla="*/ 321469 h 2366367"/>
                  <a:gd name="connsiteX897" fmla="*/ 867487 w 1830585"/>
                  <a:gd name="connsiteY897" fmla="*/ 223242 h 2366367"/>
                  <a:gd name="connsiteX898" fmla="*/ 965714 w 1830585"/>
                  <a:gd name="connsiteY898" fmla="*/ 223242 h 2366367"/>
                  <a:gd name="connsiteX899" fmla="*/ 965714 w 1830585"/>
                  <a:gd name="connsiteY899" fmla="*/ 321469 h 2366367"/>
                  <a:gd name="connsiteX900" fmla="*/ 858557 w 1830585"/>
                  <a:gd name="connsiteY900" fmla="*/ 321469 h 2366367"/>
                  <a:gd name="connsiteX901" fmla="*/ 760331 w 1830585"/>
                  <a:gd name="connsiteY901" fmla="*/ 321469 h 2366367"/>
                  <a:gd name="connsiteX902" fmla="*/ 760331 w 1830585"/>
                  <a:gd name="connsiteY902" fmla="*/ 223242 h 2366367"/>
                  <a:gd name="connsiteX903" fmla="*/ 858557 w 1830585"/>
                  <a:gd name="connsiteY903" fmla="*/ 223242 h 2366367"/>
                  <a:gd name="connsiteX904" fmla="*/ 858557 w 1830585"/>
                  <a:gd name="connsiteY904" fmla="*/ 321469 h 2366367"/>
                  <a:gd name="connsiteX905" fmla="*/ 751401 w 1830585"/>
                  <a:gd name="connsiteY905" fmla="*/ 321469 h 2366367"/>
                  <a:gd name="connsiteX906" fmla="*/ 653175 w 1830585"/>
                  <a:gd name="connsiteY906" fmla="*/ 321469 h 2366367"/>
                  <a:gd name="connsiteX907" fmla="*/ 653175 w 1830585"/>
                  <a:gd name="connsiteY907" fmla="*/ 223242 h 2366367"/>
                  <a:gd name="connsiteX908" fmla="*/ 751401 w 1830585"/>
                  <a:gd name="connsiteY908" fmla="*/ 223242 h 2366367"/>
                  <a:gd name="connsiteX909" fmla="*/ 751401 w 1830585"/>
                  <a:gd name="connsiteY909" fmla="*/ 321469 h 2366367"/>
                  <a:gd name="connsiteX910" fmla="*/ 644245 w 1830585"/>
                  <a:gd name="connsiteY910" fmla="*/ 321469 h 2366367"/>
                  <a:gd name="connsiteX911" fmla="*/ 546018 w 1830585"/>
                  <a:gd name="connsiteY911" fmla="*/ 321469 h 2366367"/>
                  <a:gd name="connsiteX912" fmla="*/ 546018 w 1830585"/>
                  <a:gd name="connsiteY912" fmla="*/ 223242 h 2366367"/>
                  <a:gd name="connsiteX913" fmla="*/ 644245 w 1830585"/>
                  <a:gd name="connsiteY913" fmla="*/ 223242 h 2366367"/>
                  <a:gd name="connsiteX914" fmla="*/ 644245 w 1830585"/>
                  <a:gd name="connsiteY914" fmla="*/ 321469 h 2366367"/>
                  <a:gd name="connsiteX915" fmla="*/ 537089 w 1830585"/>
                  <a:gd name="connsiteY915" fmla="*/ 321469 h 2366367"/>
                  <a:gd name="connsiteX916" fmla="*/ 438862 w 1830585"/>
                  <a:gd name="connsiteY916" fmla="*/ 321469 h 2366367"/>
                  <a:gd name="connsiteX917" fmla="*/ 438862 w 1830585"/>
                  <a:gd name="connsiteY917" fmla="*/ 223242 h 2366367"/>
                  <a:gd name="connsiteX918" fmla="*/ 537089 w 1830585"/>
                  <a:gd name="connsiteY918" fmla="*/ 223242 h 2366367"/>
                  <a:gd name="connsiteX919" fmla="*/ 537089 w 1830585"/>
                  <a:gd name="connsiteY919" fmla="*/ 321469 h 2366367"/>
                  <a:gd name="connsiteX920" fmla="*/ 429932 w 1830585"/>
                  <a:gd name="connsiteY920" fmla="*/ 321469 h 2366367"/>
                  <a:gd name="connsiteX921" fmla="*/ 331706 w 1830585"/>
                  <a:gd name="connsiteY921" fmla="*/ 321469 h 2366367"/>
                  <a:gd name="connsiteX922" fmla="*/ 331706 w 1830585"/>
                  <a:gd name="connsiteY922" fmla="*/ 223242 h 2366367"/>
                  <a:gd name="connsiteX923" fmla="*/ 429932 w 1830585"/>
                  <a:gd name="connsiteY923" fmla="*/ 223242 h 2366367"/>
                  <a:gd name="connsiteX924" fmla="*/ 429932 w 1830585"/>
                  <a:gd name="connsiteY924" fmla="*/ 321469 h 2366367"/>
                  <a:gd name="connsiteX925" fmla="*/ 429932 w 1830585"/>
                  <a:gd name="connsiteY925" fmla="*/ 330398 h 2366367"/>
                  <a:gd name="connsiteX926" fmla="*/ 429932 w 1830585"/>
                  <a:gd name="connsiteY926" fmla="*/ 428625 h 2366367"/>
                  <a:gd name="connsiteX927" fmla="*/ 331706 w 1830585"/>
                  <a:gd name="connsiteY927" fmla="*/ 428625 h 2366367"/>
                  <a:gd name="connsiteX928" fmla="*/ 331706 w 1830585"/>
                  <a:gd name="connsiteY928" fmla="*/ 330398 h 2366367"/>
                  <a:gd name="connsiteX929" fmla="*/ 429932 w 1830585"/>
                  <a:gd name="connsiteY929" fmla="*/ 330398 h 2366367"/>
                  <a:gd name="connsiteX930" fmla="*/ 322776 w 1830585"/>
                  <a:gd name="connsiteY930" fmla="*/ 428625 h 2366367"/>
                  <a:gd name="connsiteX931" fmla="*/ 224549 w 1830585"/>
                  <a:gd name="connsiteY931" fmla="*/ 428625 h 2366367"/>
                  <a:gd name="connsiteX932" fmla="*/ 224549 w 1830585"/>
                  <a:gd name="connsiteY932" fmla="*/ 330398 h 2366367"/>
                  <a:gd name="connsiteX933" fmla="*/ 322776 w 1830585"/>
                  <a:gd name="connsiteY933" fmla="*/ 330398 h 2366367"/>
                  <a:gd name="connsiteX934" fmla="*/ 322776 w 1830585"/>
                  <a:gd name="connsiteY934" fmla="*/ 428625 h 2366367"/>
                  <a:gd name="connsiteX935" fmla="*/ 322776 w 1830585"/>
                  <a:gd name="connsiteY935" fmla="*/ 437555 h 2366367"/>
                  <a:gd name="connsiteX936" fmla="*/ 322776 w 1830585"/>
                  <a:gd name="connsiteY936" fmla="*/ 535781 h 2366367"/>
                  <a:gd name="connsiteX937" fmla="*/ 224549 w 1830585"/>
                  <a:gd name="connsiteY937" fmla="*/ 535781 h 2366367"/>
                  <a:gd name="connsiteX938" fmla="*/ 224549 w 1830585"/>
                  <a:gd name="connsiteY938" fmla="*/ 437555 h 2366367"/>
                  <a:gd name="connsiteX939" fmla="*/ 322776 w 1830585"/>
                  <a:gd name="connsiteY939" fmla="*/ 437555 h 2366367"/>
                  <a:gd name="connsiteX940" fmla="*/ 322776 w 1830585"/>
                  <a:gd name="connsiteY940" fmla="*/ 544711 h 2366367"/>
                  <a:gd name="connsiteX941" fmla="*/ 322776 w 1830585"/>
                  <a:gd name="connsiteY941" fmla="*/ 642938 h 2366367"/>
                  <a:gd name="connsiteX942" fmla="*/ 224549 w 1830585"/>
                  <a:gd name="connsiteY942" fmla="*/ 642938 h 2366367"/>
                  <a:gd name="connsiteX943" fmla="*/ 224549 w 1830585"/>
                  <a:gd name="connsiteY943" fmla="*/ 544711 h 2366367"/>
                  <a:gd name="connsiteX944" fmla="*/ 322776 w 1830585"/>
                  <a:gd name="connsiteY944" fmla="*/ 544711 h 2366367"/>
                  <a:gd name="connsiteX945" fmla="*/ 322776 w 1830585"/>
                  <a:gd name="connsiteY945" fmla="*/ 651867 h 2366367"/>
                  <a:gd name="connsiteX946" fmla="*/ 322776 w 1830585"/>
                  <a:gd name="connsiteY946" fmla="*/ 750094 h 2366367"/>
                  <a:gd name="connsiteX947" fmla="*/ 224549 w 1830585"/>
                  <a:gd name="connsiteY947" fmla="*/ 750094 h 2366367"/>
                  <a:gd name="connsiteX948" fmla="*/ 224549 w 1830585"/>
                  <a:gd name="connsiteY948" fmla="*/ 651867 h 2366367"/>
                  <a:gd name="connsiteX949" fmla="*/ 322776 w 1830585"/>
                  <a:gd name="connsiteY949" fmla="*/ 651867 h 2366367"/>
                  <a:gd name="connsiteX950" fmla="*/ 322776 w 1830585"/>
                  <a:gd name="connsiteY950" fmla="*/ 759023 h 2366367"/>
                  <a:gd name="connsiteX951" fmla="*/ 322776 w 1830585"/>
                  <a:gd name="connsiteY951" fmla="*/ 857250 h 2366367"/>
                  <a:gd name="connsiteX952" fmla="*/ 224549 w 1830585"/>
                  <a:gd name="connsiteY952" fmla="*/ 857250 h 2366367"/>
                  <a:gd name="connsiteX953" fmla="*/ 224549 w 1830585"/>
                  <a:gd name="connsiteY953" fmla="*/ 759023 h 2366367"/>
                  <a:gd name="connsiteX954" fmla="*/ 322776 w 1830585"/>
                  <a:gd name="connsiteY954" fmla="*/ 759023 h 2366367"/>
                  <a:gd name="connsiteX955" fmla="*/ 322776 w 1830585"/>
                  <a:gd name="connsiteY955" fmla="*/ 866180 h 2366367"/>
                  <a:gd name="connsiteX956" fmla="*/ 322776 w 1830585"/>
                  <a:gd name="connsiteY956" fmla="*/ 964406 h 2366367"/>
                  <a:gd name="connsiteX957" fmla="*/ 224549 w 1830585"/>
                  <a:gd name="connsiteY957" fmla="*/ 964406 h 2366367"/>
                  <a:gd name="connsiteX958" fmla="*/ 224549 w 1830585"/>
                  <a:gd name="connsiteY958" fmla="*/ 866180 h 2366367"/>
                  <a:gd name="connsiteX959" fmla="*/ 322776 w 1830585"/>
                  <a:gd name="connsiteY959" fmla="*/ 866180 h 2366367"/>
                  <a:gd name="connsiteX960" fmla="*/ 322776 w 1830585"/>
                  <a:gd name="connsiteY960" fmla="*/ 973336 h 2366367"/>
                  <a:gd name="connsiteX961" fmla="*/ 322776 w 1830585"/>
                  <a:gd name="connsiteY961" fmla="*/ 1071563 h 2366367"/>
                  <a:gd name="connsiteX962" fmla="*/ 224549 w 1830585"/>
                  <a:gd name="connsiteY962" fmla="*/ 1071563 h 2366367"/>
                  <a:gd name="connsiteX963" fmla="*/ 224549 w 1830585"/>
                  <a:gd name="connsiteY963" fmla="*/ 973336 h 2366367"/>
                  <a:gd name="connsiteX964" fmla="*/ 322776 w 1830585"/>
                  <a:gd name="connsiteY964" fmla="*/ 973336 h 2366367"/>
                  <a:gd name="connsiteX965" fmla="*/ 322776 w 1830585"/>
                  <a:gd name="connsiteY965" fmla="*/ 1080492 h 2366367"/>
                  <a:gd name="connsiteX966" fmla="*/ 322776 w 1830585"/>
                  <a:gd name="connsiteY966" fmla="*/ 1178719 h 2366367"/>
                  <a:gd name="connsiteX967" fmla="*/ 224549 w 1830585"/>
                  <a:gd name="connsiteY967" fmla="*/ 1178719 h 2366367"/>
                  <a:gd name="connsiteX968" fmla="*/ 224549 w 1830585"/>
                  <a:gd name="connsiteY968" fmla="*/ 1080492 h 2366367"/>
                  <a:gd name="connsiteX969" fmla="*/ 322776 w 1830585"/>
                  <a:gd name="connsiteY969" fmla="*/ 1080492 h 2366367"/>
                  <a:gd name="connsiteX970" fmla="*/ 322776 w 1830585"/>
                  <a:gd name="connsiteY970" fmla="*/ 1187649 h 2366367"/>
                  <a:gd name="connsiteX971" fmla="*/ 322776 w 1830585"/>
                  <a:gd name="connsiteY971" fmla="*/ 1285875 h 2366367"/>
                  <a:gd name="connsiteX972" fmla="*/ 224549 w 1830585"/>
                  <a:gd name="connsiteY972" fmla="*/ 1285875 h 2366367"/>
                  <a:gd name="connsiteX973" fmla="*/ 224549 w 1830585"/>
                  <a:gd name="connsiteY973" fmla="*/ 1187649 h 2366367"/>
                  <a:gd name="connsiteX974" fmla="*/ 322776 w 1830585"/>
                  <a:gd name="connsiteY974" fmla="*/ 1187649 h 2366367"/>
                  <a:gd name="connsiteX975" fmla="*/ 322776 w 1830585"/>
                  <a:gd name="connsiteY975" fmla="*/ 1294805 h 2366367"/>
                  <a:gd name="connsiteX976" fmla="*/ 322776 w 1830585"/>
                  <a:gd name="connsiteY976" fmla="*/ 1393031 h 2366367"/>
                  <a:gd name="connsiteX977" fmla="*/ 224549 w 1830585"/>
                  <a:gd name="connsiteY977" fmla="*/ 1393031 h 2366367"/>
                  <a:gd name="connsiteX978" fmla="*/ 224549 w 1830585"/>
                  <a:gd name="connsiteY978" fmla="*/ 1294805 h 2366367"/>
                  <a:gd name="connsiteX979" fmla="*/ 322776 w 1830585"/>
                  <a:gd name="connsiteY979" fmla="*/ 1294805 h 2366367"/>
                  <a:gd name="connsiteX980" fmla="*/ 322776 w 1830585"/>
                  <a:gd name="connsiteY980" fmla="*/ 1401961 h 2366367"/>
                  <a:gd name="connsiteX981" fmla="*/ 322776 w 1830585"/>
                  <a:gd name="connsiteY981" fmla="*/ 1500188 h 2366367"/>
                  <a:gd name="connsiteX982" fmla="*/ 224549 w 1830585"/>
                  <a:gd name="connsiteY982" fmla="*/ 1500188 h 2366367"/>
                  <a:gd name="connsiteX983" fmla="*/ 224549 w 1830585"/>
                  <a:gd name="connsiteY983" fmla="*/ 1401961 h 2366367"/>
                  <a:gd name="connsiteX984" fmla="*/ 322776 w 1830585"/>
                  <a:gd name="connsiteY984" fmla="*/ 1401961 h 2366367"/>
                  <a:gd name="connsiteX985" fmla="*/ 322776 w 1830585"/>
                  <a:gd name="connsiteY985" fmla="*/ 1509117 h 2366367"/>
                  <a:gd name="connsiteX986" fmla="*/ 322776 w 1830585"/>
                  <a:gd name="connsiteY986" fmla="*/ 1607344 h 2366367"/>
                  <a:gd name="connsiteX987" fmla="*/ 224549 w 1830585"/>
                  <a:gd name="connsiteY987" fmla="*/ 1607344 h 2366367"/>
                  <a:gd name="connsiteX988" fmla="*/ 224549 w 1830585"/>
                  <a:gd name="connsiteY988" fmla="*/ 1509117 h 2366367"/>
                  <a:gd name="connsiteX989" fmla="*/ 322776 w 1830585"/>
                  <a:gd name="connsiteY989" fmla="*/ 1509117 h 2366367"/>
                  <a:gd name="connsiteX990" fmla="*/ 322776 w 1830585"/>
                  <a:gd name="connsiteY990" fmla="*/ 1616274 h 2366367"/>
                  <a:gd name="connsiteX991" fmla="*/ 322776 w 1830585"/>
                  <a:gd name="connsiteY991" fmla="*/ 1714500 h 2366367"/>
                  <a:gd name="connsiteX992" fmla="*/ 224549 w 1830585"/>
                  <a:gd name="connsiteY992" fmla="*/ 1714500 h 2366367"/>
                  <a:gd name="connsiteX993" fmla="*/ 224549 w 1830585"/>
                  <a:gd name="connsiteY993" fmla="*/ 1616274 h 2366367"/>
                  <a:gd name="connsiteX994" fmla="*/ 322776 w 1830585"/>
                  <a:gd name="connsiteY994" fmla="*/ 1616274 h 2366367"/>
                  <a:gd name="connsiteX995" fmla="*/ 322776 w 1830585"/>
                  <a:gd name="connsiteY995" fmla="*/ 1723430 h 2366367"/>
                  <a:gd name="connsiteX996" fmla="*/ 322776 w 1830585"/>
                  <a:gd name="connsiteY996" fmla="*/ 1821656 h 2366367"/>
                  <a:gd name="connsiteX997" fmla="*/ 224549 w 1830585"/>
                  <a:gd name="connsiteY997" fmla="*/ 1821656 h 2366367"/>
                  <a:gd name="connsiteX998" fmla="*/ 224549 w 1830585"/>
                  <a:gd name="connsiteY998" fmla="*/ 1723430 h 2366367"/>
                  <a:gd name="connsiteX999" fmla="*/ 322776 w 1830585"/>
                  <a:gd name="connsiteY999" fmla="*/ 1723430 h 2366367"/>
                  <a:gd name="connsiteX1000" fmla="*/ 322776 w 1830585"/>
                  <a:gd name="connsiteY1000" fmla="*/ 1830586 h 2366367"/>
                  <a:gd name="connsiteX1001" fmla="*/ 322776 w 1830585"/>
                  <a:gd name="connsiteY1001" fmla="*/ 1928813 h 2366367"/>
                  <a:gd name="connsiteX1002" fmla="*/ 224549 w 1830585"/>
                  <a:gd name="connsiteY1002" fmla="*/ 1928813 h 2366367"/>
                  <a:gd name="connsiteX1003" fmla="*/ 224549 w 1830585"/>
                  <a:gd name="connsiteY1003" fmla="*/ 1830586 h 2366367"/>
                  <a:gd name="connsiteX1004" fmla="*/ 322776 w 1830585"/>
                  <a:gd name="connsiteY1004" fmla="*/ 1830586 h 2366367"/>
                  <a:gd name="connsiteX1005" fmla="*/ 322776 w 1830585"/>
                  <a:gd name="connsiteY1005" fmla="*/ 1937742 h 2366367"/>
                  <a:gd name="connsiteX1006" fmla="*/ 322776 w 1830585"/>
                  <a:gd name="connsiteY1006" fmla="*/ 2035969 h 2366367"/>
                  <a:gd name="connsiteX1007" fmla="*/ 224549 w 1830585"/>
                  <a:gd name="connsiteY1007" fmla="*/ 2035969 h 2366367"/>
                  <a:gd name="connsiteX1008" fmla="*/ 224549 w 1830585"/>
                  <a:gd name="connsiteY1008" fmla="*/ 1937742 h 2366367"/>
                  <a:gd name="connsiteX1009" fmla="*/ 322776 w 1830585"/>
                  <a:gd name="connsiteY1009" fmla="*/ 1937742 h 2366367"/>
                  <a:gd name="connsiteX1010" fmla="*/ 331706 w 1830585"/>
                  <a:gd name="connsiteY1010" fmla="*/ 1937742 h 2366367"/>
                  <a:gd name="connsiteX1011" fmla="*/ 429932 w 1830585"/>
                  <a:gd name="connsiteY1011" fmla="*/ 1937742 h 2366367"/>
                  <a:gd name="connsiteX1012" fmla="*/ 429932 w 1830585"/>
                  <a:gd name="connsiteY1012" fmla="*/ 2035969 h 2366367"/>
                  <a:gd name="connsiteX1013" fmla="*/ 331706 w 1830585"/>
                  <a:gd name="connsiteY1013" fmla="*/ 2035969 h 2366367"/>
                  <a:gd name="connsiteX1014" fmla="*/ 331706 w 1830585"/>
                  <a:gd name="connsiteY1014" fmla="*/ 1937742 h 2366367"/>
                  <a:gd name="connsiteX1015" fmla="*/ 429932 w 1830585"/>
                  <a:gd name="connsiteY1015" fmla="*/ 2044899 h 2366367"/>
                  <a:gd name="connsiteX1016" fmla="*/ 429932 w 1830585"/>
                  <a:gd name="connsiteY1016" fmla="*/ 2143125 h 2366367"/>
                  <a:gd name="connsiteX1017" fmla="*/ 331706 w 1830585"/>
                  <a:gd name="connsiteY1017" fmla="*/ 2143125 h 2366367"/>
                  <a:gd name="connsiteX1018" fmla="*/ 331706 w 1830585"/>
                  <a:gd name="connsiteY1018" fmla="*/ 2044899 h 2366367"/>
                  <a:gd name="connsiteX1019" fmla="*/ 429932 w 1830585"/>
                  <a:gd name="connsiteY1019" fmla="*/ 2044899 h 2366367"/>
                  <a:gd name="connsiteX1020" fmla="*/ 438862 w 1830585"/>
                  <a:gd name="connsiteY1020" fmla="*/ 2044899 h 2366367"/>
                  <a:gd name="connsiteX1021" fmla="*/ 537089 w 1830585"/>
                  <a:gd name="connsiteY1021" fmla="*/ 2044899 h 2366367"/>
                  <a:gd name="connsiteX1022" fmla="*/ 537089 w 1830585"/>
                  <a:gd name="connsiteY1022" fmla="*/ 2143125 h 2366367"/>
                  <a:gd name="connsiteX1023" fmla="*/ 438862 w 1830585"/>
                  <a:gd name="connsiteY1023" fmla="*/ 2143125 h 2366367"/>
                  <a:gd name="connsiteX1024" fmla="*/ 438862 w 1830585"/>
                  <a:gd name="connsiteY1024" fmla="*/ 2044899 h 2366367"/>
                  <a:gd name="connsiteX1025" fmla="*/ 546018 w 1830585"/>
                  <a:gd name="connsiteY1025" fmla="*/ 2044899 h 2366367"/>
                  <a:gd name="connsiteX1026" fmla="*/ 644245 w 1830585"/>
                  <a:gd name="connsiteY1026" fmla="*/ 2044899 h 2366367"/>
                  <a:gd name="connsiteX1027" fmla="*/ 644245 w 1830585"/>
                  <a:gd name="connsiteY1027" fmla="*/ 2143125 h 2366367"/>
                  <a:gd name="connsiteX1028" fmla="*/ 546018 w 1830585"/>
                  <a:gd name="connsiteY1028" fmla="*/ 2143125 h 2366367"/>
                  <a:gd name="connsiteX1029" fmla="*/ 546018 w 1830585"/>
                  <a:gd name="connsiteY1029" fmla="*/ 2044899 h 2366367"/>
                  <a:gd name="connsiteX1030" fmla="*/ 653175 w 1830585"/>
                  <a:gd name="connsiteY1030" fmla="*/ 2044899 h 2366367"/>
                  <a:gd name="connsiteX1031" fmla="*/ 751401 w 1830585"/>
                  <a:gd name="connsiteY1031" fmla="*/ 2044899 h 2366367"/>
                  <a:gd name="connsiteX1032" fmla="*/ 751401 w 1830585"/>
                  <a:gd name="connsiteY1032" fmla="*/ 2143125 h 2366367"/>
                  <a:gd name="connsiteX1033" fmla="*/ 653175 w 1830585"/>
                  <a:gd name="connsiteY1033" fmla="*/ 2143125 h 2366367"/>
                  <a:gd name="connsiteX1034" fmla="*/ 653175 w 1830585"/>
                  <a:gd name="connsiteY1034" fmla="*/ 2044899 h 2366367"/>
                  <a:gd name="connsiteX1035" fmla="*/ 760331 w 1830585"/>
                  <a:gd name="connsiteY1035" fmla="*/ 2044899 h 2366367"/>
                  <a:gd name="connsiteX1036" fmla="*/ 858557 w 1830585"/>
                  <a:gd name="connsiteY1036" fmla="*/ 2044899 h 2366367"/>
                  <a:gd name="connsiteX1037" fmla="*/ 858557 w 1830585"/>
                  <a:gd name="connsiteY1037" fmla="*/ 2143125 h 2366367"/>
                  <a:gd name="connsiteX1038" fmla="*/ 760331 w 1830585"/>
                  <a:gd name="connsiteY1038" fmla="*/ 2143125 h 2366367"/>
                  <a:gd name="connsiteX1039" fmla="*/ 760331 w 1830585"/>
                  <a:gd name="connsiteY1039" fmla="*/ 2044899 h 2366367"/>
                  <a:gd name="connsiteX1040" fmla="*/ 867487 w 1830585"/>
                  <a:gd name="connsiteY1040" fmla="*/ 2044899 h 2366367"/>
                  <a:gd name="connsiteX1041" fmla="*/ 965714 w 1830585"/>
                  <a:gd name="connsiteY1041" fmla="*/ 2044899 h 2366367"/>
                  <a:gd name="connsiteX1042" fmla="*/ 965714 w 1830585"/>
                  <a:gd name="connsiteY1042" fmla="*/ 2143125 h 2366367"/>
                  <a:gd name="connsiteX1043" fmla="*/ 867487 w 1830585"/>
                  <a:gd name="connsiteY1043" fmla="*/ 2143125 h 2366367"/>
                  <a:gd name="connsiteX1044" fmla="*/ 867487 w 1830585"/>
                  <a:gd name="connsiteY1044" fmla="*/ 2044899 h 2366367"/>
                  <a:gd name="connsiteX1045" fmla="*/ 974643 w 1830585"/>
                  <a:gd name="connsiteY1045" fmla="*/ 2044899 h 2366367"/>
                  <a:gd name="connsiteX1046" fmla="*/ 1072870 w 1830585"/>
                  <a:gd name="connsiteY1046" fmla="*/ 2044899 h 2366367"/>
                  <a:gd name="connsiteX1047" fmla="*/ 1072870 w 1830585"/>
                  <a:gd name="connsiteY1047" fmla="*/ 2143125 h 2366367"/>
                  <a:gd name="connsiteX1048" fmla="*/ 974643 w 1830585"/>
                  <a:gd name="connsiteY1048" fmla="*/ 2143125 h 2366367"/>
                  <a:gd name="connsiteX1049" fmla="*/ 974643 w 1830585"/>
                  <a:gd name="connsiteY1049" fmla="*/ 2044899 h 2366367"/>
                  <a:gd name="connsiteX1050" fmla="*/ 1081800 w 1830585"/>
                  <a:gd name="connsiteY1050" fmla="*/ 2044899 h 2366367"/>
                  <a:gd name="connsiteX1051" fmla="*/ 1180026 w 1830585"/>
                  <a:gd name="connsiteY1051" fmla="*/ 2044899 h 2366367"/>
                  <a:gd name="connsiteX1052" fmla="*/ 1180026 w 1830585"/>
                  <a:gd name="connsiteY1052" fmla="*/ 2143125 h 2366367"/>
                  <a:gd name="connsiteX1053" fmla="*/ 1081800 w 1830585"/>
                  <a:gd name="connsiteY1053" fmla="*/ 2143125 h 2366367"/>
                  <a:gd name="connsiteX1054" fmla="*/ 1081800 w 1830585"/>
                  <a:gd name="connsiteY1054" fmla="*/ 2044899 h 2366367"/>
                  <a:gd name="connsiteX1055" fmla="*/ 1188956 w 1830585"/>
                  <a:gd name="connsiteY1055" fmla="*/ 2044899 h 2366367"/>
                  <a:gd name="connsiteX1056" fmla="*/ 1287182 w 1830585"/>
                  <a:gd name="connsiteY1056" fmla="*/ 2044899 h 2366367"/>
                  <a:gd name="connsiteX1057" fmla="*/ 1287182 w 1830585"/>
                  <a:gd name="connsiteY1057" fmla="*/ 2143125 h 2366367"/>
                  <a:gd name="connsiteX1058" fmla="*/ 1188956 w 1830585"/>
                  <a:gd name="connsiteY1058" fmla="*/ 2143125 h 2366367"/>
                  <a:gd name="connsiteX1059" fmla="*/ 1188956 w 1830585"/>
                  <a:gd name="connsiteY1059" fmla="*/ 2044899 h 2366367"/>
                  <a:gd name="connsiteX1060" fmla="*/ 1296112 w 1830585"/>
                  <a:gd name="connsiteY1060" fmla="*/ 2044899 h 2366367"/>
                  <a:gd name="connsiteX1061" fmla="*/ 1394339 w 1830585"/>
                  <a:gd name="connsiteY1061" fmla="*/ 2044899 h 2366367"/>
                  <a:gd name="connsiteX1062" fmla="*/ 1394339 w 1830585"/>
                  <a:gd name="connsiteY1062" fmla="*/ 2143125 h 2366367"/>
                  <a:gd name="connsiteX1063" fmla="*/ 1296112 w 1830585"/>
                  <a:gd name="connsiteY1063" fmla="*/ 2143125 h 2366367"/>
                  <a:gd name="connsiteX1064" fmla="*/ 1296112 w 1830585"/>
                  <a:gd name="connsiteY1064" fmla="*/ 2044899 h 2366367"/>
                  <a:gd name="connsiteX1065" fmla="*/ 1403268 w 1830585"/>
                  <a:gd name="connsiteY1065" fmla="*/ 2044899 h 2366367"/>
                  <a:gd name="connsiteX1066" fmla="*/ 1501495 w 1830585"/>
                  <a:gd name="connsiteY1066" fmla="*/ 2044899 h 2366367"/>
                  <a:gd name="connsiteX1067" fmla="*/ 1501495 w 1830585"/>
                  <a:gd name="connsiteY1067" fmla="*/ 2143125 h 2366367"/>
                  <a:gd name="connsiteX1068" fmla="*/ 1403268 w 1830585"/>
                  <a:gd name="connsiteY1068" fmla="*/ 2143125 h 2366367"/>
                  <a:gd name="connsiteX1069" fmla="*/ 1403268 w 1830585"/>
                  <a:gd name="connsiteY1069" fmla="*/ 2044899 h 2366367"/>
                  <a:gd name="connsiteX1070" fmla="*/ 1403268 w 1830585"/>
                  <a:gd name="connsiteY1070" fmla="*/ 2035969 h 2366367"/>
                  <a:gd name="connsiteX1071" fmla="*/ 1403268 w 1830585"/>
                  <a:gd name="connsiteY1071" fmla="*/ 1937742 h 2366367"/>
                  <a:gd name="connsiteX1072" fmla="*/ 1501495 w 1830585"/>
                  <a:gd name="connsiteY1072" fmla="*/ 1937742 h 2366367"/>
                  <a:gd name="connsiteX1073" fmla="*/ 1501495 w 1830585"/>
                  <a:gd name="connsiteY1073" fmla="*/ 2035969 h 2366367"/>
                  <a:gd name="connsiteX1074" fmla="*/ 1403268 w 1830585"/>
                  <a:gd name="connsiteY1074" fmla="*/ 2035969 h 2366367"/>
                  <a:gd name="connsiteX1075" fmla="*/ 1510425 w 1830585"/>
                  <a:gd name="connsiteY1075" fmla="*/ 1937742 h 2366367"/>
                  <a:gd name="connsiteX1076" fmla="*/ 1608651 w 1830585"/>
                  <a:gd name="connsiteY1076" fmla="*/ 1937742 h 2366367"/>
                  <a:gd name="connsiteX1077" fmla="*/ 1608651 w 1830585"/>
                  <a:gd name="connsiteY1077" fmla="*/ 2035969 h 2366367"/>
                  <a:gd name="connsiteX1078" fmla="*/ 1510425 w 1830585"/>
                  <a:gd name="connsiteY1078" fmla="*/ 2035969 h 2366367"/>
                  <a:gd name="connsiteX1079" fmla="*/ 1510425 w 1830585"/>
                  <a:gd name="connsiteY1079" fmla="*/ 1937742 h 2366367"/>
                  <a:gd name="connsiteX1080" fmla="*/ 1510425 w 1830585"/>
                  <a:gd name="connsiteY1080" fmla="*/ 1928813 h 2366367"/>
                  <a:gd name="connsiteX1081" fmla="*/ 1510425 w 1830585"/>
                  <a:gd name="connsiteY1081" fmla="*/ 1830586 h 2366367"/>
                  <a:gd name="connsiteX1082" fmla="*/ 1608651 w 1830585"/>
                  <a:gd name="connsiteY1082" fmla="*/ 1830586 h 2366367"/>
                  <a:gd name="connsiteX1083" fmla="*/ 1608651 w 1830585"/>
                  <a:gd name="connsiteY1083" fmla="*/ 1928813 h 2366367"/>
                  <a:gd name="connsiteX1084" fmla="*/ 1510425 w 1830585"/>
                  <a:gd name="connsiteY1084" fmla="*/ 1928813 h 2366367"/>
                  <a:gd name="connsiteX1085" fmla="*/ 1510425 w 1830585"/>
                  <a:gd name="connsiteY1085" fmla="*/ 1821656 h 2366367"/>
                  <a:gd name="connsiteX1086" fmla="*/ 1510425 w 1830585"/>
                  <a:gd name="connsiteY1086" fmla="*/ 1723430 h 2366367"/>
                  <a:gd name="connsiteX1087" fmla="*/ 1608651 w 1830585"/>
                  <a:gd name="connsiteY1087" fmla="*/ 1723430 h 2366367"/>
                  <a:gd name="connsiteX1088" fmla="*/ 1608651 w 1830585"/>
                  <a:gd name="connsiteY1088" fmla="*/ 1821656 h 2366367"/>
                  <a:gd name="connsiteX1089" fmla="*/ 1510425 w 1830585"/>
                  <a:gd name="connsiteY1089" fmla="*/ 1821656 h 2366367"/>
                  <a:gd name="connsiteX1090" fmla="*/ 1510425 w 1830585"/>
                  <a:gd name="connsiteY1090" fmla="*/ 1714500 h 2366367"/>
                  <a:gd name="connsiteX1091" fmla="*/ 1510425 w 1830585"/>
                  <a:gd name="connsiteY1091" fmla="*/ 1616274 h 2366367"/>
                  <a:gd name="connsiteX1092" fmla="*/ 1608651 w 1830585"/>
                  <a:gd name="connsiteY1092" fmla="*/ 1616274 h 2366367"/>
                  <a:gd name="connsiteX1093" fmla="*/ 1608651 w 1830585"/>
                  <a:gd name="connsiteY1093" fmla="*/ 1714500 h 2366367"/>
                  <a:gd name="connsiteX1094" fmla="*/ 1510425 w 1830585"/>
                  <a:gd name="connsiteY1094" fmla="*/ 1714500 h 2366367"/>
                  <a:gd name="connsiteX1095" fmla="*/ 1510425 w 1830585"/>
                  <a:gd name="connsiteY1095" fmla="*/ 1607344 h 2366367"/>
                  <a:gd name="connsiteX1096" fmla="*/ 1510425 w 1830585"/>
                  <a:gd name="connsiteY1096" fmla="*/ 1509117 h 2366367"/>
                  <a:gd name="connsiteX1097" fmla="*/ 1608651 w 1830585"/>
                  <a:gd name="connsiteY1097" fmla="*/ 1509117 h 2366367"/>
                  <a:gd name="connsiteX1098" fmla="*/ 1608651 w 1830585"/>
                  <a:gd name="connsiteY1098" fmla="*/ 1607344 h 2366367"/>
                  <a:gd name="connsiteX1099" fmla="*/ 1510425 w 1830585"/>
                  <a:gd name="connsiteY1099" fmla="*/ 1607344 h 2366367"/>
                  <a:gd name="connsiteX1100" fmla="*/ 1510425 w 1830585"/>
                  <a:gd name="connsiteY1100" fmla="*/ 1500188 h 2366367"/>
                  <a:gd name="connsiteX1101" fmla="*/ 1510425 w 1830585"/>
                  <a:gd name="connsiteY1101" fmla="*/ 1401961 h 2366367"/>
                  <a:gd name="connsiteX1102" fmla="*/ 1608651 w 1830585"/>
                  <a:gd name="connsiteY1102" fmla="*/ 1401961 h 2366367"/>
                  <a:gd name="connsiteX1103" fmla="*/ 1608651 w 1830585"/>
                  <a:gd name="connsiteY1103" fmla="*/ 1500188 h 2366367"/>
                  <a:gd name="connsiteX1104" fmla="*/ 1510425 w 1830585"/>
                  <a:gd name="connsiteY1104" fmla="*/ 1500188 h 2366367"/>
                  <a:gd name="connsiteX1105" fmla="*/ 1510425 w 1830585"/>
                  <a:gd name="connsiteY1105" fmla="*/ 1393031 h 2366367"/>
                  <a:gd name="connsiteX1106" fmla="*/ 1510425 w 1830585"/>
                  <a:gd name="connsiteY1106" fmla="*/ 1294805 h 2366367"/>
                  <a:gd name="connsiteX1107" fmla="*/ 1608651 w 1830585"/>
                  <a:gd name="connsiteY1107" fmla="*/ 1294805 h 2366367"/>
                  <a:gd name="connsiteX1108" fmla="*/ 1608651 w 1830585"/>
                  <a:gd name="connsiteY1108" fmla="*/ 1393031 h 2366367"/>
                  <a:gd name="connsiteX1109" fmla="*/ 1510425 w 1830585"/>
                  <a:gd name="connsiteY1109" fmla="*/ 1393031 h 2366367"/>
                  <a:gd name="connsiteX1110" fmla="*/ 1510425 w 1830585"/>
                  <a:gd name="connsiteY1110" fmla="*/ 1285875 h 2366367"/>
                  <a:gd name="connsiteX1111" fmla="*/ 1510425 w 1830585"/>
                  <a:gd name="connsiteY1111" fmla="*/ 1187649 h 2366367"/>
                  <a:gd name="connsiteX1112" fmla="*/ 1608651 w 1830585"/>
                  <a:gd name="connsiteY1112" fmla="*/ 1187649 h 2366367"/>
                  <a:gd name="connsiteX1113" fmla="*/ 1608651 w 1830585"/>
                  <a:gd name="connsiteY1113" fmla="*/ 1285875 h 2366367"/>
                  <a:gd name="connsiteX1114" fmla="*/ 1510425 w 1830585"/>
                  <a:gd name="connsiteY1114" fmla="*/ 1285875 h 2366367"/>
                  <a:gd name="connsiteX1115" fmla="*/ 1510425 w 1830585"/>
                  <a:gd name="connsiteY1115" fmla="*/ 1178719 h 2366367"/>
                  <a:gd name="connsiteX1116" fmla="*/ 1510425 w 1830585"/>
                  <a:gd name="connsiteY1116" fmla="*/ 1080492 h 2366367"/>
                  <a:gd name="connsiteX1117" fmla="*/ 1608651 w 1830585"/>
                  <a:gd name="connsiteY1117" fmla="*/ 1080492 h 2366367"/>
                  <a:gd name="connsiteX1118" fmla="*/ 1608651 w 1830585"/>
                  <a:gd name="connsiteY1118" fmla="*/ 1178719 h 2366367"/>
                  <a:gd name="connsiteX1119" fmla="*/ 1510425 w 1830585"/>
                  <a:gd name="connsiteY1119" fmla="*/ 1178719 h 2366367"/>
                  <a:gd name="connsiteX1120" fmla="*/ 1510425 w 1830585"/>
                  <a:gd name="connsiteY1120" fmla="*/ 1071563 h 2366367"/>
                  <a:gd name="connsiteX1121" fmla="*/ 1510425 w 1830585"/>
                  <a:gd name="connsiteY1121" fmla="*/ 973336 h 2366367"/>
                  <a:gd name="connsiteX1122" fmla="*/ 1608651 w 1830585"/>
                  <a:gd name="connsiteY1122" fmla="*/ 973336 h 2366367"/>
                  <a:gd name="connsiteX1123" fmla="*/ 1608651 w 1830585"/>
                  <a:gd name="connsiteY1123" fmla="*/ 1071563 h 2366367"/>
                  <a:gd name="connsiteX1124" fmla="*/ 1510425 w 1830585"/>
                  <a:gd name="connsiteY1124" fmla="*/ 1071563 h 2366367"/>
                  <a:gd name="connsiteX1125" fmla="*/ 1510425 w 1830585"/>
                  <a:gd name="connsiteY1125" fmla="*/ 964406 h 2366367"/>
                  <a:gd name="connsiteX1126" fmla="*/ 1510425 w 1830585"/>
                  <a:gd name="connsiteY1126" fmla="*/ 866180 h 2366367"/>
                  <a:gd name="connsiteX1127" fmla="*/ 1608651 w 1830585"/>
                  <a:gd name="connsiteY1127" fmla="*/ 866180 h 2366367"/>
                  <a:gd name="connsiteX1128" fmla="*/ 1608651 w 1830585"/>
                  <a:gd name="connsiteY1128" fmla="*/ 964406 h 2366367"/>
                  <a:gd name="connsiteX1129" fmla="*/ 1510425 w 1830585"/>
                  <a:gd name="connsiteY1129" fmla="*/ 964406 h 2366367"/>
                  <a:gd name="connsiteX1130" fmla="*/ 1510425 w 1830585"/>
                  <a:gd name="connsiteY1130" fmla="*/ 857250 h 2366367"/>
                  <a:gd name="connsiteX1131" fmla="*/ 1510425 w 1830585"/>
                  <a:gd name="connsiteY1131" fmla="*/ 759023 h 2366367"/>
                  <a:gd name="connsiteX1132" fmla="*/ 1608651 w 1830585"/>
                  <a:gd name="connsiteY1132" fmla="*/ 759023 h 2366367"/>
                  <a:gd name="connsiteX1133" fmla="*/ 1608651 w 1830585"/>
                  <a:gd name="connsiteY1133" fmla="*/ 857250 h 2366367"/>
                  <a:gd name="connsiteX1134" fmla="*/ 1510425 w 1830585"/>
                  <a:gd name="connsiteY1134" fmla="*/ 857250 h 2366367"/>
                  <a:gd name="connsiteX1135" fmla="*/ 1510425 w 1830585"/>
                  <a:gd name="connsiteY1135" fmla="*/ 750094 h 2366367"/>
                  <a:gd name="connsiteX1136" fmla="*/ 1510425 w 1830585"/>
                  <a:gd name="connsiteY1136" fmla="*/ 651867 h 2366367"/>
                  <a:gd name="connsiteX1137" fmla="*/ 1608651 w 1830585"/>
                  <a:gd name="connsiteY1137" fmla="*/ 651867 h 2366367"/>
                  <a:gd name="connsiteX1138" fmla="*/ 1608651 w 1830585"/>
                  <a:gd name="connsiteY1138" fmla="*/ 750094 h 2366367"/>
                  <a:gd name="connsiteX1139" fmla="*/ 1510425 w 1830585"/>
                  <a:gd name="connsiteY1139" fmla="*/ 750094 h 2366367"/>
                  <a:gd name="connsiteX1140" fmla="*/ 1510425 w 1830585"/>
                  <a:gd name="connsiteY1140" fmla="*/ 642938 h 2366367"/>
                  <a:gd name="connsiteX1141" fmla="*/ 1510425 w 1830585"/>
                  <a:gd name="connsiteY1141" fmla="*/ 544711 h 2366367"/>
                  <a:gd name="connsiteX1142" fmla="*/ 1608651 w 1830585"/>
                  <a:gd name="connsiteY1142" fmla="*/ 544711 h 2366367"/>
                  <a:gd name="connsiteX1143" fmla="*/ 1608651 w 1830585"/>
                  <a:gd name="connsiteY1143" fmla="*/ 642938 h 2366367"/>
                  <a:gd name="connsiteX1144" fmla="*/ 1510425 w 1830585"/>
                  <a:gd name="connsiteY1144" fmla="*/ 642938 h 2366367"/>
                  <a:gd name="connsiteX1145" fmla="*/ 1510425 w 1830585"/>
                  <a:gd name="connsiteY1145" fmla="*/ 535781 h 2366367"/>
                  <a:gd name="connsiteX1146" fmla="*/ 1510425 w 1830585"/>
                  <a:gd name="connsiteY1146" fmla="*/ 437555 h 2366367"/>
                  <a:gd name="connsiteX1147" fmla="*/ 1608651 w 1830585"/>
                  <a:gd name="connsiteY1147" fmla="*/ 437555 h 2366367"/>
                  <a:gd name="connsiteX1148" fmla="*/ 1608651 w 1830585"/>
                  <a:gd name="connsiteY1148" fmla="*/ 535781 h 2366367"/>
                  <a:gd name="connsiteX1149" fmla="*/ 1510425 w 1830585"/>
                  <a:gd name="connsiteY1149" fmla="*/ 535781 h 2366367"/>
                  <a:gd name="connsiteX1150" fmla="*/ 1510425 w 1830585"/>
                  <a:gd name="connsiteY1150" fmla="*/ 428625 h 2366367"/>
                  <a:gd name="connsiteX1151" fmla="*/ 1510425 w 1830585"/>
                  <a:gd name="connsiteY1151" fmla="*/ 330398 h 2366367"/>
                  <a:gd name="connsiteX1152" fmla="*/ 1608651 w 1830585"/>
                  <a:gd name="connsiteY1152" fmla="*/ 330398 h 2366367"/>
                  <a:gd name="connsiteX1153" fmla="*/ 1608651 w 1830585"/>
                  <a:gd name="connsiteY1153" fmla="*/ 428625 h 2366367"/>
                  <a:gd name="connsiteX1154" fmla="*/ 1510425 w 1830585"/>
                  <a:gd name="connsiteY1154" fmla="*/ 428625 h 2366367"/>
                  <a:gd name="connsiteX1155" fmla="*/ 1510425 w 1830585"/>
                  <a:gd name="connsiteY1155" fmla="*/ 321469 h 2366367"/>
                  <a:gd name="connsiteX1156" fmla="*/ 1510425 w 1830585"/>
                  <a:gd name="connsiteY1156" fmla="*/ 223242 h 2366367"/>
                  <a:gd name="connsiteX1157" fmla="*/ 1608651 w 1830585"/>
                  <a:gd name="connsiteY1157" fmla="*/ 223242 h 2366367"/>
                  <a:gd name="connsiteX1158" fmla="*/ 1608651 w 1830585"/>
                  <a:gd name="connsiteY1158" fmla="*/ 321469 h 2366367"/>
                  <a:gd name="connsiteX1159" fmla="*/ 1510425 w 1830585"/>
                  <a:gd name="connsiteY1159" fmla="*/ 321469 h 2366367"/>
                  <a:gd name="connsiteX1160" fmla="*/ 1510425 w 1830585"/>
                  <a:gd name="connsiteY1160" fmla="*/ 214313 h 2366367"/>
                  <a:gd name="connsiteX1161" fmla="*/ 1510425 w 1830585"/>
                  <a:gd name="connsiteY1161" fmla="*/ 116086 h 2366367"/>
                  <a:gd name="connsiteX1162" fmla="*/ 1608651 w 1830585"/>
                  <a:gd name="connsiteY1162" fmla="*/ 116086 h 2366367"/>
                  <a:gd name="connsiteX1163" fmla="*/ 1608651 w 1830585"/>
                  <a:gd name="connsiteY1163" fmla="*/ 214313 h 2366367"/>
                  <a:gd name="connsiteX1164" fmla="*/ 1510425 w 1830585"/>
                  <a:gd name="connsiteY1164" fmla="*/ 214313 h 2366367"/>
                  <a:gd name="connsiteX1165" fmla="*/ 1501495 w 1830585"/>
                  <a:gd name="connsiteY1165" fmla="*/ 214313 h 2366367"/>
                  <a:gd name="connsiteX1166" fmla="*/ 1403268 w 1830585"/>
                  <a:gd name="connsiteY1166" fmla="*/ 214313 h 2366367"/>
                  <a:gd name="connsiteX1167" fmla="*/ 1403268 w 1830585"/>
                  <a:gd name="connsiteY1167" fmla="*/ 116086 h 2366367"/>
                  <a:gd name="connsiteX1168" fmla="*/ 1501495 w 1830585"/>
                  <a:gd name="connsiteY1168" fmla="*/ 116086 h 2366367"/>
                  <a:gd name="connsiteX1169" fmla="*/ 1501495 w 1830585"/>
                  <a:gd name="connsiteY1169" fmla="*/ 214313 h 2366367"/>
                  <a:gd name="connsiteX1170" fmla="*/ 1394339 w 1830585"/>
                  <a:gd name="connsiteY1170" fmla="*/ 214313 h 2366367"/>
                  <a:gd name="connsiteX1171" fmla="*/ 1296112 w 1830585"/>
                  <a:gd name="connsiteY1171" fmla="*/ 214313 h 2366367"/>
                  <a:gd name="connsiteX1172" fmla="*/ 1296112 w 1830585"/>
                  <a:gd name="connsiteY1172" fmla="*/ 116086 h 2366367"/>
                  <a:gd name="connsiteX1173" fmla="*/ 1394339 w 1830585"/>
                  <a:gd name="connsiteY1173" fmla="*/ 116086 h 2366367"/>
                  <a:gd name="connsiteX1174" fmla="*/ 1394339 w 1830585"/>
                  <a:gd name="connsiteY1174" fmla="*/ 214313 h 2366367"/>
                  <a:gd name="connsiteX1175" fmla="*/ 1287182 w 1830585"/>
                  <a:gd name="connsiteY1175" fmla="*/ 214313 h 2366367"/>
                  <a:gd name="connsiteX1176" fmla="*/ 1188956 w 1830585"/>
                  <a:gd name="connsiteY1176" fmla="*/ 214313 h 2366367"/>
                  <a:gd name="connsiteX1177" fmla="*/ 1188956 w 1830585"/>
                  <a:gd name="connsiteY1177" fmla="*/ 116086 h 2366367"/>
                  <a:gd name="connsiteX1178" fmla="*/ 1287182 w 1830585"/>
                  <a:gd name="connsiteY1178" fmla="*/ 116086 h 2366367"/>
                  <a:gd name="connsiteX1179" fmla="*/ 1287182 w 1830585"/>
                  <a:gd name="connsiteY1179" fmla="*/ 214313 h 2366367"/>
                  <a:gd name="connsiteX1180" fmla="*/ 1180026 w 1830585"/>
                  <a:gd name="connsiteY1180" fmla="*/ 214313 h 2366367"/>
                  <a:gd name="connsiteX1181" fmla="*/ 1081800 w 1830585"/>
                  <a:gd name="connsiteY1181" fmla="*/ 214313 h 2366367"/>
                  <a:gd name="connsiteX1182" fmla="*/ 1081800 w 1830585"/>
                  <a:gd name="connsiteY1182" fmla="*/ 116086 h 2366367"/>
                  <a:gd name="connsiteX1183" fmla="*/ 1180026 w 1830585"/>
                  <a:gd name="connsiteY1183" fmla="*/ 116086 h 2366367"/>
                  <a:gd name="connsiteX1184" fmla="*/ 1180026 w 1830585"/>
                  <a:gd name="connsiteY1184" fmla="*/ 214313 h 2366367"/>
                  <a:gd name="connsiteX1185" fmla="*/ 1072870 w 1830585"/>
                  <a:gd name="connsiteY1185" fmla="*/ 214313 h 2366367"/>
                  <a:gd name="connsiteX1186" fmla="*/ 974643 w 1830585"/>
                  <a:gd name="connsiteY1186" fmla="*/ 214313 h 2366367"/>
                  <a:gd name="connsiteX1187" fmla="*/ 974643 w 1830585"/>
                  <a:gd name="connsiteY1187" fmla="*/ 116086 h 2366367"/>
                  <a:gd name="connsiteX1188" fmla="*/ 1072870 w 1830585"/>
                  <a:gd name="connsiteY1188" fmla="*/ 116086 h 2366367"/>
                  <a:gd name="connsiteX1189" fmla="*/ 1072870 w 1830585"/>
                  <a:gd name="connsiteY1189" fmla="*/ 214313 h 2366367"/>
                  <a:gd name="connsiteX1190" fmla="*/ 965714 w 1830585"/>
                  <a:gd name="connsiteY1190" fmla="*/ 214313 h 2366367"/>
                  <a:gd name="connsiteX1191" fmla="*/ 867487 w 1830585"/>
                  <a:gd name="connsiteY1191" fmla="*/ 214313 h 2366367"/>
                  <a:gd name="connsiteX1192" fmla="*/ 867487 w 1830585"/>
                  <a:gd name="connsiteY1192" fmla="*/ 116086 h 2366367"/>
                  <a:gd name="connsiteX1193" fmla="*/ 965714 w 1830585"/>
                  <a:gd name="connsiteY1193" fmla="*/ 116086 h 2366367"/>
                  <a:gd name="connsiteX1194" fmla="*/ 965714 w 1830585"/>
                  <a:gd name="connsiteY1194" fmla="*/ 214313 h 2366367"/>
                  <a:gd name="connsiteX1195" fmla="*/ 858557 w 1830585"/>
                  <a:gd name="connsiteY1195" fmla="*/ 214313 h 2366367"/>
                  <a:gd name="connsiteX1196" fmla="*/ 760331 w 1830585"/>
                  <a:gd name="connsiteY1196" fmla="*/ 214313 h 2366367"/>
                  <a:gd name="connsiteX1197" fmla="*/ 760331 w 1830585"/>
                  <a:gd name="connsiteY1197" fmla="*/ 116086 h 2366367"/>
                  <a:gd name="connsiteX1198" fmla="*/ 858557 w 1830585"/>
                  <a:gd name="connsiteY1198" fmla="*/ 116086 h 2366367"/>
                  <a:gd name="connsiteX1199" fmla="*/ 858557 w 1830585"/>
                  <a:gd name="connsiteY1199" fmla="*/ 214313 h 2366367"/>
                  <a:gd name="connsiteX1200" fmla="*/ 751401 w 1830585"/>
                  <a:gd name="connsiteY1200" fmla="*/ 214313 h 2366367"/>
                  <a:gd name="connsiteX1201" fmla="*/ 653175 w 1830585"/>
                  <a:gd name="connsiteY1201" fmla="*/ 214313 h 2366367"/>
                  <a:gd name="connsiteX1202" fmla="*/ 653175 w 1830585"/>
                  <a:gd name="connsiteY1202" fmla="*/ 116086 h 2366367"/>
                  <a:gd name="connsiteX1203" fmla="*/ 751401 w 1830585"/>
                  <a:gd name="connsiteY1203" fmla="*/ 116086 h 2366367"/>
                  <a:gd name="connsiteX1204" fmla="*/ 751401 w 1830585"/>
                  <a:gd name="connsiteY1204" fmla="*/ 214313 h 2366367"/>
                  <a:gd name="connsiteX1205" fmla="*/ 644245 w 1830585"/>
                  <a:gd name="connsiteY1205" fmla="*/ 214313 h 2366367"/>
                  <a:gd name="connsiteX1206" fmla="*/ 546018 w 1830585"/>
                  <a:gd name="connsiteY1206" fmla="*/ 214313 h 2366367"/>
                  <a:gd name="connsiteX1207" fmla="*/ 546018 w 1830585"/>
                  <a:gd name="connsiteY1207" fmla="*/ 116086 h 2366367"/>
                  <a:gd name="connsiteX1208" fmla="*/ 644245 w 1830585"/>
                  <a:gd name="connsiteY1208" fmla="*/ 116086 h 2366367"/>
                  <a:gd name="connsiteX1209" fmla="*/ 644245 w 1830585"/>
                  <a:gd name="connsiteY1209" fmla="*/ 214313 h 2366367"/>
                  <a:gd name="connsiteX1210" fmla="*/ 537089 w 1830585"/>
                  <a:gd name="connsiteY1210" fmla="*/ 214313 h 2366367"/>
                  <a:gd name="connsiteX1211" fmla="*/ 438862 w 1830585"/>
                  <a:gd name="connsiteY1211" fmla="*/ 214313 h 2366367"/>
                  <a:gd name="connsiteX1212" fmla="*/ 438862 w 1830585"/>
                  <a:gd name="connsiteY1212" fmla="*/ 116086 h 2366367"/>
                  <a:gd name="connsiteX1213" fmla="*/ 537089 w 1830585"/>
                  <a:gd name="connsiteY1213" fmla="*/ 116086 h 2366367"/>
                  <a:gd name="connsiteX1214" fmla="*/ 537089 w 1830585"/>
                  <a:gd name="connsiteY1214" fmla="*/ 214313 h 2366367"/>
                  <a:gd name="connsiteX1215" fmla="*/ 429932 w 1830585"/>
                  <a:gd name="connsiteY1215" fmla="*/ 214313 h 2366367"/>
                  <a:gd name="connsiteX1216" fmla="*/ 331706 w 1830585"/>
                  <a:gd name="connsiteY1216" fmla="*/ 214313 h 2366367"/>
                  <a:gd name="connsiteX1217" fmla="*/ 331706 w 1830585"/>
                  <a:gd name="connsiteY1217" fmla="*/ 116086 h 2366367"/>
                  <a:gd name="connsiteX1218" fmla="*/ 429932 w 1830585"/>
                  <a:gd name="connsiteY1218" fmla="*/ 116086 h 2366367"/>
                  <a:gd name="connsiteX1219" fmla="*/ 429932 w 1830585"/>
                  <a:gd name="connsiteY1219" fmla="*/ 214313 h 2366367"/>
                  <a:gd name="connsiteX1220" fmla="*/ 322776 w 1830585"/>
                  <a:gd name="connsiteY1220" fmla="*/ 214313 h 2366367"/>
                  <a:gd name="connsiteX1221" fmla="*/ 224549 w 1830585"/>
                  <a:gd name="connsiteY1221" fmla="*/ 214313 h 2366367"/>
                  <a:gd name="connsiteX1222" fmla="*/ 224549 w 1830585"/>
                  <a:gd name="connsiteY1222" fmla="*/ 116086 h 2366367"/>
                  <a:gd name="connsiteX1223" fmla="*/ 322776 w 1830585"/>
                  <a:gd name="connsiteY1223" fmla="*/ 116086 h 2366367"/>
                  <a:gd name="connsiteX1224" fmla="*/ 322776 w 1830585"/>
                  <a:gd name="connsiteY1224" fmla="*/ 214313 h 2366367"/>
                  <a:gd name="connsiteX1225" fmla="*/ 322776 w 1830585"/>
                  <a:gd name="connsiteY1225" fmla="*/ 223242 h 2366367"/>
                  <a:gd name="connsiteX1226" fmla="*/ 322776 w 1830585"/>
                  <a:gd name="connsiteY1226" fmla="*/ 321469 h 2366367"/>
                  <a:gd name="connsiteX1227" fmla="*/ 224549 w 1830585"/>
                  <a:gd name="connsiteY1227" fmla="*/ 321469 h 2366367"/>
                  <a:gd name="connsiteX1228" fmla="*/ 224549 w 1830585"/>
                  <a:gd name="connsiteY1228" fmla="*/ 223242 h 2366367"/>
                  <a:gd name="connsiteX1229" fmla="*/ 322776 w 1830585"/>
                  <a:gd name="connsiteY1229" fmla="*/ 223242 h 2366367"/>
                  <a:gd name="connsiteX1230" fmla="*/ 215620 w 1830585"/>
                  <a:gd name="connsiteY1230" fmla="*/ 321469 h 2366367"/>
                  <a:gd name="connsiteX1231" fmla="*/ 117393 w 1830585"/>
                  <a:gd name="connsiteY1231" fmla="*/ 321469 h 2366367"/>
                  <a:gd name="connsiteX1232" fmla="*/ 117393 w 1830585"/>
                  <a:gd name="connsiteY1232" fmla="*/ 223242 h 2366367"/>
                  <a:gd name="connsiteX1233" fmla="*/ 215620 w 1830585"/>
                  <a:gd name="connsiteY1233" fmla="*/ 223242 h 2366367"/>
                  <a:gd name="connsiteX1234" fmla="*/ 215620 w 1830585"/>
                  <a:gd name="connsiteY1234" fmla="*/ 321469 h 2366367"/>
                  <a:gd name="connsiteX1235" fmla="*/ 215620 w 1830585"/>
                  <a:gd name="connsiteY1235" fmla="*/ 330398 h 2366367"/>
                  <a:gd name="connsiteX1236" fmla="*/ 215620 w 1830585"/>
                  <a:gd name="connsiteY1236" fmla="*/ 428625 h 2366367"/>
                  <a:gd name="connsiteX1237" fmla="*/ 117393 w 1830585"/>
                  <a:gd name="connsiteY1237" fmla="*/ 428625 h 2366367"/>
                  <a:gd name="connsiteX1238" fmla="*/ 117393 w 1830585"/>
                  <a:gd name="connsiteY1238" fmla="*/ 330398 h 2366367"/>
                  <a:gd name="connsiteX1239" fmla="*/ 215620 w 1830585"/>
                  <a:gd name="connsiteY1239" fmla="*/ 330398 h 2366367"/>
                  <a:gd name="connsiteX1240" fmla="*/ 215620 w 1830585"/>
                  <a:gd name="connsiteY1240" fmla="*/ 437555 h 2366367"/>
                  <a:gd name="connsiteX1241" fmla="*/ 215620 w 1830585"/>
                  <a:gd name="connsiteY1241" fmla="*/ 535781 h 2366367"/>
                  <a:gd name="connsiteX1242" fmla="*/ 117393 w 1830585"/>
                  <a:gd name="connsiteY1242" fmla="*/ 535781 h 2366367"/>
                  <a:gd name="connsiteX1243" fmla="*/ 117393 w 1830585"/>
                  <a:gd name="connsiteY1243" fmla="*/ 437555 h 2366367"/>
                  <a:gd name="connsiteX1244" fmla="*/ 215620 w 1830585"/>
                  <a:gd name="connsiteY1244" fmla="*/ 437555 h 2366367"/>
                  <a:gd name="connsiteX1245" fmla="*/ 215620 w 1830585"/>
                  <a:gd name="connsiteY1245" fmla="*/ 544711 h 2366367"/>
                  <a:gd name="connsiteX1246" fmla="*/ 215620 w 1830585"/>
                  <a:gd name="connsiteY1246" fmla="*/ 642938 h 2366367"/>
                  <a:gd name="connsiteX1247" fmla="*/ 117393 w 1830585"/>
                  <a:gd name="connsiteY1247" fmla="*/ 642938 h 2366367"/>
                  <a:gd name="connsiteX1248" fmla="*/ 117393 w 1830585"/>
                  <a:gd name="connsiteY1248" fmla="*/ 544711 h 2366367"/>
                  <a:gd name="connsiteX1249" fmla="*/ 215620 w 1830585"/>
                  <a:gd name="connsiteY1249" fmla="*/ 544711 h 2366367"/>
                  <a:gd name="connsiteX1250" fmla="*/ 215620 w 1830585"/>
                  <a:gd name="connsiteY1250" fmla="*/ 651867 h 2366367"/>
                  <a:gd name="connsiteX1251" fmla="*/ 215620 w 1830585"/>
                  <a:gd name="connsiteY1251" fmla="*/ 750094 h 2366367"/>
                  <a:gd name="connsiteX1252" fmla="*/ 117393 w 1830585"/>
                  <a:gd name="connsiteY1252" fmla="*/ 750094 h 2366367"/>
                  <a:gd name="connsiteX1253" fmla="*/ 117393 w 1830585"/>
                  <a:gd name="connsiteY1253" fmla="*/ 651867 h 2366367"/>
                  <a:gd name="connsiteX1254" fmla="*/ 215620 w 1830585"/>
                  <a:gd name="connsiteY1254" fmla="*/ 651867 h 2366367"/>
                  <a:gd name="connsiteX1255" fmla="*/ 215620 w 1830585"/>
                  <a:gd name="connsiteY1255" fmla="*/ 759023 h 2366367"/>
                  <a:gd name="connsiteX1256" fmla="*/ 215620 w 1830585"/>
                  <a:gd name="connsiteY1256" fmla="*/ 857250 h 2366367"/>
                  <a:gd name="connsiteX1257" fmla="*/ 117393 w 1830585"/>
                  <a:gd name="connsiteY1257" fmla="*/ 857250 h 2366367"/>
                  <a:gd name="connsiteX1258" fmla="*/ 117393 w 1830585"/>
                  <a:gd name="connsiteY1258" fmla="*/ 759023 h 2366367"/>
                  <a:gd name="connsiteX1259" fmla="*/ 215620 w 1830585"/>
                  <a:gd name="connsiteY1259" fmla="*/ 759023 h 2366367"/>
                  <a:gd name="connsiteX1260" fmla="*/ 215620 w 1830585"/>
                  <a:gd name="connsiteY1260" fmla="*/ 866180 h 2366367"/>
                  <a:gd name="connsiteX1261" fmla="*/ 215620 w 1830585"/>
                  <a:gd name="connsiteY1261" fmla="*/ 964406 h 2366367"/>
                  <a:gd name="connsiteX1262" fmla="*/ 117393 w 1830585"/>
                  <a:gd name="connsiteY1262" fmla="*/ 964406 h 2366367"/>
                  <a:gd name="connsiteX1263" fmla="*/ 117393 w 1830585"/>
                  <a:gd name="connsiteY1263" fmla="*/ 866180 h 2366367"/>
                  <a:gd name="connsiteX1264" fmla="*/ 215620 w 1830585"/>
                  <a:gd name="connsiteY1264" fmla="*/ 866180 h 2366367"/>
                  <a:gd name="connsiteX1265" fmla="*/ 215620 w 1830585"/>
                  <a:gd name="connsiteY1265" fmla="*/ 973336 h 2366367"/>
                  <a:gd name="connsiteX1266" fmla="*/ 215620 w 1830585"/>
                  <a:gd name="connsiteY1266" fmla="*/ 1071563 h 2366367"/>
                  <a:gd name="connsiteX1267" fmla="*/ 117393 w 1830585"/>
                  <a:gd name="connsiteY1267" fmla="*/ 1071563 h 2366367"/>
                  <a:gd name="connsiteX1268" fmla="*/ 117393 w 1830585"/>
                  <a:gd name="connsiteY1268" fmla="*/ 973336 h 2366367"/>
                  <a:gd name="connsiteX1269" fmla="*/ 215620 w 1830585"/>
                  <a:gd name="connsiteY1269" fmla="*/ 973336 h 2366367"/>
                  <a:gd name="connsiteX1270" fmla="*/ 215620 w 1830585"/>
                  <a:gd name="connsiteY1270" fmla="*/ 1080492 h 2366367"/>
                  <a:gd name="connsiteX1271" fmla="*/ 215620 w 1830585"/>
                  <a:gd name="connsiteY1271" fmla="*/ 1178719 h 2366367"/>
                  <a:gd name="connsiteX1272" fmla="*/ 117393 w 1830585"/>
                  <a:gd name="connsiteY1272" fmla="*/ 1178719 h 2366367"/>
                  <a:gd name="connsiteX1273" fmla="*/ 117393 w 1830585"/>
                  <a:gd name="connsiteY1273" fmla="*/ 1080492 h 2366367"/>
                  <a:gd name="connsiteX1274" fmla="*/ 215620 w 1830585"/>
                  <a:gd name="connsiteY1274" fmla="*/ 1080492 h 2366367"/>
                  <a:gd name="connsiteX1275" fmla="*/ 215620 w 1830585"/>
                  <a:gd name="connsiteY1275" fmla="*/ 1187649 h 2366367"/>
                  <a:gd name="connsiteX1276" fmla="*/ 215620 w 1830585"/>
                  <a:gd name="connsiteY1276" fmla="*/ 1285875 h 2366367"/>
                  <a:gd name="connsiteX1277" fmla="*/ 117393 w 1830585"/>
                  <a:gd name="connsiteY1277" fmla="*/ 1285875 h 2366367"/>
                  <a:gd name="connsiteX1278" fmla="*/ 117393 w 1830585"/>
                  <a:gd name="connsiteY1278" fmla="*/ 1187649 h 2366367"/>
                  <a:gd name="connsiteX1279" fmla="*/ 215620 w 1830585"/>
                  <a:gd name="connsiteY1279" fmla="*/ 1187649 h 2366367"/>
                  <a:gd name="connsiteX1280" fmla="*/ 215620 w 1830585"/>
                  <a:gd name="connsiteY1280" fmla="*/ 1294805 h 2366367"/>
                  <a:gd name="connsiteX1281" fmla="*/ 215620 w 1830585"/>
                  <a:gd name="connsiteY1281" fmla="*/ 1393031 h 2366367"/>
                  <a:gd name="connsiteX1282" fmla="*/ 117393 w 1830585"/>
                  <a:gd name="connsiteY1282" fmla="*/ 1393031 h 2366367"/>
                  <a:gd name="connsiteX1283" fmla="*/ 117393 w 1830585"/>
                  <a:gd name="connsiteY1283" fmla="*/ 1294805 h 2366367"/>
                  <a:gd name="connsiteX1284" fmla="*/ 215620 w 1830585"/>
                  <a:gd name="connsiteY1284" fmla="*/ 1294805 h 2366367"/>
                  <a:gd name="connsiteX1285" fmla="*/ 215620 w 1830585"/>
                  <a:gd name="connsiteY1285" fmla="*/ 1401961 h 2366367"/>
                  <a:gd name="connsiteX1286" fmla="*/ 215620 w 1830585"/>
                  <a:gd name="connsiteY1286" fmla="*/ 1500188 h 2366367"/>
                  <a:gd name="connsiteX1287" fmla="*/ 117393 w 1830585"/>
                  <a:gd name="connsiteY1287" fmla="*/ 1500188 h 2366367"/>
                  <a:gd name="connsiteX1288" fmla="*/ 117393 w 1830585"/>
                  <a:gd name="connsiteY1288" fmla="*/ 1401961 h 2366367"/>
                  <a:gd name="connsiteX1289" fmla="*/ 215620 w 1830585"/>
                  <a:gd name="connsiteY1289" fmla="*/ 1401961 h 2366367"/>
                  <a:gd name="connsiteX1290" fmla="*/ 215620 w 1830585"/>
                  <a:gd name="connsiteY1290" fmla="*/ 1509117 h 2366367"/>
                  <a:gd name="connsiteX1291" fmla="*/ 215620 w 1830585"/>
                  <a:gd name="connsiteY1291" fmla="*/ 1607344 h 2366367"/>
                  <a:gd name="connsiteX1292" fmla="*/ 117393 w 1830585"/>
                  <a:gd name="connsiteY1292" fmla="*/ 1607344 h 2366367"/>
                  <a:gd name="connsiteX1293" fmla="*/ 117393 w 1830585"/>
                  <a:gd name="connsiteY1293" fmla="*/ 1509117 h 2366367"/>
                  <a:gd name="connsiteX1294" fmla="*/ 215620 w 1830585"/>
                  <a:gd name="connsiteY1294" fmla="*/ 1509117 h 2366367"/>
                  <a:gd name="connsiteX1295" fmla="*/ 215620 w 1830585"/>
                  <a:gd name="connsiteY1295" fmla="*/ 1616274 h 2366367"/>
                  <a:gd name="connsiteX1296" fmla="*/ 215620 w 1830585"/>
                  <a:gd name="connsiteY1296" fmla="*/ 1714500 h 2366367"/>
                  <a:gd name="connsiteX1297" fmla="*/ 117393 w 1830585"/>
                  <a:gd name="connsiteY1297" fmla="*/ 1714500 h 2366367"/>
                  <a:gd name="connsiteX1298" fmla="*/ 117393 w 1830585"/>
                  <a:gd name="connsiteY1298" fmla="*/ 1616274 h 2366367"/>
                  <a:gd name="connsiteX1299" fmla="*/ 215620 w 1830585"/>
                  <a:gd name="connsiteY1299" fmla="*/ 1616274 h 2366367"/>
                  <a:gd name="connsiteX1300" fmla="*/ 215620 w 1830585"/>
                  <a:gd name="connsiteY1300" fmla="*/ 1723430 h 2366367"/>
                  <a:gd name="connsiteX1301" fmla="*/ 215620 w 1830585"/>
                  <a:gd name="connsiteY1301" fmla="*/ 1821656 h 2366367"/>
                  <a:gd name="connsiteX1302" fmla="*/ 117393 w 1830585"/>
                  <a:gd name="connsiteY1302" fmla="*/ 1821656 h 2366367"/>
                  <a:gd name="connsiteX1303" fmla="*/ 117393 w 1830585"/>
                  <a:gd name="connsiteY1303" fmla="*/ 1723430 h 2366367"/>
                  <a:gd name="connsiteX1304" fmla="*/ 215620 w 1830585"/>
                  <a:gd name="connsiteY1304" fmla="*/ 1723430 h 2366367"/>
                  <a:gd name="connsiteX1305" fmla="*/ 215620 w 1830585"/>
                  <a:gd name="connsiteY1305" fmla="*/ 1830586 h 2366367"/>
                  <a:gd name="connsiteX1306" fmla="*/ 215620 w 1830585"/>
                  <a:gd name="connsiteY1306" fmla="*/ 1928813 h 2366367"/>
                  <a:gd name="connsiteX1307" fmla="*/ 117393 w 1830585"/>
                  <a:gd name="connsiteY1307" fmla="*/ 1928813 h 2366367"/>
                  <a:gd name="connsiteX1308" fmla="*/ 117393 w 1830585"/>
                  <a:gd name="connsiteY1308" fmla="*/ 1830586 h 2366367"/>
                  <a:gd name="connsiteX1309" fmla="*/ 215620 w 1830585"/>
                  <a:gd name="connsiteY1309" fmla="*/ 1830586 h 2366367"/>
                  <a:gd name="connsiteX1310" fmla="*/ 215620 w 1830585"/>
                  <a:gd name="connsiteY1310" fmla="*/ 1937742 h 2366367"/>
                  <a:gd name="connsiteX1311" fmla="*/ 215620 w 1830585"/>
                  <a:gd name="connsiteY1311" fmla="*/ 2035969 h 2366367"/>
                  <a:gd name="connsiteX1312" fmla="*/ 117393 w 1830585"/>
                  <a:gd name="connsiteY1312" fmla="*/ 2035969 h 2366367"/>
                  <a:gd name="connsiteX1313" fmla="*/ 117393 w 1830585"/>
                  <a:gd name="connsiteY1313" fmla="*/ 1937742 h 2366367"/>
                  <a:gd name="connsiteX1314" fmla="*/ 215620 w 1830585"/>
                  <a:gd name="connsiteY1314" fmla="*/ 1937742 h 2366367"/>
                  <a:gd name="connsiteX1315" fmla="*/ 215620 w 1830585"/>
                  <a:gd name="connsiteY1315" fmla="*/ 2044899 h 2366367"/>
                  <a:gd name="connsiteX1316" fmla="*/ 215620 w 1830585"/>
                  <a:gd name="connsiteY1316" fmla="*/ 2143125 h 2366367"/>
                  <a:gd name="connsiteX1317" fmla="*/ 117393 w 1830585"/>
                  <a:gd name="connsiteY1317" fmla="*/ 2143125 h 2366367"/>
                  <a:gd name="connsiteX1318" fmla="*/ 117393 w 1830585"/>
                  <a:gd name="connsiteY1318" fmla="*/ 2044899 h 2366367"/>
                  <a:gd name="connsiteX1319" fmla="*/ 215620 w 1830585"/>
                  <a:gd name="connsiteY1319" fmla="*/ 2044899 h 2366367"/>
                  <a:gd name="connsiteX1320" fmla="*/ 224549 w 1830585"/>
                  <a:gd name="connsiteY1320" fmla="*/ 2044899 h 2366367"/>
                  <a:gd name="connsiteX1321" fmla="*/ 322776 w 1830585"/>
                  <a:gd name="connsiteY1321" fmla="*/ 2044899 h 2366367"/>
                  <a:gd name="connsiteX1322" fmla="*/ 322776 w 1830585"/>
                  <a:gd name="connsiteY1322" fmla="*/ 2143125 h 2366367"/>
                  <a:gd name="connsiteX1323" fmla="*/ 224549 w 1830585"/>
                  <a:gd name="connsiteY1323" fmla="*/ 2143125 h 2366367"/>
                  <a:gd name="connsiteX1324" fmla="*/ 224549 w 1830585"/>
                  <a:gd name="connsiteY1324" fmla="*/ 2044899 h 2366367"/>
                  <a:gd name="connsiteX1325" fmla="*/ 322776 w 1830585"/>
                  <a:gd name="connsiteY1325" fmla="*/ 2152055 h 2366367"/>
                  <a:gd name="connsiteX1326" fmla="*/ 322776 w 1830585"/>
                  <a:gd name="connsiteY1326" fmla="*/ 2250281 h 2366367"/>
                  <a:gd name="connsiteX1327" fmla="*/ 224549 w 1830585"/>
                  <a:gd name="connsiteY1327" fmla="*/ 2250281 h 2366367"/>
                  <a:gd name="connsiteX1328" fmla="*/ 224549 w 1830585"/>
                  <a:gd name="connsiteY1328" fmla="*/ 2152055 h 2366367"/>
                  <a:gd name="connsiteX1329" fmla="*/ 322776 w 1830585"/>
                  <a:gd name="connsiteY1329" fmla="*/ 2152055 h 2366367"/>
                  <a:gd name="connsiteX1330" fmla="*/ 331706 w 1830585"/>
                  <a:gd name="connsiteY1330" fmla="*/ 2152055 h 2366367"/>
                  <a:gd name="connsiteX1331" fmla="*/ 429932 w 1830585"/>
                  <a:gd name="connsiteY1331" fmla="*/ 2152055 h 2366367"/>
                  <a:gd name="connsiteX1332" fmla="*/ 429932 w 1830585"/>
                  <a:gd name="connsiteY1332" fmla="*/ 2250281 h 2366367"/>
                  <a:gd name="connsiteX1333" fmla="*/ 331706 w 1830585"/>
                  <a:gd name="connsiteY1333" fmla="*/ 2250281 h 2366367"/>
                  <a:gd name="connsiteX1334" fmla="*/ 331706 w 1830585"/>
                  <a:gd name="connsiteY1334" fmla="*/ 2152055 h 2366367"/>
                  <a:gd name="connsiteX1335" fmla="*/ 438862 w 1830585"/>
                  <a:gd name="connsiteY1335" fmla="*/ 2152055 h 2366367"/>
                  <a:gd name="connsiteX1336" fmla="*/ 537089 w 1830585"/>
                  <a:gd name="connsiteY1336" fmla="*/ 2152055 h 2366367"/>
                  <a:gd name="connsiteX1337" fmla="*/ 537089 w 1830585"/>
                  <a:gd name="connsiteY1337" fmla="*/ 2250281 h 2366367"/>
                  <a:gd name="connsiteX1338" fmla="*/ 438862 w 1830585"/>
                  <a:gd name="connsiteY1338" fmla="*/ 2250281 h 2366367"/>
                  <a:gd name="connsiteX1339" fmla="*/ 438862 w 1830585"/>
                  <a:gd name="connsiteY1339" fmla="*/ 2152055 h 2366367"/>
                  <a:gd name="connsiteX1340" fmla="*/ 546018 w 1830585"/>
                  <a:gd name="connsiteY1340" fmla="*/ 2152055 h 2366367"/>
                  <a:gd name="connsiteX1341" fmla="*/ 644245 w 1830585"/>
                  <a:gd name="connsiteY1341" fmla="*/ 2152055 h 2366367"/>
                  <a:gd name="connsiteX1342" fmla="*/ 644245 w 1830585"/>
                  <a:gd name="connsiteY1342" fmla="*/ 2250281 h 2366367"/>
                  <a:gd name="connsiteX1343" fmla="*/ 546018 w 1830585"/>
                  <a:gd name="connsiteY1343" fmla="*/ 2250281 h 2366367"/>
                  <a:gd name="connsiteX1344" fmla="*/ 546018 w 1830585"/>
                  <a:gd name="connsiteY1344" fmla="*/ 2152055 h 2366367"/>
                  <a:gd name="connsiteX1345" fmla="*/ 653175 w 1830585"/>
                  <a:gd name="connsiteY1345" fmla="*/ 2152055 h 2366367"/>
                  <a:gd name="connsiteX1346" fmla="*/ 751401 w 1830585"/>
                  <a:gd name="connsiteY1346" fmla="*/ 2152055 h 2366367"/>
                  <a:gd name="connsiteX1347" fmla="*/ 751401 w 1830585"/>
                  <a:gd name="connsiteY1347" fmla="*/ 2250281 h 2366367"/>
                  <a:gd name="connsiteX1348" fmla="*/ 653175 w 1830585"/>
                  <a:gd name="connsiteY1348" fmla="*/ 2250281 h 2366367"/>
                  <a:gd name="connsiteX1349" fmla="*/ 653175 w 1830585"/>
                  <a:gd name="connsiteY1349" fmla="*/ 2152055 h 2366367"/>
                  <a:gd name="connsiteX1350" fmla="*/ 760331 w 1830585"/>
                  <a:gd name="connsiteY1350" fmla="*/ 2152055 h 2366367"/>
                  <a:gd name="connsiteX1351" fmla="*/ 858557 w 1830585"/>
                  <a:gd name="connsiteY1351" fmla="*/ 2152055 h 2366367"/>
                  <a:gd name="connsiteX1352" fmla="*/ 858557 w 1830585"/>
                  <a:gd name="connsiteY1352" fmla="*/ 2250281 h 2366367"/>
                  <a:gd name="connsiteX1353" fmla="*/ 760331 w 1830585"/>
                  <a:gd name="connsiteY1353" fmla="*/ 2250281 h 2366367"/>
                  <a:gd name="connsiteX1354" fmla="*/ 760331 w 1830585"/>
                  <a:gd name="connsiteY1354" fmla="*/ 2152055 h 2366367"/>
                  <a:gd name="connsiteX1355" fmla="*/ 867487 w 1830585"/>
                  <a:gd name="connsiteY1355" fmla="*/ 2152055 h 2366367"/>
                  <a:gd name="connsiteX1356" fmla="*/ 965714 w 1830585"/>
                  <a:gd name="connsiteY1356" fmla="*/ 2152055 h 2366367"/>
                  <a:gd name="connsiteX1357" fmla="*/ 965714 w 1830585"/>
                  <a:gd name="connsiteY1357" fmla="*/ 2250281 h 2366367"/>
                  <a:gd name="connsiteX1358" fmla="*/ 867487 w 1830585"/>
                  <a:gd name="connsiteY1358" fmla="*/ 2250281 h 2366367"/>
                  <a:gd name="connsiteX1359" fmla="*/ 867487 w 1830585"/>
                  <a:gd name="connsiteY1359" fmla="*/ 2152055 h 2366367"/>
                  <a:gd name="connsiteX1360" fmla="*/ 974643 w 1830585"/>
                  <a:gd name="connsiteY1360" fmla="*/ 2152055 h 2366367"/>
                  <a:gd name="connsiteX1361" fmla="*/ 1072870 w 1830585"/>
                  <a:gd name="connsiteY1361" fmla="*/ 2152055 h 2366367"/>
                  <a:gd name="connsiteX1362" fmla="*/ 1072870 w 1830585"/>
                  <a:gd name="connsiteY1362" fmla="*/ 2250281 h 2366367"/>
                  <a:gd name="connsiteX1363" fmla="*/ 974643 w 1830585"/>
                  <a:gd name="connsiteY1363" fmla="*/ 2250281 h 2366367"/>
                  <a:gd name="connsiteX1364" fmla="*/ 974643 w 1830585"/>
                  <a:gd name="connsiteY1364" fmla="*/ 2152055 h 2366367"/>
                  <a:gd name="connsiteX1365" fmla="*/ 1081800 w 1830585"/>
                  <a:gd name="connsiteY1365" fmla="*/ 2152055 h 2366367"/>
                  <a:gd name="connsiteX1366" fmla="*/ 1180026 w 1830585"/>
                  <a:gd name="connsiteY1366" fmla="*/ 2152055 h 2366367"/>
                  <a:gd name="connsiteX1367" fmla="*/ 1180026 w 1830585"/>
                  <a:gd name="connsiteY1367" fmla="*/ 2250281 h 2366367"/>
                  <a:gd name="connsiteX1368" fmla="*/ 1081800 w 1830585"/>
                  <a:gd name="connsiteY1368" fmla="*/ 2250281 h 2366367"/>
                  <a:gd name="connsiteX1369" fmla="*/ 1081800 w 1830585"/>
                  <a:gd name="connsiteY1369" fmla="*/ 2152055 h 2366367"/>
                  <a:gd name="connsiteX1370" fmla="*/ 1188956 w 1830585"/>
                  <a:gd name="connsiteY1370" fmla="*/ 2152055 h 2366367"/>
                  <a:gd name="connsiteX1371" fmla="*/ 1287182 w 1830585"/>
                  <a:gd name="connsiteY1371" fmla="*/ 2152055 h 2366367"/>
                  <a:gd name="connsiteX1372" fmla="*/ 1287182 w 1830585"/>
                  <a:gd name="connsiteY1372" fmla="*/ 2250281 h 2366367"/>
                  <a:gd name="connsiteX1373" fmla="*/ 1188956 w 1830585"/>
                  <a:gd name="connsiteY1373" fmla="*/ 2250281 h 2366367"/>
                  <a:gd name="connsiteX1374" fmla="*/ 1188956 w 1830585"/>
                  <a:gd name="connsiteY1374" fmla="*/ 2152055 h 2366367"/>
                  <a:gd name="connsiteX1375" fmla="*/ 1296112 w 1830585"/>
                  <a:gd name="connsiteY1375" fmla="*/ 2152055 h 2366367"/>
                  <a:gd name="connsiteX1376" fmla="*/ 1394339 w 1830585"/>
                  <a:gd name="connsiteY1376" fmla="*/ 2152055 h 2366367"/>
                  <a:gd name="connsiteX1377" fmla="*/ 1394339 w 1830585"/>
                  <a:gd name="connsiteY1377" fmla="*/ 2250281 h 2366367"/>
                  <a:gd name="connsiteX1378" fmla="*/ 1296112 w 1830585"/>
                  <a:gd name="connsiteY1378" fmla="*/ 2250281 h 2366367"/>
                  <a:gd name="connsiteX1379" fmla="*/ 1296112 w 1830585"/>
                  <a:gd name="connsiteY1379" fmla="*/ 2152055 h 2366367"/>
                  <a:gd name="connsiteX1380" fmla="*/ 1403268 w 1830585"/>
                  <a:gd name="connsiteY1380" fmla="*/ 2152055 h 2366367"/>
                  <a:gd name="connsiteX1381" fmla="*/ 1501495 w 1830585"/>
                  <a:gd name="connsiteY1381" fmla="*/ 2152055 h 2366367"/>
                  <a:gd name="connsiteX1382" fmla="*/ 1501495 w 1830585"/>
                  <a:gd name="connsiteY1382" fmla="*/ 2250281 h 2366367"/>
                  <a:gd name="connsiteX1383" fmla="*/ 1403268 w 1830585"/>
                  <a:gd name="connsiteY1383" fmla="*/ 2250281 h 2366367"/>
                  <a:gd name="connsiteX1384" fmla="*/ 1403268 w 1830585"/>
                  <a:gd name="connsiteY1384" fmla="*/ 2152055 h 2366367"/>
                  <a:gd name="connsiteX1385" fmla="*/ 1510425 w 1830585"/>
                  <a:gd name="connsiteY1385" fmla="*/ 2152055 h 2366367"/>
                  <a:gd name="connsiteX1386" fmla="*/ 1608651 w 1830585"/>
                  <a:gd name="connsiteY1386" fmla="*/ 2152055 h 2366367"/>
                  <a:gd name="connsiteX1387" fmla="*/ 1608651 w 1830585"/>
                  <a:gd name="connsiteY1387" fmla="*/ 2250281 h 2366367"/>
                  <a:gd name="connsiteX1388" fmla="*/ 1510425 w 1830585"/>
                  <a:gd name="connsiteY1388" fmla="*/ 2250281 h 2366367"/>
                  <a:gd name="connsiteX1389" fmla="*/ 1510425 w 1830585"/>
                  <a:gd name="connsiteY1389" fmla="*/ 2152055 h 2366367"/>
                  <a:gd name="connsiteX1390" fmla="*/ 1510425 w 1830585"/>
                  <a:gd name="connsiteY1390" fmla="*/ 2143125 h 2366367"/>
                  <a:gd name="connsiteX1391" fmla="*/ 1510425 w 1830585"/>
                  <a:gd name="connsiteY1391" fmla="*/ 2044899 h 2366367"/>
                  <a:gd name="connsiteX1392" fmla="*/ 1608651 w 1830585"/>
                  <a:gd name="connsiteY1392" fmla="*/ 2044899 h 2366367"/>
                  <a:gd name="connsiteX1393" fmla="*/ 1608651 w 1830585"/>
                  <a:gd name="connsiteY1393" fmla="*/ 2143125 h 2366367"/>
                  <a:gd name="connsiteX1394" fmla="*/ 1510425 w 1830585"/>
                  <a:gd name="connsiteY1394" fmla="*/ 2143125 h 2366367"/>
                  <a:gd name="connsiteX1395" fmla="*/ 1617581 w 1830585"/>
                  <a:gd name="connsiteY1395" fmla="*/ 2044899 h 2366367"/>
                  <a:gd name="connsiteX1396" fmla="*/ 1715807 w 1830585"/>
                  <a:gd name="connsiteY1396" fmla="*/ 2044899 h 2366367"/>
                  <a:gd name="connsiteX1397" fmla="*/ 1715807 w 1830585"/>
                  <a:gd name="connsiteY1397" fmla="*/ 2143125 h 2366367"/>
                  <a:gd name="connsiteX1398" fmla="*/ 1617581 w 1830585"/>
                  <a:gd name="connsiteY1398" fmla="*/ 2143125 h 2366367"/>
                  <a:gd name="connsiteX1399" fmla="*/ 1617581 w 1830585"/>
                  <a:gd name="connsiteY1399" fmla="*/ 2044899 h 2366367"/>
                  <a:gd name="connsiteX1400" fmla="*/ 1617581 w 1830585"/>
                  <a:gd name="connsiteY1400" fmla="*/ 2035969 h 2366367"/>
                  <a:gd name="connsiteX1401" fmla="*/ 1617581 w 1830585"/>
                  <a:gd name="connsiteY1401" fmla="*/ 1937742 h 2366367"/>
                  <a:gd name="connsiteX1402" fmla="*/ 1715807 w 1830585"/>
                  <a:gd name="connsiteY1402" fmla="*/ 1937742 h 2366367"/>
                  <a:gd name="connsiteX1403" fmla="*/ 1715807 w 1830585"/>
                  <a:gd name="connsiteY1403" fmla="*/ 2035969 h 2366367"/>
                  <a:gd name="connsiteX1404" fmla="*/ 1617581 w 1830585"/>
                  <a:gd name="connsiteY1404" fmla="*/ 2035969 h 2366367"/>
                  <a:gd name="connsiteX1405" fmla="*/ 1617581 w 1830585"/>
                  <a:gd name="connsiteY1405" fmla="*/ 1928813 h 2366367"/>
                  <a:gd name="connsiteX1406" fmla="*/ 1617581 w 1830585"/>
                  <a:gd name="connsiteY1406" fmla="*/ 1830586 h 2366367"/>
                  <a:gd name="connsiteX1407" fmla="*/ 1715807 w 1830585"/>
                  <a:gd name="connsiteY1407" fmla="*/ 1830586 h 2366367"/>
                  <a:gd name="connsiteX1408" fmla="*/ 1715807 w 1830585"/>
                  <a:gd name="connsiteY1408" fmla="*/ 1928813 h 2366367"/>
                  <a:gd name="connsiteX1409" fmla="*/ 1617581 w 1830585"/>
                  <a:gd name="connsiteY1409" fmla="*/ 1928813 h 2366367"/>
                  <a:gd name="connsiteX1410" fmla="*/ 1617581 w 1830585"/>
                  <a:gd name="connsiteY1410" fmla="*/ 1821656 h 2366367"/>
                  <a:gd name="connsiteX1411" fmla="*/ 1617581 w 1830585"/>
                  <a:gd name="connsiteY1411" fmla="*/ 1723430 h 2366367"/>
                  <a:gd name="connsiteX1412" fmla="*/ 1715807 w 1830585"/>
                  <a:gd name="connsiteY1412" fmla="*/ 1723430 h 2366367"/>
                  <a:gd name="connsiteX1413" fmla="*/ 1715807 w 1830585"/>
                  <a:gd name="connsiteY1413" fmla="*/ 1821656 h 2366367"/>
                  <a:gd name="connsiteX1414" fmla="*/ 1617581 w 1830585"/>
                  <a:gd name="connsiteY1414" fmla="*/ 1821656 h 2366367"/>
                  <a:gd name="connsiteX1415" fmla="*/ 1617581 w 1830585"/>
                  <a:gd name="connsiteY1415" fmla="*/ 1714500 h 2366367"/>
                  <a:gd name="connsiteX1416" fmla="*/ 1617581 w 1830585"/>
                  <a:gd name="connsiteY1416" fmla="*/ 1616274 h 2366367"/>
                  <a:gd name="connsiteX1417" fmla="*/ 1715807 w 1830585"/>
                  <a:gd name="connsiteY1417" fmla="*/ 1616274 h 2366367"/>
                  <a:gd name="connsiteX1418" fmla="*/ 1715807 w 1830585"/>
                  <a:gd name="connsiteY1418" fmla="*/ 1714500 h 2366367"/>
                  <a:gd name="connsiteX1419" fmla="*/ 1617581 w 1830585"/>
                  <a:gd name="connsiteY1419" fmla="*/ 1714500 h 2366367"/>
                  <a:gd name="connsiteX1420" fmla="*/ 1617581 w 1830585"/>
                  <a:gd name="connsiteY1420" fmla="*/ 1607344 h 2366367"/>
                  <a:gd name="connsiteX1421" fmla="*/ 1617581 w 1830585"/>
                  <a:gd name="connsiteY1421" fmla="*/ 1509117 h 2366367"/>
                  <a:gd name="connsiteX1422" fmla="*/ 1715807 w 1830585"/>
                  <a:gd name="connsiteY1422" fmla="*/ 1509117 h 2366367"/>
                  <a:gd name="connsiteX1423" fmla="*/ 1715807 w 1830585"/>
                  <a:gd name="connsiteY1423" fmla="*/ 1607344 h 2366367"/>
                  <a:gd name="connsiteX1424" fmla="*/ 1617581 w 1830585"/>
                  <a:gd name="connsiteY1424" fmla="*/ 1607344 h 2366367"/>
                  <a:gd name="connsiteX1425" fmla="*/ 1617581 w 1830585"/>
                  <a:gd name="connsiteY1425" fmla="*/ 1500188 h 2366367"/>
                  <a:gd name="connsiteX1426" fmla="*/ 1617581 w 1830585"/>
                  <a:gd name="connsiteY1426" fmla="*/ 1401961 h 2366367"/>
                  <a:gd name="connsiteX1427" fmla="*/ 1715807 w 1830585"/>
                  <a:gd name="connsiteY1427" fmla="*/ 1401961 h 2366367"/>
                  <a:gd name="connsiteX1428" fmla="*/ 1715807 w 1830585"/>
                  <a:gd name="connsiteY1428" fmla="*/ 1500188 h 2366367"/>
                  <a:gd name="connsiteX1429" fmla="*/ 1617581 w 1830585"/>
                  <a:gd name="connsiteY1429" fmla="*/ 1500188 h 2366367"/>
                  <a:gd name="connsiteX1430" fmla="*/ 1617581 w 1830585"/>
                  <a:gd name="connsiteY1430" fmla="*/ 1393031 h 2366367"/>
                  <a:gd name="connsiteX1431" fmla="*/ 1617581 w 1830585"/>
                  <a:gd name="connsiteY1431" fmla="*/ 1294805 h 2366367"/>
                  <a:gd name="connsiteX1432" fmla="*/ 1715807 w 1830585"/>
                  <a:gd name="connsiteY1432" fmla="*/ 1294805 h 2366367"/>
                  <a:gd name="connsiteX1433" fmla="*/ 1715807 w 1830585"/>
                  <a:gd name="connsiteY1433" fmla="*/ 1393031 h 2366367"/>
                  <a:gd name="connsiteX1434" fmla="*/ 1617581 w 1830585"/>
                  <a:gd name="connsiteY1434" fmla="*/ 1393031 h 2366367"/>
                  <a:gd name="connsiteX1435" fmla="*/ 1617581 w 1830585"/>
                  <a:gd name="connsiteY1435" fmla="*/ 1285875 h 2366367"/>
                  <a:gd name="connsiteX1436" fmla="*/ 1617581 w 1830585"/>
                  <a:gd name="connsiteY1436" fmla="*/ 1187649 h 2366367"/>
                  <a:gd name="connsiteX1437" fmla="*/ 1715807 w 1830585"/>
                  <a:gd name="connsiteY1437" fmla="*/ 1187649 h 2366367"/>
                  <a:gd name="connsiteX1438" fmla="*/ 1715807 w 1830585"/>
                  <a:gd name="connsiteY1438" fmla="*/ 1285875 h 2366367"/>
                  <a:gd name="connsiteX1439" fmla="*/ 1617581 w 1830585"/>
                  <a:gd name="connsiteY1439" fmla="*/ 1285875 h 2366367"/>
                  <a:gd name="connsiteX1440" fmla="*/ 1617581 w 1830585"/>
                  <a:gd name="connsiteY1440" fmla="*/ 1178719 h 2366367"/>
                  <a:gd name="connsiteX1441" fmla="*/ 1617581 w 1830585"/>
                  <a:gd name="connsiteY1441" fmla="*/ 1080492 h 2366367"/>
                  <a:gd name="connsiteX1442" fmla="*/ 1715807 w 1830585"/>
                  <a:gd name="connsiteY1442" fmla="*/ 1080492 h 2366367"/>
                  <a:gd name="connsiteX1443" fmla="*/ 1715807 w 1830585"/>
                  <a:gd name="connsiteY1443" fmla="*/ 1178719 h 2366367"/>
                  <a:gd name="connsiteX1444" fmla="*/ 1617581 w 1830585"/>
                  <a:gd name="connsiteY1444" fmla="*/ 1178719 h 2366367"/>
                  <a:gd name="connsiteX1445" fmla="*/ 1617581 w 1830585"/>
                  <a:gd name="connsiteY1445" fmla="*/ 1071563 h 2366367"/>
                  <a:gd name="connsiteX1446" fmla="*/ 1617581 w 1830585"/>
                  <a:gd name="connsiteY1446" fmla="*/ 973336 h 2366367"/>
                  <a:gd name="connsiteX1447" fmla="*/ 1715807 w 1830585"/>
                  <a:gd name="connsiteY1447" fmla="*/ 973336 h 2366367"/>
                  <a:gd name="connsiteX1448" fmla="*/ 1715807 w 1830585"/>
                  <a:gd name="connsiteY1448" fmla="*/ 1071563 h 2366367"/>
                  <a:gd name="connsiteX1449" fmla="*/ 1617581 w 1830585"/>
                  <a:gd name="connsiteY1449" fmla="*/ 1071563 h 2366367"/>
                  <a:gd name="connsiteX1450" fmla="*/ 1617581 w 1830585"/>
                  <a:gd name="connsiteY1450" fmla="*/ 964406 h 2366367"/>
                  <a:gd name="connsiteX1451" fmla="*/ 1617581 w 1830585"/>
                  <a:gd name="connsiteY1451" fmla="*/ 866180 h 2366367"/>
                  <a:gd name="connsiteX1452" fmla="*/ 1715807 w 1830585"/>
                  <a:gd name="connsiteY1452" fmla="*/ 866180 h 2366367"/>
                  <a:gd name="connsiteX1453" fmla="*/ 1715807 w 1830585"/>
                  <a:gd name="connsiteY1453" fmla="*/ 964406 h 2366367"/>
                  <a:gd name="connsiteX1454" fmla="*/ 1617581 w 1830585"/>
                  <a:gd name="connsiteY1454" fmla="*/ 964406 h 2366367"/>
                  <a:gd name="connsiteX1455" fmla="*/ 1617581 w 1830585"/>
                  <a:gd name="connsiteY1455" fmla="*/ 857250 h 2366367"/>
                  <a:gd name="connsiteX1456" fmla="*/ 1617581 w 1830585"/>
                  <a:gd name="connsiteY1456" fmla="*/ 759023 h 2366367"/>
                  <a:gd name="connsiteX1457" fmla="*/ 1715807 w 1830585"/>
                  <a:gd name="connsiteY1457" fmla="*/ 759023 h 2366367"/>
                  <a:gd name="connsiteX1458" fmla="*/ 1715807 w 1830585"/>
                  <a:gd name="connsiteY1458" fmla="*/ 857250 h 2366367"/>
                  <a:gd name="connsiteX1459" fmla="*/ 1617581 w 1830585"/>
                  <a:gd name="connsiteY1459" fmla="*/ 857250 h 2366367"/>
                  <a:gd name="connsiteX1460" fmla="*/ 1617581 w 1830585"/>
                  <a:gd name="connsiteY1460" fmla="*/ 750094 h 2366367"/>
                  <a:gd name="connsiteX1461" fmla="*/ 1617581 w 1830585"/>
                  <a:gd name="connsiteY1461" fmla="*/ 651867 h 2366367"/>
                  <a:gd name="connsiteX1462" fmla="*/ 1715807 w 1830585"/>
                  <a:gd name="connsiteY1462" fmla="*/ 651867 h 2366367"/>
                  <a:gd name="connsiteX1463" fmla="*/ 1715807 w 1830585"/>
                  <a:gd name="connsiteY1463" fmla="*/ 750094 h 2366367"/>
                  <a:gd name="connsiteX1464" fmla="*/ 1617581 w 1830585"/>
                  <a:gd name="connsiteY1464" fmla="*/ 750094 h 2366367"/>
                  <a:gd name="connsiteX1465" fmla="*/ 1617581 w 1830585"/>
                  <a:gd name="connsiteY1465" fmla="*/ 642938 h 2366367"/>
                  <a:gd name="connsiteX1466" fmla="*/ 1617581 w 1830585"/>
                  <a:gd name="connsiteY1466" fmla="*/ 544711 h 2366367"/>
                  <a:gd name="connsiteX1467" fmla="*/ 1715807 w 1830585"/>
                  <a:gd name="connsiteY1467" fmla="*/ 544711 h 2366367"/>
                  <a:gd name="connsiteX1468" fmla="*/ 1715807 w 1830585"/>
                  <a:gd name="connsiteY1468" fmla="*/ 642938 h 2366367"/>
                  <a:gd name="connsiteX1469" fmla="*/ 1617581 w 1830585"/>
                  <a:gd name="connsiteY1469" fmla="*/ 642938 h 2366367"/>
                  <a:gd name="connsiteX1470" fmla="*/ 1617581 w 1830585"/>
                  <a:gd name="connsiteY1470" fmla="*/ 535781 h 2366367"/>
                  <a:gd name="connsiteX1471" fmla="*/ 1617581 w 1830585"/>
                  <a:gd name="connsiteY1471" fmla="*/ 437555 h 2366367"/>
                  <a:gd name="connsiteX1472" fmla="*/ 1715807 w 1830585"/>
                  <a:gd name="connsiteY1472" fmla="*/ 437555 h 2366367"/>
                  <a:gd name="connsiteX1473" fmla="*/ 1715807 w 1830585"/>
                  <a:gd name="connsiteY1473" fmla="*/ 535781 h 2366367"/>
                  <a:gd name="connsiteX1474" fmla="*/ 1617581 w 1830585"/>
                  <a:gd name="connsiteY1474" fmla="*/ 535781 h 2366367"/>
                  <a:gd name="connsiteX1475" fmla="*/ 1617581 w 1830585"/>
                  <a:gd name="connsiteY1475" fmla="*/ 428625 h 2366367"/>
                  <a:gd name="connsiteX1476" fmla="*/ 1617581 w 1830585"/>
                  <a:gd name="connsiteY1476" fmla="*/ 330398 h 2366367"/>
                  <a:gd name="connsiteX1477" fmla="*/ 1715807 w 1830585"/>
                  <a:gd name="connsiteY1477" fmla="*/ 330398 h 2366367"/>
                  <a:gd name="connsiteX1478" fmla="*/ 1715807 w 1830585"/>
                  <a:gd name="connsiteY1478" fmla="*/ 428625 h 2366367"/>
                  <a:gd name="connsiteX1479" fmla="*/ 1617581 w 1830585"/>
                  <a:gd name="connsiteY1479" fmla="*/ 428625 h 2366367"/>
                  <a:gd name="connsiteX1480" fmla="*/ 1617581 w 1830585"/>
                  <a:gd name="connsiteY1480" fmla="*/ 321469 h 2366367"/>
                  <a:gd name="connsiteX1481" fmla="*/ 1617581 w 1830585"/>
                  <a:gd name="connsiteY1481" fmla="*/ 223242 h 2366367"/>
                  <a:gd name="connsiteX1482" fmla="*/ 1715807 w 1830585"/>
                  <a:gd name="connsiteY1482" fmla="*/ 223242 h 2366367"/>
                  <a:gd name="connsiteX1483" fmla="*/ 1715807 w 1830585"/>
                  <a:gd name="connsiteY1483" fmla="*/ 321469 h 2366367"/>
                  <a:gd name="connsiteX1484" fmla="*/ 1617581 w 1830585"/>
                  <a:gd name="connsiteY1484" fmla="*/ 321469 h 2366367"/>
                  <a:gd name="connsiteX1485" fmla="*/ 1617581 w 1830585"/>
                  <a:gd name="connsiteY1485" fmla="*/ 214313 h 2366367"/>
                  <a:gd name="connsiteX1486" fmla="*/ 1617581 w 1830585"/>
                  <a:gd name="connsiteY1486" fmla="*/ 116086 h 2366367"/>
                  <a:gd name="connsiteX1487" fmla="*/ 1715807 w 1830585"/>
                  <a:gd name="connsiteY1487" fmla="*/ 116086 h 2366367"/>
                  <a:gd name="connsiteX1488" fmla="*/ 1715807 w 1830585"/>
                  <a:gd name="connsiteY1488" fmla="*/ 214313 h 2366367"/>
                  <a:gd name="connsiteX1489" fmla="*/ 1617581 w 1830585"/>
                  <a:gd name="connsiteY1489" fmla="*/ 214313 h 2366367"/>
                  <a:gd name="connsiteX1490" fmla="*/ 1617581 w 1830585"/>
                  <a:gd name="connsiteY1490" fmla="*/ 107156 h 2366367"/>
                  <a:gd name="connsiteX1491" fmla="*/ 1617581 w 1830585"/>
                  <a:gd name="connsiteY1491" fmla="*/ 8930 h 2366367"/>
                  <a:gd name="connsiteX1492" fmla="*/ 1715807 w 1830585"/>
                  <a:gd name="connsiteY1492" fmla="*/ 8930 h 2366367"/>
                  <a:gd name="connsiteX1493" fmla="*/ 1715807 w 1830585"/>
                  <a:gd name="connsiteY1493" fmla="*/ 107156 h 2366367"/>
                  <a:gd name="connsiteX1494" fmla="*/ 1617581 w 1830585"/>
                  <a:gd name="connsiteY1494" fmla="*/ 107156 h 2366367"/>
                  <a:gd name="connsiteX1495" fmla="*/ 1608651 w 1830585"/>
                  <a:gd name="connsiteY1495" fmla="*/ 107156 h 2366367"/>
                  <a:gd name="connsiteX1496" fmla="*/ 1510425 w 1830585"/>
                  <a:gd name="connsiteY1496" fmla="*/ 107156 h 2366367"/>
                  <a:gd name="connsiteX1497" fmla="*/ 1510425 w 1830585"/>
                  <a:gd name="connsiteY1497" fmla="*/ 8930 h 2366367"/>
                  <a:gd name="connsiteX1498" fmla="*/ 1608651 w 1830585"/>
                  <a:gd name="connsiteY1498" fmla="*/ 8930 h 2366367"/>
                  <a:gd name="connsiteX1499" fmla="*/ 1608651 w 1830585"/>
                  <a:gd name="connsiteY1499" fmla="*/ 107156 h 2366367"/>
                  <a:gd name="connsiteX1500" fmla="*/ 1501495 w 1830585"/>
                  <a:gd name="connsiteY1500" fmla="*/ 107156 h 2366367"/>
                  <a:gd name="connsiteX1501" fmla="*/ 1403268 w 1830585"/>
                  <a:gd name="connsiteY1501" fmla="*/ 107156 h 2366367"/>
                  <a:gd name="connsiteX1502" fmla="*/ 1403268 w 1830585"/>
                  <a:gd name="connsiteY1502" fmla="*/ 8930 h 2366367"/>
                  <a:gd name="connsiteX1503" fmla="*/ 1501495 w 1830585"/>
                  <a:gd name="connsiteY1503" fmla="*/ 8930 h 2366367"/>
                  <a:gd name="connsiteX1504" fmla="*/ 1501495 w 1830585"/>
                  <a:gd name="connsiteY1504" fmla="*/ 107156 h 2366367"/>
                  <a:gd name="connsiteX1505" fmla="*/ 1394339 w 1830585"/>
                  <a:gd name="connsiteY1505" fmla="*/ 107156 h 2366367"/>
                  <a:gd name="connsiteX1506" fmla="*/ 1296112 w 1830585"/>
                  <a:gd name="connsiteY1506" fmla="*/ 107156 h 2366367"/>
                  <a:gd name="connsiteX1507" fmla="*/ 1296112 w 1830585"/>
                  <a:gd name="connsiteY1507" fmla="*/ 8930 h 2366367"/>
                  <a:gd name="connsiteX1508" fmla="*/ 1394339 w 1830585"/>
                  <a:gd name="connsiteY1508" fmla="*/ 8930 h 2366367"/>
                  <a:gd name="connsiteX1509" fmla="*/ 1394339 w 1830585"/>
                  <a:gd name="connsiteY1509" fmla="*/ 107156 h 2366367"/>
                  <a:gd name="connsiteX1510" fmla="*/ 1287182 w 1830585"/>
                  <a:gd name="connsiteY1510" fmla="*/ 107156 h 2366367"/>
                  <a:gd name="connsiteX1511" fmla="*/ 1188956 w 1830585"/>
                  <a:gd name="connsiteY1511" fmla="*/ 107156 h 2366367"/>
                  <a:gd name="connsiteX1512" fmla="*/ 1188956 w 1830585"/>
                  <a:gd name="connsiteY1512" fmla="*/ 8930 h 2366367"/>
                  <a:gd name="connsiteX1513" fmla="*/ 1287182 w 1830585"/>
                  <a:gd name="connsiteY1513" fmla="*/ 8930 h 2366367"/>
                  <a:gd name="connsiteX1514" fmla="*/ 1287182 w 1830585"/>
                  <a:gd name="connsiteY1514" fmla="*/ 107156 h 2366367"/>
                  <a:gd name="connsiteX1515" fmla="*/ 1180026 w 1830585"/>
                  <a:gd name="connsiteY1515" fmla="*/ 107156 h 2366367"/>
                  <a:gd name="connsiteX1516" fmla="*/ 1081800 w 1830585"/>
                  <a:gd name="connsiteY1516" fmla="*/ 107156 h 2366367"/>
                  <a:gd name="connsiteX1517" fmla="*/ 1081800 w 1830585"/>
                  <a:gd name="connsiteY1517" fmla="*/ 8930 h 2366367"/>
                  <a:gd name="connsiteX1518" fmla="*/ 1180026 w 1830585"/>
                  <a:gd name="connsiteY1518" fmla="*/ 8930 h 2366367"/>
                  <a:gd name="connsiteX1519" fmla="*/ 1180026 w 1830585"/>
                  <a:gd name="connsiteY1519" fmla="*/ 107156 h 2366367"/>
                  <a:gd name="connsiteX1520" fmla="*/ 1072870 w 1830585"/>
                  <a:gd name="connsiteY1520" fmla="*/ 107156 h 2366367"/>
                  <a:gd name="connsiteX1521" fmla="*/ 974643 w 1830585"/>
                  <a:gd name="connsiteY1521" fmla="*/ 107156 h 2366367"/>
                  <a:gd name="connsiteX1522" fmla="*/ 974643 w 1830585"/>
                  <a:gd name="connsiteY1522" fmla="*/ 8930 h 2366367"/>
                  <a:gd name="connsiteX1523" fmla="*/ 1072870 w 1830585"/>
                  <a:gd name="connsiteY1523" fmla="*/ 8930 h 2366367"/>
                  <a:gd name="connsiteX1524" fmla="*/ 1072870 w 1830585"/>
                  <a:gd name="connsiteY1524" fmla="*/ 107156 h 2366367"/>
                  <a:gd name="connsiteX1525" fmla="*/ 965714 w 1830585"/>
                  <a:gd name="connsiteY1525" fmla="*/ 107156 h 2366367"/>
                  <a:gd name="connsiteX1526" fmla="*/ 867487 w 1830585"/>
                  <a:gd name="connsiteY1526" fmla="*/ 107156 h 2366367"/>
                  <a:gd name="connsiteX1527" fmla="*/ 867487 w 1830585"/>
                  <a:gd name="connsiteY1527" fmla="*/ 8930 h 2366367"/>
                  <a:gd name="connsiteX1528" fmla="*/ 965714 w 1830585"/>
                  <a:gd name="connsiteY1528" fmla="*/ 8930 h 2366367"/>
                  <a:gd name="connsiteX1529" fmla="*/ 965714 w 1830585"/>
                  <a:gd name="connsiteY1529" fmla="*/ 107156 h 2366367"/>
                  <a:gd name="connsiteX1530" fmla="*/ 858557 w 1830585"/>
                  <a:gd name="connsiteY1530" fmla="*/ 107156 h 2366367"/>
                  <a:gd name="connsiteX1531" fmla="*/ 760331 w 1830585"/>
                  <a:gd name="connsiteY1531" fmla="*/ 107156 h 2366367"/>
                  <a:gd name="connsiteX1532" fmla="*/ 760331 w 1830585"/>
                  <a:gd name="connsiteY1532" fmla="*/ 8930 h 2366367"/>
                  <a:gd name="connsiteX1533" fmla="*/ 858557 w 1830585"/>
                  <a:gd name="connsiteY1533" fmla="*/ 8930 h 2366367"/>
                  <a:gd name="connsiteX1534" fmla="*/ 858557 w 1830585"/>
                  <a:gd name="connsiteY1534" fmla="*/ 107156 h 2366367"/>
                  <a:gd name="connsiteX1535" fmla="*/ 751401 w 1830585"/>
                  <a:gd name="connsiteY1535" fmla="*/ 107156 h 2366367"/>
                  <a:gd name="connsiteX1536" fmla="*/ 653175 w 1830585"/>
                  <a:gd name="connsiteY1536" fmla="*/ 107156 h 2366367"/>
                  <a:gd name="connsiteX1537" fmla="*/ 653175 w 1830585"/>
                  <a:gd name="connsiteY1537" fmla="*/ 8930 h 2366367"/>
                  <a:gd name="connsiteX1538" fmla="*/ 751401 w 1830585"/>
                  <a:gd name="connsiteY1538" fmla="*/ 8930 h 2366367"/>
                  <a:gd name="connsiteX1539" fmla="*/ 751401 w 1830585"/>
                  <a:gd name="connsiteY1539" fmla="*/ 107156 h 2366367"/>
                  <a:gd name="connsiteX1540" fmla="*/ 644245 w 1830585"/>
                  <a:gd name="connsiteY1540" fmla="*/ 107156 h 2366367"/>
                  <a:gd name="connsiteX1541" fmla="*/ 546018 w 1830585"/>
                  <a:gd name="connsiteY1541" fmla="*/ 107156 h 2366367"/>
                  <a:gd name="connsiteX1542" fmla="*/ 546018 w 1830585"/>
                  <a:gd name="connsiteY1542" fmla="*/ 8930 h 2366367"/>
                  <a:gd name="connsiteX1543" fmla="*/ 644245 w 1830585"/>
                  <a:gd name="connsiteY1543" fmla="*/ 8930 h 2366367"/>
                  <a:gd name="connsiteX1544" fmla="*/ 644245 w 1830585"/>
                  <a:gd name="connsiteY1544" fmla="*/ 107156 h 2366367"/>
                  <a:gd name="connsiteX1545" fmla="*/ 537089 w 1830585"/>
                  <a:gd name="connsiteY1545" fmla="*/ 107156 h 2366367"/>
                  <a:gd name="connsiteX1546" fmla="*/ 438862 w 1830585"/>
                  <a:gd name="connsiteY1546" fmla="*/ 107156 h 2366367"/>
                  <a:gd name="connsiteX1547" fmla="*/ 438862 w 1830585"/>
                  <a:gd name="connsiteY1547" fmla="*/ 8930 h 2366367"/>
                  <a:gd name="connsiteX1548" fmla="*/ 537089 w 1830585"/>
                  <a:gd name="connsiteY1548" fmla="*/ 8930 h 2366367"/>
                  <a:gd name="connsiteX1549" fmla="*/ 537089 w 1830585"/>
                  <a:gd name="connsiteY1549" fmla="*/ 107156 h 2366367"/>
                  <a:gd name="connsiteX1550" fmla="*/ 429932 w 1830585"/>
                  <a:gd name="connsiteY1550" fmla="*/ 107156 h 2366367"/>
                  <a:gd name="connsiteX1551" fmla="*/ 331706 w 1830585"/>
                  <a:gd name="connsiteY1551" fmla="*/ 107156 h 2366367"/>
                  <a:gd name="connsiteX1552" fmla="*/ 331706 w 1830585"/>
                  <a:gd name="connsiteY1552" fmla="*/ 8930 h 2366367"/>
                  <a:gd name="connsiteX1553" fmla="*/ 429932 w 1830585"/>
                  <a:gd name="connsiteY1553" fmla="*/ 8930 h 2366367"/>
                  <a:gd name="connsiteX1554" fmla="*/ 429932 w 1830585"/>
                  <a:gd name="connsiteY1554" fmla="*/ 107156 h 2366367"/>
                  <a:gd name="connsiteX1555" fmla="*/ 322776 w 1830585"/>
                  <a:gd name="connsiteY1555" fmla="*/ 107156 h 2366367"/>
                  <a:gd name="connsiteX1556" fmla="*/ 224549 w 1830585"/>
                  <a:gd name="connsiteY1556" fmla="*/ 107156 h 2366367"/>
                  <a:gd name="connsiteX1557" fmla="*/ 224549 w 1830585"/>
                  <a:gd name="connsiteY1557" fmla="*/ 8930 h 2366367"/>
                  <a:gd name="connsiteX1558" fmla="*/ 322776 w 1830585"/>
                  <a:gd name="connsiteY1558" fmla="*/ 8930 h 2366367"/>
                  <a:gd name="connsiteX1559" fmla="*/ 322776 w 1830585"/>
                  <a:gd name="connsiteY1559" fmla="*/ 107156 h 2366367"/>
                  <a:gd name="connsiteX1560" fmla="*/ 215620 w 1830585"/>
                  <a:gd name="connsiteY1560" fmla="*/ 107156 h 2366367"/>
                  <a:gd name="connsiteX1561" fmla="*/ 117393 w 1830585"/>
                  <a:gd name="connsiteY1561" fmla="*/ 107156 h 2366367"/>
                  <a:gd name="connsiteX1562" fmla="*/ 117393 w 1830585"/>
                  <a:gd name="connsiteY1562" fmla="*/ 8930 h 2366367"/>
                  <a:gd name="connsiteX1563" fmla="*/ 215620 w 1830585"/>
                  <a:gd name="connsiteY1563" fmla="*/ 8930 h 2366367"/>
                  <a:gd name="connsiteX1564" fmla="*/ 215620 w 1830585"/>
                  <a:gd name="connsiteY1564" fmla="*/ 107156 h 2366367"/>
                  <a:gd name="connsiteX1565" fmla="*/ 215620 w 1830585"/>
                  <a:gd name="connsiteY1565" fmla="*/ 116086 h 2366367"/>
                  <a:gd name="connsiteX1566" fmla="*/ 215620 w 1830585"/>
                  <a:gd name="connsiteY1566" fmla="*/ 214313 h 2366367"/>
                  <a:gd name="connsiteX1567" fmla="*/ 117393 w 1830585"/>
                  <a:gd name="connsiteY1567" fmla="*/ 214313 h 2366367"/>
                  <a:gd name="connsiteX1568" fmla="*/ 117393 w 1830585"/>
                  <a:gd name="connsiteY1568" fmla="*/ 116086 h 2366367"/>
                  <a:gd name="connsiteX1569" fmla="*/ 215620 w 1830585"/>
                  <a:gd name="connsiteY1569" fmla="*/ 116086 h 2366367"/>
                  <a:gd name="connsiteX1570" fmla="*/ 108463 w 1830585"/>
                  <a:gd name="connsiteY1570" fmla="*/ 214313 h 2366367"/>
                  <a:gd name="connsiteX1571" fmla="*/ 8930 w 1830585"/>
                  <a:gd name="connsiteY1571" fmla="*/ 214313 h 2366367"/>
                  <a:gd name="connsiteX1572" fmla="*/ 8930 w 1830585"/>
                  <a:gd name="connsiteY1572" fmla="*/ 116086 h 2366367"/>
                  <a:gd name="connsiteX1573" fmla="*/ 108456 w 1830585"/>
                  <a:gd name="connsiteY1573" fmla="*/ 116086 h 2366367"/>
                  <a:gd name="connsiteX1574" fmla="*/ 108456 w 1830585"/>
                  <a:gd name="connsiteY1574" fmla="*/ 214313 h 2366367"/>
                  <a:gd name="connsiteX1575" fmla="*/ 8930 w 1830585"/>
                  <a:gd name="connsiteY1575" fmla="*/ 223242 h 2366367"/>
                  <a:gd name="connsiteX1576" fmla="*/ 108456 w 1830585"/>
                  <a:gd name="connsiteY1576" fmla="*/ 223242 h 2366367"/>
                  <a:gd name="connsiteX1577" fmla="*/ 108456 w 1830585"/>
                  <a:gd name="connsiteY1577" fmla="*/ 321469 h 2366367"/>
                  <a:gd name="connsiteX1578" fmla="*/ 8930 w 1830585"/>
                  <a:gd name="connsiteY1578" fmla="*/ 321469 h 2366367"/>
                  <a:gd name="connsiteX1579" fmla="*/ 8930 w 1830585"/>
                  <a:gd name="connsiteY1579" fmla="*/ 223242 h 2366367"/>
                  <a:gd name="connsiteX1580" fmla="*/ 108463 w 1830585"/>
                  <a:gd name="connsiteY1580" fmla="*/ 330398 h 2366367"/>
                  <a:gd name="connsiteX1581" fmla="*/ 108463 w 1830585"/>
                  <a:gd name="connsiteY1581" fmla="*/ 428625 h 2366367"/>
                  <a:gd name="connsiteX1582" fmla="*/ 8930 w 1830585"/>
                  <a:gd name="connsiteY1582" fmla="*/ 428625 h 2366367"/>
                  <a:gd name="connsiteX1583" fmla="*/ 8930 w 1830585"/>
                  <a:gd name="connsiteY1583" fmla="*/ 330398 h 2366367"/>
                  <a:gd name="connsiteX1584" fmla="*/ 108463 w 1830585"/>
                  <a:gd name="connsiteY1584" fmla="*/ 330398 h 2366367"/>
                  <a:gd name="connsiteX1585" fmla="*/ 8930 w 1830585"/>
                  <a:gd name="connsiteY1585" fmla="*/ 437555 h 2366367"/>
                  <a:gd name="connsiteX1586" fmla="*/ 108456 w 1830585"/>
                  <a:gd name="connsiteY1586" fmla="*/ 437555 h 2366367"/>
                  <a:gd name="connsiteX1587" fmla="*/ 108456 w 1830585"/>
                  <a:gd name="connsiteY1587" fmla="*/ 535781 h 2366367"/>
                  <a:gd name="connsiteX1588" fmla="*/ 8930 w 1830585"/>
                  <a:gd name="connsiteY1588" fmla="*/ 535781 h 2366367"/>
                  <a:gd name="connsiteX1589" fmla="*/ 8930 w 1830585"/>
                  <a:gd name="connsiteY1589" fmla="*/ 437555 h 2366367"/>
                  <a:gd name="connsiteX1590" fmla="*/ 108463 w 1830585"/>
                  <a:gd name="connsiteY1590" fmla="*/ 544711 h 2366367"/>
                  <a:gd name="connsiteX1591" fmla="*/ 108463 w 1830585"/>
                  <a:gd name="connsiteY1591" fmla="*/ 642938 h 2366367"/>
                  <a:gd name="connsiteX1592" fmla="*/ 8930 w 1830585"/>
                  <a:gd name="connsiteY1592" fmla="*/ 642938 h 2366367"/>
                  <a:gd name="connsiteX1593" fmla="*/ 8930 w 1830585"/>
                  <a:gd name="connsiteY1593" fmla="*/ 544711 h 2366367"/>
                  <a:gd name="connsiteX1594" fmla="*/ 108463 w 1830585"/>
                  <a:gd name="connsiteY1594" fmla="*/ 544711 h 2366367"/>
                  <a:gd name="connsiteX1595" fmla="*/ 8930 w 1830585"/>
                  <a:gd name="connsiteY1595" fmla="*/ 651867 h 2366367"/>
                  <a:gd name="connsiteX1596" fmla="*/ 108456 w 1830585"/>
                  <a:gd name="connsiteY1596" fmla="*/ 651867 h 2366367"/>
                  <a:gd name="connsiteX1597" fmla="*/ 108456 w 1830585"/>
                  <a:gd name="connsiteY1597" fmla="*/ 750094 h 2366367"/>
                  <a:gd name="connsiteX1598" fmla="*/ 8930 w 1830585"/>
                  <a:gd name="connsiteY1598" fmla="*/ 750094 h 2366367"/>
                  <a:gd name="connsiteX1599" fmla="*/ 8930 w 1830585"/>
                  <a:gd name="connsiteY1599" fmla="*/ 651867 h 2366367"/>
                  <a:gd name="connsiteX1600" fmla="*/ 108463 w 1830585"/>
                  <a:gd name="connsiteY1600" fmla="*/ 759023 h 2366367"/>
                  <a:gd name="connsiteX1601" fmla="*/ 108463 w 1830585"/>
                  <a:gd name="connsiteY1601" fmla="*/ 857250 h 2366367"/>
                  <a:gd name="connsiteX1602" fmla="*/ 8930 w 1830585"/>
                  <a:gd name="connsiteY1602" fmla="*/ 857250 h 2366367"/>
                  <a:gd name="connsiteX1603" fmla="*/ 8930 w 1830585"/>
                  <a:gd name="connsiteY1603" fmla="*/ 759023 h 2366367"/>
                  <a:gd name="connsiteX1604" fmla="*/ 108463 w 1830585"/>
                  <a:gd name="connsiteY1604" fmla="*/ 759023 h 2366367"/>
                  <a:gd name="connsiteX1605" fmla="*/ 8930 w 1830585"/>
                  <a:gd name="connsiteY1605" fmla="*/ 866180 h 2366367"/>
                  <a:gd name="connsiteX1606" fmla="*/ 108456 w 1830585"/>
                  <a:gd name="connsiteY1606" fmla="*/ 866180 h 2366367"/>
                  <a:gd name="connsiteX1607" fmla="*/ 108456 w 1830585"/>
                  <a:gd name="connsiteY1607" fmla="*/ 964406 h 2366367"/>
                  <a:gd name="connsiteX1608" fmla="*/ 8930 w 1830585"/>
                  <a:gd name="connsiteY1608" fmla="*/ 964406 h 2366367"/>
                  <a:gd name="connsiteX1609" fmla="*/ 8930 w 1830585"/>
                  <a:gd name="connsiteY1609" fmla="*/ 866180 h 2366367"/>
                  <a:gd name="connsiteX1610" fmla="*/ 108463 w 1830585"/>
                  <a:gd name="connsiteY1610" fmla="*/ 973336 h 2366367"/>
                  <a:gd name="connsiteX1611" fmla="*/ 108463 w 1830585"/>
                  <a:gd name="connsiteY1611" fmla="*/ 1071563 h 2366367"/>
                  <a:gd name="connsiteX1612" fmla="*/ 8930 w 1830585"/>
                  <a:gd name="connsiteY1612" fmla="*/ 1071563 h 2366367"/>
                  <a:gd name="connsiteX1613" fmla="*/ 8930 w 1830585"/>
                  <a:gd name="connsiteY1613" fmla="*/ 973336 h 2366367"/>
                  <a:gd name="connsiteX1614" fmla="*/ 108463 w 1830585"/>
                  <a:gd name="connsiteY1614" fmla="*/ 973336 h 2366367"/>
                  <a:gd name="connsiteX1615" fmla="*/ 8930 w 1830585"/>
                  <a:gd name="connsiteY1615" fmla="*/ 1080492 h 2366367"/>
                  <a:gd name="connsiteX1616" fmla="*/ 108456 w 1830585"/>
                  <a:gd name="connsiteY1616" fmla="*/ 1080492 h 2366367"/>
                  <a:gd name="connsiteX1617" fmla="*/ 108456 w 1830585"/>
                  <a:gd name="connsiteY1617" fmla="*/ 1178719 h 2366367"/>
                  <a:gd name="connsiteX1618" fmla="*/ 8930 w 1830585"/>
                  <a:gd name="connsiteY1618" fmla="*/ 1178719 h 2366367"/>
                  <a:gd name="connsiteX1619" fmla="*/ 8930 w 1830585"/>
                  <a:gd name="connsiteY1619" fmla="*/ 1080492 h 2366367"/>
                  <a:gd name="connsiteX1620" fmla="*/ 108463 w 1830585"/>
                  <a:gd name="connsiteY1620" fmla="*/ 1187649 h 2366367"/>
                  <a:gd name="connsiteX1621" fmla="*/ 108463 w 1830585"/>
                  <a:gd name="connsiteY1621" fmla="*/ 1285875 h 2366367"/>
                  <a:gd name="connsiteX1622" fmla="*/ 8930 w 1830585"/>
                  <a:gd name="connsiteY1622" fmla="*/ 1285875 h 2366367"/>
                  <a:gd name="connsiteX1623" fmla="*/ 8930 w 1830585"/>
                  <a:gd name="connsiteY1623" fmla="*/ 1187649 h 2366367"/>
                  <a:gd name="connsiteX1624" fmla="*/ 108463 w 1830585"/>
                  <a:gd name="connsiteY1624" fmla="*/ 1187649 h 2366367"/>
                  <a:gd name="connsiteX1625" fmla="*/ 8930 w 1830585"/>
                  <a:gd name="connsiteY1625" fmla="*/ 1294805 h 2366367"/>
                  <a:gd name="connsiteX1626" fmla="*/ 108456 w 1830585"/>
                  <a:gd name="connsiteY1626" fmla="*/ 1294805 h 2366367"/>
                  <a:gd name="connsiteX1627" fmla="*/ 108456 w 1830585"/>
                  <a:gd name="connsiteY1627" fmla="*/ 1393031 h 2366367"/>
                  <a:gd name="connsiteX1628" fmla="*/ 8930 w 1830585"/>
                  <a:gd name="connsiteY1628" fmla="*/ 1393031 h 2366367"/>
                  <a:gd name="connsiteX1629" fmla="*/ 8930 w 1830585"/>
                  <a:gd name="connsiteY1629" fmla="*/ 1294805 h 2366367"/>
                  <a:gd name="connsiteX1630" fmla="*/ 108463 w 1830585"/>
                  <a:gd name="connsiteY1630" fmla="*/ 1401961 h 2366367"/>
                  <a:gd name="connsiteX1631" fmla="*/ 108463 w 1830585"/>
                  <a:gd name="connsiteY1631" fmla="*/ 1500188 h 2366367"/>
                  <a:gd name="connsiteX1632" fmla="*/ 8930 w 1830585"/>
                  <a:gd name="connsiteY1632" fmla="*/ 1500188 h 2366367"/>
                  <a:gd name="connsiteX1633" fmla="*/ 8930 w 1830585"/>
                  <a:gd name="connsiteY1633" fmla="*/ 1401961 h 2366367"/>
                  <a:gd name="connsiteX1634" fmla="*/ 108463 w 1830585"/>
                  <a:gd name="connsiteY1634" fmla="*/ 1401961 h 2366367"/>
                  <a:gd name="connsiteX1635" fmla="*/ 8930 w 1830585"/>
                  <a:gd name="connsiteY1635" fmla="*/ 1509117 h 2366367"/>
                  <a:gd name="connsiteX1636" fmla="*/ 108456 w 1830585"/>
                  <a:gd name="connsiteY1636" fmla="*/ 1509117 h 2366367"/>
                  <a:gd name="connsiteX1637" fmla="*/ 108456 w 1830585"/>
                  <a:gd name="connsiteY1637" fmla="*/ 1607344 h 2366367"/>
                  <a:gd name="connsiteX1638" fmla="*/ 8930 w 1830585"/>
                  <a:gd name="connsiteY1638" fmla="*/ 1607344 h 2366367"/>
                  <a:gd name="connsiteX1639" fmla="*/ 8930 w 1830585"/>
                  <a:gd name="connsiteY1639" fmla="*/ 1509117 h 2366367"/>
                  <a:gd name="connsiteX1640" fmla="*/ 108463 w 1830585"/>
                  <a:gd name="connsiteY1640" fmla="*/ 1616274 h 2366367"/>
                  <a:gd name="connsiteX1641" fmla="*/ 108463 w 1830585"/>
                  <a:gd name="connsiteY1641" fmla="*/ 1714500 h 2366367"/>
                  <a:gd name="connsiteX1642" fmla="*/ 8930 w 1830585"/>
                  <a:gd name="connsiteY1642" fmla="*/ 1714500 h 2366367"/>
                  <a:gd name="connsiteX1643" fmla="*/ 8930 w 1830585"/>
                  <a:gd name="connsiteY1643" fmla="*/ 1616274 h 2366367"/>
                  <a:gd name="connsiteX1644" fmla="*/ 108463 w 1830585"/>
                  <a:gd name="connsiteY1644" fmla="*/ 1616274 h 2366367"/>
                  <a:gd name="connsiteX1645" fmla="*/ 8930 w 1830585"/>
                  <a:gd name="connsiteY1645" fmla="*/ 1723430 h 2366367"/>
                  <a:gd name="connsiteX1646" fmla="*/ 108456 w 1830585"/>
                  <a:gd name="connsiteY1646" fmla="*/ 1723430 h 2366367"/>
                  <a:gd name="connsiteX1647" fmla="*/ 108456 w 1830585"/>
                  <a:gd name="connsiteY1647" fmla="*/ 1821656 h 2366367"/>
                  <a:gd name="connsiteX1648" fmla="*/ 8930 w 1830585"/>
                  <a:gd name="connsiteY1648" fmla="*/ 1821656 h 2366367"/>
                  <a:gd name="connsiteX1649" fmla="*/ 8930 w 1830585"/>
                  <a:gd name="connsiteY1649" fmla="*/ 1723430 h 2366367"/>
                  <a:gd name="connsiteX1650" fmla="*/ 108463 w 1830585"/>
                  <a:gd name="connsiteY1650" fmla="*/ 1830586 h 2366367"/>
                  <a:gd name="connsiteX1651" fmla="*/ 108463 w 1830585"/>
                  <a:gd name="connsiteY1651" fmla="*/ 1928813 h 2366367"/>
                  <a:gd name="connsiteX1652" fmla="*/ 8930 w 1830585"/>
                  <a:gd name="connsiteY1652" fmla="*/ 1928813 h 2366367"/>
                  <a:gd name="connsiteX1653" fmla="*/ 8930 w 1830585"/>
                  <a:gd name="connsiteY1653" fmla="*/ 1830586 h 2366367"/>
                  <a:gd name="connsiteX1654" fmla="*/ 108463 w 1830585"/>
                  <a:gd name="connsiteY1654" fmla="*/ 1830586 h 2366367"/>
                  <a:gd name="connsiteX1655" fmla="*/ 8930 w 1830585"/>
                  <a:gd name="connsiteY1655" fmla="*/ 1937742 h 2366367"/>
                  <a:gd name="connsiteX1656" fmla="*/ 108456 w 1830585"/>
                  <a:gd name="connsiteY1656" fmla="*/ 1937742 h 2366367"/>
                  <a:gd name="connsiteX1657" fmla="*/ 108456 w 1830585"/>
                  <a:gd name="connsiteY1657" fmla="*/ 2035969 h 2366367"/>
                  <a:gd name="connsiteX1658" fmla="*/ 8930 w 1830585"/>
                  <a:gd name="connsiteY1658" fmla="*/ 2035969 h 2366367"/>
                  <a:gd name="connsiteX1659" fmla="*/ 8930 w 1830585"/>
                  <a:gd name="connsiteY1659" fmla="*/ 1937742 h 2366367"/>
                  <a:gd name="connsiteX1660" fmla="*/ 108463 w 1830585"/>
                  <a:gd name="connsiteY1660" fmla="*/ 2044899 h 2366367"/>
                  <a:gd name="connsiteX1661" fmla="*/ 108463 w 1830585"/>
                  <a:gd name="connsiteY1661" fmla="*/ 2143125 h 2366367"/>
                  <a:gd name="connsiteX1662" fmla="*/ 8930 w 1830585"/>
                  <a:gd name="connsiteY1662" fmla="*/ 2143125 h 2366367"/>
                  <a:gd name="connsiteX1663" fmla="*/ 8930 w 1830585"/>
                  <a:gd name="connsiteY1663" fmla="*/ 2044899 h 2366367"/>
                  <a:gd name="connsiteX1664" fmla="*/ 108463 w 1830585"/>
                  <a:gd name="connsiteY1664" fmla="*/ 2044899 h 2366367"/>
                  <a:gd name="connsiteX1665" fmla="*/ 8930 w 1830585"/>
                  <a:gd name="connsiteY1665" fmla="*/ 2152055 h 2366367"/>
                  <a:gd name="connsiteX1666" fmla="*/ 108456 w 1830585"/>
                  <a:gd name="connsiteY1666" fmla="*/ 2152055 h 2366367"/>
                  <a:gd name="connsiteX1667" fmla="*/ 108456 w 1830585"/>
                  <a:gd name="connsiteY1667" fmla="*/ 2250281 h 2366367"/>
                  <a:gd name="connsiteX1668" fmla="*/ 8930 w 1830585"/>
                  <a:gd name="connsiteY1668" fmla="*/ 2250281 h 2366367"/>
                  <a:gd name="connsiteX1669" fmla="*/ 8930 w 1830585"/>
                  <a:gd name="connsiteY1669" fmla="*/ 2152055 h 2366367"/>
                  <a:gd name="connsiteX1670" fmla="*/ 117393 w 1830585"/>
                  <a:gd name="connsiteY1670" fmla="*/ 2152055 h 2366367"/>
                  <a:gd name="connsiteX1671" fmla="*/ 215620 w 1830585"/>
                  <a:gd name="connsiteY1671" fmla="*/ 2152055 h 2366367"/>
                  <a:gd name="connsiteX1672" fmla="*/ 215620 w 1830585"/>
                  <a:gd name="connsiteY1672" fmla="*/ 2250281 h 2366367"/>
                  <a:gd name="connsiteX1673" fmla="*/ 117393 w 1830585"/>
                  <a:gd name="connsiteY1673" fmla="*/ 2250281 h 2366367"/>
                  <a:gd name="connsiteX1674" fmla="*/ 117393 w 1830585"/>
                  <a:gd name="connsiteY1674" fmla="*/ 2152055 h 2366367"/>
                  <a:gd name="connsiteX1675" fmla="*/ 215620 w 1830585"/>
                  <a:gd name="connsiteY1675" fmla="*/ 2259211 h 2366367"/>
                  <a:gd name="connsiteX1676" fmla="*/ 215620 w 1830585"/>
                  <a:gd name="connsiteY1676" fmla="*/ 2357438 h 2366367"/>
                  <a:gd name="connsiteX1677" fmla="*/ 117393 w 1830585"/>
                  <a:gd name="connsiteY1677" fmla="*/ 2357438 h 2366367"/>
                  <a:gd name="connsiteX1678" fmla="*/ 117393 w 1830585"/>
                  <a:gd name="connsiteY1678" fmla="*/ 2259211 h 2366367"/>
                  <a:gd name="connsiteX1679" fmla="*/ 215620 w 1830585"/>
                  <a:gd name="connsiteY1679" fmla="*/ 2259211 h 2366367"/>
                  <a:gd name="connsiteX1680" fmla="*/ 224549 w 1830585"/>
                  <a:gd name="connsiteY1680" fmla="*/ 2259211 h 2366367"/>
                  <a:gd name="connsiteX1681" fmla="*/ 322776 w 1830585"/>
                  <a:gd name="connsiteY1681" fmla="*/ 2259211 h 2366367"/>
                  <a:gd name="connsiteX1682" fmla="*/ 322776 w 1830585"/>
                  <a:gd name="connsiteY1682" fmla="*/ 2357438 h 2366367"/>
                  <a:gd name="connsiteX1683" fmla="*/ 224549 w 1830585"/>
                  <a:gd name="connsiteY1683" fmla="*/ 2357438 h 2366367"/>
                  <a:gd name="connsiteX1684" fmla="*/ 224549 w 1830585"/>
                  <a:gd name="connsiteY1684" fmla="*/ 2259211 h 2366367"/>
                  <a:gd name="connsiteX1685" fmla="*/ 331706 w 1830585"/>
                  <a:gd name="connsiteY1685" fmla="*/ 2259211 h 2366367"/>
                  <a:gd name="connsiteX1686" fmla="*/ 429932 w 1830585"/>
                  <a:gd name="connsiteY1686" fmla="*/ 2259211 h 2366367"/>
                  <a:gd name="connsiteX1687" fmla="*/ 429932 w 1830585"/>
                  <a:gd name="connsiteY1687" fmla="*/ 2357438 h 2366367"/>
                  <a:gd name="connsiteX1688" fmla="*/ 331706 w 1830585"/>
                  <a:gd name="connsiteY1688" fmla="*/ 2357438 h 2366367"/>
                  <a:gd name="connsiteX1689" fmla="*/ 331706 w 1830585"/>
                  <a:gd name="connsiteY1689" fmla="*/ 2259211 h 2366367"/>
                  <a:gd name="connsiteX1690" fmla="*/ 438862 w 1830585"/>
                  <a:gd name="connsiteY1690" fmla="*/ 2259211 h 2366367"/>
                  <a:gd name="connsiteX1691" fmla="*/ 537089 w 1830585"/>
                  <a:gd name="connsiteY1691" fmla="*/ 2259211 h 2366367"/>
                  <a:gd name="connsiteX1692" fmla="*/ 537089 w 1830585"/>
                  <a:gd name="connsiteY1692" fmla="*/ 2357438 h 2366367"/>
                  <a:gd name="connsiteX1693" fmla="*/ 438862 w 1830585"/>
                  <a:gd name="connsiteY1693" fmla="*/ 2357438 h 2366367"/>
                  <a:gd name="connsiteX1694" fmla="*/ 438862 w 1830585"/>
                  <a:gd name="connsiteY1694" fmla="*/ 2259211 h 2366367"/>
                  <a:gd name="connsiteX1695" fmla="*/ 546018 w 1830585"/>
                  <a:gd name="connsiteY1695" fmla="*/ 2259211 h 2366367"/>
                  <a:gd name="connsiteX1696" fmla="*/ 644245 w 1830585"/>
                  <a:gd name="connsiteY1696" fmla="*/ 2259211 h 2366367"/>
                  <a:gd name="connsiteX1697" fmla="*/ 644245 w 1830585"/>
                  <a:gd name="connsiteY1697" fmla="*/ 2357438 h 2366367"/>
                  <a:gd name="connsiteX1698" fmla="*/ 546018 w 1830585"/>
                  <a:gd name="connsiteY1698" fmla="*/ 2357438 h 2366367"/>
                  <a:gd name="connsiteX1699" fmla="*/ 546018 w 1830585"/>
                  <a:gd name="connsiteY1699" fmla="*/ 2259211 h 2366367"/>
                  <a:gd name="connsiteX1700" fmla="*/ 653175 w 1830585"/>
                  <a:gd name="connsiteY1700" fmla="*/ 2259211 h 2366367"/>
                  <a:gd name="connsiteX1701" fmla="*/ 751401 w 1830585"/>
                  <a:gd name="connsiteY1701" fmla="*/ 2259211 h 2366367"/>
                  <a:gd name="connsiteX1702" fmla="*/ 751401 w 1830585"/>
                  <a:gd name="connsiteY1702" fmla="*/ 2357438 h 2366367"/>
                  <a:gd name="connsiteX1703" fmla="*/ 653175 w 1830585"/>
                  <a:gd name="connsiteY1703" fmla="*/ 2357438 h 2366367"/>
                  <a:gd name="connsiteX1704" fmla="*/ 653175 w 1830585"/>
                  <a:gd name="connsiteY1704" fmla="*/ 2259211 h 2366367"/>
                  <a:gd name="connsiteX1705" fmla="*/ 760331 w 1830585"/>
                  <a:gd name="connsiteY1705" fmla="*/ 2259211 h 2366367"/>
                  <a:gd name="connsiteX1706" fmla="*/ 858557 w 1830585"/>
                  <a:gd name="connsiteY1706" fmla="*/ 2259211 h 2366367"/>
                  <a:gd name="connsiteX1707" fmla="*/ 858557 w 1830585"/>
                  <a:gd name="connsiteY1707" fmla="*/ 2357438 h 2366367"/>
                  <a:gd name="connsiteX1708" fmla="*/ 760331 w 1830585"/>
                  <a:gd name="connsiteY1708" fmla="*/ 2357438 h 2366367"/>
                  <a:gd name="connsiteX1709" fmla="*/ 760331 w 1830585"/>
                  <a:gd name="connsiteY1709" fmla="*/ 2259211 h 2366367"/>
                  <a:gd name="connsiteX1710" fmla="*/ 867487 w 1830585"/>
                  <a:gd name="connsiteY1710" fmla="*/ 2259211 h 2366367"/>
                  <a:gd name="connsiteX1711" fmla="*/ 965714 w 1830585"/>
                  <a:gd name="connsiteY1711" fmla="*/ 2259211 h 2366367"/>
                  <a:gd name="connsiteX1712" fmla="*/ 965714 w 1830585"/>
                  <a:gd name="connsiteY1712" fmla="*/ 2357438 h 2366367"/>
                  <a:gd name="connsiteX1713" fmla="*/ 867487 w 1830585"/>
                  <a:gd name="connsiteY1713" fmla="*/ 2357438 h 2366367"/>
                  <a:gd name="connsiteX1714" fmla="*/ 867487 w 1830585"/>
                  <a:gd name="connsiteY1714" fmla="*/ 2259211 h 2366367"/>
                  <a:gd name="connsiteX1715" fmla="*/ 974643 w 1830585"/>
                  <a:gd name="connsiteY1715" fmla="*/ 2259211 h 2366367"/>
                  <a:gd name="connsiteX1716" fmla="*/ 1072870 w 1830585"/>
                  <a:gd name="connsiteY1716" fmla="*/ 2259211 h 2366367"/>
                  <a:gd name="connsiteX1717" fmla="*/ 1072870 w 1830585"/>
                  <a:gd name="connsiteY1717" fmla="*/ 2357438 h 2366367"/>
                  <a:gd name="connsiteX1718" fmla="*/ 974643 w 1830585"/>
                  <a:gd name="connsiteY1718" fmla="*/ 2357438 h 2366367"/>
                  <a:gd name="connsiteX1719" fmla="*/ 974643 w 1830585"/>
                  <a:gd name="connsiteY1719" fmla="*/ 2259211 h 2366367"/>
                  <a:gd name="connsiteX1720" fmla="*/ 1081800 w 1830585"/>
                  <a:gd name="connsiteY1720" fmla="*/ 2259211 h 2366367"/>
                  <a:gd name="connsiteX1721" fmla="*/ 1180026 w 1830585"/>
                  <a:gd name="connsiteY1721" fmla="*/ 2259211 h 2366367"/>
                  <a:gd name="connsiteX1722" fmla="*/ 1180026 w 1830585"/>
                  <a:gd name="connsiteY1722" fmla="*/ 2357438 h 2366367"/>
                  <a:gd name="connsiteX1723" fmla="*/ 1081800 w 1830585"/>
                  <a:gd name="connsiteY1723" fmla="*/ 2357438 h 2366367"/>
                  <a:gd name="connsiteX1724" fmla="*/ 1081800 w 1830585"/>
                  <a:gd name="connsiteY1724" fmla="*/ 2259211 h 2366367"/>
                  <a:gd name="connsiteX1725" fmla="*/ 1188956 w 1830585"/>
                  <a:gd name="connsiteY1725" fmla="*/ 2259211 h 2366367"/>
                  <a:gd name="connsiteX1726" fmla="*/ 1287182 w 1830585"/>
                  <a:gd name="connsiteY1726" fmla="*/ 2259211 h 2366367"/>
                  <a:gd name="connsiteX1727" fmla="*/ 1287182 w 1830585"/>
                  <a:gd name="connsiteY1727" fmla="*/ 2357438 h 2366367"/>
                  <a:gd name="connsiteX1728" fmla="*/ 1188956 w 1830585"/>
                  <a:gd name="connsiteY1728" fmla="*/ 2357438 h 2366367"/>
                  <a:gd name="connsiteX1729" fmla="*/ 1188956 w 1830585"/>
                  <a:gd name="connsiteY1729" fmla="*/ 2259211 h 2366367"/>
                  <a:gd name="connsiteX1730" fmla="*/ 1296112 w 1830585"/>
                  <a:gd name="connsiteY1730" fmla="*/ 2259211 h 2366367"/>
                  <a:gd name="connsiteX1731" fmla="*/ 1394339 w 1830585"/>
                  <a:gd name="connsiteY1731" fmla="*/ 2259211 h 2366367"/>
                  <a:gd name="connsiteX1732" fmla="*/ 1394339 w 1830585"/>
                  <a:gd name="connsiteY1732" fmla="*/ 2357438 h 2366367"/>
                  <a:gd name="connsiteX1733" fmla="*/ 1296112 w 1830585"/>
                  <a:gd name="connsiteY1733" fmla="*/ 2357438 h 2366367"/>
                  <a:gd name="connsiteX1734" fmla="*/ 1296112 w 1830585"/>
                  <a:gd name="connsiteY1734" fmla="*/ 2259211 h 2366367"/>
                  <a:gd name="connsiteX1735" fmla="*/ 1403268 w 1830585"/>
                  <a:gd name="connsiteY1735" fmla="*/ 2259211 h 2366367"/>
                  <a:gd name="connsiteX1736" fmla="*/ 1501495 w 1830585"/>
                  <a:gd name="connsiteY1736" fmla="*/ 2259211 h 2366367"/>
                  <a:gd name="connsiteX1737" fmla="*/ 1501495 w 1830585"/>
                  <a:gd name="connsiteY1737" fmla="*/ 2357438 h 2366367"/>
                  <a:gd name="connsiteX1738" fmla="*/ 1403268 w 1830585"/>
                  <a:gd name="connsiteY1738" fmla="*/ 2357438 h 2366367"/>
                  <a:gd name="connsiteX1739" fmla="*/ 1403268 w 1830585"/>
                  <a:gd name="connsiteY1739" fmla="*/ 2259211 h 2366367"/>
                  <a:gd name="connsiteX1740" fmla="*/ 1510425 w 1830585"/>
                  <a:gd name="connsiteY1740" fmla="*/ 2259211 h 2366367"/>
                  <a:gd name="connsiteX1741" fmla="*/ 1608651 w 1830585"/>
                  <a:gd name="connsiteY1741" fmla="*/ 2259211 h 2366367"/>
                  <a:gd name="connsiteX1742" fmla="*/ 1608651 w 1830585"/>
                  <a:gd name="connsiteY1742" fmla="*/ 2357438 h 2366367"/>
                  <a:gd name="connsiteX1743" fmla="*/ 1510425 w 1830585"/>
                  <a:gd name="connsiteY1743" fmla="*/ 2357438 h 2366367"/>
                  <a:gd name="connsiteX1744" fmla="*/ 1510425 w 1830585"/>
                  <a:gd name="connsiteY1744" fmla="*/ 2259211 h 2366367"/>
                  <a:gd name="connsiteX1745" fmla="*/ 1617581 w 1830585"/>
                  <a:gd name="connsiteY1745" fmla="*/ 2259211 h 2366367"/>
                  <a:gd name="connsiteX1746" fmla="*/ 1715807 w 1830585"/>
                  <a:gd name="connsiteY1746" fmla="*/ 2259211 h 2366367"/>
                  <a:gd name="connsiteX1747" fmla="*/ 1715807 w 1830585"/>
                  <a:gd name="connsiteY1747" fmla="*/ 2357438 h 2366367"/>
                  <a:gd name="connsiteX1748" fmla="*/ 1617581 w 1830585"/>
                  <a:gd name="connsiteY1748" fmla="*/ 2357438 h 2366367"/>
                  <a:gd name="connsiteX1749" fmla="*/ 1617581 w 1830585"/>
                  <a:gd name="connsiteY1749" fmla="*/ 2259211 h 2366367"/>
                  <a:gd name="connsiteX1750" fmla="*/ 1617581 w 1830585"/>
                  <a:gd name="connsiteY1750" fmla="*/ 2250281 h 2366367"/>
                  <a:gd name="connsiteX1751" fmla="*/ 1617581 w 1830585"/>
                  <a:gd name="connsiteY1751" fmla="*/ 2152055 h 2366367"/>
                  <a:gd name="connsiteX1752" fmla="*/ 1715807 w 1830585"/>
                  <a:gd name="connsiteY1752" fmla="*/ 2152055 h 2366367"/>
                  <a:gd name="connsiteX1753" fmla="*/ 1715807 w 1830585"/>
                  <a:gd name="connsiteY1753" fmla="*/ 2250281 h 2366367"/>
                  <a:gd name="connsiteX1754" fmla="*/ 1617581 w 1830585"/>
                  <a:gd name="connsiteY1754" fmla="*/ 2250281 h 2366367"/>
                  <a:gd name="connsiteX1755" fmla="*/ 1724737 w 1830585"/>
                  <a:gd name="connsiteY1755" fmla="*/ 2152055 h 2366367"/>
                  <a:gd name="connsiteX1756" fmla="*/ 1821664 w 1830585"/>
                  <a:gd name="connsiteY1756" fmla="*/ 2152055 h 2366367"/>
                  <a:gd name="connsiteX1757" fmla="*/ 1821664 w 1830585"/>
                  <a:gd name="connsiteY1757" fmla="*/ 2250281 h 2366367"/>
                  <a:gd name="connsiteX1758" fmla="*/ 1724737 w 1830585"/>
                  <a:gd name="connsiteY1758" fmla="*/ 2250281 h 2366367"/>
                  <a:gd name="connsiteX1759" fmla="*/ 1724737 w 1830585"/>
                  <a:gd name="connsiteY1759" fmla="*/ 2152055 h 2366367"/>
                  <a:gd name="connsiteX1760" fmla="*/ 1724737 w 1830585"/>
                  <a:gd name="connsiteY1760" fmla="*/ 2143125 h 2366367"/>
                  <a:gd name="connsiteX1761" fmla="*/ 1724737 w 1830585"/>
                  <a:gd name="connsiteY1761" fmla="*/ 2044899 h 2366367"/>
                  <a:gd name="connsiteX1762" fmla="*/ 1821664 w 1830585"/>
                  <a:gd name="connsiteY1762" fmla="*/ 2044899 h 2366367"/>
                  <a:gd name="connsiteX1763" fmla="*/ 1821664 w 1830585"/>
                  <a:gd name="connsiteY1763" fmla="*/ 2143125 h 2366367"/>
                  <a:gd name="connsiteX1764" fmla="*/ 1724737 w 1830585"/>
                  <a:gd name="connsiteY1764" fmla="*/ 2143125 h 2366367"/>
                  <a:gd name="connsiteX1765" fmla="*/ 1821656 w 1830585"/>
                  <a:gd name="connsiteY1765" fmla="*/ 2035969 h 2366367"/>
                  <a:gd name="connsiteX1766" fmla="*/ 1724730 w 1830585"/>
                  <a:gd name="connsiteY1766" fmla="*/ 2035969 h 2366367"/>
                  <a:gd name="connsiteX1767" fmla="*/ 1724730 w 1830585"/>
                  <a:gd name="connsiteY1767" fmla="*/ 1937742 h 2366367"/>
                  <a:gd name="connsiteX1768" fmla="*/ 1821656 w 1830585"/>
                  <a:gd name="connsiteY1768" fmla="*/ 1937742 h 2366367"/>
                  <a:gd name="connsiteX1769" fmla="*/ 1821656 w 1830585"/>
                  <a:gd name="connsiteY1769" fmla="*/ 2035969 h 2366367"/>
                  <a:gd name="connsiteX1770" fmla="*/ 1724737 w 1830585"/>
                  <a:gd name="connsiteY1770" fmla="*/ 1928813 h 2366367"/>
                  <a:gd name="connsiteX1771" fmla="*/ 1724737 w 1830585"/>
                  <a:gd name="connsiteY1771" fmla="*/ 1830586 h 2366367"/>
                  <a:gd name="connsiteX1772" fmla="*/ 1821664 w 1830585"/>
                  <a:gd name="connsiteY1772" fmla="*/ 1830586 h 2366367"/>
                  <a:gd name="connsiteX1773" fmla="*/ 1821664 w 1830585"/>
                  <a:gd name="connsiteY1773" fmla="*/ 1928813 h 2366367"/>
                  <a:gd name="connsiteX1774" fmla="*/ 1724737 w 1830585"/>
                  <a:gd name="connsiteY1774" fmla="*/ 1928813 h 2366367"/>
                  <a:gd name="connsiteX1775" fmla="*/ 1821656 w 1830585"/>
                  <a:gd name="connsiteY1775" fmla="*/ 1821656 h 2366367"/>
                  <a:gd name="connsiteX1776" fmla="*/ 1724730 w 1830585"/>
                  <a:gd name="connsiteY1776" fmla="*/ 1821656 h 2366367"/>
                  <a:gd name="connsiteX1777" fmla="*/ 1724730 w 1830585"/>
                  <a:gd name="connsiteY1777" fmla="*/ 1723430 h 2366367"/>
                  <a:gd name="connsiteX1778" fmla="*/ 1821656 w 1830585"/>
                  <a:gd name="connsiteY1778" fmla="*/ 1723430 h 2366367"/>
                  <a:gd name="connsiteX1779" fmla="*/ 1821656 w 1830585"/>
                  <a:gd name="connsiteY1779" fmla="*/ 1821656 h 2366367"/>
                  <a:gd name="connsiteX1780" fmla="*/ 1724737 w 1830585"/>
                  <a:gd name="connsiteY1780" fmla="*/ 1714500 h 2366367"/>
                  <a:gd name="connsiteX1781" fmla="*/ 1724737 w 1830585"/>
                  <a:gd name="connsiteY1781" fmla="*/ 1616274 h 2366367"/>
                  <a:gd name="connsiteX1782" fmla="*/ 1821664 w 1830585"/>
                  <a:gd name="connsiteY1782" fmla="*/ 1616274 h 2366367"/>
                  <a:gd name="connsiteX1783" fmla="*/ 1821664 w 1830585"/>
                  <a:gd name="connsiteY1783" fmla="*/ 1714500 h 2366367"/>
                  <a:gd name="connsiteX1784" fmla="*/ 1724737 w 1830585"/>
                  <a:gd name="connsiteY1784" fmla="*/ 1714500 h 2366367"/>
                  <a:gd name="connsiteX1785" fmla="*/ 1821656 w 1830585"/>
                  <a:gd name="connsiteY1785" fmla="*/ 1607344 h 2366367"/>
                  <a:gd name="connsiteX1786" fmla="*/ 1724730 w 1830585"/>
                  <a:gd name="connsiteY1786" fmla="*/ 1607344 h 2366367"/>
                  <a:gd name="connsiteX1787" fmla="*/ 1724730 w 1830585"/>
                  <a:gd name="connsiteY1787" fmla="*/ 1509117 h 2366367"/>
                  <a:gd name="connsiteX1788" fmla="*/ 1821656 w 1830585"/>
                  <a:gd name="connsiteY1788" fmla="*/ 1509117 h 2366367"/>
                  <a:gd name="connsiteX1789" fmla="*/ 1821656 w 1830585"/>
                  <a:gd name="connsiteY1789" fmla="*/ 1607344 h 2366367"/>
                  <a:gd name="connsiteX1790" fmla="*/ 1724737 w 1830585"/>
                  <a:gd name="connsiteY1790" fmla="*/ 1500188 h 2366367"/>
                  <a:gd name="connsiteX1791" fmla="*/ 1724737 w 1830585"/>
                  <a:gd name="connsiteY1791" fmla="*/ 1401961 h 2366367"/>
                  <a:gd name="connsiteX1792" fmla="*/ 1821664 w 1830585"/>
                  <a:gd name="connsiteY1792" fmla="*/ 1401961 h 2366367"/>
                  <a:gd name="connsiteX1793" fmla="*/ 1821664 w 1830585"/>
                  <a:gd name="connsiteY1793" fmla="*/ 1500188 h 2366367"/>
                  <a:gd name="connsiteX1794" fmla="*/ 1724737 w 1830585"/>
                  <a:gd name="connsiteY1794" fmla="*/ 1500188 h 2366367"/>
                  <a:gd name="connsiteX1795" fmla="*/ 1821656 w 1830585"/>
                  <a:gd name="connsiteY1795" fmla="*/ 1393031 h 2366367"/>
                  <a:gd name="connsiteX1796" fmla="*/ 1724730 w 1830585"/>
                  <a:gd name="connsiteY1796" fmla="*/ 1393031 h 2366367"/>
                  <a:gd name="connsiteX1797" fmla="*/ 1724730 w 1830585"/>
                  <a:gd name="connsiteY1797" fmla="*/ 1294805 h 2366367"/>
                  <a:gd name="connsiteX1798" fmla="*/ 1821656 w 1830585"/>
                  <a:gd name="connsiteY1798" fmla="*/ 1294805 h 2366367"/>
                  <a:gd name="connsiteX1799" fmla="*/ 1821656 w 1830585"/>
                  <a:gd name="connsiteY1799" fmla="*/ 1393031 h 2366367"/>
                  <a:gd name="connsiteX1800" fmla="*/ 1724737 w 1830585"/>
                  <a:gd name="connsiteY1800" fmla="*/ 1285875 h 2366367"/>
                  <a:gd name="connsiteX1801" fmla="*/ 1724737 w 1830585"/>
                  <a:gd name="connsiteY1801" fmla="*/ 1187649 h 2366367"/>
                  <a:gd name="connsiteX1802" fmla="*/ 1821664 w 1830585"/>
                  <a:gd name="connsiteY1802" fmla="*/ 1187649 h 2366367"/>
                  <a:gd name="connsiteX1803" fmla="*/ 1821664 w 1830585"/>
                  <a:gd name="connsiteY1803" fmla="*/ 1285875 h 2366367"/>
                  <a:gd name="connsiteX1804" fmla="*/ 1724737 w 1830585"/>
                  <a:gd name="connsiteY1804" fmla="*/ 1285875 h 2366367"/>
                  <a:gd name="connsiteX1805" fmla="*/ 1821656 w 1830585"/>
                  <a:gd name="connsiteY1805" fmla="*/ 1178719 h 2366367"/>
                  <a:gd name="connsiteX1806" fmla="*/ 1724730 w 1830585"/>
                  <a:gd name="connsiteY1806" fmla="*/ 1178719 h 2366367"/>
                  <a:gd name="connsiteX1807" fmla="*/ 1724730 w 1830585"/>
                  <a:gd name="connsiteY1807" fmla="*/ 1080492 h 2366367"/>
                  <a:gd name="connsiteX1808" fmla="*/ 1821656 w 1830585"/>
                  <a:gd name="connsiteY1808" fmla="*/ 1080492 h 2366367"/>
                  <a:gd name="connsiteX1809" fmla="*/ 1821656 w 1830585"/>
                  <a:gd name="connsiteY1809" fmla="*/ 1178719 h 2366367"/>
                  <a:gd name="connsiteX1810" fmla="*/ 1724737 w 1830585"/>
                  <a:gd name="connsiteY1810" fmla="*/ 1071563 h 2366367"/>
                  <a:gd name="connsiteX1811" fmla="*/ 1724737 w 1830585"/>
                  <a:gd name="connsiteY1811" fmla="*/ 973336 h 2366367"/>
                  <a:gd name="connsiteX1812" fmla="*/ 1821664 w 1830585"/>
                  <a:gd name="connsiteY1812" fmla="*/ 973336 h 2366367"/>
                  <a:gd name="connsiteX1813" fmla="*/ 1821664 w 1830585"/>
                  <a:gd name="connsiteY1813" fmla="*/ 1071563 h 2366367"/>
                  <a:gd name="connsiteX1814" fmla="*/ 1724737 w 1830585"/>
                  <a:gd name="connsiteY1814" fmla="*/ 1071563 h 2366367"/>
                  <a:gd name="connsiteX1815" fmla="*/ 1821656 w 1830585"/>
                  <a:gd name="connsiteY1815" fmla="*/ 964406 h 2366367"/>
                  <a:gd name="connsiteX1816" fmla="*/ 1724730 w 1830585"/>
                  <a:gd name="connsiteY1816" fmla="*/ 964406 h 2366367"/>
                  <a:gd name="connsiteX1817" fmla="*/ 1724730 w 1830585"/>
                  <a:gd name="connsiteY1817" fmla="*/ 866180 h 2366367"/>
                  <a:gd name="connsiteX1818" fmla="*/ 1821656 w 1830585"/>
                  <a:gd name="connsiteY1818" fmla="*/ 866180 h 2366367"/>
                  <a:gd name="connsiteX1819" fmla="*/ 1821656 w 1830585"/>
                  <a:gd name="connsiteY1819" fmla="*/ 964406 h 2366367"/>
                  <a:gd name="connsiteX1820" fmla="*/ 1724737 w 1830585"/>
                  <a:gd name="connsiteY1820" fmla="*/ 857250 h 2366367"/>
                  <a:gd name="connsiteX1821" fmla="*/ 1724737 w 1830585"/>
                  <a:gd name="connsiteY1821" fmla="*/ 759023 h 2366367"/>
                  <a:gd name="connsiteX1822" fmla="*/ 1821664 w 1830585"/>
                  <a:gd name="connsiteY1822" fmla="*/ 759023 h 2366367"/>
                  <a:gd name="connsiteX1823" fmla="*/ 1821664 w 1830585"/>
                  <a:gd name="connsiteY1823" fmla="*/ 857250 h 2366367"/>
                  <a:gd name="connsiteX1824" fmla="*/ 1724737 w 1830585"/>
                  <a:gd name="connsiteY1824" fmla="*/ 857250 h 2366367"/>
                  <a:gd name="connsiteX1825" fmla="*/ 1821656 w 1830585"/>
                  <a:gd name="connsiteY1825" fmla="*/ 750094 h 2366367"/>
                  <a:gd name="connsiteX1826" fmla="*/ 1724730 w 1830585"/>
                  <a:gd name="connsiteY1826" fmla="*/ 750094 h 2366367"/>
                  <a:gd name="connsiteX1827" fmla="*/ 1724730 w 1830585"/>
                  <a:gd name="connsiteY1827" fmla="*/ 651867 h 2366367"/>
                  <a:gd name="connsiteX1828" fmla="*/ 1821656 w 1830585"/>
                  <a:gd name="connsiteY1828" fmla="*/ 651867 h 2366367"/>
                  <a:gd name="connsiteX1829" fmla="*/ 1821656 w 1830585"/>
                  <a:gd name="connsiteY1829" fmla="*/ 750094 h 2366367"/>
                  <a:gd name="connsiteX1830" fmla="*/ 1724737 w 1830585"/>
                  <a:gd name="connsiteY1830" fmla="*/ 642938 h 2366367"/>
                  <a:gd name="connsiteX1831" fmla="*/ 1724737 w 1830585"/>
                  <a:gd name="connsiteY1831" fmla="*/ 544711 h 2366367"/>
                  <a:gd name="connsiteX1832" fmla="*/ 1821664 w 1830585"/>
                  <a:gd name="connsiteY1832" fmla="*/ 544711 h 2366367"/>
                  <a:gd name="connsiteX1833" fmla="*/ 1821664 w 1830585"/>
                  <a:gd name="connsiteY1833" fmla="*/ 642938 h 2366367"/>
                  <a:gd name="connsiteX1834" fmla="*/ 1724737 w 1830585"/>
                  <a:gd name="connsiteY1834" fmla="*/ 642938 h 2366367"/>
                  <a:gd name="connsiteX1835" fmla="*/ 1821656 w 1830585"/>
                  <a:gd name="connsiteY1835" fmla="*/ 535781 h 2366367"/>
                  <a:gd name="connsiteX1836" fmla="*/ 1724730 w 1830585"/>
                  <a:gd name="connsiteY1836" fmla="*/ 535781 h 2366367"/>
                  <a:gd name="connsiteX1837" fmla="*/ 1724730 w 1830585"/>
                  <a:gd name="connsiteY1837" fmla="*/ 437555 h 2366367"/>
                  <a:gd name="connsiteX1838" fmla="*/ 1821656 w 1830585"/>
                  <a:gd name="connsiteY1838" fmla="*/ 437555 h 2366367"/>
                  <a:gd name="connsiteX1839" fmla="*/ 1821656 w 1830585"/>
                  <a:gd name="connsiteY1839" fmla="*/ 535781 h 2366367"/>
                  <a:gd name="connsiteX1840" fmla="*/ 1724737 w 1830585"/>
                  <a:gd name="connsiteY1840" fmla="*/ 428625 h 2366367"/>
                  <a:gd name="connsiteX1841" fmla="*/ 1724737 w 1830585"/>
                  <a:gd name="connsiteY1841" fmla="*/ 330398 h 2366367"/>
                  <a:gd name="connsiteX1842" fmla="*/ 1821664 w 1830585"/>
                  <a:gd name="connsiteY1842" fmla="*/ 330398 h 2366367"/>
                  <a:gd name="connsiteX1843" fmla="*/ 1821664 w 1830585"/>
                  <a:gd name="connsiteY1843" fmla="*/ 428625 h 2366367"/>
                  <a:gd name="connsiteX1844" fmla="*/ 1724737 w 1830585"/>
                  <a:gd name="connsiteY1844" fmla="*/ 428625 h 2366367"/>
                  <a:gd name="connsiteX1845" fmla="*/ 1821656 w 1830585"/>
                  <a:gd name="connsiteY1845" fmla="*/ 321469 h 2366367"/>
                  <a:gd name="connsiteX1846" fmla="*/ 1724730 w 1830585"/>
                  <a:gd name="connsiteY1846" fmla="*/ 321469 h 2366367"/>
                  <a:gd name="connsiteX1847" fmla="*/ 1724730 w 1830585"/>
                  <a:gd name="connsiteY1847" fmla="*/ 223242 h 2366367"/>
                  <a:gd name="connsiteX1848" fmla="*/ 1821656 w 1830585"/>
                  <a:gd name="connsiteY1848" fmla="*/ 223242 h 2366367"/>
                  <a:gd name="connsiteX1849" fmla="*/ 1821656 w 1830585"/>
                  <a:gd name="connsiteY1849" fmla="*/ 321469 h 2366367"/>
                  <a:gd name="connsiteX1850" fmla="*/ 1724737 w 1830585"/>
                  <a:gd name="connsiteY1850" fmla="*/ 214313 h 2366367"/>
                  <a:gd name="connsiteX1851" fmla="*/ 1724737 w 1830585"/>
                  <a:gd name="connsiteY1851" fmla="*/ 116086 h 2366367"/>
                  <a:gd name="connsiteX1852" fmla="*/ 1821664 w 1830585"/>
                  <a:gd name="connsiteY1852" fmla="*/ 116086 h 2366367"/>
                  <a:gd name="connsiteX1853" fmla="*/ 1821664 w 1830585"/>
                  <a:gd name="connsiteY1853" fmla="*/ 214313 h 2366367"/>
                  <a:gd name="connsiteX1854" fmla="*/ 1724737 w 1830585"/>
                  <a:gd name="connsiteY1854" fmla="*/ 214313 h 2366367"/>
                  <a:gd name="connsiteX1855" fmla="*/ 1821656 w 1830585"/>
                  <a:gd name="connsiteY1855" fmla="*/ 107156 h 2366367"/>
                  <a:gd name="connsiteX1856" fmla="*/ 1724730 w 1830585"/>
                  <a:gd name="connsiteY1856" fmla="*/ 107156 h 2366367"/>
                  <a:gd name="connsiteX1857" fmla="*/ 1724730 w 1830585"/>
                  <a:gd name="connsiteY1857" fmla="*/ 8930 h 2366367"/>
                  <a:gd name="connsiteX1858" fmla="*/ 1821656 w 1830585"/>
                  <a:gd name="connsiteY1858" fmla="*/ 8930 h 2366367"/>
                  <a:gd name="connsiteX1859" fmla="*/ 1821656 w 1830585"/>
                  <a:gd name="connsiteY1859" fmla="*/ 107156 h 2366367"/>
                  <a:gd name="connsiteX1860" fmla="*/ 108463 w 1830585"/>
                  <a:gd name="connsiteY1860" fmla="*/ 8930 h 2366367"/>
                  <a:gd name="connsiteX1861" fmla="*/ 108463 w 1830585"/>
                  <a:gd name="connsiteY1861" fmla="*/ 107156 h 2366367"/>
                  <a:gd name="connsiteX1862" fmla="*/ 8930 w 1830585"/>
                  <a:gd name="connsiteY1862" fmla="*/ 107156 h 2366367"/>
                  <a:gd name="connsiteX1863" fmla="*/ 8930 w 1830585"/>
                  <a:gd name="connsiteY1863" fmla="*/ 8930 h 2366367"/>
                  <a:gd name="connsiteX1864" fmla="*/ 108463 w 1830585"/>
                  <a:gd name="connsiteY1864" fmla="*/ 8930 h 2366367"/>
                  <a:gd name="connsiteX1865" fmla="*/ 8930 w 1830585"/>
                  <a:gd name="connsiteY1865" fmla="*/ 2259211 h 2366367"/>
                  <a:gd name="connsiteX1866" fmla="*/ 108456 w 1830585"/>
                  <a:gd name="connsiteY1866" fmla="*/ 2259211 h 2366367"/>
                  <a:gd name="connsiteX1867" fmla="*/ 108456 w 1830585"/>
                  <a:gd name="connsiteY1867" fmla="*/ 2357438 h 2366367"/>
                  <a:gd name="connsiteX1868" fmla="*/ 8930 w 1830585"/>
                  <a:gd name="connsiteY1868" fmla="*/ 2357438 h 2366367"/>
                  <a:gd name="connsiteX1869" fmla="*/ 8930 w 1830585"/>
                  <a:gd name="connsiteY1869" fmla="*/ 2259211 h 2366367"/>
                  <a:gd name="connsiteX1870" fmla="*/ 1724737 w 1830585"/>
                  <a:gd name="connsiteY1870" fmla="*/ 2357438 h 2366367"/>
                  <a:gd name="connsiteX1871" fmla="*/ 1724737 w 1830585"/>
                  <a:gd name="connsiteY1871" fmla="*/ 2259211 h 2366367"/>
                  <a:gd name="connsiteX1872" fmla="*/ 1821664 w 1830585"/>
                  <a:gd name="connsiteY1872" fmla="*/ 2259211 h 2366367"/>
                  <a:gd name="connsiteX1873" fmla="*/ 1821664 w 1830585"/>
                  <a:gd name="connsiteY1873" fmla="*/ 2357438 h 2366367"/>
                  <a:gd name="connsiteX1874" fmla="*/ 1724737 w 1830585"/>
                  <a:gd name="connsiteY1874" fmla="*/ 2357438 h 236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Lst>
                <a:rect l="l" t="t" r="r" b="b"/>
                <a:pathLst>
                  <a:path w="1830585" h="2366367">
                    <a:moveTo>
                      <a:pt x="0" y="0"/>
                    </a:moveTo>
                    <a:lnTo>
                      <a:pt x="0" y="2366367"/>
                    </a:lnTo>
                    <a:lnTo>
                      <a:pt x="1830586" y="2366367"/>
                    </a:lnTo>
                    <a:lnTo>
                      <a:pt x="1830586" y="0"/>
                    </a:lnTo>
                    <a:lnTo>
                      <a:pt x="0" y="0"/>
                    </a:lnTo>
                    <a:close/>
                    <a:moveTo>
                      <a:pt x="867487" y="1500188"/>
                    </a:moveTo>
                    <a:lnTo>
                      <a:pt x="867487" y="1401961"/>
                    </a:lnTo>
                    <a:lnTo>
                      <a:pt x="965714" y="1401961"/>
                    </a:lnTo>
                    <a:lnTo>
                      <a:pt x="965714" y="1500188"/>
                    </a:lnTo>
                    <a:lnTo>
                      <a:pt x="867487" y="1500188"/>
                    </a:lnTo>
                    <a:close/>
                    <a:moveTo>
                      <a:pt x="965714" y="1509117"/>
                    </a:moveTo>
                    <a:lnTo>
                      <a:pt x="965714" y="1607344"/>
                    </a:lnTo>
                    <a:lnTo>
                      <a:pt x="867487" y="1607344"/>
                    </a:lnTo>
                    <a:lnTo>
                      <a:pt x="867487" y="1509117"/>
                    </a:lnTo>
                    <a:lnTo>
                      <a:pt x="965714" y="1509117"/>
                    </a:lnTo>
                    <a:close/>
                    <a:moveTo>
                      <a:pt x="965714" y="866180"/>
                    </a:moveTo>
                    <a:lnTo>
                      <a:pt x="965714" y="964406"/>
                    </a:lnTo>
                    <a:lnTo>
                      <a:pt x="867487" y="964406"/>
                    </a:lnTo>
                    <a:lnTo>
                      <a:pt x="867487" y="866180"/>
                    </a:lnTo>
                    <a:lnTo>
                      <a:pt x="965714" y="866180"/>
                    </a:lnTo>
                    <a:close/>
                    <a:moveTo>
                      <a:pt x="867487" y="857250"/>
                    </a:moveTo>
                    <a:lnTo>
                      <a:pt x="867487" y="759023"/>
                    </a:lnTo>
                    <a:lnTo>
                      <a:pt x="965714" y="759023"/>
                    </a:lnTo>
                    <a:lnTo>
                      <a:pt x="965714" y="857250"/>
                    </a:lnTo>
                    <a:lnTo>
                      <a:pt x="867487" y="857250"/>
                    </a:lnTo>
                    <a:close/>
                    <a:moveTo>
                      <a:pt x="867487" y="1285875"/>
                    </a:moveTo>
                    <a:lnTo>
                      <a:pt x="867487" y="1187649"/>
                    </a:lnTo>
                    <a:lnTo>
                      <a:pt x="965714" y="1187649"/>
                    </a:lnTo>
                    <a:lnTo>
                      <a:pt x="965714" y="1285875"/>
                    </a:lnTo>
                    <a:lnTo>
                      <a:pt x="867487" y="1285875"/>
                    </a:lnTo>
                    <a:close/>
                    <a:moveTo>
                      <a:pt x="965714" y="1294805"/>
                    </a:moveTo>
                    <a:lnTo>
                      <a:pt x="965714" y="1393031"/>
                    </a:lnTo>
                    <a:lnTo>
                      <a:pt x="867487" y="1393031"/>
                    </a:lnTo>
                    <a:lnTo>
                      <a:pt x="867487" y="1294805"/>
                    </a:lnTo>
                    <a:lnTo>
                      <a:pt x="965714" y="1294805"/>
                    </a:lnTo>
                    <a:close/>
                    <a:moveTo>
                      <a:pt x="867487" y="1178719"/>
                    </a:moveTo>
                    <a:lnTo>
                      <a:pt x="867487" y="1080492"/>
                    </a:lnTo>
                    <a:lnTo>
                      <a:pt x="965714" y="1080492"/>
                    </a:lnTo>
                    <a:lnTo>
                      <a:pt x="965714" y="1178719"/>
                    </a:lnTo>
                    <a:lnTo>
                      <a:pt x="867487" y="1178719"/>
                    </a:lnTo>
                    <a:close/>
                    <a:moveTo>
                      <a:pt x="867487" y="1071563"/>
                    </a:moveTo>
                    <a:lnTo>
                      <a:pt x="867487" y="973336"/>
                    </a:lnTo>
                    <a:lnTo>
                      <a:pt x="965714" y="973336"/>
                    </a:lnTo>
                    <a:lnTo>
                      <a:pt x="965714" y="1071563"/>
                    </a:lnTo>
                    <a:lnTo>
                      <a:pt x="867487" y="1071563"/>
                    </a:lnTo>
                    <a:close/>
                    <a:moveTo>
                      <a:pt x="858557" y="964406"/>
                    </a:moveTo>
                    <a:lnTo>
                      <a:pt x="760331" y="964406"/>
                    </a:lnTo>
                    <a:lnTo>
                      <a:pt x="760331" y="866180"/>
                    </a:lnTo>
                    <a:lnTo>
                      <a:pt x="858557" y="866180"/>
                    </a:lnTo>
                    <a:lnTo>
                      <a:pt x="858557" y="964406"/>
                    </a:lnTo>
                    <a:close/>
                    <a:moveTo>
                      <a:pt x="858557" y="973336"/>
                    </a:moveTo>
                    <a:lnTo>
                      <a:pt x="858557" y="1071563"/>
                    </a:lnTo>
                    <a:lnTo>
                      <a:pt x="760331" y="1071563"/>
                    </a:lnTo>
                    <a:lnTo>
                      <a:pt x="760331" y="973336"/>
                    </a:lnTo>
                    <a:lnTo>
                      <a:pt x="858557" y="973336"/>
                    </a:lnTo>
                    <a:close/>
                    <a:moveTo>
                      <a:pt x="858557" y="1080492"/>
                    </a:moveTo>
                    <a:lnTo>
                      <a:pt x="858557" y="1178719"/>
                    </a:lnTo>
                    <a:lnTo>
                      <a:pt x="760331" y="1178719"/>
                    </a:lnTo>
                    <a:lnTo>
                      <a:pt x="760331" y="1080492"/>
                    </a:lnTo>
                    <a:lnTo>
                      <a:pt x="858557" y="1080492"/>
                    </a:lnTo>
                    <a:close/>
                    <a:moveTo>
                      <a:pt x="858557" y="1187649"/>
                    </a:moveTo>
                    <a:lnTo>
                      <a:pt x="858557" y="1285875"/>
                    </a:lnTo>
                    <a:lnTo>
                      <a:pt x="760331" y="1285875"/>
                    </a:lnTo>
                    <a:lnTo>
                      <a:pt x="760331" y="1187649"/>
                    </a:lnTo>
                    <a:lnTo>
                      <a:pt x="858557" y="1187649"/>
                    </a:lnTo>
                    <a:close/>
                    <a:moveTo>
                      <a:pt x="858557" y="1294805"/>
                    </a:moveTo>
                    <a:lnTo>
                      <a:pt x="858557" y="1393031"/>
                    </a:lnTo>
                    <a:lnTo>
                      <a:pt x="760331" y="1393031"/>
                    </a:lnTo>
                    <a:lnTo>
                      <a:pt x="760331" y="1294805"/>
                    </a:lnTo>
                    <a:lnTo>
                      <a:pt x="858557" y="1294805"/>
                    </a:lnTo>
                    <a:close/>
                    <a:moveTo>
                      <a:pt x="858557" y="1401961"/>
                    </a:moveTo>
                    <a:lnTo>
                      <a:pt x="858557" y="1500188"/>
                    </a:lnTo>
                    <a:lnTo>
                      <a:pt x="760331" y="1500188"/>
                    </a:lnTo>
                    <a:lnTo>
                      <a:pt x="760331" y="1401961"/>
                    </a:lnTo>
                    <a:lnTo>
                      <a:pt x="858557" y="1401961"/>
                    </a:lnTo>
                    <a:close/>
                    <a:moveTo>
                      <a:pt x="974643" y="1401961"/>
                    </a:moveTo>
                    <a:lnTo>
                      <a:pt x="1072870" y="1401961"/>
                    </a:lnTo>
                    <a:lnTo>
                      <a:pt x="1072870" y="1500188"/>
                    </a:lnTo>
                    <a:lnTo>
                      <a:pt x="974643" y="1500188"/>
                    </a:lnTo>
                    <a:lnTo>
                      <a:pt x="974643" y="1401961"/>
                    </a:lnTo>
                    <a:close/>
                    <a:moveTo>
                      <a:pt x="974643" y="1393031"/>
                    </a:moveTo>
                    <a:lnTo>
                      <a:pt x="974643" y="1294805"/>
                    </a:lnTo>
                    <a:lnTo>
                      <a:pt x="1072870" y="1294805"/>
                    </a:lnTo>
                    <a:lnTo>
                      <a:pt x="1072870" y="1393031"/>
                    </a:lnTo>
                    <a:lnTo>
                      <a:pt x="974643" y="1393031"/>
                    </a:lnTo>
                    <a:close/>
                    <a:moveTo>
                      <a:pt x="974643" y="1285875"/>
                    </a:moveTo>
                    <a:lnTo>
                      <a:pt x="974643" y="1187649"/>
                    </a:lnTo>
                    <a:lnTo>
                      <a:pt x="1072870" y="1187649"/>
                    </a:lnTo>
                    <a:lnTo>
                      <a:pt x="1072870" y="1285875"/>
                    </a:lnTo>
                    <a:lnTo>
                      <a:pt x="974643" y="1285875"/>
                    </a:lnTo>
                    <a:close/>
                    <a:moveTo>
                      <a:pt x="974643" y="1178719"/>
                    </a:moveTo>
                    <a:lnTo>
                      <a:pt x="974643" y="1080492"/>
                    </a:lnTo>
                    <a:lnTo>
                      <a:pt x="1072870" y="1080492"/>
                    </a:lnTo>
                    <a:lnTo>
                      <a:pt x="1072870" y="1178719"/>
                    </a:lnTo>
                    <a:lnTo>
                      <a:pt x="974643" y="1178719"/>
                    </a:lnTo>
                    <a:close/>
                    <a:moveTo>
                      <a:pt x="974643" y="1071563"/>
                    </a:moveTo>
                    <a:lnTo>
                      <a:pt x="974643" y="973336"/>
                    </a:lnTo>
                    <a:lnTo>
                      <a:pt x="1072870" y="973336"/>
                    </a:lnTo>
                    <a:lnTo>
                      <a:pt x="1072870" y="1071563"/>
                    </a:lnTo>
                    <a:lnTo>
                      <a:pt x="974643" y="1071563"/>
                    </a:lnTo>
                    <a:close/>
                    <a:moveTo>
                      <a:pt x="974643" y="964406"/>
                    </a:moveTo>
                    <a:lnTo>
                      <a:pt x="974643" y="866180"/>
                    </a:lnTo>
                    <a:lnTo>
                      <a:pt x="1072870" y="866180"/>
                    </a:lnTo>
                    <a:lnTo>
                      <a:pt x="1072870" y="964406"/>
                    </a:lnTo>
                    <a:lnTo>
                      <a:pt x="974643" y="964406"/>
                    </a:lnTo>
                    <a:close/>
                    <a:moveTo>
                      <a:pt x="974643" y="857250"/>
                    </a:moveTo>
                    <a:lnTo>
                      <a:pt x="974643" y="759023"/>
                    </a:lnTo>
                    <a:lnTo>
                      <a:pt x="1072870" y="759023"/>
                    </a:lnTo>
                    <a:lnTo>
                      <a:pt x="1072870" y="857250"/>
                    </a:lnTo>
                    <a:lnTo>
                      <a:pt x="974643" y="857250"/>
                    </a:lnTo>
                    <a:close/>
                    <a:moveTo>
                      <a:pt x="974643" y="750094"/>
                    </a:moveTo>
                    <a:lnTo>
                      <a:pt x="974643" y="651867"/>
                    </a:lnTo>
                    <a:lnTo>
                      <a:pt x="1072870" y="651867"/>
                    </a:lnTo>
                    <a:lnTo>
                      <a:pt x="1072870" y="750094"/>
                    </a:lnTo>
                    <a:lnTo>
                      <a:pt x="974643" y="750094"/>
                    </a:lnTo>
                    <a:close/>
                    <a:moveTo>
                      <a:pt x="965714" y="750094"/>
                    </a:moveTo>
                    <a:lnTo>
                      <a:pt x="867487" y="750094"/>
                    </a:lnTo>
                    <a:lnTo>
                      <a:pt x="867487" y="651867"/>
                    </a:lnTo>
                    <a:lnTo>
                      <a:pt x="965714" y="651867"/>
                    </a:lnTo>
                    <a:lnTo>
                      <a:pt x="965714" y="750094"/>
                    </a:lnTo>
                    <a:close/>
                    <a:moveTo>
                      <a:pt x="858557" y="750094"/>
                    </a:moveTo>
                    <a:lnTo>
                      <a:pt x="760331" y="750094"/>
                    </a:lnTo>
                    <a:lnTo>
                      <a:pt x="760331" y="651867"/>
                    </a:lnTo>
                    <a:lnTo>
                      <a:pt x="858557" y="651867"/>
                    </a:lnTo>
                    <a:lnTo>
                      <a:pt x="858557" y="750094"/>
                    </a:lnTo>
                    <a:close/>
                    <a:moveTo>
                      <a:pt x="858557" y="759023"/>
                    </a:moveTo>
                    <a:lnTo>
                      <a:pt x="858557" y="857250"/>
                    </a:lnTo>
                    <a:lnTo>
                      <a:pt x="760331" y="857250"/>
                    </a:lnTo>
                    <a:lnTo>
                      <a:pt x="760331" y="759023"/>
                    </a:lnTo>
                    <a:lnTo>
                      <a:pt x="858557" y="759023"/>
                    </a:lnTo>
                    <a:close/>
                    <a:moveTo>
                      <a:pt x="751401" y="857250"/>
                    </a:moveTo>
                    <a:lnTo>
                      <a:pt x="653175" y="857250"/>
                    </a:lnTo>
                    <a:lnTo>
                      <a:pt x="653175" y="759023"/>
                    </a:lnTo>
                    <a:lnTo>
                      <a:pt x="751401" y="759023"/>
                    </a:lnTo>
                    <a:lnTo>
                      <a:pt x="751401" y="857250"/>
                    </a:lnTo>
                    <a:close/>
                    <a:moveTo>
                      <a:pt x="751401" y="866180"/>
                    </a:moveTo>
                    <a:lnTo>
                      <a:pt x="751401" y="964406"/>
                    </a:lnTo>
                    <a:lnTo>
                      <a:pt x="653175" y="964406"/>
                    </a:lnTo>
                    <a:lnTo>
                      <a:pt x="653175" y="866180"/>
                    </a:lnTo>
                    <a:lnTo>
                      <a:pt x="751401" y="866180"/>
                    </a:lnTo>
                    <a:close/>
                    <a:moveTo>
                      <a:pt x="751401" y="973336"/>
                    </a:moveTo>
                    <a:lnTo>
                      <a:pt x="751401" y="1071563"/>
                    </a:lnTo>
                    <a:lnTo>
                      <a:pt x="653175" y="1071563"/>
                    </a:lnTo>
                    <a:lnTo>
                      <a:pt x="653175" y="973336"/>
                    </a:lnTo>
                    <a:lnTo>
                      <a:pt x="751401" y="973336"/>
                    </a:lnTo>
                    <a:close/>
                    <a:moveTo>
                      <a:pt x="751401" y="1080492"/>
                    </a:moveTo>
                    <a:lnTo>
                      <a:pt x="751401" y="1178719"/>
                    </a:lnTo>
                    <a:lnTo>
                      <a:pt x="653175" y="1178719"/>
                    </a:lnTo>
                    <a:lnTo>
                      <a:pt x="653175" y="1080492"/>
                    </a:lnTo>
                    <a:lnTo>
                      <a:pt x="751401" y="1080492"/>
                    </a:lnTo>
                    <a:close/>
                    <a:moveTo>
                      <a:pt x="751401" y="1187649"/>
                    </a:moveTo>
                    <a:lnTo>
                      <a:pt x="751401" y="1285875"/>
                    </a:lnTo>
                    <a:lnTo>
                      <a:pt x="653175" y="1285875"/>
                    </a:lnTo>
                    <a:lnTo>
                      <a:pt x="653175" y="1187649"/>
                    </a:lnTo>
                    <a:lnTo>
                      <a:pt x="751401" y="1187649"/>
                    </a:lnTo>
                    <a:close/>
                    <a:moveTo>
                      <a:pt x="751401" y="1294805"/>
                    </a:moveTo>
                    <a:lnTo>
                      <a:pt x="751401" y="1393031"/>
                    </a:lnTo>
                    <a:lnTo>
                      <a:pt x="653175" y="1393031"/>
                    </a:lnTo>
                    <a:lnTo>
                      <a:pt x="653175" y="1294805"/>
                    </a:lnTo>
                    <a:lnTo>
                      <a:pt x="751401" y="1294805"/>
                    </a:lnTo>
                    <a:close/>
                    <a:moveTo>
                      <a:pt x="751401" y="1401961"/>
                    </a:moveTo>
                    <a:lnTo>
                      <a:pt x="751401" y="1500188"/>
                    </a:lnTo>
                    <a:lnTo>
                      <a:pt x="653175" y="1500188"/>
                    </a:lnTo>
                    <a:lnTo>
                      <a:pt x="653175" y="1401961"/>
                    </a:lnTo>
                    <a:lnTo>
                      <a:pt x="751401" y="1401961"/>
                    </a:lnTo>
                    <a:close/>
                    <a:moveTo>
                      <a:pt x="751401" y="1509117"/>
                    </a:moveTo>
                    <a:lnTo>
                      <a:pt x="751401" y="1607344"/>
                    </a:lnTo>
                    <a:lnTo>
                      <a:pt x="653175" y="1607344"/>
                    </a:lnTo>
                    <a:lnTo>
                      <a:pt x="653175" y="1509117"/>
                    </a:lnTo>
                    <a:lnTo>
                      <a:pt x="751401" y="1509117"/>
                    </a:lnTo>
                    <a:close/>
                    <a:moveTo>
                      <a:pt x="760331" y="1509117"/>
                    </a:moveTo>
                    <a:lnTo>
                      <a:pt x="858557" y="1509117"/>
                    </a:lnTo>
                    <a:lnTo>
                      <a:pt x="858557" y="1607344"/>
                    </a:lnTo>
                    <a:lnTo>
                      <a:pt x="760331" y="1607344"/>
                    </a:lnTo>
                    <a:lnTo>
                      <a:pt x="760331" y="1509117"/>
                    </a:lnTo>
                    <a:close/>
                    <a:moveTo>
                      <a:pt x="858557" y="1616274"/>
                    </a:moveTo>
                    <a:lnTo>
                      <a:pt x="858557" y="1714500"/>
                    </a:lnTo>
                    <a:lnTo>
                      <a:pt x="760331" y="1714500"/>
                    </a:lnTo>
                    <a:lnTo>
                      <a:pt x="760331" y="1616274"/>
                    </a:lnTo>
                    <a:lnTo>
                      <a:pt x="858557" y="1616274"/>
                    </a:lnTo>
                    <a:close/>
                    <a:moveTo>
                      <a:pt x="867487" y="1616274"/>
                    </a:moveTo>
                    <a:lnTo>
                      <a:pt x="965714" y="1616274"/>
                    </a:lnTo>
                    <a:lnTo>
                      <a:pt x="965714" y="1714500"/>
                    </a:lnTo>
                    <a:lnTo>
                      <a:pt x="867487" y="1714500"/>
                    </a:lnTo>
                    <a:lnTo>
                      <a:pt x="867487" y="1616274"/>
                    </a:lnTo>
                    <a:close/>
                    <a:moveTo>
                      <a:pt x="974643" y="1616274"/>
                    </a:moveTo>
                    <a:lnTo>
                      <a:pt x="1072870" y="1616274"/>
                    </a:lnTo>
                    <a:lnTo>
                      <a:pt x="1072870" y="1714500"/>
                    </a:lnTo>
                    <a:lnTo>
                      <a:pt x="974643" y="1714500"/>
                    </a:lnTo>
                    <a:lnTo>
                      <a:pt x="974643" y="1616274"/>
                    </a:lnTo>
                    <a:close/>
                    <a:moveTo>
                      <a:pt x="974643" y="1607344"/>
                    </a:moveTo>
                    <a:lnTo>
                      <a:pt x="974643" y="1509117"/>
                    </a:lnTo>
                    <a:lnTo>
                      <a:pt x="1072870" y="1509117"/>
                    </a:lnTo>
                    <a:lnTo>
                      <a:pt x="1072870" y="1607344"/>
                    </a:lnTo>
                    <a:lnTo>
                      <a:pt x="974643" y="1607344"/>
                    </a:lnTo>
                    <a:close/>
                    <a:moveTo>
                      <a:pt x="1081800" y="1509117"/>
                    </a:moveTo>
                    <a:lnTo>
                      <a:pt x="1180026" y="1509117"/>
                    </a:lnTo>
                    <a:lnTo>
                      <a:pt x="1180026" y="1607344"/>
                    </a:lnTo>
                    <a:lnTo>
                      <a:pt x="1081800" y="1607344"/>
                    </a:lnTo>
                    <a:lnTo>
                      <a:pt x="1081800" y="1509117"/>
                    </a:lnTo>
                    <a:close/>
                    <a:moveTo>
                      <a:pt x="1081800" y="1500188"/>
                    </a:moveTo>
                    <a:lnTo>
                      <a:pt x="1081800" y="1401961"/>
                    </a:lnTo>
                    <a:lnTo>
                      <a:pt x="1180026" y="1401961"/>
                    </a:lnTo>
                    <a:lnTo>
                      <a:pt x="1180026" y="1500188"/>
                    </a:lnTo>
                    <a:lnTo>
                      <a:pt x="1081800" y="1500188"/>
                    </a:lnTo>
                    <a:close/>
                    <a:moveTo>
                      <a:pt x="1081800" y="1393031"/>
                    </a:moveTo>
                    <a:lnTo>
                      <a:pt x="1081800" y="1294805"/>
                    </a:lnTo>
                    <a:lnTo>
                      <a:pt x="1180026" y="1294805"/>
                    </a:lnTo>
                    <a:lnTo>
                      <a:pt x="1180026" y="1393031"/>
                    </a:lnTo>
                    <a:lnTo>
                      <a:pt x="1081800" y="1393031"/>
                    </a:lnTo>
                    <a:close/>
                    <a:moveTo>
                      <a:pt x="1081800" y="1285875"/>
                    </a:moveTo>
                    <a:lnTo>
                      <a:pt x="1081800" y="1187649"/>
                    </a:lnTo>
                    <a:lnTo>
                      <a:pt x="1180026" y="1187649"/>
                    </a:lnTo>
                    <a:lnTo>
                      <a:pt x="1180026" y="1285875"/>
                    </a:lnTo>
                    <a:lnTo>
                      <a:pt x="1081800" y="1285875"/>
                    </a:lnTo>
                    <a:close/>
                    <a:moveTo>
                      <a:pt x="1081800" y="1178719"/>
                    </a:moveTo>
                    <a:lnTo>
                      <a:pt x="1081800" y="1080492"/>
                    </a:lnTo>
                    <a:lnTo>
                      <a:pt x="1180026" y="1080492"/>
                    </a:lnTo>
                    <a:lnTo>
                      <a:pt x="1180026" y="1178719"/>
                    </a:lnTo>
                    <a:lnTo>
                      <a:pt x="1081800" y="1178719"/>
                    </a:lnTo>
                    <a:close/>
                    <a:moveTo>
                      <a:pt x="1081800" y="1071563"/>
                    </a:moveTo>
                    <a:lnTo>
                      <a:pt x="1081800" y="973336"/>
                    </a:lnTo>
                    <a:lnTo>
                      <a:pt x="1180026" y="973336"/>
                    </a:lnTo>
                    <a:lnTo>
                      <a:pt x="1180026" y="1071563"/>
                    </a:lnTo>
                    <a:lnTo>
                      <a:pt x="1081800" y="1071563"/>
                    </a:lnTo>
                    <a:close/>
                    <a:moveTo>
                      <a:pt x="1081800" y="964406"/>
                    </a:moveTo>
                    <a:lnTo>
                      <a:pt x="1081800" y="866180"/>
                    </a:lnTo>
                    <a:lnTo>
                      <a:pt x="1180026" y="866180"/>
                    </a:lnTo>
                    <a:lnTo>
                      <a:pt x="1180026" y="964406"/>
                    </a:lnTo>
                    <a:lnTo>
                      <a:pt x="1081800" y="964406"/>
                    </a:lnTo>
                    <a:close/>
                    <a:moveTo>
                      <a:pt x="1081800" y="857250"/>
                    </a:moveTo>
                    <a:lnTo>
                      <a:pt x="1081800" y="759023"/>
                    </a:lnTo>
                    <a:lnTo>
                      <a:pt x="1180026" y="759023"/>
                    </a:lnTo>
                    <a:lnTo>
                      <a:pt x="1180026" y="857250"/>
                    </a:lnTo>
                    <a:lnTo>
                      <a:pt x="1081800" y="857250"/>
                    </a:lnTo>
                    <a:close/>
                    <a:moveTo>
                      <a:pt x="1081800" y="750094"/>
                    </a:moveTo>
                    <a:lnTo>
                      <a:pt x="1081800" y="651867"/>
                    </a:lnTo>
                    <a:lnTo>
                      <a:pt x="1180026" y="651867"/>
                    </a:lnTo>
                    <a:lnTo>
                      <a:pt x="1180026" y="750094"/>
                    </a:lnTo>
                    <a:lnTo>
                      <a:pt x="1081800" y="750094"/>
                    </a:lnTo>
                    <a:close/>
                    <a:moveTo>
                      <a:pt x="1081800" y="642938"/>
                    </a:moveTo>
                    <a:lnTo>
                      <a:pt x="1081800" y="544711"/>
                    </a:lnTo>
                    <a:lnTo>
                      <a:pt x="1180026" y="544711"/>
                    </a:lnTo>
                    <a:lnTo>
                      <a:pt x="1180026" y="642938"/>
                    </a:lnTo>
                    <a:lnTo>
                      <a:pt x="1081800" y="642938"/>
                    </a:lnTo>
                    <a:close/>
                    <a:moveTo>
                      <a:pt x="1072870" y="642938"/>
                    </a:moveTo>
                    <a:lnTo>
                      <a:pt x="974643" y="642938"/>
                    </a:lnTo>
                    <a:lnTo>
                      <a:pt x="974643" y="544711"/>
                    </a:lnTo>
                    <a:lnTo>
                      <a:pt x="1072870" y="544711"/>
                    </a:lnTo>
                    <a:lnTo>
                      <a:pt x="1072870" y="642938"/>
                    </a:lnTo>
                    <a:close/>
                    <a:moveTo>
                      <a:pt x="965714" y="642938"/>
                    </a:moveTo>
                    <a:lnTo>
                      <a:pt x="867487" y="642938"/>
                    </a:lnTo>
                    <a:lnTo>
                      <a:pt x="867487" y="544711"/>
                    </a:lnTo>
                    <a:lnTo>
                      <a:pt x="965714" y="544711"/>
                    </a:lnTo>
                    <a:lnTo>
                      <a:pt x="965714" y="642938"/>
                    </a:lnTo>
                    <a:close/>
                    <a:moveTo>
                      <a:pt x="858557" y="642938"/>
                    </a:moveTo>
                    <a:lnTo>
                      <a:pt x="760331" y="642938"/>
                    </a:lnTo>
                    <a:lnTo>
                      <a:pt x="760331" y="544711"/>
                    </a:lnTo>
                    <a:lnTo>
                      <a:pt x="858557" y="544711"/>
                    </a:lnTo>
                    <a:lnTo>
                      <a:pt x="858557" y="642938"/>
                    </a:lnTo>
                    <a:close/>
                    <a:moveTo>
                      <a:pt x="751401" y="642938"/>
                    </a:moveTo>
                    <a:lnTo>
                      <a:pt x="653175" y="642938"/>
                    </a:lnTo>
                    <a:lnTo>
                      <a:pt x="653175" y="544711"/>
                    </a:lnTo>
                    <a:lnTo>
                      <a:pt x="751401" y="544711"/>
                    </a:lnTo>
                    <a:lnTo>
                      <a:pt x="751401" y="642938"/>
                    </a:lnTo>
                    <a:close/>
                    <a:moveTo>
                      <a:pt x="751401" y="651867"/>
                    </a:moveTo>
                    <a:lnTo>
                      <a:pt x="751401" y="750094"/>
                    </a:lnTo>
                    <a:lnTo>
                      <a:pt x="653175" y="750094"/>
                    </a:lnTo>
                    <a:lnTo>
                      <a:pt x="653175" y="651867"/>
                    </a:lnTo>
                    <a:lnTo>
                      <a:pt x="751401" y="651867"/>
                    </a:lnTo>
                    <a:close/>
                    <a:moveTo>
                      <a:pt x="644245" y="750094"/>
                    </a:moveTo>
                    <a:lnTo>
                      <a:pt x="546018" y="750094"/>
                    </a:lnTo>
                    <a:lnTo>
                      <a:pt x="546018" y="651867"/>
                    </a:lnTo>
                    <a:lnTo>
                      <a:pt x="644245" y="651867"/>
                    </a:lnTo>
                    <a:lnTo>
                      <a:pt x="644245" y="750094"/>
                    </a:lnTo>
                    <a:close/>
                    <a:moveTo>
                      <a:pt x="644245" y="759023"/>
                    </a:moveTo>
                    <a:lnTo>
                      <a:pt x="644245" y="857250"/>
                    </a:lnTo>
                    <a:lnTo>
                      <a:pt x="546018" y="857250"/>
                    </a:lnTo>
                    <a:lnTo>
                      <a:pt x="546018" y="759023"/>
                    </a:lnTo>
                    <a:lnTo>
                      <a:pt x="644245" y="759023"/>
                    </a:lnTo>
                    <a:close/>
                    <a:moveTo>
                      <a:pt x="644245" y="866180"/>
                    </a:moveTo>
                    <a:lnTo>
                      <a:pt x="644245" y="964406"/>
                    </a:lnTo>
                    <a:lnTo>
                      <a:pt x="546018" y="964406"/>
                    </a:lnTo>
                    <a:lnTo>
                      <a:pt x="546018" y="866180"/>
                    </a:lnTo>
                    <a:lnTo>
                      <a:pt x="644245" y="866180"/>
                    </a:lnTo>
                    <a:close/>
                    <a:moveTo>
                      <a:pt x="644245" y="973336"/>
                    </a:moveTo>
                    <a:lnTo>
                      <a:pt x="644245" y="1071563"/>
                    </a:lnTo>
                    <a:lnTo>
                      <a:pt x="546018" y="1071563"/>
                    </a:lnTo>
                    <a:lnTo>
                      <a:pt x="546018" y="973336"/>
                    </a:lnTo>
                    <a:lnTo>
                      <a:pt x="644245" y="973336"/>
                    </a:lnTo>
                    <a:close/>
                    <a:moveTo>
                      <a:pt x="644245" y="1080492"/>
                    </a:moveTo>
                    <a:lnTo>
                      <a:pt x="644245" y="1178719"/>
                    </a:lnTo>
                    <a:lnTo>
                      <a:pt x="546018" y="1178719"/>
                    </a:lnTo>
                    <a:lnTo>
                      <a:pt x="546018" y="1080492"/>
                    </a:lnTo>
                    <a:lnTo>
                      <a:pt x="644245" y="1080492"/>
                    </a:lnTo>
                    <a:close/>
                    <a:moveTo>
                      <a:pt x="644245" y="1187649"/>
                    </a:moveTo>
                    <a:lnTo>
                      <a:pt x="644245" y="1285875"/>
                    </a:lnTo>
                    <a:lnTo>
                      <a:pt x="546018" y="1285875"/>
                    </a:lnTo>
                    <a:lnTo>
                      <a:pt x="546018" y="1187649"/>
                    </a:lnTo>
                    <a:lnTo>
                      <a:pt x="644245" y="1187649"/>
                    </a:lnTo>
                    <a:close/>
                    <a:moveTo>
                      <a:pt x="644245" y="1294805"/>
                    </a:moveTo>
                    <a:lnTo>
                      <a:pt x="644245" y="1393031"/>
                    </a:lnTo>
                    <a:lnTo>
                      <a:pt x="546018" y="1393031"/>
                    </a:lnTo>
                    <a:lnTo>
                      <a:pt x="546018" y="1294805"/>
                    </a:lnTo>
                    <a:lnTo>
                      <a:pt x="644245" y="1294805"/>
                    </a:lnTo>
                    <a:close/>
                    <a:moveTo>
                      <a:pt x="644245" y="1401961"/>
                    </a:moveTo>
                    <a:lnTo>
                      <a:pt x="644245" y="1500188"/>
                    </a:lnTo>
                    <a:lnTo>
                      <a:pt x="546018" y="1500188"/>
                    </a:lnTo>
                    <a:lnTo>
                      <a:pt x="546018" y="1401961"/>
                    </a:lnTo>
                    <a:lnTo>
                      <a:pt x="644245" y="1401961"/>
                    </a:lnTo>
                    <a:close/>
                    <a:moveTo>
                      <a:pt x="644245" y="1509117"/>
                    </a:moveTo>
                    <a:lnTo>
                      <a:pt x="644245" y="1607344"/>
                    </a:lnTo>
                    <a:lnTo>
                      <a:pt x="546018" y="1607344"/>
                    </a:lnTo>
                    <a:lnTo>
                      <a:pt x="546018" y="1509117"/>
                    </a:lnTo>
                    <a:lnTo>
                      <a:pt x="644245" y="1509117"/>
                    </a:lnTo>
                    <a:close/>
                    <a:moveTo>
                      <a:pt x="644245" y="1616274"/>
                    </a:moveTo>
                    <a:lnTo>
                      <a:pt x="644245" y="1714500"/>
                    </a:lnTo>
                    <a:lnTo>
                      <a:pt x="546018" y="1714500"/>
                    </a:lnTo>
                    <a:lnTo>
                      <a:pt x="546018" y="1616274"/>
                    </a:lnTo>
                    <a:lnTo>
                      <a:pt x="644245" y="1616274"/>
                    </a:lnTo>
                    <a:close/>
                    <a:moveTo>
                      <a:pt x="653175" y="1616274"/>
                    </a:moveTo>
                    <a:lnTo>
                      <a:pt x="751401" y="1616274"/>
                    </a:lnTo>
                    <a:lnTo>
                      <a:pt x="751401" y="1714500"/>
                    </a:lnTo>
                    <a:lnTo>
                      <a:pt x="653175" y="1714500"/>
                    </a:lnTo>
                    <a:lnTo>
                      <a:pt x="653175" y="1616274"/>
                    </a:lnTo>
                    <a:close/>
                    <a:moveTo>
                      <a:pt x="751401" y="1723430"/>
                    </a:moveTo>
                    <a:lnTo>
                      <a:pt x="751401" y="1821656"/>
                    </a:lnTo>
                    <a:lnTo>
                      <a:pt x="653175" y="1821656"/>
                    </a:lnTo>
                    <a:lnTo>
                      <a:pt x="653175" y="1723430"/>
                    </a:lnTo>
                    <a:lnTo>
                      <a:pt x="751401" y="1723430"/>
                    </a:lnTo>
                    <a:close/>
                    <a:moveTo>
                      <a:pt x="760331" y="1723430"/>
                    </a:moveTo>
                    <a:lnTo>
                      <a:pt x="858557" y="1723430"/>
                    </a:lnTo>
                    <a:lnTo>
                      <a:pt x="858557" y="1821656"/>
                    </a:lnTo>
                    <a:lnTo>
                      <a:pt x="760331" y="1821656"/>
                    </a:lnTo>
                    <a:lnTo>
                      <a:pt x="760331" y="1723430"/>
                    </a:lnTo>
                    <a:close/>
                    <a:moveTo>
                      <a:pt x="867487" y="1723430"/>
                    </a:moveTo>
                    <a:lnTo>
                      <a:pt x="965714" y="1723430"/>
                    </a:lnTo>
                    <a:lnTo>
                      <a:pt x="965714" y="1821656"/>
                    </a:lnTo>
                    <a:lnTo>
                      <a:pt x="867487" y="1821656"/>
                    </a:lnTo>
                    <a:lnTo>
                      <a:pt x="867487" y="1723430"/>
                    </a:lnTo>
                    <a:close/>
                    <a:moveTo>
                      <a:pt x="974643" y="1723430"/>
                    </a:moveTo>
                    <a:lnTo>
                      <a:pt x="1072870" y="1723430"/>
                    </a:lnTo>
                    <a:lnTo>
                      <a:pt x="1072870" y="1821656"/>
                    </a:lnTo>
                    <a:lnTo>
                      <a:pt x="974643" y="1821656"/>
                    </a:lnTo>
                    <a:lnTo>
                      <a:pt x="974643" y="1723430"/>
                    </a:lnTo>
                    <a:close/>
                    <a:moveTo>
                      <a:pt x="1081800" y="1723430"/>
                    </a:moveTo>
                    <a:lnTo>
                      <a:pt x="1180026" y="1723430"/>
                    </a:lnTo>
                    <a:lnTo>
                      <a:pt x="1180026" y="1821656"/>
                    </a:lnTo>
                    <a:lnTo>
                      <a:pt x="1081800" y="1821656"/>
                    </a:lnTo>
                    <a:lnTo>
                      <a:pt x="1081800" y="1723430"/>
                    </a:lnTo>
                    <a:close/>
                    <a:moveTo>
                      <a:pt x="1081800" y="1714500"/>
                    </a:moveTo>
                    <a:lnTo>
                      <a:pt x="1081800" y="1616274"/>
                    </a:lnTo>
                    <a:lnTo>
                      <a:pt x="1180026" y="1616274"/>
                    </a:lnTo>
                    <a:lnTo>
                      <a:pt x="1180026" y="1714500"/>
                    </a:lnTo>
                    <a:lnTo>
                      <a:pt x="1081800" y="1714500"/>
                    </a:lnTo>
                    <a:close/>
                    <a:moveTo>
                      <a:pt x="1188956" y="1616274"/>
                    </a:moveTo>
                    <a:lnTo>
                      <a:pt x="1287182" y="1616274"/>
                    </a:lnTo>
                    <a:lnTo>
                      <a:pt x="1287182" y="1714500"/>
                    </a:lnTo>
                    <a:lnTo>
                      <a:pt x="1188956" y="1714500"/>
                    </a:lnTo>
                    <a:lnTo>
                      <a:pt x="1188956" y="1616274"/>
                    </a:lnTo>
                    <a:close/>
                    <a:moveTo>
                      <a:pt x="1188956" y="1607344"/>
                    </a:moveTo>
                    <a:lnTo>
                      <a:pt x="1188956" y="1509117"/>
                    </a:lnTo>
                    <a:lnTo>
                      <a:pt x="1287182" y="1509117"/>
                    </a:lnTo>
                    <a:lnTo>
                      <a:pt x="1287182" y="1607344"/>
                    </a:lnTo>
                    <a:lnTo>
                      <a:pt x="1188956" y="1607344"/>
                    </a:lnTo>
                    <a:close/>
                    <a:moveTo>
                      <a:pt x="1188956" y="1500188"/>
                    </a:moveTo>
                    <a:lnTo>
                      <a:pt x="1188956" y="1401961"/>
                    </a:lnTo>
                    <a:lnTo>
                      <a:pt x="1287182" y="1401961"/>
                    </a:lnTo>
                    <a:lnTo>
                      <a:pt x="1287182" y="1500188"/>
                    </a:lnTo>
                    <a:lnTo>
                      <a:pt x="1188956" y="1500188"/>
                    </a:lnTo>
                    <a:close/>
                    <a:moveTo>
                      <a:pt x="1188956" y="1393031"/>
                    </a:moveTo>
                    <a:lnTo>
                      <a:pt x="1188956" y="1294805"/>
                    </a:lnTo>
                    <a:lnTo>
                      <a:pt x="1287182" y="1294805"/>
                    </a:lnTo>
                    <a:lnTo>
                      <a:pt x="1287182" y="1393031"/>
                    </a:lnTo>
                    <a:lnTo>
                      <a:pt x="1188956" y="1393031"/>
                    </a:lnTo>
                    <a:close/>
                    <a:moveTo>
                      <a:pt x="1188956" y="1285875"/>
                    </a:moveTo>
                    <a:lnTo>
                      <a:pt x="1188956" y="1187649"/>
                    </a:lnTo>
                    <a:lnTo>
                      <a:pt x="1287182" y="1187649"/>
                    </a:lnTo>
                    <a:lnTo>
                      <a:pt x="1287182" y="1285875"/>
                    </a:lnTo>
                    <a:lnTo>
                      <a:pt x="1188956" y="1285875"/>
                    </a:lnTo>
                    <a:close/>
                    <a:moveTo>
                      <a:pt x="1188956" y="1178719"/>
                    </a:moveTo>
                    <a:lnTo>
                      <a:pt x="1188956" y="1080492"/>
                    </a:lnTo>
                    <a:lnTo>
                      <a:pt x="1287182" y="1080492"/>
                    </a:lnTo>
                    <a:lnTo>
                      <a:pt x="1287182" y="1178719"/>
                    </a:lnTo>
                    <a:lnTo>
                      <a:pt x="1188956" y="1178719"/>
                    </a:lnTo>
                    <a:close/>
                    <a:moveTo>
                      <a:pt x="1188956" y="1071563"/>
                    </a:moveTo>
                    <a:lnTo>
                      <a:pt x="1188956" y="973336"/>
                    </a:lnTo>
                    <a:lnTo>
                      <a:pt x="1287182" y="973336"/>
                    </a:lnTo>
                    <a:lnTo>
                      <a:pt x="1287182" y="1071563"/>
                    </a:lnTo>
                    <a:lnTo>
                      <a:pt x="1188956" y="1071563"/>
                    </a:lnTo>
                    <a:close/>
                    <a:moveTo>
                      <a:pt x="1188956" y="964406"/>
                    </a:moveTo>
                    <a:lnTo>
                      <a:pt x="1188956" y="866180"/>
                    </a:lnTo>
                    <a:lnTo>
                      <a:pt x="1287182" y="866180"/>
                    </a:lnTo>
                    <a:lnTo>
                      <a:pt x="1287182" y="964406"/>
                    </a:lnTo>
                    <a:lnTo>
                      <a:pt x="1188956" y="964406"/>
                    </a:lnTo>
                    <a:close/>
                    <a:moveTo>
                      <a:pt x="1188956" y="857250"/>
                    </a:moveTo>
                    <a:lnTo>
                      <a:pt x="1188956" y="759023"/>
                    </a:lnTo>
                    <a:lnTo>
                      <a:pt x="1287182" y="759023"/>
                    </a:lnTo>
                    <a:lnTo>
                      <a:pt x="1287182" y="857250"/>
                    </a:lnTo>
                    <a:lnTo>
                      <a:pt x="1188956" y="857250"/>
                    </a:lnTo>
                    <a:close/>
                    <a:moveTo>
                      <a:pt x="1188956" y="750094"/>
                    </a:moveTo>
                    <a:lnTo>
                      <a:pt x="1188956" y="651867"/>
                    </a:lnTo>
                    <a:lnTo>
                      <a:pt x="1287182" y="651867"/>
                    </a:lnTo>
                    <a:lnTo>
                      <a:pt x="1287182" y="750094"/>
                    </a:lnTo>
                    <a:lnTo>
                      <a:pt x="1188956" y="750094"/>
                    </a:lnTo>
                    <a:close/>
                    <a:moveTo>
                      <a:pt x="1188956" y="642938"/>
                    </a:moveTo>
                    <a:lnTo>
                      <a:pt x="1188956" y="544711"/>
                    </a:lnTo>
                    <a:lnTo>
                      <a:pt x="1287182" y="544711"/>
                    </a:lnTo>
                    <a:lnTo>
                      <a:pt x="1287182" y="642938"/>
                    </a:lnTo>
                    <a:lnTo>
                      <a:pt x="1188956" y="642938"/>
                    </a:lnTo>
                    <a:close/>
                    <a:moveTo>
                      <a:pt x="1188956" y="535781"/>
                    </a:moveTo>
                    <a:lnTo>
                      <a:pt x="1188956" y="437555"/>
                    </a:lnTo>
                    <a:lnTo>
                      <a:pt x="1287182" y="437555"/>
                    </a:lnTo>
                    <a:lnTo>
                      <a:pt x="1287182" y="535781"/>
                    </a:lnTo>
                    <a:lnTo>
                      <a:pt x="1188956" y="535781"/>
                    </a:lnTo>
                    <a:close/>
                    <a:moveTo>
                      <a:pt x="1180026" y="535781"/>
                    </a:moveTo>
                    <a:lnTo>
                      <a:pt x="1081800" y="535781"/>
                    </a:lnTo>
                    <a:lnTo>
                      <a:pt x="1081800" y="437555"/>
                    </a:lnTo>
                    <a:lnTo>
                      <a:pt x="1180026" y="437555"/>
                    </a:lnTo>
                    <a:lnTo>
                      <a:pt x="1180026" y="535781"/>
                    </a:lnTo>
                    <a:close/>
                    <a:moveTo>
                      <a:pt x="1072870" y="535781"/>
                    </a:moveTo>
                    <a:lnTo>
                      <a:pt x="974643" y="535781"/>
                    </a:lnTo>
                    <a:lnTo>
                      <a:pt x="974643" y="437555"/>
                    </a:lnTo>
                    <a:lnTo>
                      <a:pt x="1072870" y="437555"/>
                    </a:lnTo>
                    <a:lnTo>
                      <a:pt x="1072870" y="535781"/>
                    </a:lnTo>
                    <a:close/>
                    <a:moveTo>
                      <a:pt x="965714" y="535781"/>
                    </a:moveTo>
                    <a:lnTo>
                      <a:pt x="867487" y="535781"/>
                    </a:lnTo>
                    <a:lnTo>
                      <a:pt x="867487" y="437555"/>
                    </a:lnTo>
                    <a:lnTo>
                      <a:pt x="965714" y="437555"/>
                    </a:lnTo>
                    <a:lnTo>
                      <a:pt x="965714" y="535781"/>
                    </a:lnTo>
                    <a:close/>
                    <a:moveTo>
                      <a:pt x="858557" y="535781"/>
                    </a:moveTo>
                    <a:lnTo>
                      <a:pt x="760331" y="535781"/>
                    </a:lnTo>
                    <a:lnTo>
                      <a:pt x="760331" y="437555"/>
                    </a:lnTo>
                    <a:lnTo>
                      <a:pt x="858557" y="437555"/>
                    </a:lnTo>
                    <a:lnTo>
                      <a:pt x="858557" y="535781"/>
                    </a:lnTo>
                    <a:close/>
                    <a:moveTo>
                      <a:pt x="751401" y="535781"/>
                    </a:moveTo>
                    <a:lnTo>
                      <a:pt x="653175" y="535781"/>
                    </a:lnTo>
                    <a:lnTo>
                      <a:pt x="653175" y="437555"/>
                    </a:lnTo>
                    <a:lnTo>
                      <a:pt x="751401" y="437555"/>
                    </a:lnTo>
                    <a:lnTo>
                      <a:pt x="751401" y="535781"/>
                    </a:lnTo>
                    <a:close/>
                    <a:moveTo>
                      <a:pt x="644245" y="535781"/>
                    </a:moveTo>
                    <a:lnTo>
                      <a:pt x="546018" y="535781"/>
                    </a:lnTo>
                    <a:lnTo>
                      <a:pt x="546018" y="437555"/>
                    </a:lnTo>
                    <a:lnTo>
                      <a:pt x="644245" y="437555"/>
                    </a:lnTo>
                    <a:lnTo>
                      <a:pt x="644245" y="535781"/>
                    </a:lnTo>
                    <a:close/>
                    <a:moveTo>
                      <a:pt x="644245" y="544711"/>
                    </a:moveTo>
                    <a:lnTo>
                      <a:pt x="644245" y="642938"/>
                    </a:lnTo>
                    <a:lnTo>
                      <a:pt x="546018" y="642938"/>
                    </a:lnTo>
                    <a:lnTo>
                      <a:pt x="546018" y="544711"/>
                    </a:lnTo>
                    <a:lnTo>
                      <a:pt x="644245" y="544711"/>
                    </a:lnTo>
                    <a:close/>
                    <a:moveTo>
                      <a:pt x="537089" y="642938"/>
                    </a:moveTo>
                    <a:lnTo>
                      <a:pt x="438862" y="642938"/>
                    </a:lnTo>
                    <a:lnTo>
                      <a:pt x="438862" y="544711"/>
                    </a:lnTo>
                    <a:lnTo>
                      <a:pt x="537089" y="544711"/>
                    </a:lnTo>
                    <a:lnTo>
                      <a:pt x="537089" y="642938"/>
                    </a:lnTo>
                    <a:close/>
                    <a:moveTo>
                      <a:pt x="537089" y="651867"/>
                    </a:moveTo>
                    <a:lnTo>
                      <a:pt x="537089" y="750094"/>
                    </a:lnTo>
                    <a:lnTo>
                      <a:pt x="438862" y="750094"/>
                    </a:lnTo>
                    <a:lnTo>
                      <a:pt x="438862" y="651867"/>
                    </a:lnTo>
                    <a:lnTo>
                      <a:pt x="537089" y="651867"/>
                    </a:lnTo>
                    <a:close/>
                    <a:moveTo>
                      <a:pt x="537089" y="759023"/>
                    </a:moveTo>
                    <a:lnTo>
                      <a:pt x="537089" y="857250"/>
                    </a:lnTo>
                    <a:lnTo>
                      <a:pt x="438862" y="857250"/>
                    </a:lnTo>
                    <a:lnTo>
                      <a:pt x="438862" y="759023"/>
                    </a:lnTo>
                    <a:lnTo>
                      <a:pt x="537089" y="759023"/>
                    </a:lnTo>
                    <a:close/>
                    <a:moveTo>
                      <a:pt x="537089" y="866180"/>
                    </a:moveTo>
                    <a:lnTo>
                      <a:pt x="537089" y="964406"/>
                    </a:lnTo>
                    <a:lnTo>
                      <a:pt x="438862" y="964406"/>
                    </a:lnTo>
                    <a:lnTo>
                      <a:pt x="438862" y="866180"/>
                    </a:lnTo>
                    <a:lnTo>
                      <a:pt x="537089" y="866180"/>
                    </a:lnTo>
                    <a:close/>
                    <a:moveTo>
                      <a:pt x="537089" y="973336"/>
                    </a:moveTo>
                    <a:lnTo>
                      <a:pt x="537089" y="1071563"/>
                    </a:lnTo>
                    <a:lnTo>
                      <a:pt x="438862" y="1071563"/>
                    </a:lnTo>
                    <a:lnTo>
                      <a:pt x="438862" y="973336"/>
                    </a:lnTo>
                    <a:lnTo>
                      <a:pt x="537089" y="973336"/>
                    </a:lnTo>
                    <a:close/>
                    <a:moveTo>
                      <a:pt x="537089" y="1080492"/>
                    </a:moveTo>
                    <a:lnTo>
                      <a:pt x="537089" y="1178719"/>
                    </a:lnTo>
                    <a:lnTo>
                      <a:pt x="438862" y="1178719"/>
                    </a:lnTo>
                    <a:lnTo>
                      <a:pt x="438862" y="1080492"/>
                    </a:lnTo>
                    <a:lnTo>
                      <a:pt x="537089" y="1080492"/>
                    </a:lnTo>
                    <a:close/>
                    <a:moveTo>
                      <a:pt x="537089" y="1187649"/>
                    </a:moveTo>
                    <a:lnTo>
                      <a:pt x="537089" y="1285875"/>
                    </a:lnTo>
                    <a:lnTo>
                      <a:pt x="438862" y="1285875"/>
                    </a:lnTo>
                    <a:lnTo>
                      <a:pt x="438862" y="1187649"/>
                    </a:lnTo>
                    <a:lnTo>
                      <a:pt x="537089" y="1187649"/>
                    </a:lnTo>
                    <a:close/>
                    <a:moveTo>
                      <a:pt x="537089" y="1294805"/>
                    </a:moveTo>
                    <a:lnTo>
                      <a:pt x="537089" y="1393031"/>
                    </a:lnTo>
                    <a:lnTo>
                      <a:pt x="438862" y="1393031"/>
                    </a:lnTo>
                    <a:lnTo>
                      <a:pt x="438862" y="1294805"/>
                    </a:lnTo>
                    <a:lnTo>
                      <a:pt x="537089" y="1294805"/>
                    </a:lnTo>
                    <a:close/>
                    <a:moveTo>
                      <a:pt x="537089" y="1401961"/>
                    </a:moveTo>
                    <a:lnTo>
                      <a:pt x="537089" y="1500188"/>
                    </a:lnTo>
                    <a:lnTo>
                      <a:pt x="438862" y="1500188"/>
                    </a:lnTo>
                    <a:lnTo>
                      <a:pt x="438862" y="1401961"/>
                    </a:lnTo>
                    <a:lnTo>
                      <a:pt x="537089" y="1401961"/>
                    </a:lnTo>
                    <a:close/>
                    <a:moveTo>
                      <a:pt x="537089" y="1509117"/>
                    </a:moveTo>
                    <a:lnTo>
                      <a:pt x="537089" y="1607344"/>
                    </a:lnTo>
                    <a:lnTo>
                      <a:pt x="438862" y="1607344"/>
                    </a:lnTo>
                    <a:lnTo>
                      <a:pt x="438862" y="1509117"/>
                    </a:lnTo>
                    <a:lnTo>
                      <a:pt x="537089" y="1509117"/>
                    </a:lnTo>
                    <a:close/>
                    <a:moveTo>
                      <a:pt x="537089" y="1616274"/>
                    </a:moveTo>
                    <a:lnTo>
                      <a:pt x="537089" y="1714500"/>
                    </a:lnTo>
                    <a:lnTo>
                      <a:pt x="438862" y="1714500"/>
                    </a:lnTo>
                    <a:lnTo>
                      <a:pt x="438862" y="1616274"/>
                    </a:lnTo>
                    <a:lnTo>
                      <a:pt x="537089" y="1616274"/>
                    </a:lnTo>
                    <a:close/>
                    <a:moveTo>
                      <a:pt x="537089" y="1723430"/>
                    </a:moveTo>
                    <a:lnTo>
                      <a:pt x="537089" y="1821656"/>
                    </a:lnTo>
                    <a:lnTo>
                      <a:pt x="438862" y="1821656"/>
                    </a:lnTo>
                    <a:lnTo>
                      <a:pt x="438862" y="1723430"/>
                    </a:lnTo>
                    <a:lnTo>
                      <a:pt x="537089" y="1723430"/>
                    </a:lnTo>
                    <a:close/>
                    <a:moveTo>
                      <a:pt x="546018" y="1723430"/>
                    </a:moveTo>
                    <a:lnTo>
                      <a:pt x="644245" y="1723430"/>
                    </a:lnTo>
                    <a:lnTo>
                      <a:pt x="644245" y="1821656"/>
                    </a:lnTo>
                    <a:lnTo>
                      <a:pt x="546018" y="1821656"/>
                    </a:lnTo>
                    <a:lnTo>
                      <a:pt x="546018" y="1723430"/>
                    </a:lnTo>
                    <a:close/>
                    <a:moveTo>
                      <a:pt x="644245" y="1830586"/>
                    </a:moveTo>
                    <a:lnTo>
                      <a:pt x="644245" y="1928813"/>
                    </a:lnTo>
                    <a:lnTo>
                      <a:pt x="546018" y="1928813"/>
                    </a:lnTo>
                    <a:lnTo>
                      <a:pt x="546018" y="1830586"/>
                    </a:lnTo>
                    <a:lnTo>
                      <a:pt x="644245" y="1830586"/>
                    </a:lnTo>
                    <a:close/>
                    <a:moveTo>
                      <a:pt x="653175" y="1830586"/>
                    </a:moveTo>
                    <a:lnTo>
                      <a:pt x="751401" y="1830586"/>
                    </a:lnTo>
                    <a:lnTo>
                      <a:pt x="751401" y="1928813"/>
                    </a:lnTo>
                    <a:lnTo>
                      <a:pt x="653175" y="1928813"/>
                    </a:lnTo>
                    <a:lnTo>
                      <a:pt x="653175" y="1830586"/>
                    </a:lnTo>
                    <a:close/>
                    <a:moveTo>
                      <a:pt x="760331" y="1830586"/>
                    </a:moveTo>
                    <a:lnTo>
                      <a:pt x="858557" y="1830586"/>
                    </a:lnTo>
                    <a:lnTo>
                      <a:pt x="858557" y="1928813"/>
                    </a:lnTo>
                    <a:lnTo>
                      <a:pt x="760331" y="1928813"/>
                    </a:lnTo>
                    <a:lnTo>
                      <a:pt x="760331" y="1830586"/>
                    </a:lnTo>
                    <a:close/>
                    <a:moveTo>
                      <a:pt x="867487" y="1830586"/>
                    </a:moveTo>
                    <a:lnTo>
                      <a:pt x="965714" y="1830586"/>
                    </a:lnTo>
                    <a:lnTo>
                      <a:pt x="965714" y="1928813"/>
                    </a:lnTo>
                    <a:lnTo>
                      <a:pt x="867487" y="1928813"/>
                    </a:lnTo>
                    <a:lnTo>
                      <a:pt x="867487" y="1830586"/>
                    </a:lnTo>
                    <a:close/>
                    <a:moveTo>
                      <a:pt x="974643" y="1830586"/>
                    </a:moveTo>
                    <a:lnTo>
                      <a:pt x="1072870" y="1830586"/>
                    </a:lnTo>
                    <a:lnTo>
                      <a:pt x="1072870" y="1928813"/>
                    </a:lnTo>
                    <a:lnTo>
                      <a:pt x="974643" y="1928813"/>
                    </a:lnTo>
                    <a:lnTo>
                      <a:pt x="974643" y="1830586"/>
                    </a:lnTo>
                    <a:close/>
                    <a:moveTo>
                      <a:pt x="1081800" y="1830586"/>
                    </a:moveTo>
                    <a:lnTo>
                      <a:pt x="1180026" y="1830586"/>
                    </a:lnTo>
                    <a:lnTo>
                      <a:pt x="1180026" y="1928813"/>
                    </a:lnTo>
                    <a:lnTo>
                      <a:pt x="1081800" y="1928813"/>
                    </a:lnTo>
                    <a:lnTo>
                      <a:pt x="1081800" y="1830586"/>
                    </a:lnTo>
                    <a:close/>
                    <a:moveTo>
                      <a:pt x="1188956" y="1830586"/>
                    </a:moveTo>
                    <a:lnTo>
                      <a:pt x="1287182" y="1830586"/>
                    </a:lnTo>
                    <a:lnTo>
                      <a:pt x="1287182" y="1928813"/>
                    </a:lnTo>
                    <a:lnTo>
                      <a:pt x="1188956" y="1928813"/>
                    </a:lnTo>
                    <a:lnTo>
                      <a:pt x="1188956" y="1830586"/>
                    </a:lnTo>
                    <a:close/>
                    <a:moveTo>
                      <a:pt x="1188956" y="1821656"/>
                    </a:moveTo>
                    <a:lnTo>
                      <a:pt x="1188956" y="1723430"/>
                    </a:lnTo>
                    <a:lnTo>
                      <a:pt x="1287182" y="1723430"/>
                    </a:lnTo>
                    <a:lnTo>
                      <a:pt x="1287182" y="1821656"/>
                    </a:lnTo>
                    <a:lnTo>
                      <a:pt x="1188956" y="1821656"/>
                    </a:lnTo>
                    <a:close/>
                    <a:moveTo>
                      <a:pt x="1296112" y="1723430"/>
                    </a:moveTo>
                    <a:lnTo>
                      <a:pt x="1394339" y="1723430"/>
                    </a:lnTo>
                    <a:lnTo>
                      <a:pt x="1394339" y="1821656"/>
                    </a:lnTo>
                    <a:lnTo>
                      <a:pt x="1296112" y="1821656"/>
                    </a:lnTo>
                    <a:lnTo>
                      <a:pt x="1296112" y="1723430"/>
                    </a:lnTo>
                    <a:close/>
                    <a:moveTo>
                      <a:pt x="1296112" y="1714500"/>
                    </a:moveTo>
                    <a:lnTo>
                      <a:pt x="1296112" y="1616274"/>
                    </a:lnTo>
                    <a:lnTo>
                      <a:pt x="1394339" y="1616274"/>
                    </a:lnTo>
                    <a:lnTo>
                      <a:pt x="1394339" y="1714500"/>
                    </a:lnTo>
                    <a:lnTo>
                      <a:pt x="1296112" y="1714500"/>
                    </a:lnTo>
                    <a:close/>
                    <a:moveTo>
                      <a:pt x="1296112" y="1607344"/>
                    </a:moveTo>
                    <a:lnTo>
                      <a:pt x="1296112" y="1509117"/>
                    </a:lnTo>
                    <a:lnTo>
                      <a:pt x="1394339" y="1509117"/>
                    </a:lnTo>
                    <a:lnTo>
                      <a:pt x="1394339" y="1607344"/>
                    </a:lnTo>
                    <a:lnTo>
                      <a:pt x="1296112" y="1607344"/>
                    </a:lnTo>
                    <a:close/>
                    <a:moveTo>
                      <a:pt x="1296112" y="1500188"/>
                    </a:moveTo>
                    <a:lnTo>
                      <a:pt x="1296112" y="1401961"/>
                    </a:lnTo>
                    <a:lnTo>
                      <a:pt x="1394339" y="1401961"/>
                    </a:lnTo>
                    <a:lnTo>
                      <a:pt x="1394339" y="1500188"/>
                    </a:lnTo>
                    <a:lnTo>
                      <a:pt x="1296112" y="1500188"/>
                    </a:lnTo>
                    <a:close/>
                    <a:moveTo>
                      <a:pt x="1296112" y="1393031"/>
                    </a:moveTo>
                    <a:lnTo>
                      <a:pt x="1296112" y="1294805"/>
                    </a:lnTo>
                    <a:lnTo>
                      <a:pt x="1394339" y="1294805"/>
                    </a:lnTo>
                    <a:lnTo>
                      <a:pt x="1394339" y="1393031"/>
                    </a:lnTo>
                    <a:lnTo>
                      <a:pt x="1296112" y="1393031"/>
                    </a:lnTo>
                    <a:close/>
                    <a:moveTo>
                      <a:pt x="1296112" y="1285875"/>
                    </a:moveTo>
                    <a:lnTo>
                      <a:pt x="1296112" y="1187649"/>
                    </a:lnTo>
                    <a:lnTo>
                      <a:pt x="1394339" y="1187649"/>
                    </a:lnTo>
                    <a:lnTo>
                      <a:pt x="1394339" y="1285875"/>
                    </a:lnTo>
                    <a:lnTo>
                      <a:pt x="1296112" y="1285875"/>
                    </a:lnTo>
                    <a:close/>
                    <a:moveTo>
                      <a:pt x="1296112" y="1178719"/>
                    </a:moveTo>
                    <a:lnTo>
                      <a:pt x="1296112" y="1080492"/>
                    </a:lnTo>
                    <a:lnTo>
                      <a:pt x="1394339" y="1080492"/>
                    </a:lnTo>
                    <a:lnTo>
                      <a:pt x="1394339" y="1178719"/>
                    </a:lnTo>
                    <a:lnTo>
                      <a:pt x="1296112" y="1178719"/>
                    </a:lnTo>
                    <a:close/>
                    <a:moveTo>
                      <a:pt x="1296112" y="1071563"/>
                    </a:moveTo>
                    <a:lnTo>
                      <a:pt x="1296112" y="973336"/>
                    </a:lnTo>
                    <a:lnTo>
                      <a:pt x="1394339" y="973336"/>
                    </a:lnTo>
                    <a:lnTo>
                      <a:pt x="1394339" y="1071563"/>
                    </a:lnTo>
                    <a:lnTo>
                      <a:pt x="1296112" y="1071563"/>
                    </a:lnTo>
                    <a:close/>
                    <a:moveTo>
                      <a:pt x="1296112" y="964406"/>
                    </a:moveTo>
                    <a:lnTo>
                      <a:pt x="1296112" y="866180"/>
                    </a:lnTo>
                    <a:lnTo>
                      <a:pt x="1394339" y="866180"/>
                    </a:lnTo>
                    <a:lnTo>
                      <a:pt x="1394339" y="964406"/>
                    </a:lnTo>
                    <a:lnTo>
                      <a:pt x="1296112" y="964406"/>
                    </a:lnTo>
                    <a:close/>
                    <a:moveTo>
                      <a:pt x="1296112" y="857250"/>
                    </a:moveTo>
                    <a:lnTo>
                      <a:pt x="1296112" y="759023"/>
                    </a:lnTo>
                    <a:lnTo>
                      <a:pt x="1394339" y="759023"/>
                    </a:lnTo>
                    <a:lnTo>
                      <a:pt x="1394339" y="857250"/>
                    </a:lnTo>
                    <a:lnTo>
                      <a:pt x="1296112" y="857250"/>
                    </a:lnTo>
                    <a:close/>
                    <a:moveTo>
                      <a:pt x="1296112" y="750094"/>
                    </a:moveTo>
                    <a:lnTo>
                      <a:pt x="1296112" y="651867"/>
                    </a:lnTo>
                    <a:lnTo>
                      <a:pt x="1394339" y="651867"/>
                    </a:lnTo>
                    <a:lnTo>
                      <a:pt x="1394339" y="750094"/>
                    </a:lnTo>
                    <a:lnTo>
                      <a:pt x="1296112" y="750094"/>
                    </a:lnTo>
                    <a:close/>
                    <a:moveTo>
                      <a:pt x="1296112" y="642938"/>
                    </a:moveTo>
                    <a:lnTo>
                      <a:pt x="1296112" y="544711"/>
                    </a:lnTo>
                    <a:lnTo>
                      <a:pt x="1394339" y="544711"/>
                    </a:lnTo>
                    <a:lnTo>
                      <a:pt x="1394339" y="642938"/>
                    </a:lnTo>
                    <a:lnTo>
                      <a:pt x="1296112" y="642938"/>
                    </a:lnTo>
                    <a:close/>
                    <a:moveTo>
                      <a:pt x="1296112" y="535781"/>
                    </a:moveTo>
                    <a:lnTo>
                      <a:pt x="1296112" y="437555"/>
                    </a:lnTo>
                    <a:lnTo>
                      <a:pt x="1394339" y="437555"/>
                    </a:lnTo>
                    <a:lnTo>
                      <a:pt x="1394339" y="535781"/>
                    </a:lnTo>
                    <a:lnTo>
                      <a:pt x="1296112" y="535781"/>
                    </a:lnTo>
                    <a:close/>
                    <a:moveTo>
                      <a:pt x="1296112" y="428625"/>
                    </a:moveTo>
                    <a:lnTo>
                      <a:pt x="1296112" y="330398"/>
                    </a:lnTo>
                    <a:lnTo>
                      <a:pt x="1394339" y="330398"/>
                    </a:lnTo>
                    <a:lnTo>
                      <a:pt x="1394339" y="428625"/>
                    </a:lnTo>
                    <a:lnTo>
                      <a:pt x="1296112" y="428625"/>
                    </a:lnTo>
                    <a:close/>
                    <a:moveTo>
                      <a:pt x="1287182" y="428625"/>
                    </a:moveTo>
                    <a:lnTo>
                      <a:pt x="1188956" y="428625"/>
                    </a:lnTo>
                    <a:lnTo>
                      <a:pt x="1188956" y="330398"/>
                    </a:lnTo>
                    <a:lnTo>
                      <a:pt x="1287182" y="330398"/>
                    </a:lnTo>
                    <a:lnTo>
                      <a:pt x="1287182" y="428625"/>
                    </a:lnTo>
                    <a:close/>
                    <a:moveTo>
                      <a:pt x="1180026" y="428625"/>
                    </a:moveTo>
                    <a:lnTo>
                      <a:pt x="1081800" y="428625"/>
                    </a:lnTo>
                    <a:lnTo>
                      <a:pt x="1081800" y="330398"/>
                    </a:lnTo>
                    <a:lnTo>
                      <a:pt x="1180026" y="330398"/>
                    </a:lnTo>
                    <a:lnTo>
                      <a:pt x="1180026" y="428625"/>
                    </a:lnTo>
                    <a:close/>
                    <a:moveTo>
                      <a:pt x="1072870" y="428625"/>
                    </a:moveTo>
                    <a:lnTo>
                      <a:pt x="974643" y="428625"/>
                    </a:lnTo>
                    <a:lnTo>
                      <a:pt x="974643" y="330398"/>
                    </a:lnTo>
                    <a:lnTo>
                      <a:pt x="1072870" y="330398"/>
                    </a:lnTo>
                    <a:lnTo>
                      <a:pt x="1072870" y="428625"/>
                    </a:lnTo>
                    <a:close/>
                    <a:moveTo>
                      <a:pt x="965714" y="428625"/>
                    </a:moveTo>
                    <a:lnTo>
                      <a:pt x="867487" y="428625"/>
                    </a:lnTo>
                    <a:lnTo>
                      <a:pt x="867487" y="330398"/>
                    </a:lnTo>
                    <a:lnTo>
                      <a:pt x="965714" y="330398"/>
                    </a:lnTo>
                    <a:lnTo>
                      <a:pt x="965714" y="428625"/>
                    </a:lnTo>
                    <a:close/>
                    <a:moveTo>
                      <a:pt x="858557" y="428625"/>
                    </a:moveTo>
                    <a:lnTo>
                      <a:pt x="760331" y="428625"/>
                    </a:lnTo>
                    <a:lnTo>
                      <a:pt x="760331" y="330398"/>
                    </a:lnTo>
                    <a:lnTo>
                      <a:pt x="858557" y="330398"/>
                    </a:lnTo>
                    <a:lnTo>
                      <a:pt x="858557" y="428625"/>
                    </a:lnTo>
                    <a:close/>
                    <a:moveTo>
                      <a:pt x="751401" y="428625"/>
                    </a:moveTo>
                    <a:lnTo>
                      <a:pt x="653175" y="428625"/>
                    </a:lnTo>
                    <a:lnTo>
                      <a:pt x="653175" y="330398"/>
                    </a:lnTo>
                    <a:lnTo>
                      <a:pt x="751401" y="330398"/>
                    </a:lnTo>
                    <a:lnTo>
                      <a:pt x="751401" y="428625"/>
                    </a:lnTo>
                    <a:close/>
                    <a:moveTo>
                      <a:pt x="644245" y="428625"/>
                    </a:moveTo>
                    <a:lnTo>
                      <a:pt x="546018" y="428625"/>
                    </a:lnTo>
                    <a:lnTo>
                      <a:pt x="546018" y="330398"/>
                    </a:lnTo>
                    <a:lnTo>
                      <a:pt x="644245" y="330398"/>
                    </a:lnTo>
                    <a:lnTo>
                      <a:pt x="644245" y="428625"/>
                    </a:lnTo>
                    <a:close/>
                    <a:moveTo>
                      <a:pt x="537089" y="428625"/>
                    </a:moveTo>
                    <a:lnTo>
                      <a:pt x="438862" y="428625"/>
                    </a:lnTo>
                    <a:lnTo>
                      <a:pt x="438862" y="330398"/>
                    </a:lnTo>
                    <a:lnTo>
                      <a:pt x="537089" y="330398"/>
                    </a:lnTo>
                    <a:lnTo>
                      <a:pt x="537089" y="428625"/>
                    </a:lnTo>
                    <a:close/>
                    <a:moveTo>
                      <a:pt x="537089" y="437555"/>
                    </a:moveTo>
                    <a:lnTo>
                      <a:pt x="537089" y="535781"/>
                    </a:lnTo>
                    <a:lnTo>
                      <a:pt x="438862" y="535781"/>
                    </a:lnTo>
                    <a:lnTo>
                      <a:pt x="438862" y="437555"/>
                    </a:lnTo>
                    <a:lnTo>
                      <a:pt x="537089" y="437555"/>
                    </a:lnTo>
                    <a:close/>
                    <a:moveTo>
                      <a:pt x="429932" y="535781"/>
                    </a:moveTo>
                    <a:lnTo>
                      <a:pt x="331706" y="535781"/>
                    </a:lnTo>
                    <a:lnTo>
                      <a:pt x="331706" y="437555"/>
                    </a:lnTo>
                    <a:lnTo>
                      <a:pt x="429932" y="437555"/>
                    </a:lnTo>
                    <a:lnTo>
                      <a:pt x="429932" y="535781"/>
                    </a:lnTo>
                    <a:close/>
                    <a:moveTo>
                      <a:pt x="429932" y="544711"/>
                    </a:moveTo>
                    <a:lnTo>
                      <a:pt x="429932" y="642938"/>
                    </a:lnTo>
                    <a:lnTo>
                      <a:pt x="331706" y="642938"/>
                    </a:lnTo>
                    <a:lnTo>
                      <a:pt x="331706" y="544711"/>
                    </a:lnTo>
                    <a:lnTo>
                      <a:pt x="429932" y="544711"/>
                    </a:lnTo>
                    <a:close/>
                    <a:moveTo>
                      <a:pt x="429932" y="651867"/>
                    </a:moveTo>
                    <a:lnTo>
                      <a:pt x="429932" y="750094"/>
                    </a:lnTo>
                    <a:lnTo>
                      <a:pt x="331706" y="750094"/>
                    </a:lnTo>
                    <a:lnTo>
                      <a:pt x="331706" y="651867"/>
                    </a:lnTo>
                    <a:lnTo>
                      <a:pt x="429932" y="651867"/>
                    </a:lnTo>
                    <a:close/>
                    <a:moveTo>
                      <a:pt x="429932" y="759023"/>
                    </a:moveTo>
                    <a:lnTo>
                      <a:pt x="429932" y="857250"/>
                    </a:lnTo>
                    <a:lnTo>
                      <a:pt x="331706" y="857250"/>
                    </a:lnTo>
                    <a:lnTo>
                      <a:pt x="331706" y="759023"/>
                    </a:lnTo>
                    <a:lnTo>
                      <a:pt x="429932" y="759023"/>
                    </a:lnTo>
                    <a:close/>
                    <a:moveTo>
                      <a:pt x="429932" y="866180"/>
                    </a:moveTo>
                    <a:lnTo>
                      <a:pt x="429932" y="964406"/>
                    </a:lnTo>
                    <a:lnTo>
                      <a:pt x="331706" y="964406"/>
                    </a:lnTo>
                    <a:lnTo>
                      <a:pt x="331706" y="866180"/>
                    </a:lnTo>
                    <a:lnTo>
                      <a:pt x="429932" y="866180"/>
                    </a:lnTo>
                    <a:close/>
                    <a:moveTo>
                      <a:pt x="429932" y="973336"/>
                    </a:moveTo>
                    <a:lnTo>
                      <a:pt x="429932" y="1071563"/>
                    </a:lnTo>
                    <a:lnTo>
                      <a:pt x="331706" y="1071563"/>
                    </a:lnTo>
                    <a:lnTo>
                      <a:pt x="331706" y="973336"/>
                    </a:lnTo>
                    <a:lnTo>
                      <a:pt x="429932" y="973336"/>
                    </a:lnTo>
                    <a:close/>
                    <a:moveTo>
                      <a:pt x="429932" y="1080492"/>
                    </a:moveTo>
                    <a:lnTo>
                      <a:pt x="429932" y="1178719"/>
                    </a:lnTo>
                    <a:lnTo>
                      <a:pt x="331706" y="1178719"/>
                    </a:lnTo>
                    <a:lnTo>
                      <a:pt x="331706" y="1080492"/>
                    </a:lnTo>
                    <a:lnTo>
                      <a:pt x="429932" y="1080492"/>
                    </a:lnTo>
                    <a:close/>
                    <a:moveTo>
                      <a:pt x="429932" y="1187649"/>
                    </a:moveTo>
                    <a:lnTo>
                      <a:pt x="429932" y="1285875"/>
                    </a:lnTo>
                    <a:lnTo>
                      <a:pt x="331706" y="1285875"/>
                    </a:lnTo>
                    <a:lnTo>
                      <a:pt x="331706" y="1187649"/>
                    </a:lnTo>
                    <a:lnTo>
                      <a:pt x="429932" y="1187649"/>
                    </a:lnTo>
                    <a:close/>
                    <a:moveTo>
                      <a:pt x="429932" y="1294805"/>
                    </a:moveTo>
                    <a:lnTo>
                      <a:pt x="429932" y="1393031"/>
                    </a:lnTo>
                    <a:lnTo>
                      <a:pt x="331706" y="1393031"/>
                    </a:lnTo>
                    <a:lnTo>
                      <a:pt x="331706" y="1294805"/>
                    </a:lnTo>
                    <a:lnTo>
                      <a:pt x="429932" y="1294805"/>
                    </a:lnTo>
                    <a:close/>
                    <a:moveTo>
                      <a:pt x="429932" y="1401961"/>
                    </a:moveTo>
                    <a:lnTo>
                      <a:pt x="429932" y="1500188"/>
                    </a:lnTo>
                    <a:lnTo>
                      <a:pt x="331706" y="1500188"/>
                    </a:lnTo>
                    <a:lnTo>
                      <a:pt x="331706" y="1401961"/>
                    </a:lnTo>
                    <a:lnTo>
                      <a:pt x="429932" y="1401961"/>
                    </a:lnTo>
                    <a:close/>
                    <a:moveTo>
                      <a:pt x="429932" y="1509117"/>
                    </a:moveTo>
                    <a:lnTo>
                      <a:pt x="429932" y="1607344"/>
                    </a:lnTo>
                    <a:lnTo>
                      <a:pt x="331706" y="1607344"/>
                    </a:lnTo>
                    <a:lnTo>
                      <a:pt x="331706" y="1509117"/>
                    </a:lnTo>
                    <a:lnTo>
                      <a:pt x="429932" y="1509117"/>
                    </a:lnTo>
                    <a:close/>
                    <a:moveTo>
                      <a:pt x="429932" y="1616274"/>
                    </a:moveTo>
                    <a:lnTo>
                      <a:pt x="429932" y="1714500"/>
                    </a:lnTo>
                    <a:lnTo>
                      <a:pt x="331706" y="1714500"/>
                    </a:lnTo>
                    <a:lnTo>
                      <a:pt x="331706" y="1616274"/>
                    </a:lnTo>
                    <a:lnTo>
                      <a:pt x="429932" y="1616274"/>
                    </a:lnTo>
                    <a:close/>
                    <a:moveTo>
                      <a:pt x="429932" y="1723430"/>
                    </a:moveTo>
                    <a:lnTo>
                      <a:pt x="429932" y="1821656"/>
                    </a:lnTo>
                    <a:lnTo>
                      <a:pt x="331706" y="1821656"/>
                    </a:lnTo>
                    <a:lnTo>
                      <a:pt x="331706" y="1723430"/>
                    </a:lnTo>
                    <a:lnTo>
                      <a:pt x="429932" y="1723430"/>
                    </a:lnTo>
                    <a:close/>
                    <a:moveTo>
                      <a:pt x="429932" y="1830586"/>
                    </a:moveTo>
                    <a:lnTo>
                      <a:pt x="429932" y="1928813"/>
                    </a:lnTo>
                    <a:lnTo>
                      <a:pt x="331706" y="1928813"/>
                    </a:lnTo>
                    <a:lnTo>
                      <a:pt x="331706" y="1830586"/>
                    </a:lnTo>
                    <a:lnTo>
                      <a:pt x="429932" y="1830586"/>
                    </a:lnTo>
                    <a:close/>
                    <a:moveTo>
                      <a:pt x="438862" y="1830586"/>
                    </a:moveTo>
                    <a:lnTo>
                      <a:pt x="537089" y="1830586"/>
                    </a:lnTo>
                    <a:lnTo>
                      <a:pt x="537089" y="1928813"/>
                    </a:lnTo>
                    <a:lnTo>
                      <a:pt x="438862" y="1928813"/>
                    </a:lnTo>
                    <a:lnTo>
                      <a:pt x="438862" y="1830586"/>
                    </a:lnTo>
                    <a:close/>
                    <a:moveTo>
                      <a:pt x="537089" y="1937742"/>
                    </a:moveTo>
                    <a:lnTo>
                      <a:pt x="537089" y="2035969"/>
                    </a:lnTo>
                    <a:lnTo>
                      <a:pt x="438862" y="2035969"/>
                    </a:lnTo>
                    <a:lnTo>
                      <a:pt x="438862" y="1937742"/>
                    </a:lnTo>
                    <a:lnTo>
                      <a:pt x="537089" y="1937742"/>
                    </a:lnTo>
                    <a:close/>
                    <a:moveTo>
                      <a:pt x="546018" y="1937742"/>
                    </a:moveTo>
                    <a:lnTo>
                      <a:pt x="644245" y="1937742"/>
                    </a:lnTo>
                    <a:lnTo>
                      <a:pt x="644245" y="2035969"/>
                    </a:lnTo>
                    <a:lnTo>
                      <a:pt x="546018" y="2035969"/>
                    </a:lnTo>
                    <a:lnTo>
                      <a:pt x="546018" y="1937742"/>
                    </a:lnTo>
                    <a:close/>
                    <a:moveTo>
                      <a:pt x="653175" y="1937742"/>
                    </a:moveTo>
                    <a:lnTo>
                      <a:pt x="751401" y="1937742"/>
                    </a:lnTo>
                    <a:lnTo>
                      <a:pt x="751401" y="2035969"/>
                    </a:lnTo>
                    <a:lnTo>
                      <a:pt x="653175" y="2035969"/>
                    </a:lnTo>
                    <a:lnTo>
                      <a:pt x="653175" y="1937742"/>
                    </a:lnTo>
                    <a:close/>
                    <a:moveTo>
                      <a:pt x="760331" y="1937742"/>
                    </a:moveTo>
                    <a:lnTo>
                      <a:pt x="858557" y="1937742"/>
                    </a:lnTo>
                    <a:lnTo>
                      <a:pt x="858557" y="2035969"/>
                    </a:lnTo>
                    <a:lnTo>
                      <a:pt x="760331" y="2035969"/>
                    </a:lnTo>
                    <a:lnTo>
                      <a:pt x="760331" y="1937742"/>
                    </a:lnTo>
                    <a:close/>
                    <a:moveTo>
                      <a:pt x="867487" y="1937742"/>
                    </a:moveTo>
                    <a:lnTo>
                      <a:pt x="965714" y="1937742"/>
                    </a:lnTo>
                    <a:lnTo>
                      <a:pt x="965714" y="2035969"/>
                    </a:lnTo>
                    <a:lnTo>
                      <a:pt x="867487" y="2035969"/>
                    </a:lnTo>
                    <a:lnTo>
                      <a:pt x="867487" y="1937742"/>
                    </a:lnTo>
                    <a:close/>
                    <a:moveTo>
                      <a:pt x="974643" y="1937742"/>
                    </a:moveTo>
                    <a:lnTo>
                      <a:pt x="1072870" y="1937742"/>
                    </a:lnTo>
                    <a:lnTo>
                      <a:pt x="1072870" y="2035969"/>
                    </a:lnTo>
                    <a:lnTo>
                      <a:pt x="974643" y="2035969"/>
                    </a:lnTo>
                    <a:lnTo>
                      <a:pt x="974643" y="1937742"/>
                    </a:lnTo>
                    <a:close/>
                    <a:moveTo>
                      <a:pt x="1081800" y="1937742"/>
                    </a:moveTo>
                    <a:lnTo>
                      <a:pt x="1180026" y="1937742"/>
                    </a:lnTo>
                    <a:lnTo>
                      <a:pt x="1180026" y="2035969"/>
                    </a:lnTo>
                    <a:lnTo>
                      <a:pt x="1081800" y="2035969"/>
                    </a:lnTo>
                    <a:lnTo>
                      <a:pt x="1081800" y="1937742"/>
                    </a:lnTo>
                    <a:close/>
                    <a:moveTo>
                      <a:pt x="1188956" y="1937742"/>
                    </a:moveTo>
                    <a:lnTo>
                      <a:pt x="1287182" y="1937742"/>
                    </a:lnTo>
                    <a:lnTo>
                      <a:pt x="1287182" y="2035969"/>
                    </a:lnTo>
                    <a:lnTo>
                      <a:pt x="1188956" y="2035969"/>
                    </a:lnTo>
                    <a:lnTo>
                      <a:pt x="1188956" y="1937742"/>
                    </a:lnTo>
                    <a:close/>
                    <a:moveTo>
                      <a:pt x="1296112" y="1937742"/>
                    </a:moveTo>
                    <a:lnTo>
                      <a:pt x="1394339" y="1937742"/>
                    </a:lnTo>
                    <a:lnTo>
                      <a:pt x="1394339" y="2035969"/>
                    </a:lnTo>
                    <a:lnTo>
                      <a:pt x="1296112" y="2035969"/>
                    </a:lnTo>
                    <a:lnTo>
                      <a:pt x="1296112" y="1937742"/>
                    </a:lnTo>
                    <a:close/>
                    <a:moveTo>
                      <a:pt x="1296112" y="1928813"/>
                    </a:moveTo>
                    <a:lnTo>
                      <a:pt x="1296112" y="1830586"/>
                    </a:lnTo>
                    <a:lnTo>
                      <a:pt x="1394339" y="1830586"/>
                    </a:lnTo>
                    <a:lnTo>
                      <a:pt x="1394339" y="1928813"/>
                    </a:lnTo>
                    <a:lnTo>
                      <a:pt x="1296112" y="1928813"/>
                    </a:lnTo>
                    <a:close/>
                    <a:moveTo>
                      <a:pt x="1403268" y="1830586"/>
                    </a:moveTo>
                    <a:lnTo>
                      <a:pt x="1501495" y="1830586"/>
                    </a:lnTo>
                    <a:lnTo>
                      <a:pt x="1501495" y="1928813"/>
                    </a:lnTo>
                    <a:lnTo>
                      <a:pt x="1403268" y="1928813"/>
                    </a:lnTo>
                    <a:lnTo>
                      <a:pt x="1403268" y="1830586"/>
                    </a:lnTo>
                    <a:close/>
                    <a:moveTo>
                      <a:pt x="1403268" y="1821656"/>
                    </a:moveTo>
                    <a:lnTo>
                      <a:pt x="1403268" y="1723430"/>
                    </a:lnTo>
                    <a:lnTo>
                      <a:pt x="1501495" y="1723430"/>
                    </a:lnTo>
                    <a:lnTo>
                      <a:pt x="1501495" y="1821656"/>
                    </a:lnTo>
                    <a:lnTo>
                      <a:pt x="1403268" y="1821656"/>
                    </a:lnTo>
                    <a:close/>
                    <a:moveTo>
                      <a:pt x="1403268" y="1714500"/>
                    </a:moveTo>
                    <a:lnTo>
                      <a:pt x="1403268" y="1616274"/>
                    </a:lnTo>
                    <a:lnTo>
                      <a:pt x="1501495" y="1616274"/>
                    </a:lnTo>
                    <a:lnTo>
                      <a:pt x="1501495" y="1714500"/>
                    </a:lnTo>
                    <a:lnTo>
                      <a:pt x="1403268" y="1714500"/>
                    </a:lnTo>
                    <a:close/>
                    <a:moveTo>
                      <a:pt x="1403268" y="1607344"/>
                    </a:moveTo>
                    <a:lnTo>
                      <a:pt x="1403268" y="1509117"/>
                    </a:lnTo>
                    <a:lnTo>
                      <a:pt x="1501495" y="1509117"/>
                    </a:lnTo>
                    <a:lnTo>
                      <a:pt x="1501495" y="1607344"/>
                    </a:lnTo>
                    <a:lnTo>
                      <a:pt x="1403268" y="1607344"/>
                    </a:lnTo>
                    <a:close/>
                    <a:moveTo>
                      <a:pt x="1403268" y="1500188"/>
                    </a:moveTo>
                    <a:lnTo>
                      <a:pt x="1403268" y="1401961"/>
                    </a:lnTo>
                    <a:lnTo>
                      <a:pt x="1501495" y="1401961"/>
                    </a:lnTo>
                    <a:lnTo>
                      <a:pt x="1501495" y="1500188"/>
                    </a:lnTo>
                    <a:lnTo>
                      <a:pt x="1403268" y="1500188"/>
                    </a:lnTo>
                    <a:close/>
                    <a:moveTo>
                      <a:pt x="1403268" y="1393031"/>
                    </a:moveTo>
                    <a:lnTo>
                      <a:pt x="1403268" y="1294805"/>
                    </a:lnTo>
                    <a:lnTo>
                      <a:pt x="1501495" y="1294805"/>
                    </a:lnTo>
                    <a:lnTo>
                      <a:pt x="1501495" y="1393031"/>
                    </a:lnTo>
                    <a:lnTo>
                      <a:pt x="1403268" y="1393031"/>
                    </a:lnTo>
                    <a:close/>
                    <a:moveTo>
                      <a:pt x="1403268" y="1285875"/>
                    </a:moveTo>
                    <a:lnTo>
                      <a:pt x="1403268" y="1187649"/>
                    </a:lnTo>
                    <a:lnTo>
                      <a:pt x="1501495" y="1187649"/>
                    </a:lnTo>
                    <a:lnTo>
                      <a:pt x="1501495" y="1285875"/>
                    </a:lnTo>
                    <a:lnTo>
                      <a:pt x="1403268" y="1285875"/>
                    </a:lnTo>
                    <a:close/>
                    <a:moveTo>
                      <a:pt x="1403268" y="1178719"/>
                    </a:moveTo>
                    <a:lnTo>
                      <a:pt x="1403268" y="1080492"/>
                    </a:lnTo>
                    <a:lnTo>
                      <a:pt x="1501495" y="1080492"/>
                    </a:lnTo>
                    <a:lnTo>
                      <a:pt x="1501495" y="1178719"/>
                    </a:lnTo>
                    <a:lnTo>
                      <a:pt x="1403268" y="1178719"/>
                    </a:lnTo>
                    <a:close/>
                    <a:moveTo>
                      <a:pt x="1403268" y="1071563"/>
                    </a:moveTo>
                    <a:lnTo>
                      <a:pt x="1403268" y="973336"/>
                    </a:lnTo>
                    <a:lnTo>
                      <a:pt x="1501495" y="973336"/>
                    </a:lnTo>
                    <a:lnTo>
                      <a:pt x="1501495" y="1071563"/>
                    </a:lnTo>
                    <a:lnTo>
                      <a:pt x="1403268" y="1071563"/>
                    </a:lnTo>
                    <a:close/>
                    <a:moveTo>
                      <a:pt x="1403268" y="964406"/>
                    </a:moveTo>
                    <a:lnTo>
                      <a:pt x="1403268" y="866180"/>
                    </a:lnTo>
                    <a:lnTo>
                      <a:pt x="1501495" y="866180"/>
                    </a:lnTo>
                    <a:lnTo>
                      <a:pt x="1501495" y="964406"/>
                    </a:lnTo>
                    <a:lnTo>
                      <a:pt x="1403268" y="964406"/>
                    </a:lnTo>
                    <a:close/>
                    <a:moveTo>
                      <a:pt x="1403268" y="857250"/>
                    </a:moveTo>
                    <a:lnTo>
                      <a:pt x="1403268" y="759023"/>
                    </a:lnTo>
                    <a:lnTo>
                      <a:pt x="1501495" y="759023"/>
                    </a:lnTo>
                    <a:lnTo>
                      <a:pt x="1501495" y="857250"/>
                    </a:lnTo>
                    <a:lnTo>
                      <a:pt x="1403268" y="857250"/>
                    </a:lnTo>
                    <a:close/>
                    <a:moveTo>
                      <a:pt x="1403268" y="750094"/>
                    </a:moveTo>
                    <a:lnTo>
                      <a:pt x="1403268" y="651867"/>
                    </a:lnTo>
                    <a:lnTo>
                      <a:pt x="1501495" y="651867"/>
                    </a:lnTo>
                    <a:lnTo>
                      <a:pt x="1501495" y="750094"/>
                    </a:lnTo>
                    <a:lnTo>
                      <a:pt x="1403268" y="750094"/>
                    </a:lnTo>
                    <a:close/>
                    <a:moveTo>
                      <a:pt x="1403268" y="642938"/>
                    </a:moveTo>
                    <a:lnTo>
                      <a:pt x="1403268" y="544711"/>
                    </a:lnTo>
                    <a:lnTo>
                      <a:pt x="1501495" y="544711"/>
                    </a:lnTo>
                    <a:lnTo>
                      <a:pt x="1501495" y="642938"/>
                    </a:lnTo>
                    <a:lnTo>
                      <a:pt x="1403268" y="642938"/>
                    </a:lnTo>
                    <a:close/>
                    <a:moveTo>
                      <a:pt x="1403268" y="535781"/>
                    </a:moveTo>
                    <a:lnTo>
                      <a:pt x="1403268" y="437555"/>
                    </a:lnTo>
                    <a:lnTo>
                      <a:pt x="1501495" y="437555"/>
                    </a:lnTo>
                    <a:lnTo>
                      <a:pt x="1501495" y="535781"/>
                    </a:lnTo>
                    <a:lnTo>
                      <a:pt x="1403268" y="535781"/>
                    </a:lnTo>
                    <a:close/>
                    <a:moveTo>
                      <a:pt x="1403268" y="428625"/>
                    </a:moveTo>
                    <a:lnTo>
                      <a:pt x="1403268" y="330398"/>
                    </a:lnTo>
                    <a:lnTo>
                      <a:pt x="1501495" y="330398"/>
                    </a:lnTo>
                    <a:lnTo>
                      <a:pt x="1501495" y="428625"/>
                    </a:lnTo>
                    <a:lnTo>
                      <a:pt x="1403268" y="428625"/>
                    </a:lnTo>
                    <a:close/>
                    <a:moveTo>
                      <a:pt x="1403268" y="321469"/>
                    </a:moveTo>
                    <a:lnTo>
                      <a:pt x="1403268" y="223242"/>
                    </a:lnTo>
                    <a:lnTo>
                      <a:pt x="1501495" y="223242"/>
                    </a:lnTo>
                    <a:lnTo>
                      <a:pt x="1501495" y="321469"/>
                    </a:lnTo>
                    <a:lnTo>
                      <a:pt x="1403268" y="321469"/>
                    </a:lnTo>
                    <a:close/>
                    <a:moveTo>
                      <a:pt x="1394339" y="321469"/>
                    </a:moveTo>
                    <a:lnTo>
                      <a:pt x="1296112" y="321469"/>
                    </a:lnTo>
                    <a:lnTo>
                      <a:pt x="1296112" y="223242"/>
                    </a:lnTo>
                    <a:lnTo>
                      <a:pt x="1394339" y="223242"/>
                    </a:lnTo>
                    <a:lnTo>
                      <a:pt x="1394339" y="321469"/>
                    </a:lnTo>
                    <a:close/>
                    <a:moveTo>
                      <a:pt x="1287182" y="321469"/>
                    </a:moveTo>
                    <a:lnTo>
                      <a:pt x="1188956" y="321469"/>
                    </a:lnTo>
                    <a:lnTo>
                      <a:pt x="1188956" y="223242"/>
                    </a:lnTo>
                    <a:lnTo>
                      <a:pt x="1287182" y="223242"/>
                    </a:lnTo>
                    <a:lnTo>
                      <a:pt x="1287182" y="321469"/>
                    </a:lnTo>
                    <a:close/>
                    <a:moveTo>
                      <a:pt x="1180026" y="321469"/>
                    </a:moveTo>
                    <a:lnTo>
                      <a:pt x="1081800" y="321469"/>
                    </a:lnTo>
                    <a:lnTo>
                      <a:pt x="1081800" y="223242"/>
                    </a:lnTo>
                    <a:lnTo>
                      <a:pt x="1180026" y="223242"/>
                    </a:lnTo>
                    <a:lnTo>
                      <a:pt x="1180026" y="321469"/>
                    </a:lnTo>
                    <a:close/>
                    <a:moveTo>
                      <a:pt x="1072870" y="321469"/>
                    </a:moveTo>
                    <a:lnTo>
                      <a:pt x="974643" y="321469"/>
                    </a:lnTo>
                    <a:lnTo>
                      <a:pt x="974643" y="223242"/>
                    </a:lnTo>
                    <a:lnTo>
                      <a:pt x="1072870" y="223242"/>
                    </a:lnTo>
                    <a:lnTo>
                      <a:pt x="1072870" y="321469"/>
                    </a:lnTo>
                    <a:close/>
                    <a:moveTo>
                      <a:pt x="965714" y="321469"/>
                    </a:moveTo>
                    <a:lnTo>
                      <a:pt x="867487" y="321469"/>
                    </a:lnTo>
                    <a:lnTo>
                      <a:pt x="867487" y="223242"/>
                    </a:lnTo>
                    <a:lnTo>
                      <a:pt x="965714" y="223242"/>
                    </a:lnTo>
                    <a:lnTo>
                      <a:pt x="965714" y="321469"/>
                    </a:lnTo>
                    <a:close/>
                    <a:moveTo>
                      <a:pt x="858557" y="321469"/>
                    </a:moveTo>
                    <a:lnTo>
                      <a:pt x="760331" y="321469"/>
                    </a:lnTo>
                    <a:lnTo>
                      <a:pt x="760331" y="223242"/>
                    </a:lnTo>
                    <a:lnTo>
                      <a:pt x="858557" y="223242"/>
                    </a:lnTo>
                    <a:lnTo>
                      <a:pt x="858557" y="321469"/>
                    </a:lnTo>
                    <a:close/>
                    <a:moveTo>
                      <a:pt x="751401" y="321469"/>
                    </a:moveTo>
                    <a:lnTo>
                      <a:pt x="653175" y="321469"/>
                    </a:lnTo>
                    <a:lnTo>
                      <a:pt x="653175" y="223242"/>
                    </a:lnTo>
                    <a:lnTo>
                      <a:pt x="751401" y="223242"/>
                    </a:lnTo>
                    <a:lnTo>
                      <a:pt x="751401" y="321469"/>
                    </a:lnTo>
                    <a:close/>
                    <a:moveTo>
                      <a:pt x="644245" y="321469"/>
                    </a:moveTo>
                    <a:lnTo>
                      <a:pt x="546018" y="321469"/>
                    </a:lnTo>
                    <a:lnTo>
                      <a:pt x="546018" y="223242"/>
                    </a:lnTo>
                    <a:lnTo>
                      <a:pt x="644245" y="223242"/>
                    </a:lnTo>
                    <a:lnTo>
                      <a:pt x="644245" y="321469"/>
                    </a:lnTo>
                    <a:close/>
                    <a:moveTo>
                      <a:pt x="537089" y="321469"/>
                    </a:moveTo>
                    <a:lnTo>
                      <a:pt x="438862" y="321469"/>
                    </a:lnTo>
                    <a:lnTo>
                      <a:pt x="438862" y="223242"/>
                    </a:lnTo>
                    <a:lnTo>
                      <a:pt x="537089" y="223242"/>
                    </a:lnTo>
                    <a:lnTo>
                      <a:pt x="537089" y="321469"/>
                    </a:lnTo>
                    <a:close/>
                    <a:moveTo>
                      <a:pt x="429932" y="321469"/>
                    </a:moveTo>
                    <a:lnTo>
                      <a:pt x="331706" y="321469"/>
                    </a:lnTo>
                    <a:lnTo>
                      <a:pt x="331706" y="223242"/>
                    </a:lnTo>
                    <a:lnTo>
                      <a:pt x="429932" y="223242"/>
                    </a:lnTo>
                    <a:lnTo>
                      <a:pt x="429932" y="321469"/>
                    </a:lnTo>
                    <a:close/>
                    <a:moveTo>
                      <a:pt x="429932" y="330398"/>
                    </a:moveTo>
                    <a:lnTo>
                      <a:pt x="429932" y="428625"/>
                    </a:lnTo>
                    <a:lnTo>
                      <a:pt x="331706" y="428625"/>
                    </a:lnTo>
                    <a:lnTo>
                      <a:pt x="331706" y="330398"/>
                    </a:lnTo>
                    <a:lnTo>
                      <a:pt x="429932" y="330398"/>
                    </a:lnTo>
                    <a:close/>
                    <a:moveTo>
                      <a:pt x="322776" y="428625"/>
                    </a:moveTo>
                    <a:lnTo>
                      <a:pt x="224549" y="428625"/>
                    </a:lnTo>
                    <a:lnTo>
                      <a:pt x="224549" y="330398"/>
                    </a:lnTo>
                    <a:lnTo>
                      <a:pt x="322776" y="330398"/>
                    </a:lnTo>
                    <a:lnTo>
                      <a:pt x="322776" y="428625"/>
                    </a:lnTo>
                    <a:close/>
                    <a:moveTo>
                      <a:pt x="322776" y="437555"/>
                    </a:moveTo>
                    <a:lnTo>
                      <a:pt x="322776" y="535781"/>
                    </a:lnTo>
                    <a:lnTo>
                      <a:pt x="224549" y="535781"/>
                    </a:lnTo>
                    <a:lnTo>
                      <a:pt x="224549" y="437555"/>
                    </a:lnTo>
                    <a:lnTo>
                      <a:pt x="322776" y="437555"/>
                    </a:lnTo>
                    <a:close/>
                    <a:moveTo>
                      <a:pt x="322776" y="544711"/>
                    </a:moveTo>
                    <a:lnTo>
                      <a:pt x="322776" y="642938"/>
                    </a:lnTo>
                    <a:lnTo>
                      <a:pt x="224549" y="642938"/>
                    </a:lnTo>
                    <a:lnTo>
                      <a:pt x="224549" y="544711"/>
                    </a:lnTo>
                    <a:lnTo>
                      <a:pt x="322776" y="544711"/>
                    </a:lnTo>
                    <a:close/>
                    <a:moveTo>
                      <a:pt x="322776" y="651867"/>
                    </a:moveTo>
                    <a:lnTo>
                      <a:pt x="322776" y="750094"/>
                    </a:lnTo>
                    <a:lnTo>
                      <a:pt x="224549" y="750094"/>
                    </a:lnTo>
                    <a:lnTo>
                      <a:pt x="224549" y="651867"/>
                    </a:lnTo>
                    <a:lnTo>
                      <a:pt x="322776" y="651867"/>
                    </a:lnTo>
                    <a:close/>
                    <a:moveTo>
                      <a:pt x="322776" y="759023"/>
                    </a:moveTo>
                    <a:lnTo>
                      <a:pt x="322776" y="857250"/>
                    </a:lnTo>
                    <a:lnTo>
                      <a:pt x="224549" y="857250"/>
                    </a:lnTo>
                    <a:lnTo>
                      <a:pt x="224549" y="759023"/>
                    </a:lnTo>
                    <a:lnTo>
                      <a:pt x="322776" y="759023"/>
                    </a:lnTo>
                    <a:close/>
                    <a:moveTo>
                      <a:pt x="322776" y="866180"/>
                    </a:moveTo>
                    <a:lnTo>
                      <a:pt x="322776" y="964406"/>
                    </a:lnTo>
                    <a:lnTo>
                      <a:pt x="224549" y="964406"/>
                    </a:lnTo>
                    <a:lnTo>
                      <a:pt x="224549" y="866180"/>
                    </a:lnTo>
                    <a:lnTo>
                      <a:pt x="322776" y="866180"/>
                    </a:lnTo>
                    <a:close/>
                    <a:moveTo>
                      <a:pt x="322776" y="973336"/>
                    </a:moveTo>
                    <a:lnTo>
                      <a:pt x="322776" y="1071563"/>
                    </a:lnTo>
                    <a:lnTo>
                      <a:pt x="224549" y="1071563"/>
                    </a:lnTo>
                    <a:lnTo>
                      <a:pt x="224549" y="973336"/>
                    </a:lnTo>
                    <a:lnTo>
                      <a:pt x="322776" y="973336"/>
                    </a:lnTo>
                    <a:close/>
                    <a:moveTo>
                      <a:pt x="322776" y="1080492"/>
                    </a:moveTo>
                    <a:lnTo>
                      <a:pt x="322776" y="1178719"/>
                    </a:lnTo>
                    <a:lnTo>
                      <a:pt x="224549" y="1178719"/>
                    </a:lnTo>
                    <a:lnTo>
                      <a:pt x="224549" y="1080492"/>
                    </a:lnTo>
                    <a:lnTo>
                      <a:pt x="322776" y="1080492"/>
                    </a:lnTo>
                    <a:close/>
                    <a:moveTo>
                      <a:pt x="322776" y="1187649"/>
                    </a:moveTo>
                    <a:lnTo>
                      <a:pt x="322776" y="1285875"/>
                    </a:lnTo>
                    <a:lnTo>
                      <a:pt x="224549" y="1285875"/>
                    </a:lnTo>
                    <a:lnTo>
                      <a:pt x="224549" y="1187649"/>
                    </a:lnTo>
                    <a:lnTo>
                      <a:pt x="322776" y="1187649"/>
                    </a:lnTo>
                    <a:close/>
                    <a:moveTo>
                      <a:pt x="322776" y="1294805"/>
                    </a:moveTo>
                    <a:lnTo>
                      <a:pt x="322776" y="1393031"/>
                    </a:lnTo>
                    <a:lnTo>
                      <a:pt x="224549" y="1393031"/>
                    </a:lnTo>
                    <a:lnTo>
                      <a:pt x="224549" y="1294805"/>
                    </a:lnTo>
                    <a:lnTo>
                      <a:pt x="322776" y="1294805"/>
                    </a:lnTo>
                    <a:close/>
                    <a:moveTo>
                      <a:pt x="322776" y="1401961"/>
                    </a:moveTo>
                    <a:lnTo>
                      <a:pt x="322776" y="1500188"/>
                    </a:lnTo>
                    <a:lnTo>
                      <a:pt x="224549" y="1500188"/>
                    </a:lnTo>
                    <a:lnTo>
                      <a:pt x="224549" y="1401961"/>
                    </a:lnTo>
                    <a:lnTo>
                      <a:pt x="322776" y="1401961"/>
                    </a:lnTo>
                    <a:close/>
                    <a:moveTo>
                      <a:pt x="322776" y="1509117"/>
                    </a:moveTo>
                    <a:lnTo>
                      <a:pt x="322776" y="1607344"/>
                    </a:lnTo>
                    <a:lnTo>
                      <a:pt x="224549" y="1607344"/>
                    </a:lnTo>
                    <a:lnTo>
                      <a:pt x="224549" y="1509117"/>
                    </a:lnTo>
                    <a:lnTo>
                      <a:pt x="322776" y="1509117"/>
                    </a:lnTo>
                    <a:close/>
                    <a:moveTo>
                      <a:pt x="322776" y="1616274"/>
                    </a:moveTo>
                    <a:lnTo>
                      <a:pt x="322776" y="1714500"/>
                    </a:lnTo>
                    <a:lnTo>
                      <a:pt x="224549" y="1714500"/>
                    </a:lnTo>
                    <a:lnTo>
                      <a:pt x="224549" y="1616274"/>
                    </a:lnTo>
                    <a:lnTo>
                      <a:pt x="322776" y="1616274"/>
                    </a:lnTo>
                    <a:close/>
                    <a:moveTo>
                      <a:pt x="322776" y="1723430"/>
                    </a:moveTo>
                    <a:lnTo>
                      <a:pt x="322776" y="1821656"/>
                    </a:lnTo>
                    <a:lnTo>
                      <a:pt x="224549" y="1821656"/>
                    </a:lnTo>
                    <a:lnTo>
                      <a:pt x="224549" y="1723430"/>
                    </a:lnTo>
                    <a:lnTo>
                      <a:pt x="322776" y="1723430"/>
                    </a:lnTo>
                    <a:close/>
                    <a:moveTo>
                      <a:pt x="322776" y="1830586"/>
                    </a:moveTo>
                    <a:lnTo>
                      <a:pt x="322776" y="1928813"/>
                    </a:lnTo>
                    <a:lnTo>
                      <a:pt x="224549" y="1928813"/>
                    </a:lnTo>
                    <a:lnTo>
                      <a:pt x="224549" y="1830586"/>
                    </a:lnTo>
                    <a:lnTo>
                      <a:pt x="322776" y="1830586"/>
                    </a:lnTo>
                    <a:close/>
                    <a:moveTo>
                      <a:pt x="322776" y="1937742"/>
                    </a:moveTo>
                    <a:lnTo>
                      <a:pt x="322776" y="2035969"/>
                    </a:lnTo>
                    <a:lnTo>
                      <a:pt x="224549" y="2035969"/>
                    </a:lnTo>
                    <a:lnTo>
                      <a:pt x="224549" y="1937742"/>
                    </a:lnTo>
                    <a:lnTo>
                      <a:pt x="322776" y="1937742"/>
                    </a:lnTo>
                    <a:close/>
                    <a:moveTo>
                      <a:pt x="331706" y="1937742"/>
                    </a:moveTo>
                    <a:lnTo>
                      <a:pt x="429932" y="1937742"/>
                    </a:lnTo>
                    <a:lnTo>
                      <a:pt x="429932" y="2035969"/>
                    </a:lnTo>
                    <a:lnTo>
                      <a:pt x="331706" y="2035969"/>
                    </a:lnTo>
                    <a:lnTo>
                      <a:pt x="331706" y="1937742"/>
                    </a:lnTo>
                    <a:close/>
                    <a:moveTo>
                      <a:pt x="429932" y="2044899"/>
                    </a:moveTo>
                    <a:lnTo>
                      <a:pt x="429932" y="2143125"/>
                    </a:lnTo>
                    <a:lnTo>
                      <a:pt x="331706" y="2143125"/>
                    </a:lnTo>
                    <a:lnTo>
                      <a:pt x="331706" y="2044899"/>
                    </a:lnTo>
                    <a:lnTo>
                      <a:pt x="429932" y="2044899"/>
                    </a:lnTo>
                    <a:close/>
                    <a:moveTo>
                      <a:pt x="438862" y="2044899"/>
                    </a:moveTo>
                    <a:lnTo>
                      <a:pt x="537089" y="2044899"/>
                    </a:lnTo>
                    <a:lnTo>
                      <a:pt x="537089" y="2143125"/>
                    </a:lnTo>
                    <a:lnTo>
                      <a:pt x="438862" y="2143125"/>
                    </a:lnTo>
                    <a:lnTo>
                      <a:pt x="438862" y="2044899"/>
                    </a:lnTo>
                    <a:close/>
                    <a:moveTo>
                      <a:pt x="546018" y="2044899"/>
                    </a:moveTo>
                    <a:lnTo>
                      <a:pt x="644245" y="2044899"/>
                    </a:lnTo>
                    <a:lnTo>
                      <a:pt x="644245" y="2143125"/>
                    </a:lnTo>
                    <a:lnTo>
                      <a:pt x="546018" y="2143125"/>
                    </a:lnTo>
                    <a:lnTo>
                      <a:pt x="546018" y="2044899"/>
                    </a:lnTo>
                    <a:close/>
                    <a:moveTo>
                      <a:pt x="653175" y="2044899"/>
                    </a:moveTo>
                    <a:lnTo>
                      <a:pt x="751401" y="2044899"/>
                    </a:lnTo>
                    <a:lnTo>
                      <a:pt x="751401" y="2143125"/>
                    </a:lnTo>
                    <a:lnTo>
                      <a:pt x="653175" y="2143125"/>
                    </a:lnTo>
                    <a:lnTo>
                      <a:pt x="653175" y="2044899"/>
                    </a:lnTo>
                    <a:close/>
                    <a:moveTo>
                      <a:pt x="760331" y="2044899"/>
                    </a:moveTo>
                    <a:lnTo>
                      <a:pt x="858557" y="2044899"/>
                    </a:lnTo>
                    <a:lnTo>
                      <a:pt x="858557" y="2143125"/>
                    </a:lnTo>
                    <a:lnTo>
                      <a:pt x="760331" y="2143125"/>
                    </a:lnTo>
                    <a:lnTo>
                      <a:pt x="760331" y="2044899"/>
                    </a:lnTo>
                    <a:close/>
                    <a:moveTo>
                      <a:pt x="867487" y="2044899"/>
                    </a:moveTo>
                    <a:lnTo>
                      <a:pt x="965714" y="2044899"/>
                    </a:lnTo>
                    <a:lnTo>
                      <a:pt x="965714" y="2143125"/>
                    </a:lnTo>
                    <a:lnTo>
                      <a:pt x="867487" y="2143125"/>
                    </a:lnTo>
                    <a:lnTo>
                      <a:pt x="867487" y="2044899"/>
                    </a:lnTo>
                    <a:close/>
                    <a:moveTo>
                      <a:pt x="974643" y="2044899"/>
                    </a:moveTo>
                    <a:lnTo>
                      <a:pt x="1072870" y="2044899"/>
                    </a:lnTo>
                    <a:lnTo>
                      <a:pt x="1072870" y="2143125"/>
                    </a:lnTo>
                    <a:lnTo>
                      <a:pt x="974643" y="2143125"/>
                    </a:lnTo>
                    <a:lnTo>
                      <a:pt x="974643" y="2044899"/>
                    </a:lnTo>
                    <a:close/>
                    <a:moveTo>
                      <a:pt x="1081800" y="2044899"/>
                    </a:moveTo>
                    <a:lnTo>
                      <a:pt x="1180026" y="2044899"/>
                    </a:lnTo>
                    <a:lnTo>
                      <a:pt x="1180026" y="2143125"/>
                    </a:lnTo>
                    <a:lnTo>
                      <a:pt x="1081800" y="2143125"/>
                    </a:lnTo>
                    <a:lnTo>
                      <a:pt x="1081800" y="2044899"/>
                    </a:lnTo>
                    <a:close/>
                    <a:moveTo>
                      <a:pt x="1188956" y="2044899"/>
                    </a:moveTo>
                    <a:lnTo>
                      <a:pt x="1287182" y="2044899"/>
                    </a:lnTo>
                    <a:lnTo>
                      <a:pt x="1287182" y="2143125"/>
                    </a:lnTo>
                    <a:lnTo>
                      <a:pt x="1188956" y="2143125"/>
                    </a:lnTo>
                    <a:lnTo>
                      <a:pt x="1188956" y="2044899"/>
                    </a:lnTo>
                    <a:close/>
                    <a:moveTo>
                      <a:pt x="1296112" y="2044899"/>
                    </a:moveTo>
                    <a:lnTo>
                      <a:pt x="1394339" y="2044899"/>
                    </a:lnTo>
                    <a:lnTo>
                      <a:pt x="1394339" y="2143125"/>
                    </a:lnTo>
                    <a:lnTo>
                      <a:pt x="1296112" y="2143125"/>
                    </a:lnTo>
                    <a:lnTo>
                      <a:pt x="1296112" y="2044899"/>
                    </a:lnTo>
                    <a:close/>
                    <a:moveTo>
                      <a:pt x="1403268" y="2044899"/>
                    </a:moveTo>
                    <a:lnTo>
                      <a:pt x="1501495" y="2044899"/>
                    </a:lnTo>
                    <a:lnTo>
                      <a:pt x="1501495" y="2143125"/>
                    </a:lnTo>
                    <a:lnTo>
                      <a:pt x="1403268" y="2143125"/>
                    </a:lnTo>
                    <a:lnTo>
                      <a:pt x="1403268" y="2044899"/>
                    </a:lnTo>
                    <a:close/>
                    <a:moveTo>
                      <a:pt x="1403268" y="2035969"/>
                    </a:moveTo>
                    <a:lnTo>
                      <a:pt x="1403268" y="1937742"/>
                    </a:lnTo>
                    <a:lnTo>
                      <a:pt x="1501495" y="1937742"/>
                    </a:lnTo>
                    <a:lnTo>
                      <a:pt x="1501495" y="2035969"/>
                    </a:lnTo>
                    <a:lnTo>
                      <a:pt x="1403268" y="2035969"/>
                    </a:lnTo>
                    <a:close/>
                    <a:moveTo>
                      <a:pt x="1510425" y="1937742"/>
                    </a:moveTo>
                    <a:lnTo>
                      <a:pt x="1608651" y="1937742"/>
                    </a:lnTo>
                    <a:lnTo>
                      <a:pt x="1608651" y="2035969"/>
                    </a:lnTo>
                    <a:lnTo>
                      <a:pt x="1510425" y="2035969"/>
                    </a:lnTo>
                    <a:lnTo>
                      <a:pt x="1510425" y="1937742"/>
                    </a:lnTo>
                    <a:close/>
                    <a:moveTo>
                      <a:pt x="1510425" y="1928813"/>
                    </a:moveTo>
                    <a:lnTo>
                      <a:pt x="1510425" y="1830586"/>
                    </a:lnTo>
                    <a:lnTo>
                      <a:pt x="1608651" y="1830586"/>
                    </a:lnTo>
                    <a:lnTo>
                      <a:pt x="1608651" y="1928813"/>
                    </a:lnTo>
                    <a:lnTo>
                      <a:pt x="1510425" y="1928813"/>
                    </a:lnTo>
                    <a:close/>
                    <a:moveTo>
                      <a:pt x="1510425" y="1821656"/>
                    </a:moveTo>
                    <a:lnTo>
                      <a:pt x="1510425" y="1723430"/>
                    </a:lnTo>
                    <a:lnTo>
                      <a:pt x="1608651" y="1723430"/>
                    </a:lnTo>
                    <a:lnTo>
                      <a:pt x="1608651" y="1821656"/>
                    </a:lnTo>
                    <a:lnTo>
                      <a:pt x="1510425" y="1821656"/>
                    </a:lnTo>
                    <a:close/>
                    <a:moveTo>
                      <a:pt x="1510425" y="1714500"/>
                    </a:moveTo>
                    <a:lnTo>
                      <a:pt x="1510425" y="1616274"/>
                    </a:lnTo>
                    <a:lnTo>
                      <a:pt x="1608651" y="1616274"/>
                    </a:lnTo>
                    <a:lnTo>
                      <a:pt x="1608651" y="1714500"/>
                    </a:lnTo>
                    <a:lnTo>
                      <a:pt x="1510425" y="1714500"/>
                    </a:lnTo>
                    <a:close/>
                    <a:moveTo>
                      <a:pt x="1510425" y="1607344"/>
                    </a:moveTo>
                    <a:lnTo>
                      <a:pt x="1510425" y="1509117"/>
                    </a:lnTo>
                    <a:lnTo>
                      <a:pt x="1608651" y="1509117"/>
                    </a:lnTo>
                    <a:lnTo>
                      <a:pt x="1608651" y="1607344"/>
                    </a:lnTo>
                    <a:lnTo>
                      <a:pt x="1510425" y="1607344"/>
                    </a:lnTo>
                    <a:close/>
                    <a:moveTo>
                      <a:pt x="1510425" y="1500188"/>
                    </a:moveTo>
                    <a:lnTo>
                      <a:pt x="1510425" y="1401961"/>
                    </a:lnTo>
                    <a:lnTo>
                      <a:pt x="1608651" y="1401961"/>
                    </a:lnTo>
                    <a:lnTo>
                      <a:pt x="1608651" y="1500188"/>
                    </a:lnTo>
                    <a:lnTo>
                      <a:pt x="1510425" y="1500188"/>
                    </a:lnTo>
                    <a:close/>
                    <a:moveTo>
                      <a:pt x="1510425" y="1393031"/>
                    </a:moveTo>
                    <a:lnTo>
                      <a:pt x="1510425" y="1294805"/>
                    </a:lnTo>
                    <a:lnTo>
                      <a:pt x="1608651" y="1294805"/>
                    </a:lnTo>
                    <a:lnTo>
                      <a:pt x="1608651" y="1393031"/>
                    </a:lnTo>
                    <a:lnTo>
                      <a:pt x="1510425" y="1393031"/>
                    </a:lnTo>
                    <a:close/>
                    <a:moveTo>
                      <a:pt x="1510425" y="1285875"/>
                    </a:moveTo>
                    <a:lnTo>
                      <a:pt x="1510425" y="1187649"/>
                    </a:lnTo>
                    <a:lnTo>
                      <a:pt x="1608651" y="1187649"/>
                    </a:lnTo>
                    <a:lnTo>
                      <a:pt x="1608651" y="1285875"/>
                    </a:lnTo>
                    <a:lnTo>
                      <a:pt x="1510425" y="1285875"/>
                    </a:lnTo>
                    <a:close/>
                    <a:moveTo>
                      <a:pt x="1510425" y="1178719"/>
                    </a:moveTo>
                    <a:lnTo>
                      <a:pt x="1510425" y="1080492"/>
                    </a:lnTo>
                    <a:lnTo>
                      <a:pt x="1608651" y="1080492"/>
                    </a:lnTo>
                    <a:lnTo>
                      <a:pt x="1608651" y="1178719"/>
                    </a:lnTo>
                    <a:lnTo>
                      <a:pt x="1510425" y="1178719"/>
                    </a:lnTo>
                    <a:close/>
                    <a:moveTo>
                      <a:pt x="1510425" y="1071563"/>
                    </a:moveTo>
                    <a:lnTo>
                      <a:pt x="1510425" y="973336"/>
                    </a:lnTo>
                    <a:lnTo>
                      <a:pt x="1608651" y="973336"/>
                    </a:lnTo>
                    <a:lnTo>
                      <a:pt x="1608651" y="1071563"/>
                    </a:lnTo>
                    <a:lnTo>
                      <a:pt x="1510425" y="1071563"/>
                    </a:lnTo>
                    <a:close/>
                    <a:moveTo>
                      <a:pt x="1510425" y="964406"/>
                    </a:moveTo>
                    <a:lnTo>
                      <a:pt x="1510425" y="866180"/>
                    </a:lnTo>
                    <a:lnTo>
                      <a:pt x="1608651" y="866180"/>
                    </a:lnTo>
                    <a:lnTo>
                      <a:pt x="1608651" y="964406"/>
                    </a:lnTo>
                    <a:lnTo>
                      <a:pt x="1510425" y="964406"/>
                    </a:lnTo>
                    <a:close/>
                    <a:moveTo>
                      <a:pt x="1510425" y="857250"/>
                    </a:moveTo>
                    <a:lnTo>
                      <a:pt x="1510425" y="759023"/>
                    </a:lnTo>
                    <a:lnTo>
                      <a:pt x="1608651" y="759023"/>
                    </a:lnTo>
                    <a:lnTo>
                      <a:pt x="1608651" y="857250"/>
                    </a:lnTo>
                    <a:lnTo>
                      <a:pt x="1510425" y="857250"/>
                    </a:lnTo>
                    <a:close/>
                    <a:moveTo>
                      <a:pt x="1510425" y="750094"/>
                    </a:moveTo>
                    <a:lnTo>
                      <a:pt x="1510425" y="651867"/>
                    </a:lnTo>
                    <a:lnTo>
                      <a:pt x="1608651" y="651867"/>
                    </a:lnTo>
                    <a:lnTo>
                      <a:pt x="1608651" y="750094"/>
                    </a:lnTo>
                    <a:lnTo>
                      <a:pt x="1510425" y="750094"/>
                    </a:lnTo>
                    <a:close/>
                    <a:moveTo>
                      <a:pt x="1510425" y="642938"/>
                    </a:moveTo>
                    <a:lnTo>
                      <a:pt x="1510425" y="544711"/>
                    </a:lnTo>
                    <a:lnTo>
                      <a:pt x="1608651" y="544711"/>
                    </a:lnTo>
                    <a:lnTo>
                      <a:pt x="1608651" y="642938"/>
                    </a:lnTo>
                    <a:lnTo>
                      <a:pt x="1510425" y="642938"/>
                    </a:lnTo>
                    <a:close/>
                    <a:moveTo>
                      <a:pt x="1510425" y="535781"/>
                    </a:moveTo>
                    <a:lnTo>
                      <a:pt x="1510425" y="437555"/>
                    </a:lnTo>
                    <a:lnTo>
                      <a:pt x="1608651" y="437555"/>
                    </a:lnTo>
                    <a:lnTo>
                      <a:pt x="1608651" y="535781"/>
                    </a:lnTo>
                    <a:lnTo>
                      <a:pt x="1510425" y="535781"/>
                    </a:lnTo>
                    <a:close/>
                    <a:moveTo>
                      <a:pt x="1510425" y="428625"/>
                    </a:moveTo>
                    <a:lnTo>
                      <a:pt x="1510425" y="330398"/>
                    </a:lnTo>
                    <a:lnTo>
                      <a:pt x="1608651" y="330398"/>
                    </a:lnTo>
                    <a:lnTo>
                      <a:pt x="1608651" y="428625"/>
                    </a:lnTo>
                    <a:lnTo>
                      <a:pt x="1510425" y="428625"/>
                    </a:lnTo>
                    <a:close/>
                    <a:moveTo>
                      <a:pt x="1510425" y="321469"/>
                    </a:moveTo>
                    <a:lnTo>
                      <a:pt x="1510425" y="223242"/>
                    </a:lnTo>
                    <a:lnTo>
                      <a:pt x="1608651" y="223242"/>
                    </a:lnTo>
                    <a:lnTo>
                      <a:pt x="1608651" y="321469"/>
                    </a:lnTo>
                    <a:lnTo>
                      <a:pt x="1510425" y="321469"/>
                    </a:lnTo>
                    <a:close/>
                    <a:moveTo>
                      <a:pt x="1510425" y="214313"/>
                    </a:moveTo>
                    <a:lnTo>
                      <a:pt x="1510425" y="116086"/>
                    </a:lnTo>
                    <a:lnTo>
                      <a:pt x="1608651" y="116086"/>
                    </a:lnTo>
                    <a:lnTo>
                      <a:pt x="1608651" y="214313"/>
                    </a:lnTo>
                    <a:lnTo>
                      <a:pt x="1510425" y="214313"/>
                    </a:lnTo>
                    <a:close/>
                    <a:moveTo>
                      <a:pt x="1501495" y="214313"/>
                    </a:moveTo>
                    <a:lnTo>
                      <a:pt x="1403268" y="214313"/>
                    </a:lnTo>
                    <a:lnTo>
                      <a:pt x="1403268" y="116086"/>
                    </a:lnTo>
                    <a:lnTo>
                      <a:pt x="1501495" y="116086"/>
                    </a:lnTo>
                    <a:lnTo>
                      <a:pt x="1501495" y="214313"/>
                    </a:lnTo>
                    <a:close/>
                    <a:moveTo>
                      <a:pt x="1394339" y="214313"/>
                    </a:moveTo>
                    <a:lnTo>
                      <a:pt x="1296112" y="214313"/>
                    </a:lnTo>
                    <a:lnTo>
                      <a:pt x="1296112" y="116086"/>
                    </a:lnTo>
                    <a:lnTo>
                      <a:pt x="1394339" y="116086"/>
                    </a:lnTo>
                    <a:lnTo>
                      <a:pt x="1394339" y="214313"/>
                    </a:lnTo>
                    <a:close/>
                    <a:moveTo>
                      <a:pt x="1287182" y="214313"/>
                    </a:moveTo>
                    <a:lnTo>
                      <a:pt x="1188956" y="214313"/>
                    </a:lnTo>
                    <a:lnTo>
                      <a:pt x="1188956" y="116086"/>
                    </a:lnTo>
                    <a:lnTo>
                      <a:pt x="1287182" y="116086"/>
                    </a:lnTo>
                    <a:lnTo>
                      <a:pt x="1287182" y="214313"/>
                    </a:lnTo>
                    <a:close/>
                    <a:moveTo>
                      <a:pt x="1180026" y="214313"/>
                    </a:moveTo>
                    <a:lnTo>
                      <a:pt x="1081800" y="214313"/>
                    </a:lnTo>
                    <a:lnTo>
                      <a:pt x="1081800" y="116086"/>
                    </a:lnTo>
                    <a:lnTo>
                      <a:pt x="1180026" y="116086"/>
                    </a:lnTo>
                    <a:lnTo>
                      <a:pt x="1180026" y="214313"/>
                    </a:lnTo>
                    <a:close/>
                    <a:moveTo>
                      <a:pt x="1072870" y="214313"/>
                    </a:moveTo>
                    <a:lnTo>
                      <a:pt x="974643" y="214313"/>
                    </a:lnTo>
                    <a:lnTo>
                      <a:pt x="974643" y="116086"/>
                    </a:lnTo>
                    <a:lnTo>
                      <a:pt x="1072870" y="116086"/>
                    </a:lnTo>
                    <a:lnTo>
                      <a:pt x="1072870" y="214313"/>
                    </a:lnTo>
                    <a:close/>
                    <a:moveTo>
                      <a:pt x="965714" y="214313"/>
                    </a:moveTo>
                    <a:lnTo>
                      <a:pt x="867487" y="214313"/>
                    </a:lnTo>
                    <a:lnTo>
                      <a:pt x="867487" y="116086"/>
                    </a:lnTo>
                    <a:lnTo>
                      <a:pt x="965714" y="116086"/>
                    </a:lnTo>
                    <a:lnTo>
                      <a:pt x="965714" y="214313"/>
                    </a:lnTo>
                    <a:close/>
                    <a:moveTo>
                      <a:pt x="858557" y="214313"/>
                    </a:moveTo>
                    <a:lnTo>
                      <a:pt x="760331" y="214313"/>
                    </a:lnTo>
                    <a:lnTo>
                      <a:pt x="760331" y="116086"/>
                    </a:lnTo>
                    <a:lnTo>
                      <a:pt x="858557" y="116086"/>
                    </a:lnTo>
                    <a:lnTo>
                      <a:pt x="858557" y="214313"/>
                    </a:lnTo>
                    <a:close/>
                    <a:moveTo>
                      <a:pt x="751401" y="214313"/>
                    </a:moveTo>
                    <a:lnTo>
                      <a:pt x="653175" y="214313"/>
                    </a:lnTo>
                    <a:lnTo>
                      <a:pt x="653175" y="116086"/>
                    </a:lnTo>
                    <a:lnTo>
                      <a:pt x="751401" y="116086"/>
                    </a:lnTo>
                    <a:lnTo>
                      <a:pt x="751401" y="214313"/>
                    </a:lnTo>
                    <a:close/>
                    <a:moveTo>
                      <a:pt x="644245" y="214313"/>
                    </a:moveTo>
                    <a:lnTo>
                      <a:pt x="546018" y="214313"/>
                    </a:lnTo>
                    <a:lnTo>
                      <a:pt x="546018" y="116086"/>
                    </a:lnTo>
                    <a:lnTo>
                      <a:pt x="644245" y="116086"/>
                    </a:lnTo>
                    <a:lnTo>
                      <a:pt x="644245" y="214313"/>
                    </a:lnTo>
                    <a:close/>
                    <a:moveTo>
                      <a:pt x="537089" y="214313"/>
                    </a:moveTo>
                    <a:lnTo>
                      <a:pt x="438862" y="214313"/>
                    </a:lnTo>
                    <a:lnTo>
                      <a:pt x="438862" y="116086"/>
                    </a:lnTo>
                    <a:lnTo>
                      <a:pt x="537089" y="116086"/>
                    </a:lnTo>
                    <a:lnTo>
                      <a:pt x="537089" y="214313"/>
                    </a:lnTo>
                    <a:close/>
                    <a:moveTo>
                      <a:pt x="429932" y="214313"/>
                    </a:moveTo>
                    <a:lnTo>
                      <a:pt x="331706" y="214313"/>
                    </a:lnTo>
                    <a:lnTo>
                      <a:pt x="331706" y="116086"/>
                    </a:lnTo>
                    <a:lnTo>
                      <a:pt x="429932" y="116086"/>
                    </a:lnTo>
                    <a:lnTo>
                      <a:pt x="429932" y="214313"/>
                    </a:lnTo>
                    <a:close/>
                    <a:moveTo>
                      <a:pt x="322776" y="214313"/>
                    </a:moveTo>
                    <a:lnTo>
                      <a:pt x="224549" y="214313"/>
                    </a:lnTo>
                    <a:lnTo>
                      <a:pt x="224549" y="116086"/>
                    </a:lnTo>
                    <a:lnTo>
                      <a:pt x="322776" y="116086"/>
                    </a:lnTo>
                    <a:lnTo>
                      <a:pt x="322776" y="214313"/>
                    </a:lnTo>
                    <a:close/>
                    <a:moveTo>
                      <a:pt x="322776" y="223242"/>
                    </a:moveTo>
                    <a:lnTo>
                      <a:pt x="322776" y="321469"/>
                    </a:lnTo>
                    <a:lnTo>
                      <a:pt x="224549" y="321469"/>
                    </a:lnTo>
                    <a:lnTo>
                      <a:pt x="224549" y="223242"/>
                    </a:lnTo>
                    <a:lnTo>
                      <a:pt x="322776" y="223242"/>
                    </a:lnTo>
                    <a:close/>
                    <a:moveTo>
                      <a:pt x="215620" y="321469"/>
                    </a:moveTo>
                    <a:lnTo>
                      <a:pt x="117393" y="321469"/>
                    </a:lnTo>
                    <a:lnTo>
                      <a:pt x="117393" y="223242"/>
                    </a:lnTo>
                    <a:lnTo>
                      <a:pt x="215620" y="223242"/>
                    </a:lnTo>
                    <a:lnTo>
                      <a:pt x="215620" y="321469"/>
                    </a:lnTo>
                    <a:close/>
                    <a:moveTo>
                      <a:pt x="215620" y="330398"/>
                    </a:moveTo>
                    <a:lnTo>
                      <a:pt x="215620" y="428625"/>
                    </a:lnTo>
                    <a:lnTo>
                      <a:pt x="117393" y="428625"/>
                    </a:lnTo>
                    <a:lnTo>
                      <a:pt x="117393" y="330398"/>
                    </a:lnTo>
                    <a:lnTo>
                      <a:pt x="215620" y="330398"/>
                    </a:lnTo>
                    <a:close/>
                    <a:moveTo>
                      <a:pt x="215620" y="437555"/>
                    </a:moveTo>
                    <a:lnTo>
                      <a:pt x="215620" y="535781"/>
                    </a:lnTo>
                    <a:lnTo>
                      <a:pt x="117393" y="535781"/>
                    </a:lnTo>
                    <a:lnTo>
                      <a:pt x="117393" y="437555"/>
                    </a:lnTo>
                    <a:lnTo>
                      <a:pt x="215620" y="437555"/>
                    </a:lnTo>
                    <a:close/>
                    <a:moveTo>
                      <a:pt x="215620" y="544711"/>
                    </a:moveTo>
                    <a:lnTo>
                      <a:pt x="215620" y="642938"/>
                    </a:lnTo>
                    <a:lnTo>
                      <a:pt x="117393" y="642938"/>
                    </a:lnTo>
                    <a:lnTo>
                      <a:pt x="117393" y="544711"/>
                    </a:lnTo>
                    <a:lnTo>
                      <a:pt x="215620" y="544711"/>
                    </a:lnTo>
                    <a:close/>
                    <a:moveTo>
                      <a:pt x="215620" y="651867"/>
                    </a:moveTo>
                    <a:lnTo>
                      <a:pt x="215620" y="750094"/>
                    </a:lnTo>
                    <a:lnTo>
                      <a:pt x="117393" y="750094"/>
                    </a:lnTo>
                    <a:lnTo>
                      <a:pt x="117393" y="651867"/>
                    </a:lnTo>
                    <a:lnTo>
                      <a:pt x="215620" y="651867"/>
                    </a:lnTo>
                    <a:close/>
                    <a:moveTo>
                      <a:pt x="215620" y="759023"/>
                    </a:moveTo>
                    <a:lnTo>
                      <a:pt x="215620" y="857250"/>
                    </a:lnTo>
                    <a:lnTo>
                      <a:pt x="117393" y="857250"/>
                    </a:lnTo>
                    <a:lnTo>
                      <a:pt x="117393" y="759023"/>
                    </a:lnTo>
                    <a:lnTo>
                      <a:pt x="215620" y="759023"/>
                    </a:lnTo>
                    <a:close/>
                    <a:moveTo>
                      <a:pt x="215620" y="866180"/>
                    </a:moveTo>
                    <a:lnTo>
                      <a:pt x="215620" y="964406"/>
                    </a:lnTo>
                    <a:lnTo>
                      <a:pt x="117393" y="964406"/>
                    </a:lnTo>
                    <a:lnTo>
                      <a:pt x="117393" y="866180"/>
                    </a:lnTo>
                    <a:lnTo>
                      <a:pt x="215620" y="866180"/>
                    </a:lnTo>
                    <a:close/>
                    <a:moveTo>
                      <a:pt x="215620" y="973336"/>
                    </a:moveTo>
                    <a:lnTo>
                      <a:pt x="215620" y="1071563"/>
                    </a:lnTo>
                    <a:lnTo>
                      <a:pt x="117393" y="1071563"/>
                    </a:lnTo>
                    <a:lnTo>
                      <a:pt x="117393" y="973336"/>
                    </a:lnTo>
                    <a:lnTo>
                      <a:pt x="215620" y="973336"/>
                    </a:lnTo>
                    <a:close/>
                    <a:moveTo>
                      <a:pt x="215620" y="1080492"/>
                    </a:moveTo>
                    <a:lnTo>
                      <a:pt x="215620" y="1178719"/>
                    </a:lnTo>
                    <a:lnTo>
                      <a:pt x="117393" y="1178719"/>
                    </a:lnTo>
                    <a:lnTo>
                      <a:pt x="117393" y="1080492"/>
                    </a:lnTo>
                    <a:lnTo>
                      <a:pt x="215620" y="1080492"/>
                    </a:lnTo>
                    <a:close/>
                    <a:moveTo>
                      <a:pt x="215620" y="1187649"/>
                    </a:moveTo>
                    <a:lnTo>
                      <a:pt x="215620" y="1285875"/>
                    </a:lnTo>
                    <a:lnTo>
                      <a:pt x="117393" y="1285875"/>
                    </a:lnTo>
                    <a:lnTo>
                      <a:pt x="117393" y="1187649"/>
                    </a:lnTo>
                    <a:lnTo>
                      <a:pt x="215620" y="1187649"/>
                    </a:lnTo>
                    <a:close/>
                    <a:moveTo>
                      <a:pt x="215620" y="1294805"/>
                    </a:moveTo>
                    <a:lnTo>
                      <a:pt x="215620" y="1393031"/>
                    </a:lnTo>
                    <a:lnTo>
                      <a:pt x="117393" y="1393031"/>
                    </a:lnTo>
                    <a:lnTo>
                      <a:pt x="117393" y="1294805"/>
                    </a:lnTo>
                    <a:lnTo>
                      <a:pt x="215620" y="1294805"/>
                    </a:lnTo>
                    <a:close/>
                    <a:moveTo>
                      <a:pt x="215620" y="1401961"/>
                    </a:moveTo>
                    <a:lnTo>
                      <a:pt x="215620" y="1500188"/>
                    </a:lnTo>
                    <a:lnTo>
                      <a:pt x="117393" y="1500188"/>
                    </a:lnTo>
                    <a:lnTo>
                      <a:pt x="117393" y="1401961"/>
                    </a:lnTo>
                    <a:lnTo>
                      <a:pt x="215620" y="1401961"/>
                    </a:lnTo>
                    <a:close/>
                    <a:moveTo>
                      <a:pt x="215620" y="1509117"/>
                    </a:moveTo>
                    <a:lnTo>
                      <a:pt x="215620" y="1607344"/>
                    </a:lnTo>
                    <a:lnTo>
                      <a:pt x="117393" y="1607344"/>
                    </a:lnTo>
                    <a:lnTo>
                      <a:pt x="117393" y="1509117"/>
                    </a:lnTo>
                    <a:lnTo>
                      <a:pt x="215620" y="1509117"/>
                    </a:lnTo>
                    <a:close/>
                    <a:moveTo>
                      <a:pt x="215620" y="1616274"/>
                    </a:moveTo>
                    <a:lnTo>
                      <a:pt x="215620" y="1714500"/>
                    </a:lnTo>
                    <a:lnTo>
                      <a:pt x="117393" y="1714500"/>
                    </a:lnTo>
                    <a:lnTo>
                      <a:pt x="117393" y="1616274"/>
                    </a:lnTo>
                    <a:lnTo>
                      <a:pt x="215620" y="1616274"/>
                    </a:lnTo>
                    <a:close/>
                    <a:moveTo>
                      <a:pt x="215620" y="1723430"/>
                    </a:moveTo>
                    <a:lnTo>
                      <a:pt x="215620" y="1821656"/>
                    </a:lnTo>
                    <a:lnTo>
                      <a:pt x="117393" y="1821656"/>
                    </a:lnTo>
                    <a:lnTo>
                      <a:pt x="117393" y="1723430"/>
                    </a:lnTo>
                    <a:lnTo>
                      <a:pt x="215620" y="1723430"/>
                    </a:lnTo>
                    <a:close/>
                    <a:moveTo>
                      <a:pt x="215620" y="1830586"/>
                    </a:moveTo>
                    <a:lnTo>
                      <a:pt x="215620" y="1928813"/>
                    </a:lnTo>
                    <a:lnTo>
                      <a:pt x="117393" y="1928813"/>
                    </a:lnTo>
                    <a:lnTo>
                      <a:pt x="117393" y="1830586"/>
                    </a:lnTo>
                    <a:lnTo>
                      <a:pt x="215620" y="1830586"/>
                    </a:lnTo>
                    <a:close/>
                    <a:moveTo>
                      <a:pt x="215620" y="1937742"/>
                    </a:moveTo>
                    <a:lnTo>
                      <a:pt x="215620" y="2035969"/>
                    </a:lnTo>
                    <a:lnTo>
                      <a:pt x="117393" y="2035969"/>
                    </a:lnTo>
                    <a:lnTo>
                      <a:pt x="117393" y="1937742"/>
                    </a:lnTo>
                    <a:lnTo>
                      <a:pt x="215620" y="1937742"/>
                    </a:lnTo>
                    <a:close/>
                    <a:moveTo>
                      <a:pt x="215620" y="2044899"/>
                    </a:moveTo>
                    <a:lnTo>
                      <a:pt x="215620" y="2143125"/>
                    </a:lnTo>
                    <a:lnTo>
                      <a:pt x="117393" y="2143125"/>
                    </a:lnTo>
                    <a:lnTo>
                      <a:pt x="117393" y="2044899"/>
                    </a:lnTo>
                    <a:lnTo>
                      <a:pt x="215620" y="2044899"/>
                    </a:lnTo>
                    <a:close/>
                    <a:moveTo>
                      <a:pt x="224549" y="2044899"/>
                    </a:moveTo>
                    <a:lnTo>
                      <a:pt x="322776" y="2044899"/>
                    </a:lnTo>
                    <a:lnTo>
                      <a:pt x="322776" y="2143125"/>
                    </a:lnTo>
                    <a:lnTo>
                      <a:pt x="224549" y="2143125"/>
                    </a:lnTo>
                    <a:lnTo>
                      <a:pt x="224549" y="2044899"/>
                    </a:lnTo>
                    <a:close/>
                    <a:moveTo>
                      <a:pt x="322776" y="2152055"/>
                    </a:moveTo>
                    <a:lnTo>
                      <a:pt x="322776" y="2250281"/>
                    </a:lnTo>
                    <a:lnTo>
                      <a:pt x="224549" y="2250281"/>
                    </a:lnTo>
                    <a:lnTo>
                      <a:pt x="224549" y="2152055"/>
                    </a:lnTo>
                    <a:lnTo>
                      <a:pt x="322776" y="2152055"/>
                    </a:lnTo>
                    <a:close/>
                    <a:moveTo>
                      <a:pt x="331706" y="2152055"/>
                    </a:moveTo>
                    <a:lnTo>
                      <a:pt x="429932" y="2152055"/>
                    </a:lnTo>
                    <a:lnTo>
                      <a:pt x="429932" y="2250281"/>
                    </a:lnTo>
                    <a:lnTo>
                      <a:pt x="331706" y="2250281"/>
                    </a:lnTo>
                    <a:lnTo>
                      <a:pt x="331706" y="2152055"/>
                    </a:lnTo>
                    <a:close/>
                    <a:moveTo>
                      <a:pt x="438862" y="2152055"/>
                    </a:moveTo>
                    <a:lnTo>
                      <a:pt x="537089" y="2152055"/>
                    </a:lnTo>
                    <a:lnTo>
                      <a:pt x="537089" y="2250281"/>
                    </a:lnTo>
                    <a:lnTo>
                      <a:pt x="438862" y="2250281"/>
                    </a:lnTo>
                    <a:lnTo>
                      <a:pt x="438862" y="2152055"/>
                    </a:lnTo>
                    <a:close/>
                    <a:moveTo>
                      <a:pt x="546018" y="2152055"/>
                    </a:moveTo>
                    <a:lnTo>
                      <a:pt x="644245" y="2152055"/>
                    </a:lnTo>
                    <a:lnTo>
                      <a:pt x="644245" y="2250281"/>
                    </a:lnTo>
                    <a:lnTo>
                      <a:pt x="546018" y="2250281"/>
                    </a:lnTo>
                    <a:lnTo>
                      <a:pt x="546018" y="2152055"/>
                    </a:lnTo>
                    <a:close/>
                    <a:moveTo>
                      <a:pt x="653175" y="2152055"/>
                    </a:moveTo>
                    <a:lnTo>
                      <a:pt x="751401" y="2152055"/>
                    </a:lnTo>
                    <a:lnTo>
                      <a:pt x="751401" y="2250281"/>
                    </a:lnTo>
                    <a:lnTo>
                      <a:pt x="653175" y="2250281"/>
                    </a:lnTo>
                    <a:lnTo>
                      <a:pt x="653175" y="2152055"/>
                    </a:lnTo>
                    <a:close/>
                    <a:moveTo>
                      <a:pt x="760331" y="2152055"/>
                    </a:moveTo>
                    <a:lnTo>
                      <a:pt x="858557" y="2152055"/>
                    </a:lnTo>
                    <a:lnTo>
                      <a:pt x="858557" y="2250281"/>
                    </a:lnTo>
                    <a:lnTo>
                      <a:pt x="760331" y="2250281"/>
                    </a:lnTo>
                    <a:lnTo>
                      <a:pt x="760331" y="2152055"/>
                    </a:lnTo>
                    <a:close/>
                    <a:moveTo>
                      <a:pt x="867487" y="2152055"/>
                    </a:moveTo>
                    <a:lnTo>
                      <a:pt x="965714" y="2152055"/>
                    </a:lnTo>
                    <a:lnTo>
                      <a:pt x="965714" y="2250281"/>
                    </a:lnTo>
                    <a:lnTo>
                      <a:pt x="867487" y="2250281"/>
                    </a:lnTo>
                    <a:lnTo>
                      <a:pt x="867487" y="2152055"/>
                    </a:lnTo>
                    <a:close/>
                    <a:moveTo>
                      <a:pt x="974643" y="2152055"/>
                    </a:moveTo>
                    <a:lnTo>
                      <a:pt x="1072870" y="2152055"/>
                    </a:lnTo>
                    <a:lnTo>
                      <a:pt x="1072870" y="2250281"/>
                    </a:lnTo>
                    <a:lnTo>
                      <a:pt x="974643" y="2250281"/>
                    </a:lnTo>
                    <a:lnTo>
                      <a:pt x="974643" y="2152055"/>
                    </a:lnTo>
                    <a:close/>
                    <a:moveTo>
                      <a:pt x="1081800" y="2152055"/>
                    </a:moveTo>
                    <a:lnTo>
                      <a:pt x="1180026" y="2152055"/>
                    </a:lnTo>
                    <a:lnTo>
                      <a:pt x="1180026" y="2250281"/>
                    </a:lnTo>
                    <a:lnTo>
                      <a:pt x="1081800" y="2250281"/>
                    </a:lnTo>
                    <a:lnTo>
                      <a:pt x="1081800" y="2152055"/>
                    </a:lnTo>
                    <a:close/>
                    <a:moveTo>
                      <a:pt x="1188956" y="2152055"/>
                    </a:moveTo>
                    <a:lnTo>
                      <a:pt x="1287182" y="2152055"/>
                    </a:lnTo>
                    <a:lnTo>
                      <a:pt x="1287182" y="2250281"/>
                    </a:lnTo>
                    <a:lnTo>
                      <a:pt x="1188956" y="2250281"/>
                    </a:lnTo>
                    <a:lnTo>
                      <a:pt x="1188956" y="2152055"/>
                    </a:lnTo>
                    <a:close/>
                    <a:moveTo>
                      <a:pt x="1296112" y="2152055"/>
                    </a:moveTo>
                    <a:lnTo>
                      <a:pt x="1394339" y="2152055"/>
                    </a:lnTo>
                    <a:lnTo>
                      <a:pt x="1394339" y="2250281"/>
                    </a:lnTo>
                    <a:lnTo>
                      <a:pt x="1296112" y="2250281"/>
                    </a:lnTo>
                    <a:lnTo>
                      <a:pt x="1296112" y="2152055"/>
                    </a:lnTo>
                    <a:close/>
                    <a:moveTo>
                      <a:pt x="1403268" y="2152055"/>
                    </a:moveTo>
                    <a:lnTo>
                      <a:pt x="1501495" y="2152055"/>
                    </a:lnTo>
                    <a:lnTo>
                      <a:pt x="1501495" y="2250281"/>
                    </a:lnTo>
                    <a:lnTo>
                      <a:pt x="1403268" y="2250281"/>
                    </a:lnTo>
                    <a:lnTo>
                      <a:pt x="1403268" y="2152055"/>
                    </a:lnTo>
                    <a:close/>
                    <a:moveTo>
                      <a:pt x="1510425" y="2152055"/>
                    </a:moveTo>
                    <a:lnTo>
                      <a:pt x="1608651" y="2152055"/>
                    </a:lnTo>
                    <a:lnTo>
                      <a:pt x="1608651" y="2250281"/>
                    </a:lnTo>
                    <a:lnTo>
                      <a:pt x="1510425" y="2250281"/>
                    </a:lnTo>
                    <a:lnTo>
                      <a:pt x="1510425" y="2152055"/>
                    </a:lnTo>
                    <a:close/>
                    <a:moveTo>
                      <a:pt x="1510425" y="2143125"/>
                    </a:moveTo>
                    <a:lnTo>
                      <a:pt x="1510425" y="2044899"/>
                    </a:lnTo>
                    <a:lnTo>
                      <a:pt x="1608651" y="2044899"/>
                    </a:lnTo>
                    <a:lnTo>
                      <a:pt x="1608651" y="2143125"/>
                    </a:lnTo>
                    <a:lnTo>
                      <a:pt x="1510425" y="2143125"/>
                    </a:lnTo>
                    <a:close/>
                    <a:moveTo>
                      <a:pt x="1617581" y="2044899"/>
                    </a:moveTo>
                    <a:lnTo>
                      <a:pt x="1715807" y="2044899"/>
                    </a:lnTo>
                    <a:lnTo>
                      <a:pt x="1715807" y="2143125"/>
                    </a:lnTo>
                    <a:lnTo>
                      <a:pt x="1617581" y="2143125"/>
                    </a:lnTo>
                    <a:lnTo>
                      <a:pt x="1617581" y="2044899"/>
                    </a:lnTo>
                    <a:close/>
                    <a:moveTo>
                      <a:pt x="1617581" y="2035969"/>
                    </a:moveTo>
                    <a:lnTo>
                      <a:pt x="1617581" y="1937742"/>
                    </a:lnTo>
                    <a:lnTo>
                      <a:pt x="1715807" y="1937742"/>
                    </a:lnTo>
                    <a:lnTo>
                      <a:pt x="1715807" y="2035969"/>
                    </a:lnTo>
                    <a:lnTo>
                      <a:pt x="1617581" y="2035969"/>
                    </a:lnTo>
                    <a:close/>
                    <a:moveTo>
                      <a:pt x="1617581" y="1928813"/>
                    </a:moveTo>
                    <a:lnTo>
                      <a:pt x="1617581" y="1830586"/>
                    </a:lnTo>
                    <a:lnTo>
                      <a:pt x="1715807" y="1830586"/>
                    </a:lnTo>
                    <a:lnTo>
                      <a:pt x="1715807" y="1928813"/>
                    </a:lnTo>
                    <a:lnTo>
                      <a:pt x="1617581" y="1928813"/>
                    </a:lnTo>
                    <a:close/>
                    <a:moveTo>
                      <a:pt x="1617581" y="1821656"/>
                    </a:moveTo>
                    <a:lnTo>
                      <a:pt x="1617581" y="1723430"/>
                    </a:lnTo>
                    <a:lnTo>
                      <a:pt x="1715807" y="1723430"/>
                    </a:lnTo>
                    <a:lnTo>
                      <a:pt x="1715807" y="1821656"/>
                    </a:lnTo>
                    <a:lnTo>
                      <a:pt x="1617581" y="1821656"/>
                    </a:lnTo>
                    <a:close/>
                    <a:moveTo>
                      <a:pt x="1617581" y="1714500"/>
                    </a:moveTo>
                    <a:lnTo>
                      <a:pt x="1617581" y="1616274"/>
                    </a:lnTo>
                    <a:lnTo>
                      <a:pt x="1715807" y="1616274"/>
                    </a:lnTo>
                    <a:lnTo>
                      <a:pt x="1715807" y="1714500"/>
                    </a:lnTo>
                    <a:lnTo>
                      <a:pt x="1617581" y="1714500"/>
                    </a:lnTo>
                    <a:close/>
                    <a:moveTo>
                      <a:pt x="1617581" y="1607344"/>
                    </a:moveTo>
                    <a:lnTo>
                      <a:pt x="1617581" y="1509117"/>
                    </a:lnTo>
                    <a:lnTo>
                      <a:pt x="1715807" y="1509117"/>
                    </a:lnTo>
                    <a:lnTo>
                      <a:pt x="1715807" y="1607344"/>
                    </a:lnTo>
                    <a:lnTo>
                      <a:pt x="1617581" y="1607344"/>
                    </a:lnTo>
                    <a:close/>
                    <a:moveTo>
                      <a:pt x="1617581" y="1500188"/>
                    </a:moveTo>
                    <a:lnTo>
                      <a:pt x="1617581" y="1401961"/>
                    </a:lnTo>
                    <a:lnTo>
                      <a:pt x="1715807" y="1401961"/>
                    </a:lnTo>
                    <a:lnTo>
                      <a:pt x="1715807" y="1500188"/>
                    </a:lnTo>
                    <a:lnTo>
                      <a:pt x="1617581" y="1500188"/>
                    </a:lnTo>
                    <a:close/>
                    <a:moveTo>
                      <a:pt x="1617581" y="1393031"/>
                    </a:moveTo>
                    <a:lnTo>
                      <a:pt x="1617581" y="1294805"/>
                    </a:lnTo>
                    <a:lnTo>
                      <a:pt x="1715807" y="1294805"/>
                    </a:lnTo>
                    <a:lnTo>
                      <a:pt x="1715807" y="1393031"/>
                    </a:lnTo>
                    <a:lnTo>
                      <a:pt x="1617581" y="1393031"/>
                    </a:lnTo>
                    <a:close/>
                    <a:moveTo>
                      <a:pt x="1617581" y="1285875"/>
                    </a:moveTo>
                    <a:lnTo>
                      <a:pt x="1617581" y="1187649"/>
                    </a:lnTo>
                    <a:lnTo>
                      <a:pt x="1715807" y="1187649"/>
                    </a:lnTo>
                    <a:lnTo>
                      <a:pt x="1715807" y="1285875"/>
                    </a:lnTo>
                    <a:lnTo>
                      <a:pt x="1617581" y="1285875"/>
                    </a:lnTo>
                    <a:close/>
                    <a:moveTo>
                      <a:pt x="1617581" y="1178719"/>
                    </a:moveTo>
                    <a:lnTo>
                      <a:pt x="1617581" y="1080492"/>
                    </a:lnTo>
                    <a:lnTo>
                      <a:pt x="1715807" y="1080492"/>
                    </a:lnTo>
                    <a:lnTo>
                      <a:pt x="1715807" y="1178719"/>
                    </a:lnTo>
                    <a:lnTo>
                      <a:pt x="1617581" y="1178719"/>
                    </a:lnTo>
                    <a:close/>
                    <a:moveTo>
                      <a:pt x="1617581" y="1071563"/>
                    </a:moveTo>
                    <a:lnTo>
                      <a:pt x="1617581" y="973336"/>
                    </a:lnTo>
                    <a:lnTo>
                      <a:pt x="1715807" y="973336"/>
                    </a:lnTo>
                    <a:lnTo>
                      <a:pt x="1715807" y="1071563"/>
                    </a:lnTo>
                    <a:lnTo>
                      <a:pt x="1617581" y="1071563"/>
                    </a:lnTo>
                    <a:close/>
                    <a:moveTo>
                      <a:pt x="1617581" y="964406"/>
                    </a:moveTo>
                    <a:lnTo>
                      <a:pt x="1617581" y="866180"/>
                    </a:lnTo>
                    <a:lnTo>
                      <a:pt x="1715807" y="866180"/>
                    </a:lnTo>
                    <a:lnTo>
                      <a:pt x="1715807" y="964406"/>
                    </a:lnTo>
                    <a:lnTo>
                      <a:pt x="1617581" y="964406"/>
                    </a:lnTo>
                    <a:close/>
                    <a:moveTo>
                      <a:pt x="1617581" y="857250"/>
                    </a:moveTo>
                    <a:lnTo>
                      <a:pt x="1617581" y="759023"/>
                    </a:lnTo>
                    <a:lnTo>
                      <a:pt x="1715807" y="759023"/>
                    </a:lnTo>
                    <a:lnTo>
                      <a:pt x="1715807" y="857250"/>
                    </a:lnTo>
                    <a:lnTo>
                      <a:pt x="1617581" y="857250"/>
                    </a:lnTo>
                    <a:close/>
                    <a:moveTo>
                      <a:pt x="1617581" y="750094"/>
                    </a:moveTo>
                    <a:lnTo>
                      <a:pt x="1617581" y="651867"/>
                    </a:lnTo>
                    <a:lnTo>
                      <a:pt x="1715807" y="651867"/>
                    </a:lnTo>
                    <a:lnTo>
                      <a:pt x="1715807" y="750094"/>
                    </a:lnTo>
                    <a:lnTo>
                      <a:pt x="1617581" y="750094"/>
                    </a:lnTo>
                    <a:close/>
                    <a:moveTo>
                      <a:pt x="1617581" y="642938"/>
                    </a:moveTo>
                    <a:lnTo>
                      <a:pt x="1617581" y="544711"/>
                    </a:lnTo>
                    <a:lnTo>
                      <a:pt x="1715807" y="544711"/>
                    </a:lnTo>
                    <a:lnTo>
                      <a:pt x="1715807" y="642938"/>
                    </a:lnTo>
                    <a:lnTo>
                      <a:pt x="1617581" y="642938"/>
                    </a:lnTo>
                    <a:close/>
                    <a:moveTo>
                      <a:pt x="1617581" y="535781"/>
                    </a:moveTo>
                    <a:lnTo>
                      <a:pt x="1617581" y="437555"/>
                    </a:lnTo>
                    <a:lnTo>
                      <a:pt x="1715807" y="437555"/>
                    </a:lnTo>
                    <a:lnTo>
                      <a:pt x="1715807" y="535781"/>
                    </a:lnTo>
                    <a:lnTo>
                      <a:pt x="1617581" y="535781"/>
                    </a:lnTo>
                    <a:close/>
                    <a:moveTo>
                      <a:pt x="1617581" y="428625"/>
                    </a:moveTo>
                    <a:lnTo>
                      <a:pt x="1617581" y="330398"/>
                    </a:lnTo>
                    <a:lnTo>
                      <a:pt x="1715807" y="330398"/>
                    </a:lnTo>
                    <a:lnTo>
                      <a:pt x="1715807" y="428625"/>
                    </a:lnTo>
                    <a:lnTo>
                      <a:pt x="1617581" y="428625"/>
                    </a:lnTo>
                    <a:close/>
                    <a:moveTo>
                      <a:pt x="1617581" y="321469"/>
                    </a:moveTo>
                    <a:lnTo>
                      <a:pt x="1617581" y="223242"/>
                    </a:lnTo>
                    <a:lnTo>
                      <a:pt x="1715807" y="223242"/>
                    </a:lnTo>
                    <a:lnTo>
                      <a:pt x="1715807" y="321469"/>
                    </a:lnTo>
                    <a:lnTo>
                      <a:pt x="1617581" y="321469"/>
                    </a:lnTo>
                    <a:close/>
                    <a:moveTo>
                      <a:pt x="1617581" y="214313"/>
                    </a:moveTo>
                    <a:lnTo>
                      <a:pt x="1617581" y="116086"/>
                    </a:lnTo>
                    <a:lnTo>
                      <a:pt x="1715807" y="116086"/>
                    </a:lnTo>
                    <a:lnTo>
                      <a:pt x="1715807" y="214313"/>
                    </a:lnTo>
                    <a:lnTo>
                      <a:pt x="1617581" y="214313"/>
                    </a:lnTo>
                    <a:close/>
                    <a:moveTo>
                      <a:pt x="1617581" y="107156"/>
                    </a:moveTo>
                    <a:lnTo>
                      <a:pt x="1617581" y="8930"/>
                    </a:lnTo>
                    <a:lnTo>
                      <a:pt x="1715807" y="8930"/>
                    </a:lnTo>
                    <a:lnTo>
                      <a:pt x="1715807" y="107156"/>
                    </a:lnTo>
                    <a:lnTo>
                      <a:pt x="1617581" y="107156"/>
                    </a:lnTo>
                    <a:close/>
                    <a:moveTo>
                      <a:pt x="1608651" y="107156"/>
                    </a:moveTo>
                    <a:lnTo>
                      <a:pt x="1510425" y="107156"/>
                    </a:lnTo>
                    <a:lnTo>
                      <a:pt x="1510425" y="8930"/>
                    </a:lnTo>
                    <a:lnTo>
                      <a:pt x="1608651" y="8930"/>
                    </a:lnTo>
                    <a:lnTo>
                      <a:pt x="1608651" y="107156"/>
                    </a:lnTo>
                    <a:close/>
                    <a:moveTo>
                      <a:pt x="1501495" y="107156"/>
                    </a:moveTo>
                    <a:lnTo>
                      <a:pt x="1403268" y="107156"/>
                    </a:lnTo>
                    <a:lnTo>
                      <a:pt x="1403268" y="8930"/>
                    </a:lnTo>
                    <a:lnTo>
                      <a:pt x="1501495" y="8930"/>
                    </a:lnTo>
                    <a:lnTo>
                      <a:pt x="1501495" y="107156"/>
                    </a:lnTo>
                    <a:close/>
                    <a:moveTo>
                      <a:pt x="1394339" y="107156"/>
                    </a:moveTo>
                    <a:lnTo>
                      <a:pt x="1296112" y="107156"/>
                    </a:lnTo>
                    <a:lnTo>
                      <a:pt x="1296112" y="8930"/>
                    </a:lnTo>
                    <a:lnTo>
                      <a:pt x="1394339" y="8930"/>
                    </a:lnTo>
                    <a:lnTo>
                      <a:pt x="1394339" y="107156"/>
                    </a:lnTo>
                    <a:close/>
                    <a:moveTo>
                      <a:pt x="1287182" y="107156"/>
                    </a:moveTo>
                    <a:lnTo>
                      <a:pt x="1188956" y="107156"/>
                    </a:lnTo>
                    <a:lnTo>
                      <a:pt x="1188956" y="8930"/>
                    </a:lnTo>
                    <a:lnTo>
                      <a:pt x="1287182" y="8930"/>
                    </a:lnTo>
                    <a:lnTo>
                      <a:pt x="1287182" y="107156"/>
                    </a:lnTo>
                    <a:close/>
                    <a:moveTo>
                      <a:pt x="1180026" y="107156"/>
                    </a:moveTo>
                    <a:lnTo>
                      <a:pt x="1081800" y="107156"/>
                    </a:lnTo>
                    <a:lnTo>
                      <a:pt x="1081800" y="8930"/>
                    </a:lnTo>
                    <a:lnTo>
                      <a:pt x="1180026" y="8930"/>
                    </a:lnTo>
                    <a:lnTo>
                      <a:pt x="1180026" y="107156"/>
                    </a:lnTo>
                    <a:close/>
                    <a:moveTo>
                      <a:pt x="1072870" y="107156"/>
                    </a:moveTo>
                    <a:lnTo>
                      <a:pt x="974643" y="107156"/>
                    </a:lnTo>
                    <a:lnTo>
                      <a:pt x="974643" y="8930"/>
                    </a:lnTo>
                    <a:lnTo>
                      <a:pt x="1072870" y="8930"/>
                    </a:lnTo>
                    <a:lnTo>
                      <a:pt x="1072870" y="107156"/>
                    </a:lnTo>
                    <a:close/>
                    <a:moveTo>
                      <a:pt x="965714" y="107156"/>
                    </a:moveTo>
                    <a:lnTo>
                      <a:pt x="867487" y="107156"/>
                    </a:lnTo>
                    <a:lnTo>
                      <a:pt x="867487" y="8930"/>
                    </a:lnTo>
                    <a:lnTo>
                      <a:pt x="965714" y="8930"/>
                    </a:lnTo>
                    <a:lnTo>
                      <a:pt x="965714" y="107156"/>
                    </a:lnTo>
                    <a:close/>
                    <a:moveTo>
                      <a:pt x="858557" y="107156"/>
                    </a:moveTo>
                    <a:lnTo>
                      <a:pt x="760331" y="107156"/>
                    </a:lnTo>
                    <a:lnTo>
                      <a:pt x="760331" y="8930"/>
                    </a:lnTo>
                    <a:lnTo>
                      <a:pt x="858557" y="8930"/>
                    </a:lnTo>
                    <a:lnTo>
                      <a:pt x="858557" y="107156"/>
                    </a:lnTo>
                    <a:close/>
                    <a:moveTo>
                      <a:pt x="751401" y="107156"/>
                    </a:moveTo>
                    <a:lnTo>
                      <a:pt x="653175" y="107156"/>
                    </a:lnTo>
                    <a:lnTo>
                      <a:pt x="653175" y="8930"/>
                    </a:lnTo>
                    <a:lnTo>
                      <a:pt x="751401" y="8930"/>
                    </a:lnTo>
                    <a:lnTo>
                      <a:pt x="751401" y="107156"/>
                    </a:lnTo>
                    <a:close/>
                    <a:moveTo>
                      <a:pt x="644245" y="107156"/>
                    </a:moveTo>
                    <a:lnTo>
                      <a:pt x="546018" y="107156"/>
                    </a:lnTo>
                    <a:lnTo>
                      <a:pt x="546018" y="8930"/>
                    </a:lnTo>
                    <a:lnTo>
                      <a:pt x="644245" y="8930"/>
                    </a:lnTo>
                    <a:lnTo>
                      <a:pt x="644245" y="107156"/>
                    </a:lnTo>
                    <a:close/>
                    <a:moveTo>
                      <a:pt x="537089" y="107156"/>
                    </a:moveTo>
                    <a:lnTo>
                      <a:pt x="438862" y="107156"/>
                    </a:lnTo>
                    <a:lnTo>
                      <a:pt x="438862" y="8930"/>
                    </a:lnTo>
                    <a:lnTo>
                      <a:pt x="537089" y="8930"/>
                    </a:lnTo>
                    <a:lnTo>
                      <a:pt x="537089" y="107156"/>
                    </a:lnTo>
                    <a:close/>
                    <a:moveTo>
                      <a:pt x="429932" y="107156"/>
                    </a:moveTo>
                    <a:lnTo>
                      <a:pt x="331706" y="107156"/>
                    </a:lnTo>
                    <a:lnTo>
                      <a:pt x="331706" y="8930"/>
                    </a:lnTo>
                    <a:lnTo>
                      <a:pt x="429932" y="8930"/>
                    </a:lnTo>
                    <a:lnTo>
                      <a:pt x="429932" y="107156"/>
                    </a:lnTo>
                    <a:close/>
                    <a:moveTo>
                      <a:pt x="322776" y="107156"/>
                    </a:moveTo>
                    <a:lnTo>
                      <a:pt x="224549" y="107156"/>
                    </a:lnTo>
                    <a:lnTo>
                      <a:pt x="224549" y="8930"/>
                    </a:lnTo>
                    <a:lnTo>
                      <a:pt x="322776" y="8930"/>
                    </a:lnTo>
                    <a:lnTo>
                      <a:pt x="322776" y="107156"/>
                    </a:lnTo>
                    <a:close/>
                    <a:moveTo>
                      <a:pt x="215620" y="107156"/>
                    </a:moveTo>
                    <a:lnTo>
                      <a:pt x="117393" y="107156"/>
                    </a:lnTo>
                    <a:lnTo>
                      <a:pt x="117393" y="8930"/>
                    </a:lnTo>
                    <a:lnTo>
                      <a:pt x="215620" y="8930"/>
                    </a:lnTo>
                    <a:lnTo>
                      <a:pt x="215620" y="107156"/>
                    </a:lnTo>
                    <a:close/>
                    <a:moveTo>
                      <a:pt x="215620" y="116086"/>
                    </a:moveTo>
                    <a:lnTo>
                      <a:pt x="215620" y="214313"/>
                    </a:lnTo>
                    <a:lnTo>
                      <a:pt x="117393" y="214313"/>
                    </a:lnTo>
                    <a:lnTo>
                      <a:pt x="117393" y="116086"/>
                    </a:lnTo>
                    <a:lnTo>
                      <a:pt x="215620" y="116086"/>
                    </a:lnTo>
                    <a:close/>
                    <a:moveTo>
                      <a:pt x="108463" y="214313"/>
                    </a:moveTo>
                    <a:lnTo>
                      <a:pt x="8930" y="214313"/>
                    </a:lnTo>
                    <a:lnTo>
                      <a:pt x="8930" y="116086"/>
                    </a:lnTo>
                    <a:lnTo>
                      <a:pt x="108456" y="116086"/>
                    </a:lnTo>
                    <a:lnTo>
                      <a:pt x="108456" y="214313"/>
                    </a:lnTo>
                    <a:close/>
                    <a:moveTo>
                      <a:pt x="8930" y="223242"/>
                    </a:moveTo>
                    <a:lnTo>
                      <a:pt x="108456" y="223242"/>
                    </a:lnTo>
                    <a:lnTo>
                      <a:pt x="108456" y="321469"/>
                    </a:lnTo>
                    <a:lnTo>
                      <a:pt x="8930" y="321469"/>
                    </a:lnTo>
                    <a:lnTo>
                      <a:pt x="8930" y="223242"/>
                    </a:lnTo>
                    <a:close/>
                    <a:moveTo>
                      <a:pt x="108463" y="330398"/>
                    </a:moveTo>
                    <a:lnTo>
                      <a:pt x="108463" y="428625"/>
                    </a:lnTo>
                    <a:lnTo>
                      <a:pt x="8930" y="428625"/>
                    </a:lnTo>
                    <a:lnTo>
                      <a:pt x="8930" y="330398"/>
                    </a:lnTo>
                    <a:lnTo>
                      <a:pt x="108463" y="330398"/>
                    </a:lnTo>
                    <a:close/>
                    <a:moveTo>
                      <a:pt x="8930" y="437555"/>
                    </a:moveTo>
                    <a:lnTo>
                      <a:pt x="108456" y="437555"/>
                    </a:lnTo>
                    <a:lnTo>
                      <a:pt x="108456" y="535781"/>
                    </a:lnTo>
                    <a:lnTo>
                      <a:pt x="8930" y="535781"/>
                    </a:lnTo>
                    <a:lnTo>
                      <a:pt x="8930" y="437555"/>
                    </a:lnTo>
                    <a:close/>
                    <a:moveTo>
                      <a:pt x="108463" y="544711"/>
                    </a:moveTo>
                    <a:lnTo>
                      <a:pt x="108463" y="642938"/>
                    </a:lnTo>
                    <a:lnTo>
                      <a:pt x="8930" y="642938"/>
                    </a:lnTo>
                    <a:lnTo>
                      <a:pt x="8930" y="544711"/>
                    </a:lnTo>
                    <a:lnTo>
                      <a:pt x="108463" y="544711"/>
                    </a:lnTo>
                    <a:close/>
                    <a:moveTo>
                      <a:pt x="8930" y="651867"/>
                    </a:moveTo>
                    <a:lnTo>
                      <a:pt x="108456" y="651867"/>
                    </a:lnTo>
                    <a:lnTo>
                      <a:pt x="108456" y="750094"/>
                    </a:lnTo>
                    <a:lnTo>
                      <a:pt x="8930" y="750094"/>
                    </a:lnTo>
                    <a:lnTo>
                      <a:pt x="8930" y="651867"/>
                    </a:lnTo>
                    <a:close/>
                    <a:moveTo>
                      <a:pt x="108463" y="759023"/>
                    </a:moveTo>
                    <a:lnTo>
                      <a:pt x="108463" y="857250"/>
                    </a:lnTo>
                    <a:lnTo>
                      <a:pt x="8930" y="857250"/>
                    </a:lnTo>
                    <a:lnTo>
                      <a:pt x="8930" y="759023"/>
                    </a:lnTo>
                    <a:lnTo>
                      <a:pt x="108463" y="759023"/>
                    </a:lnTo>
                    <a:close/>
                    <a:moveTo>
                      <a:pt x="8930" y="866180"/>
                    </a:moveTo>
                    <a:lnTo>
                      <a:pt x="108456" y="866180"/>
                    </a:lnTo>
                    <a:lnTo>
                      <a:pt x="108456" y="964406"/>
                    </a:lnTo>
                    <a:lnTo>
                      <a:pt x="8930" y="964406"/>
                    </a:lnTo>
                    <a:lnTo>
                      <a:pt x="8930" y="866180"/>
                    </a:lnTo>
                    <a:close/>
                    <a:moveTo>
                      <a:pt x="108463" y="973336"/>
                    </a:moveTo>
                    <a:lnTo>
                      <a:pt x="108463" y="1071563"/>
                    </a:lnTo>
                    <a:lnTo>
                      <a:pt x="8930" y="1071563"/>
                    </a:lnTo>
                    <a:lnTo>
                      <a:pt x="8930" y="973336"/>
                    </a:lnTo>
                    <a:lnTo>
                      <a:pt x="108463" y="973336"/>
                    </a:lnTo>
                    <a:close/>
                    <a:moveTo>
                      <a:pt x="8930" y="1080492"/>
                    </a:moveTo>
                    <a:lnTo>
                      <a:pt x="108456" y="1080492"/>
                    </a:lnTo>
                    <a:lnTo>
                      <a:pt x="108456" y="1178719"/>
                    </a:lnTo>
                    <a:lnTo>
                      <a:pt x="8930" y="1178719"/>
                    </a:lnTo>
                    <a:lnTo>
                      <a:pt x="8930" y="1080492"/>
                    </a:lnTo>
                    <a:close/>
                    <a:moveTo>
                      <a:pt x="108463" y="1187649"/>
                    </a:moveTo>
                    <a:lnTo>
                      <a:pt x="108463" y="1285875"/>
                    </a:lnTo>
                    <a:lnTo>
                      <a:pt x="8930" y="1285875"/>
                    </a:lnTo>
                    <a:lnTo>
                      <a:pt x="8930" y="1187649"/>
                    </a:lnTo>
                    <a:lnTo>
                      <a:pt x="108463" y="1187649"/>
                    </a:lnTo>
                    <a:close/>
                    <a:moveTo>
                      <a:pt x="8930" y="1294805"/>
                    </a:moveTo>
                    <a:lnTo>
                      <a:pt x="108456" y="1294805"/>
                    </a:lnTo>
                    <a:lnTo>
                      <a:pt x="108456" y="1393031"/>
                    </a:lnTo>
                    <a:lnTo>
                      <a:pt x="8930" y="1393031"/>
                    </a:lnTo>
                    <a:lnTo>
                      <a:pt x="8930" y="1294805"/>
                    </a:lnTo>
                    <a:close/>
                    <a:moveTo>
                      <a:pt x="108463" y="1401961"/>
                    </a:moveTo>
                    <a:lnTo>
                      <a:pt x="108463" y="1500188"/>
                    </a:lnTo>
                    <a:lnTo>
                      <a:pt x="8930" y="1500188"/>
                    </a:lnTo>
                    <a:lnTo>
                      <a:pt x="8930" y="1401961"/>
                    </a:lnTo>
                    <a:lnTo>
                      <a:pt x="108463" y="1401961"/>
                    </a:lnTo>
                    <a:close/>
                    <a:moveTo>
                      <a:pt x="8930" y="1509117"/>
                    </a:moveTo>
                    <a:lnTo>
                      <a:pt x="108456" y="1509117"/>
                    </a:lnTo>
                    <a:lnTo>
                      <a:pt x="108456" y="1607344"/>
                    </a:lnTo>
                    <a:lnTo>
                      <a:pt x="8930" y="1607344"/>
                    </a:lnTo>
                    <a:lnTo>
                      <a:pt x="8930" y="1509117"/>
                    </a:lnTo>
                    <a:close/>
                    <a:moveTo>
                      <a:pt x="108463" y="1616274"/>
                    </a:moveTo>
                    <a:lnTo>
                      <a:pt x="108463" y="1714500"/>
                    </a:lnTo>
                    <a:lnTo>
                      <a:pt x="8930" y="1714500"/>
                    </a:lnTo>
                    <a:lnTo>
                      <a:pt x="8930" y="1616274"/>
                    </a:lnTo>
                    <a:lnTo>
                      <a:pt x="108463" y="1616274"/>
                    </a:lnTo>
                    <a:close/>
                    <a:moveTo>
                      <a:pt x="8930" y="1723430"/>
                    </a:moveTo>
                    <a:lnTo>
                      <a:pt x="108456" y="1723430"/>
                    </a:lnTo>
                    <a:lnTo>
                      <a:pt x="108456" y="1821656"/>
                    </a:lnTo>
                    <a:lnTo>
                      <a:pt x="8930" y="1821656"/>
                    </a:lnTo>
                    <a:lnTo>
                      <a:pt x="8930" y="1723430"/>
                    </a:lnTo>
                    <a:close/>
                    <a:moveTo>
                      <a:pt x="108463" y="1830586"/>
                    </a:moveTo>
                    <a:lnTo>
                      <a:pt x="108463" y="1928813"/>
                    </a:lnTo>
                    <a:lnTo>
                      <a:pt x="8930" y="1928813"/>
                    </a:lnTo>
                    <a:lnTo>
                      <a:pt x="8930" y="1830586"/>
                    </a:lnTo>
                    <a:lnTo>
                      <a:pt x="108463" y="1830586"/>
                    </a:lnTo>
                    <a:close/>
                    <a:moveTo>
                      <a:pt x="8930" y="1937742"/>
                    </a:moveTo>
                    <a:lnTo>
                      <a:pt x="108456" y="1937742"/>
                    </a:lnTo>
                    <a:lnTo>
                      <a:pt x="108456" y="2035969"/>
                    </a:lnTo>
                    <a:lnTo>
                      <a:pt x="8930" y="2035969"/>
                    </a:lnTo>
                    <a:lnTo>
                      <a:pt x="8930" y="1937742"/>
                    </a:lnTo>
                    <a:close/>
                    <a:moveTo>
                      <a:pt x="108463" y="2044899"/>
                    </a:moveTo>
                    <a:lnTo>
                      <a:pt x="108463" y="2143125"/>
                    </a:lnTo>
                    <a:lnTo>
                      <a:pt x="8930" y="2143125"/>
                    </a:lnTo>
                    <a:lnTo>
                      <a:pt x="8930" y="2044899"/>
                    </a:lnTo>
                    <a:lnTo>
                      <a:pt x="108463" y="2044899"/>
                    </a:lnTo>
                    <a:close/>
                    <a:moveTo>
                      <a:pt x="8930" y="2152055"/>
                    </a:moveTo>
                    <a:lnTo>
                      <a:pt x="108456" y="2152055"/>
                    </a:lnTo>
                    <a:lnTo>
                      <a:pt x="108456" y="2250281"/>
                    </a:lnTo>
                    <a:lnTo>
                      <a:pt x="8930" y="2250281"/>
                    </a:lnTo>
                    <a:lnTo>
                      <a:pt x="8930" y="2152055"/>
                    </a:lnTo>
                    <a:close/>
                    <a:moveTo>
                      <a:pt x="117393" y="2152055"/>
                    </a:moveTo>
                    <a:lnTo>
                      <a:pt x="215620" y="2152055"/>
                    </a:lnTo>
                    <a:lnTo>
                      <a:pt x="215620" y="2250281"/>
                    </a:lnTo>
                    <a:lnTo>
                      <a:pt x="117393" y="2250281"/>
                    </a:lnTo>
                    <a:lnTo>
                      <a:pt x="117393" y="2152055"/>
                    </a:lnTo>
                    <a:close/>
                    <a:moveTo>
                      <a:pt x="215620" y="2259211"/>
                    </a:moveTo>
                    <a:lnTo>
                      <a:pt x="215620" y="2357438"/>
                    </a:lnTo>
                    <a:lnTo>
                      <a:pt x="117393" y="2357438"/>
                    </a:lnTo>
                    <a:lnTo>
                      <a:pt x="117393" y="2259211"/>
                    </a:lnTo>
                    <a:lnTo>
                      <a:pt x="215620" y="2259211"/>
                    </a:lnTo>
                    <a:close/>
                    <a:moveTo>
                      <a:pt x="224549" y="2259211"/>
                    </a:moveTo>
                    <a:lnTo>
                      <a:pt x="322776" y="2259211"/>
                    </a:lnTo>
                    <a:lnTo>
                      <a:pt x="322776" y="2357438"/>
                    </a:lnTo>
                    <a:lnTo>
                      <a:pt x="224549" y="2357438"/>
                    </a:lnTo>
                    <a:lnTo>
                      <a:pt x="224549" y="2259211"/>
                    </a:lnTo>
                    <a:close/>
                    <a:moveTo>
                      <a:pt x="331706" y="2259211"/>
                    </a:moveTo>
                    <a:lnTo>
                      <a:pt x="429932" y="2259211"/>
                    </a:lnTo>
                    <a:lnTo>
                      <a:pt x="429932" y="2357438"/>
                    </a:lnTo>
                    <a:lnTo>
                      <a:pt x="331706" y="2357438"/>
                    </a:lnTo>
                    <a:lnTo>
                      <a:pt x="331706" y="2259211"/>
                    </a:lnTo>
                    <a:close/>
                    <a:moveTo>
                      <a:pt x="438862" y="2259211"/>
                    </a:moveTo>
                    <a:lnTo>
                      <a:pt x="537089" y="2259211"/>
                    </a:lnTo>
                    <a:lnTo>
                      <a:pt x="537089" y="2357438"/>
                    </a:lnTo>
                    <a:lnTo>
                      <a:pt x="438862" y="2357438"/>
                    </a:lnTo>
                    <a:lnTo>
                      <a:pt x="438862" y="2259211"/>
                    </a:lnTo>
                    <a:close/>
                    <a:moveTo>
                      <a:pt x="546018" y="2259211"/>
                    </a:moveTo>
                    <a:lnTo>
                      <a:pt x="644245" y="2259211"/>
                    </a:lnTo>
                    <a:lnTo>
                      <a:pt x="644245" y="2357438"/>
                    </a:lnTo>
                    <a:lnTo>
                      <a:pt x="546018" y="2357438"/>
                    </a:lnTo>
                    <a:lnTo>
                      <a:pt x="546018" y="2259211"/>
                    </a:lnTo>
                    <a:close/>
                    <a:moveTo>
                      <a:pt x="653175" y="2259211"/>
                    </a:moveTo>
                    <a:lnTo>
                      <a:pt x="751401" y="2259211"/>
                    </a:lnTo>
                    <a:lnTo>
                      <a:pt x="751401" y="2357438"/>
                    </a:lnTo>
                    <a:lnTo>
                      <a:pt x="653175" y="2357438"/>
                    </a:lnTo>
                    <a:lnTo>
                      <a:pt x="653175" y="2259211"/>
                    </a:lnTo>
                    <a:close/>
                    <a:moveTo>
                      <a:pt x="760331" y="2259211"/>
                    </a:moveTo>
                    <a:lnTo>
                      <a:pt x="858557" y="2259211"/>
                    </a:lnTo>
                    <a:lnTo>
                      <a:pt x="858557" y="2357438"/>
                    </a:lnTo>
                    <a:lnTo>
                      <a:pt x="760331" y="2357438"/>
                    </a:lnTo>
                    <a:lnTo>
                      <a:pt x="760331" y="2259211"/>
                    </a:lnTo>
                    <a:close/>
                    <a:moveTo>
                      <a:pt x="867487" y="2259211"/>
                    </a:moveTo>
                    <a:lnTo>
                      <a:pt x="965714" y="2259211"/>
                    </a:lnTo>
                    <a:lnTo>
                      <a:pt x="965714" y="2357438"/>
                    </a:lnTo>
                    <a:lnTo>
                      <a:pt x="867487" y="2357438"/>
                    </a:lnTo>
                    <a:lnTo>
                      <a:pt x="867487" y="2259211"/>
                    </a:lnTo>
                    <a:close/>
                    <a:moveTo>
                      <a:pt x="974643" y="2259211"/>
                    </a:moveTo>
                    <a:lnTo>
                      <a:pt x="1072870" y="2259211"/>
                    </a:lnTo>
                    <a:lnTo>
                      <a:pt x="1072870" y="2357438"/>
                    </a:lnTo>
                    <a:lnTo>
                      <a:pt x="974643" y="2357438"/>
                    </a:lnTo>
                    <a:lnTo>
                      <a:pt x="974643" y="2259211"/>
                    </a:lnTo>
                    <a:close/>
                    <a:moveTo>
                      <a:pt x="1081800" y="2259211"/>
                    </a:moveTo>
                    <a:lnTo>
                      <a:pt x="1180026" y="2259211"/>
                    </a:lnTo>
                    <a:lnTo>
                      <a:pt x="1180026" y="2357438"/>
                    </a:lnTo>
                    <a:lnTo>
                      <a:pt x="1081800" y="2357438"/>
                    </a:lnTo>
                    <a:lnTo>
                      <a:pt x="1081800" y="2259211"/>
                    </a:lnTo>
                    <a:close/>
                    <a:moveTo>
                      <a:pt x="1188956" y="2259211"/>
                    </a:moveTo>
                    <a:lnTo>
                      <a:pt x="1287182" y="2259211"/>
                    </a:lnTo>
                    <a:lnTo>
                      <a:pt x="1287182" y="2357438"/>
                    </a:lnTo>
                    <a:lnTo>
                      <a:pt x="1188956" y="2357438"/>
                    </a:lnTo>
                    <a:lnTo>
                      <a:pt x="1188956" y="2259211"/>
                    </a:lnTo>
                    <a:close/>
                    <a:moveTo>
                      <a:pt x="1296112" y="2259211"/>
                    </a:moveTo>
                    <a:lnTo>
                      <a:pt x="1394339" y="2259211"/>
                    </a:lnTo>
                    <a:lnTo>
                      <a:pt x="1394339" y="2357438"/>
                    </a:lnTo>
                    <a:lnTo>
                      <a:pt x="1296112" y="2357438"/>
                    </a:lnTo>
                    <a:lnTo>
                      <a:pt x="1296112" y="2259211"/>
                    </a:lnTo>
                    <a:close/>
                    <a:moveTo>
                      <a:pt x="1403268" y="2259211"/>
                    </a:moveTo>
                    <a:lnTo>
                      <a:pt x="1501495" y="2259211"/>
                    </a:lnTo>
                    <a:lnTo>
                      <a:pt x="1501495" y="2357438"/>
                    </a:lnTo>
                    <a:lnTo>
                      <a:pt x="1403268" y="2357438"/>
                    </a:lnTo>
                    <a:lnTo>
                      <a:pt x="1403268" y="2259211"/>
                    </a:lnTo>
                    <a:close/>
                    <a:moveTo>
                      <a:pt x="1510425" y="2259211"/>
                    </a:moveTo>
                    <a:lnTo>
                      <a:pt x="1608651" y="2259211"/>
                    </a:lnTo>
                    <a:lnTo>
                      <a:pt x="1608651" y="2357438"/>
                    </a:lnTo>
                    <a:lnTo>
                      <a:pt x="1510425" y="2357438"/>
                    </a:lnTo>
                    <a:lnTo>
                      <a:pt x="1510425" y="2259211"/>
                    </a:lnTo>
                    <a:close/>
                    <a:moveTo>
                      <a:pt x="1617581" y="2259211"/>
                    </a:moveTo>
                    <a:lnTo>
                      <a:pt x="1715807" y="2259211"/>
                    </a:lnTo>
                    <a:lnTo>
                      <a:pt x="1715807" y="2357438"/>
                    </a:lnTo>
                    <a:lnTo>
                      <a:pt x="1617581" y="2357438"/>
                    </a:lnTo>
                    <a:lnTo>
                      <a:pt x="1617581" y="2259211"/>
                    </a:lnTo>
                    <a:close/>
                    <a:moveTo>
                      <a:pt x="1617581" y="2250281"/>
                    </a:moveTo>
                    <a:lnTo>
                      <a:pt x="1617581" y="2152055"/>
                    </a:lnTo>
                    <a:lnTo>
                      <a:pt x="1715807" y="2152055"/>
                    </a:lnTo>
                    <a:lnTo>
                      <a:pt x="1715807" y="2250281"/>
                    </a:lnTo>
                    <a:lnTo>
                      <a:pt x="1617581" y="2250281"/>
                    </a:lnTo>
                    <a:close/>
                    <a:moveTo>
                      <a:pt x="1724737" y="2152055"/>
                    </a:moveTo>
                    <a:lnTo>
                      <a:pt x="1821664" y="2152055"/>
                    </a:lnTo>
                    <a:lnTo>
                      <a:pt x="1821664" y="2250281"/>
                    </a:lnTo>
                    <a:lnTo>
                      <a:pt x="1724737" y="2250281"/>
                    </a:lnTo>
                    <a:lnTo>
                      <a:pt x="1724737" y="2152055"/>
                    </a:lnTo>
                    <a:close/>
                    <a:moveTo>
                      <a:pt x="1724737" y="2143125"/>
                    </a:moveTo>
                    <a:lnTo>
                      <a:pt x="1724737" y="2044899"/>
                    </a:lnTo>
                    <a:lnTo>
                      <a:pt x="1821664" y="2044899"/>
                    </a:lnTo>
                    <a:lnTo>
                      <a:pt x="1821664" y="2143125"/>
                    </a:lnTo>
                    <a:lnTo>
                      <a:pt x="1724737" y="2143125"/>
                    </a:lnTo>
                    <a:close/>
                    <a:moveTo>
                      <a:pt x="1821656" y="2035969"/>
                    </a:moveTo>
                    <a:lnTo>
                      <a:pt x="1724730" y="2035969"/>
                    </a:lnTo>
                    <a:lnTo>
                      <a:pt x="1724730" y="1937742"/>
                    </a:lnTo>
                    <a:lnTo>
                      <a:pt x="1821656" y="1937742"/>
                    </a:lnTo>
                    <a:lnTo>
                      <a:pt x="1821656" y="2035969"/>
                    </a:lnTo>
                    <a:close/>
                    <a:moveTo>
                      <a:pt x="1724737" y="1928813"/>
                    </a:moveTo>
                    <a:lnTo>
                      <a:pt x="1724737" y="1830586"/>
                    </a:lnTo>
                    <a:lnTo>
                      <a:pt x="1821664" y="1830586"/>
                    </a:lnTo>
                    <a:lnTo>
                      <a:pt x="1821664" y="1928813"/>
                    </a:lnTo>
                    <a:lnTo>
                      <a:pt x="1724737" y="1928813"/>
                    </a:lnTo>
                    <a:close/>
                    <a:moveTo>
                      <a:pt x="1821656" y="1821656"/>
                    </a:moveTo>
                    <a:lnTo>
                      <a:pt x="1724730" y="1821656"/>
                    </a:lnTo>
                    <a:lnTo>
                      <a:pt x="1724730" y="1723430"/>
                    </a:lnTo>
                    <a:lnTo>
                      <a:pt x="1821656" y="1723430"/>
                    </a:lnTo>
                    <a:lnTo>
                      <a:pt x="1821656" y="1821656"/>
                    </a:lnTo>
                    <a:close/>
                    <a:moveTo>
                      <a:pt x="1724737" y="1714500"/>
                    </a:moveTo>
                    <a:lnTo>
                      <a:pt x="1724737" y="1616274"/>
                    </a:lnTo>
                    <a:lnTo>
                      <a:pt x="1821664" y="1616274"/>
                    </a:lnTo>
                    <a:lnTo>
                      <a:pt x="1821664" y="1714500"/>
                    </a:lnTo>
                    <a:lnTo>
                      <a:pt x="1724737" y="1714500"/>
                    </a:lnTo>
                    <a:close/>
                    <a:moveTo>
                      <a:pt x="1821656" y="1607344"/>
                    </a:moveTo>
                    <a:lnTo>
                      <a:pt x="1724730" y="1607344"/>
                    </a:lnTo>
                    <a:lnTo>
                      <a:pt x="1724730" y="1509117"/>
                    </a:lnTo>
                    <a:lnTo>
                      <a:pt x="1821656" y="1509117"/>
                    </a:lnTo>
                    <a:lnTo>
                      <a:pt x="1821656" y="1607344"/>
                    </a:lnTo>
                    <a:close/>
                    <a:moveTo>
                      <a:pt x="1724737" y="1500188"/>
                    </a:moveTo>
                    <a:lnTo>
                      <a:pt x="1724737" y="1401961"/>
                    </a:lnTo>
                    <a:lnTo>
                      <a:pt x="1821664" y="1401961"/>
                    </a:lnTo>
                    <a:lnTo>
                      <a:pt x="1821664" y="1500188"/>
                    </a:lnTo>
                    <a:lnTo>
                      <a:pt x="1724737" y="1500188"/>
                    </a:lnTo>
                    <a:close/>
                    <a:moveTo>
                      <a:pt x="1821656" y="1393031"/>
                    </a:moveTo>
                    <a:lnTo>
                      <a:pt x="1724730" y="1393031"/>
                    </a:lnTo>
                    <a:lnTo>
                      <a:pt x="1724730" y="1294805"/>
                    </a:lnTo>
                    <a:lnTo>
                      <a:pt x="1821656" y="1294805"/>
                    </a:lnTo>
                    <a:lnTo>
                      <a:pt x="1821656" y="1393031"/>
                    </a:lnTo>
                    <a:close/>
                    <a:moveTo>
                      <a:pt x="1724737" y="1285875"/>
                    </a:moveTo>
                    <a:lnTo>
                      <a:pt x="1724737" y="1187649"/>
                    </a:lnTo>
                    <a:lnTo>
                      <a:pt x="1821664" y="1187649"/>
                    </a:lnTo>
                    <a:lnTo>
                      <a:pt x="1821664" y="1285875"/>
                    </a:lnTo>
                    <a:lnTo>
                      <a:pt x="1724737" y="1285875"/>
                    </a:lnTo>
                    <a:close/>
                    <a:moveTo>
                      <a:pt x="1821656" y="1178719"/>
                    </a:moveTo>
                    <a:lnTo>
                      <a:pt x="1724730" y="1178719"/>
                    </a:lnTo>
                    <a:lnTo>
                      <a:pt x="1724730" y="1080492"/>
                    </a:lnTo>
                    <a:lnTo>
                      <a:pt x="1821656" y="1080492"/>
                    </a:lnTo>
                    <a:lnTo>
                      <a:pt x="1821656" y="1178719"/>
                    </a:lnTo>
                    <a:close/>
                    <a:moveTo>
                      <a:pt x="1724737" y="1071563"/>
                    </a:moveTo>
                    <a:lnTo>
                      <a:pt x="1724737" y="973336"/>
                    </a:lnTo>
                    <a:lnTo>
                      <a:pt x="1821664" y="973336"/>
                    </a:lnTo>
                    <a:lnTo>
                      <a:pt x="1821664" y="1071563"/>
                    </a:lnTo>
                    <a:lnTo>
                      <a:pt x="1724737" y="1071563"/>
                    </a:lnTo>
                    <a:close/>
                    <a:moveTo>
                      <a:pt x="1821656" y="964406"/>
                    </a:moveTo>
                    <a:lnTo>
                      <a:pt x="1724730" y="964406"/>
                    </a:lnTo>
                    <a:lnTo>
                      <a:pt x="1724730" y="866180"/>
                    </a:lnTo>
                    <a:lnTo>
                      <a:pt x="1821656" y="866180"/>
                    </a:lnTo>
                    <a:lnTo>
                      <a:pt x="1821656" y="964406"/>
                    </a:lnTo>
                    <a:close/>
                    <a:moveTo>
                      <a:pt x="1724737" y="857250"/>
                    </a:moveTo>
                    <a:lnTo>
                      <a:pt x="1724737" y="759023"/>
                    </a:lnTo>
                    <a:lnTo>
                      <a:pt x="1821664" y="759023"/>
                    </a:lnTo>
                    <a:lnTo>
                      <a:pt x="1821664" y="857250"/>
                    </a:lnTo>
                    <a:lnTo>
                      <a:pt x="1724737" y="857250"/>
                    </a:lnTo>
                    <a:close/>
                    <a:moveTo>
                      <a:pt x="1821656" y="750094"/>
                    </a:moveTo>
                    <a:lnTo>
                      <a:pt x="1724730" y="750094"/>
                    </a:lnTo>
                    <a:lnTo>
                      <a:pt x="1724730" y="651867"/>
                    </a:lnTo>
                    <a:lnTo>
                      <a:pt x="1821656" y="651867"/>
                    </a:lnTo>
                    <a:lnTo>
                      <a:pt x="1821656" y="750094"/>
                    </a:lnTo>
                    <a:close/>
                    <a:moveTo>
                      <a:pt x="1724737" y="642938"/>
                    </a:moveTo>
                    <a:lnTo>
                      <a:pt x="1724737" y="544711"/>
                    </a:lnTo>
                    <a:lnTo>
                      <a:pt x="1821664" y="544711"/>
                    </a:lnTo>
                    <a:lnTo>
                      <a:pt x="1821664" y="642938"/>
                    </a:lnTo>
                    <a:lnTo>
                      <a:pt x="1724737" y="642938"/>
                    </a:lnTo>
                    <a:close/>
                    <a:moveTo>
                      <a:pt x="1821656" y="535781"/>
                    </a:moveTo>
                    <a:lnTo>
                      <a:pt x="1724730" y="535781"/>
                    </a:lnTo>
                    <a:lnTo>
                      <a:pt x="1724730" y="437555"/>
                    </a:lnTo>
                    <a:lnTo>
                      <a:pt x="1821656" y="437555"/>
                    </a:lnTo>
                    <a:lnTo>
                      <a:pt x="1821656" y="535781"/>
                    </a:lnTo>
                    <a:close/>
                    <a:moveTo>
                      <a:pt x="1724737" y="428625"/>
                    </a:moveTo>
                    <a:lnTo>
                      <a:pt x="1724737" y="330398"/>
                    </a:lnTo>
                    <a:lnTo>
                      <a:pt x="1821664" y="330398"/>
                    </a:lnTo>
                    <a:lnTo>
                      <a:pt x="1821664" y="428625"/>
                    </a:lnTo>
                    <a:lnTo>
                      <a:pt x="1724737" y="428625"/>
                    </a:lnTo>
                    <a:close/>
                    <a:moveTo>
                      <a:pt x="1821656" y="321469"/>
                    </a:moveTo>
                    <a:lnTo>
                      <a:pt x="1724730" y="321469"/>
                    </a:lnTo>
                    <a:lnTo>
                      <a:pt x="1724730" y="223242"/>
                    </a:lnTo>
                    <a:lnTo>
                      <a:pt x="1821656" y="223242"/>
                    </a:lnTo>
                    <a:lnTo>
                      <a:pt x="1821656" y="321469"/>
                    </a:lnTo>
                    <a:close/>
                    <a:moveTo>
                      <a:pt x="1724737" y="214313"/>
                    </a:moveTo>
                    <a:lnTo>
                      <a:pt x="1724737" y="116086"/>
                    </a:lnTo>
                    <a:lnTo>
                      <a:pt x="1821664" y="116086"/>
                    </a:lnTo>
                    <a:lnTo>
                      <a:pt x="1821664" y="214313"/>
                    </a:lnTo>
                    <a:lnTo>
                      <a:pt x="1724737" y="214313"/>
                    </a:lnTo>
                    <a:close/>
                    <a:moveTo>
                      <a:pt x="1821656" y="107156"/>
                    </a:moveTo>
                    <a:lnTo>
                      <a:pt x="1724730" y="107156"/>
                    </a:lnTo>
                    <a:lnTo>
                      <a:pt x="1724730" y="8930"/>
                    </a:lnTo>
                    <a:lnTo>
                      <a:pt x="1821656" y="8930"/>
                    </a:lnTo>
                    <a:lnTo>
                      <a:pt x="1821656" y="107156"/>
                    </a:lnTo>
                    <a:close/>
                    <a:moveTo>
                      <a:pt x="108463" y="8930"/>
                    </a:moveTo>
                    <a:lnTo>
                      <a:pt x="108463" y="107156"/>
                    </a:lnTo>
                    <a:lnTo>
                      <a:pt x="8930" y="107156"/>
                    </a:lnTo>
                    <a:lnTo>
                      <a:pt x="8930" y="8930"/>
                    </a:lnTo>
                    <a:lnTo>
                      <a:pt x="108463" y="8930"/>
                    </a:lnTo>
                    <a:close/>
                    <a:moveTo>
                      <a:pt x="8930" y="2259211"/>
                    </a:moveTo>
                    <a:lnTo>
                      <a:pt x="108456" y="2259211"/>
                    </a:lnTo>
                    <a:lnTo>
                      <a:pt x="108456" y="2357438"/>
                    </a:lnTo>
                    <a:lnTo>
                      <a:pt x="8930" y="2357438"/>
                    </a:lnTo>
                    <a:lnTo>
                      <a:pt x="8930" y="2259211"/>
                    </a:lnTo>
                    <a:close/>
                    <a:moveTo>
                      <a:pt x="1724737" y="2357438"/>
                    </a:moveTo>
                    <a:lnTo>
                      <a:pt x="1724737" y="2259211"/>
                    </a:lnTo>
                    <a:lnTo>
                      <a:pt x="1821664" y="2259211"/>
                    </a:lnTo>
                    <a:lnTo>
                      <a:pt x="1821664" y="2357438"/>
                    </a:lnTo>
                    <a:lnTo>
                      <a:pt x="1724737" y="2357438"/>
                    </a:lnTo>
                    <a:close/>
                  </a:path>
                </a:pathLst>
              </a:custGeom>
              <a:solidFill>
                <a:srgbClr val="F2F2F2"/>
              </a:solidFill>
              <a:ln w="7144" cap="flat">
                <a:noFill/>
                <a:prstDash val="solid"/>
                <a:miter/>
              </a:ln>
            </p:spPr>
            <p:txBody>
              <a:bodyPr rtlCol="0" anchor="ctr"/>
              <a:lstStyle/>
              <a:p>
                <a:endParaRPr lang="en-GB" sz="800" noProof="0" dirty="0"/>
              </a:p>
            </p:txBody>
          </p:sp>
          <p:sp>
            <p:nvSpPr>
              <p:cNvPr id="4103" name="Freeform: Shape 4102">
                <a:extLst>
                  <a:ext uri="{FF2B5EF4-FFF2-40B4-BE49-F238E27FC236}">
                    <a16:creationId xmlns:a16="http://schemas.microsoft.com/office/drawing/2014/main" id="{92C8C73C-4676-7606-2E92-73CCB07EFFF9}"/>
                  </a:ext>
                </a:extLst>
              </p:cNvPr>
              <p:cNvSpPr/>
              <p:nvPr/>
            </p:nvSpPr>
            <p:spPr>
              <a:xfrm>
                <a:off x="9255573" y="1638351"/>
                <a:ext cx="2143125" cy="214312"/>
              </a:xfrm>
              <a:custGeom>
                <a:avLst/>
                <a:gdLst>
                  <a:gd name="connsiteX0" fmla="*/ 0 w 2143125"/>
                  <a:gd name="connsiteY0" fmla="*/ 0 h 214312"/>
                  <a:gd name="connsiteX1" fmla="*/ 2143125 w 2143125"/>
                  <a:gd name="connsiteY1" fmla="*/ 0 h 214312"/>
                  <a:gd name="connsiteX2" fmla="*/ 2143125 w 2143125"/>
                  <a:gd name="connsiteY2" fmla="*/ 214313 h 214312"/>
                  <a:gd name="connsiteX3" fmla="*/ 0 w 2143125"/>
                  <a:gd name="connsiteY3" fmla="*/ 214313 h 214312"/>
                </a:gdLst>
                <a:ahLst/>
                <a:cxnLst>
                  <a:cxn ang="0">
                    <a:pos x="connsiteX0" y="connsiteY0"/>
                  </a:cxn>
                  <a:cxn ang="0">
                    <a:pos x="connsiteX1" y="connsiteY1"/>
                  </a:cxn>
                  <a:cxn ang="0">
                    <a:pos x="connsiteX2" y="connsiteY2"/>
                  </a:cxn>
                  <a:cxn ang="0">
                    <a:pos x="connsiteX3" y="connsiteY3"/>
                  </a:cxn>
                </a:cxnLst>
                <a:rect l="l" t="t" r="r" b="b"/>
                <a:pathLst>
                  <a:path w="2143125" h="214312">
                    <a:moveTo>
                      <a:pt x="0" y="0"/>
                    </a:moveTo>
                    <a:lnTo>
                      <a:pt x="2143125" y="0"/>
                    </a:lnTo>
                    <a:lnTo>
                      <a:pt x="2143125" y="214313"/>
                    </a:lnTo>
                    <a:lnTo>
                      <a:pt x="0" y="214313"/>
                    </a:lnTo>
                    <a:close/>
                  </a:path>
                </a:pathLst>
              </a:custGeom>
              <a:solidFill>
                <a:schemeClr val="bg2">
                  <a:lumMod val="50000"/>
                </a:schemeClr>
              </a:solidFill>
              <a:ln w="7144" cap="flat">
                <a:noFill/>
                <a:prstDash val="solid"/>
                <a:miter/>
              </a:ln>
            </p:spPr>
            <p:txBody>
              <a:bodyPr rtlCol="0" anchor="ctr"/>
              <a:lstStyle/>
              <a:p>
                <a:endParaRPr lang="en-GB" sz="800" noProof="0" dirty="0"/>
              </a:p>
            </p:txBody>
          </p:sp>
          <p:sp>
            <p:nvSpPr>
              <p:cNvPr id="4104" name="Freeform: Shape 4103">
                <a:extLst>
                  <a:ext uri="{FF2B5EF4-FFF2-40B4-BE49-F238E27FC236}">
                    <a16:creationId xmlns:a16="http://schemas.microsoft.com/office/drawing/2014/main" id="{31104C24-877E-5340-9292-A5C531338D0D}"/>
                  </a:ext>
                </a:extLst>
              </p:cNvPr>
              <p:cNvSpPr/>
              <p:nvPr/>
            </p:nvSpPr>
            <p:spPr>
              <a:xfrm>
                <a:off x="9541323" y="1696530"/>
                <a:ext cx="107156" cy="107156"/>
              </a:xfrm>
              <a:custGeom>
                <a:avLst/>
                <a:gdLst>
                  <a:gd name="connsiteX0" fmla="*/ 107156 w 107156"/>
                  <a:gd name="connsiteY0" fmla="*/ 53578 h 107156"/>
                  <a:gd name="connsiteX1" fmla="*/ 53578 w 107156"/>
                  <a:gd name="connsiteY1" fmla="*/ 107156 h 107156"/>
                  <a:gd name="connsiteX2" fmla="*/ 0 w 107156"/>
                  <a:gd name="connsiteY2" fmla="*/ 53578 h 107156"/>
                  <a:gd name="connsiteX3" fmla="*/ 53578 w 107156"/>
                  <a:gd name="connsiteY3" fmla="*/ 0 h 107156"/>
                  <a:gd name="connsiteX4" fmla="*/ 107156 w 107156"/>
                  <a:gd name="connsiteY4" fmla="*/ 53578 h 107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56" h="107156">
                    <a:moveTo>
                      <a:pt x="107156" y="53578"/>
                    </a:moveTo>
                    <a:cubicBezTo>
                      <a:pt x="107156" y="83169"/>
                      <a:pt x="83169" y="107156"/>
                      <a:pt x="53578" y="107156"/>
                    </a:cubicBezTo>
                    <a:cubicBezTo>
                      <a:pt x="23988" y="107156"/>
                      <a:pt x="0" y="83169"/>
                      <a:pt x="0" y="53578"/>
                    </a:cubicBezTo>
                    <a:cubicBezTo>
                      <a:pt x="0" y="23988"/>
                      <a:pt x="23988" y="0"/>
                      <a:pt x="53578" y="0"/>
                    </a:cubicBezTo>
                    <a:cubicBezTo>
                      <a:pt x="83169" y="0"/>
                      <a:pt x="107156" y="23988"/>
                      <a:pt x="107156" y="53578"/>
                    </a:cubicBezTo>
                    <a:close/>
                  </a:path>
                </a:pathLst>
              </a:custGeom>
              <a:solidFill>
                <a:srgbClr val="FFFFFF"/>
              </a:solidFill>
              <a:ln w="7144" cap="flat">
                <a:noFill/>
                <a:prstDash val="solid"/>
                <a:miter/>
              </a:ln>
            </p:spPr>
            <p:txBody>
              <a:bodyPr rtlCol="0" anchor="ctr"/>
              <a:lstStyle/>
              <a:p>
                <a:endParaRPr lang="en-GB" sz="800" noProof="0" dirty="0"/>
              </a:p>
            </p:txBody>
          </p:sp>
          <p:sp>
            <p:nvSpPr>
              <p:cNvPr id="4105" name="Freeform: Shape 4104">
                <a:extLst>
                  <a:ext uri="{FF2B5EF4-FFF2-40B4-BE49-F238E27FC236}">
                    <a16:creationId xmlns:a16="http://schemas.microsoft.com/office/drawing/2014/main" id="{6B8A5726-1115-CE7C-7AE5-641060D3A3E1}"/>
                  </a:ext>
                </a:extLst>
              </p:cNvPr>
              <p:cNvSpPr/>
              <p:nvPr/>
            </p:nvSpPr>
            <p:spPr>
              <a:xfrm>
                <a:off x="11041510" y="1696530"/>
                <a:ext cx="107156" cy="107156"/>
              </a:xfrm>
              <a:custGeom>
                <a:avLst/>
                <a:gdLst>
                  <a:gd name="connsiteX0" fmla="*/ 107156 w 107156"/>
                  <a:gd name="connsiteY0" fmla="*/ 53578 h 107156"/>
                  <a:gd name="connsiteX1" fmla="*/ 53578 w 107156"/>
                  <a:gd name="connsiteY1" fmla="*/ 107156 h 107156"/>
                  <a:gd name="connsiteX2" fmla="*/ 0 w 107156"/>
                  <a:gd name="connsiteY2" fmla="*/ 53578 h 107156"/>
                  <a:gd name="connsiteX3" fmla="*/ 53578 w 107156"/>
                  <a:gd name="connsiteY3" fmla="*/ 0 h 107156"/>
                  <a:gd name="connsiteX4" fmla="*/ 107156 w 107156"/>
                  <a:gd name="connsiteY4" fmla="*/ 53578 h 107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56" h="107156">
                    <a:moveTo>
                      <a:pt x="107156" y="53578"/>
                    </a:moveTo>
                    <a:cubicBezTo>
                      <a:pt x="107156" y="83169"/>
                      <a:pt x="83168" y="107156"/>
                      <a:pt x="53578" y="107156"/>
                    </a:cubicBezTo>
                    <a:cubicBezTo>
                      <a:pt x="23987" y="107156"/>
                      <a:pt x="0" y="83169"/>
                      <a:pt x="0" y="53578"/>
                    </a:cubicBezTo>
                    <a:cubicBezTo>
                      <a:pt x="0" y="23988"/>
                      <a:pt x="23987" y="0"/>
                      <a:pt x="53578" y="0"/>
                    </a:cubicBezTo>
                    <a:cubicBezTo>
                      <a:pt x="83168" y="0"/>
                      <a:pt x="107156" y="23988"/>
                      <a:pt x="107156" y="53578"/>
                    </a:cubicBezTo>
                    <a:close/>
                  </a:path>
                </a:pathLst>
              </a:custGeom>
              <a:solidFill>
                <a:srgbClr val="FFFFFF"/>
              </a:solidFill>
              <a:ln w="7144" cap="flat">
                <a:noFill/>
                <a:prstDash val="solid"/>
                <a:miter/>
              </a:ln>
            </p:spPr>
            <p:txBody>
              <a:bodyPr rtlCol="0" anchor="ctr"/>
              <a:lstStyle/>
              <a:p>
                <a:endParaRPr lang="en-GB" sz="800" noProof="0" dirty="0"/>
              </a:p>
            </p:txBody>
          </p:sp>
        </p:grpSp>
      </p:grpSp>
      <p:grpSp>
        <p:nvGrpSpPr>
          <p:cNvPr id="4138" name="Group 4137">
            <a:extLst>
              <a:ext uri="{FF2B5EF4-FFF2-40B4-BE49-F238E27FC236}">
                <a16:creationId xmlns:a16="http://schemas.microsoft.com/office/drawing/2014/main" id="{E95ECE49-0333-4198-96B5-BA4FE12AE869}"/>
              </a:ext>
            </a:extLst>
          </p:cNvPr>
          <p:cNvGrpSpPr/>
          <p:nvPr/>
        </p:nvGrpSpPr>
        <p:grpSpPr>
          <a:xfrm>
            <a:off x="6260676" y="4251649"/>
            <a:ext cx="322473" cy="491738"/>
            <a:chOff x="9786886" y="6440973"/>
            <a:chExt cx="2152059" cy="3281667"/>
          </a:xfrm>
        </p:grpSpPr>
        <p:grpSp>
          <p:nvGrpSpPr>
            <p:cNvPr id="4139" name="Graphic 21" descr="Graph and note paper pads with pencil">
              <a:extLst>
                <a:ext uri="{FF2B5EF4-FFF2-40B4-BE49-F238E27FC236}">
                  <a16:creationId xmlns:a16="http://schemas.microsoft.com/office/drawing/2014/main" id="{3280D84D-1398-A83C-F433-AB11CDC04E10}"/>
                </a:ext>
              </a:extLst>
            </p:cNvPr>
            <p:cNvGrpSpPr/>
            <p:nvPr/>
          </p:nvGrpSpPr>
          <p:grpSpPr>
            <a:xfrm>
              <a:off x="9786886" y="6440973"/>
              <a:ext cx="2152059" cy="3281667"/>
              <a:chOff x="6253871" y="6407485"/>
              <a:chExt cx="2152059" cy="3281667"/>
            </a:xfrm>
          </p:grpSpPr>
          <p:sp>
            <p:nvSpPr>
              <p:cNvPr id="4142" name="Freeform: Shape 4141">
                <a:extLst>
                  <a:ext uri="{FF2B5EF4-FFF2-40B4-BE49-F238E27FC236}">
                    <a16:creationId xmlns:a16="http://schemas.microsoft.com/office/drawing/2014/main" id="{AD9715AA-A269-4CF5-9084-EF9C77465A51}"/>
                  </a:ext>
                </a:extLst>
              </p:cNvPr>
              <p:cNvSpPr/>
              <p:nvPr/>
            </p:nvSpPr>
            <p:spPr>
              <a:xfrm>
                <a:off x="6276188" y="6474464"/>
                <a:ext cx="2125265" cy="3214687"/>
              </a:xfrm>
              <a:custGeom>
                <a:avLst/>
                <a:gdLst>
                  <a:gd name="connsiteX0" fmla="*/ 0 w 2125265"/>
                  <a:gd name="connsiteY0" fmla="*/ 0 h 3214687"/>
                  <a:gd name="connsiteX1" fmla="*/ 2125266 w 2125265"/>
                  <a:gd name="connsiteY1" fmla="*/ 0 h 3214687"/>
                  <a:gd name="connsiteX2" fmla="*/ 2125266 w 2125265"/>
                  <a:gd name="connsiteY2" fmla="*/ 3214688 h 3214687"/>
                  <a:gd name="connsiteX3" fmla="*/ 0 w 2125265"/>
                  <a:gd name="connsiteY3" fmla="*/ 3214688 h 3214687"/>
                </a:gdLst>
                <a:ahLst/>
                <a:cxnLst>
                  <a:cxn ang="0">
                    <a:pos x="connsiteX0" y="connsiteY0"/>
                  </a:cxn>
                  <a:cxn ang="0">
                    <a:pos x="connsiteX1" y="connsiteY1"/>
                  </a:cxn>
                  <a:cxn ang="0">
                    <a:pos x="connsiteX2" y="connsiteY2"/>
                  </a:cxn>
                  <a:cxn ang="0">
                    <a:pos x="connsiteX3" y="connsiteY3"/>
                  </a:cxn>
                </a:cxnLst>
                <a:rect l="l" t="t" r="r" b="b"/>
                <a:pathLst>
                  <a:path w="2125265" h="3214687">
                    <a:moveTo>
                      <a:pt x="0" y="0"/>
                    </a:moveTo>
                    <a:lnTo>
                      <a:pt x="2125266" y="0"/>
                    </a:lnTo>
                    <a:lnTo>
                      <a:pt x="2125266" y="3214688"/>
                    </a:lnTo>
                    <a:lnTo>
                      <a:pt x="0" y="3214688"/>
                    </a:lnTo>
                    <a:close/>
                  </a:path>
                </a:pathLst>
              </a:custGeom>
              <a:solidFill>
                <a:srgbClr val="D2D2D2"/>
              </a:solidFill>
              <a:ln w="9525" cap="flat">
                <a:noFill/>
                <a:prstDash val="solid"/>
                <a:miter/>
              </a:ln>
            </p:spPr>
            <p:txBody>
              <a:bodyPr rtlCol="0" anchor="ctr"/>
              <a:lstStyle/>
              <a:p>
                <a:endParaRPr lang="en-GB" sz="800" noProof="0" dirty="0"/>
              </a:p>
            </p:txBody>
          </p:sp>
          <p:grpSp>
            <p:nvGrpSpPr>
              <p:cNvPr id="4143" name="Graphic 21" descr="Graph and note paper pads with pencil">
                <a:extLst>
                  <a:ext uri="{FF2B5EF4-FFF2-40B4-BE49-F238E27FC236}">
                    <a16:creationId xmlns:a16="http://schemas.microsoft.com/office/drawing/2014/main" id="{6C861370-EBC7-125E-0307-620D86233EB8}"/>
                  </a:ext>
                </a:extLst>
              </p:cNvPr>
              <p:cNvGrpSpPr/>
              <p:nvPr/>
            </p:nvGrpSpPr>
            <p:grpSpPr>
              <a:xfrm>
                <a:off x="6253871" y="6407485"/>
                <a:ext cx="2152059" cy="3223621"/>
                <a:chOff x="6253871" y="6407485"/>
                <a:chExt cx="2152059" cy="3223621"/>
              </a:xfrm>
            </p:grpSpPr>
            <p:sp>
              <p:nvSpPr>
                <p:cNvPr id="4144" name="Freeform: Shape 4143">
                  <a:extLst>
                    <a:ext uri="{FF2B5EF4-FFF2-40B4-BE49-F238E27FC236}">
                      <a16:creationId xmlns:a16="http://schemas.microsoft.com/office/drawing/2014/main" id="{09CC67E2-013B-B43A-C961-962485AC9FD0}"/>
                    </a:ext>
                  </a:extLst>
                </p:cNvPr>
                <p:cNvSpPr/>
                <p:nvPr/>
              </p:nvSpPr>
              <p:spPr>
                <a:xfrm>
                  <a:off x="6258329" y="6411952"/>
                  <a:ext cx="2143125" cy="3214687"/>
                </a:xfrm>
                <a:custGeom>
                  <a:avLst/>
                  <a:gdLst>
                    <a:gd name="connsiteX0" fmla="*/ 0 w 2143125"/>
                    <a:gd name="connsiteY0" fmla="*/ 0 h 3214687"/>
                    <a:gd name="connsiteX1" fmla="*/ 2143125 w 2143125"/>
                    <a:gd name="connsiteY1" fmla="*/ 0 h 3214687"/>
                    <a:gd name="connsiteX2" fmla="*/ 2143125 w 2143125"/>
                    <a:gd name="connsiteY2" fmla="*/ 3214688 h 3214687"/>
                    <a:gd name="connsiteX3" fmla="*/ 0 w 2143125"/>
                    <a:gd name="connsiteY3" fmla="*/ 3214688 h 3214687"/>
                  </a:gdLst>
                  <a:ahLst/>
                  <a:cxnLst>
                    <a:cxn ang="0">
                      <a:pos x="connsiteX0" y="connsiteY0"/>
                    </a:cxn>
                    <a:cxn ang="0">
                      <a:pos x="connsiteX1" y="connsiteY1"/>
                    </a:cxn>
                    <a:cxn ang="0">
                      <a:pos x="connsiteX2" y="connsiteY2"/>
                    </a:cxn>
                    <a:cxn ang="0">
                      <a:pos x="connsiteX3" y="connsiteY3"/>
                    </a:cxn>
                  </a:cxnLst>
                  <a:rect l="l" t="t" r="r" b="b"/>
                  <a:pathLst>
                    <a:path w="2143125" h="3214687">
                      <a:moveTo>
                        <a:pt x="0" y="0"/>
                      </a:moveTo>
                      <a:lnTo>
                        <a:pt x="2143125" y="0"/>
                      </a:lnTo>
                      <a:lnTo>
                        <a:pt x="2143125" y="3214688"/>
                      </a:lnTo>
                      <a:lnTo>
                        <a:pt x="0" y="3214688"/>
                      </a:lnTo>
                      <a:close/>
                    </a:path>
                  </a:pathLst>
                </a:custGeom>
                <a:solidFill>
                  <a:schemeClr val="bg1">
                    <a:lumMod val="95000"/>
                  </a:schemeClr>
                </a:solidFill>
                <a:ln w="9525" cap="flat">
                  <a:noFill/>
                  <a:prstDash val="solid"/>
                  <a:miter/>
                </a:ln>
              </p:spPr>
              <p:txBody>
                <a:bodyPr rtlCol="0" anchor="ctr"/>
                <a:lstStyle/>
                <a:p>
                  <a:endParaRPr lang="en-GB" sz="800" noProof="0" dirty="0"/>
                </a:p>
              </p:txBody>
            </p:sp>
            <p:sp>
              <p:nvSpPr>
                <p:cNvPr id="4145" name="Freeform: Shape 4144">
                  <a:extLst>
                    <a:ext uri="{FF2B5EF4-FFF2-40B4-BE49-F238E27FC236}">
                      <a16:creationId xmlns:a16="http://schemas.microsoft.com/office/drawing/2014/main" id="{F1C60E3E-80F7-8093-7F5B-4C88102E6BD6}"/>
                    </a:ext>
                  </a:extLst>
                </p:cNvPr>
                <p:cNvSpPr/>
                <p:nvPr/>
              </p:nvSpPr>
              <p:spPr>
                <a:xfrm>
                  <a:off x="6253871" y="6407485"/>
                  <a:ext cx="2152059" cy="3223621"/>
                </a:xfrm>
                <a:custGeom>
                  <a:avLst/>
                  <a:gdLst>
                    <a:gd name="connsiteX0" fmla="*/ 2152050 w 2152059"/>
                    <a:gd name="connsiteY0" fmla="*/ 3223622 h 3223621"/>
                    <a:gd name="connsiteX1" fmla="*/ 0 w 2152059"/>
                    <a:gd name="connsiteY1" fmla="*/ 3223622 h 3223621"/>
                    <a:gd name="connsiteX2" fmla="*/ 0 w 2152059"/>
                    <a:gd name="connsiteY2" fmla="*/ 0 h 3223621"/>
                    <a:gd name="connsiteX3" fmla="*/ 2152060 w 2152059"/>
                    <a:gd name="connsiteY3" fmla="*/ 0 h 3223621"/>
                    <a:gd name="connsiteX4" fmla="*/ 2152060 w 2152059"/>
                    <a:gd name="connsiteY4" fmla="*/ 3223622 h 3223621"/>
                    <a:gd name="connsiteX5" fmla="*/ 8925 w 2152059"/>
                    <a:gd name="connsiteY5" fmla="*/ 3214688 h 3223621"/>
                    <a:gd name="connsiteX6" fmla="*/ 2143125 w 2152059"/>
                    <a:gd name="connsiteY6" fmla="*/ 3214688 h 3223621"/>
                    <a:gd name="connsiteX7" fmla="*/ 2143125 w 2152059"/>
                    <a:gd name="connsiteY7" fmla="*/ 8934 h 3223621"/>
                    <a:gd name="connsiteX8" fmla="*/ 8934 w 2152059"/>
                    <a:gd name="connsiteY8" fmla="*/ 8934 h 3223621"/>
                    <a:gd name="connsiteX9" fmla="*/ 8925 w 2152059"/>
                    <a:gd name="connsiteY9" fmla="*/ 3214688 h 3223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2059" h="3223621">
                      <a:moveTo>
                        <a:pt x="2152050" y="3223622"/>
                      </a:moveTo>
                      <a:lnTo>
                        <a:pt x="0" y="3223622"/>
                      </a:lnTo>
                      <a:lnTo>
                        <a:pt x="0" y="0"/>
                      </a:lnTo>
                      <a:lnTo>
                        <a:pt x="2152060" y="0"/>
                      </a:lnTo>
                      <a:lnTo>
                        <a:pt x="2152060" y="3223622"/>
                      </a:lnTo>
                      <a:close/>
                      <a:moveTo>
                        <a:pt x="8925" y="3214688"/>
                      </a:moveTo>
                      <a:lnTo>
                        <a:pt x="2143125" y="3214688"/>
                      </a:lnTo>
                      <a:lnTo>
                        <a:pt x="2143125" y="8934"/>
                      </a:lnTo>
                      <a:lnTo>
                        <a:pt x="8934" y="8934"/>
                      </a:lnTo>
                      <a:lnTo>
                        <a:pt x="8925" y="3214688"/>
                      </a:lnTo>
                      <a:close/>
                    </a:path>
                  </a:pathLst>
                </a:custGeom>
                <a:solidFill>
                  <a:srgbClr val="F2F2F2"/>
                </a:solidFill>
                <a:ln w="9525" cap="flat">
                  <a:noFill/>
                  <a:prstDash val="solid"/>
                  <a:miter/>
                </a:ln>
              </p:spPr>
              <p:txBody>
                <a:bodyPr rtlCol="0" anchor="ctr"/>
                <a:lstStyle/>
                <a:p>
                  <a:endParaRPr lang="en-GB" sz="800" noProof="0" dirty="0"/>
                </a:p>
              </p:txBody>
            </p:sp>
            <p:sp>
              <p:nvSpPr>
                <p:cNvPr id="4146" name="Freeform: Shape 4145">
                  <a:extLst>
                    <a:ext uri="{FF2B5EF4-FFF2-40B4-BE49-F238E27FC236}">
                      <a16:creationId xmlns:a16="http://schemas.microsoft.com/office/drawing/2014/main" id="{E8DBFF24-7BAD-E0E4-FFBF-F0C91147E9D4}"/>
                    </a:ext>
                  </a:extLst>
                </p:cNvPr>
                <p:cNvSpPr/>
                <p:nvPr/>
              </p:nvSpPr>
              <p:spPr>
                <a:xfrm>
                  <a:off x="6432465" y="6943275"/>
                  <a:ext cx="1830590" cy="2366371"/>
                </a:xfrm>
                <a:custGeom>
                  <a:avLst/>
                  <a:gdLst>
                    <a:gd name="connsiteX0" fmla="*/ 0 w 1830590"/>
                    <a:gd name="connsiteY0" fmla="*/ 0 h 2366371"/>
                    <a:gd name="connsiteX1" fmla="*/ 0 w 1830590"/>
                    <a:gd name="connsiteY1" fmla="*/ 2366372 h 2366371"/>
                    <a:gd name="connsiteX2" fmla="*/ 1830591 w 1830590"/>
                    <a:gd name="connsiteY2" fmla="*/ 2366372 h 2366371"/>
                    <a:gd name="connsiteX3" fmla="*/ 1830591 w 1830590"/>
                    <a:gd name="connsiteY3" fmla="*/ 0 h 2366371"/>
                    <a:gd name="connsiteX4" fmla="*/ 0 w 1830590"/>
                    <a:gd name="connsiteY4" fmla="*/ 0 h 2366371"/>
                    <a:gd name="connsiteX5" fmla="*/ 867480 w 1830590"/>
                    <a:gd name="connsiteY5" fmla="*/ 1500187 h 2366371"/>
                    <a:gd name="connsiteX6" fmla="*/ 867480 w 1830590"/>
                    <a:gd name="connsiteY6" fmla="*/ 1401956 h 2366371"/>
                    <a:gd name="connsiteX7" fmla="*/ 965711 w 1830590"/>
                    <a:gd name="connsiteY7" fmla="*/ 1401956 h 2366371"/>
                    <a:gd name="connsiteX8" fmla="*/ 965711 w 1830590"/>
                    <a:gd name="connsiteY8" fmla="*/ 1500187 h 2366371"/>
                    <a:gd name="connsiteX9" fmla="*/ 867480 w 1830590"/>
                    <a:gd name="connsiteY9" fmla="*/ 1500187 h 2366371"/>
                    <a:gd name="connsiteX10" fmla="*/ 965702 w 1830590"/>
                    <a:gd name="connsiteY10" fmla="*/ 1509112 h 2366371"/>
                    <a:gd name="connsiteX11" fmla="*/ 965702 w 1830590"/>
                    <a:gd name="connsiteY11" fmla="*/ 1607344 h 2366371"/>
                    <a:gd name="connsiteX12" fmla="*/ 867470 w 1830590"/>
                    <a:gd name="connsiteY12" fmla="*/ 1607344 h 2366371"/>
                    <a:gd name="connsiteX13" fmla="*/ 867470 w 1830590"/>
                    <a:gd name="connsiteY13" fmla="*/ 1509112 h 2366371"/>
                    <a:gd name="connsiteX14" fmla="*/ 965702 w 1830590"/>
                    <a:gd name="connsiteY14" fmla="*/ 1509112 h 2366371"/>
                    <a:gd name="connsiteX15" fmla="*/ 965702 w 1830590"/>
                    <a:gd name="connsiteY15" fmla="*/ 866175 h 2366371"/>
                    <a:gd name="connsiteX16" fmla="*/ 965702 w 1830590"/>
                    <a:gd name="connsiteY16" fmla="*/ 964406 h 2366371"/>
                    <a:gd name="connsiteX17" fmla="*/ 867470 w 1830590"/>
                    <a:gd name="connsiteY17" fmla="*/ 964406 h 2366371"/>
                    <a:gd name="connsiteX18" fmla="*/ 867470 w 1830590"/>
                    <a:gd name="connsiteY18" fmla="*/ 866175 h 2366371"/>
                    <a:gd name="connsiteX19" fmla="*/ 965702 w 1830590"/>
                    <a:gd name="connsiteY19" fmla="*/ 866175 h 2366371"/>
                    <a:gd name="connsiteX20" fmla="*/ 867480 w 1830590"/>
                    <a:gd name="connsiteY20" fmla="*/ 857250 h 2366371"/>
                    <a:gd name="connsiteX21" fmla="*/ 867480 w 1830590"/>
                    <a:gd name="connsiteY21" fmla="*/ 759019 h 2366371"/>
                    <a:gd name="connsiteX22" fmla="*/ 965711 w 1830590"/>
                    <a:gd name="connsiteY22" fmla="*/ 759019 h 2366371"/>
                    <a:gd name="connsiteX23" fmla="*/ 965711 w 1830590"/>
                    <a:gd name="connsiteY23" fmla="*/ 857250 h 2366371"/>
                    <a:gd name="connsiteX24" fmla="*/ 867480 w 1830590"/>
                    <a:gd name="connsiteY24" fmla="*/ 857250 h 2366371"/>
                    <a:gd name="connsiteX25" fmla="*/ 867480 w 1830590"/>
                    <a:gd name="connsiteY25" fmla="*/ 1285875 h 2366371"/>
                    <a:gd name="connsiteX26" fmla="*/ 867480 w 1830590"/>
                    <a:gd name="connsiteY26" fmla="*/ 1187644 h 2366371"/>
                    <a:gd name="connsiteX27" fmla="*/ 965711 w 1830590"/>
                    <a:gd name="connsiteY27" fmla="*/ 1187644 h 2366371"/>
                    <a:gd name="connsiteX28" fmla="*/ 965711 w 1830590"/>
                    <a:gd name="connsiteY28" fmla="*/ 1285875 h 2366371"/>
                    <a:gd name="connsiteX29" fmla="*/ 867480 w 1830590"/>
                    <a:gd name="connsiteY29" fmla="*/ 1285875 h 2366371"/>
                    <a:gd name="connsiteX30" fmla="*/ 965702 w 1830590"/>
                    <a:gd name="connsiteY30" fmla="*/ 1294800 h 2366371"/>
                    <a:gd name="connsiteX31" fmla="*/ 965702 w 1830590"/>
                    <a:gd name="connsiteY31" fmla="*/ 1393031 h 2366371"/>
                    <a:gd name="connsiteX32" fmla="*/ 867470 w 1830590"/>
                    <a:gd name="connsiteY32" fmla="*/ 1393031 h 2366371"/>
                    <a:gd name="connsiteX33" fmla="*/ 867470 w 1830590"/>
                    <a:gd name="connsiteY33" fmla="*/ 1294800 h 2366371"/>
                    <a:gd name="connsiteX34" fmla="*/ 965702 w 1830590"/>
                    <a:gd name="connsiteY34" fmla="*/ 1294800 h 2366371"/>
                    <a:gd name="connsiteX35" fmla="*/ 867480 w 1830590"/>
                    <a:gd name="connsiteY35" fmla="*/ 1178719 h 2366371"/>
                    <a:gd name="connsiteX36" fmla="*/ 867480 w 1830590"/>
                    <a:gd name="connsiteY36" fmla="*/ 1080487 h 2366371"/>
                    <a:gd name="connsiteX37" fmla="*/ 965711 w 1830590"/>
                    <a:gd name="connsiteY37" fmla="*/ 1080487 h 2366371"/>
                    <a:gd name="connsiteX38" fmla="*/ 965711 w 1830590"/>
                    <a:gd name="connsiteY38" fmla="*/ 1178719 h 2366371"/>
                    <a:gd name="connsiteX39" fmla="*/ 867480 w 1830590"/>
                    <a:gd name="connsiteY39" fmla="*/ 1178719 h 2366371"/>
                    <a:gd name="connsiteX40" fmla="*/ 867480 w 1830590"/>
                    <a:gd name="connsiteY40" fmla="*/ 1071562 h 2366371"/>
                    <a:gd name="connsiteX41" fmla="*/ 867480 w 1830590"/>
                    <a:gd name="connsiteY41" fmla="*/ 973331 h 2366371"/>
                    <a:gd name="connsiteX42" fmla="*/ 965711 w 1830590"/>
                    <a:gd name="connsiteY42" fmla="*/ 973331 h 2366371"/>
                    <a:gd name="connsiteX43" fmla="*/ 965711 w 1830590"/>
                    <a:gd name="connsiteY43" fmla="*/ 1071562 h 2366371"/>
                    <a:gd name="connsiteX44" fmla="*/ 867480 w 1830590"/>
                    <a:gd name="connsiteY44" fmla="*/ 1071562 h 2366371"/>
                    <a:gd name="connsiteX45" fmla="*/ 858546 w 1830590"/>
                    <a:gd name="connsiteY45" fmla="*/ 964406 h 2366371"/>
                    <a:gd name="connsiteX46" fmla="*/ 760314 w 1830590"/>
                    <a:gd name="connsiteY46" fmla="*/ 964406 h 2366371"/>
                    <a:gd name="connsiteX47" fmla="*/ 760314 w 1830590"/>
                    <a:gd name="connsiteY47" fmla="*/ 866175 h 2366371"/>
                    <a:gd name="connsiteX48" fmla="*/ 858546 w 1830590"/>
                    <a:gd name="connsiteY48" fmla="*/ 866175 h 2366371"/>
                    <a:gd name="connsiteX49" fmla="*/ 858546 w 1830590"/>
                    <a:gd name="connsiteY49" fmla="*/ 964406 h 2366371"/>
                    <a:gd name="connsiteX50" fmla="*/ 858546 w 1830590"/>
                    <a:gd name="connsiteY50" fmla="*/ 973331 h 2366371"/>
                    <a:gd name="connsiteX51" fmla="*/ 858546 w 1830590"/>
                    <a:gd name="connsiteY51" fmla="*/ 1071562 h 2366371"/>
                    <a:gd name="connsiteX52" fmla="*/ 760314 w 1830590"/>
                    <a:gd name="connsiteY52" fmla="*/ 1071562 h 2366371"/>
                    <a:gd name="connsiteX53" fmla="*/ 760314 w 1830590"/>
                    <a:gd name="connsiteY53" fmla="*/ 973331 h 2366371"/>
                    <a:gd name="connsiteX54" fmla="*/ 858546 w 1830590"/>
                    <a:gd name="connsiteY54" fmla="*/ 973331 h 2366371"/>
                    <a:gd name="connsiteX55" fmla="*/ 858546 w 1830590"/>
                    <a:gd name="connsiteY55" fmla="*/ 1080487 h 2366371"/>
                    <a:gd name="connsiteX56" fmla="*/ 858546 w 1830590"/>
                    <a:gd name="connsiteY56" fmla="*/ 1178719 h 2366371"/>
                    <a:gd name="connsiteX57" fmla="*/ 760314 w 1830590"/>
                    <a:gd name="connsiteY57" fmla="*/ 1178719 h 2366371"/>
                    <a:gd name="connsiteX58" fmla="*/ 760314 w 1830590"/>
                    <a:gd name="connsiteY58" fmla="*/ 1080487 h 2366371"/>
                    <a:gd name="connsiteX59" fmla="*/ 858546 w 1830590"/>
                    <a:gd name="connsiteY59" fmla="*/ 1080487 h 2366371"/>
                    <a:gd name="connsiteX60" fmla="*/ 858546 w 1830590"/>
                    <a:gd name="connsiteY60" fmla="*/ 1187644 h 2366371"/>
                    <a:gd name="connsiteX61" fmla="*/ 858546 w 1830590"/>
                    <a:gd name="connsiteY61" fmla="*/ 1285875 h 2366371"/>
                    <a:gd name="connsiteX62" fmla="*/ 760314 w 1830590"/>
                    <a:gd name="connsiteY62" fmla="*/ 1285875 h 2366371"/>
                    <a:gd name="connsiteX63" fmla="*/ 760314 w 1830590"/>
                    <a:gd name="connsiteY63" fmla="*/ 1187644 h 2366371"/>
                    <a:gd name="connsiteX64" fmla="*/ 858546 w 1830590"/>
                    <a:gd name="connsiteY64" fmla="*/ 1187644 h 2366371"/>
                    <a:gd name="connsiteX65" fmla="*/ 858546 w 1830590"/>
                    <a:gd name="connsiteY65" fmla="*/ 1294800 h 2366371"/>
                    <a:gd name="connsiteX66" fmla="*/ 858546 w 1830590"/>
                    <a:gd name="connsiteY66" fmla="*/ 1393031 h 2366371"/>
                    <a:gd name="connsiteX67" fmla="*/ 760314 w 1830590"/>
                    <a:gd name="connsiteY67" fmla="*/ 1393031 h 2366371"/>
                    <a:gd name="connsiteX68" fmla="*/ 760314 w 1830590"/>
                    <a:gd name="connsiteY68" fmla="*/ 1294800 h 2366371"/>
                    <a:gd name="connsiteX69" fmla="*/ 858546 w 1830590"/>
                    <a:gd name="connsiteY69" fmla="*/ 1294800 h 2366371"/>
                    <a:gd name="connsiteX70" fmla="*/ 858546 w 1830590"/>
                    <a:gd name="connsiteY70" fmla="*/ 1401956 h 2366371"/>
                    <a:gd name="connsiteX71" fmla="*/ 858546 w 1830590"/>
                    <a:gd name="connsiteY71" fmla="*/ 1500187 h 2366371"/>
                    <a:gd name="connsiteX72" fmla="*/ 760314 w 1830590"/>
                    <a:gd name="connsiteY72" fmla="*/ 1500187 h 2366371"/>
                    <a:gd name="connsiteX73" fmla="*/ 760314 w 1830590"/>
                    <a:gd name="connsiteY73" fmla="*/ 1401956 h 2366371"/>
                    <a:gd name="connsiteX74" fmla="*/ 858546 w 1830590"/>
                    <a:gd name="connsiteY74" fmla="*/ 1401956 h 2366371"/>
                    <a:gd name="connsiteX75" fmla="*/ 974636 w 1830590"/>
                    <a:gd name="connsiteY75" fmla="*/ 1401956 h 2366371"/>
                    <a:gd name="connsiteX76" fmla="*/ 1072867 w 1830590"/>
                    <a:gd name="connsiteY76" fmla="*/ 1401956 h 2366371"/>
                    <a:gd name="connsiteX77" fmla="*/ 1072867 w 1830590"/>
                    <a:gd name="connsiteY77" fmla="*/ 1500187 h 2366371"/>
                    <a:gd name="connsiteX78" fmla="*/ 974636 w 1830590"/>
                    <a:gd name="connsiteY78" fmla="*/ 1500187 h 2366371"/>
                    <a:gd name="connsiteX79" fmla="*/ 974636 w 1830590"/>
                    <a:gd name="connsiteY79" fmla="*/ 1401956 h 2366371"/>
                    <a:gd name="connsiteX80" fmla="*/ 974636 w 1830590"/>
                    <a:gd name="connsiteY80" fmla="*/ 1393031 h 2366371"/>
                    <a:gd name="connsiteX81" fmla="*/ 974636 w 1830590"/>
                    <a:gd name="connsiteY81" fmla="*/ 1294800 h 2366371"/>
                    <a:gd name="connsiteX82" fmla="*/ 1072867 w 1830590"/>
                    <a:gd name="connsiteY82" fmla="*/ 1294800 h 2366371"/>
                    <a:gd name="connsiteX83" fmla="*/ 1072867 w 1830590"/>
                    <a:gd name="connsiteY83" fmla="*/ 1393031 h 2366371"/>
                    <a:gd name="connsiteX84" fmla="*/ 974636 w 1830590"/>
                    <a:gd name="connsiteY84" fmla="*/ 1393031 h 2366371"/>
                    <a:gd name="connsiteX85" fmla="*/ 974636 w 1830590"/>
                    <a:gd name="connsiteY85" fmla="*/ 1285875 h 2366371"/>
                    <a:gd name="connsiteX86" fmla="*/ 974636 w 1830590"/>
                    <a:gd name="connsiteY86" fmla="*/ 1187644 h 2366371"/>
                    <a:gd name="connsiteX87" fmla="*/ 1072867 w 1830590"/>
                    <a:gd name="connsiteY87" fmla="*/ 1187644 h 2366371"/>
                    <a:gd name="connsiteX88" fmla="*/ 1072867 w 1830590"/>
                    <a:gd name="connsiteY88" fmla="*/ 1285875 h 2366371"/>
                    <a:gd name="connsiteX89" fmla="*/ 974636 w 1830590"/>
                    <a:gd name="connsiteY89" fmla="*/ 1285875 h 2366371"/>
                    <a:gd name="connsiteX90" fmla="*/ 974636 w 1830590"/>
                    <a:gd name="connsiteY90" fmla="*/ 1178719 h 2366371"/>
                    <a:gd name="connsiteX91" fmla="*/ 974636 w 1830590"/>
                    <a:gd name="connsiteY91" fmla="*/ 1080487 h 2366371"/>
                    <a:gd name="connsiteX92" fmla="*/ 1072867 w 1830590"/>
                    <a:gd name="connsiteY92" fmla="*/ 1080487 h 2366371"/>
                    <a:gd name="connsiteX93" fmla="*/ 1072867 w 1830590"/>
                    <a:gd name="connsiteY93" fmla="*/ 1178719 h 2366371"/>
                    <a:gd name="connsiteX94" fmla="*/ 974636 w 1830590"/>
                    <a:gd name="connsiteY94" fmla="*/ 1178719 h 2366371"/>
                    <a:gd name="connsiteX95" fmla="*/ 974636 w 1830590"/>
                    <a:gd name="connsiteY95" fmla="*/ 1071562 h 2366371"/>
                    <a:gd name="connsiteX96" fmla="*/ 974636 w 1830590"/>
                    <a:gd name="connsiteY96" fmla="*/ 973331 h 2366371"/>
                    <a:gd name="connsiteX97" fmla="*/ 1072867 w 1830590"/>
                    <a:gd name="connsiteY97" fmla="*/ 973331 h 2366371"/>
                    <a:gd name="connsiteX98" fmla="*/ 1072867 w 1830590"/>
                    <a:gd name="connsiteY98" fmla="*/ 1071562 h 2366371"/>
                    <a:gd name="connsiteX99" fmla="*/ 974636 w 1830590"/>
                    <a:gd name="connsiteY99" fmla="*/ 1071562 h 2366371"/>
                    <a:gd name="connsiteX100" fmla="*/ 974636 w 1830590"/>
                    <a:gd name="connsiteY100" fmla="*/ 964406 h 2366371"/>
                    <a:gd name="connsiteX101" fmla="*/ 974636 w 1830590"/>
                    <a:gd name="connsiteY101" fmla="*/ 866175 h 2366371"/>
                    <a:gd name="connsiteX102" fmla="*/ 1072867 w 1830590"/>
                    <a:gd name="connsiteY102" fmla="*/ 866175 h 2366371"/>
                    <a:gd name="connsiteX103" fmla="*/ 1072867 w 1830590"/>
                    <a:gd name="connsiteY103" fmla="*/ 964406 h 2366371"/>
                    <a:gd name="connsiteX104" fmla="*/ 974636 w 1830590"/>
                    <a:gd name="connsiteY104" fmla="*/ 964406 h 2366371"/>
                    <a:gd name="connsiteX105" fmla="*/ 974636 w 1830590"/>
                    <a:gd name="connsiteY105" fmla="*/ 857250 h 2366371"/>
                    <a:gd name="connsiteX106" fmla="*/ 974636 w 1830590"/>
                    <a:gd name="connsiteY106" fmla="*/ 759019 h 2366371"/>
                    <a:gd name="connsiteX107" fmla="*/ 1072867 w 1830590"/>
                    <a:gd name="connsiteY107" fmla="*/ 759019 h 2366371"/>
                    <a:gd name="connsiteX108" fmla="*/ 1072867 w 1830590"/>
                    <a:gd name="connsiteY108" fmla="*/ 857250 h 2366371"/>
                    <a:gd name="connsiteX109" fmla="*/ 974636 w 1830590"/>
                    <a:gd name="connsiteY109" fmla="*/ 857250 h 2366371"/>
                    <a:gd name="connsiteX110" fmla="*/ 974636 w 1830590"/>
                    <a:gd name="connsiteY110" fmla="*/ 750094 h 2366371"/>
                    <a:gd name="connsiteX111" fmla="*/ 974636 w 1830590"/>
                    <a:gd name="connsiteY111" fmla="*/ 651862 h 2366371"/>
                    <a:gd name="connsiteX112" fmla="*/ 1072867 w 1830590"/>
                    <a:gd name="connsiteY112" fmla="*/ 651862 h 2366371"/>
                    <a:gd name="connsiteX113" fmla="*/ 1072867 w 1830590"/>
                    <a:gd name="connsiteY113" fmla="*/ 750094 h 2366371"/>
                    <a:gd name="connsiteX114" fmla="*/ 974636 w 1830590"/>
                    <a:gd name="connsiteY114" fmla="*/ 750094 h 2366371"/>
                    <a:gd name="connsiteX115" fmla="*/ 965702 w 1830590"/>
                    <a:gd name="connsiteY115" fmla="*/ 750094 h 2366371"/>
                    <a:gd name="connsiteX116" fmla="*/ 867470 w 1830590"/>
                    <a:gd name="connsiteY116" fmla="*/ 750094 h 2366371"/>
                    <a:gd name="connsiteX117" fmla="*/ 867470 w 1830590"/>
                    <a:gd name="connsiteY117" fmla="*/ 651862 h 2366371"/>
                    <a:gd name="connsiteX118" fmla="*/ 965702 w 1830590"/>
                    <a:gd name="connsiteY118" fmla="*/ 651862 h 2366371"/>
                    <a:gd name="connsiteX119" fmla="*/ 965702 w 1830590"/>
                    <a:gd name="connsiteY119" fmla="*/ 750094 h 2366371"/>
                    <a:gd name="connsiteX120" fmla="*/ 858546 w 1830590"/>
                    <a:gd name="connsiteY120" fmla="*/ 750094 h 2366371"/>
                    <a:gd name="connsiteX121" fmla="*/ 760314 w 1830590"/>
                    <a:gd name="connsiteY121" fmla="*/ 750094 h 2366371"/>
                    <a:gd name="connsiteX122" fmla="*/ 760314 w 1830590"/>
                    <a:gd name="connsiteY122" fmla="*/ 651862 h 2366371"/>
                    <a:gd name="connsiteX123" fmla="*/ 858546 w 1830590"/>
                    <a:gd name="connsiteY123" fmla="*/ 651862 h 2366371"/>
                    <a:gd name="connsiteX124" fmla="*/ 858546 w 1830590"/>
                    <a:gd name="connsiteY124" fmla="*/ 750094 h 2366371"/>
                    <a:gd name="connsiteX125" fmla="*/ 858546 w 1830590"/>
                    <a:gd name="connsiteY125" fmla="*/ 759019 h 2366371"/>
                    <a:gd name="connsiteX126" fmla="*/ 858546 w 1830590"/>
                    <a:gd name="connsiteY126" fmla="*/ 857250 h 2366371"/>
                    <a:gd name="connsiteX127" fmla="*/ 760314 w 1830590"/>
                    <a:gd name="connsiteY127" fmla="*/ 857250 h 2366371"/>
                    <a:gd name="connsiteX128" fmla="*/ 760314 w 1830590"/>
                    <a:gd name="connsiteY128" fmla="*/ 759019 h 2366371"/>
                    <a:gd name="connsiteX129" fmla="*/ 858546 w 1830590"/>
                    <a:gd name="connsiteY129" fmla="*/ 759019 h 2366371"/>
                    <a:gd name="connsiteX130" fmla="*/ 751389 w 1830590"/>
                    <a:gd name="connsiteY130" fmla="*/ 857250 h 2366371"/>
                    <a:gd name="connsiteX131" fmla="*/ 653158 w 1830590"/>
                    <a:gd name="connsiteY131" fmla="*/ 857250 h 2366371"/>
                    <a:gd name="connsiteX132" fmla="*/ 653158 w 1830590"/>
                    <a:gd name="connsiteY132" fmla="*/ 759019 h 2366371"/>
                    <a:gd name="connsiteX133" fmla="*/ 751389 w 1830590"/>
                    <a:gd name="connsiteY133" fmla="*/ 759019 h 2366371"/>
                    <a:gd name="connsiteX134" fmla="*/ 751389 w 1830590"/>
                    <a:gd name="connsiteY134" fmla="*/ 857250 h 2366371"/>
                    <a:gd name="connsiteX135" fmla="*/ 751389 w 1830590"/>
                    <a:gd name="connsiteY135" fmla="*/ 866175 h 2366371"/>
                    <a:gd name="connsiteX136" fmla="*/ 751389 w 1830590"/>
                    <a:gd name="connsiteY136" fmla="*/ 964406 h 2366371"/>
                    <a:gd name="connsiteX137" fmla="*/ 653158 w 1830590"/>
                    <a:gd name="connsiteY137" fmla="*/ 964406 h 2366371"/>
                    <a:gd name="connsiteX138" fmla="*/ 653158 w 1830590"/>
                    <a:gd name="connsiteY138" fmla="*/ 866175 h 2366371"/>
                    <a:gd name="connsiteX139" fmla="*/ 751389 w 1830590"/>
                    <a:gd name="connsiteY139" fmla="*/ 866175 h 2366371"/>
                    <a:gd name="connsiteX140" fmla="*/ 751389 w 1830590"/>
                    <a:gd name="connsiteY140" fmla="*/ 973331 h 2366371"/>
                    <a:gd name="connsiteX141" fmla="*/ 751389 w 1830590"/>
                    <a:gd name="connsiteY141" fmla="*/ 1071562 h 2366371"/>
                    <a:gd name="connsiteX142" fmla="*/ 653158 w 1830590"/>
                    <a:gd name="connsiteY142" fmla="*/ 1071562 h 2366371"/>
                    <a:gd name="connsiteX143" fmla="*/ 653158 w 1830590"/>
                    <a:gd name="connsiteY143" fmla="*/ 973331 h 2366371"/>
                    <a:gd name="connsiteX144" fmla="*/ 751389 w 1830590"/>
                    <a:gd name="connsiteY144" fmla="*/ 973331 h 2366371"/>
                    <a:gd name="connsiteX145" fmla="*/ 751389 w 1830590"/>
                    <a:gd name="connsiteY145" fmla="*/ 1080487 h 2366371"/>
                    <a:gd name="connsiteX146" fmla="*/ 751389 w 1830590"/>
                    <a:gd name="connsiteY146" fmla="*/ 1178719 h 2366371"/>
                    <a:gd name="connsiteX147" fmla="*/ 653158 w 1830590"/>
                    <a:gd name="connsiteY147" fmla="*/ 1178719 h 2366371"/>
                    <a:gd name="connsiteX148" fmla="*/ 653158 w 1830590"/>
                    <a:gd name="connsiteY148" fmla="*/ 1080487 h 2366371"/>
                    <a:gd name="connsiteX149" fmla="*/ 751389 w 1830590"/>
                    <a:gd name="connsiteY149" fmla="*/ 1080487 h 2366371"/>
                    <a:gd name="connsiteX150" fmla="*/ 751389 w 1830590"/>
                    <a:gd name="connsiteY150" fmla="*/ 1187644 h 2366371"/>
                    <a:gd name="connsiteX151" fmla="*/ 751389 w 1830590"/>
                    <a:gd name="connsiteY151" fmla="*/ 1285875 h 2366371"/>
                    <a:gd name="connsiteX152" fmla="*/ 653158 w 1830590"/>
                    <a:gd name="connsiteY152" fmla="*/ 1285875 h 2366371"/>
                    <a:gd name="connsiteX153" fmla="*/ 653158 w 1830590"/>
                    <a:gd name="connsiteY153" fmla="*/ 1187644 h 2366371"/>
                    <a:gd name="connsiteX154" fmla="*/ 751389 w 1830590"/>
                    <a:gd name="connsiteY154" fmla="*/ 1187644 h 2366371"/>
                    <a:gd name="connsiteX155" fmla="*/ 751389 w 1830590"/>
                    <a:gd name="connsiteY155" fmla="*/ 1294800 h 2366371"/>
                    <a:gd name="connsiteX156" fmla="*/ 751389 w 1830590"/>
                    <a:gd name="connsiteY156" fmla="*/ 1393031 h 2366371"/>
                    <a:gd name="connsiteX157" fmla="*/ 653158 w 1830590"/>
                    <a:gd name="connsiteY157" fmla="*/ 1393031 h 2366371"/>
                    <a:gd name="connsiteX158" fmla="*/ 653158 w 1830590"/>
                    <a:gd name="connsiteY158" fmla="*/ 1294800 h 2366371"/>
                    <a:gd name="connsiteX159" fmla="*/ 751389 w 1830590"/>
                    <a:gd name="connsiteY159" fmla="*/ 1294800 h 2366371"/>
                    <a:gd name="connsiteX160" fmla="*/ 751389 w 1830590"/>
                    <a:gd name="connsiteY160" fmla="*/ 1401956 h 2366371"/>
                    <a:gd name="connsiteX161" fmla="*/ 751389 w 1830590"/>
                    <a:gd name="connsiteY161" fmla="*/ 1500187 h 2366371"/>
                    <a:gd name="connsiteX162" fmla="*/ 653158 w 1830590"/>
                    <a:gd name="connsiteY162" fmla="*/ 1500187 h 2366371"/>
                    <a:gd name="connsiteX163" fmla="*/ 653158 w 1830590"/>
                    <a:gd name="connsiteY163" fmla="*/ 1401956 h 2366371"/>
                    <a:gd name="connsiteX164" fmla="*/ 751389 w 1830590"/>
                    <a:gd name="connsiteY164" fmla="*/ 1401956 h 2366371"/>
                    <a:gd name="connsiteX165" fmla="*/ 751389 w 1830590"/>
                    <a:gd name="connsiteY165" fmla="*/ 1509112 h 2366371"/>
                    <a:gd name="connsiteX166" fmla="*/ 751389 w 1830590"/>
                    <a:gd name="connsiteY166" fmla="*/ 1607344 h 2366371"/>
                    <a:gd name="connsiteX167" fmla="*/ 653158 w 1830590"/>
                    <a:gd name="connsiteY167" fmla="*/ 1607344 h 2366371"/>
                    <a:gd name="connsiteX168" fmla="*/ 653158 w 1830590"/>
                    <a:gd name="connsiteY168" fmla="*/ 1509112 h 2366371"/>
                    <a:gd name="connsiteX169" fmla="*/ 751389 w 1830590"/>
                    <a:gd name="connsiteY169" fmla="*/ 1509112 h 2366371"/>
                    <a:gd name="connsiteX170" fmla="*/ 760324 w 1830590"/>
                    <a:gd name="connsiteY170" fmla="*/ 1509112 h 2366371"/>
                    <a:gd name="connsiteX171" fmla="*/ 858555 w 1830590"/>
                    <a:gd name="connsiteY171" fmla="*/ 1509112 h 2366371"/>
                    <a:gd name="connsiteX172" fmla="*/ 858555 w 1830590"/>
                    <a:gd name="connsiteY172" fmla="*/ 1607344 h 2366371"/>
                    <a:gd name="connsiteX173" fmla="*/ 760324 w 1830590"/>
                    <a:gd name="connsiteY173" fmla="*/ 1607344 h 2366371"/>
                    <a:gd name="connsiteX174" fmla="*/ 760324 w 1830590"/>
                    <a:gd name="connsiteY174" fmla="*/ 1509112 h 2366371"/>
                    <a:gd name="connsiteX175" fmla="*/ 858546 w 1830590"/>
                    <a:gd name="connsiteY175" fmla="*/ 1616269 h 2366371"/>
                    <a:gd name="connsiteX176" fmla="*/ 858546 w 1830590"/>
                    <a:gd name="connsiteY176" fmla="*/ 1714500 h 2366371"/>
                    <a:gd name="connsiteX177" fmla="*/ 760314 w 1830590"/>
                    <a:gd name="connsiteY177" fmla="*/ 1714500 h 2366371"/>
                    <a:gd name="connsiteX178" fmla="*/ 760314 w 1830590"/>
                    <a:gd name="connsiteY178" fmla="*/ 1616269 h 2366371"/>
                    <a:gd name="connsiteX179" fmla="*/ 858546 w 1830590"/>
                    <a:gd name="connsiteY179" fmla="*/ 1616269 h 2366371"/>
                    <a:gd name="connsiteX180" fmla="*/ 867480 w 1830590"/>
                    <a:gd name="connsiteY180" fmla="*/ 1616269 h 2366371"/>
                    <a:gd name="connsiteX181" fmla="*/ 965711 w 1830590"/>
                    <a:gd name="connsiteY181" fmla="*/ 1616269 h 2366371"/>
                    <a:gd name="connsiteX182" fmla="*/ 965711 w 1830590"/>
                    <a:gd name="connsiteY182" fmla="*/ 1714500 h 2366371"/>
                    <a:gd name="connsiteX183" fmla="*/ 867480 w 1830590"/>
                    <a:gd name="connsiteY183" fmla="*/ 1714500 h 2366371"/>
                    <a:gd name="connsiteX184" fmla="*/ 867480 w 1830590"/>
                    <a:gd name="connsiteY184" fmla="*/ 1616269 h 2366371"/>
                    <a:gd name="connsiteX185" fmla="*/ 974636 w 1830590"/>
                    <a:gd name="connsiteY185" fmla="*/ 1616269 h 2366371"/>
                    <a:gd name="connsiteX186" fmla="*/ 1072867 w 1830590"/>
                    <a:gd name="connsiteY186" fmla="*/ 1616269 h 2366371"/>
                    <a:gd name="connsiteX187" fmla="*/ 1072867 w 1830590"/>
                    <a:gd name="connsiteY187" fmla="*/ 1714500 h 2366371"/>
                    <a:gd name="connsiteX188" fmla="*/ 974636 w 1830590"/>
                    <a:gd name="connsiteY188" fmla="*/ 1714500 h 2366371"/>
                    <a:gd name="connsiteX189" fmla="*/ 974636 w 1830590"/>
                    <a:gd name="connsiteY189" fmla="*/ 1616269 h 2366371"/>
                    <a:gd name="connsiteX190" fmla="*/ 974636 w 1830590"/>
                    <a:gd name="connsiteY190" fmla="*/ 1607344 h 2366371"/>
                    <a:gd name="connsiteX191" fmla="*/ 974636 w 1830590"/>
                    <a:gd name="connsiteY191" fmla="*/ 1509112 h 2366371"/>
                    <a:gd name="connsiteX192" fmla="*/ 1072867 w 1830590"/>
                    <a:gd name="connsiteY192" fmla="*/ 1509112 h 2366371"/>
                    <a:gd name="connsiteX193" fmla="*/ 1072867 w 1830590"/>
                    <a:gd name="connsiteY193" fmla="*/ 1607344 h 2366371"/>
                    <a:gd name="connsiteX194" fmla="*/ 974636 w 1830590"/>
                    <a:gd name="connsiteY194" fmla="*/ 1607344 h 2366371"/>
                    <a:gd name="connsiteX195" fmla="*/ 1081792 w 1830590"/>
                    <a:gd name="connsiteY195" fmla="*/ 1509112 h 2366371"/>
                    <a:gd name="connsiteX196" fmla="*/ 1180024 w 1830590"/>
                    <a:gd name="connsiteY196" fmla="*/ 1509112 h 2366371"/>
                    <a:gd name="connsiteX197" fmla="*/ 1180024 w 1830590"/>
                    <a:gd name="connsiteY197" fmla="*/ 1607344 h 2366371"/>
                    <a:gd name="connsiteX198" fmla="*/ 1081792 w 1830590"/>
                    <a:gd name="connsiteY198" fmla="*/ 1607344 h 2366371"/>
                    <a:gd name="connsiteX199" fmla="*/ 1081792 w 1830590"/>
                    <a:gd name="connsiteY199" fmla="*/ 1509112 h 2366371"/>
                    <a:gd name="connsiteX200" fmla="*/ 1081792 w 1830590"/>
                    <a:gd name="connsiteY200" fmla="*/ 1500187 h 2366371"/>
                    <a:gd name="connsiteX201" fmla="*/ 1081792 w 1830590"/>
                    <a:gd name="connsiteY201" fmla="*/ 1401956 h 2366371"/>
                    <a:gd name="connsiteX202" fmla="*/ 1180024 w 1830590"/>
                    <a:gd name="connsiteY202" fmla="*/ 1401956 h 2366371"/>
                    <a:gd name="connsiteX203" fmla="*/ 1180024 w 1830590"/>
                    <a:gd name="connsiteY203" fmla="*/ 1500187 h 2366371"/>
                    <a:gd name="connsiteX204" fmla="*/ 1081792 w 1830590"/>
                    <a:gd name="connsiteY204" fmla="*/ 1500187 h 2366371"/>
                    <a:gd name="connsiteX205" fmla="*/ 1081792 w 1830590"/>
                    <a:gd name="connsiteY205" fmla="*/ 1393031 h 2366371"/>
                    <a:gd name="connsiteX206" fmla="*/ 1081792 w 1830590"/>
                    <a:gd name="connsiteY206" fmla="*/ 1294800 h 2366371"/>
                    <a:gd name="connsiteX207" fmla="*/ 1180024 w 1830590"/>
                    <a:gd name="connsiteY207" fmla="*/ 1294800 h 2366371"/>
                    <a:gd name="connsiteX208" fmla="*/ 1180024 w 1830590"/>
                    <a:gd name="connsiteY208" fmla="*/ 1393031 h 2366371"/>
                    <a:gd name="connsiteX209" fmla="*/ 1081792 w 1830590"/>
                    <a:gd name="connsiteY209" fmla="*/ 1393031 h 2366371"/>
                    <a:gd name="connsiteX210" fmla="*/ 1081792 w 1830590"/>
                    <a:gd name="connsiteY210" fmla="*/ 1285875 h 2366371"/>
                    <a:gd name="connsiteX211" fmla="*/ 1081792 w 1830590"/>
                    <a:gd name="connsiteY211" fmla="*/ 1187644 h 2366371"/>
                    <a:gd name="connsiteX212" fmla="*/ 1180024 w 1830590"/>
                    <a:gd name="connsiteY212" fmla="*/ 1187644 h 2366371"/>
                    <a:gd name="connsiteX213" fmla="*/ 1180024 w 1830590"/>
                    <a:gd name="connsiteY213" fmla="*/ 1285875 h 2366371"/>
                    <a:gd name="connsiteX214" fmla="*/ 1081792 w 1830590"/>
                    <a:gd name="connsiteY214" fmla="*/ 1285875 h 2366371"/>
                    <a:gd name="connsiteX215" fmla="*/ 1081792 w 1830590"/>
                    <a:gd name="connsiteY215" fmla="*/ 1178719 h 2366371"/>
                    <a:gd name="connsiteX216" fmla="*/ 1081792 w 1830590"/>
                    <a:gd name="connsiteY216" fmla="*/ 1080487 h 2366371"/>
                    <a:gd name="connsiteX217" fmla="*/ 1180024 w 1830590"/>
                    <a:gd name="connsiteY217" fmla="*/ 1080487 h 2366371"/>
                    <a:gd name="connsiteX218" fmla="*/ 1180024 w 1830590"/>
                    <a:gd name="connsiteY218" fmla="*/ 1178719 h 2366371"/>
                    <a:gd name="connsiteX219" fmla="*/ 1081792 w 1830590"/>
                    <a:gd name="connsiteY219" fmla="*/ 1178719 h 2366371"/>
                    <a:gd name="connsiteX220" fmla="*/ 1081792 w 1830590"/>
                    <a:gd name="connsiteY220" fmla="*/ 1071562 h 2366371"/>
                    <a:gd name="connsiteX221" fmla="*/ 1081792 w 1830590"/>
                    <a:gd name="connsiteY221" fmla="*/ 973331 h 2366371"/>
                    <a:gd name="connsiteX222" fmla="*/ 1180024 w 1830590"/>
                    <a:gd name="connsiteY222" fmla="*/ 973331 h 2366371"/>
                    <a:gd name="connsiteX223" fmla="*/ 1180024 w 1830590"/>
                    <a:gd name="connsiteY223" fmla="*/ 1071562 h 2366371"/>
                    <a:gd name="connsiteX224" fmla="*/ 1081792 w 1830590"/>
                    <a:gd name="connsiteY224" fmla="*/ 1071562 h 2366371"/>
                    <a:gd name="connsiteX225" fmla="*/ 1081792 w 1830590"/>
                    <a:gd name="connsiteY225" fmla="*/ 964406 h 2366371"/>
                    <a:gd name="connsiteX226" fmla="*/ 1081792 w 1830590"/>
                    <a:gd name="connsiteY226" fmla="*/ 866175 h 2366371"/>
                    <a:gd name="connsiteX227" fmla="*/ 1180024 w 1830590"/>
                    <a:gd name="connsiteY227" fmla="*/ 866175 h 2366371"/>
                    <a:gd name="connsiteX228" fmla="*/ 1180024 w 1830590"/>
                    <a:gd name="connsiteY228" fmla="*/ 964406 h 2366371"/>
                    <a:gd name="connsiteX229" fmla="*/ 1081792 w 1830590"/>
                    <a:gd name="connsiteY229" fmla="*/ 964406 h 2366371"/>
                    <a:gd name="connsiteX230" fmla="*/ 1081792 w 1830590"/>
                    <a:gd name="connsiteY230" fmla="*/ 857250 h 2366371"/>
                    <a:gd name="connsiteX231" fmla="*/ 1081792 w 1830590"/>
                    <a:gd name="connsiteY231" fmla="*/ 759019 h 2366371"/>
                    <a:gd name="connsiteX232" fmla="*/ 1180024 w 1830590"/>
                    <a:gd name="connsiteY232" fmla="*/ 759019 h 2366371"/>
                    <a:gd name="connsiteX233" fmla="*/ 1180024 w 1830590"/>
                    <a:gd name="connsiteY233" fmla="*/ 857250 h 2366371"/>
                    <a:gd name="connsiteX234" fmla="*/ 1081792 w 1830590"/>
                    <a:gd name="connsiteY234" fmla="*/ 857250 h 2366371"/>
                    <a:gd name="connsiteX235" fmla="*/ 1081792 w 1830590"/>
                    <a:gd name="connsiteY235" fmla="*/ 750094 h 2366371"/>
                    <a:gd name="connsiteX236" fmla="*/ 1081792 w 1830590"/>
                    <a:gd name="connsiteY236" fmla="*/ 651862 h 2366371"/>
                    <a:gd name="connsiteX237" fmla="*/ 1180024 w 1830590"/>
                    <a:gd name="connsiteY237" fmla="*/ 651862 h 2366371"/>
                    <a:gd name="connsiteX238" fmla="*/ 1180024 w 1830590"/>
                    <a:gd name="connsiteY238" fmla="*/ 750094 h 2366371"/>
                    <a:gd name="connsiteX239" fmla="*/ 1081792 w 1830590"/>
                    <a:gd name="connsiteY239" fmla="*/ 750094 h 2366371"/>
                    <a:gd name="connsiteX240" fmla="*/ 1081792 w 1830590"/>
                    <a:gd name="connsiteY240" fmla="*/ 642938 h 2366371"/>
                    <a:gd name="connsiteX241" fmla="*/ 1081792 w 1830590"/>
                    <a:gd name="connsiteY241" fmla="*/ 544706 h 2366371"/>
                    <a:gd name="connsiteX242" fmla="*/ 1180024 w 1830590"/>
                    <a:gd name="connsiteY242" fmla="*/ 544706 h 2366371"/>
                    <a:gd name="connsiteX243" fmla="*/ 1180024 w 1830590"/>
                    <a:gd name="connsiteY243" fmla="*/ 642938 h 2366371"/>
                    <a:gd name="connsiteX244" fmla="*/ 1081792 w 1830590"/>
                    <a:gd name="connsiteY244" fmla="*/ 642938 h 2366371"/>
                    <a:gd name="connsiteX245" fmla="*/ 1072858 w 1830590"/>
                    <a:gd name="connsiteY245" fmla="*/ 642938 h 2366371"/>
                    <a:gd name="connsiteX246" fmla="*/ 974627 w 1830590"/>
                    <a:gd name="connsiteY246" fmla="*/ 642938 h 2366371"/>
                    <a:gd name="connsiteX247" fmla="*/ 974627 w 1830590"/>
                    <a:gd name="connsiteY247" fmla="*/ 544706 h 2366371"/>
                    <a:gd name="connsiteX248" fmla="*/ 1072858 w 1830590"/>
                    <a:gd name="connsiteY248" fmla="*/ 544706 h 2366371"/>
                    <a:gd name="connsiteX249" fmla="*/ 1072858 w 1830590"/>
                    <a:gd name="connsiteY249" fmla="*/ 642938 h 2366371"/>
                    <a:gd name="connsiteX250" fmla="*/ 965702 w 1830590"/>
                    <a:gd name="connsiteY250" fmla="*/ 642938 h 2366371"/>
                    <a:gd name="connsiteX251" fmla="*/ 867470 w 1830590"/>
                    <a:gd name="connsiteY251" fmla="*/ 642938 h 2366371"/>
                    <a:gd name="connsiteX252" fmla="*/ 867470 w 1830590"/>
                    <a:gd name="connsiteY252" fmla="*/ 544706 h 2366371"/>
                    <a:gd name="connsiteX253" fmla="*/ 965702 w 1830590"/>
                    <a:gd name="connsiteY253" fmla="*/ 544706 h 2366371"/>
                    <a:gd name="connsiteX254" fmla="*/ 965702 w 1830590"/>
                    <a:gd name="connsiteY254" fmla="*/ 642938 h 2366371"/>
                    <a:gd name="connsiteX255" fmla="*/ 858546 w 1830590"/>
                    <a:gd name="connsiteY255" fmla="*/ 642938 h 2366371"/>
                    <a:gd name="connsiteX256" fmla="*/ 760314 w 1830590"/>
                    <a:gd name="connsiteY256" fmla="*/ 642938 h 2366371"/>
                    <a:gd name="connsiteX257" fmla="*/ 760314 w 1830590"/>
                    <a:gd name="connsiteY257" fmla="*/ 544706 h 2366371"/>
                    <a:gd name="connsiteX258" fmla="*/ 858546 w 1830590"/>
                    <a:gd name="connsiteY258" fmla="*/ 544706 h 2366371"/>
                    <a:gd name="connsiteX259" fmla="*/ 858546 w 1830590"/>
                    <a:gd name="connsiteY259" fmla="*/ 642938 h 2366371"/>
                    <a:gd name="connsiteX260" fmla="*/ 751389 w 1830590"/>
                    <a:gd name="connsiteY260" fmla="*/ 642938 h 2366371"/>
                    <a:gd name="connsiteX261" fmla="*/ 653158 w 1830590"/>
                    <a:gd name="connsiteY261" fmla="*/ 642938 h 2366371"/>
                    <a:gd name="connsiteX262" fmla="*/ 653158 w 1830590"/>
                    <a:gd name="connsiteY262" fmla="*/ 544706 h 2366371"/>
                    <a:gd name="connsiteX263" fmla="*/ 751389 w 1830590"/>
                    <a:gd name="connsiteY263" fmla="*/ 544706 h 2366371"/>
                    <a:gd name="connsiteX264" fmla="*/ 751389 w 1830590"/>
                    <a:gd name="connsiteY264" fmla="*/ 642938 h 2366371"/>
                    <a:gd name="connsiteX265" fmla="*/ 751389 w 1830590"/>
                    <a:gd name="connsiteY265" fmla="*/ 651862 h 2366371"/>
                    <a:gd name="connsiteX266" fmla="*/ 751389 w 1830590"/>
                    <a:gd name="connsiteY266" fmla="*/ 750094 h 2366371"/>
                    <a:gd name="connsiteX267" fmla="*/ 653158 w 1830590"/>
                    <a:gd name="connsiteY267" fmla="*/ 750094 h 2366371"/>
                    <a:gd name="connsiteX268" fmla="*/ 653158 w 1830590"/>
                    <a:gd name="connsiteY268" fmla="*/ 651862 h 2366371"/>
                    <a:gd name="connsiteX269" fmla="*/ 751389 w 1830590"/>
                    <a:gd name="connsiteY269" fmla="*/ 651862 h 2366371"/>
                    <a:gd name="connsiteX270" fmla="*/ 644233 w 1830590"/>
                    <a:gd name="connsiteY270" fmla="*/ 750094 h 2366371"/>
                    <a:gd name="connsiteX271" fmla="*/ 546002 w 1830590"/>
                    <a:gd name="connsiteY271" fmla="*/ 750094 h 2366371"/>
                    <a:gd name="connsiteX272" fmla="*/ 546002 w 1830590"/>
                    <a:gd name="connsiteY272" fmla="*/ 651862 h 2366371"/>
                    <a:gd name="connsiteX273" fmla="*/ 644233 w 1830590"/>
                    <a:gd name="connsiteY273" fmla="*/ 651862 h 2366371"/>
                    <a:gd name="connsiteX274" fmla="*/ 644233 w 1830590"/>
                    <a:gd name="connsiteY274" fmla="*/ 750094 h 2366371"/>
                    <a:gd name="connsiteX275" fmla="*/ 644233 w 1830590"/>
                    <a:gd name="connsiteY275" fmla="*/ 759019 h 2366371"/>
                    <a:gd name="connsiteX276" fmla="*/ 644233 w 1830590"/>
                    <a:gd name="connsiteY276" fmla="*/ 857250 h 2366371"/>
                    <a:gd name="connsiteX277" fmla="*/ 546002 w 1830590"/>
                    <a:gd name="connsiteY277" fmla="*/ 857250 h 2366371"/>
                    <a:gd name="connsiteX278" fmla="*/ 546002 w 1830590"/>
                    <a:gd name="connsiteY278" fmla="*/ 759019 h 2366371"/>
                    <a:gd name="connsiteX279" fmla="*/ 644233 w 1830590"/>
                    <a:gd name="connsiteY279" fmla="*/ 759019 h 2366371"/>
                    <a:gd name="connsiteX280" fmla="*/ 644233 w 1830590"/>
                    <a:gd name="connsiteY280" fmla="*/ 866175 h 2366371"/>
                    <a:gd name="connsiteX281" fmla="*/ 644233 w 1830590"/>
                    <a:gd name="connsiteY281" fmla="*/ 964406 h 2366371"/>
                    <a:gd name="connsiteX282" fmla="*/ 546002 w 1830590"/>
                    <a:gd name="connsiteY282" fmla="*/ 964406 h 2366371"/>
                    <a:gd name="connsiteX283" fmla="*/ 546002 w 1830590"/>
                    <a:gd name="connsiteY283" fmla="*/ 866175 h 2366371"/>
                    <a:gd name="connsiteX284" fmla="*/ 644233 w 1830590"/>
                    <a:gd name="connsiteY284" fmla="*/ 866175 h 2366371"/>
                    <a:gd name="connsiteX285" fmla="*/ 644233 w 1830590"/>
                    <a:gd name="connsiteY285" fmla="*/ 973331 h 2366371"/>
                    <a:gd name="connsiteX286" fmla="*/ 644233 w 1830590"/>
                    <a:gd name="connsiteY286" fmla="*/ 1071562 h 2366371"/>
                    <a:gd name="connsiteX287" fmla="*/ 546002 w 1830590"/>
                    <a:gd name="connsiteY287" fmla="*/ 1071562 h 2366371"/>
                    <a:gd name="connsiteX288" fmla="*/ 546002 w 1830590"/>
                    <a:gd name="connsiteY288" fmla="*/ 973331 h 2366371"/>
                    <a:gd name="connsiteX289" fmla="*/ 644233 w 1830590"/>
                    <a:gd name="connsiteY289" fmla="*/ 973331 h 2366371"/>
                    <a:gd name="connsiteX290" fmla="*/ 644233 w 1830590"/>
                    <a:gd name="connsiteY290" fmla="*/ 1080487 h 2366371"/>
                    <a:gd name="connsiteX291" fmla="*/ 644233 w 1830590"/>
                    <a:gd name="connsiteY291" fmla="*/ 1178719 h 2366371"/>
                    <a:gd name="connsiteX292" fmla="*/ 546002 w 1830590"/>
                    <a:gd name="connsiteY292" fmla="*/ 1178719 h 2366371"/>
                    <a:gd name="connsiteX293" fmla="*/ 546002 w 1830590"/>
                    <a:gd name="connsiteY293" fmla="*/ 1080487 h 2366371"/>
                    <a:gd name="connsiteX294" fmla="*/ 644233 w 1830590"/>
                    <a:gd name="connsiteY294" fmla="*/ 1080487 h 2366371"/>
                    <a:gd name="connsiteX295" fmla="*/ 644233 w 1830590"/>
                    <a:gd name="connsiteY295" fmla="*/ 1187644 h 2366371"/>
                    <a:gd name="connsiteX296" fmla="*/ 644233 w 1830590"/>
                    <a:gd name="connsiteY296" fmla="*/ 1285875 h 2366371"/>
                    <a:gd name="connsiteX297" fmla="*/ 546002 w 1830590"/>
                    <a:gd name="connsiteY297" fmla="*/ 1285875 h 2366371"/>
                    <a:gd name="connsiteX298" fmla="*/ 546002 w 1830590"/>
                    <a:gd name="connsiteY298" fmla="*/ 1187644 h 2366371"/>
                    <a:gd name="connsiteX299" fmla="*/ 644233 w 1830590"/>
                    <a:gd name="connsiteY299" fmla="*/ 1187644 h 2366371"/>
                    <a:gd name="connsiteX300" fmla="*/ 644233 w 1830590"/>
                    <a:gd name="connsiteY300" fmla="*/ 1294800 h 2366371"/>
                    <a:gd name="connsiteX301" fmla="*/ 644233 w 1830590"/>
                    <a:gd name="connsiteY301" fmla="*/ 1393031 h 2366371"/>
                    <a:gd name="connsiteX302" fmla="*/ 546002 w 1830590"/>
                    <a:gd name="connsiteY302" fmla="*/ 1393031 h 2366371"/>
                    <a:gd name="connsiteX303" fmla="*/ 546002 w 1830590"/>
                    <a:gd name="connsiteY303" fmla="*/ 1294800 h 2366371"/>
                    <a:gd name="connsiteX304" fmla="*/ 644233 w 1830590"/>
                    <a:gd name="connsiteY304" fmla="*/ 1294800 h 2366371"/>
                    <a:gd name="connsiteX305" fmla="*/ 644233 w 1830590"/>
                    <a:gd name="connsiteY305" fmla="*/ 1401956 h 2366371"/>
                    <a:gd name="connsiteX306" fmla="*/ 644233 w 1830590"/>
                    <a:gd name="connsiteY306" fmla="*/ 1500187 h 2366371"/>
                    <a:gd name="connsiteX307" fmla="*/ 546002 w 1830590"/>
                    <a:gd name="connsiteY307" fmla="*/ 1500187 h 2366371"/>
                    <a:gd name="connsiteX308" fmla="*/ 546002 w 1830590"/>
                    <a:gd name="connsiteY308" fmla="*/ 1401956 h 2366371"/>
                    <a:gd name="connsiteX309" fmla="*/ 644233 w 1830590"/>
                    <a:gd name="connsiteY309" fmla="*/ 1401956 h 2366371"/>
                    <a:gd name="connsiteX310" fmla="*/ 644233 w 1830590"/>
                    <a:gd name="connsiteY310" fmla="*/ 1509112 h 2366371"/>
                    <a:gd name="connsiteX311" fmla="*/ 644233 w 1830590"/>
                    <a:gd name="connsiteY311" fmla="*/ 1607344 h 2366371"/>
                    <a:gd name="connsiteX312" fmla="*/ 546002 w 1830590"/>
                    <a:gd name="connsiteY312" fmla="*/ 1607344 h 2366371"/>
                    <a:gd name="connsiteX313" fmla="*/ 546002 w 1830590"/>
                    <a:gd name="connsiteY313" fmla="*/ 1509112 h 2366371"/>
                    <a:gd name="connsiteX314" fmla="*/ 644233 w 1830590"/>
                    <a:gd name="connsiteY314" fmla="*/ 1509112 h 2366371"/>
                    <a:gd name="connsiteX315" fmla="*/ 644233 w 1830590"/>
                    <a:gd name="connsiteY315" fmla="*/ 1616269 h 2366371"/>
                    <a:gd name="connsiteX316" fmla="*/ 644233 w 1830590"/>
                    <a:gd name="connsiteY316" fmla="*/ 1714500 h 2366371"/>
                    <a:gd name="connsiteX317" fmla="*/ 546002 w 1830590"/>
                    <a:gd name="connsiteY317" fmla="*/ 1714500 h 2366371"/>
                    <a:gd name="connsiteX318" fmla="*/ 546002 w 1830590"/>
                    <a:gd name="connsiteY318" fmla="*/ 1616269 h 2366371"/>
                    <a:gd name="connsiteX319" fmla="*/ 644233 w 1830590"/>
                    <a:gd name="connsiteY319" fmla="*/ 1616269 h 2366371"/>
                    <a:gd name="connsiteX320" fmla="*/ 653167 w 1830590"/>
                    <a:gd name="connsiteY320" fmla="*/ 1616269 h 2366371"/>
                    <a:gd name="connsiteX321" fmla="*/ 751399 w 1830590"/>
                    <a:gd name="connsiteY321" fmla="*/ 1616269 h 2366371"/>
                    <a:gd name="connsiteX322" fmla="*/ 751399 w 1830590"/>
                    <a:gd name="connsiteY322" fmla="*/ 1714500 h 2366371"/>
                    <a:gd name="connsiteX323" fmla="*/ 653167 w 1830590"/>
                    <a:gd name="connsiteY323" fmla="*/ 1714500 h 2366371"/>
                    <a:gd name="connsiteX324" fmla="*/ 653167 w 1830590"/>
                    <a:gd name="connsiteY324" fmla="*/ 1616269 h 2366371"/>
                    <a:gd name="connsiteX325" fmla="*/ 751389 w 1830590"/>
                    <a:gd name="connsiteY325" fmla="*/ 1723425 h 2366371"/>
                    <a:gd name="connsiteX326" fmla="*/ 751389 w 1830590"/>
                    <a:gd name="connsiteY326" fmla="*/ 1821656 h 2366371"/>
                    <a:gd name="connsiteX327" fmla="*/ 653158 w 1830590"/>
                    <a:gd name="connsiteY327" fmla="*/ 1821656 h 2366371"/>
                    <a:gd name="connsiteX328" fmla="*/ 653158 w 1830590"/>
                    <a:gd name="connsiteY328" fmla="*/ 1723425 h 2366371"/>
                    <a:gd name="connsiteX329" fmla="*/ 751389 w 1830590"/>
                    <a:gd name="connsiteY329" fmla="*/ 1723425 h 2366371"/>
                    <a:gd name="connsiteX330" fmla="*/ 760324 w 1830590"/>
                    <a:gd name="connsiteY330" fmla="*/ 1723425 h 2366371"/>
                    <a:gd name="connsiteX331" fmla="*/ 858555 w 1830590"/>
                    <a:gd name="connsiteY331" fmla="*/ 1723425 h 2366371"/>
                    <a:gd name="connsiteX332" fmla="*/ 858555 w 1830590"/>
                    <a:gd name="connsiteY332" fmla="*/ 1821656 h 2366371"/>
                    <a:gd name="connsiteX333" fmla="*/ 760324 w 1830590"/>
                    <a:gd name="connsiteY333" fmla="*/ 1821656 h 2366371"/>
                    <a:gd name="connsiteX334" fmla="*/ 760324 w 1830590"/>
                    <a:gd name="connsiteY334" fmla="*/ 1723425 h 2366371"/>
                    <a:gd name="connsiteX335" fmla="*/ 867480 w 1830590"/>
                    <a:gd name="connsiteY335" fmla="*/ 1723425 h 2366371"/>
                    <a:gd name="connsiteX336" fmla="*/ 965711 w 1830590"/>
                    <a:gd name="connsiteY336" fmla="*/ 1723425 h 2366371"/>
                    <a:gd name="connsiteX337" fmla="*/ 965711 w 1830590"/>
                    <a:gd name="connsiteY337" fmla="*/ 1821656 h 2366371"/>
                    <a:gd name="connsiteX338" fmla="*/ 867480 w 1830590"/>
                    <a:gd name="connsiteY338" fmla="*/ 1821656 h 2366371"/>
                    <a:gd name="connsiteX339" fmla="*/ 867480 w 1830590"/>
                    <a:gd name="connsiteY339" fmla="*/ 1723425 h 2366371"/>
                    <a:gd name="connsiteX340" fmla="*/ 974636 w 1830590"/>
                    <a:gd name="connsiteY340" fmla="*/ 1723425 h 2366371"/>
                    <a:gd name="connsiteX341" fmla="*/ 1072867 w 1830590"/>
                    <a:gd name="connsiteY341" fmla="*/ 1723425 h 2366371"/>
                    <a:gd name="connsiteX342" fmla="*/ 1072867 w 1830590"/>
                    <a:gd name="connsiteY342" fmla="*/ 1821656 h 2366371"/>
                    <a:gd name="connsiteX343" fmla="*/ 974636 w 1830590"/>
                    <a:gd name="connsiteY343" fmla="*/ 1821656 h 2366371"/>
                    <a:gd name="connsiteX344" fmla="*/ 974636 w 1830590"/>
                    <a:gd name="connsiteY344" fmla="*/ 1723425 h 2366371"/>
                    <a:gd name="connsiteX345" fmla="*/ 1081792 w 1830590"/>
                    <a:gd name="connsiteY345" fmla="*/ 1723425 h 2366371"/>
                    <a:gd name="connsiteX346" fmla="*/ 1180024 w 1830590"/>
                    <a:gd name="connsiteY346" fmla="*/ 1723425 h 2366371"/>
                    <a:gd name="connsiteX347" fmla="*/ 1180024 w 1830590"/>
                    <a:gd name="connsiteY347" fmla="*/ 1821656 h 2366371"/>
                    <a:gd name="connsiteX348" fmla="*/ 1081792 w 1830590"/>
                    <a:gd name="connsiteY348" fmla="*/ 1821656 h 2366371"/>
                    <a:gd name="connsiteX349" fmla="*/ 1081792 w 1830590"/>
                    <a:gd name="connsiteY349" fmla="*/ 1723425 h 2366371"/>
                    <a:gd name="connsiteX350" fmla="*/ 1081792 w 1830590"/>
                    <a:gd name="connsiteY350" fmla="*/ 1714500 h 2366371"/>
                    <a:gd name="connsiteX351" fmla="*/ 1081792 w 1830590"/>
                    <a:gd name="connsiteY351" fmla="*/ 1616269 h 2366371"/>
                    <a:gd name="connsiteX352" fmla="*/ 1180024 w 1830590"/>
                    <a:gd name="connsiteY352" fmla="*/ 1616269 h 2366371"/>
                    <a:gd name="connsiteX353" fmla="*/ 1180024 w 1830590"/>
                    <a:gd name="connsiteY353" fmla="*/ 1714500 h 2366371"/>
                    <a:gd name="connsiteX354" fmla="*/ 1081792 w 1830590"/>
                    <a:gd name="connsiteY354" fmla="*/ 1714500 h 2366371"/>
                    <a:gd name="connsiteX355" fmla="*/ 1188949 w 1830590"/>
                    <a:gd name="connsiteY355" fmla="*/ 1616269 h 2366371"/>
                    <a:gd name="connsiteX356" fmla="*/ 1287180 w 1830590"/>
                    <a:gd name="connsiteY356" fmla="*/ 1616269 h 2366371"/>
                    <a:gd name="connsiteX357" fmla="*/ 1287180 w 1830590"/>
                    <a:gd name="connsiteY357" fmla="*/ 1714500 h 2366371"/>
                    <a:gd name="connsiteX358" fmla="*/ 1188949 w 1830590"/>
                    <a:gd name="connsiteY358" fmla="*/ 1714500 h 2366371"/>
                    <a:gd name="connsiteX359" fmla="*/ 1188949 w 1830590"/>
                    <a:gd name="connsiteY359" fmla="*/ 1616269 h 2366371"/>
                    <a:gd name="connsiteX360" fmla="*/ 1188949 w 1830590"/>
                    <a:gd name="connsiteY360" fmla="*/ 1607344 h 2366371"/>
                    <a:gd name="connsiteX361" fmla="*/ 1188949 w 1830590"/>
                    <a:gd name="connsiteY361" fmla="*/ 1509112 h 2366371"/>
                    <a:gd name="connsiteX362" fmla="*/ 1287180 w 1830590"/>
                    <a:gd name="connsiteY362" fmla="*/ 1509112 h 2366371"/>
                    <a:gd name="connsiteX363" fmla="*/ 1287180 w 1830590"/>
                    <a:gd name="connsiteY363" fmla="*/ 1607344 h 2366371"/>
                    <a:gd name="connsiteX364" fmla="*/ 1188949 w 1830590"/>
                    <a:gd name="connsiteY364" fmla="*/ 1607344 h 2366371"/>
                    <a:gd name="connsiteX365" fmla="*/ 1188949 w 1830590"/>
                    <a:gd name="connsiteY365" fmla="*/ 1500187 h 2366371"/>
                    <a:gd name="connsiteX366" fmla="*/ 1188949 w 1830590"/>
                    <a:gd name="connsiteY366" fmla="*/ 1401956 h 2366371"/>
                    <a:gd name="connsiteX367" fmla="*/ 1287180 w 1830590"/>
                    <a:gd name="connsiteY367" fmla="*/ 1401956 h 2366371"/>
                    <a:gd name="connsiteX368" fmla="*/ 1287180 w 1830590"/>
                    <a:gd name="connsiteY368" fmla="*/ 1500187 h 2366371"/>
                    <a:gd name="connsiteX369" fmla="*/ 1188949 w 1830590"/>
                    <a:gd name="connsiteY369" fmla="*/ 1500187 h 2366371"/>
                    <a:gd name="connsiteX370" fmla="*/ 1188949 w 1830590"/>
                    <a:gd name="connsiteY370" fmla="*/ 1393031 h 2366371"/>
                    <a:gd name="connsiteX371" fmla="*/ 1188949 w 1830590"/>
                    <a:gd name="connsiteY371" fmla="*/ 1294800 h 2366371"/>
                    <a:gd name="connsiteX372" fmla="*/ 1287180 w 1830590"/>
                    <a:gd name="connsiteY372" fmla="*/ 1294800 h 2366371"/>
                    <a:gd name="connsiteX373" fmla="*/ 1287180 w 1830590"/>
                    <a:gd name="connsiteY373" fmla="*/ 1393031 h 2366371"/>
                    <a:gd name="connsiteX374" fmla="*/ 1188949 w 1830590"/>
                    <a:gd name="connsiteY374" fmla="*/ 1393031 h 2366371"/>
                    <a:gd name="connsiteX375" fmla="*/ 1188949 w 1830590"/>
                    <a:gd name="connsiteY375" fmla="*/ 1285875 h 2366371"/>
                    <a:gd name="connsiteX376" fmla="*/ 1188949 w 1830590"/>
                    <a:gd name="connsiteY376" fmla="*/ 1187644 h 2366371"/>
                    <a:gd name="connsiteX377" fmla="*/ 1287180 w 1830590"/>
                    <a:gd name="connsiteY377" fmla="*/ 1187644 h 2366371"/>
                    <a:gd name="connsiteX378" fmla="*/ 1287180 w 1830590"/>
                    <a:gd name="connsiteY378" fmla="*/ 1285875 h 2366371"/>
                    <a:gd name="connsiteX379" fmla="*/ 1188949 w 1830590"/>
                    <a:gd name="connsiteY379" fmla="*/ 1285875 h 2366371"/>
                    <a:gd name="connsiteX380" fmla="*/ 1188949 w 1830590"/>
                    <a:gd name="connsiteY380" fmla="*/ 1178719 h 2366371"/>
                    <a:gd name="connsiteX381" fmla="*/ 1188949 w 1830590"/>
                    <a:gd name="connsiteY381" fmla="*/ 1080487 h 2366371"/>
                    <a:gd name="connsiteX382" fmla="*/ 1287180 w 1830590"/>
                    <a:gd name="connsiteY382" fmla="*/ 1080487 h 2366371"/>
                    <a:gd name="connsiteX383" fmla="*/ 1287180 w 1830590"/>
                    <a:gd name="connsiteY383" fmla="*/ 1178719 h 2366371"/>
                    <a:gd name="connsiteX384" fmla="*/ 1188949 w 1830590"/>
                    <a:gd name="connsiteY384" fmla="*/ 1178719 h 2366371"/>
                    <a:gd name="connsiteX385" fmla="*/ 1188949 w 1830590"/>
                    <a:gd name="connsiteY385" fmla="*/ 1071562 h 2366371"/>
                    <a:gd name="connsiteX386" fmla="*/ 1188949 w 1830590"/>
                    <a:gd name="connsiteY386" fmla="*/ 973331 h 2366371"/>
                    <a:gd name="connsiteX387" fmla="*/ 1287180 w 1830590"/>
                    <a:gd name="connsiteY387" fmla="*/ 973331 h 2366371"/>
                    <a:gd name="connsiteX388" fmla="*/ 1287180 w 1830590"/>
                    <a:gd name="connsiteY388" fmla="*/ 1071562 h 2366371"/>
                    <a:gd name="connsiteX389" fmla="*/ 1188949 w 1830590"/>
                    <a:gd name="connsiteY389" fmla="*/ 1071562 h 2366371"/>
                    <a:gd name="connsiteX390" fmla="*/ 1188949 w 1830590"/>
                    <a:gd name="connsiteY390" fmla="*/ 964406 h 2366371"/>
                    <a:gd name="connsiteX391" fmla="*/ 1188949 w 1830590"/>
                    <a:gd name="connsiteY391" fmla="*/ 866175 h 2366371"/>
                    <a:gd name="connsiteX392" fmla="*/ 1287180 w 1830590"/>
                    <a:gd name="connsiteY392" fmla="*/ 866175 h 2366371"/>
                    <a:gd name="connsiteX393" fmla="*/ 1287180 w 1830590"/>
                    <a:gd name="connsiteY393" fmla="*/ 964406 h 2366371"/>
                    <a:gd name="connsiteX394" fmla="*/ 1188949 w 1830590"/>
                    <a:gd name="connsiteY394" fmla="*/ 964406 h 2366371"/>
                    <a:gd name="connsiteX395" fmla="*/ 1188949 w 1830590"/>
                    <a:gd name="connsiteY395" fmla="*/ 857250 h 2366371"/>
                    <a:gd name="connsiteX396" fmla="*/ 1188949 w 1830590"/>
                    <a:gd name="connsiteY396" fmla="*/ 759019 h 2366371"/>
                    <a:gd name="connsiteX397" fmla="*/ 1287180 w 1830590"/>
                    <a:gd name="connsiteY397" fmla="*/ 759019 h 2366371"/>
                    <a:gd name="connsiteX398" fmla="*/ 1287180 w 1830590"/>
                    <a:gd name="connsiteY398" fmla="*/ 857250 h 2366371"/>
                    <a:gd name="connsiteX399" fmla="*/ 1188949 w 1830590"/>
                    <a:gd name="connsiteY399" fmla="*/ 857250 h 2366371"/>
                    <a:gd name="connsiteX400" fmla="*/ 1188949 w 1830590"/>
                    <a:gd name="connsiteY400" fmla="*/ 750094 h 2366371"/>
                    <a:gd name="connsiteX401" fmla="*/ 1188949 w 1830590"/>
                    <a:gd name="connsiteY401" fmla="*/ 651862 h 2366371"/>
                    <a:gd name="connsiteX402" fmla="*/ 1287180 w 1830590"/>
                    <a:gd name="connsiteY402" fmla="*/ 651862 h 2366371"/>
                    <a:gd name="connsiteX403" fmla="*/ 1287180 w 1830590"/>
                    <a:gd name="connsiteY403" fmla="*/ 750094 h 2366371"/>
                    <a:gd name="connsiteX404" fmla="*/ 1188949 w 1830590"/>
                    <a:gd name="connsiteY404" fmla="*/ 750094 h 2366371"/>
                    <a:gd name="connsiteX405" fmla="*/ 1188949 w 1830590"/>
                    <a:gd name="connsiteY405" fmla="*/ 642938 h 2366371"/>
                    <a:gd name="connsiteX406" fmla="*/ 1188949 w 1830590"/>
                    <a:gd name="connsiteY406" fmla="*/ 544706 h 2366371"/>
                    <a:gd name="connsiteX407" fmla="*/ 1287180 w 1830590"/>
                    <a:gd name="connsiteY407" fmla="*/ 544706 h 2366371"/>
                    <a:gd name="connsiteX408" fmla="*/ 1287180 w 1830590"/>
                    <a:gd name="connsiteY408" fmla="*/ 642938 h 2366371"/>
                    <a:gd name="connsiteX409" fmla="*/ 1188949 w 1830590"/>
                    <a:gd name="connsiteY409" fmla="*/ 642938 h 2366371"/>
                    <a:gd name="connsiteX410" fmla="*/ 1188949 w 1830590"/>
                    <a:gd name="connsiteY410" fmla="*/ 535781 h 2366371"/>
                    <a:gd name="connsiteX411" fmla="*/ 1188949 w 1830590"/>
                    <a:gd name="connsiteY411" fmla="*/ 437550 h 2366371"/>
                    <a:gd name="connsiteX412" fmla="*/ 1287180 w 1830590"/>
                    <a:gd name="connsiteY412" fmla="*/ 437550 h 2366371"/>
                    <a:gd name="connsiteX413" fmla="*/ 1287180 w 1830590"/>
                    <a:gd name="connsiteY413" fmla="*/ 535781 h 2366371"/>
                    <a:gd name="connsiteX414" fmla="*/ 1188949 w 1830590"/>
                    <a:gd name="connsiteY414" fmla="*/ 535781 h 2366371"/>
                    <a:gd name="connsiteX415" fmla="*/ 1180014 w 1830590"/>
                    <a:gd name="connsiteY415" fmla="*/ 535781 h 2366371"/>
                    <a:gd name="connsiteX416" fmla="*/ 1081783 w 1830590"/>
                    <a:gd name="connsiteY416" fmla="*/ 535781 h 2366371"/>
                    <a:gd name="connsiteX417" fmla="*/ 1081783 w 1830590"/>
                    <a:gd name="connsiteY417" fmla="*/ 437550 h 2366371"/>
                    <a:gd name="connsiteX418" fmla="*/ 1180014 w 1830590"/>
                    <a:gd name="connsiteY418" fmla="*/ 437550 h 2366371"/>
                    <a:gd name="connsiteX419" fmla="*/ 1180014 w 1830590"/>
                    <a:gd name="connsiteY419" fmla="*/ 535781 h 2366371"/>
                    <a:gd name="connsiteX420" fmla="*/ 1072858 w 1830590"/>
                    <a:gd name="connsiteY420" fmla="*/ 535781 h 2366371"/>
                    <a:gd name="connsiteX421" fmla="*/ 974627 w 1830590"/>
                    <a:gd name="connsiteY421" fmla="*/ 535781 h 2366371"/>
                    <a:gd name="connsiteX422" fmla="*/ 974627 w 1830590"/>
                    <a:gd name="connsiteY422" fmla="*/ 437550 h 2366371"/>
                    <a:gd name="connsiteX423" fmla="*/ 1072858 w 1830590"/>
                    <a:gd name="connsiteY423" fmla="*/ 437550 h 2366371"/>
                    <a:gd name="connsiteX424" fmla="*/ 1072858 w 1830590"/>
                    <a:gd name="connsiteY424" fmla="*/ 535781 h 2366371"/>
                    <a:gd name="connsiteX425" fmla="*/ 965702 w 1830590"/>
                    <a:gd name="connsiteY425" fmla="*/ 535781 h 2366371"/>
                    <a:gd name="connsiteX426" fmla="*/ 867470 w 1830590"/>
                    <a:gd name="connsiteY426" fmla="*/ 535781 h 2366371"/>
                    <a:gd name="connsiteX427" fmla="*/ 867470 w 1830590"/>
                    <a:gd name="connsiteY427" fmla="*/ 437550 h 2366371"/>
                    <a:gd name="connsiteX428" fmla="*/ 965702 w 1830590"/>
                    <a:gd name="connsiteY428" fmla="*/ 437550 h 2366371"/>
                    <a:gd name="connsiteX429" fmla="*/ 965702 w 1830590"/>
                    <a:gd name="connsiteY429" fmla="*/ 535781 h 2366371"/>
                    <a:gd name="connsiteX430" fmla="*/ 858546 w 1830590"/>
                    <a:gd name="connsiteY430" fmla="*/ 535781 h 2366371"/>
                    <a:gd name="connsiteX431" fmla="*/ 760314 w 1830590"/>
                    <a:gd name="connsiteY431" fmla="*/ 535781 h 2366371"/>
                    <a:gd name="connsiteX432" fmla="*/ 760314 w 1830590"/>
                    <a:gd name="connsiteY432" fmla="*/ 437550 h 2366371"/>
                    <a:gd name="connsiteX433" fmla="*/ 858546 w 1830590"/>
                    <a:gd name="connsiteY433" fmla="*/ 437550 h 2366371"/>
                    <a:gd name="connsiteX434" fmla="*/ 858546 w 1830590"/>
                    <a:gd name="connsiteY434" fmla="*/ 535781 h 2366371"/>
                    <a:gd name="connsiteX435" fmla="*/ 751389 w 1830590"/>
                    <a:gd name="connsiteY435" fmla="*/ 535781 h 2366371"/>
                    <a:gd name="connsiteX436" fmla="*/ 653158 w 1830590"/>
                    <a:gd name="connsiteY436" fmla="*/ 535781 h 2366371"/>
                    <a:gd name="connsiteX437" fmla="*/ 653158 w 1830590"/>
                    <a:gd name="connsiteY437" fmla="*/ 437550 h 2366371"/>
                    <a:gd name="connsiteX438" fmla="*/ 751389 w 1830590"/>
                    <a:gd name="connsiteY438" fmla="*/ 437550 h 2366371"/>
                    <a:gd name="connsiteX439" fmla="*/ 751389 w 1830590"/>
                    <a:gd name="connsiteY439" fmla="*/ 535781 h 2366371"/>
                    <a:gd name="connsiteX440" fmla="*/ 644233 w 1830590"/>
                    <a:gd name="connsiteY440" fmla="*/ 535781 h 2366371"/>
                    <a:gd name="connsiteX441" fmla="*/ 546002 w 1830590"/>
                    <a:gd name="connsiteY441" fmla="*/ 535781 h 2366371"/>
                    <a:gd name="connsiteX442" fmla="*/ 546002 w 1830590"/>
                    <a:gd name="connsiteY442" fmla="*/ 437550 h 2366371"/>
                    <a:gd name="connsiteX443" fmla="*/ 644233 w 1830590"/>
                    <a:gd name="connsiteY443" fmla="*/ 437550 h 2366371"/>
                    <a:gd name="connsiteX444" fmla="*/ 644233 w 1830590"/>
                    <a:gd name="connsiteY444" fmla="*/ 535781 h 2366371"/>
                    <a:gd name="connsiteX445" fmla="*/ 644233 w 1830590"/>
                    <a:gd name="connsiteY445" fmla="*/ 544706 h 2366371"/>
                    <a:gd name="connsiteX446" fmla="*/ 644233 w 1830590"/>
                    <a:gd name="connsiteY446" fmla="*/ 642938 h 2366371"/>
                    <a:gd name="connsiteX447" fmla="*/ 546002 w 1830590"/>
                    <a:gd name="connsiteY447" fmla="*/ 642938 h 2366371"/>
                    <a:gd name="connsiteX448" fmla="*/ 546002 w 1830590"/>
                    <a:gd name="connsiteY448" fmla="*/ 544706 h 2366371"/>
                    <a:gd name="connsiteX449" fmla="*/ 644233 w 1830590"/>
                    <a:gd name="connsiteY449" fmla="*/ 544706 h 2366371"/>
                    <a:gd name="connsiteX450" fmla="*/ 537077 w 1830590"/>
                    <a:gd name="connsiteY450" fmla="*/ 642938 h 2366371"/>
                    <a:gd name="connsiteX451" fmla="*/ 438845 w 1830590"/>
                    <a:gd name="connsiteY451" fmla="*/ 642938 h 2366371"/>
                    <a:gd name="connsiteX452" fmla="*/ 438845 w 1830590"/>
                    <a:gd name="connsiteY452" fmla="*/ 544706 h 2366371"/>
                    <a:gd name="connsiteX453" fmla="*/ 537077 w 1830590"/>
                    <a:gd name="connsiteY453" fmla="*/ 544706 h 2366371"/>
                    <a:gd name="connsiteX454" fmla="*/ 537077 w 1830590"/>
                    <a:gd name="connsiteY454" fmla="*/ 642938 h 2366371"/>
                    <a:gd name="connsiteX455" fmla="*/ 537077 w 1830590"/>
                    <a:gd name="connsiteY455" fmla="*/ 651862 h 2366371"/>
                    <a:gd name="connsiteX456" fmla="*/ 537077 w 1830590"/>
                    <a:gd name="connsiteY456" fmla="*/ 750094 h 2366371"/>
                    <a:gd name="connsiteX457" fmla="*/ 438845 w 1830590"/>
                    <a:gd name="connsiteY457" fmla="*/ 750094 h 2366371"/>
                    <a:gd name="connsiteX458" fmla="*/ 438845 w 1830590"/>
                    <a:gd name="connsiteY458" fmla="*/ 651862 h 2366371"/>
                    <a:gd name="connsiteX459" fmla="*/ 537077 w 1830590"/>
                    <a:gd name="connsiteY459" fmla="*/ 651862 h 2366371"/>
                    <a:gd name="connsiteX460" fmla="*/ 537077 w 1830590"/>
                    <a:gd name="connsiteY460" fmla="*/ 759019 h 2366371"/>
                    <a:gd name="connsiteX461" fmla="*/ 537077 w 1830590"/>
                    <a:gd name="connsiteY461" fmla="*/ 857250 h 2366371"/>
                    <a:gd name="connsiteX462" fmla="*/ 438845 w 1830590"/>
                    <a:gd name="connsiteY462" fmla="*/ 857250 h 2366371"/>
                    <a:gd name="connsiteX463" fmla="*/ 438845 w 1830590"/>
                    <a:gd name="connsiteY463" fmla="*/ 759019 h 2366371"/>
                    <a:gd name="connsiteX464" fmla="*/ 537077 w 1830590"/>
                    <a:gd name="connsiteY464" fmla="*/ 759019 h 2366371"/>
                    <a:gd name="connsiteX465" fmla="*/ 537077 w 1830590"/>
                    <a:gd name="connsiteY465" fmla="*/ 866175 h 2366371"/>
                    <a:gd name="connsiteX466" fmla="*/ 537077 w 1830590"/>
                    <a:gd name="connsiteY466" fmla="*/ 964406 h 2366371"/>
                    <a:gd name="connsiteX467" fmla="*/ 438845 w 1830590"/>
                    <a:gd name="connsiteY467" fmla="*/ 964406 h 2366371"/>
                    <a:gd name="connsiteX468" fmla="*/ 438845 w 1830590"/>
                    <a:gd name="connsiteY468" fmla="*/ 866175 h 2366371"/>
                    <a:gd name="connsiteX469" fmla="*/ 537077 w 1830590"/>
                    <a:gd name="connsiteY469" fmla="*/ 866175 h 2366371"/>
                    <a:gd name="connsiteX470" fmla="*/ 537077 w 1830590"/>
                    <a:gd name="connsiteY470" fmla="*/ 973331 h 2366371"/>
                    <a:gd name="connsiteX471" fmla="*/ 537077 w 1830590"/>
                    <a:gd name="connsiteY471" fmla="*/ 1071562 h 2366371"/>
                    <a:gd name="connsiteX472" fmla="*/ 438845 w 1830590"/>
                    <a:gd name="connsiteY472" fmla="*/ 1071562 h 2366371"/>
                    <a:gd name="connsiteX473" fmla="*/ 438845 w 1830590"/>
                    <a:gd name="connsiteY473" fmla="*/ 973331 h 2366371"/>
                    <a:gd name="connsiteX474" fmla="*/ 537077 w 1830590"/>
                    <a:gd name="connsiteY474" fmla="*/ 973331 h 2366371"/>
                    <a:gd name="connsiteX475" fmla="*/ 537077 w 1830590"/>
                    <a:gd name="connsiteY475" fmla="*/ 1080487 h 2366371"/>
                    <a:gd name="connsiteX476" fmla="*/ 537077 w 1830590"/>
                    <a:gd name="connsiteY476" fmla="*/ 1178719 h 2366371"/>
                    <a:gd name="connsiteX477" fmla="*/ 438845 w 1830590"/>
                    <a:gd name="connsiteY477" fmla="*/ 1178719 h 2366371"/>
                    <a:gd name="connsiteX478" fmla="*/ 438845 w 1830590"/>
                    <a:gd name="connsiteY478" fmla="*/ 1080487 h 2366371"/>
                    <a:gd name="connsiteX479" fmla="*/ 537077 w 1830590"/>
                    <a:gd name="connsiteY479" fmla="*/ 1080487 h 2366371"/>
                    <a:gd name="connsiteX480" fmla="*/ 537077 w 1830590"/>
                    <a:gd name="connsiteY480" fmla="*/ 1187644 h 2366371"/>
                    <a:gd name="connsiteX481" fmla="*/ 537077 w 1830590"/>
                    <a:gd name="connsiteY481" fmla="*/ 1285875 h 2366371"/>
                    <a:gd name="connsiteX482" fmla="*/ 438845 w 1830590"/>
                    <a:gd name="connsiteY482" fmla="*/ 1285875 h 2366371"/>
                    <a:gd name="connsiteX483" fmla="*/ 438845 w 1830590"/>
                    <a:gd name="connsiteY483" fmla="*/ 1187644 h 2366371"/>
                    <a:gd name="connsiteX484" fmla="*/ 537077 w 1830590"/>
                    <a:gd name="connsiteY484" fmla="*/ 1187644 h 2366371"/>
                    <a:gd name="connsiteX485" fmla="*/ 537077 w 1830590"/>
                    <a:gd name="connsiteY485" fmla="*/ 1294800 h 2366371"/>
                    <a:gd name="connsiteX486" fmla="*/ 537077 w 1830590"/>
                    <a:gd name="connsiteY486" fmla="*/ 1393031 h 2366371"/>
                    <a:gd name="connsiteX487" fmla="*/ 438845 w 1830590"/>
                    <a:gd name="connsiteY487" fmla="*/ 1393031 h 2366371"/>
                    <a:gd name="connsiteX488" fmla="*/ 438845 w 1830590"/>
                    <a:gd name="connsiteY488" fmla="*/ 1294800 h 2366371"/>
                    <a:gd name="connsiteX489" fmla="*/ 537077 w 1830590"/>
                    <a:gd name="connsiteY489" fmla="*/ 1294800 h 2366371"/>
                    <a:gd name="connsiteX490" fmla="*/ 537077 w 1830590"/>
                    <a:gd name="connsiteY490" fmla="*/ 1401956 h 2366371"/>
                    <a:gd name="connsiteX491" fmla="*/ 537077 w 1830590"/>
                    <a:gd name="connsiteY491" fmla="*/ 1500187 h 2366371"/>
                    <a:gd name="connsiteX492" fmla="*/ 438845 w 1830590"/>
                    <a:gd name="connsiteY492" fmla="*/ 1500187 h 2366371"/>
                    <a:gd name="connsiteX493" fmla="*/ 438845 w 1830590"/>
                    <a:gd name="connsiteY493" fmla="*/ 1401956 h 2366371"/>
                    <a:gd name="connsiteX494" fmla="*/ 537077 w 1830590"/>
                    <a:gd name="connsiteY494" fmla="*/ 1401956 h 2366371"/>
                    <a:gd name="connsiteX495" fmla="*/ 537077 w 1830590"/>
                    <a:gd name="connsiteY495" fmla="*/ 1509112 h 2366371"/>
                    <a:gd name="connsiteX496" fmla="*/ 537077 w 1830590"/>
                    <a:gd name="connsiteY496" fmla="*/ 1607344 h 2366371"/>
                    <a:gd name="connsiteX497" fmla="*/ 438845 w 1830590"/>
                    <a:gd name="connsiteY497" fmla="*/ 1607344 h 2366371"/>
                    <a:gd name="connsiteX498" fmla="*/ 438845 w 1830590"/>
                    <a:gd name="connsiteY498" fmla="*/ 1509112 h 2366371"/>
                    <a:gd name="connsiteX499" fmla="*/ 537077 w 1830590"/>
                    <a:gd name="connsiteY499" fmla="*/ 1509112 h 2366371"/>
                    <a:gd name="connsiteX500" fmla="*/ 537077 w 1830590"/>
                    <a:gd name="connsiteY500" fmla="*/ 1616269 h 2366371"/>
                    <a:gd name="connsiteX501" fmla="*/ 537077 w 1830590"/>
                    <a:gd name="connsiteY501" fmla="*/ 1714500 h 2366371"/>
                    <a:gd name="connsiteX502" fmla="*/ 438845 w 1830590"/>
                    <a:gd name="connsiteY502" fmla="*/ 1714500 h 2366371"/>
                    <a:gd name="connsiteX503" fmla="*/ 438845 w 1830590"/>
                    <a:gd name="connsiteY503" fmla="*/ 1616269 h 2366371"/>
                    <a:gd name="connsiteX504" fmla="*/ 537077 w 1830590"/>
                    <a:gd name="connsiteY504" fmla="*/ 1616269 h 2366371"/>
                    <a:gd name="connsiteX505" fmla="*/ 537077 w 1830590"/>
                    <a:gd name="connsiteY505" fmla="*/ 1723425 h 2366371"/>
                    <a:gd name="connsiteX506" fmla="*/ 537077 w 1830590"/>
                    <a:gd name="connsiteY506" fmla="*/ 1821656 h 2366371"/>
                    <a:gd name="connsiteX507" fmla="*/ 438845 w 1830590"/>
                    <a:gd name="connsiteY507" fmla="*/ 1821656 h 2366371"/>
                    <a:gd name="connsiteX508" fmla="*/ 438845 w 1830590"/>
                    <a:gd name="connsiteY508" fmla="*/ 1723425 h 2366371"/>
                    <a:gd name="connsiteX509" fmla="*/ 537077 w 1830590"/>
                    <a:gd name="connsiteY509" fmla="*/ 1723425 h 2366371"/>
                    <a:gd name="connsiteX510" fmla="*/ 546011 w 1830590"/>
                    <a:gd name="connsiteY510" fmla="*/ 1723425 h 2366371"/>
                    <a:gd name="connsiteX511" fmla="*/ 644243 w 1830590"/>
                    <a:gd name="connsiteY511" fmla="*/ 1723425 h 2366371"/>
                    <a:gd name="connsiteX512" fmla="*/ 644243 w 1830590"/>
                    <a:gd name="connsiteY512" fmla="*/ 1821656 h 2366371"/>
                    <a:gd name="connsiteX513" fmla="*/ 546011 w 1830590"/>
                    <a:gd name="connsiteY513" fmla="*/ 1821656 h 2366371"/>
                    <a:gd name="connsiteX514" fmla="*/ 546011 w 1830590"/>
                    <a:gd name="connsiteY514" fmla="*/ 1723425 h 2366371"/>
                    <a:gd name="connsiteX515" fmla="*/ 644233 w 1830590"/>
                    <a:gd name="connsiteY515" fmla="*/ 1830581 h 2366371"/>
                    <a:gd name="connsiteX516" fmla="*/ 644233 w 1830590"/>
                    <a:gd name="connsiteY516" fmla="*/ 1928812 h 2366371"/>
                    <a:gd name="connsiteX517" fmla="*/ 546002 w 1830590"/>
                    <a:gd name="connsiteY517" fmla="*/ 1928812 h 2366371"/>
                    <a:gd name="connsiteX518" fmla="*/ 546002 w 1830590"/>
                    <a:gd name="connsiteY518" fmla="*/ 1830581 h 2366371"/>
                    <a:gd name="connsiteX519" fmla="*/ 644233 w 1830590"/>
                    <a:gd name="connsiteY519" fmla="*/ 1830581 h 2366371"/>
                    <a:gd name="connsiteX520" fmla="*/ 653167 w 1830590"/>
                    <a:gd name="connsiteY520" fmla="*/ 1830581 h 2366371"/>
                    <a:gd name="connsiteX521" fmla="*/ 751399 w 1830590"/>
                    <a:gd name="connsiteY521" fmla="*/ 1830581 h 2366371"/>
                    <a:gd name="connsiteX522" fmla="*/ 751399 w 1830590"/>
                    <a:gd name="connsiteY522" fmla="*/ 1928812 h 2366371"/>
                    <a:gd name="connsiteX523" fmla="*/ 653167 w 1830590"/>
                    <a:gd name="connsiteY523" fmla="*/ 1928812 h 2366371"/>
                    <a:gd name="connsiteX524" fmla="*/ 653167 w 1830590"/>
                    <a:gd name="connsiteY524" fmla="*/ 1830581 h 2366371"/>
                    <a:gd name="connsiteX525" fmla="*/ 760324 w 1830590"/>
                    <a:gd name="connsiteY525" fmla="*/ 1830581 h 2366371"/>
                    <a:gd name="connsiteX526" fmla="*/ 858555 w 1830590"/>
                    <a:gd name="connsiteY526" fmla="*/ 1830581 h 2366371"/>
                    <a:gd name="connsiteX527" fmla="*/ 858555 w 1830590"/>
                    <a:gd name="connsiteY527" fmla="*/ 1928812 h 2366371"/>
                    <a:gd name="connsiteX528" fmla="*/ 760324 w 1830590"/>
                    <a:gd name="connsiteY528" fmla="*/ 1928812 h 2366371"/>
                    <a:gd name="connsiteX529" fmla="*/ 760324 w 1830590"/>
                    <a:gd name="connsiteY529" fmla="*/ 1830581 h 2366371"/>
                    <a:gd name="connsiteX530" fmla="*/ 867480 w 1830590"/>
                    <a:gd name="connsiteY530" fmla="*/ 1830581 h 2366371"/>
                    <a:gd name="connsiteX531" fmla="*/ 965711 w 1830590"/>
                    <a:gd name="connsiteY531" fmla="*/ 1830581 h 2366371"/>
                    <a:gd name="connsiteX532" fmla="*/ 965711 w 1830590"/>
                    <a:gd name="connsiteY532" fmla="*/ 1928812 h 2366371"/>
                    <a:gd name="connsiteX533" fmla="*/ 867480 w 1830590"/>
                    <a:gd name="connsiteY533" fmla="*/ 1928812 h 2366371"/>
                    <a:gd name="connsiteX534" fmla="*/ 867480 w 1830590"/>
                    <a:gd name="connsiteY534" fmla="*/ 1830581 h 2366371"/>
                    <a:gd name="connsiteX535" fmla="*/ 974636 w 1830590"/>
                    <a:gd name="connsiteY535" fmla="*/ 1830581 h 2366371"/>
                    <a:gd name="connsiteX536" fmla="*/ 1072867 w 1830590"/>
                    <a:gd name="connsiteY536" fmla="*/ 1830581 h 2366371"/>
                    <a:gd name="connsiteX537" fmla="*/ 1072867 w 1830590"/>
                    <a:gd name="connsiteY537" fmla="*/ 1928812 h 2366371"/>
                    <a:gd name="connsiteX538" fmla="*/ 974636 w 1830590"/>
                    <a:gd name="connsiteY538" fmla="*/ 1928812 h 2366371"/>
                    <a:gd name="connsiteX539" fmla="*/ 974636 w 1830590"/>
                    <a:gd name="connsiteY539" fmla="*/ 1830581 h 2366371"/>
                    <a:gd name="connsiteX540" fmla="*/ 1081792 w 1830590"/>
                    <a:gd name="connsiteY540" fmla="*/ 1830581 h 2366371"/>
                    <a:gd name="connsiteX541" fmla="*/ 1180024 w 1830590"/>
                    <a:gd name="connsiteY541" fmla="*/ 1830581 h 2366371"/>
                    <a:gd name="connsiteX542" fmla="*/ 1180024 w 1830590"/>
                    <a:gd name="connsiteY542" fmla="*/ 1928812 h 2366371"/>
                    <a:gd name="connsiteX543" fmla="*/ 1081792 w 1830590"/>
                    <a:gd name="connsiteY543" fmla="*/ 1928812 h 2366371"/>
                    <a:gd name="connsiteX544" fmla="*/ 1081792 w 1830590"/>
                    <a:gd name="connsiteY544" fmla="*/ 1830581 h 2366371"/>
                    <a:gd name="connsiteX545" fmla="*/ 1188949 w 1830590"/>
                    <a:gd name="connsiteY545" fmla="*/ 1830581 h 2366371"/>
                    <a:gd name="connsiteX546" fmla="*/ 1287180 w 1830590"/>
                    <a:gd name="connsiteY546" fmla="*/ 1830581 h 2366371"/>
                    <a:gd name="connsiteX547" fmla="*/ 1287180 w 1830590"/>
                    <a:gd name="connsiteY547" fmla="*/ 1928812 h 2366371"/>
                    <a:gd name="connsiteX548" fmla="*/ 1188949 w 1830590"/>
                    <a:gd name="connsiteY548" fmla="*/ 1928812 h 2366371"/>
                    <a:gd name="connsiteX549" fmla="*/ 1188949 w 1830590"/>
                    <a:gd name="connsiteY549" fmla="*/ 1830581 h 2366371"/>
                    <a:gd name="connsiteX550" fmla="*/ 1188949 w 1830590"/>
                    <a:gd name="connsiteY550" fmla="*/ 1821656 h 2366371"/>
                    <a:gd name="connsiteX551" fmla="*/ 1188949 w 1830590"/>
                    <a:gd name="connsiteY551" fmla="*/ 1723425 h 2366371"/>
                    <a:gd name="connsiteX552" fmla="*/ 1287180 w 1830590"/>
                    <a:gd name="connsiteY552" fmla="*/ 1723425 h 2366371"/>
                    <a:gd name="connsiteX553" fmla="*/ 1287180 w 1830590"/>
                    <a:gd name="connsiteY553" fmla="*/ 1821656 h 2366371"/>
                    <a:gd name="connsiteX554" fmla="*/ 1188949 w 1830590"/>
                    <a:gd name="connsiteY554" fmla="*/ 1821656 h 2366371"/>
                    <a:gd name="connsiteX555" fmla="*/ 1296105 w 1830590"/>
                    <a:gd name="connsiteY555" fmla="*/ 1723425 h 2366371"/>
                    <a:gd name="connsiteX556" fmla="*/ 1394336 w 1830590"/>
                    <a:gd name="connsiteY556" fmla="*/ 1723425 h 2366371"/>
                    <a:gd name="connsiteX557" fmla="*/ 1394336 w 1830590"/>
                    <a:gd name="connsiteY557" fmla="*/ 1821656 h 2366371"/>
                    <a:gd name="connsiteX558" fmla="*/ 1296105 w 1830590"/>
                    <a:gd name="connsiteY558" fmla="*/ 1821656 h 2366371"/>
                    <a:gd name="connsiteX559" fmla="*/ 1296105 w 1830590"/>
                    <a:gd name="connsiteY559" fmla="*/ 1723425 h 2366371"/>
                    <a:gd name="connsiteX560" fmla="*/ 1296105 w 1830590"/>
                    <a:gd name="connsiteY560" fmla="*/ 1714500 h 2366371"/>
                    <a:gd name="connsiteX561" fmla="*/ 1296105 w 1830590"/>
                    <a:gd name="connsiteY561" fmla="*/ 1616269 h 2366371"/>
                    <a:gd name="connsiteX562" fmla="*/ 1394336 w 1830590"/>
                    <a:gd name="connsiteY562" fmla="*/ 1616269 h 2366371"/>
                    <a:gd name="connsiteX563" fmla="*/ 1394336 w 1830590"/>
                    <a:gd name="connsiteY563" fmla="*/ 1714500 h 2366371"/>
                    <a:gd name="connsiteX564" fmla="*/ 1296105 w 1830590"/>
                    <a:gd name="connsiteY564" fmla="*/ 1714500 h 2366371"/>
                    <a:gd name="connsiteX565" fmla="*/ 1296105 w 1830590"/>
                    <a:gd name="connsiteY565" fmla="*/ 1607344 h 2366371"/>
                    <a:gd name="connsiteX566" fmla="*/ 1296105 w 1830590"/>
                    <a:gd name="connsiteY566" fmla="*/ 1509112 h 2366371"/>
                    <a:gd name="connsiteX567" fmla="*/ 1394336 w 1830590"/>
                    <a:gd name="connsiteY567" fmla="*/ 1509112 h 2366371"/>
                    <a:gd name="connsiteX568" fmla="*/ 1394336 w 1830590"/>
                    <a:gd name="connsiteY568" fmla="*/ 1607344 h 2366371"/>
                    <a:gd name="connsiteX569" fmla="*/ 1296105 w 1830590"/>
                    <a:gd name="connsiteY569" fmla="*/ 1607344 h 2366371"/>
                    <a:gd name="connsiteX570" fmla="*/ 1296105 w 1830590"/>
                    <a:gd name="connsiteY570" fmla="*/ 1500187 h 2366371"/>
                    <a:gd name="connsiteX571" fmla="*/ 1296105 w 1830590"/>
                    <a:gd name="connsiteY571" fmla="*/ 1401956 h 2366371"/>
                    <a:gd name="connsiteX572" fmla="*/ 1394336 w 1830590"/>
                    <a:gd name="connsiteY572" fmla="*/ 1401956 h 2366371"/>
                    <a:gd name="connsiteX573" fmla="*/ 1394336 w 1830590"/>
                    <a:gd name="connsiteY573" fmla="*/ 1500187 h 2366371"/>
                    <a:gd name="connsiteX574" fmla="*/ 1296105 w 1830590"/>
                    <a:gd name="connsiteY574" fmla="*/ 1500187 h 2366371"/>
                    <a:gd name="connsiteX575" fmla="*/ 1296105 w 1830590"/>
                    <a:gd name="connsiteY575" fmla="*/ 1393031 h 2366371"/>
                    <a:gd name="connsiteX576" fmla="*/ 1296105 w 1830590"/>
                    <a:gd name="connsiteY576" fmla="*/ 1294800 h 2366371"/>
                    <a:gd name="connsiteX577" fmla="*/ 1394336 w 1830590"/>
                    <a:gd name="connsiteY577" fmla="*/ 1294800 h 2366371"/>
                    <a:gd name="connsiteX578" fmla="*/ 1394336 w 1830590"/>
                    <a:gd name="connsiteY578" fmla="*/ 1393031 h 2366371"/>
                    <a:gd name="connsiteX579" fmla="*/ 1296105 w 1830590"/>
                    <a:gd name="connsiteY579" fmla="*/ 1393031 h 2366371"/>
                    <a:gd name="connsiteX580" fmla="*/ 1296105 w 1830590"/>
                    <a:gd name="connsiteY580" fmla="*/ 1285875 h 2366371"/>
                    <a:gd name="connsiteX581" fmla="*/ 1296105 w 1830590"/>
                    <a:gd name="connsiteY581" fmla="*/ 1187644 h 2366371"/>
                    <a:gd name="connsiteX582" fmla="*/ 1394336 w 1830590"/>
                    <a:gd name="connsiteY582" fmla="*/ 1187644 h 2366371"/>
                    <a:gd name="connsiteX583" fmla="*/ 1394336 w 1830590"/>
                    <a:gd name="connsiteY583" fmla="*/ 1285875 h 2366371"/>
                    <a:gd name="connsiteX584" fmla="*/ 1296105 w 1830590"/>
                    <a:gd name="connsiteY584" fmla="*/ 1285875 h 2366371"/>
                    <a:gd name="connsiteX585" fmla="*/ 1296105 w 1830590"/>
                    <a:gd name="connsiteY585" fmla="*/ 1178719 h 2366371"/>
                    <a:gd name="connsiteX586" fmla="*/ 1296105 w 1830590"/>
                    <a:gd name="connsiteY586" fmla="*/ 1080487 h 2366371"/>
                    <a:gd name="connsiteX587" fmla="*/ 1394336 w 1830590"/>
                    <a:gd name="connsiteY587" fmla="*/ 1080487 h 2366371"/>
                    <a:gd name="connsiteX588" fmla="*/ 1394336 w 1830590"/>
                    <a:gd name="connsiteY588" fmla="*/ 1178719 h 2366371"/>
                    <a:gd name="connsiteX589" fmla="*/ 1296105 w 1830590"/>
                    <a:gd name="connsiteY589" fmla="*/ 1178719 h 2366371"/>
                    <a:gd name="connsiteX590" fmla="*/ 1296105 w 1830590"/>
                    <a:gd name="connsiteY590" fmla="*/ 1071562 h 2366371"/>
                    <a:gd name="connsiteX591" fmla="*/ 1296105 w 1830590"/>
                    <a:gd name="connsiteY591" fmla="*/ 973331 h 2366371"/>
                    <a:gd name="connsiteX592" fmla="*/ 1394336 w 1830590"/>
                    <a:gd name="connsiteY592" fmla="*/ 973331 h 2366371"/>
                    <a:gd name="connsiteX593" fmla="*/ 1394336 w 1830590"/>
                    <a:gd name="connsiteY593" fmla="*/ 1071562 h 2366371"/>
                    <a:gd name="connsiteX594" fmla="*/ 1296105 w 1830590"/>
                    <a:gd name="connsiteY594" fmla="*/ 1071562 h 2366371"/>
                    <a:gd name="connsiteX595" fmla="*/ 1296105 w 1830590"/>
                    <a:gd name="connsiteY595" fmla="*/ 964406 h 2366371"/>
                    <a:gd name="connsiteX596" fmla="*/ 1296105 w 1830590"/>
                    <a:gd name="connsiteY596" fmla="*/ 866175 h 2366371"/>
                    <a:gd name="connsiteX597" fmla="*/ 1394336 w 1830590"/>
                    <a:gd name="connsiteY597" fmla="*/ 866175 h 2366371"/>
                    <a:gd name="connsiteX598" fmla="*/ 1394336 w 1830590"/>
                    <a:gd name="connsiteY598" fmla="*/ 964406 h 2366371"/>
                    <a:gd name="connsiteX599" fmla="*/ 1296105 w 1830590"/>
                    <a:gd name="connsiteY599" fmla="*/ 964406 h 2366371"/>
                    <a:gd name="connsiteX600" fmla="*/ 1296105 w 1830590"/>
                    <a:gd name="connsiteY600" fmla="*/ 857250 h 2366371"/>
                    <a:gd name="connsiteX601" fmla="*/ 1296105 w 1830590"/>
                    <a:gd name="connsiteY601" fmla="*/ 759019 h 2366371"/>
                    <a:gd name="connsiteX602" fmla="*/ 1394336 w 1830590"/>
                    <a:gd name="connsiteY602" fmla="*/ 759019 h 2366371"/>
                    <a:gd name="connsiteX603" fmla="*/ 1394336 w 1830590"/>
                    <a:gd name="connsiteY603" fmla="*/ 857250 h 2366371"/>
                    <a:gd name="connsiteX604" fmla="*/ 1296105 w 1830590"/>
                    <a:gd name="connsiteY604" fmla="*/ 857250 h 2366371"/>
                    <a:gd name="connsiteX605" fmla="*/ 1296105 w 1830590"/>
                    <a:gd name="connsiteY605" fmla="*/ 750094 h 2366371"/>
                    <a:gd name="connsiteX606" fmla="*/ 1296105 w 1830590"/>
                    <a:gd name="connsiteY606" fmla="*/ 651862 h 2366371"/>
                    <a:gd name="connsiteX607" fmla="*/ 1394336 w 1830590"/>
                    <a:gd name="connsiteY607" fmla="*/ 651862 h 2366371"/>
                    <a:gd name="connsiteX608" fmla="*/ 1394336 w 1830590"/>
                    <a:gd name="connsiteY608" fmla="*/ 750094 h 2366371"/>
                    <a:gd name="connsiteX609" fmla="*/ 1296105 w 1830590"/>
                    <a:gd name="connsiteY609" fmla="*/ 750094 h 2366371"/>
                    <a:gd name="connsiteX610" fmla="*/ 1296105 w 1830590"/>
                    <a:gd name="connsiteY610" fmla="*/ 642938 h 2366371"/>
                    <a:gd name="connsiteX611" fmla="*/ 1296105 w 1830590"/>
                    <a:gd name="connsiteY611" fmla="*/ 544706 h 2366371"/>
                    <a:gd name="connsiteX612" fmla="*/ 1394336 w 1830590"/>
                    <a:gd name="connsiteY612" fmla="*/ 544706 h 2366371"/>
                    <a:gd name="connsiteX613" fmla="*/ 1394336 w 1830590"/>
                    <a:gd name="connsiteY613" fmla="*/ 642938 h 2366371"/>
                    <a:gd name="connsiteX614" fmla="*/ 1296105 w 1830590"/>
                    <a:gd name="connsiteY614" fmla="*/ 642938 h 2366371"/>
                    <a:gd name="connsiteX615" fmla="*/ 1296105 w 1830590"/>
                    <a:gd name="connsiteY615" fmla="*/ 535781 h 2366371"/>
                    <a:gd name="connsiteX616" fmla="*/ 1296105 w 1830590"/>
                    <a:gd name="connsiteY616" fmla="*/ 437550 h 2366371"/>
                    <a:gd name="connsiteX617" fmla="*/ 1394336 w 1830590"/>
                    <a:gd name="connsiteY617" fmla="*/ 437550 h 2366371"/>
                    <a:gd name="connsiteX618" fmla="*/ 1394336 w 1830590"/>
                    <a:gd name="connsiteY618" fmla="*/ 535781 h 2366371"/>
                    <a:gd name="connsiteX619" fmla="*/ 1296105 w 1830590"/>
                    <a:gd name="connsiteY619" fmla="*/ 535781 h 2366371"/>
                    <a:gd name="connsiteX620" fmla="*/ 1296105 w 1830590"/>
                    <a:gd name="connsiteY620" fmla="*/ 428625 h 2366371"/>
                    <a:gd name="connsiteX621" fmla="*/ 1296105 w 1830590"/>
                    <a:gd name="connsiteY621" fmla="*/ 330394 h 2366371"/>
                    <a:gd name="connsiteX622" fmla="*/ 1394336 w 1830590"/>
                    <a:gd name="connsiteY622" fmla="*/ 330394 h 2366371"/>
                    <a:gd name="connsiteX623" fmla="*/ 1394336 w 1830590"/>
                    <a:gd name="connsiteY623" fmla="*/ 428625 h 2366371"/>
                    <a:gd name="connsiteX624" fmla="*/ 1296105 w 1830590"/>
                    <a:gd name="connsiteY624" fmla="*/ 428625 h 2366371"/>
                    <a:gd name="connsiteX625" fmla="*/ 1287171 w 1830590"/>
                    <a:gd name="connsiteY625" fmla="*/ 428625 h 2366371"/>
                    <a:gd name="connsiteX626" fmla="*/ 1188939 w 1830590"/>
                    <a:gd name="connsiteY626" fmla="*/ 428625 h 2366371"/>
                    <a:gd name="connsiteX627" fmla="*/ 1188939 w 1830590"/>
                    <a:gd name="connsiteY627" fmla="*/ 330394 h 2366371"/>
                    <a:gd name="connsiteX628" fmla="*/ 1287171 w 1830590"/>
                    <a:gd name="connsiteY628" fmla="*/ 330394 h 2366371"/>
                    <a:gd name="connsiteX629" fmla="*/ 1287171 w 1830590"/>
                    <a:gd name="connsiteY629" fmla="*/ 428625 h 2366371"/>
                    <a:gd name="connsiteX630" fmla="*/ 1180014 w 1830590"/>
                    <a:gd name="connsiteY630" fmla="*/ 428625 h 2366371"/>
                    <a:gd name="connsiteX631" fmla="*/ 1081783 w 1830590"/>
                    <a:gd name="connsiteY631" fmla="*/ 428625 h 2366371"/>
                    <a:gd name="connsiteX632" fmla="*/ 1081783 w 1830590"/>
                    <a:gd name="connsiteY632" fmla="*/ 330394 h 2366371"/>
                    <a:gd name="connsiteX633" fmla="*/ 1180014 w 1830590"/>
                    <a:gd name="connsiteY633" fmla="*/ 330394 h 2366371"/>
                    <a:gd name="connsiteX634" fmla="*/ 1180014 w 1830590"/>
                    <a:gd name="connsiteY634" fmla="*/ 428625 h 2366371"/>
                    <a:gd name="connsiteX635" fmla="*/ 1072858 w 1830590"/>
                    <a:gd name="connsiteY635" fmla="*/ 428625 h 2366371"/>
                    <a:gd name="connsiteX636" fmla="*/ 974627 w 1830590"/>
                    <a:gd name="connsiteY636" fmla="*/ 428625 h 2366371"/>
                    <a:gd name="connsiteX637" fmla="*/ 974627 w 1830590"/>
                    <a:gd name="connsiteY637" fmla="*/ 330394 h 2366371"/>
                    <a:gd name="connsiteX638" fmla="*/ 1072858 w 1830590"/>
                    <a:gd name="connsiteY638" fmla="*/ 330394 h 2366371"/>
                    <a:gd name="connsiteX639" fmla="*/ 1072858 w 1830590"/>
                    <a:gd name="connsiteY639" fmla="*/ 428625 h 2366371"/>
                    <a:gd name="connsiteX640" fmla="*/ 965702 w 1830590"/>
                    <a:gd name="connsiteY640" fmla="*/ 428625 h 2366371"/>
                    <a:gd name="connsiteX641" fmla="*/ 867470 w 1830590"/>
                    <a:gd name="connsiteY641" fmla="*/ 428625 h 2366371"/>
                    <a:gd name="connsiteX642" fmla="*/ 867470 w 1830590"/>
                    <a:gd name="connsiteY642" fmla="*/ 330394 h 2366371"/>
                    <a:gd name="connsiteX643" fmla="*/ 965702 w 1830590"/>
                    <a:gd name="connsiteY643" fmla="*/ 330394 h 2366371"/>
                    <a:gd name="connsiteX644" fmla="*/ 965702 w 1830590"/>
                    <a:gd name="connsiteY644" fmla="*/ 428625 h 2366371"/>
                    <a:gd name="connsiteX645" fmla="*/ 858546 w 1830590"/>
                    <a:gd name="connsiteY645" fmla="*/ 428625 h 2366371"/>
                    <a:gd name="connsiteX646" fmla="*/ 760314 w 1830590"/>
                    <a:gd name="connsiteY646" fmla="*/ 428625 h 2366371"/>
                    <a:gd name="connsiteX647" fmla="*/ 760314 w 1830590"/>
                    <a:gd name="connsiteY647" fmla="*/ 330394 h 2366371"/>
                    <a:gd name="connsiteX648" fmla="*/ 858546 w 1830590"/>
                    <a:gd name="connsiteY648" fmla="*/ 330394 h 2366371"/>
                    <a:gd name="connsiteX649" fmla="*/ 858546 w 1830590"/>
                    <a:gd name="connsiteY649" fmla="*/ 428625 h 2366371"/>
                    <a:gd name="connsiteX650" fmla="*/ 751389 w 1830590"/>
                    <a:gd name="connsiteY650" fmla="*/ 428625 h 2366371"/>
                    <a:gd name="connsiteX651" fmla="*/ 653158 w 1830590"/>
                    <a:gd name="connsiteY651" fmla="*/ 428625 h 2366371"/>
                    <a:gd name="connsiteX652" fmla="*/ 653158 w 1830590"/>
                    <a:gd name="connsiteY652" fmla="*/ 330394 h 2366371"/>
                    <a:gd name="connsiteX653" fmla="*/ 751389 w 1830590"/>
                    <a:gd name="connsiteY653" fmla="*/ 330394 h 2366371"/>
                    <a:gd name="connsiteX654" fmla="*/ 751389 w 1830590"/>
                    <a:gd name="connsiteY654" fmla="*/ 428625 h 2366371"/>
                    <a:gd name="connsiteX655" fmla="*/ 644233 w 1830590"/>
                    <a:gd name="connsiteY655" fmla="*/ 428625 h 2366371"/>
                    <a:gd name="connsiteX656" fmla="*/ 546002 w 1830590"/>
                    <a:gd name="connsiteY656" fmla="*/ 428625 h 2366371"/>
                    <a:gd name="connsiteX657" fmla="*/ 546002 w 1830590"/>
                    <a:gd name="connsiteY657" fmla="*/ 330394 h 2366371"/>
                    <a:gd name="connsiteX658" fmla="*/ 644233 w 1830590"/>
                    <a:gd name="connsiteY658" fmla="*/ 330394 h 2366371"/>
                    <a:gd name="connsiteX659" fmla="*/ 644233 w 1830590"/>
                    <a:gd name="connsiteY659" fmla="*/ 428625 h 2366371"/>
                    <a:gd name="connsiteX660" fmla="*/ 537077 w 1830590"/>
                    <a:gd name="connsiteY660" fmla="*/ 428625 h 2366371"/>
                    <a:gd name="connsiteX661" fmla="*/ 438845 w 1830590"/>
                    <a:gd name="connsiteY661" fmla="*/ 428625 h 2366371"/>
                    <a:gd name="connsiteX662" fmla="*/ 438845 w 1830590"/>
                    <a:gd name="connsiteY662" fmla="*/ 330394 h 2366371"/>
                    <a:gd name="connsiteX663" fmla="*/ 537077 w 1830590"/>
                    <a:gd name="connsiteY663" fmla="*/ 330394 h 2366371"/>
                    <a:gd name="connsiteX664" fmla="*/ 537077 w 1830590"/>
                    <a:gd name="connsiteY664" fmla="*/ 428625 h 2366371"/>
                    <a:gd name="connsiteX665" fmla="*/ 537077 w 1830590"/>
                    <a:gd name="connsiteY665" fmla="*/ 437550 h 2366371"/>
                    <a:gd name="connsiteX666" fmla="*/ 537077 w 1830590"/>
                    <a:gd name="connsiteY666" fmla="*/ 535781 h 2366371"/>
                    <a:gd name="connsiteX667" fmla="*/ 438845 w 1830590"/>
                    <a:gd name="connsiteY667" fmla="*/ 535781 h 2366371"/>
                    <a:gd name="connsiteX668" fmla="*/ 438845 w 1830590"/>
                    <a:gd name="connsiteY668" fmla="*/ 437550 h 2366371"/>
                    <a:gd name="connsiteX669" fmla="*/ 537077 w 1830590"/>
                    <a:gd name="connsiteY669" fmla="*/ 437550 h 2366371"/>
                    <a:gd name="connsiteX670" fmla="*/ 429920 w 1830590"/>
                    <a:gd name="connsiteY670" fmla="*/ 535781 h 2366371"/>
                    <a:gd name="connsiteX671" fmla="*/ 331689 w 1830590"/>
                    <a:gd name="connsiteY671" fmla="*/ 535781 h 2366371"/>
                    <a:gd name="connsiteX672" fmla="*/ 331689 w 1830590"/>
                    <a:gd name="connsiteY672" fmla="*/ 437550 h 2366371"/>
                    <a:gd name="connsiteX673" fmla="*/ 429920 w 1830590"/>
                    <a:gd name="connsiteY673" fmla="*/ 437550 h 2366371"/>
                    <a:gd name="connsiteX674" fmla="*/ 429920 w 1830590"/>
                    <a:gd name="connsiteY674" fmla="*/ 535781 h 2366371"/>
                    <a:gd name="connsiteX675" fmla="*/ 429920 w 1830590"/>
                    <a:gd name="connsiteY675" fmla="*/ 544706 h 2366371"/>
                    <a:gd name="connsiteX676" fmla="*/ 429920 w 1830590"/>
                    <a:gd name="connsiteY676" fmla="*/ 642938 h 2366371"/>
                    <a:gd name="connsiteX677" fmla="*/ 331689 w 1830590"/>
                    <a:gd name="connsiteY677" fmla="*/ 642938 h 2366371"/>
                    <a:gd name="connsiteX678" fmla="*/ 331689 w 1830590"/>
                    <a:gd name="connsiteY678" fmla="*/ 544706 h 2366371"/>
                    <a:gd name="connsiteX679" fmla="*/ 429920 w 1830590"/>
                    <a:gd name="connsiteY679" fmla="*/ 544706 h 2366371"/>
                    <a:gd name="connsiteX680" fmla="*/ 429920 w 1830590"/>
                    <a:gd name="connsiteY680" fmla="*/ 651862 h 2366371"/>
                    <a:gd name="connsiteX681" fmla="*/ 429920 w 1830590"/>
                    <a:gd name="connsiteY681" fmla="*/ 750094 h 2366371"/>
                    <a:gd name="connsiteX682" fmla="*/ 331689 w 1830590"/>
                    <a:gd name="connsiteY682" fmla="*/ 750094 h 2366371"/>
                    <a:gd name="connsiteX683" fmla="*/ 331689 w 1830590"/>
                    <a:gd name="connsiteY683" fmla="*/ 651862 h 2366371"/>
                    <a:gd name="connsiteX684" fmla="*/ 429920 w 1830590"/>
                    <a:gd name="connsiteY684" fmla="*/ 651862 h 2366371"/>
                    <a:gd name="connsiteX685" fmla="*/ 429920 w 1830590"/>
                    <a:gd name="connsiteY685" fmla="*/ 759019 h 2366371"/>
                    <a:gd name="connsiteX686" fmla="*/ 429920 w 1830590"/>
                    <a:gd name="connsiteY686" fmla="*/ 857250 h 2366371"/>
                    <a:gd name="connsiteX687" fmla="*/ 331689 w 1830590"/>
                    <a:gd name="connsiteY687" fmla="*/ 857250 h 2366371"/>
                    <a:gd name="connsiteX688" fmla="*/ 331689 w 1830590"/>
                    <a:gd name="connsiteY688" fmla="*/ 759019 h 2366371"/>
                    <a:gd name="connsiteX689" fmla="*/ 429920 w 1830590"/>
                    <a:gd name="connsiteY689" fmla="*/ 759019 h 2366371"/>
                    <a:gd name="connsiteX690" fmla="*/ 429920 w 1830590"/>
                    <a:gd name="connsiteY690" fmla="*/ 866175 h 2366371"/>
                    <a:gd name="connsiteX691" fmla="*/ 429920 w 1830590"/>
                    <a:gd name="connsiteY691" fmla="*/ 964406 h 2366371"/>
                    <a:gd name="connsiteX692" fmla="*/ 331689 w 1830590"/>
                    <a:gd name="connsiteY692" fmla="*/ 964406 h 2366371"/>
                    <a:gd name="connsiteX693" fmla="*/ 331689 w 1830590"/>
                    <a:gd name="connsiteY693" fmla="*/ 866175 h 2366371"/>
                    <a:gd name="connsiteX694" fmla="*/ 429920 w 1830590"/>
                    <a:gd name="connsiteY694" fmla="*/ 866175 h 2366371"/>
                    <a:gd name="connsiteX695" fmla="*/ 429920 w 1830590"/>
                    <a:gd name="connsiteY695" fmla="*/ 973331 h 2366371"/>
                    <a:gd name="connsiteX696" fmla="*/ 429920 w 1830590"/>
                    <a:gd name="connsiteY696" fmla="*/ 1071562 h 2366371"/>
                    <a:gd name="connsiteX697" fmla="*/ 331689 w 1830590"/>
                    <a:gd name="connsiteY697" fmla="*/ 1071562 h 2366371"/>
                    <a:gd name="connsiteX698" fmla="*/ 331689 w 1830590"/>
                    <a:gd name="connsiteY698" fmla="*/ 973331 h 2366371"/>
                    <a:gd name="connsiteX699" fmla="*/ 429920 w 1830590"/>
                    <a:gd name="connsiteY699" fmla="*/ 973331 h 2366371"/>
                    <a:gd name="connsiteX700" fmla="*/ 429920 w 1830590"/>
                    <a:gd name="connsiteY700" fmla="*/ 1080487 h 2366371"/>
                    <a:gd name="connsiteX701" fmla="*/ 429920 w 1830590"/>
                    <a:gd name="connsiteY701" fmla="*/ 1178719 h 2366371"/>
                    <a:gd name="connsiteX702" fmla="*/ 331689 w 1830590"/>
                    <a:gd name="connsiteY702" fmla="*/ 1178719 h 2366371"/>
                    <a:gd name="connsiteX703" fmla="*/ 331689 w 1830590"/>
                    <a:gd name="connsiteY703" fmla="*/ 1080487 h 2366371"/>
                    <a:gd name="connsiteX704" fmla="*/ 429920 w 1830590"/>
                    <a:gd name="connsiteY704" fmla="*/ 1080487 h 2366371"/>
                    <a:gd name="connsiteX705" fmla="*/ 429920 w 1830590"/>
                    <a:gd name="connsiteY705" fmla="*/ 1187644 h 2366371"/>
                    <a:gd name="connsiteX706" fmla="*/ 429920 w 1830590"/>
                    <a:gd name="connsiteY706" fmla="*/ 1285875 h 2366371"/>
                    <a:gd name="connsiteX707" fmla="*/ 331689 w 1830590"/>
                    <a:gd name="connsiteY707" fmla="*/ 1285875 h 2366371"/>
                    <a:gd name="connsiteX708" fmla="*/ 331689 w 1830590"/>
                    <a:gd name="connsiteY708" fmla="*/ 1187644 h 2366371"/>
                    <a:gd name="connsiteX709" fmla="*/ 429920 w 1830590"/>
                    <a:gd name="connsiteY709" fmla="*/ 1187644 h 2366371"/>
                    <a:gd name="connsiteX710" fmla="*/ 429920 w 1830590"/>
                    <a:gd name="connsiteY710" fmla="*/ 1294800 h 2366371"/>
                    <a:gd name="connsiteX711" fmla="*/ 429920 w 1830590"/>
                    <a:gd name="connsiteY711" fmla="*/ 1393031 h 2366371"/>
                    <a:gd name="connsiteX712" fmla="*/ 331689 w 1830590"/>
                    <a:gd name="connsiteY712" fmla="*/ 1393031 h 2366371"/>
                    <a:gd name="connsiteX713" fmla="*/ 331689 w 1830590"/>
                    <a:gd name="connsiteY713" fmla="*/ 1294800 h 2366371"/>
                    <a:gd name="connsiteX714" fmla="*/ 429920 w 1830590"/>
                    <a:gd name="connsiteY714" fmla="*/ 1294800 h 2366371"/>
                    <a:gd name="connsiteX715" fmla="*/ 429920 w 1830590"/>
                    <a:gd name="connsiteY715" fmla="*/ 1401956 h 2366371"/>
                    <a:gd name="connsiteX716" fmla="*/ 429920 w 1830590"/>
                    <a:gd name="connsiteY716" fmla="*/ 1500187 h 2366371"/>
                    <a:gd name="connsiteX717" fmla="*/ 331689 w 1830590"/>
                    <a:gd name="connsiteY717" fmla="*/ 1500187 h 2366371"/>
                    <a:gd name="connsiteX718" fmla="*/ 331689 w 1830590"/>
                    <a:gd name="connsiteY718" fmla="*/ 1401956 h 2366371"/>
                    <a:gd name="connsiteX719" fmla="*/ 429920 w 1830590"/>
                    <a:gd name="connsiteY719" fmla="*/ 1401956 h 2366371"/>
                    <a:gd name="connsiteX720" fmla="*/ 429920 w 1830590"/>
                    <a:gd name="connsiteY720" fmla="*/ 1509112 h 2366371"/>
                    <a:gd name="connsiteX721" fmla="*/ 429920 w 1830590"/>
                    <a:gd name="connsiteY721" fmla="*/ 1607344 h 2366371"/>
                    <a:gd name="connsiteX722" fmla="*/ 331689 w 1830590"/>
                    <a:gd name="connsiteY722" fmla="*/ 1607344 h 2366371"/>
                    <a:gd name="connsiteX723" fmla="*/ 331689 w 1830590"/>
                    <a:gd name="connsiteY723" fmla="*/ 1509112 h 2366371"/>
                    <a:gd name="connsiteX724" fmla="*/ 429920 w 1830590"/>
                    <a:gd name="connsiteY724" fmla="*/ 1509112 h 2366371"/>
                    <a:gd name="connsiteX725" fmla="*/ 429920 w 1830590"/>
                    <a:gd name="connsiteY725" fmla="*/ 1616269 h 2366371"/>
                    <a:gd name="connsiteX726" fmla="*/ 429920 w 1830590"/>
                    <a:gd name="connsiteY726" fmla="*/ 1714500 h 2366371"/>
                    <a:gd name="connsiteX727" fmla="*/ 331689 w 1830590"/>
                    <a:gd name="connsiteY727" fmla="*/ 1714500 h 2366371"/>
                    <a:gd name="connsiteX728" fmla="*/ 331689 w 1830590"/>
                    <a:gd name="connsiteY728" fmla="*/ 1616269 h 2366371"/>
                    <a:gd name="connsiteX729" fmla="*/ 429920 w 1830590"/>
                    <a:gd name="connsiteY729" fmla="*/ 1616269 h 2366371"/>
                    <a:gd name="connsiteX730" fmla="*/ 429920 w 1830590"/>
                    <a:gd name="connsiteY730" fmla="*/ 1723425 h 2366371"/>
                    <a:gd name="connsiteX731" fmla="*/ 429920 w 1830590"/>
                    <a:gd name="connsiteY731" fmla="*/ 1821656 h 2366371"/>
                    <a:gd name="connsiteX732" fmla="*/ 331689 w 1830590"/>
                    <a:gd name="connsiteY732" fmla="*/ 1821656 h 2366371"/>
                    <a:gd name="connsiteX733" fmla="*/ 331689 w 1830590"/>
                    <a:gd name="connsiteY733" fmla="*/ 1723425 h 2366371"/>
                    <a:gd name="connsiteX734" fmla="*/ 429920 w 1830590"/>
                    <a:gd name="connsiteY734" fmla="*/ 1723425 h 2366371"/>
                    <a:gd name="connsiteX735" fmla="*/ 429920 w 1830590"/>
                    <a:gd name="connsiteY735" fmla="*/ 1830581 h 2366371"/>
                    <a:gd name="connsiteX736" fmla="*/ 429920 w 1830590"/>
                    <a:gd name="connsiteY736" fmla="*/ 1928812 h 2366371"/>
                    <a:gd name="connsiteX737" fmla="*/ 331689 w 1830590"/>
                    <a:gd name="connsiteY737" fmla="*/ 1928812 h 2366371"/>
                    <a:gd name="connsiteX738" fmla="*/ 331689 w 1830590"/>
                    <a:gd name="connsiteY738" fmla="*/ 1830581 h 2366371"/>
                    <a:gd name="connsiteX739" fmla="*/ 429920 w 1830590"/>
                    <a:gd name="connsiteY739" fmla="*/ 1830581 h 2366371"/>
                    <a:gd name="connsiteX740" fmla="*/ 438855 w 1830590"/>
                    <a:gd name="connsiteY740" fmla="*/ 1830581 h 2366371"/>
                    <a:gd name="connsiteX741" fmla="*/ 537086 w 1830590"/>
                    <a:gd name="connsiteY741" fmla="*/ 1830581 h 2366371"/>
                    <a:gd name="connsiteX742" fmla="*/ 537086 w 1830590"/>
                    <a:gd name="connsiteY742" fmla="*/ 1928812 h 2366371"/>
                    <a:gd name="connsiteX743" fmla="*/ 438855 w 1830590"/>
                    <a:gd name="connsiteY743" fmla="*/ 1928812 h 2366371"/>
                    <a:gd name="connsiteX744" fmla="*/ 438855 w 1830590"/>
                    <a:gd name="connsiteY744" fmla="*/ 1830581 h 2366371"/>
                    <a:gd name="connsiteX745" fmla="*/ 537077 w 1830590"/>
                    <a:gd name="connsiteY745" fmla="*/ 1937737 h 2366371"/>
                    <a:gd name="connsiteX746" fmla="*/ 537077 w 1830590"/>
                    <a:gd name="connsiteY746" fmla="*/ 2035969 h 2366371"/>
                    <a:gd name="connsiteX747" fmla="*/ 438845 w 1830590"/>
                    <a:gd name="connsiteY747" fmla="*/ 2035969 h 2366371"/>
                    <a:gd name="connsiteX748" fmla="*/ 438845 w 1830590"/>
                    <a:gd name="connsiteY748" fmla="*/ 1937737 h 2366371"/>
                    <a:gd name="connsiteX749" fmla="*/ 537077 w 1830590"/>
                    <a:gd name="connsiteY749" fmla="*/ 1937737 h 2366371"/>
                    <a:gd name="connsiteX750" fmla="*/ 546011 w 1830590"/>
                    <a:gd name="connsiteY750" fmla="*/ 1937737 h 2366371"/>
                    <a:gd name="connsiteX751" fmla="*/ 644243 w 1830590"/>
                    <a:gd name="connsiteY751" fmla="*/ 1937737 h 2366371"/>
                    <a:gd name="connsiteX752" fmla="*/ 644243 w 1830590"/>
                    <a:gd name="connsiteY752" fmla="*/ 2035969 h 2366371"/>
                    <a:gd name="connsiteX753" fmla="*/ 546011 w 1830590"/>
                    <a:gd name="connsiteY753" fmla="*/ 2035969 h 2366371"/>
                    <a:gd name="connsiteX754" fmla="*/ 546011 w 1830590"/>
                    <a:gd name="connsiteY754" fmla="*/ 1937737 h 2366371"/>
                    <a:gd name="connsiteX755" fmla="*/ 653167 w 1830590"/>
                    <a:gd name="connsiteY755" fmla="*/ 1937737 h 2366371"/>
                    <a:gd name="connsiteX756" fmla="*/ 751399 w 1830590"/>
                    <a:gd name="connsiteY756" fmla="*/ 1937737 h 2366371"/>
                    <a:gd name="connsiteX757" fmla="*/ 751399 w 1830590"/>
                    <a:gd name="connsiteY757" fmla="*/ 2035969 h 2366371"/>
                    <a:gd name="connsiteX758" fmla="*/ 653167 w 1830590"/>
                    <a:gd name="connsiteY758" fmla="*/ 2035969 h 2366371"/>
                    <a:gd name="connsiteX759" fmla="*/ 653167 w 1830590"/>
                    <a:gd name="connsiteY759" fmla="*/ 1937737 h 2366371"/>
                    <a:gd name="connsiteX760" fmla="*/ 760324 w 1830590"/>
                    <a:gd name="connsiteY760" fmla="*/ 1937737 h 2366371"/>
                    <a:gd name="connsiteX761" fmla="*/ 858555 w 1830590"/>
                    <a:gd name="connsiteY761" fmla="*/ 1937737 h 2366371"/>
                    <a:gd name="connsiteX762" fmla="*/ 858555 w 1830590"/>
                    <a:gd name="connsiteY762" fmla="*/ 2035969 h 2366371"/>
                    <a:gd name="connsiteX763" fmla="*/ 760324 w 1830590"/>
                    <a:gd name="connsiteY763" fmla="*/ 2035969 h 2366371"/>
                    <a:gd name="connsiteX764" fmla="*/ 760324 w 1830590"/>
                    <a:gd name="connsiteY764" fmla="*/ 1937737 h 2366371"/>
                    <a:gd name="connsiteX765" fmla="*/ 867480 w 1830590"/>
                    <a:gd name="connsiteY765" fmla="*/ 1937737 h 2366371"/>
                    <a:gd name="connsiteX766" fmla="*/ 965711 w 1830590"/>
                    <a:gd name="connsiteY766" fmla="*/ 1937737 h 2366371"/>
                    <a:gd name="connsiteX767" fmla="*/ 965711 w 1830590"/>
                    <a:gd name="connsiteY767" fmla="*/ 2035969 h 2366371"/>
                    <a:gd name="connsiteX768" fmla="*/ 867480 w 1830590"/>
                    <a:gd name="connsiteY768" fmla="*/ 2035969 h 2366371"/>
                    <a:gd name="connsiteX769" fmla="*/ 867480 w 1830590"/>
                    <a:gd name="connsiteY769" fmla="*/ 1937737 h 2366371"/>
                    <a:gd name="connsiteX770" fmla="*/ 974636 w 1830590"/>
                    <a:gd name="connsiteY770" fmla="*/ 1937737 h 2366371"/>
                    <a:gd name="connsiteX771" fmla="*/ 1072867 w 1830590"/>
                    <a:gd name="connsiteY771" fmla="*/ 1937737 h 2366371"/>
                    <a:gd name="connsiteX772" fmla="*/ 1072867 w 1830590"/>
                    <a:gd name="connsiteY772" fmla="*/ 2035969 h 2366371"/>
                    <a:gd name="connsiteX773" fmla="*/ 974636 w 1830590"/>
                    <a:gd name="connsiteY773" fmla="*/ 2035969 h 2366371"/>
                    <a:gd name="connsiteX774" fmla="*/ 974636 w 1830590"/>
                    <a:gd name="connsiteY774" fmla="*/ 1937737 h 2366371"/>
                    <a:gd name="connsiteX775" fmla="*/ 1081792 w 1830590"/>
                    <a:gd name="connsiteY775" fmla="*/ 1937737 h 2366371"/>
                    <a:gd name="connsiteX776" fmla="*/ 1180024 w 1830590"/>
                    <a:gd name="connsiteY776" fmla="*/ 1937737 h 2366371"/>
                    <a:gd name="connsiteX777" fmla="*/ 1180024 w 1830590"/>
                    <a:gd name="connsiteY777" fmla="*/ 2035969 h 2366371"/>
                    <a:gd name="connsiteX778" fmla="*/ 1081792 w 1830590"/>
                    <a:gd name="connsiteY778" fmla="*/ 2035969 h 2366371"/>
                    <a:gd name="connsiteX779" fmla="*/ 1081792 w 1830590"/>
                    <a:gd name="connsiteY779" fmla="*/ 1937737 h 2366371"/>
                    <a:gd name="connsiteX780" fmla="*/ 1188949 w 1830590"/>
                    <a:gd name="connsiteY780" fmla="*/ 1937737 h 2366371"/>
                    <a:gd name="connsiteX781" fmla="*/ 1287180 w 1830590"/>
                    <a:gd name="connsiteY781" fmla="*/ 1937737 h 2366371"/>
                    <a:gd name="connsiteX782" fmla="*/ 1287180 w 1830590"/>
                    <a:gd name="connsiteY782" fmla="*/ 2035969 h 2366371"/>
                    <a:gd name="connsiteX783" fmla="*/ 1188949 w 1830590"/>
                    <a:gd name="connsiteY783" fmla="*/ 2035969 h 2366371"/>
                    <a:gd name="connsiteX784" fmla="*/ 1188949 w 1830590"/>
                    <a:gd name="connsiteY784" fmla="*/ 1937737 h 2366371"/>
                    <a:gd name="connsiteX785" fmla="*/ 1296105 w 1830590"/>
                    <a:gd name="connsiteY785" fmla="*/ 1937737 h 2366371"/>
                    <a:gd name="connsiteX786" fmla="*/ 1394336 w 1830590"/>
                    <a:gd name="connsiteY786" fmla="*/ 1937737 h 2366371"/>
                    <a:gd name="connsiteX787" fmla="*/ 1394336 w 1830590"/>
                    <a:gd name="connsiteY787" fmla="*/ 2035969 h 2366371"/>
                    <a:gd name="connsiteX788" fmla="*/ 1296105 w 1830590"/>
                    <a:gd name="connsiteY788" fmla="*/ 2035969 h 2366371"/>
                    <a:gd name="connsiteX789" fmla="*/ 1296105 w 1830590"/>
                    <a:gd name="connsiteY789" fmla="*/ 1937737 h 2366371"/>
                    <a:gd name="connsiteX790" fmla="*/ 1296105 w 1830590"/>
                    <a:gd name="connsiteY790" fmla="*/ 1928812 h 2366371"/>
                    <a:gd name="connsiteX791" fmla="*/ 1296105 w 1830590"/>
                    <a:gd name="connsiteY791" fmla="*/ 1830581 h 2366371"/>
                    <a:gd name="connsiteX792" fmla="*/ 1394336 w 1830590"/>
                    <a:gd name="connsiteY792" fmla="*/ 1830581 h 2366371"/>
                    <a:gd name="connsiteX793" fmla="*/ 1394336 w 1830590"/>
                    <a:gd name="connsiteY793" fmla="*/ 1928812 h 2366371"/>
                    <a:gd name="connsiteX794" fmla="*/ 1296105 w 1830590"/>
                    <a:gd name="connsiteY794" fmla="*/ 1928812 h 2366371"/>
                    <a:gd name="connsiteX795" fmla="*/ 1403261 w 1830590"/>
                    <a:gd name="connsiteY795" fmla="*/ 1830581 h 2366371"/>
                    <a:gd name="connsiteX796" fmla="*/ 1501492 w 1830590"/>
                    <a:gd name="connsiteY796" fmla="*/ 1830581 h 2366371"/>
                    <a:gd name="connsiteX797" fmla="*/ 1501492 w 1830590"/>
                    <a:gd name="connsiteY797" fmla="*/ 1928812 h 2366371"/>
                    <a:gd name="connsiteX798" fmla="*/ 1403261 w 1830590"/>
                    <a:gd name="connsiteY798" fmla="*/ 1928812 h 2366371"/>
                    <a:gd name="connsiteX799" fmla="*/ 1403261 w 1830590"/>
                    <a:gd name="connsiteY799" fmla="*/ 1830581 h 2366371"/>
                    <a:gd name="connsiteX800" fmla="*/ 1403261 w 1830590"/>
                    <a:gd name="connsiteY800" fmla="*/ 1821656 h 2366371"/>
                    <a:gd name="connsiteX801" fmla="*/ 1403261 w 1830590"/>
                    <a:gd name="connsiteY801" fmla="*/ 1723425 h 2366371"/>
                    <a:gd name="connsiteX802" fmla="*/ 1501492 w 1830590"/>
                    <a:gd name="connsiteY802" fmla="*/ 1723425 h 2366371"/>
                    <a:gd name="connsiteX803" fmla="*/ 1501492 w 1830590"/>
                    <a:gd name="connsiteY803" fmla="*/ 1821656 h 2366371"/>
                    <a:gd name="connsiteX804" fmla="*/ 1403261 w 1830590"/>
                    <a:gd name="connsiteY804" fmla="*/ 1821656 h 2366371"/>
                    <a:gd name="connsiteX805" fmla="*/ 1403261 w 1830590"/>
                    <a:gd name="connsiteY805" fmla="*/ 1714500 h 2366371"/>
                    <a:gd name="connsiteX806" fmla="*/ 1403261 w 1830590"/>
                    <a:gd name="connsiteY806" fmla="*/ 1616269 h 2366371"/>
                    <a:gd name="connsiteX807" fmla="*/ 1501492 w 1830590"/>
                    <a:gd name="connsiteY807" fmla="*/ 1616269 h 2366371"/>
                    <a:gd name="connsiteX808" fmla="*/ 1501492 w 1830590"/>
                    <a:gd name="connsiteY808" fmla="*/ 1714500 h 2366371"/>
                    <a:gd name="connsiteX809" fmla="*/ 1403261 w 1830590"/>
                    <a:gd name="connsiteY809" fmla="*/ 1714500 h 2366371"/>
                    <a:gd name="connsiteX810" fmla="*/ 1403261 w 1830590"/>
                    <a:gd name="connsiteY810" fmla="*/ 1607344 h 2366371"/>
                    <a:gd name="connsiteX811" fmla="*/ 1403261 w 1830590"/>
                    <a:gd name="connsiteY811" fmla="*/ 1509112 h 2366371"/>
                    <a:gd name="connsiteX812" fmla="*/ 1501492 w 1830590"/>
                    <a:gd name="connsiteY812" fmla="*/ 1509112 h 2366371"/>
                    <a:gd name="connsiteX813" fmla="*/ 1501492 w 1830590"/>
                    <a:gd name="connsiteY813" fmla="*/ 1607344 h 2366371"/>
                    <a:gd name="connsiteX814" fmla="*/ 1403261 w 1830590"/>
                    <a:gd name="connsiteY814" fmla="*/ 1607344 h 2366371"/>
                    <a:gd name="connsiteX815" fmla="*/ 1403261 w 1830590"/>
                    <a:gd name="connsiteY815" fmla="*/ 1500187 h 2366371"/>
                    <a:gd name="connsiteX816" fmla="*/ 1403261 w 1830590"/>
                    <a:gd name="connsiteY816" fmla="*/ 1401956 h 2366371"/>
                    <a:gd name="connsiteX817" fmla="*/ 1501492 w 1830590"/>
                    <a:gd name="connsiteY817" fmla="*/ 1401956 h 2366371"/>
                    <a:gd name="connsiteX818" fmla="*/ 1501492 w 1830590"/>
                    <a:gd name="connsiteY818" fmla="*/ 1500187 h 2366371"/>
                    <a:gd name="connsiteX819" fmla="*/ 1403261 w 1830590"/>
                    <a:gd name="connsiteY819" fmla="*/ 1500187 h 2366371"/>
                    <a:gd name="connsiteX820" fmla="*/ 1403261 w 1830590"/>
                    <a:gd name="connsiteY820" fmla="*/ 1393031 h 2366371"/>
                    <a:gd name="connsiteX821" fmla="*/ 1403261 w 1830590"/>
                    <a:gd name="connsiteY821" fmla="*/ 1294800 h 2366371"/>
                    <a:gd name="connsiteX822" fmla="*/ 1501492 w 1830590"/>
                    <a:gd name="connsiteY822" fmla="*/ 1294800 h 2366371"/>
                    <a:gd name="connsiteX823" fmla="*/ 1501492 w 1830590"/>
                    <a:gd name="connsiteY823" fmla="*/ 1393031 h 2366371"/>
                    <a:gd name="connsiteX824" fmla="*/ 1403261 w 1830590"/>
                    <a:gd name="connsiteY824" fmla="*/ 1393031 h 2366371"/>
                    <a:gd name="connsiteX825" fmla="*/ 1403261 w 1830590"/>
                    <a:gd name="connsiteY825" fmla="*/ 1285875 h 2366371"/>
                    <a:gd name="connsiteX826" fmla="*/ 1403261 w 1830590"/>
                    <a:gd name="connsiteY826" fmla="*/ 1187644 h 2366371"/>
                    <a:gd name="connsiteX827" fmla="*/ 1501492 w 1830590"/>
                    <a:gd name="connsiteY827" fmla="*/ 1187644 h 2366371"/>
                    <a:gd name="connsiteX828" fmla="*/ 1501492 w 1830590"/>
                    <a:gd name="connsiteY828" fmla="*/ 1285875 h 2366371"/>
                    <a:gd name="connsiteX829" fmla="*/ 1403261 w 1830590"/>
                    <a:gd name="connsiteY829" fmla="*/ 1285875 h 2366371"/>
                    <a:gd name="connsiteX830" fmla="*/ 1403261 w 1830590"/>
                    <a:gd name="connsiteY830" fmla="*/ 1178719 h 2366371"/>
                    <a:gd name="connsiteX831" fmla="*/ 1403261 w 1830590"/>
                    <a:gd name="connsiteY831" fmla="*/ 1080487 h 2366371"/>
                    <a:gd name="connsiteX832" fmla="*/ 1501492 w 1830590"/>
                    <a:gd name="connsiteY832" fmla="*/ 1080487 h 2366371"/>
                    <a:gd name="connsiteX833" fmla="*/ 1501492 w 1830590"/>
                    <a:gd name="connsiteY833" fmla="*/ 1178719 h 2366371"/>
                    <a:gd name="connsiteX834" fmla="*/ 1403261 w 1830590"/>
                    <a:gd name="connsiteY834" fmla="*/ 1178719 h 2366371"/>
                    <a:gd name="connsiteX835" fmla="*/ 1403261 w 1830590"/>
                    <a:gd name="connsiteY835" fmla="*/ 1071562 h 2366371"/>
                    <a:gd name="connsiteX836" fmla="*/ 1403261 w 1830590"/>
                    <a:gd name="connsiteY836" fmla="*/ 973331 h 2366371"/>
                    <a:gd name="connsiteX837" fmla="*/ 1501492 w 1830590"/>
                    <a:gd name="connsiteY837" fmla="*/ 973331 h 2366371"/>
                    <a:gd name="connsiteX838" fmla="*/ 1501492 w 1830590"/>
                    <a:gd name="connsiteY838" fmla="*/ 1071562 h 2366371"/>
                    <a:gd name="connsiteX839" fmla="*/ 1403261 w 1830590"/>
                    <a:gd name="connsiteY839" fmla="*/ 1071562 h 2366371"/>
                    <a:gd name="connsiteX840" fmla="*/ 1403261 w 1830590"/>
                    <a:gd name="connsiteY840" fmla="*/ 964406 h 2366371"/>
                    <a:gd name="connsiteX841" fmla="*/ 1403261 w 1830590"/>
                    <a:gd name="connsiteY841" fmla="*/ 866175 h 2366371"/>
                    <a:gd name="connsiteX842" fmla="*/ 1501492 w 1830590"/>
                    <a:gd name="connsiteY842" fmla="*/ 866175 h 2366371"/>
                    <a:gd name="connsiteX843" fmla="*/ 1501492 w 1830590"/>
                    <a:gd name="connsiteY843" fmla="*/ 964406 h 2366371"/>
                    <a:gd name="connsiteX844" fmla="*/ 1403261 w 1830590"/>
                    <a:gd name="connsiteY844" fmla="*/ 964406 h 2366371"/>
                    <a:gd name="connsiteX845" fmla="*/ 1403261 w 1830590"/>
                    <a:gd name="connsiteY845" fmla="*/ 857250 h 2366371"/>
                    <a:gd name="connsiteX846" fmla="*/ 1403261 w 1830590"/>
                    <a:gd name="connsiteY846" fmla="*/ 759019 h 2366371"/>
                    <a:gd name="connsiteX847" fmla="*/ 1501492 w 1830590"/>
                    <a:gd name="connsiteY847" fmla="*/ 759019 h 2366371"/>
                    <a:gd name="connsiteX848" fmla="*/ 1501492 w 1830590"/>
                    <a:gd name="connsiteY848" fmla="*/ 857250 h 2366371"/>
                    <a:gd name="connsiteX849" fmla="*/ 1403261 w 1830590"/>
                    <a:gd name="connsiteY849" fmla="*/ 857250 h 2366371"/>
                    <a:gd name="connsiteX850" fmla="*/ 1403261 w 1830590"/>
                    <a:gd name="connsiteY850" fmla="*/ 750094 h 2366371"/>
                    <a:gd name="connsiteX851" fmla="*/ 1403261 w 1830590"/>
                    <a:gd name="connsiteY851" fmla="*/ 651862 h 2366371"/>
                    <a:gd name="connsiteX852" fmla="*/ 1501492 w 1830590"/>
                    <a:gd name="connsiteY852" fmla="*/ 651862 h 2366371"/>
                    <a:gd name="connsiteX853" fmla="*/ 1501492 w 1830590"/>
                    <a:gd name="connsiteY853" fmla="*/ 750094 h 2366371"/>
                    <a:gd name="connsiteX854" fmla="*/ 1403261 w 1830590"/>
                    <a:gd name="connsiteY854" fmla="*/ 750094 h 2366371"/>
                    <a:gd name="connsiteX855" fmla="*/ 1403261 w 1830590"/>
                    <a:gd name="connsiteY855" fmla="*/ 642938 h 2366371"/>
                    <a:gd name="connsiteX856" fmla="*/ 1403261 w 1830590"/>
                    <a:gd name="connsiteY856" fmla="*/ 544706 h 2366371"/>
                    <a:gd name="connsiteX857" fmla="*/ 1501492 w 1830590"/>
                    <a:gd name="connsiteY857" fmla="*/ 544706 h 2366371"/>
                    <a:gd name="connsiteX858" fmla="*/ 1501492 w 1830590"/>
                    <a:gd name="connsiteY858" fmla="*/ 642938 h 2366371"/>
                    <a:gd name="connsiteX859" fmla="*/ 1403261 w 1830590"/>
                    <a:gd name="connsiteY859" fmla="*/ 642938 h 2366371"/>
                    <a:gd name="connsiteX860" fmla="*/ 1403261 w 1830590"/>
                    <a:gd name="connsiteY860" fmla="*/ 535781 h 2366371"/>
                    <a:gd name="connsiteX861" fmla="*/ 1403261 w 1830590"/>
                    <a:gd name="connsiteY861" fmla="*/ 437550 h 2366371"/>
                    <a:gd name="connsiteX862" fmla="*/ 1501492 w 1830590"/>
                    <a:gd name="connsiteY862" fmla="*/ 437550 h 2366371"/>
                    <a:gd name="connsiteX863" fmla="*/ 1501492 w 1830590"/>
                    <a:gd name="connsiteY863" fmla="*/ 535781 h 2366371"/>
                    <a:gd name="connsiteX864" fmla="*/ 1403261 w 1830590"/>
                    <a:gd name="connsiteY864" fmla="*/ 535781 h 2366371"/>
                    <a:gd name="connsiteX865" fmla="*/ 1403261 w 1830590"/>
                    <a:gd name="connsiteY865" fmla="*/ 428625 h 2366371"/>
                    <a:gd name="connsiteX866" fmla="*/ 1403261 w 1830590"/>
                    <a:gd name="connsiteY866" fmla="*/ 330394 h 2366371"/>
                    <a:gd name="connsiteX867" fmla="*/ 1501492 w 1830590"/>
                    <a:gd name="connsiteY867" fmla="*/ 330394 h 2366371"/>
                    <a:gd name="connsiteX868" fmla="*/ 1501492 w 1830590"/>
                    <a:gd name="connsiteY868" fmla="*/ 428625 h 2366371"/>
                    <a:gd name="connsiteX869" fmla="*/ 1403261 w 1830590"/>
                    <a:gd name="connsiteY869" fmla="*/ 428625 h 2366371"/>
                    <a:gd name="connsiteX870" fmla="*/ 1403261 w 1830590"/>
                    <a:gd name="connsiteY870" fmla="*/ 321469 h 2366371"/>
                    <a:gd name="connsiteX871" fmla="*/ 1403261 w 1830590"/>
                    <a:gd name="connsiteY871" fmla="*/ 223237 h 2366371"/>
                    <a:gd name="connsiteX872" fmla="*/ 1501492 w 1830590"/>
                    <a:gd name="connsiteY872" fmla="*/ 223237 h 2366371"/>
                    <a:gd name="connsiteX873" fmla="*/ 1501492 w 1830590"/>
                    <a:gd name="connsiteY873" fmla="*/ 321469 h 2366371"/>
                    <a:gd name="connsiteX874" fmla="*/ 1403261 w 1830590"/>
                    <a:gd name="connsiteY874" fmla="*/ 321469 h 2366371"/>
                    <a:gd name="connsiteX875" fmla="*/ 1394327 w 1830590"/>
                    <a:gd name="connsiteY875" fmla="*/ 321469 h 2366371"/>
                    <a:gd name="connsiteX876" fmla="*/ 1296095 w 1830590"/>
                    <a:gd name="connsiteY876" fmla="*/ 321469 h 2366371"/>
                    <a:gd name="connsiteX877" fmla="*/ 1296095 w 1830590"/>
                    <a:gd name="connsiteY877" fmla="*/ 223237 h 2366371"/>
                    <a:gd name="connsiteX878" fmla="*/ 1394327 w 1830590"/>
                    <a:gd name="connsiteY878" fmla="*/ 223237 h 2366371"/>
                    <a:gd name="connsiteX879" fmla="*/ 1394327 w 1830590"/>
                    <a:gd name="connsiteY879" fmla="*/ 321469 h 2366371"/>
                    <a:gd name="connsiteX880" fmla="*/ 1287171 w 1830590"/>
                    <a:gd name="connsiteY880" fmla="*/ 321469 h 2366371"/>
                    <a:gd name="connsiteX881" fmla="*/ 1188939 w 1830590"/>
                    <a:gd name="connsiteY881" fmla="*/ 321469 h 2366371"/>
                    <a:gd name="connsiteX882" fmla="*/ 1188939 w 1830590"/>
                    <a:gd name="connsiteY882" fmla="*/ 223237 h 2366371"/>
                    <a:gd name="connsiteX883" fmla="*/ 1287171 w 1830590"/>
                    <a:gd name="connsiteY883" fmla="*/ 223237 h 2366371"/>
                    <a:gd name="connsiteX884" fmla="*/ 1287171 w 1830590"/>
                    <a:gd name="connsiteY884" fmla="*/ 321469 h 2366371"/>
                    <a:gd name="connsiteX885" fmla="*/ 1180014 w 1830590"/>
                    <a:gd name="connsiteY885" fmla="*/ 321469 h 2366371"/>
                    <a:gd name="connsiteX886" fmla="*/ 1081783 w 1830590"/>
                    <a:gd name="connsiteY886" fmla="*/ 321469 h 2366371"/>
                    <a:gd name="connsiteX887" fmla="*/ 1081783 w 1830590"/>
                    <a:gd name="connsiteY887" fmla="*/ 223237 h 2366371"/>
                    <a:gd name="connsiteX888" fmla="*/ 1180014 w 1830590"/>
                    <a:gd name="connsiteY888" fmla="*/ 223237 h 2366371"/>
                    <a:gd name="connsiteX889" fmla="*/ 1180014 w 1830590"/>
                    <a:gd name="connsiteY889" fmla="*/ 321469 h 2366371"/>
                    <a:gd name="connsiteX890" fmla="*/ 1072858 w 1830590"/>
                    <a:gd name="connsiteY890" fmla="*/ 321469 h 2366371"/>
                    <a:gd name="connsiteX891" fmla="*/ 974627 w 1830590"/>
                    <a:gd name="connsiteY891" fmla="*/ 321469 h 2366371"/>
                    <a:gd name="connsiteX892" fmla="*/ 974627 w 1830590"/>
                    <a:gd name="connsiteY892" fmla="*/ 223237 h 2366371"/>
                    <a:gd name="connsiteX893" fmla="*/ 1072858 w 1830590"/>
                    <a:gd name="connsiteY893" fmla="*/ 223237 h 2366371"/>
                    <a:gd name="connsiteX894" fmla="*/ 1072858 w 1830590"/>
                    <a:gd name="connsiteY894" fmla="*/ 321469 h 2366371"/>
                    <a:gd name="connsiteX895" fmla="*/ 965702 w 1830590"/>
                    <a:gd name="connsiteY895" fmla="*/ 321469 h 2366371"/>
                    <a:gd name="connsiteX896" fmla="*/ 867470 w 1830590"/>
                    <a:gd name="connsiteY896" fmla="*/ 321469 h 2366371"/>
                    <a:gd name="connsiteX897" fmla="*/ 867470 w 1830590"/>
                    <a:gd name="connsiteY897" fmla="*/ 223237 h 2366371"/>
                    <a:gd name="connsiteX898" fmla="*/ 965702 w 1830590"/>
                    <a:gd name="connsiteY898" fmla="*/ 223237 h 2366371"/>
                    <a:gd name="connsiteX899" fmla="*/ 965702 w 1830590"/>
                    <a:gd name="connsiteY899" fmla="*/ 321469 h 2366371"/>
                    <a:gd name="connsiteX900" fmla="*/ 858546 w 1830590"/>
                    <a:gd name="connsiteY900" fmla="*/ 321469 h 2366371"/>
                    <a:gd name="connsiteX901" fmla="*/ 760314 w 1830590"/>
                    <a:gd name="connsiteY901" fmla="*/ 321469 h 2366371"/>
                    <a:gd name="connsiteX902" fmla="*/ 760314 w 1830590"/>
                    <a:gd name="connsiteY902" fmla="*/ 223237 h 2366371"/>
                    <a:gd name="connsiteX903" fmla="*/ 858546 w 1830590"/>
                    <a:gd name="connsiteY903" fmla="*/ 223237 h 2366371"/>
                    <a:gd name="connsiteX904" fmla="*/ 858546 w 1830590"/>
                    <a:gd name="connsiteY904" fmla="*/ 321469 h 2366371"/>
                    <a:gd name="connsiteX905" fmla="*/ 751389 w 1830590"/>
                    <a:gd name="connsiteY905" fmla="*/ 321469 h 2366371"/>
                    <a:gd name="connsiteX906" fmla="*/ 653158 w 1830590"/>
                    <a:gd name="connsiteY906" fmla="*/ 321469 h 2366371"/>
                    <a:gd name="connsiteX907" fmla="*/ 653158 w 1830590"/>
                    <a:gd name="connsiteY907" fmla="*/ 223237 h 2366371"/>
                    <a:gd name="connsiteX908" fmla="*/ 751389 w 1830590"/>
                    <a:gd name="connsiteY908" fmla="*/ 223237 h 2366371"/>
                    <a:gd name="connsiteX909" fmla="*/ 751389 w 1830590"/>
                    <a:gd name="connsiteY909" fmla="*/ 321469 h 2366371"/>
                    <a:gd name="connsiteX910" fmla="*/ 644233 w 1830590"/>
                    <a:gd name="connsiteY910" fmla="*/ 321469 h 2366371"/>
                    <a:gd name="connsiteX911" fmla="*/ 546002 w 1830590"/>
                    <a:gd name="connsiteY911" fmla="*/ 321469 h 2366371"/>
                    <a:gd name="connsiteX912" fmla="*/ 546002 w 1830590"/>
                    <a:gd name="connsiteY912" fmla="*/ 223237 h 2366371"/>
                    <a:gd name="connsiteX913" fmla="*/ 644233 w 1830590"/>
                    <a:gd name="connsiteY913" fmla="*/ 223237 h 2366371"/>
                    <a:gd name="connsiteX914" fmla="*/ 644233 w 1830590"/>
                    <a:gd name="connsiteY914" fmla="*/ 321469 h 2366371"/>
                    <a:gd name="connsiteX915" fmla="*/ 537077 w 1830590"/>
                    <a:gd name="connsiteY915" fmla="*/ 321469 h 2366371"/>
                    <a:gd name="connsiteX916" fmla="*/ 438845 w 1830590"/>
                    <a:gd name="connsiteY916" fmla="*/ 321469 h 2366371"/>
                    <a:gd name="connsiteX917" fmla="*/ 438845 w 1830590"/>
                    <a:gd name="connsiteY917" fmla="*/ 223237 h 2366371"/>
                    <a:gd name="connsiteX918" fmla="*/ 537077 w 1830590"/>
                    <a:gd name="connsiteY918" fmla="*/ 223237 h 2366371"/>
                    <a:gd name="connsiteX919" fmla="*/ 537077 w 1830590"/>
                    <a:gd name="connsiteY919" fmla="*/ 321469 h 2366371"/>
                    <a:gd name="connsiteX920" fmla="*/ 429920 w 1830590"/>
                    <a:gd name="connsiteY920" fmla="*/ 321469 h 2366371"/>
                    <a:gd name="connsiteX921" fmla="*/ 331689 w 1830590"/>
                    <a:gd name="connsiteY921" fmla="*/ 321469 h 2366371"/>
                    <a:gd name="connsiteX922" fmla="*/ 331689 w 1830590"/>
                    <a:gd name="connsiteY922" fmla="*/ 223237 h 2366371"/>
                    <a:gd name="connsiteX923" fmla="*/ 429920 w 1830590"/>
                    <a:gd name="connsiteY923" fmla="*/ 223237 h 2366371"/>
                    <a:gd name="connsiteX924" fmla="*/ 429920 w 1830590"/>
                    <a:gd name="connsiteY924" fmla="*/ 321469 h 2366371"/>
                    <a:gd name="connsiteX925" fmla="*/ 429920 w 1830590"/>
                    <a:gd name="connsiteY925" fmla="*/ 330394 h 2366371"/>
                    <a:gd name="connsiteX926" fmla="*/ 429920 w 1830590"/>
                    <a:gd name="connsiteY926" fmla="*/ 428625 h 2366371"/>
                    <a:gd name="connsiteX927" fmla="*/ 331689 w 1830590"/>
                    <a:gd name="connsiteY927" fmla="*/ 428625 h 2366371"/>
                    <a:gd name="connsiteX928" fmla="*/ 331689 w 1830590"/>
                    <a:gd name="connsiteY928" fmla="*/ 330394 h 2366371"/>
                    <a:gd name="connsiteX929" fmla="*/ 429920 w 1830590"/>
                    <a:gd name="connsiteY929" fmla="*/ 330394 h 2366371"/>
                    <a:gd name="connsiteX930" fmla="*/ 322764 w 1830590"/>
                    <a:gd name="connsiteY930" fmla="*/ 428625 h 2366371"/>
                    <a:gd name="connsiteX931" fmla="*/ 224533 w 1830590"/>
                    <a:gd name="connsiteY931" fmla="*/ 428625 h 2366371"/>
                    <a:gd name="connsiteX932" fmla="*/ 224533 w 1830590"/>
                    <a:gd name="connsiteY932" fmla="*/ 330394 h 2366371"/>
                    <a:gd name="connsiteX933" fmla="*/ 322764 w 1830590"/>
                    <a:gd name="connsiteY933" fmla="*/ 330394 h 2366371"/>
                    <a:gd name="connsiteX934" fmla="*/ 322764 w 1830590"/>
                    <a:gd name="connsiteY934" fmla="*/ 428625 h 2366371"/>
                    <a:gd name="connsiteX935" fmla="*/ 322764 w 1830590"/>
                    <a:gd name="connsiteY935" fmla="*/ 437550 h 2366371"/>
                    <a:gd name="connsiteX936" fmla="*/ 322764 w 1830590"/>
                    <a:gd name="connsiteY936" fmla="*/ 535781 h 2366371"/>
                    <a:gd name="connsiteX937" fmla="*/ 224533 w 1830590"/>
                    <a:gd name="connsiteY937" fmla="*/ 535781 h 2366371"/>
                    <a:gd name="connsiteX938" fmla="*/ 224533 w 1830590"/>
                    <a:gd name="connsiteY938" fmla="*/ 437550 h 2366371"/>
                    <a:gd name="connsiteX939" fmla="*/ 322764 w 1830590"/>
                    <a:gd name="connsiteY939" fmla="*/ 437550 h 2366371"/>
                    <a:gd name="connsiteX940" fmla="*/ 322764 w 1830590"/>
                    <a:gd name="connsiteY940" fmla="*/ 544706 h 2366371"/>
                    <a:gd name="connsiteX941" fmla="*/ 322764 w 1830590"/>
                    <a:gd name="connsiteY941" fmla="*/ 642938 h 2366371"/>
                    <a:gd name="connsiteX942" fmla="*/ 224533 w 1830590"/>
                    <a:gd name="connsiteY942" fmla="*/ 642938 h 2366371"/>
                    <a:gd name="connsiteX943" fmla="*/ 224533 w 1830590"/>
                    <a:gd name="connsiteY943" fmla="*/ 544706 h 2366371"/>
                    <a:gd name="connsiteX944" fmla="*/ 322764 w 1830590"/>
                    <a:gd name="connsiteY944" fmla="*/ 544706 h 2366371"/>
                    <a:gd name="connsiteX945" fmla="*/ 322764 w 1830590"/>
                    <a:gd name="connsiteY945" fmla="*/ 651862 h 2366371"/>
                    <a:gd name="connsiteX946" fmla="*/ 322764 w 1830590"/>
                    <a:gd name="connsiteY946" fmla="*/ 750094 h 2366371"/>
                    <a:gd name="connsiteX947" fmla="*/ 224533 w 1830590"/>
                    <a:gd name="connsiteY947" fmla="*/ 750094 h 2366371"/>
                    <a:gd name="connsiteX948" fmla="*/ 224533 w 1830590"/>
                    <a:gd name="connsiteY948" fmla="*/ 651862 h 2366371"/>
                    <a:gd name="connsiteX949" fmla="*/ 322764 w 1830590"/>
                    <a:gd name="connsiteY949" fmla="*/ 651862 h 2366371"/>
                    <a:gd name="connsiteX950" fmla="*/ 322764 w 1830590"/>
                    <a:gd name="connsiteY950" fmla="*/ 759019 h 2366371"/>
                    <a:gd name="connsiteX951" fmla="*/ 322764 w 1830590"/>
                    <a:gd name="connsiteY951" fmla="*/ 857250 h 2366371"/>
                    <a:gd name="connsiteX952" fmla="*/ 224533 w 1830590"/>
                    <a:gd name="connsiteY952" fmla="*/ 857250 h 2366371"/>
                    <a:gd name="connsiteX953" fmla="*/ 224533 w 1830590"/>
                    <a:gd name="connsiteY953" fmla="*/ 759019 h 2366371"/>
                    <a:gd name="connsiteX954" fmla="*/ 322764 w 1830590"/>
                    <a:gd name="connsiteY954" fmla="*/ 759019 h 2366371"/>
                    <a:gd name="connsiteX955" fmla="*/ 322764 w 1830590"/>
                    <a:gd name="connsiteY955" fmla="*/ 866175 h 2366371"/>
                    <a:gd name="connsiteX956" fmla="*/ 322764 w 1830590"/>
                    <a:gd name="connsiteY956" fmla="*/ 964406 h 2366371"/>
                    <a:gd name="connsiteX957" fmla="*/ 224533 w 1830590"/>
                    <a:gd name="connsiteY957" fmla="*/ 964406 h 2366371"/>
                    <a:gd name="connsiteX958" fmla="*/ 224533 w 1830590"/>
                    <a:gd name="connsiteY958" fmla="*/ 866175 h 2366371"/>
                    <a:gd name="connsiteX959" fmla="*/ 322764 w 1830590"/>
                    <a:gd name="connsiteY959" fmla="*/ 866175 h 2366371"/>
                    <a:gd name="connsiteX960" fmla="*/ 322764 w 1830590"/>
                    <a:gd name="connsiteY960" fmla="*/ 973331 h 2366371"/>
                    <a:gd name="connsiteX961" fmla="*/ 322764 w 1830590"/>
                    <a:gd name="connsiteY961" fmla="*/ 1071562 h 2366371"/>
                    <a:gd name="connsiteX962" fmla="*/ 224533 w 1830590"/>
                    <a:gd name="connsiteY962" fmla="*/ 1071562 h 2366371"/>
                    <a:gd name="connsiteX963" fmla="*/ 224533 w 1830590"/>
                    <a:gd name="connsiteY963" fmla="*/ 973331 h 2366371"/>
                    <a:gd name="connsiteX964" fmla="*/ 322764 w 1830590"/>
                    <a:gd name="connsiteY964" fmla="*/ 973331 h 2366371"/>
                    <a:gd name="connsiteX965" fmla="*/ 322764 w 1830590"/>
                    <a:gd name="connsiteY965" fmla="*/ 1080487 h 2366371"/>
                    <a:gd name="connsiteX966" fmla="*/ 322764 w 1830590"/>
                    <a:gd name="connsiteY966" fmla="*/ 1178719 h 2366371"/>
                    <a:gd name="connsiteX967" fmla="*/ 224533 w 1830590"/>
                    <a:gd name="connsiteY967" fmla="*/ 1178719 h 2366371"/>
                    <a:gd name="connsiteX968" fmla="*/ 224533 w 1830590"/>
                    <a:gd name="connsiteY968" fmla="*/ 1080487 h 2366371"/>
                    <a:gd name="connsiteX969" fmla="*/ 322764 w 1830590"/>
                    <a:gd name="connsiteY969" fmla="*/ 1080487 h 2366371"/>
                    <a:gd name="connsiteX970" fmla="*/ 322764 w 1830590"/>
                    <a:gd name="connsiteY970" fmla="*/ 1187644 h 2366371"/>
                    <a:gd name="connsiteX971" fmla="*/ 322764 w 1830590"/>
                    <a:gd name="connsiteY971" fmla="*/ 1285875 h 2366371"/>
                    <a:gd name="connsiteX972" fmla="*/ 224533 w 1830590"/>
                    <a:gd name="connsiteY972" fmla="*/ 1285875 h 2366371"/>
                    <a:gd name="connsiteX973" fmla="*/ 224533 w 1830590"/>
                    <a:gd name="connsiteY973" fmla="*/ 1187644 h 2366371"/>
                    <a:gd name="connsiteX974" fmla="*/ 322764 w 1830590"/>
                    <a:gd name="connsiteY974" fmla="*/ 1187644 h 2366371"/>
                    <a:gd name="connsiteX975" fmla="*/ 322764 w 1830590"/>
                    <a:gd name="connsiteY975" fmla="*/ 1294800 h 2366371"/>
                    <a:gd name="connsiteX976" fmla="*/ 322764 w 1830590"/>
                    <a:gd name="connsiteY976" fmla="*/ 1393031 h 2366371"/>
                    <a:gd name="connsiteX977" fmla="*/ 224533 w 1830590"/>
                    <a:gd name="connsiteY977" fmla="*/ 1393031 h 2366371"/>
                    <a:gd name="connsiteX978" fmla="*/ 224533 w 1830590"/>
                    <a:gd name="connsiteY978" fmla="*/ 1294800 h 2366371"/>
                    <a:gd name="connsiteX979" fmla="*/ 322764 w 1830590"/>
                    <a:gd name="connsiteY979" fmla="*/ 1294800 h 2366371"/>
                    <a:gd name="connsiteX980" fmla="*/ 322764 w 1830590"/>
                    <a:gd name="connsiteY980" fmla="*/ 1401956 h 2366371"/>
                    <a:gd name="connsiteX981" fmla="*/ 322764 w 1830590"/>
                    <a:gd name="connsiteY981" fmla="*/ 1500187 h 2366371"/>
                    <a:gd name="connsiteX982" fmla="*/ 224533 w 1830590"/>
                    <a:gd name="connsiteY982" fmla="*/ 1500187 h 2366371"/>
                    <a:gd name="connsiteX983" fmla="*/ 224533 w 1830590"/>
                    <a:gd name="connsiteY983" fmla="*/ 1401956 h 2366371"/>
                    <a:gd name="connsiteX984" fmla="*/ 322764 w 1830590"/>
                    <a:gd name="connsiteY984" fmla="*/ 1401956 h 2366371"/>
                    <a:gd name="connsiteX985" fmla="*/ 322764 w 1830590"/>
                    <a:gd name="connsiteY985" fmla="*/ 1509112 h 2366371"/>
                    <a:gd name="connsiteX986" fmla="*/ 322764 w 1830590"/>
                    <a:gd name="connsiteY986" fmla="*/ 1607344 h 2366371"/>
                    <a:gd name="connsiteX987" fmla="*/ 224533 w 1830590"/>
                    <a:gd name="connsiteY987" fmla="*/ 1607344 h 2366371"/>
                    <a:gd name="connsiteX988" fmla="*/ 224533 w 1830590"/>
                    <a:gd name="connsiteY988" fmla="*/ 1509112 h 2366371"/>
                    <a:gd name="connsiteX989" fmla="*/ 322764 w 1830590"/>
                    <a:gd name="connsiteY989" fmla="*/ 1509112 h 2366371"/>
                    <a:gd name="connsiteX990" fmla="*/ 322764 w 1830590"/>
                    <a:gd name="connsiteY990" fmla="*/ 1616269 h 2366371"/>
                    <a:gd name="connsiteX991" fmla="*/ 322764 w 1830590"/>
                    <a:gd name="connsiteY991" fmla="*/ 1714500 h 2366371"/>
                    <a:gd name="connsiteX992" fmla="*/ 224533 w 1830590"/>
                    <a:gd name="connsiteY992" fmla="*/ 1714500 h 2366371"/>
                    <a:gd name="connsiteX993" fmla="*/ 224533 w 1830590"/>
                    <a:gd name="connsiteY993" fmla="*/ 1616269 h 2366371"/>
                    <a:gd name="connsiteX994" fmla="*/ 322764 w 1830590"/>
                    <a:gd name="connsiteY994" fmla="*/ 1616269 h 2366371"/>
                    <a:gd name="connsiteX995" fmla="*/ 322764 w 1830590"/>
                    <a:gd name="connsiteY995" fmla="*/ 1723425 h 2366371"/>
                    <a:gd name="connsiteX996" fmla="*/ 322764 w 1830590"/>
                    <a:gd name="connsiteY996" fmla="*/ 1821656 h 2366371"/>
                    <a:gd name="connsiteX997" fmla="*/ 224533 w 1830590"/>
                    <a:gd name="connsiteY997" fmla="*/ 1821656 h 2366371"/>
                    <a:gd name="connsiteX998" fmla="*/ 224533 w 1830590"/>
                    <a:gd name="connsiteY998" fmla="*/ 1723425 h 2366371"/>
                    <a:gd name="connsiteX999" fmla="*/ 322764 w 1830590"/>
                    <a:gd name="connsiteY999" fmla="*/ 1723425 h 2366371"/>
                    <a:gd name="connsiteX1000" fmla="*/ 322764 w 1830590"/>
                    <a:gd name="connsiteY1000" fmla="*/ 1830581 h 2366371"/>
                    <a:gd name="connsiteX1001" fmla="*/ 322764 w 1830590"/>
                    <a:gd name="connsiteY1001" fmla="*/ 1928812 h 2366371"/>
                    <a:gd name="connsiteX1002" fmla="*/ 224533 w 1830590"/>
                    <a:gd name="connsiteY1002" fmla="*/ 1928812 h 2366371"/>
                    <a:gd name="connsiteX1003" fmla="*/ 224533 w 1830590"/>
                    <a:gd name="connsiteY1003" fmla="*/ 1830581 h 2366371"/>
                    <a:gd name="connsiteX1004" fmla="*/ 322764 w 1830590"/>
                    <a:gd name="connsiteY1004" fmla="*/ 1830581 h 2366371"/>
                    <a:gd name="connsiteX1005" fmla="*/ 322764 w 1830590"/>
                    <a:gd name="connsiteY1005" fmla="*/ 1937737 h 2366371"/>
                    <a:gd name="connsiteX1006" fmla="*/ 322764 w 1830590"/>
                    <a:gd name="connsiteY1006" fmla="*/ 2035969 h 2366371"/>
                    <a:gd name="connsiteX1007" fmla="*/ 224533 w 1830590"/>
                    <a:gd name="connsiteY1007" fmla="*/ 2035969 h 2366371"/>
                    <a:gd name="connsiteX1008" fmla="*/ 224533 w 1830590"/>
                    <a:gd name="connsiteY1008" fmla="*/ 1937737 h 2366371"/>
                    <a:gd name="connsiteX1009" fmla="*/ 322764 w 1830590"/>
                    <a:gd name="connsiteY1009" fmla="*/ 1937737 h 2366371"/>
                    <a:gd name="connsiteX1010" fmla="*/ 331699 w 1830590"/>
                    <a:gd name="connsiteY1010" fmla="*/ 1937737 h 2366371"/>
                    <a:gd name="connsiteX1011" fmla="*/ 429930 w 1830590"/>
                    <a:gd name="connsiteY1011" fmla="*/ 1937737 h 2366371"/>
                    <a:gd name="connsiteX1012" fmla="*/ 429930 w 1830590"/>
                    <a:gd name="connsiteY1012" fmla="*/ 2035969 h 2366371"/>
                    <a:gd name="connsiteX1013" fmla="*/ 331699 w 1830590"/>
                    <a:gd name="connsiteY1013" fmla="*/ 2035969 h 2366371"/>
                    <a:gd name="connsiteX1014" fmla="*/ 331699 w 1830590"/>
                    <a:gd name="connsiteY1014" fmla="*/ 1937737 h 2366371"/>
                    <a:gd name="connsiteX1015" fmla="*/ 429920 w 1830590"/>
                    <a:gd name="connsiteY1015" fmla="*/ 2044894 h 2366371"/>
                    <a:gd name="connsiteX1016" fmla="*/ 429920 w 1830590"/>
                    <a:gd name="connsiteY1016" fmla="*/ 2143125 h 2366371"/>
                    <a:gd name="connsiteX1017" fmla="*/ 331689 w 1830590"/>
                    <a:gd name="connsiteY1017" fmla="*/ 2143125 h 2366371"/>
                    <a:gd name="connsiteX1018" fmla="*/ 331689 w 1830590"/>
                    <a:gd name="connsiteY1018" fmla="*/ 2044894 h 2366371"/>
                    <a:gd name="connsiteX1019" fmla="*/ 429920 w 1830590"/>
                    <a:gd name="connsiteY1019" fmla="*/ 2044894 h 2366371"/>
                    <a:gd name="connsiteX1020" fmla="*/ 438855 w 1830590"/>
                    <a:gd name="connsiteY1020" fmla="*/ 2044894 h 2366371"/>
                    <a:gd name="connsiteX1021" fmla="*/ 537086 w 1830590"/>
                    <a:gd name="connsiteY1021" fmla="*/ 2044894 h 2366371"/>
                    <a:gd name="connsiteX1022" fmla="*/ 537086 w 1830590"/>
                    <a:gd name="connsiteY1022" fmla="*/ 2143125 h 2366371"/>
                    <a:gd name="connsiteX1023" fmla="*/ 438855 w 1830590"/>
                    <a:gd name="connsiteY1023" fmla="*/ 2143125 h 2366371"/>
                    <a:gd name="connsiteX1024" fmla="*/ 438855 w 1830590"/>
                    <a:gd name="connsiteY1024" fmla="*/ 2044894 h 2366371"/>
                    <a:gd name="connsiteX1025" fmla="*/ 546011 w 1830590"/>
                    <a:gd name="connsiteY1025" fmla="*/ 2044894 h 2366371"/>
                    <a:gd name="connsiteX1026" fmla="*/ 644243 w 1830590"/>
                    <a:gd name="connsiteY1026" fmla="*/ 2044894 h 2366371"/>
                    <a:gd name="connsiteX1027" fmla="*/ 644243 w 1830590"/>
                    <a:gd name="connsiteY1027" fmla="*/ 2143125 h 2366371"/>
                    <a:gd name="connsiteX1028" fmla="*/ 546011 w 1830590"/>
                    <a:gd name="connsiteY1028" fmla="*/ 2143125 h 2366371"/>
                    <a:gd name="connsiteX1029" fmla="*/ 546011 w 1830590"/>
                    <a:gd name="connsiteY1029" fmla="*/ 2044894 h 2366371"/>
                    <a:gd name="connsiteX1030" fmla="*/ 653167 w 1830590"/>
                    <a:gd name="connsiteY1030" fmla="*/ 2044894 h 2366371"/>
                    <a:gd name="connsiteX1031" fmla="*/ 751399 w 1830590"/>
                    <a:gd name="connsiteY1031" fmla="*/ 2044894 h 2366371"/>
                    <a:gd name="connsiteX1032" fmla="*/ 751399 w 1830590"/>
                    <a:gd name="connsiteY1032" fmla="*/ 2143125 h 2366371"/>
                    <a:gd name="connsiteX1033" fmla="*/ 653167 w 1830590"/>
                    <a:gd name="connsiteY1033" fmla="*/ 2143125 h 2366371"/>
                    <a:gd name="connsiteX1034" fmla="*/ 653167 w 1830590"/>
                    <a:gd name="connsiteY1034" fmla="*/ 2044894 h 2366371"/>
                    <a:gd name="connsiteX1035" fmla="*/ 760324 w 1830590"/>
                    <a:gd name="connsiteY1035" fmla="*/ 2044894 h 2366371"/>
                    <a:gd name="connsiteX1036" fmla="*/ 858555 w 1830590"/>
                    <a:gd name="connsiteY1036" fmla="*/ 2044894 h 2366371"/>
                    <a:gd name="connsiteX1037" fmla="*/ 858555 w 1830590"/>
                    <a:gd name="connsiteY1037" fmla="*/ 2143125 h 2366371"/>
                    <a:gd name="connsiteX1038" fmla="*/ 760324 w 1830590"/>
                    <a:gd name="connsiteY1038" fmla="*/ 2143125 h 2366371"/>
                    <a:gd name="connsiteX1039" fmla="*/ 760324 w 1830590"/>
                    <a:gd name="connsiteY1039" fmla="*/ 2044894 h 2366371"/>
                    <a:gd name="connsiteX1040" fmla="*/ 867480 w 1830590"/>
                    <a:gd name="connsiteY1040" fmla="*/ 2044894 h 2366371"/>
                    <a:gd name="connsiteX1041" fmla="*/ 965711 w 1830590"/>
                    <a:gd name="connsiteY1041" fmla="*/ 2044894 h 2366371"/>
                    <a:gd name="connsiteX1042" fmla="*/ 965711 w 1830590"/>
                    <a:gd name="connsiteY1042" fmla="*/ 2143125 h 2366371"/>
                    <a:gd name="connsiteX1043" fmla="*/ 867480 w 1830590"/>
                    <a:gd name="connsiteY1043" fmla="*/ 2143125 h 2366371"/>
                    <a:gd name="connsiteX1044" fmla="*/ 867480 w 1830590"/>
                    <a:gd name="connsiteY1044" fmla="*/ 2044894 h 2366371"/>
                    <a:gd name="connsiteX1045" fmla="*/ 974636 w 1830590"/>
                    <a:gd name="connsiteY1045" fmla="*/ 2044894 h 2366371"/>
                    <a:gd name="connsiteX1046" fmla="*/ 1072867 w 1830590"/>
                    <a:gd name="connsiteY1046" fmla="*/ 2044894 h 2366371"/>
                    <a:gd name="connsiteX1047" fmla="*/ 1072867 w 1830590"/>
                    <a:gd name="connsiteY1047" fmla="*/ 2143125 h 2366371"/>
                    <a:gd name="connsiteX1048" fmla="*/ 974636 w 1830590"/>
                    <a:gd name="connsiteY1048" fmla="*/ 2143125 h 2366371"/>
                    <a:gd name="connsiteX1049" fmla="*/ 974636 w 1830590"/>
                    <a:gd name="connsiteY1049" fmla="*/ 2044894 h 2366371"/>
                    <a:gd name="connsiteX1050" fmla="*/ 1081792 w 1830590"/>
                    <a:gd name="connsiteY1050" fmla="*/ 2044894 h 2366371"/>
                    <a:gd name="connsiteX1051" fmla="*/ 1180024 w 1830590"/>
                    <a:gd name="connsiteY1051" fmla="*/ 2044894 h 2366371"/>
                    <a:gd name="connsiteX1052" fmla="*/ 1180024 w 1830590"/>
                    <a:gd name="connsiteY1052" fmla="*/ 2143125 h 2366371"/>
                    <a:gd name="connsiteX1053" fmla="*/ 1081792 w 1830590"/>
                    <a:gd name="connsiteY1053" fmla="*/ 2143125 h 2366371"/>
                    <a:gd name="connsiteX1054" fmla="*/ 1081792 w 1830590"/>
                    <a:gd name="connsiteY1054" fmla="*/ 2044894 h 2366371"/>
                    <a:gd name="connsiteX1055" fmla="*/ 1188949 w 1830590"/>
                    <a:gd name="connsiteY1055" fmla="*/ 2044894 h 2366371"/>
                    <a:gd name="connsiteX1056" fmla="*/ 1287180 w 1830590"/>
                    <a:gd name="connsiteY1056" fmla="*/ 2044894 h 2366371"/>
                    <a:gd name="connsiteX1057" fmla="*/ 1287180 w 1830590"/>
                    <a:gd name="connsiteY1057" fmla="*/ 2143125 h 2366371"/>
                    <a:gd name="connsiteX1058" fmla="*/ 1188949 w 1830590"/>
                    <a:gd name="connsiteY1058" fmla="*/ 2143125 h 2366371"/>
                    <a:gd name="connsiteX1059" fmla="*/ 1188949 w 1830590"/>
                    <a:gd name="connsiteY1059" fmla="*/ 2044894 h 2366371"/>
                    <a:gd name="connsiteX1060" fmla="*/ 1296105 w 1830590"/>
                    <a:gd name="connsiteY1060" fmla="*/ 2044894 h 2366371"/>
                    <a:gd name="connsiteX1061" fmla="*/ 1394336 w 1830590"/>
                    <a:gd name="connsiteY1061" fmla="*/ 2044894 h 2366371"/>
                    <a:gd name="connsiteX1062" fmla="*/ 1394336 w 1830590"/>
                    <a:gd name="connsiteY1062" fmla="*/ 2143125 h 2366371"/>
                    <a:gd name="connsiteX1063" fmla="*/ 1296105 w 1830590"/>
                    <a:gd name="connsiteY1063" fmla="*/ 2143125 h 2366371"/>
                    <a:gd name="connsiteX1064" fmla="*/ 1296105 w 1830590"/>
                    <a:gd name="connsiteY1064" fmla="*/ 2044894 h 2366371"/>
                    <a:gd name="connsiteX1065" fmla="*/ 1403261 w 1830590"/>
                    <a:gd name="connsiteY1065" fmla="*/ 2044894 h 2366371"/>
                    <a:gd name="connsiteX1066" fmla="*/ 1501492 w 1830590"/>
                    <a:gd name="connsiteY1066" fmla="*/ 2044894 h 2366371"/>
                    <a:gd name="connsiteX1067" fmla="*/ 1501492 w 1830590"/>
                    <a:gd name="connsiteY1067" fmla="*/ 2143125 h 2366371"/>
                    <a:gd name="connsiteX1068" fmla="*/ 1403261 w 1830590"/>
                    <a:gd name="connsiteY1068" fmla="*/ 2143125 h 2366371"/>
                    <a:gd name="connsiteX1069" fmla="*/ 1403261 w 1830590"/>
                    <a:gd name="connsiteY1069" fmla="*/ 2044894 h 2366371"/>
                    <a:gd name="connsiteX1070" fmla="*/ 1403261 w 1830590"/>
                    <a:gd name="connsiteY1070" fmla="*/ 2035969 h 2366371"/>
                    <a:gd name="connsiteX1071" fmla="*/ 1403261 w 1830590"/>
                    <a:gd name="connsiteY1071" fmla="*/ 1937737 h 2366371"/>
                    <a:gd name="connsiteX1072" fmla="*/ 1501492 w 1830590"/>
                    <a:gd name="connsiteY1072" fmla="*/ 1937737 h 2366371"/>
                    <a:gd name="connsiteX1073" fmla="*/ 1501492 w 1830590"/>
                    <a:gd name="connsiteY1073" fmla="*/ 2035969 h 2366371"/>
                    <a:gd name="connsiteX1074" fmla="*/ 1403261 w 1830590"/>
                    <a:gd name="connsiteY1074" fmla="*/ 2035969 h 2366371"/>
                    <a:gd name="connsiteX1075" fmla="*/ 1510417 w 1830590"/>
                    <a:gd name="connsiteY1075" fmla="*/ 1937737 h 2366371"/>
                    <a:gd name="connsiteX1076" fmla="*/ 1608649 w 1830590"/>
                    <a:gd name="connsiteY1076" fmla="*/ 1937737 h 2366371"/>
                    <a:gd name="connsiteX1077" fmla="*/ 1608649 w 1830590"/>
                    <a:gd name="connsiteY1077" fmla="*/ 2035969 h 2366371"/>
                    <a:gd name="connsiteX1078" fmla="*/ 1510417 w 1830590"/>
                    <a:gd name="connsiteY1078" fmla="*/ 2035969 h 2366371"/>
                    <a:gd name="connsiteX1079" fmla="*/ 1510417 w 1830590"/>
                    <a:gd name="connsiteY1079" fmla="*/ 1937737 h 2366371"/>
                    <a:gd name="connsiteX1080" fmla="*/ 1510417 w 1830590"/>
                    <a:gd name="connsiteY1080" fmla="*/ 1928812 h 2366371"/>
                    <a:gd name="connsiteX1081" fmla="*/ 1510417 w 1830590"/>
                    <a:gd name="connsiteY1081" fmla="*/ 1830581 h 2366371"/>
                    <a:gd name="connsiteX1082" fmla="*/ 1608649 w 1830590"/>
                    <a:gd name="connsiteY1082" fmla="*/ 1830581 h 2366371"/>
                    <a:gd name="connsiteX1083" fmla="*/ 1608649 w 1830590"/>
                    <a:gd name="connsiteY1083" fmla="*/ 1928812 h 2366371"/>
                    <a:gd name="connsiteX1084" fmla="*/ 1510417 w 1830590"/>
                    <a:gd name="connsiteY1084" fmla="*/ 1928812 h 2366371"/>
                    <a:gd name="connsiteX1085" fmla="*/ 1510417 w 1830590"/>
                    <a:gd name="connsiteY1085" fmla="*/ 1821656 h 2366371"/>
                    <a:gd name="connsiteX1086" fmla="*/ 1510417 w 1830590"/>
                    <a:gd name="connsiteY1086" fmla="*/ 1723425 h 2366371"/>
                    <a:gd name="connsiteX1087" fmla="*/ 1608649 w 1830590"/>
                    <a:gd name="connsiteY1087" fmla="*/ 1723425 h 2366371"/>
                    <a:gd name="connsiteX1088" fmla="*/ 1608649 w 1830590"/>
                    <a:gd name="connsiteY1088" fmla="*/ 1821656 h 2366371"/>
                    <a:gd name="connsiteX1089" fmla="*/ 1510417 w 1830590"/>
                    <a:gd name="connsiteY1089" fmla="*/ 1821656 h 2366371"/>
                    <a:gd name="connsiteX1090" fmla="*/ 1510417 w 1830590"/>
                    <a:gd name="connsiteY1090" fmla="*/ 1714500 h 2366371"/>
                    <a:gd name="connsiteX1091" fmla="*/ 1510417 w 1830590"/>
                    <a:gd name="connsiteY1091" fmla="*/ 1616269 h 2366371"/>
                    <a:gd name="connsiteX1092" fmla="*/ 1608649 w 1830590"/>
                    <a:gd name="connsiteY1092" fmla="*/ 1616269 h 2366371"/>
                    <a:gd name="connsiteX1093" fmla="*/ 1608649 w 1830590"/>
                    <a:gd name="connsiteY1093" fmla="*/ 1714500 h 2366371"/>
                    <a:gd name="connsiteX1094" fmla="*/ 1510417 w 1830590"/>
                    <a:gd name="connsiteY1094" fmla="*/ 1714500 h 2366371"/>
                    <a:gd name="connsiteX1095" fmla="*/ 1510417 w 1830590"/>
                    <a:gd name="connsiteY1095" fmla="*/ 1607344 h 2366371"/>
                    <a:gd name="connsiteX1096" fmla="*/ 1510417 w 1830590"/>
                    <a:gd name="connsiteY1096" fmla="*/ 1509112 h 2366371"/>
                    <a:gd name="connsiteX1097" fmla="*/ 1608649 w 1830590"/>
                    <a:gd name="connsiteY1097" fmla="*/ 1509112 h 2366371"/>
                    <a:gd name="connsiteX1098" fmla="*/ 1608649 w 1830590"/>
                    <a:gd name="connsiteY1098" fmla="*/ 1607344 h 2366371"/>
                    <a:gd name="connsiteX1099" fmla="*/ 1510417 w 1830590"/>
                    <a:gd name="connsiteY1099" fmla="*/ 1607344 h 2366371"/>
                    <a:gd name="connsiteX1100" fmla="*/ 1510417 w 1830590"/>
                    <a:gd name="connsiteY1100" fmla="*/ 1500187 h 2366371"/>
                    <a:gd name="connsiteX1101" fmla="*/ 1510417 w 1830590"/>
                    <a:gd name="connsiteY1101" fmla="*/ 1401956 h 2366371"/>
                    <a:gd name="connsiteX1102" fmla="*/ 1608649 w 1830590"/>
                    <a:gd name="connsiteY1102" fmla="*/ 1401956 h 2366371"/>
                    <a:gd name="connsiteX1103" fmla="*/ 1608649 w 1830590"/>
                    <a:gd name="connsiteY1103" fmla="*/ 1500187 h 2366371"/>
                    <a:gd name="connsiteX1104" fmla="*/ 1510417 w 1830590"/>
                    <a:gd name="connsiteY1104" fmla="*/ 1500187 h 2366371"/>
                    <a:gd name="connsiteX1105" fmla="*/ 1510417 w 1830590"/>
                    <a:gd name="connsiteY1105" fmla="*/ 1393031 h 2366371"/>
                    <a:gd name="connsiteX1106" fmla="*/ 1510417 w 1830590"/>
                    <a:gd name="connsiteY1106" fmla="*/ 1294800 h 2366371"/>
                    <a:gd name="connsiteX1107" fmla="*/ 1608649 w 1830590"/>
                    <a:gd name="connsiteY1107" fmla="*/ 1294800 h 2366371"/>
                    <a:gd name="connsiteX1108" fmla="*/ 1608649 w 1830590"/>
                    <a:gd name="connsiteY1108" fmla="*/ 1393031 h 2366371"/>
                    <a:gd name="connsiteX1109" fmla="*/ 1510417 w 1830590"/>
                    <a:gd name="connsiteY1109" fmla="*/ 1393031 h 2366371"/>
                    <a:gd name="connsiteX1110" fmla="*/ 1510417 w 1830590"/>
                    <a:gd name="connsiteY1110" fmla="*/ 1285875 h 2366371"/>
                    <a:gd name="connsiteX1111" fmla="*/ 1510417 w 1830590"/>
                    <a:gd name="connsiteY1111" fmla="*/ 1187644 h 2366371"/>
                    <a:gd name="connsiteX1112" fmla="*/ 1608649 w 1830590"/>
                    <a:gd name="connsiteY1112" fmla="*/ 1187644 h 2366371"/>
                    <a:gd name="connsiteX1113" fmla="*/ 1608649 w 1830590"/>
                    <a:gd name="connsiteY1113" fmla="*/ 1285875 h 2366371"/>
                    <a:gd name="connsiteX1114" fmla="*/ 1510417 w 1830590"/>
                    <a:gd name="connsiteY1114" fmla="*/ 1285875 h 2366371"/>
                    <a:gd name="connsiteX1115" fmla="*/ 1510417 w 1830590"/>
                    <a:gd name="connsiteY1115" fmla="*/ 1178719 h 2366371"/>
                    <a:gd name="connsiteX1116" fmla="*/ 1510417 w 1830590"/>
                    <a:gd name="connsiteY1116" fmla="*/ 1080487 h 2366371"/>
                    <a:gd name="connsiteX1117" fmla="*/ 1608649 w 1830590"/>
                    <a:gd name="connsiteY1117" fmla="*/ 1080487 h 2366371"/>
                    <a:gd name="connsiteX1118" fmla="*/ 1608649 w 1830590"/>
                    <a:gd name="connsiteY1118" fmla="*/ 1178719 h 2366371"/>
                    <a:gd name="connsiteX1119" fmla="*/ 1510417 w 1830590"/>
                    <a:gd name="connsiteY1119" fmla="*/ 1178719 h 2366371"/>
                    <a:gd name="connsiteX1120" fmla="*/ 1510417 w 1830590"/>
                    <a:gd name="connsiteY1120" fmla="*/ 1071562 h 2366371"/>
                    <a:gd name="connsiteX1121" fmla="*/ 1510417 w 1830590"/>
                    <a:gd name="connsiteY1121" fmla="*/ 973331 h 2366371"/>
                    <a:gd name="connsiteX1122" fmla="*/ 1608649 w 1830590"/>
                    <a:gd name="connsiteY1122" fmla="*/ 973331 h 2366371"/>
                    <a:gd name="connsiteX1123" fmla="*/ 1608649 w 1830590"/>
                    <a:gd name="connsiteY1123" fmla="*/ 1071562 h 2366371"/>
                    <a:gd name="connsiteX1124" fmla="*/ 1510417 w 1830590"/>
                    <a:gd name="connsiteY1124" fmla="*/ 1071562 h 2366371"/>
                    <a:gd name="connsiteX1125" fmla="*/ 1510417 w 1830590"/>
                    <a:gd name="connsiteY1125" fmla="*/ 964406 h 2366371"/>
                    <a:gd name="connsiteX1126" fmla="*/ 1510417 w 1830590"/>
                    <a:gd name="connsiteY1126" fmla="*/ 866175 h 2366371"/>
                    <a:gd name="connsiteX1127" fmla="*/ 1608649 w 1830590"/>
                    <a:gd name="connsiteY1127" fmla="*/ 866175 h 2366371"/>
                    <a:gd name="connsiteX1128" fmla="*/ 1608649 w 1830590"/>
                    <a:gd name="connsiteY1128" fmla="*/ 964406 h 2366371"/>
                    <a:gd name="connsiteX1129" fmla="*/ 1510417 w 1830590"/>
                    <a:gd name="connsiteY1129" fmla="*/ 964406 h 2366371"/>
                    <a:gd name="connsiteX1130" fmla="*/ 1510417 w 1830590"/>
                    <a:gd name="connsiteY1130" fmla="*/ 857250 h 2366371"/>
                    <a:gd name="connsiteX1131" fmla="*/ 1510417 w 1830590"/>
                    <a:gd name="connsiteY1131" fmla="*/ 759019 h 2366371"/>
                    <a:gd name="connsiteX1132" fmla="*/ 1608649 w 1830590"/>
                    <a:gd name="connsiteY1132" fmla="*/ 759019 h 2366371"/>
                    <a:gd name="connsiteX1133" fmla="*/ 1608649 w 1830590"/>
                    <a:gd name="connsiteY1133" fmla="*/ 857250 h 2366371"/>
                    <a:gd name="connsiteX1134" fmla="*/ 1510417 w 1830590"/>
                    <a:gd name="connsiteY1134" fmla="*/ 857250 h 2366371"/>
                    <a:gd name="connsiteX1135" fmla="*/ 1510417 w 1830590"/>
                    <a:gd name="connsiteY1135" fmla="*/ 750094 h 2366371"/>
                    <a:gd name="connsiteX1136" fmla="*/ 1510417 w 1830590"/>
                    <a:gd name="connsiteY1136" fmla="*/ 651862 h 2366371"/>
                    <a:gd name="connsiteX1137" fmla="*/ 1608649 w 1830590"/>
                    <a:gd name="connsiteY1137" fmla="*/ 651862 h 2366371"/>
                    <a:gd name="connsiteX1138" fmla="*/ 1608649 w 1830590"/>
                    <a:gd name="connsiteY1138" fmla="*/ 750094 h 2366371"/>
                    <a:gd name="connsiteX1139" fmla="*/ 1510417 w 1830590"/>
                    <a:gd name="connsiteY1139" fmla="*/ 750094 h 2366371"/>
                    <a:gd name="connsiteX1140" fmla="*/ 1510417 w 1830590"/>
                    <a:gd name="connsiteY1140" fmla="*/ 642938 h 2366371"/>
                    <a:gd name="connsiteX1141" fmla="*/ 1510417 w 1830590"/>
                    <a:gd name="connsiteY1141" fmla="*/ 544706 h 2366371"/>
                    <a:gd name="connsiteX1142" fmla="*/ 1608649 w 1830590"/>
                    <a:gd name="connsiteY1142" fmla="*/ 544706 h 2366371"/>
                    <a:gd name="connsiteX1143" fmla="*/ 1608649 w 1830590"/>
                    <a:gd name="connsiteY1143" fmla="*/ 642938 h 2366371"/>
                    <a:gd name="connsiteX1144" fmla="*/ 1510417 w 1830590"/>
                    <a:gd name="connsiteY1144" fmla="*/ 642938 h 2366371"/>
                    <a:gd name="connsiteX1145" fmla="*/ 1510417 w 1830590"/>
                    <a:gd name="connsiteY1145" fmla="*/ 535781 h 2366371"/>
                    <a:gd name="connsiteX1146" fmla="*/ 1510417 w 1830590"/>
                    <a:gd name="connsiteY1146" fmla="*/ 437550 h 2366371"/>
                    <a:gd name="connsiteX1147" fmla="*/ 1608649 w 1830590"/>
                    <a:gd name="connsiteY1147" fmla="*/ 437550 h 2366371"/>
                    <a:gd name="connsiteX1148" fmla="*/ 1608649 w 1830590"/>
                    <a:gd name="connsiteY1148" fmla="*/ 535781 h 2366371"/>
                    <a:gd name="connsiteX1149" fmla="*/ 1510417 w 1830590"/>
                    <a:gd name="connsiteY1149" fmla="*/ 535781 h 2366371"/>
                    <a:gd name="connsiteX1150" fmla="*/ 1510417 w 1830590"/>
                    <a:gd name="connsiteY1150" fmla="*/ 428625 h 2366371"/>
                    <a:gd name="connsiteX1151" fmla="*/ 1510417 w 1830590"/>
                    <a:gd name="connsiteY1151" fmla="*/ 330394 h 2366371"/>
                    <a:gd name="connsiteX1152" fmla="*/ 1608649 w 1830590"/>
                    <a:gd name="connsiteY1152" fmla="*/ 330394 h 2366371"/>
                    <a:gd name="connsiteX1153" fmla="*/ 1608649 w 1830590"/>
                    <a:gd name="connsiteY1153" fmla="*/ 428625 h 2366371"/>
                    <a:gd name="connsiteX1154" fmla="*/ 1510417 w 1830590"/>
                    <a:gd name="connsiteY1154" fmla="*/ 428625 h 2366371"/>
                    <a:gd name="connsiteX1155" fmla="*/ 1510417 w 1830590"/>
                    <a:gd name="connsiteY1155" fmla="*/ 321469 h 2366371"/>
                    <a:gd name="connsiteX1156" fmla="*/ 1510417 w 1830590"/>
                    <a:gd name="connsiteY1156" fmla="*/ 223237 h 2366371"/>
                    <a:gd name="connsiteX1157" fmla="*/ 1608649 w 1830590"/>
                    <a:gd name="connsiteY1157" fmla="*/ 223237 h 2366371"/>
                    <a:gd name="connsiteX1158" fmla="*/ 1608649 w 1830590"/>
                    <a:gd name="connsiteY1158" fmla="*/ 321469 h 2366371"/>
                    <a:gd name="connsiteX1159" fmla="*/ 1510417 w 1830590"/>
                    <a:gd name="connsiteY1159" fmla="*/ 321469 h 2366371"/>
                    <a:gd name="connsiteX1160" fmla="*/ 1510417 w 1830590"/>
                    <a:gd name="connsiteY1160" fmla="*/ 214313 h 2366371"/>
                    <a:gd name="connsiteX1161" fmla="*/ 1510417 w 1830590"/>
                    <a:gd name="connsiteY1161" fmla="*/ 116081 h 2366371"/>
                    <a:gd name="connsiteX1162" fmla="*/ 1608649 w 1830590"/>
                    <a:gd name="connsiteY1162" fmla="*/ 116081 h 2366371"/>
                    <a:gd name="connsiteX1163" fmla="*/ 1608649 w 1830590"/>
                    <a:gd name="connsiteY1163" fmla="*/ 214313 h 2366371"/>
                    <a:gd name="connsiteX1164" fmla="*/ 1510417 w 1830590"/>
                    <a:gd name="connsiteY1164" fmla="*/ 214313 h 2366371"/>
                    <a:gd name="connsiteX1165" fmla="*/ 1501483 w 1830590"/>
                    <a:gd name="connsiteY1165" fmla="*/ 214313 h 2366371"/>
                    <a:gd name="connsiteX1166" fmla="*/ 1403252 w 1830590"/>
                    <a:gd name="connsiteY1166" fmla="*/ 214313 h 2366371"/>
                    <a:gd name="connsiteX1167" fmla="*/ 1403252 w 1830590"/>
                    <a:gd name="connsiteY1167" fmla="*/ 116081 h 2366371"/>
                    <a:gd name="connsiteX1168" fmla="*/ 1501483 w 1830590"/>
                    <a:gd name="connsiteY1168" fmla="*/ 116081 h 2366371"/>
                    <a:gd name="connsiteX1169" fmla="*/ 1501483 w 1830590"/>
                    <a:gd name="connsiteY1169" fmla="*/ 214313 h 2366371"/>
                    <a:gd name="connsiteX1170" fmla="*/ 1394327 w 1830590"/>
                    <a:gd name="connsiteY1170" fmla="*/ 214313 h 2366371"/>
                    <a:gd name="connsiteX1171" fmla="*/ 1296095 w 1830590"/>
                    <a:gd name="connsiteY1171" fmla="*/ 214313 h 2366371"/>
                    <a:gd name="connsiteX1172" fmla="*/ 1296095 w 1830590"/>
                    <a:gd name="connsiteY1172" fmla="*/ 116081 h 2366371"/>
                    <a:gd name="connsiteX1173" fmla="*/ 1394327 w 1830590"/>
                    <a:gd name="connsiteY1173" fmla="*/ 116081 h 2366371"/>
                    <a:gd name="connsiteX1174" fmla="*/ 1394327 w 1830590"/>
                    <a:gd name="connsiteY1174" fmla="*/ 214313 h 2366371"/>
                    <a:gd name="connsiteX1175" fmla="*/ 1287171 w 1830590"/>
                    <a:gd name="connsiteY1175" fmla="*/ 214313 h 2366371"/>
                    <a:gd name="connsiteX1176" fmla="*/ 1188939 w 1830590"/>
                    <a:gd name="connsiteY1176" fmla="*/ 214313 h 2366371"/>
                    <a:gd name="connsiteX1177" fmla="*/ 1188939 w 1830590"/>
                    <a:gd name="connsiteY1177" fmla="*/ 116081 h 2366371"/>
                    <a:gd name="connsiteX1178" fmla="*/ 1287171 w 1830590"/>
                    <a:gd name="connsiteY1178" fmla="*/ 116081 h 2366371"/>
                    <a:gd name="connsiteX1179" fmla="*/ 1287171 w 1830590"/>
                    <a:gd name="connsiteY1179" fmla="*/ 214313 h 2366371"/>
                    <a:gd name="connsiteX1180" fmla="*/ 1180014 w 1830590"/>
                    <a:gd name="connsiteY1180" fmla="*/ 214313 h 2366371"/>
                    <a:gd name="connsiteX1181" fmla="*/ 1081783 w 1830590"/>
                    <a:gd name="connsiteY1181" fmla="*/ 214313 h 2366371"/>
                    <a:gd name="connsiteX1182" fmla="*/ 1081783 w 1830590"/>
                    <a:gd name="connsiteY1182" fmla="*/ 116081 h 2366371"/>
                    <a:gd name="connsiteX1183" fmla="*/ 1180014 w 1830590"/>
                    <a:gd name="connsiteY1183" fmla="*/ 116081 h 2366371"/>
                    <a:gd name="connsiteX1184" fmla="*/ 1180014 w 1830590"/>
                    <a:gd name="connsiteY1184" fmla="*/ 214313 h 2366371"/>
                    <a:gd name="connsiteX1185" fmla="*/ 1072858 w 1830590"/>
                    <a:gd name="connsiteY1185" fmla="*/ 214313 h 2366371"/>
                    <a:gd name="connsiteX1186" fmla="*/ 974627 w 1830590"/>
                    <a:gd name="connsiteY1186" fmla="*/ 214313 h 2366371"/>
                    <a:gd name="connsiteX1187" fmla="*/ 974627 w 1830590"/>
                    <a:gd name="connsiteY1187" fmla="*/ 116081 h 2366371"/>
                    <a:gd name="connsiteX1188" fmla="*/ 1072858 w 1830590"/>
                    <a:gd name="connsiteY1188" fmla="*/ 116081 h 2366371"/>
                    <a:gd name="connsiteX1189" fmla="*/ 1072858 w 1830590"/>
                    <a:gd name="connsiteY1189" fmla="*/ 214313 h 2366371"/>
                    <a:gd name="connsiteX1190" fmla="*/ 965702 w 1830590"/>
                    <a:gd name="connsiteY1190" fmla="*/ 214313 h 2366371"/>
                    <a:gd name="connsiteX1191" fmla="*/ 867470 w 1830590"/>
                    <a:gd name="connsiteY1191" fmla="*/ 214313 h 2366371"/>
                    <a:gd name="connsiteX1192" fmla="*/ 867470 w 1830590"/>
                    <a:gd name="connsiteY1192" fmla="*/ 116081 h 2366371"/>
                    <a:gd name="connsiteX1193" fmla="*/ 965702 w 1830590"/>
                    <a:gd name="connsiteY1193" fmla="*/ 116081 h 2366371"/>
                    <a:gd name="connsiteX1194" fmla="*/ 965702 w 1830590"/>
                    <a:gd name="connsiteY1194" fmla="*/ 214313 h 2366371"/>
                    <a:gd name="connsiteX1195" fmla="*/ 858546 w 1830590"/>
                    <a:gd name="connsiteY1195" fmla="*/ 214313 h 2366371"/>
                    <a:gd name="connsiteX1196" fmla="*/ 760314 w 1830590"/>
                    <a:gd name="connsiteY1196" fmla="*/ 214313 h 2366371"/>
                    <a:gd name="connsiteX1197" fmla="*/ 760314 w 1830590"/>
                    <a:gd name="connsiteY1197" fmla="*/ 116081 h 2366371"/>
                    <a:gd name="connsiteX1198" fmla="*/ 858546 w 1830590"/>
                    <a:gd name="connsiteY1198" fmla="*/ 116081 h 2366371"/>
                    <a:gd name="connsiteX1199" fmla="*/ 858546 w 1830590"/>
                    <a:gd name="connsiteY1199" fmla="*/ 214313 h 2366371"/>
                    <a:gd name="connsiteX1200" fmla="*/ 751389 w 1830590"/>
                    <a:gd name="connsiteY1200" fmla="*/ 214313 h 2366371"/>
                    <a:gd name="connsiteX1201" fmla="*/ 653158 w 1830590"/>
                    <a:gd name="connsiteY1201" fmla="*/ 214313 h 2366371"/>
                    <a:gd name="connsiteX1202" fmla="*/ 653158 w 1830590"/>
                    <a:gd name="connsiteY1202" fmla="*/ 116081 h 2366371"/>
                    <a:gd name="connsiteX1203" fmla="*/ 751389 w 1830590"/>
                    <a:gd name="connsiteY1203" fmla="*/ 116081 h 2366371"/>
                    <a:gd name="connsiteX1204" fmla="*/ 751389 w 1830590"/>
                    <a:gd name="connsiteY1204" fmla="*/ 214313 h 2366371"/>
                    <a:gd name="connsiteX1205" fmla="*/ 644233 w 1830590"/>
                    <a:gd name="connsiteY1205" fmla="*/ 214313 h 2366371"/>
                    <a:gd name="connsiteX1206" fmla="*/ 546002 w 1830590"/>
                    <a:gd name="connsiteY1206" fmla="*/ 214313 h 2366371"/>
                    <a:gd name="connsiteX1207" fmla="*/ 546002 w 1830590"/>
                    <a:gd name="connsiteY1207" fmla="*/ 116081 h 2366371"/>
                    <a:gd name="connsiteX1208" fmla="*/ 644233 w 1830590"/>
                    <a:gd name="connsiteY1208" fmla="*/ 116081 h 2366371"/>
                    <a:gd name="connsiteX1209" fmla="*/ 644233 w 1830590"/>
                    <a:gd name="connsiteY1209" fmla="*/ 214313 h 2366371"/>
                    <a:gd name="connsiteX1210" fmla="*/ 537077 w 1830590"/>
                    <a:gd name="connsiteY1210" fmla="*/ 214313 h 2366371"/>
                    <a:gd name="connsiteX1211" fmla="*/ 438845 w 1830590"/>
                    <a:gd name="connsiteY1211" fmla="*/ 214313 h 2366371"/>
                    <a:gd name="connsiteX1212" fmla="*/ 438845 w 1830590"/>
                    <a:gd name="connsiteY1212" fmla="*/ 116081 h 2366371"/>
                    <a:gd name="connsiteX1213" fmla="*/ 537077 w 1830590"/>
                    <a:gd name="connsiteY1213" fmla="*/ 116081 h 2366371"/>
                    <a:gd name="connsiteX1214" fmla="*/ 537077 w 1830590"/>
                    <a:gd name="connsiteY1214" fmla="*/ 214313 h 2366371"/>
                    <a:gd name="connsiteX1215" fmla="*/ 429920 w 1830590"/>
                    <a:gd name="connsiteY1215" fmla="*/ 214313 h 2366371"/>
                    <a:gd name="connsiteX1216" fmla="*/ 331689 w 1830590"/>
                    <a:gd name="connsiteY1216" fmla="*/ 214313 h 2366371"/>
                    <a:gd name="connsiteX1217" fmla="*/ 331689 w 1830590"/>
                    <a:gd name="connsiteY1217" fmla="*/ 116081 h 2366371"/>
                    <a:gd name="connsiteX1218" fmla="*/ 429920 w 1830590"/>
                    <a:gd name="connsiteY1218" fmla="*/ 116081 h 2366371"/>
                    <a:gd name="connsiteX1219" fmla="*/ 429920 w 1830590"/>
                    <a:gd name="connsiteY1219" fmla="*/ 214313 h 2366371"/>
                    <a:gd name="connsiteX1220" fmla="*/ 322764 w 1830590"/>
                    <a:gd name="connsiteY1220" fmla="*/ 214313 h 2366371"/>
                    <a:gd name="connsiteX1221" fmla="*/ 224533 w 1830590"/>
                    <a:gd name="connsiteY1221" fmla="*/ 214313 h 2366371"/>
                    <a:gd name="connsiteX1222" fmla="*/ 224533 w 1830590"/>
                    <a:gd name="connsiteY1222" fmla="*/ 116081 h 2366371"/>
                    <a:gd name="connsiteX1223" fmla="*/ 322764 w 1830590"/>
                    <a:gd name="connsiteY1223" fmla="*/ 116081 h 2366371"/>
                    <a:gd name="connsiteX1224" fmla="*/ 322764 w 1830590"/>
                    <a:gd name="connsiteY1224" fmla="*/ 214313 h 2366371"/>
                    <a:gd name="connsiteX1225" fmla="*/ 322764 w 1830590"/>
                    <a:gd name="connsiteY1225" fmla="*/ 223237 h 2366371"/>
                    <a:gd name="connsiteX1226" fmla="*/ 322764 w 1830590"/>
                    <a:gd name="connsiteY1226" fmla="*/ 321469 h 2366371"/>
                    <a:gd name="connsiteX1227" fmla="*/ 224533 w 1830590"/>
                    <a:gd name="connsiteY1227" fmla="*/ 321469 h 2366371"/>
                    <a:gd name="connsiteX1228" fmla="*/ 224533 w 1830590"/>
                    <a:gd name="connsiteY1228" fmla="*/ 223237 h 2366371"/>
                    <a:gd name="connsiteX1229" fmla="*/ 322764 w 1830590"/>
                    <a:gd name="connsiteY1229" fmla="*/ 223237 h 2366371"/>
                    <a:gd name="connsiteX1230" fmla="*/ 215608 w 1830590"/>
                    <a:gd name="connsiteY1230" fmla="*/ 321469 h 2366371"/>
                    <a:gd name="connsiteX1231" fmla="*/ 117377 w 1830590"/>
                    <a:gd name="connsiteY1231" fmla="*/ 321469 h 2366371"/>
                    <a:gd name="connsiteX1232" fmla="*/ 117377 w 1830590"/>
                    <a:gd name="connsiteY1232" fmla="*/ 223237 h 2366371"/>
                    <a:gd name="connsiteX1233" fmla="*/ 215608 w 1830590"/>
                    <a:gd name="connsiteY1233" fmla="*/ 223237 h 2366371"/>
                    <a:gd name="connsiteX1234" fmla="*/ 215608 w 1830590"/>
                    <a:gd name="connsiteY1234" fmla="*/ 321469 h 2366371"/>
                    <a:gd name="connsiteX1235" fmla="*/ 215608 w 1830590"/>
                    <a:gd name="connsiteY1235" fmla="*/ 330394 h 2366371"/>
                    <a:gd name="connsiteX1236" fmla="*/ 215608 w 1830590"/>
                    <a:gd name="connsiteY1236" fmla="*/ 428625 h 2366371"/>
                    <a:gd name="connsiteX1237" fmla="*/ 117377 w 1830590"/>
                    <a:gd name="connsiteY1237" fmla="*/ 428625 h 2366371"/>
                    <a:gd name="connsiteX1238" fmla="*/ 117377 w 1830590"/>
                    <a:gd name="connsiteY1238" fmla="*/ 330394 h 2366371"/>
                    <a:gd name="connsiteX1239" fmla="*/ 215608 w 1830590"/>
                    <a:gd name="connsiteY1239" fmla="*/ 330394 h 2366371"/>
                    <a:gd name="connsiteX1240" fmla="*/ 215608 w 1830590"/>
                    <a:gd name="connsiteY1240" fmla="*/ 437550 h 2366371"/>
                    <a:gd name="connsiteX1241" fmla="*/ 215608 w 1830590"/>
                    <a:gd name="connsiteY1241" fmla="*/ 535781 h 2366371"/>
                    <a:gd name="connsiteX1242" fmla="*/ 117377 w 1830590"/>
                    <a:gd name="connsiteY1242" fmla="*/ 535781 h 2366371"/>
                    <a:gd name="connsiteX1243" fmla="*/ 117377 w 1830590"/>
                    <a:gd name="connsiteY1243" fmla="*/ 437550 h 2366371"/>
                    <a:gd name="connsiteX1244" fmla="*/ 215608 w 1830590"/>
                    <a:gd name="connsiteY1244" fmla="*/ 437550 h 2366371"/>
                    <a:gd name="connsiteX1245" fmla="*/ 215608 w 1830590"/>
                    <a:gd name="connsiteY1245" fmla="*/ 544706 h 2366371"/>
                    <a:gd name="connsiteX1246" fmla="*/ 215608 w 1830590"/>
                    <a:gd name="connsiteY1246" fmla="*/ 642938 h 2366371"/>
                    <a:gd name="connsiteX1247" fmla="*/ 117377 w 1830590"/>
                    <a:gd name="connsiteY1247" fmla="*/ 642938 h 2366371"/>
                    <a:gd name="connsiteX1248" fmla="*/ 117377 w 1830590"/>
                    <a:gd name="connsiteY1248" fmla="*/ 544706 h 2366371"/>
                    <a:gd name="connsiteX1249" fmla="*/ 215608 w 1830590"/>
                    <a:gd name="connsiteY1249" fmla="*/ 544706 h 2366371"/>
                    <a:gd name="connsiteX1250" fmla="*/ 215608 w 1830590"/>
                    <a:gd name="connsiteY1250" fmla="*/ 651862 h 2366371"/>
                    <a:gd name="connsiteX1251" fmla="*/ 215608 w 1830590"/>
                    <a:gd name="connsiteY1251" fmla="*/ 750094 h 2366371"/>
                    <a:gd name="connsiteX1252" fmla="*/ 117377 w 1830590"/>
                    <a:gd name="connsiteY1252" fmla="*/ 750094 h 2366371"/>
                    <a:gd name="connsiteX1253" fmla="*/ 117377 w 1830590"/>
                    <a:gd name="connsiteY1253" fmla="*/ 651862 h 2366371"/>
                    <a:gd name="connsiteX1254" fmla="*/ 215608 w 1830590"/>
                    <a:gd name="connsiteY1254" fmla="*/ 651862 h 2366371"/>
                    <a:gd name="connsiteX1255" fmla="*/ 215608 w 1830590"/>
                    <a:gd name="connsiteY1255" fmla="*/ 759019 h 2366371"/>
                    <a:gd name="connsiteX1256" fmla="*/ 215608 w 1830590"/>
                    <a:gd name="connsiteY1256" fmla="*/ 857250 h 2366371"/>
                    <a:gd name="connsiteX1257" fmla="*/ 117377 w 1830590"/>
                    <a:gd name="connsiteY1257" fmla="*/ 857250 h 2366371"/>
                    <a:gd name="connsiteX1258" fmla="*/ 117377 w 1830590"/>
                    <a:gd name="connsiteY1258" fmla="*/ 759019 h 2366371"/>
                    <a:gd name="connsiteX1259" fmla="*/ 215608 w 1830590"/>
                    <a:gd name="connsiteY1259" fmla="*/ 759019 h 2366371"/>
                    <a:gd name="connsiteX1260" fmla="*/ 215608 w 1830590"/>
                    <a:gd name="connsiteY1260" fmla="*/ 866175 h 2366371"/>
                    <a:gd name="connsiteX1261" fmla="*/ 215608 w 1830590"/>
                    <a:gd name="connsiteY1261" fmla="*/ 964406 h 2366371"/>
                    <a:gd name="connsiteX1262" fmla="*/ 117377 w 1830590"/>
                    <a:gd name="connsiteY1262" fmla="*/ 964406 h 2366371"/>
                    <a:gd name="connsiteX1263" fmla="*/ 117377 w 1830590"/>
                    <a:gd name="connsiteY1263" fmla="*/ 866175 h 2366371"/>
                    <a:gd name="connsiteX1264" fmla="*/ 215608 w 1830590"/>
                    <a:gd name="connsiteY1264" fmla="*/ 866175 h 2366371"/>
                    <a:gd name="connsiteX1265" fmla="*/ 215608 w 1830590"/>
                    <a:gd name="connsiteY1265" fmla="*/ 973331 h 2366371"/>
                    <a:gd name="connsiteX1266" fmla="*/ 215608 w 1830590"/>
                    <a:gd name="connsiteY1266" fmla="*/ 1071562 h 2366371"/>
                    <a:gd name="connsiteX1267" fmla="*/ 117377 w 1830590"/>
                    <a:gd name="connsiteY1267" fmla="*/ 1071562 h 2366371"/>
                    <a:gd name="connsiteX1268" fmla="*/ 117377 w 1830590"/>
                    <a:gd name="connsiteY1268" fmla="*/ 973331 h 2366371"/>
                    <a:gd name="connsiteX1269" fmla="*/ 215608 w 1830590"/>
                    <a:gd name="connsiteY1269" fmla="*/ 973331 h 2366371"/>
                    <a:gd name="connsiteX1270" fmla="*/ 215608 w 1830590"/>
                    <a:gd name="connsiteY1270" fmla="*/ 1080487 h 2366371"/>
                    <a:gd name="connsiteX1271" fmla="*/ 215608 w 1830590"/>
                    <a:gd name="connsiteY1271" fmla="*/ 1178719 h 2366371"/>
                    <a:gd name="connsiteX1272" fmla="*/ 117377 w 1830590"/>
                    <a:gd name="connsiteY1272" fmla="*/ 1178719 h 2366371"/>
                    <a:gd name="connsiteX1273" fmla="*/ 117377 w 1830590"/>
                    <a:gd name="connsiteY1273" fmla="*/ 1080487 h 2366371"/>
                    <a:gd name="connsiteX1274" fmla="*/ 215608 w 1830590"/>
                    <a:gd name="connsiteY1274" fmla="*/ 1080487 h 2366371"/>
                    <a:gd name="connsiteX1275" fmla="*/ 215608 w 1830590"/>
                    <a:gd name="connsiteY1275" fmla="*/ 1187644 h 2366371"/>
                    <a:gd name="connsiteX1276" fmla="*/ 215608 w 1830590"/>
                    <a:gd name="connsiteY1276" fmla="*/ 1285875 h 2366371"/>
                    <a:gd name="connsiteX1277" fmla="*/ 117377 w 1830590"/>
                    <a:gd name="connsiteY1277" fmla="*/ 1285875 h 2366371"/>
                    <a:gd name="connsiteX1278" fmla="*/ 117377 w 1830590"/>
                    <a:gd name="connsiteY1278" fmla="*/ 1187644 h 2366371"/>
                    <a:gd name="connsiteX1279" fmla="*/ 215608 w 1830590"/>
                    <a:gd name="connsiteY1279" fmla="*/ 1187644 h 2366371"/>
                    <a:gd name="connsiteX1280" fmla="*/ 215608 w 1830590"/>
                    <a:gd name="connsiteY1280" fmla="*/ 1294800 h 2366371"/>
                    <a:gd name="connsiteX1281" fmla="*/ 215608 w 1830590"/>
                    <a:gd name="connsiteY1281" fmla="*/ 1393031 h 2366371"/>
                    <a:gd name="connsiteX1282" fmla="*/ 117377 w 1830590"/>
                    <a:gd name="connsiteY1282" fmla="*/ 1393031 h 2366371"/>
                    <a:gd name="connsiteX1283" fmla="*/ 117377 w 1830590"/>
                    <a:gd name="connsiteY1283" fmla="*/ 1294800 h 2366371"/>
                    <a:gd name="connsiteX1284" fmla="*/ 215608 w 1830590"/>
                    <a:gd name="connsiteY1284" fmla="*/ 1294800 h 2366371"/>
                    <a:gd name="connsiteX1285" fmla="*/ 215608 w 1830590"/>
                    <a:gd name="connsiteY1285" fmla="*/ 1401956 h 2366371"/>
                    <a:gd name="connsiteX1286" fmla="*/ 215608 w 1830590"/>
                    <a:gd name="connsiteY1286" fmla="*/ 1500187 h 2366371"/>
                    <a:gd name="connsiteX1287" fmla="*/ 117377 w 1830590"/>
                    <a:gd name="connsiteY1287" fmla="*/ 1500187 h 2366371"/>
                    <a:gd name="connsiteX1288" fmla="*/ 117377 w 1830590"/>
                    <a:gd name="connsiteY1288" fmla="*/ 1401956 h 2366371"/>
                    <a:gd name="connsiteX1289" fmla="*/ 215608 w 1830590"/>
                    <a:gd name="connsiteY1289" fmla="*/ 1401956 h 2366371"/>
                    <a:gd name="connsiteX1290" fmla="*/ 215608 w 1830590"/>
                    <a:gd name="connsiteY1290" fmla="*/ 1509112 h 2366371"/>
                    <a:gd name="connsiteX1291" fmla="*/ 215608 w 1830590"/>
                    <a:gd name="connsiteY1291" fmla="*/ 1607344 h 2366371"/>
                    <a:gd name="connsiteX1292" fmla="*/ 117377 w 1830590"/>
                    <a:gd name="connsiteY1292" fmla="*/ 1607344 h 2366371"/>
                    <a:gd name="connsiteX1293" fmla="*/ 117377 w 1830590"/>
                    <a:gd name="connsiteY1293" fmla="*/ 1509112 h 2366371"/>
                    <a:gd name="connsiteX1294" fmla="*/ 215608 w 1830590"/>
                    <a:gd name="connsiteY1294" fmla="*/ 1509112 h 2366371"/>
                    <a:gd name="connsiteX1295" fmla="*/ 215608 w 1830590"/>
                    <a:gd name="connsiteY1295" fmla="*/ 1616269 h 2366371"/>
                    <a:gd name="connsiteX1296" fmla="*/ 215608 w 1830590"/>
                    <a:gd name="connsiteY1296" fmla="*/ 1714500 h 2366371"/>
                    <a:gd name="connsiteX1297" fmla="*/ 117377 w 1830590"/>
                    <a:gd name="connsiteY1297" fmla="*/ 1714500 h 2366371"/>
                    <a:gd name="connsiteX1298" fmla="*/ 117377 w 1830590"/>
                    <a:gd name="connsiteY1298" fmla="*/ 1616269 h 2366371"/>
                    <a:gd name="connsiteX1299" fmla="*/ 215608 w 1830590"/>
                    <a:gd name="connsiteY1299" fmla="*/ 1616269 h 2366371"/>
                    <a:gd name="connsiteX1300" fmla="*/ 215608 w 1830590"/>
                    <a:gd name="connsiteY1300" fmla="*/ 1723425 h 2366371"/>
                    <a:gd name="connsiteX1301" fmla="*/ 215608 w 1830590"/>
                    <a:gd name="connsiteY1301" fmla="*/ 1821656 h 2366371"/>
                    <a:gd name="connsiteX1302" fmla="*/ 117377 w 1830590"/>
                    <a:gd name="connsiteY1302" fmla="*/ 1821656 h 2366371"/>
                    <a:gd name="connsiteX1303" fmla="*/ 117377 w 1830590"/>
                    <a:gd name="connsiteY1303" fmla="*/ 1723425 h 2366371"/>
                    <a:gd name="connsiteX1304" fmla="*/ 215608 w 1830590"/>
                    <a:gd name="connsiteY1304" fmla="*/ 1723425 h 2366371"/>
                    <a:gd name="connsiteX1305" fmla="*/ 215608 w 1830590"/>
                    <a:gd name="connsiteY1305" fmla="*/ 1830581 h 2366371"/>
                    <a:gd name="connsiteX1306" fmla="*/ 215608 w 1830590"/>
                    <a:gd name="connsiteY1306" fmla="*/ 1928812 h 2366371"/>
                    <a:gd name="connsiteX1307" fmla="*/ 117377 w 1830590"/>
                    <a:gd name="connsiteY1307" fmla="*/ 1928812 h 2366371"/>
                    <a:gd name="connsiteX1308" fmla="*/ 117377 w 1830590"/>
                    <a:gd name="connsiteY1308" fmla="*/ 1830581 h 2366371"/>
                    <a:gd name="connsiteX1309" fmla="*/ 215608 w 1830590"/>
                    <a:gd name="connsiteY1309" fmla="*/ 1830581 h 2366371"/>
                    <a:gd name="connsiteX1310" fmla="*/ 215608 w 1830590"/>
                    <a:gd name="connsiteY1310" fmla="*/ 1937737 h 2366371"/>
                    <a:gd name="connsiteX1311" fmla="*/ 215608 w 1830590"/>
                    <a:gd name="connsiteY1311" fmla="*/ 2035969 h 2366371"/>
                    <a:gd name="connsiteX1312" fmla="*/ 117377 w 1830590"/>
                    <a:gd name="connsiteY1312" fmla="*/ 2035969 h 2366371"/>
                    <a:gd name="connsiteX1313" fmla="*/ 117377 w 1830590"/>
                    <a:gd name="connsiteY1313" fmla="*/ 1937737 h 2366371"/>
                    <a:gd name="connsiteX1314" fmla="*/ 215608 w 1830590"/>
                    <a:gd name="connsiteY1314" fmla="*/ 1937737 h 2366371"/>
                    <a:gd name="connsiteX1315" fmla="*/ 215608 w 1830590"/>
                    <a:gd name="connsiteY1315" fmla="*/ 2044894 h 2366371"/>
                    <a:gd name="connsiteX1316" fmla="*/ 215608 w 1830590"/>
                    <a:gd name="connsiteY1316" fmla="*/ 2143125 h 2366371"/>
                    <a:gd name="connsiteX1317" fmla="*/ 117377 w 1830590"/>
                    <a:gd name="connsiteY1317" fmla="*/ 2143125 h 2366371"/>
                    <a:gd name="connsiteX1318" fmla="*/ 117377 w 1830590"/>
                    <a:gd name="connsiteY1318" fmla="*/ 2044894 h 2366371"/>
                    <a:gd name="connsiteX1319" fmla="*/ 215608 w 1830590"/>
                    <a:gd name="connsiteY1319" fmla="*/ 2044894 h 2366371"/>
                    <a:gd name="connsiteX1320" fmla="*/ 224542 w 1830590"/>
                    <a:gd name="connsiteY1320" fmla="*/ 2044894 h 2366371"/>
                    <a:gd name="connsiteX1321" fmla="*/ 322774 w 1830590"/>
                    <a:gd name="connsiteY1321" fmla="*/ 2044894 h 2366371"/>
                    <a:gd name="connsiteX1322" fmla="*/ 322774 w 1830590"/>
                    <a:gd name="connsiteY1322" fmla="*/ 2143125 h 2366371"/>
                    <a:gd name="connsiteX1323" fmla="*/ 224542 w 1830590"/>
                    <a:gd name="connsiteY1323" fmla="*/ 2143125 h 2366371"/>
                    <a:gd name="connsiteX1324" fmla="*/ 224542 w 1830590"/>
                    <a:gd name="connsiteY1324" fmla="*/ 2044894 h 2366371"/>
                    <a:gd name="connsiteX1325" fmla="*/ 322764 w 1830590"/>
                    <a:gd name="connsiteY1325" fmla="*/ 2152050 h 2366371"/>
                    <a:gd name="connsiteX1326" fmla="*/ 322764 w 1830590"/>
                    <a:gd name="connsiteY1326" fmla="*/ 2250281 h 2366371"/>
                    <a:gd name="connsiteX1327" fmla="*/ 224533 w 1830590"/>
                    <a:gd name="connsiteY1327" fmla="*/ 2250281 h 2366371"/>
                    <a:gd name="connsiteX1328" fmla="*/ 224533 w 1830590"/>
                    <a:gd name="connsiteY1328" fmla="*/ 2152050 h 2366371"/>
                    <a:gd name="connsiteX1329" fmla="*/ 322764 w 1830590"/>
                    <a:gd name="connsiteY1329" fmla="*/ 2152050 h 2366371"/>
                    <a:gd name="connsiteX1330" fmla="*/ 331699 w 1830590"/>
                    <a:gd name="connsiteY1330" fmla="*/ 2152050 h 2366371"/>
                    <a:gd name="connsiteX1331" fmla="*/ 429930 w 1830590"/>
                    <a:gd name="connsiteY1331" fmla="*/ 2152050 h 2366371"/>
                    <a:gd name="connsiteX1332" fmla="*/ 429930 w 1830590"/>
                    <a:gd name="connsiteY1332" fmla="*/ 2250281 h 2366371"/>
                    <a:gd name="connsiteX1333" fmla="*/ 331699 w 1830590"/>
                    <a:gd name="connsiteY1333" fmla="*/ 2250281 h 2366371"/>
                    <a:gd name="connsiteX1334" fmla="*/ 331699 w 1830590"/>
                    <a:gd name="connsiteY1334" fmla="*/ 2152050 h 2366371"/>
                    <a:gd name="connsiteX1335" fmla="*/ 438855 w 1830590"/>
                    <a:gd name="connsiteY1335" fmla="*/ 2152050 h 2366371"/>
                    <a:gd name="connsiteX1336" fmla="*/ 537086 w 1830590"/>
                    <a:gd name="connsiteY1336" fmla="*/ 2152050 h 2366371"/>
                    <a:gd name="connsiteX1337" fmla="*/ 537086 w 1830590"/>
                    <a:gd name="connsiteY1337" fmla="*/ 2250281 h 2366371"/>
                    <a:gd name="connsiteX1338" fmla="*/ 438855 w 1830590"/>
                    <a:gd name="connsiteY1338" fmla="*/ 2250281 h 2366371"/>
                    <a:gd name="connsiteX1339" fmla="*/ 438855 w 1830590"/>
                    <a:gd name="connsiteY1339" fmla="*/ 2152050 h 2366371"/>
                    <a:gd name="connsiteX1340" fmla="*/ 546011 w 1830590"/>
                    <a:gd name="connsiteY1340" fmla="*/ 2152050 h 2366371"/>
                    <a:gd name="connsiteX1341" fmla="*/ 644243 w 1830590"/>
                    <a:gd name="connsiteY1341" fmla="*/ 2152050 h 2366371"/>
                    <a:gd name="connsiteX1342" fmla="*/ 644243 w 1830590"/>
                    <a:gd name="connsiteY1342" fmla="*/ 2250281 h 2366371"/>
                    <a:gd name="connsiteX1343" fmla="*/ 546011 w 1830590"/>
                    <a:gd name="connsiteY1343" fmla="*/ 2250281 h 2366371"/>
                    <a:gd name="connsiteX1344" fmla="*/ 546011 w 1830590"/>
                    <a:gd name="connsiteY1344" fmla="*/ 2152050 h 2366371"/>
                    <a:gd name="connsiteX1345" fmla="*/ 653167 w 1830590"/>
                    <a:gd name="connsiteY1345" fmla="*/ 2152050 h 2366371"/>
                    <a:gd name="connsiteX1346" fmla="*/ 751399 w 1830590"/>
                    <a:gd name="connsiteY1346" fmla="*/ 2152050 h 2366371"/>
                    <a:gd name="connsiteX1347" fmla="*/ 751399 w 1830590"/>
                    <a:gd name="connsiteY1347" fmla="*/ 2250281 h 2366371"/>
                    <a:gd name="connsiteX1348" fmla="*/ 653167 w 1830590"/>
                    <a:gd name="connsiteY1348" fmla="*/ 2250281 h 2366371"/>
                    <a:gd name="connsiteX1349" fmla="*/ 653167 w 1830590"/>
                    <a:gd name="connsiteY1349" fmla="*/ 2152050 h 2366371"/>
                    <a:gd name="connsiteX1350" fmla="*/ 760324 w 1830590"/>
                    <a:gd name="connsiteY1350" fmla="*/ 2152050 h 2366371"/>
                    <a:gd name="connsiteX1351" fmla="*/ 858555 w 1830590"/>
                    <a:gd name="connsiteY1351" fmla="*/ 2152050 h 2366371"/>
                    <a:gd name="connsiteX1352" fmla="*/ 858555 w 1830590"/>
                    <a:gd name="connsiteY1352" fmla="*/ 2250281 h 2366371"/>
                    <a:gd name="connsiteX1353" fmla="*/ 760324 w 1830590"/>
                    <a:gd name="connsiteY1353" fmla="*/ 2250281 h 2366371"/>
                    <a:gd name="connsiteX1354" fmla="*/ 760324 w 1830590"/>
                    <a:gd name="connsiteY1354" fmla="*/ 2152050 h 2366371"/>
                    <a:gd name="connsiteX1355" fmla="*/ 867480 w 1830590"/>
                    <a:gd name="connsiteY1355" fmla="*/ 2152050 h 2366371"/>
                    <a:gd name="connsiteX1356" fmla="*/ 965711 w 1830590"/>
                    <a:gd name="connsiteY1356" fmla="*/ 2152050 h 2366371"/>
                    <a:gd name="connsiteX1357" fmla="*/ 965711 w 1830590"/>
                    <a:gd name="connsiteY1357" fmla="*/ 2250281 h 2366371"/>
                    <a:gd name="connsiteX1358" fmla="*/ 867480 w 1830590"/>
                    <a:gd name="connsiteY1358" fmla="*/ 2250281 h 2366371"/>
                    <a:gd name="connsiteX1359" fmla="*/ 867480 w 1830590"/>
                    <a:gd name="connsiteY1359" fmla="*/ 2152050 h 2366371"/>
                    <a:gd name="connsiteX1360" fmla="*/ 974636 w 1830590"/>
                    <a:gd name="connsiteY1360" fmla="*/ 2152050 h 2366371"/>
                    <a:gd name="connsiteX1361" fmla="*/ 1072867 w 1830590"/>
                    <a:gd name="connsiteY1361" fmla="*/ 2152050 h 2366371"/>
                    <a:gd name="connsiteX1362" fmla="*/ 1072867 w 1830590"/>
                    <a:gd name="connsiteY1362" fmla="*/ 2250281 h 2366371"/>
                    <a:gd name="connsiteX1363" fmla="*/ 974636 w 1830590"/>
                    <a:gd name="connsiteY1363" fmla="*/ 2250281 h 2366371"/>
                    <a:gd name="connsiteX1364" fmla="*/ 974636 w 1830590"/>
                    <a:gd name="connsiteY1364" fmla="*/ 2152050 h 2366371"/>
                    <a:gd name="connsiteX1365" fmla="*/ 1081792 w 1830590"/>
                    <a:gd name="connsiteY1365" fmla="*/ 2152050 h 2366371"/>
                    <a:gd name="connsiteX1366" fmla="*/ 1180024 w 1830590"/>
                    <a:gd name="connsiteY1366" fmla="*/ 2152050 h 2366371"/>
                    <a:gd name="connsiteX1367" fmla="*/ 1180024 w 1830590"/>
                    <a:gd name="connsiteY1367" fmla="*/ 2250281 h 2366371"/>
                    <a:gd name="connsiteX1368" fmla="*/ 1081792 w 1830590"/>
                    <a:gd name="connsiteY1368" fmla="*/ 2250281 h 2366371"/>
                    <a:gd name="connsiteX1369" fmla="*/ 1081792 w 1830590"/>
                    <a:gd name="connsiteY1369" fmla="*/ 2152050 h 2366371"/>
                    <a:gd name="connsiteX1370" fmla="*/ 1188949 w 1830590"/>
                    <a:gd name="connsiteY1370" fmla="*/ 2152050 h 2366371"/>
                    <a:gd name="connsiteX1371" fmla="*/ 1287180 w 1830590"/>
                    <a:gd name="connsiteY1371" fmla="*/ 2152050 h 2366371"/>
                    <a:gd name="connsiteX1372" fmla="*/ 1287180 w 1830590"/>
                    <a:gd name="connsiteY1372" fmla="*/ 2250281 h 2366371"/>
                    <a:gd name="connsiteX1373" fmla="*/ 1188949 w 1830590"/>
                    <a:gd name="connsiteY1373" fmla="*/ 2250281 h 2366371"/>
                    <a:gd name="connsiteX1374" fmla="*/ 1188949 w 1830590"/>
                    <a:gd name="connsiteY1374" fmla="*/ 2152050 h 2366371"/>
                    <a:gd name="connsiteX1375" fmla="*/ 1296105 w 1830590"/>
                    <a:gd name="connsiteY1375" fmla="*/ 2152050 h 2366371"/>
                    <a:gd name="connsiteX1376" fmla="*/ 1394336 w 1830590"/>
                    <a:gd name="connsiteY1376" fmla="*/ 2152050 h 2366371"/>
                    <a:gd name="connsiteX1377" fmla="*/ 1394336 w 1830590"/>
                    <a:gd name="connsiteY1377" fmla="*/ 2250281 h 2366371"/>
                    <a:gd name="connsiteX1378" fmla="*/ 1296105 w 1830590"/>
                    <a:gd name="connsiteY1378" fmla="*/ 2250281 h 2366371"/>
                    <a:gd name="connsiteX1379" fmla="*/ 1296105 w 1830590"/>
                    <a:gd name="connsiteY1379" fmla="*/ 2152050 h 2366371"/>
                    <a:gd name="connsiteX1380" fmla="*/ 1403261 w 1830590"/>
                    <a:gd name="connsiteY1380" fmla="*/ 2152050 h 2366371"/>
                    <a:gd name="connsiteX1381" fmla="*/ 1501492 w 1830590"/>
                    <a:gd name="connsiteY1381" fmla="*/ 2152050 h 2366371"/>
                    <a:gd name="connsiteX1382" fmla="*/ 1501492 w 1830590"/>
                    <a:gd name="connsiteY1382" fmla="*/ 2250281 h 2366371"/>
                    <a:gd name="connsiteX1383" fmla="*/ 1403261 w 1830590"/>
                    <a:gd name="connsiteY1383" fmla="*/ 2250281 h 2366371"/>
                    <a:gd name="connsiteX1384" fmla="*/ 1403261 w 1830590"/>
                    <a:gd name="connsiteY1384" fmla="*/ 2152050 h 2366371"/>
                    <a:gd name="connsiteX1385" fmla="*/ 1510417 w 1830590"/>
                    <a:gd name="connsiteY1385" fmla="*/ 2152050 h 2366371"/>
                    <a:gd name="connsiteX1386" fmla="*/ 1608649 w 1830590"/>
                    <a:gd name="connsiteY1386" fmla="*/ 2152050 h 2366371"/>
                    <a:gd name="connsiteX1387" fmla="*/ 1608649 w 1830590"/>
                    <a:gd name="connsiteY1387" fmla="*/ 2250281 h 2366371"/>
                    <a:gd name="connsiteX1388" fmla="*/ 1510417 w 1830590"/>
                    <a:gd name="connsiteY1388" fmla="*/ 2250281 h 2366371"/>
                    <a:gd name="connsiteX1389" fmla="*/ 1510417 w 1830590"/>
                    <a:gd name="connsiteY1389" fmla="*/ 2152050 h 2366371"/>
                    <a:gd name="connsiteX1390" fmla="*/ 1510417 w 1830590"/>
                    <a:gd name="connsiteY1390" fmla="*/ 2143125 h 2366371"/>
                    <a:gd name="connsiteX1391" fmla="*/ 1510417 w 1830590"/>
                    <a:gd name="connsiteY1391" fmla="*/ 2044894 h 2366371"/>
                    <a:gd name="connsiteX1392" fmla="*/ 1608649 w 1830590"/>
                    <a:gd name="connsiteY1392" fmla="*/ 2044894 h 2366371"/>
                    <a:gd name="connsiteX1393" fmla="*/ 1608649 w 1830590"/>
                    <a:gd name="connsiteY1393" fmla="*/ 2143125 h 2366371"/>
                    <a:gd name="connsiteX1394" fmla="*/ 1510417 w 1830590"/>
                    <a:gd name="connsiteY1394" fmla="*/ 2143125 h 2366371"/>
                    <a:gd name="connsiteX1395" fmla="*/ 1617574 w 1830590"/>
                    <a:gd name="connsiteY1395" fmla="*/ 2044894 h 2366371"/>
                    <a:gd name="connsiteX1396" fmla="*/ 1715805 w 1830590"/>
                    <a:gd name="connsiteY1396" fmla="*/ 2044894 h 2366371"/>
                    <a:gd name="connsiteX1397" fmla="*/ 1715805 w 1830590"/>
                    <a:gd name="connsiteY1397" fmla="*/ 2143125 h 2366371"/>
                    <a:gd name="connsiteX1398" fmla="*/ 1617574 w 1830590"/>
                    <a:gd name="connsiteY1398" fmla="*/ 2143125 h 2366371"/>
                    <a:gd name="connsiteX1399" fmla="*/ 1617574 w 1830590"/>
                    <a:gd name="connsiteY1399" fmla="*/ 2044894 h 2366371"/>
                    <a:gd name="connsiteX1400" fmla="*/ 1617574 w 1830590"/>
                    <a:gd name="connsiteY1400" fmla="*/ 2035969 h 2366371"/>
                    <a:gd name="connsiteX1401" fmla="*/ 1617574 w 1830590"/>
                    <a:gd name="connsiteY1401" fmla="*/ 1937737 h 2366371"/>
                    <a:gd name="connsiteX1402" fmla="*/ 1715805 w 1830590"/>
                    <a:gd name="connsiteY1402" fmla="*/ 1937737 h 2366371"/>
                    <a:gd name="connsiteX1403" fmla="*/ 1715805 w 1830590"/>
                    <a:gd name="connsiteY1403" fmla="*/ 2035969 h 2366371"/>
                    <a:gd name="connsiteX1404" fmla="*/ 1617574 w 1830590"/>
                    <a:gd name="connsiteY1404" fmla="*/ 2035969 h 2366371"/>
                    <a:gd name="connsiteX1405" fmla="*/ 1617574 w 1830590"/>
                    <a:gd name="connsiteY1405" fmla="*/ 1928812 h 2366371"/>
                    <a:gd name="connsiteX1406" fmla="*/ 1617574 w 1830590"/>
                    <a:gd name="connsiteY1406" fmla="*/ 1830581 h 2366371"/>
                    <a:gd name="connsiteX1407" fmla="*/ 1715805 w 1830590"/>
                    <a:gd name="connsiteY1407" fmla="*/ 1830581 h 2366371"/>
                    <a:gd name="connsiteX1408" fmla="*/ 1715805 w 1830590"/>
                    <a:gd name="connsiteY1408" fmla="*/ 1928812 h 2366371"/>
                    <a:gd name="connsiteX1409" fmla="*/ 1617574 w 1830590"/>
                    <a:gd name="connsiteY1409" fmla="*/ 1928812 h 2366371"/>
                    <a:gd name="connsiteX1410" fmla="*/ 1617574 w 1830590"/>
                    <a:gd name="connsiteY1410" fmla="*/ 1821656 h 2366371"/>
                    <a:gd name="connsiteX1411" fmla="*/ 1617574 w 1830590"/>
                    <a:gd name="connsiteY1411" fmla="*/ 1723425 h 2366371"/>
                    <a:gd name="connsiteX1412" fmla="*/ 1715805 w 1830590"/>
                    <a:gd name="connsiteY1412" fmla="*/ 1723425 h 2366371"/>
                    <a:gd name="connsiteX1413" fmla="*/ 1715805 w 1830590"/>
                    <a:gd name="connsiteY1413" fmla="*/ 1821656 h 2366371"/>
                    <a:gd name="connsiteX1414" fmla="*/ 1617574 w 1830590"/>
                    <a:gd name="connsiteY1414" fmla="*/ 1821656 h 2366371"/>
                    <a:gd name="connsiteX1415" fmla="*/ 1617574 w 1830590"/>
                    <a:gd name="connsiteY1415" fmla="*/ 1714500 h 2366371"/>
                    <a:gd name="connsiteX1416" fmla="*/ 1617574 w 1830590"/>
                    <a:gd name="connsiteY1416" fmla="*/ 1616269 h 2366371"/>
                    <a:gd name="connsiteX1417" fmla="*/ 1715805 w 1830590"/>
                    <a:gd name="connsiteY1417" fmla="*/ 1616269 h 2366371"/>
                    <a:gd name="connsiteX1418" fmla="*/ 1715805 w 1830590"/>
                    <a:gd name="connsiteY1418" fmla="*/ 1714500 h 2366371"/>
                    <a:gd name="connsiteX1419" fmla="*/ 1617574 w 1830590"/>
                    <a:gd name="connsiteY1419" fmla="*/ 1714500 h 2366371"/>
                    <a:gd name="connsiteX1420" fmla="*/ 1617574 w 1830590"/>
                    <a:gd name="connsiteY1420" fmla="*/ 1607344 h 2366371"/>
                    <a:gd name="connsiteX1421" fmla="*/ 1617574 w 1830590"/>
                    <a:gd name="connsiteY1421" fmla="*/ 1509112 h 2366371"/>
                    <a:gd name="connsiteX1422" fmla="*/ 1715805 w 1830590"/>
                    <a:gd name="connsiteY1422" fmla="*/ 1509112 h 2366371"/>
                    <a:gd name="connsiteX1423" fmla="*/ 1715805 w 1830590"/>
                    <a:gd name="connsiteY1423" fmla="*/ 1607344 h 2366371"/>
                    <a:gd name="connsiteX1424" fmla="*/ 1617574 w 1830590"/>
                    <a:gd name="connsiteY1424" fmla="*/ 1607344 h 2366371"/>
                    <a:gd name="connsiteX1425" fmla="*/ 1617574 w 1830590"/>
                    <a:gd name="connsiteY1425" fmla="*/ 1500187 h 2366371"/>
                    <a:gd name="connsiteX1426" fmla="*/ 1617574 w 1830590"/>
                    <a:gd name="connsiteY1426" fmla="*/ 1401956 h 2366371"/>
                    <a:gd name="connsiteX1427" fmla="*/ 1715805 w 1830590"/>
                    <a:gd name="connsiteY1427" fmla="*/ 1401956 h 2366371"/>
                    <a:gd name="connsiteX1428" fmla="*/ 1715805 w 1830590"/>
                    <a:gd name="connsiteY1428" fmla="*/ 1500187 h 2366371"/>
                    <a:gd name="connsiteX1429" fmla="*/ 1617574 w 1830590"/>
                    <a:gd name="connsiteY1429" fmla="*/ 1500187 h 2366371"/>
                    <a:gd name="connsiteX1430" fmla="*/ 1617574 w 1830590"/>
                    <a:gd name="connsiteY1430" fmla="*/ 1393031 h 2366371"/>
                    <a:gd name="connsiteX1431" fmla="*/ 1617574 w 1830590"/>
                    <a:gd name="connsiteY1431" fmla="*/ 1294800 h 2366371"/>
                    <a:gd name="connsiteX1432" fmla="*/ 1715805 w 1830590"/>
                    <a:gd name="connsiteY1432" fmla="*/ 1294800 h 2366371"/>
                    <a:gd name="connsiteX1433" fmla="*/ 1715805 w 1830590"/>
                    <a:gd name="connsiteY1433" fmla="*/ 1393031 h 2366371"/>
                    <a:gd name="connsiteX1434" fmla="*/ 1617574 w 1830590"/>
                    <a:gd name="connsiteY1434" fmla="*/ 1393031 h 2366371"/>
                    <a:gd name="connsiteX1435" fmla="*/ 1617574 w 1830590"/>
                    <a:gd name="connsiteY1435" fmla="*/ 1285875 h 2366371"/>
                    <a:gd name="connsiteX1436" fmla="*/ 1617574 w 1830590"/>
                    <a:gd name="connsiteY1436" fmla="*/ 1187644 h 2366371"/>
                    <a:gd name="connsiteX1437" fmla="*/ 1715805 w 1830590"/>
                    <a:gd name="connsiteY1437" fmla="*/ 1187644 h 2366371"/>
                    <a:gd name="connsiteX1438" fmla="*/ 1715805 w 1830590"/>
                    <a:gd name="connsiteY1438" fmla="*/ 1285875 h 2366371"/>
                    <a:gd name="connsiteX1439" fmla="*/ 1617574 w 1830590"/>
                    <a:gd name="connsiteY1439" fmla="*/ 1285875 h 2366371"/>
                    <a:gd name="connsiteX1440" fmla="*/ 1617574 w 1830590"/>
                    <a:gd name="connsiteY1440" fmla="*/ 1178719 h 2366371"/>
                    <a:gd name="connsiteX1441" fmla="*/ 1617574 w 1830590"/>
                    <a:gd name="connsiteY1441" fmla="*/ 1080487 h 2366371"/>
                    <a:gd name="connsiteX1442" fmla="*/ 1715805 w 1830590"/>
                    <a:gd name="connsiteY1442" fmla="*/ 1080487 h 2366371"/>
                    <a:gd name="connsiteX1443" fmla="*/ 1715805 w 1830590"/>
                    <a:gd name="connsiteY1443" fmla="*/ 1178719 h 2366371"/>
                    <a:gd name="connsiteX1444" fmla="*/ 1617574 w 1830590"/>
                    <a:gd name="connsiteY1444" fmla="*/ 1178719 h 2366371"/>
                    <a:gd name="connsiteX1445" fmla="*/ 1617574 w 1830590"/>
                    <a:gd name="connsiteY1445" fmla="*/ 1071562 h 2366371"/>
                    <a:gd name="connsiteX1446" fmla="*/ 1617574 w 1830590"/>
                    <a:gd name="connsiteY1446" fmla="*/ 973331 h 2366371"/>
                    <a:gd name="connsiteX1447" fmla="*/ 1715805 w 1830590"/>
                    <a:gd name="connsiteY1447" fmla="*/ 973331 h 2366371"/>
                    <a:gd name="connsiteX1448" fmla="*/ 1715805 w 1830590"/>
                    <a:gd name="connsiteY1448" fmla="*/ 1071562 h 2366371"/>
                    <a:gd name="connsiteX1449" fmla="*/ 1617574 w 1830590"/>
                    <a:gd name="connsiteY1449" fmla="*/ 1071562 h 2366371"/>
                    <a:gd name="connsiteX1450" fmla="*/ 1617574 w 1830590"/>
                    <a:gd name="connsiteY1450" fmla="*/ 964406 h 2366371"/>
                    <a:gd name="connsiteX1451" fmla="*/ 1617574 w 1830590"/>
                    <a:gd name="connsiteY1451" fmla="*/ 866175 h 2366371"/>
                    <a:gd name="connsiteX1452" fmla="*/ 1715805 w 1830590"/>
                    <a:gd name="connsiteY1452" fmla="*/ 866175 h 2366371"/>
                    <a:gd name="connsiteX1453" fmla="*/ 1715805 w 1830590"/>
                    <a:gd name="connsiteY1453" fmla="*/ 964406 h 2366371"/>
                    <a:gd name="connsiteX1454" fmla="*/ 1617574 w 1830590"/>
                    <a:gd name="connsiteY1454" fmla="*/ 964406 h 2366371"/>
                    <a:gd name="connsiteX1455" fmla="*/ 1617574 w 1830590"/>
                    <a:gd name="connsiteY1455" fmla="*/ 857250 h 2366371"/>
                    <a:gd name="connsiteX1456" fmla="*/ 1617574 w 1830590"/>
                    <a:gd name="connsiteY1456" fmla="*/ 759019 h 2366371"/>
                    <a:gd name="connsiteX1457" fmla="*/ 1715805 w 1830590"/>
                    <a:gd name="connsiteY1457" fmla="*/ 759019 h 2366371"/>
                    <a:gd name="connsiteX1458" fmla="*/ 1715805 w 1830590"/>
                    <a:gd name="connsiteY1458" fmla="*/ 857250 h 2366371"/>
                    <a:gd name="connsiteX1459" fmla="*/ 1617574 w 1830590"/>
                    <a:gd name="connsiteY1459" fmla="*/ 857250 h 2366371"/>
                    <a:gd name="connsiteX1460" fmla="*/ 1617574 w 1830590"/>
                    <a:gd name="connsiteY1460" fmla="*/ 750094 h 2366371"/>
                    <a:gd name="connsiteX1461" fmla="*/ 1617574 w 1830590"/>
                    <a:gd name="connsiteY1461" fmla="*/ 651862 h 2366371"/>
                    <a:gd name="connsiteX1462" fmla="*/ 1715805 w 1830590"/>
                    <a:gd name="connsiteY1462" fmla="*/ 651862 h 2366371"/>
                    <a:gd name="connsiteX1463" fmla="*/ 1715805 w 1830590"/>
                    <a:gd name="connsiteY1463" fmla="*/ 750094 h 2366371"/>
                    <a:gd name="connsiteX1464" fmla="*/ 1617574 w 1830590"/>
                    <a:gd name="connsiteY1464" fmla="*/ 750094 h 2366371"/>
                    <a:gd name="connsiteX1465" fmla="*/ 1617574 w 1830590"/>
                    <a:gd name="connsiteY1465" fmla="*/ 642938 h 2366371"/>
                    <a:gd name="connsiteX1466" fmla="*/ 1617574 w 1830590"/>
                    <a:gd name="connsiteY1466" fmla="*/ 544706 h 2366371"/>
                    <a:gd name="connsiteX1467" fmla="*/ 1715805 w 1830590"/>
                    <a:gd name="connsiteY1467" fmla="*/ 544706 h 2366371"/>
                    <a:gd name="connsiteX1468" fmla="*/ 1715805 w 1830590"/>
                    <a:gd name="connsiteY1468" fmla="*/ 642938 h 2366371"/>
                    <a:gd name="connsiteX1469" fmla="*/ 1617574 w 1830590"/>
                    <a:gd name="connsiteY1469" fmla="*/ 642938 h 2366371"/>
                    <a:gd name="connsiteX1470" fmla="*/ 1617574 w 1830590"/>
                    <a:gd name="connsiteY1470" fmla="*/ 535781 h 2366371"/>
                    <a:gd name="connsiteX1471" fmla="*/ 1617574 w 1830590"/>
                    <a:gd name="connsiteY1471" fmla="*/ 437550 h 2366371"/>
                    <a:gd name="connsiteX1472" fmla="*/ 1715805 w 1830590"/>
                    <a:gd name="connsiteY1472" fmla="*/ 437550 h 2366371"/>
                    <a:gd name="connsiteX1473" fmla="*/ 1715805 w 1830590"/>
                    <a:gd name="connsiteY1473" fmla="*/ 535781 h 2366371"/>
                    <a:gd name="connsiteX1474" fmla="*/ 1617574 w 1830590"/>
                    <a:gd name="connsiteY1474" fmla="*/ 535781 h 2366371"/>
                    <a:gd name="connsiteX1475" fmla="*/ 1617574 w 1830590"/>
                    <a:gd name="connsiteY1475" fmla="*/ 428625 h 2366371"/>
                    <a:gd name="connsiteX1476" fmla="*/ 1617574 w 1830590"/>
                    <a:gd name="connsiteY1476" fmla="*/ 330394 h 2366371"/>
                    <a:gd name="connsiteX1477" fmla="*/ 1715805 w 1830590"/>
                    <a:gd name="connsiteY1477" fmla="*/ 330394 h 2366371"/>
                    <a:gd name="connsiteX1478" fmla="*/ 1715805 w 1830590"/>
                    <a:gd name="connsiteY1478" fmla="*/ 428625 h 2366371"/>
                    <a:gd name="connsiteX1479" fmla="*/ 1617574 w 1830590"/>
                    <a:gd name="connsiteY1479" fmla="*/ 428625 h 2366371"/>
                    <a:gd name="connsiteX1480" fmla="*/ 1617574 w 1830590"/>
                    <a:gd name="connsiteY1480" fmla="*/ 321469 h 2366371"/>
                    <a:gd name="connsiteX1481" fmla="*/ 1617574 w 1830590"/>
                    <a:gd name="connsiteY1481" fmla="*/ 223237 h 2366371"/>
                    <a:gd name="connsiteX1482" fmla="*/ 1715805 w 1830590"/>
                    <a:gd name="connsiteY1482" fmla="*/ 223237 h 2366371"/>
                    <a:gd name="connsiteX1483" fmla="*/ 1715805 w 1830590"/>
                    <a:gd name="connsiteY1483" fmla="*/ 321469 h 2366371"/>
                    <a:gd name="connsiteX1484" fmla="*/ 1617574 w 1830590"/>
                    <a:gd name="connsiteY1484" fmla="*/ 321469 h 2366371"/>
                    <a:gd name="connsiteX1485" fmla="*/ 1617574 w 1830590"/>
                    <a:gd name="connsiteY1485" fmla="*/ 214313 h 2366371"/>
                    <a:gd name="connsiteX1486" fmla="*/ 1617574 w 1830590"/>
                    <a:gd name="connsiteY1486" fmla="*/ 116081 h 2366371"/>
                    <a:gd name="connsiteX1487" fmla="*/ 1715805 w 1830590"/>
                    <a:gd name="connsiteY1487" fmla="*/ 116081 h 2366371"/>
                    <a:gd name="connsiteX1488" fmla="*/ 1715805 w 1830590"/>
                    <a:gd name="connsiteY1488" fmla="*/ 214313 h 2366371"/>
                    <a:gd name="connsiteX1489" fmla="*/ 1617574 w 1830590"/>
                    <a:gd name="connsiteY1489" fmla="*/ 214313 h 2366371"/>
                    <a:gd name="connsiteX1490" fmla="*/ 1617574 w 1830590"/>
                    <a:gd name="connsiteY1490" fmla="*/ 107156 h 2366371"/>
                    <a:gd name="connsiteX1491" fmla="*/ 1617574 w 1830590"/>
                    <a:gd name="connsiteY1491" fmla="*/ 8925 h 2366371"/>
                    <a:gd name="connsiteX1492" fmla="*/ 1715805 w 1830590"/>
                    <a:gd name="connsiteY1492" fmla="*/ 8925 h 2366371"/>
                    <a:gd name="connsiteX1493" fmla="*/ 1715805 w 1830590"/>
                    <a:gd name="connsiteY1493" fmla="*/ 107156 h 2366371"/>
                    <a:gd name="connsiteX1494" fmla="*/ 1617574 w 1830590"/>
                    <a:gd name="connsiteY1494" fmla="*/ 107156 h 2366371"/>
                    <a:gd name="connsiteX1495" fmla="*/ 1608639 w 1830590"/>
                    <a:gd name="connsiteY1495" fmla="*/ 107156 h 2366371"/>
                    <a:gd name="connsiteX1496" fmla="*/ 1510408 w 1830590"/>
                    <a:gd name="connsiteY1496" fmla="*/ 107156 h 2366371"/>
                    <a:gd name="connsiteX1497" fmla="*/ 1510408 w 1830590"/>
                    <a:gd name="connsiteY1497" fmla="*/ 8925 h 2366371"/>
                    <a:gd name="connsiteX1498" fmla="*/ 1608639 w 1830590"/>
                    <a:gd name="connsiteY1498" fmla="*/ 8925 h 2366371"/>
                    <a:gd name="connsiteX1499" fmla="*/ 1608639 w 1830590"/>
                    <a:gd name="connsiteY1499" fmla="*/ 107156 h 2366371"/>
                    <a:gd name="connsiteX1500" fmla="*/ 1501483 w 1830590"/>
                    <a:gd name="connsiteY1500" fmla="*/ 107156 h 2366371"/>
                    <a:gd name="connsiteX1501" fmla="*/ 1403252 w 1830590"/>
                    <a:gd name="connsiteY1501" fmla="*/ 107156 h 2366371"/>
                    <a:gd name="connsiteX1502" fmla="*/ 1403252 w 1830590"/>
                    <a:gd name="connsiteY1502" fmla="*/ 8925 h 2366371"/>
                    <a:gd name="connsiteX1503" fmla="*/ 1501483 w 1830590"/>
                    <a:gd name="connsiteY1503" fmla="*/ 8925 h 2366371"/>
                    <a:gd name="connsiteX1504" fmla="*/ 1501483 w 1830590"/>
                    <a:gd name="connsiteY1504" fmla="*/ 107156 h 2366371"/>
                    <a:gd name="connsiteX1505" fmla="*/ 1394327 w 1830590"/>
                    <a:gd name="connsiteY1505" fmla="*/ 107156 h 2366371"/>
                    <a:gd name="connsiteX1506" fmla="*/ 1296095 w 1830590"/>
                    <a:gd name="connsiteY1506" fmla="*/ 107156 h 2366371"/>
                    <a:gd name="connsiteX1507" fmla="*/ 1296095 w 1830590"/>
                    <a:gd name="connsiteY1507" fmla="*/ 8925 h 2366371"/>
                    <a:gd name="connsiteX1508" fmla="*/ 1394327 w 1830590"/>
                    <a:gd name="connsiteY1508" fmla="*/ 8925 h 2366371"/>
                    <a:gd name="connsiteX1509" fmla="*/ 1394327 w 1830590"/>
                    <a:gd name="connsiteY1509" fmla="*/ 107156 h 2366371"/>
                    <a:gd name="connsiteX1510" fmla="*/ 1287171 w 1830590"/>
                    <a:gd name="connsiteY1510" fmla="*/ 107156 h 2366371"/>
                    <a:gd name="connsiteX1511" fmla="*/ 1188939 w 1830590"/>
                    <a:gd name="connsiteY1511" fmla="*/ 107156 h 2366371"/>
                    <a:gd name="connsiteX1512" fmla="*/ 1188939 w 1830590"/>
                    <a:gd name="connsiteY1512" fmla="*/ 8925 h 2366371"/>
                    <a:gd name="connsiteX1513" fmla="*/ 1287171 w 1830590"/>
                    <a:gd name="connsiteY1513" fmla="*/ 8925 h 2366371"/>
                    <a:gd name="connsiteX1514" fmla="*/ 1287171 w 1830590"/>
                    <a:gd name="connsiteY1514" fmla="*/ 107156 h 2366371"/>
                    <a:gd name="connsiteX1515" fmla="*/ 1180014 w 1830590"/>
                    <a:gd name="connsiteY1515" fmla="*/ 107156 h 2366371"/>
                    <a:gd name="connsiteX1516" fmla="*/ 1081783 w 1830590"/>
                    <a:gd name="connsiteY1516" fmla="*/ 107156 h 2366371"/>
                    <a:gd name="connsiteX1517" fmla="*/ 1081783 w 1830590"/>
                    <a:gd name="connsiteY1517" fmla="*/ 8925 h 2366371"/>
                    <a:gd name="connsiteX1518" fmla="*/ 1180014 w 1830590"/>
                    <a:gd name="connsiteY1518" fmla="*/ 8925 h 2366371"/>
                    <a:gd name="connsiteX1519" fmla="*/ 1180014 w 1830590"/>
                    <a:gd name="connsiteY1519" fmla="*/ 107156 h 2366371"/>
                    <a:gd name="connsiteX1520" fmla="*/ 1072858 w 1830590"/>
                    <a:gd name="connsiteY1520" fmla="*/ 107156 h 2366371"/>
                    <a:gd name="connsiteX1521" fmla="*/ 974627 w 1830590"/>
                    <a:gd name="connsiteY1521" fmla="*/ 107156 h 2366371"/>
                    <a:gd name="connsiteX1522" fmla="*/ 974627 w 1830590"/>
                    <a:gd name="connsiteY1522" fmla="*/ 8925 h 2366371"/>
                    <a:gd name="connsiteX1523" fmla="*/ 1072858 w 1830590"/>
                    <a:gd name="connsiteY1523" fmla="*/ 8925 h 2366371"/>
                    <a:gd name="connsiteX1524" fmla="*/ 1072858 w 1830590"/>
                    <a:gd name="connsiteY1524" fmla="*/ 107156 h 2366371"/>
                    <a:gd name="connsiteX1525" fmla="*/ 965702 w 1830590"/>
                    <a:gd name="connsiteY1525" fmla="*/ 107156 h 2366371"/>
                    <a:gd name="connsiteX1526" fmla="*/ 867470 w 1830590"/>
                    <a:gd name="connsiteY1526" fmla="*/ 107156 h 2366371"/>
                    <a:gd name="connsiteX1527" fmla="*/ 867470 w 1830590"/>
                    <a:gd name="connsiteY1527" fmla="*/ 8925 h 2366371"/>
                    <a:gd name="connsiteX1528" fmla="*/ 965702 w 1830590"/>
                    <a:gd name="connsiteY1528" fmla="*/ 8925 h 2366371"/>
                    <a:gd name="connsiteX1529" fmla="*/ 965702 w 1830590"/>
                    <a:gd name="connsiteY1529" fmla="*/ 107156 h 2366371"/>
                    <a:gd name="connsiteX1530" fmla="*/ 858546 w 1830590"/>
                    <a:gd name="connsiteY1530" fmla="*/ 107156 h 2366371"/>
                    <a:gd name="connsiteX1531" fmla="*/ 760314 w 1830590"/>
                    <a:gd name="connsiteY1531" fmla="*/ 107156 h 2366371"/>
                    <a:gd name="connsiteX1532" fmla="*/ 760314 w 1830590"/>
                    <a:gd name="connsiteY1532" fmla="*/ 8925 h 2366371"/>
                    <a:gd name="connsiteX1533" fmla="*/ 858546 w 1830590"/>
                    <a:gd name="connsiteY1533" fmla="*/ 8925 h 2366371"/>
                    <a:gd name="connsiteX1534" fmla="*/ 858546 w 1830590"/>
                    <a:gd name="connsiteY1534" fmla="*/ 107156 h 2366371"/>
                    <a:gd name="connsiteX1535" fmla="*/ 751389 w 1830590"/>
                    <a:gd name="connsiteY1535" fmla="*/ 107156 h 2366371"/>
                    <a:gd name="connsiteX1536" fmla="*/ 653158 w 1830590"/>
                    <a:gd name="connsiteY1536" fmla="*/ 107156 h 2366371"/>
                    <a:gd name="connsiteX1537" fmla="*/ 653158 w 1830590"/>
                    <a:gd name="connsiteY1537" fmla="*/ 8925 h 2366371"/>
                    <a:gd name="connsiteX1538" fmla="*/ 751389 w 1830590"/>
                    <a:gd name="connsiteY1538" fmla="*/ 8925 h 2366371"/>
                    <a:gd name="connsiteX1539" fmla="*/ 751389 w 1830590"/>
                    <a:gd name="connsiteY1539" fmla="*/ 107156 h 2366371"/>
                    <a:gd name="connsiteX1540" fmla="*/ 644233 w 1830590"/>
                    <a:gd name="connsiteY1540" fmla="*/ 107156 h 2366371"/>
                    <a:gd name="connsiteX1541" fmla="*/ 546002 w 1830590"/>
                    <a:gd name="connsiteY1541" fmla="*/ 107156 h 2366371"/>
                    <a:gd name="connsiteX1542" fmla="*/ 546002 w 1830590"/>
                    <a:gd name="connsiteY1542" fmla="*/ 8925 h 2366371"/>
                    <a:gd name="connsiteX1543" fmla="*/ 644233 w 1830590"/>
                    <a:gd name="connsiteY1543" fmla="*/ 8925 h 2366371"/>
                    <a:gd name="connsiteX1544" fmla="*/ 644233 w 1830590"/>
                    <a:gd name="connsiteY1544" fmla="*/ 107156 h 2366371"/>
                    <a:gd name="connsiteX1545" fmla="*/ 537077 w 1830590"/>
                    <a:gd name="connsiteY1545" fmla="*/ 107156 h 2366371"/>
                    <a:gd name="connsiteX1546" fmla="*/ 438845 w 1830590"/>
                    <a:gd name="connsiteY1546" fmla="*/ 107156 h 2366371"/>
                    <a:gd name="connsiteX1547" fmla="*/ 438845 w 1830590"/>
                    <a:gd name="connsiteY1547" fmla="*/ 8925 h 2366371"/>
                    <a:gd name="connsiteX1548" fmla="*/ 537077 w 1830590"/>
                    <a:gd name="connsiteY1548" fmla="*/ 8925 h 2366371"/>
                    <a:gd name="connsiteX1549" fmla="*/ 537077 w 1830590"/>
                    <a:gd name="connsiteY1549" fmla="*/ 107156 h 2366371"/>
                    <a:gd name="connsiteX1550" fmla="*/ 429920 w 1830590"/>
                    <a:gd name="connsiteY1550" fmla="*/ 107156 h 2366371"/>
                    <a:gd name="connsiteX1551" fmla="*/ 331689 w 1830590"/>
                    <a:gd name="connsiteY1551" fmla="*/ 107156 h 2366371"/>
                    <a:gd name="connsiteX1552" fmla="*/ 331689 w 1830590"/>
                    <a:gd name="connsiteY1552" fmla="*/ 8925 h 2366371"/>
                    <a:gd name="connsiteX1553" fmla="*/ 429920 w 1830590"/>
                    <a:gd name="connsiteY1553" fmla="*/ 8925 h 2366371"/>
                    <a:gd name="connsiteX1554" fmla="*/ 429920 w 1830590"/>
                    <a:gd name="connsiteY1554" fmla="*/ 107156 h 2366371"/>
                    <a:gd name="connsiteX1555" fmla="*/ 322764 w 1830590"/>
                    <a:gd name="connsiteY1555" fmla="*/ 107156 h 2366371"/>
                    <a:gd name="connsiteX1556" fmla="*/ 224533 w 1830590"/>
                    <a:gd name="connsiteY1556" fmla="*/ 107156 h 2366371"/>
                    <a:gd name="connsiteX1557" fmla="*/ 224533 w 1830590"/>
                    <a:gd name="connsiteY1557" fmla="*/ 8925 h 2366371"/>
                    <a:gd name="connsiteX1558" fmla="*/ 322764 w 1830590"/>
                    <a:gd name="connsiteY1558" fmla="*/ 8925 h 2366371"/>
                    <a:gd name="connsiteX1559" fmla="*/ 322764 w 1830590"/>
                    <a:gd name="connsiteY1559" fmla="*/ 107156 h 2366371"/>
                    <a:gd name="connsiteX1560" fmla="*/ 215608 w 1830590"/>
                    <a:gd name="connsiteY1560" fmla="*/ 107156 h 2366371"/>
                    <a:gd name="connsiteX1561" fmla="*/ 117377 w 1830590"/>
                    <a:gd name="connsiteY1561" fmla="*/ 107156 h 2366371"/>
                    <a:gd name="connsiteX1562" fmla="*/ 117377 w 1830590"/>
                    <a:gd name="connsiteY1562" fmla="*/ 8925 h 2366371"/>
                    <a:gd name="connsiteX1563" fmla="*/ 215608 w 1830590"/>
                    <a:gd name="connsiteY1563" fmla="*/ 8925 h 2366371"/>
                    <a:gd name="connsiteX1564" fmla="*/ 215608 w 1830590"/>
                    <a:gd name="connsiteY1564" fmla="*/ 107156 h 2366371"/>
                    <a:gd name="connsiteX1565" fmla="*/ 215608 w 1830590"/>
                    <a:gd name="connsiteY1565" fmla="*/ 116081 h 2366371"/>
                    <a:gd name="connsiteX1566" fmla="*/ 215608 w 1830590"/>
                    <a:gd name="connsiteY1566" fmla="*/ 214313 h 2366371"/>
                    <a:gd name="connsiteX1567" fmla="*/ 117377 w 1830590"/>
                    <a:gd name="connsiteY1567" fmla="*/ 214313 h 2366371"/>
                    <a:gd name="connsiteX1568" fmla="*/ 117377 w 1830590"/>
                    <a:gd name="connsiteY1568" fmla="*/ 116081 h 2366371"/>
                    <a:gd name="connsiteX1569" fmla="*/ 215608 w 1830590"/>
                    <a:gd name="connsiteY1569" fmla="*/ 116081 h 2366371"/>
                    <a:gd name="connsiteX1570" fmla="*/ 108452 w 1830590"/>
                    <a:gd name="connsiteY1570" fmla="*/ 214313 h 2366371"/>
                    <a:gd name="connsiteX1571" fmla="*/ 8925 w 1830590"/>
                    <a:gd name="connsiteY1571" fmla="*/ 214313 h 2366371"/>
                    <a:gd name="connsiteX1572" fmla="*/ 8925 w 1830590"/>
                    <a:gd name="connsiteY1572" fmla="*/ 116081 h 2366371"/>
                    <a:gd name="connsiteX1573" fmla="*/ 108452 w 1830590"/>
                    <a:gd name="connsiteY1573" fmla="*/ 116081 h 2366371"/>
                    <a:gd name="connsiteX1574" fmla="*/ 108452 w 1830590"/>
                    <a:gd name="connsiteY1574" fmla="*/ 214313 h 2366371"/>
                    <a:gd name="connsiteX1575" fmla="*/ 8925 w 1830590"/>
                    <a:gd name="connsiteY1575" fmla="*/ 223237 h 2366371"/>
                    <a:gd name="connsiteX1576" fmla="*/ 108452 w 1830590"/>
                    <a:gd name="connsiteY1576" fmla="*/ 223237 h 2366371"/>
                    <a:gd name="connsiteX1577" fmla="*/ 108452 w 1830590"/>
                    <a:gd name="connsiteY1577" fmla="*/ 321469 h 2366371"/>
                    <a:gd name="connsiteX1578" fmla="*/ 8925 w 1830590"/>
                    <a:gd name="connsiteY1578" fmla="*/ 321469 h 2366371"/>
                    <a:gd name="connsiteX1579" fmla="*/ 8925 w 1830590"/>
                    <a:gd name="connsiteY1579" fmla="*/ 223237 h 2366371"/>
                    <a:gd name="connsiteX1580" fmla="*/ 108452 w 1830590"/>
                    <a:gd name="connsiteY1580" fmla="*/ 330394 h 2366371"/>
                    <a:gd name="connsiteX1581" fmla="*/ 108452 w 1830590"/>
                    <a:gd name="connsiteY1581" fmla="*/ 428625 h 2366371"/>
                    <a:gd name="connsiteX1582" fmla="*/ 8925 w 1830590"/>
                    <a:gd name="connsiteY1582" fmla="*/ 428625 h 2366371"/>
                    <a:gd name="connsiteX1583" fmla="*/ 8925 w 1830590"/>
                    <a:gd name="connsiteY1583" fmla="*/ 330394 h 2366371"/>
                    <a:gd name="connsiteX1584" fmla="*/ 108452 w 1830590"/>
                    <a:gd name="connsiteY1584" fmla="*/ 330394 h 2366371"/>
                    <a:gd name="connsiteX1585" fmla="*/ 8925 w 1830590"/>
                    <a:gd name="connsiteY1585" fmla="*/ 437550 h 2366371"/>
                    <a:gd name="connsiteX1586" fmla="*/ 108452 w 1830590"/>
                    <a:gd name="connsiteY1586" fmla="*/ 437550 h 2366371"/>
                    <a:gd name="connsiteX1587" fmla="*/ 108452 w 1830590"/>
                    <a:gd name="connsiteY1587" fmla="*/ 535781 h 2366371"/>
                    <a:gd name="connsiteX1588" fmla="*/ 8925 w 1830590"/>
                    <a:gd name="connsiteY1588" fmla="*/ 535781 h 2366371"/>
                    <a:gd name="connsiteX1589" fmla="*/ 8925 w 1830590"/>
                    <a:gd name="connsiteY1589" fmla="*/ 437550 h 2366371"/>
                    <a:gd name="connsiteX1590" fmla="*/ 108452 w 1830590"/>
                    <a:gd name="connsiteY1590" fmla="*/ 544706 h 2366371"/>
                    <a:gd name="connsiteX1591" fmla="*/ 108452 w 1830590"/>
                    <a:gd name="connsiteY1591" fmla="*/ 642938 h 2366371"/>
                    <a:gd name="connsiteX1592" fmla="*/ 8925 w 1830590"/>
                    <a:gd name="connsiteY1592" fmla="*/ 642938 h 2366371"/>
                    <a:gd name="connsiteX1593" fmla="*/ 8925 w 1830590"/>
                    <a:gd name="connsiteY1593" fmla="*/ 544706 h 2366371"/>
                    <a:gd name="connsiteX1594" fmla="*/ 108452 w 1830590"/>
                    <a:gd name="connsiteY1594" fmla="*/ 544706 h 2366371"/>
                    <a:gd name="connsiteX1595" fmla="*/ 8925 w 1830590"/>
                    <a:gd name="connsiteY1595" fmla="*/ 651862 h 2366371"/>
                    <a:gd name="connsiteX1596" fmla="*/ 108452 w 1830590"/>
                    <a:gd name="connsiteY1596" fmla="*/ 651862 h 2366371"/>
                    <a:gd name="connsiteX1597" fmla="*/ 108452 w 1830590"/>
                    <a:gd name="connsiteY1597" fmla="*/ 750094 h 2366371"/>
                    <a:gd name="connsiteX1598" fmla="*/ 8925 w 1830590"/>
                    <a:gd name="connsiteY1598" fmla="*/ 750094 h 2366371"/>
                    <a:gd name="connsiteX1599" fmla="*/ 8925 w 1830590"/>
                    <a:gd name="connsiteY1599" fmla="*/ 651862 h 2366371"/>
                    <a:gd name="connsiteX1600" fmla="*/ 108452 w 1830590"/>
                    <a:gd name="connsiteY1600" fmla="*/ 759019 h 2366371"/>
                    <a:gd name="connsiteX1601" fmla="*/ 108452 w 1830590"/>
                    <a:gd name="connsiteY1601" fmla="*/ 857250 h 2366371"/>
                    <a:gd name="connsiteX1602" fmla="*/ 8925 w 1830590"/>
                    <a:gd name="connsiteY1602" fmla="*/ 857250 h 2366371"/>
                    <a:gd name="connsiteX1603" fmla="*/ 8925 w 1830590"/>
                    <a:gd name="connsiteY1603" fmla="*/ 759019 h 2366371"/>
                    <a:gd name="connsiteX1604" fmla="*/ 108452 w 1830590"/>
                    <a:gd name="connsiteY1604" fmla="*/ 759019 h 2366371"/>
                    <a:gd name="connsiteX1605" fmla="*/ 8925 w 1830590"/>
                    <a:gd name="connsiteY1605" fmla="*/ 866175 h 2366371"/>
                    <a:gd name="connsiteX1606" fmla="*/ 108452 w 1830590"/>
                    <a:gd name="connsiteY1606" fmla="*/ 866175 h 2366371"/>
                    <a:gd name="connsiteX1607" fmla="*/ 108452 w 1830590"/>
                    <a:gd name="connsiteY1607" fmla="*/ 964406 h 2366371"/>
                    <a:gd name="connsiteX1608" fmla="*/ 8925 w 1830590"/>
                    <a:gd name="connsiteY1608" fmla="*/ 964406 h 2366371"/>
                    <a:gd name="connsiteX1609" fmla="*/ 8925 w 1830590"/>
                    <a:gd name="connsiteY1609" fmla="*/ 866175 h 2366371"/>
                    <a:gd name="connsiteX1610" fmla="*/ 108452 w 1830590"/>
                    <a:gd name="connsiteY1610" fmla="*/ 973331 h 2366371"/>
                    <a:gd name="connsiteX1611" fmla="*/ 108452 w 1830590"/>
                    <a:gd name="connsiteY1611" fmla="*/ 1071562 h 2366371"/>
                    <a:gd name="connsiteX1612" fmla="*/ 8925 w 1830590"/>
                    <a:gd name="connsiteY1612" fmla="*/ 1071562 h 2366371"/>
                    <a:gd name="connsiteX1613" fmla="*/ 8925 w 1830590"/>
                    <a:gd name="connsiteY1613" fmla="*/ 973331 h 2366371"/>
                    <a:gd name="connsiteX1614" fmla="*/ 108452 w 1830590"/>
                    <a:gd name="connsiteY1614" fmla="*/ 973331 h 2366371"/>
                    <a:gd name="connsiteX1615" fmla="*/ 8925 w 1830590"/>
                    <a:gd name="connsiteY1615" fmla="*/ 1080487 h 2366371"/>
                    <a:gd name="connsiteX1616" fmla="*/ 108452 w 1830590"/>
                    <a:gd name="connsiteY1616" fmla="*/ 1080487 h 2366371"/>
                    <a:gd name="connsiteX1617" fmla="*/ 108452 w 1830590"/>
                    <a:gd name="connsiteY1617" fmla="*/ 1178719 h 2366371"/>
                    <a:gd name="connsiteX1618" fmla="*/ 8925 w 1830590"/>
                    <a:gd name="connsiteY1618" fmla="*/ 1178719 h 2366371"/>
                    <a:gd name="connsiteX1619" fmla="*/ 8925 w 1830590"/>
                    <a:gd name="connsiteY1619" fmla="*/ 1080487 h 2366371"/>
                    <a:gd name="connsiteX1620" fmla="*/ 108452 w 1830590"/>
                    <a:gd name="connsiteY1620" fmla="*/ 1187644 h 2366371"/>
                    <a:gd name="connsiteX1621" fmla="*/ 108452 w 1830590"/>
                    <a:gd name="connsiteY1621" fmla="*/ 1285875 h 2366371"/>
                    <a:gd name="connsiteX1622" fmla="*/ 8925 w 1830590"/>
                    <a:gd name="connsiteY1622" fmla="*/ 1285875 h 2366371"/>
                    <a:gd name="connsiteX1623" fmla="*/ 8925 w 1830590"/>
                    <a:gd name="connsiteY1623" fmla="*/ 1187644 h 2366371"/>
                    <a:gd name="connsiteX1624" fmla="*/ 108452 w 1830590"/>
                    <a:gd name="connsiteY1624" fmla="*/ 1187644 h 2366371"/>
                    <a:gd name="connsiteX1625" fmla="*/ 8925 w 1830590"/>
                    <a:gd name="connsiteY1625" fmla="*/ 1294800 h 2366371"/>
                    <a:gd name="connsiteX1626" fmla="*/ 108452 w 1830590"/>
                    <a:gd name="connsiteY1626" fmla="*/ 1294800 h 2366371"/>
                    <a:gd name="connsiteX1627" fmla="*/ 108452 w 1830590"/>
                    <a:gd name="connsiteY1627" fmla="*/ 1393031 h 2366371"/>
                    <a:gd name="connsiteX1628" fmla="*/ 8925 w 1830590"/>
                    <a:gd name="connsiteY1628" fmla="*/ 1393031 h 2366371"/>
                    <a:gd name="connsiteX1629" fmla="*/ 8925 w 1830590"/>
                    <a:gd name="connsiteY1629" fmla="*/ 1294800 h 2366371"/>
                    <a:gd name="connsiteX1630" fmla="*/ 108452 w 1830590"/>
                    <a:gd name="connsiteY1630" fmla="*/ 1401956 h 2366371"/>
                    <a:gd name="connsiteX1631" fmla="*/ 108452 w 1830590"/>
                    <a:gd name="connsiteY1631" fmla="*/ 1500187 h 2366371"/>
                    <a:gd name="connsiteX1632" fmla="*/ 8925 w 1830590"/>
                    <a:gd name="connsiteY1632" fmla="*/ 1500187 h 2366371"/>
                    <a:gd name="connsiteX1633" fmla="*/ 8925 w 1830590"/>
                    <a:gd name="connsiteY1633" fmla="*/ 1401956 h 2366371"/>
                    <a:gd name="connsiteX1634" fmla="*/ 108452 w 1830590"/>
                    <a:gd name="connsiteY1634" fmla="*/ 1401956 h 2366371"/>
                    <a:gd name="connsiteX1635" fmla="*/ 8925 w 1830590"/>
                    <a:gd name="connsiteY1635" fmla="*/ 1509112 h 2366371"/>
                    <a:gd name="connsiteX1636" fmla="*/ 108452 w 1830590"/>
                    <a:gd name="connsiteY1636" fmla="*/ 1509112 h 2366371"/>
                    <a:gd name="connsiteX1637" fmla="*/ 108452 w 1830590"/>
                    <a:gd name="connsiteY1637" fmla="*/ 1607344 h 2366371"/>
                    <a:gd name="connsiteX1638" fmla="*/ 8925 w 1830590"/>
                    <a:gd name="connsiteY1638" fmla="*/ 1607344 h 2366371"/>
                    <a:gd name="connsiteX1639" fmla="*/ 8925 w 1830590"/>
                    <a:gd name="connsiteY1639" fmla="*/ 1509112 h 2366371"/>
                    <a:gd name="connsiteX1640" fmla="*/ 108452 w 1830590"/>
                    <a:gd name="connsiteY1640" fmla="*/ 1616269 h 2366371"/>
                    <a:gd name="connsiteX1641" fmla="*/ 108452 w 1830590"/>
                    <a:gd name="connsiteY1641" fmla="*/ 1714500 h 2366371"/>
                    <a:gd name="connsiteX1642" fmla="*/ 8925 w 1830590"/>
                    <a:gd name="connsiteY1642" fmla="*/ 1714500 h 2366371"/>
                    <a:gd name="connsiteX1643" fmla="*/ 8925 w 1830590"/>
                    <a:gd name="connsiteY1643" fmla="*/ 1616269 h 2366371"/>
                    <a:gd name="connsiteX1644" fmla="*/ 108452 w 1830590"/>
                    <a:gd name="connsiteY1644" fmla="*/ 1616269 h 2366371"/>
                    <a:gd name="connsiteX1645" fmla="*/ 8925 w 1830590"/>
                    <a:gd name="connsiteY1645" fmla="*/ 1723425 h 2366371"/>
                    <a:gd name="connsiteX1646" fmla="*/ 108452 w 1830590"/>
                    <a:gd name="connsiteY1646" fmla="*/ 1723425 h 2366371"/>
                    <a:gd name="connsiteX1647" fmla="*/ 108452 w 1830590"/>
                    <a:gd name="connsiteY1647" fmla="*/ 1821656 h 2366371"/>
                    <a:gd name="connsiteX1648" fmla="*/ 8925 w 1830590"/>
                    <a:gd name="connsiteY1648" fmla="*/ 1821656 h 2366371"/>
                    <a:gd name="connsiteX1649" fmla="*/ 8925 w 1830590"/>
                    <a:gd name="connsiteY1649" fmla="*/ 1723425 h 2366371"/>
                    <a:gd name="connsiteX1650" fmla="*/ 108452 w 1830590"/>
                    <a:gd name="connsiteY1650" fmla="*/ 1830581 h 2366371"/>
                    <a:gd name="connsiteX1651" fmla="*/ 108452 w 1830590"/>
                    <a:gd name="connsiteY1651" fmla="*/ 1928812 h 2366371"/>
                    <a:gd name="connsiteX1652" fmla="*/ 8925 w 1830590"/>
                    <a:gd name="connsiteY1652" fmla="*/ 1928812 h 2366371"/>
                    <a:gd name="connsiteX1653" fmla="*/ 8925 w 1830590"/>
                    <a:gd name="connsiteY1653" fmla="*/ 1830581 h 2366371"/>
                    <a:gd name="connsiteX1654" fmla="*/ 108452 w 1830590"/>
                    <a:gd name="connsiteY1654" fmla="*/ 1830581 h 2366371"/>
                    <a:gd name="connsiteX1655" fmla="*/ 8925 w 1830590"/>
                    <a:gd name="connsiteY1655" fmla="*/ 1937737 h 2366371"/>
                    <a:gd name="connsiteX1656" fmla="*/ 108452 w 1830590"/>
                    <a:gd name="connsiteY1656" fmla="*/ 1937737 h 2366371"/>
                    <a:gd name="connsiteX1657" fmla="*/ 108452 w 1830590"/>
                    <a:gd name="connsiteY1657" fmla="*/ 2035969 h 2366371"/>
                    <a:gd name="connsiteX1658" fmla="*/ 8925 w 1830590"/>
                    <a:gd name="connsiteY1658" fmla="*/ 2035969 h 2366371"/>
                    <a:gd name="connsiteX1659" fmla="*/ 8925 w 1830590"/>
                    <a:gd name="connsiteY1659" fmla="*/ 1937737 h 2366371"/>
                    <a:gd name="connsiteX1660" fmla="*/ 108452 w 1830590"/>
                    <a:gd name="connsiteY1660" fmla="*/ 2044894 h 2366371"/>
                    <a:gd name="connsiteX1661" fmla="*/ 108452 w 1830590"/>
                    <a:gd name="connsiteY1661" fmla="*/ 2143125 h 2366371"/>
                    <a:gd name="connsiteX1662" fmla="*/ 8925 w 1830590"/>
                    <a:gd name="connsiteY1662" fmla="*/ 2143125 h 2366371"/>
                    <a:gd name="connsiteX1663" fmla="*/ 8925 w 1830590"/>
                    <a:gd name="connsiteY1663" fmla="*/ 2044894 h 2366371"/>
                    <a:gd name="connsiteX1664" fmla="*/ 108452 w 1830590"/>
                    <a:gd name="connsiteY1664" fmla="*/ 2044894 h 2366371"/>
                    <a:gd name="connsiteX1665" fmla="*/ 8925 w 1830590"/>
                    <a:gd name="connsiteY1665" fmla="*/ 2152050 h 2366371"/>
                    <a:gd name="connsiteX1666" fmla="*/ 108452 w 1830590"/>
                    <a:gd name="connsiteY1666" fmla="*/ 2152050 h 2366371"/>
                    <a:gd name="connsiteX1667" fmla="*/ 108452 w 1830590"/>
                    <a:gd name="connsiteY1667" fmla="*/ 2250281 h 2366371"/>
                    <a:gd name="connsiteX1668" fmla="*/ 8925 w 1830590"/>
                    <a:gd name="connsiteY1668" fmla="*/ 2250281 h 2366371"/>
                    <a:gd name="connsiteX1669" fmla="*/ 8925 w 1830590"/>
                    <a:gd name="connsiteY1669" fmla="*/ 2152050 h 2366371"/>
                    <a:gd name="connsiteX1670" fmla="*/ 117386 w 1830590"/>
                    <a:gd name="connsiteY1670" fmla="*/ 2152050 h 2366371"/>
                    <a:gd name="connsiteX1671" fmla="*/ 215618 w 1830590"/>
                    <a:gd name="connsiteY1671" fmla="*/ 2152050 h 2366371"/>
                    <a:gd name="connsiteX1672" fmla="*/ 215618 w 1830590"/>
                    <a:gd name="connsiteY1672" fmla="*/ 2250281 h 2366371"/>
                    <a:gd name="connsiteX1673" fmla="*/ 117386 w 1830590"/>
                    <a:gd name="connsiteY1673" fmla="*/ 2250281 h 2366371"/>
                    <a:gd name="connsiteX1674" fmla="*/ 117386 w 1830590"/>
                    <a:gd name="connsiteY1674" fmla="*/ 2152050 h 2366371"/>
                    <a:gd name="connsiteX1675" fmla="*/ 215608 w 1830590"/>
                    <a:gd name="connsiteY1675" fmla="*/ 2259206 h 2366371"/>
                    <a:gd name="connsiteX1676" fmla="*/ 215608 w 1830590"/>
                    <a:gd name="connsiteY1676" fmla="*/ 2357437 h 2366371"/>
                    <a:gd name="connsiteX1677" fmla="*/ 117377 w 1830590"/>
                    <a:gd name="connsiteY1677" fmla="*/ 2357437 h 2366371"/>
                    <a:gd name="connsiteX1678" fmla="*/ 117377 w 1830590"/>
                    <a:gd name="connsiteY1678" fmla="*/ 2259206 h 2366371"/>
                    <a:gd name="connsiteX1679" fmla="*/ 215608 w 1830590"/>
                    <a:gd name="connsiteY1679" fmla="*/ 2259206 h 2366371"/>
                    <a:gd name="connsiteX1680" fmla="*/ 224542 w 1830590"/>
                    <a:gd name="connsiteY1680" fmla="*/ 2259206 h 2366371"/>
                    <a:gd name="connsiteX1681" fmla="*/ 322774 w 1830590"/>
                    <a:gd name="connsiteY1681" fmla="*/ 2259206 h 2366371"/>
                    <a:gd name="connsiteX1682" fmla="*/ 322774 w 1830590"/>
                    <a:gd name="connsiteY1682" fmla="*/ 2357437 h 2366371"/>
                    <a:gd name="connsiteX1683" fmla="*/ 224542 w 1830590"/>
                    <a:gd name="connsiteY1683" fmla="*/ 2357437 h 2366371"/>
                    <a:gd name="connsiteX1684" fmla="*/ 224542 w 1830590"/>
                    <a:gd name="connsiteY1684" fmla="*/ 2259206 h 2366371"/>
                    <a:gd name="connsiteX1685" fmla="*/ 331699 w 1830590"/>
                    <a:gd name="connsiteY1685" fmla="*/ 2259206 h 2366371"/>
                    <a:gd name="connsiteX1686" fmla="*/ 429930 w 1830590"/>
                    <a:gd name="connsiteY1686" fmla="*/ 2259206 h 2366371"/>
                    <a:gd name="connsiteX1687" fmla="*/ 429930 w 1830590"/>
                    <a:gd name="connsiteY1687" fmla="*/ 2357437 h 2366371"/>
                    <a:gd name="connsiteX1688" fmla="*/ 331699 w 1830590"/>
                    <a:gd name="connsiteY1688" fmla="*/ 2357437 h 2366371"/>
                    <a:gd name="connsiteX1689" fmla="*/ 331699 w 1830590"/>
                    <a:gd name="connsiteY1689" fmla="*/ 2259206 h 2366371"/>
                    <a:gd name="connsiteX1690" fmla="*/ 438855 w 1830590"/>
                    <a:gd name="connsiteY1690" fmla="*/ 2259206 h 2366371"/>
                    <a:gd name="connsiteX1691" fmla="*/ 537086 w 1830590"/>
                    <a:gd name="connsiteY1691" fmla="*/ 2259206 h 2366371"/>
                    <a:gd name="connsiteX1692" fmla="*/ 537086 w 1830590"/>
                    <a:gd name="connsiteY1692" fmla="*/ 2357437 h 2366371"/>
                    <a:gd name="connsiteX1693" fmla="*/ 438855 w 1830590"/>
                    <a:gd name="connsiteY1693" fmla="*/ 2357437 h 2366371"/>
                    <a:gd name="connsiteX1694" fmla="*/ 438855 w 1830590"/>
                    <a:gd name="connsiteY1694" fmla="*/ 2259206 h 2366371"/>
                    <a:gd name="connsiteX1695" fmla="*/ 546011 w 1830590"/>
                    <a:gd name="connsiteY1695" fmla="*/ 2259206 h 2366371"/>
                    <a:gd name="connsiteX1696" fmla="*/ 644243 w 1830590"/>
                    <a:gd name="connsiteY1696" fmla="*/ 2259206 h 2366371"/>
                    <a:gd name="connsiteX1697" fmla="*/ 644243 w 1830590"/>
                    <a:gd name="connsiteY1697" fmla="*/ 2357437 h 2366371"/>
                    <a:gd name="connsiteX1698" fmla="*/ 546011 w 1830590"/>
                    <a:gd name="connsiteY1698" fmla="*/ 2357437 h 2366371"/>
                    <a:gd name="connsiteX1699" fmla="*/ 546011 w 1830590"/>
                    <a:gd name="connsiteY1699" fmla="*/ 2259206 h 2366371"/>
                    <a:gd name="connsiteX1700" fmla="*/ 653167 w 1830590"/>
                    <a:gd name="connsiteY1700" fmla="*/ 2259206 h 2366371"/>
                    <a:gd name="connsiteX1701" fmla="*/ 751399 w 1830590"/>
                    <a:gd name="connsiteY1701" fmla="*/ 2259206 h 2366371"/>
                    <a:gd name="connsiteX1702" fmla="*/ 751399 w 1830590"/>
                    <a:gd name="connsiteY1702" fmla="*/ 2357437 h 2366371"/>
                    <a:gd name="connsiteX1703" fmla="*/ 653167 w 1830590"/>
                    <a:gd name="connsiteY1703" fmla="*/ 2357437 h 2366371"/>
                    <a:gd name="connsiteX1704" fmla="*/ 653167 w 1830590"/>
                    <a:gd name="connsiteY1704" fmla="*/ 2259206 h 2366371"/>
                    <a:gd name="connsiteX1705" fmla="*/ 760324 w 1830590"/>
                    <a:gd name="connsiteY1705" fmla="*/ 2259206 h 2366371"/>
                    <a:gd name="connsiteX1706" fmla="*/ 858555 w 1830590"/>
                    <a:gd name="connsiteY1706" fmla="*/ 2259206 h 2366371"/>
                    <a:gd name="connsiteX1707" fmla="*/ 858555 w 1830590"/>
                    <a:gd name="connsiteY1707" fmla="*/ 2357437 h 2366371"/>
                    <a:gd name="connsiteX1708" fmla="*/ 760324 w 1830590"/>
                    <a:gd name="connsiteY1708" fmla="*/ 2357437 h 2366371"/>
                    <a:gd name="connsiteX1709" fmla="*/ 760324 w 1830590"/>
                    <a:gd name="connsiteY1709" fmla="*/ 2259206 h 2366371"/>
                    <a:gd name="connsiteX1710" fmla="*/ 867480 w 1830590"/>
                    <a:gd name="connsiteY1710" fmla="*/ 2259206 h 2366371"/>
                    <a:gd name="connsiteX1711" fmla="*/ 965711 w 1830590"/>
                    <a:gd name="connsiteY1711" fmla="*/ 2259206 h 2366371"/>
                    <a:gd name="connsiteX1712" fmla="*/ 965711 w 1830590"/>
                    <a:gd name="connsiteY1712" fmla="*/ 2357437 h 2366371"/>
                    <a:gd name="connsiteX1713" fmla="*/ 867480 w 1830590"/>
                    <a:gd name="connsiteY1713" fmla="*/ 2357437 h 2366371"/>
                    <a:gd name="connsiteX1714" fmla="*/ 867480 w 1830590"/>
                    <a:gd name="connsiteY1714" fmla="*/ 2259206 h 2366371"/>
                    <a:gd name="connsiteX1715" fmla="*/ 974636 w 1830590"/>
                    <a:gd name="connsiteY1715" fmla="*/ 2259206 h 2366371"/>
                    <a:gd name="connsiteX1716" fmla="*/ 1072867 w 1830590"/>
                    <a:gd name="connsiteY1716" fmla="*/ 2259206 h 2366371"/>
                    <a:gd name="connsiteX1717" fmla="*/ 1072867 w 1830590"/>
                    <a:gd name="connsiteY1717" fmla="*/ 2357437 h 2366371"/>
                    <a:gd name="connsiteX1718" fmla="*/ 974636 w 1830590"/>
                    <a:gd name="connsiteY1718" fmla="*/ 2357437 h 2366371"/>
                    <a:gd name="connsiteX1719" fmla="*/ 974636 w 1830590"/>
                    <a:gd name="connsiteY1719" fmla="*/ 2259206 h 2366371"/>
                    <a:gd name="connsiteX1720" fmla="*/ 1081792 w 1830590"/>
                    <a:gd name="connsiteY1720" fmla="*/ 2259206 h 2366371"/>
                    <a:gd name="connsiteX1721" fmla="*/ 1180024 w 1830590"/>
                    <a:gd name="connsiteY1721" fmla="*/ 2259206 h 2366371"/>
                    <a:gd name="connsiteX1722" fmla="*/ 1180024 w 1830590"/>
                    <a:gd name="connsiteY1722" fmla="*/ 2357437 h 2366371"/>
                    <a:gd name="connsiteX1723" fmla="*/ 1081792 w 1830590"/>
                    <a:gd name="connsiteY1723" fmla="*/ 2357437 h 2366371"/>
                    <a:gd name="connsiteX1724" fmla="*/ 1081792 w 1830590"/>
                    <a:gd name="connsiteY1724" fmla="*/ 2259206 h 2366371"/>
                    <a:gd name="connsiteX1725" fmla="*/ 1188949 w 1830590"/>
                    <a:gd name="connsiteY1725" fmla="*/ 2259206 h 2366371"/>
                    <a:gd name="connsiteX1726" fmla="*/ 1287180 w 1830590"/>
                    <a:gd name="connsiteY1726" fmla="*/ 2259206 h 2366371"/>
                    <a:gd name="connsiteX1727" fmla="*/ 1287180 w 1830590"/>
                    <a:gd name="connsiteY1727" fmla="*/ 2357437 h 2366371"/>
                    <a:gd name="connsiteX1728" fmla="*/ 1188949 w 1830590"/>
                    <a:gd name="connsiteY1728" fmla="*/ 2357437 h 2366371"/>
                    <a:gd name="connsiteX1729" fmla="*/ 1188949 w 1830590"/>
                    <a:gd name="connsiteY1729" fmla="*/ 2259206 h 2366371"/>
                    <a:gd name="connsiteX1730" fmla="*/ 1296105 w 1830590"/>
                    <a:gd name="connsiteY1730" fmla="*/ 2259206 h 2366371"/>
                    <a:gd name="connsiteX1731" fmla="*/ 1394336 w 1830590"/>
                    <a:gd name="connsiteY1731" fmla="*/ 2259206 h 2366371"/>
                    <a:gd name="connsiteX1732" fmla="*/ 1394336 w 1830590"/>
                    <a:gd name="connsiteY1732" fmla="*/ 2357437 h 2366371"/>
                    <a:gd name="connsiteX1733" fmla="*/ 1296105 w 1830590"/>
                    <a:gd name="connsiteY1733" fmla="*/ 2357437 h 2366371"/>
                    <a:gd name="connsiteX1734" fmla="*/ 1296105 w 1830590"/>
                    <a:gd name="connsiteY1734" fmla="*/ 2259206 h 2366371"/>
                    <a:gd name="connsiteX1735" fmla="*/ 1403261 w 1830590"/>
                    <a:gd name="connsiteY1735" fmla="*/ 2259206 h 2366371"/>
                    <a:gd name="connsiteX1736" fmla="*/ 1501492 w 1830590"/>
                    <a:gd name="connsiteY1736" fmla="*/ 2259206 h 2366371"/>
                    <a:gd name="connsiteX1737" fmla="*/ 1501492 w 1830590"/>
                    <a:gd name="connsiteY1737" fmla="*/ 2357437 h 2366371"/>
                    <a:gd name="connsiteX1738" fmla="*/ 1403261 w 1830590"/>
                    <a:gd name="connsiteY1738" fmla="*/ 2357437 h 2366371"/>
                    <a:gd name="connsiteX1739" fmla="*/ 1403261 w 1830590"/>
                    <a:gd name="connsiteY1739" fmla="*/ 2259206 h 2366371"/>
                    <a:gd name="connsiteX1740" fmla="*/ 1510417 w 1830590"/>
                    <a:gd name="connsiteY1740" fmla="*/ 2259206 h 2366371"/>
                    <a:gd name="connsiteX1741" fmla="*/ 1608649 w 1830590"/>
                    <a:gd name="connsiteY1741" fmla="*/ 2259206 h 2366371"/>
                    <a:gd name="connsiteX1742" fmla="*/ 1608649 w 1830590"/>
                    <a:gd name="connsiteY1742" fmla="*/ 2357437 h 2366371"/>
                    <a:gd name="connsiteX1743" fmla="*/ 1510417 w 1830590"/>
                    <a:gd name="connsiteY1743" fmla="*/ 2357437 h 2366371"/>
                    <a:gd name="connsiteX1744" fmla="*/ 1510417 w 1830590"/>
                    <a:gd name="connsiteY1744" fmla="*/ 2259206 h 2366371"/>
                    <a:gd name="connsiteX1745" fmla="*/ 1617574 w 1830590"/>
                    <a:gd name="connsiteY1745" fmla="*/ 2259206 h 2366371"/>
                    <a:gd name="connsiteX1746" fmla="*/ 1715805 w 1830590"/>
                    <a:gd name="connsiteY1746" fmla="*/ 2259206 h 2366371"/>
                    <a:gd name="connsiteX1747" fmla="*/ 1715805 w 1830590"/>
                    <a:gd name="connsiteY1747" fmla="*/ 2357437 h 2366371"/>
                    <a:gd name="connsiteX1748" fmla="*/ 1617574 w 1830590"/>
                    <a:gd name="connsiteY1748" fmla="*/ 2357437 h 2366371"/>
                    <a:gd name="connsiteX1749" fmla="*/ 1617574 w 1830590"/>
                    <a:gd name="connsiteY1749" fmla="*/ 2259206 h 2366371"/>
                    <a:gd name="connsiteX1750" fmla="*/ 1617574 w 1830590"/>
                    <a:gd name="connsiteY1750" fmla="*/ 2250281 h 2366371"/>
                    <a:gd name="connsiteX1751" fmla="*/ 1617574 w 1830590"/>
                    <a:gd name="connsiteY1751" fmla="*/ 2152050 h 2366371"/>
                    <a:gd name="connsiteX1752" fmla="*/ 1715805 w 1830590"/>
                    <a:gd name="connsiteY1752" fmla="*/ 2152050 h 2366371"/>
                    <a:gd name="connsiteX1753" fmla="*/ 1715805 w 1830590"/>
                    <a:gd name="connsiteY1753" fmla="*/ 2250281 h 2366371"/>
                    <a:gd name="connsiteX1754" fmla="*/ 1617574 w 1830590"/>
                    <a:gd name="connsiteY1754" fmla="*/ 2250281 h 2366371"/>
                    <a:gd name="connsiteX1755" fmla="*/ 1724730 w 1830590"/>
                    <a:gd name="connsiteY1755" fmla="*/ 2152050 h 2366371"/>
                    <a:gd name="connsiteX1756" fmla="*/ 1821656 w 1830590"/>
                    <a:gd name="connsiteY1756" fmla="*/ 2152050 h 2366371"/>
                    <a:gd name="connsiteX1757" fmla="*/ 1821656 w 1830590"/>
                    <a:gd name="connsiteY1757" fmla="*/ 2250281 h 2366371"/>
                    <a:gd name="connsiteX1758" fmla="*/ 1724730 w 1830590"/>
                    <a:gd name="connsiteY1758" fmla="*/ 2250281 h 2366371"/>
                    <a:gd name="connsiteX1759" fmla="*/ 1724730 w 1830590"/>
                    <a:gd name="connsiteY1759" fmla="*/ 2152050 h 2366371"/>
                    <a:gd name="connsiteX1760" fmla="*/ 1724730 w 1830590"/>
                    <a:gd name="connsiteY1760" fmla="*/ 2143125 h 2366371"/>
                    <a:gd name="connsiteX1761" fmla="*/ 1724730 w 1830590"/>
                    <a:gd name="connsiteY1761" fmla="*/ 2044894 h 2366371"/>
                    <a:gd name="connsiteX1762" fmla="*/ 1821656 w 1830590"/>
                    <a:gd name="connsiteY1762" fmla="*/ 2044894 h 2366371"/>
                    <a:gd name="connsiteX1763" fmla="*/ 1821656 w 1830590"/>
                    <a:gd name="connsiteY1763" fmla="*/ 2143125 h 2366371"/>
                    <a:gd name="connsiteX1764" fmla="*/ 1724730 w 1830590"/>
                    <a:gd name="connsiteY1764" fmla="*/ 2143125 h 2366371"/>
                    <a:gd name="connsiteX1765" fmla="*/ 1821656 w 1830590"/>
                    <a:gd name="connsiteY1765" fmla="*/ 2035969 h 2366371"/>
                    <a:gd name="connsiteX1766" fmla="*/ 1724730 w 1830590"/>
                    <a:gd name="connsiteY1766" fmla="*/ 2035969 h 2366371"/>
                    <a:gd name="connsiteX1767" fmla="*/ 1724730 w 1830590"/>
                    <a:gd name="connsiteY1767" fmla="*/ 1937737 h 2366371"/>
                    <a:gd name="connsiteX1768" fmla="*/ 1821656 w 1830590"/>
                    <a:gd name="connsiteY1768" fmla="*/ 1937737 h 2366371"/>
                    <a:gd name="connsiteX1769" fmla="*/ 1821656 w 1830590"/>
                    <a:gd name="connsiteY1769" fmla="*/ 2035969 h 2366371"/>
                    <a:gd name="connsiteX1770" fmla="*/ 1724730 w 1830590"/>
                    <a:gd name="connsiteY1770" fmla="*/ 1928812 h 2366371"/>
                    <a:gd name="connsiteX1771" fmla="*/ 1724730 w 1830590"/>
                    <a:gd name="connsiteY1771" fmla="*/ 1830581 h 2366371"/>
                    <a:gd name="connsiteX1772" fmla="*/ 1821656 w 1830590"/>
                    <a:gd name="connsiteY1772" fmla="*/ 1830581 h 2366371"/>
                    <a:gd name="connsiteX1773" fmla="*/ 1821656 w 1830590"/>
                    <a:gd name="connsiteY1773" fmla="*/ 1928812 h 2366371"/>
                    <a:gd name="connsiteX1774" fmla="*/ 1724730 w 1830590"/>
                    <a:gd name="connsiteY1774" fmla="*/ 1928812 h 2366371"/>
                    <a:gd name="connsiteX1775" fmla="*/ 1821656 w 1830590"/>
                    <a:gd name="connsiteY1775" fmla="*/ 1821656 h 2366371"/>
                    <a:gd name="connsiteX1776" fmla="*/ 1724730 w 1830590"/>
                    <a:gd name="connsiteY1776" fmla="*/ 1821656 h 2366371"/>
                    <a:gd name="connsiteX1777" fmla="*/ 1724730 w 1830590"/>
                    <a:gd name="connsiteY1777" fmla="*/ 1723425 h 2366371"/>
                    <a:gd name="connsiteX1778" fmla="*/ 1821656 w 1830590"/>
                    <a:gd name="connsiteY1778" fmla="*/ 1723425 h 2366371"/>
                    <a:gd name="connsiteX1779" fmla="*/ 1821656 w 1830590"/>
                    <a:gd name="connsiteY1779" fmla="*/ 1821656 h 2366371"/>
                    <a:gd name="connsiteX1780" fmla="*/ 1724730 w 1830590"/>
                    <a:gd name="connsiteY1780" fmla="*/ 1714500 h 2366371"/>
                    <a:gd name="connsiteX1781" fmla="*/ 1724730 w 1830590"/>
                    <a:gd name="connsiteY1781" fmla="*/ 1616269 h 2366371"/>
                    <a:gd name="connsiteX1782" fmla="*/ 1821656 w 1830590"/>
                    <a:gd name="connsiteY1782" fmla="*/ 1616269 h 2366371"/>
                    <a:gd name="connsiteX1783" fmla="*/ 1821656 w 1830590"/>
                    <a:gd name="connsiteY1783" fmla="*/ 1714500 h 2366371"/>
                    <a:gd name="connsiteX1784" fmla="*/ 1724730 w 1830590"/>
                    <a:gd name="connsiteY1784" fmla="*/ 1714500 h 2366371"/>
                    <a:gd name="connsiteX1785" fmla="*/ 1821656 w 1830590"/>
                    <a:gd name="connsiteY1785" fmla="*/ 1607344 h 2366371"/>
                    <a:gd name="connsiteX1786" fmla="*/ 1724730 w 1830590"/>
                    <a:gd name="connsiteY1786" fmla="*/ 1607344 h 2366371"/>
                    <a:gd name="connsiteX1787" fmla="*/ 1724730 w 1830590"/>
                    <a:gd name="connsiteY1787" fmla="*/ 1509112 h 2366371"/>
                    <a:gd name="connsiteX1788" fmla="*/ 1821656 w 1830590"/>
                    <a:gd name="connsiteY1788" fmla="*/ 1509112 h 2366371"/>
                    <a:gd name="connsiteX1789" fmla="*/ 1821656 w 1830590"/>
                    <a:gd name="connsiteY1789" fmla="*/ 1607344 h 2366371"/>
                    <a:gd name="connsiteX1790" fmla="*/ 1724730 w 1830590"/>
                    <a:gd name="connsiteY1790" fmla="*/ 1500187 h 2366371"/>
                    <a:gd name="connsiteX1791" fmla="*/ 1724730 w 1830590"/>
                    <a:gd name="connsiteY1791" fmla="*/ 1401956 h 2366371"/>
                    <a:gd name="connsiteX1792" fmla="*/ 1821656 w 1830590"/>
                    <a:gd name="connsiteY1792" fmla="*/ 1401956 h 2366371"/>
                    <a:gd name="connsiteX1793" fmla="*/ 1821656 w 1830590"/>
                    <a:gd name="connsiteY1793" fmla="*/ 1500187 h 2366371"/>
                    <a:gd name="connsiteX1794" fmla="*/ 1724730 w 1830590"/>
                    <a:gd name="connsiteY1794" fmla="*/ 1500187 h 2366371"/>
                    <a:gd name="connsiteX1795" fmla="*/ 1821656 w 1830590"/>
                    <a:gd name="connsiteY1795" fmla="*/ 1393031 h 2366371"/>
                    <a:gd name="connsiteX1796" fmla="*/ 1724730 w 1830590"/>
                    <a:gd name="connsiteY1796" fmla="*/ 1393031 h 2366371"/>
                    <a:gd name="connsiteX1797" fmla="*/ 1724730 w 1830590"/>
                    <a:gd name="connsiteY1797" fmla="*/ 1294800 h 2366371"/>
                    <a:gd name="connsiteX1798" fmla="*/ 1821656 w 1830590"/>
                    <a:gd name="connsiteY1798" fmla="*/ 1294800 h 2366371"/>
                    <a:gd name="connsiteX1799" fmla="*/ 1821656 w 1830590"/>
                    <a:gd name="connsiteY1799" fmla="*/ 1393031 h 2366371"/>
                    <a:gd name="connsiteX1800" fmla="*/ 1724730 w 1830590"/>
                    <a:gd name="connsiteY1800" fmla="*/ 1285875 h 2366371"/>
                    <a:gd name="connsiteX1801" fmla="*/ 1724730 w 1830590"/>
                    <a:gd name="connsiteY1801" fmla="*/ 1187644 h 2366371"/>
                    <a:gd name="connsiteX1802" fmla="*/ 1821656 w 1830590"/>
                    <a:gd name="connsiteY1802" fmla="*/ 1187644 h 2366371"/>
                    <a:gd name="connsiteX1803" fmla="*/ 1821656 w 1830590"/>
                    <a:gd name="connsiteY1803" fmla="*/ 1285875 h 2366371"/>
                    <a:gd name="connsiteX1804" fmla="*/ 1724730 w 1830590"/>
                    <a:gd name="connsiteY1804" fmla="*/ 1285875 h 2366371"/>
                    <a:gd name="connsiteX1805" fmla="*/ 1821656 w 1830590"/>
                    <a:gd name="connsiteY1805" fmla="*/ 1178719 h 2366371"/>
                    <a:gd name="connsiteX1806" fmla="*/ 1724730 w 1830590"/>
                    <a:gd name="connsiteY1806" fmla="*/ 1178719 h 2366371"/>
                    <a:gd name="connsiteX1807" fmla="*/ 1724730 w 1830590"/>
                    <a:gd name="connsiteY1807" fmla="*/ 1080487 h 2366371"/>
                    <a:gd name="connsiteX1808" fmla="*/ 1821656 w 1830590"/>
                    <a:gd name="connsiteY1808" fmla="*/ 1080487 h 2366371"/>
                    <a:gd name="connsiteX1809" fmla="*/ 1821656 w 1830590"/>
                    <a:gd name="connsiteY1809" fmla="*/ 1178719 h 2366371"/>
                    <a:gd name="connsiteX1810" fmla="*/ 1724730 w 1830590"/>
                    <a:gd name="connsiteY1810" fmla="*/ 1071562 h 2366371"/>
                    <a:gd name="connsiteX1811" fmla="*/ 1724730 w 1830590"/>
                    <a:gd name="connsiteY1811" fmla="*/ 973331 h 2366371"/>
                    <a:gd name="connsiteX1812" fmla="*/ 1821656 w 1830590"/>
                    <a:gd name="connsiteY1812" fmla="*/ 973331 h 2366371"/>
                    <a:gd name="connsiteX1813" fmla="*/ 1821656 w 1830590"/>
                    <a:gd name="connsiteY1813" fmla="*/ 1071562 h 2366371"/>
                    <a:gd name="connsiteX1814" fmla="*/ 1724730 w 1830590"/>
                    <a:gd name="connsiteY1814" fmla="*/ 1071562 h 2366371"/>
                    <a:gd name="connsiteX1815" fmla="*/ 1821656 w 1830590"/>
                    <a:gd name="connsiteY1815" fmla="*/ 964406 h 2366371"/>
                    <a:gd name="connsiteX1816" fmla="*/ 1724730 w 1830590"/>
                    <a:gd name="connsiteY1816" fmla="*/ 964406 h 2366371"/>
                    <a:gd name="connsiteX1817" fmla="*/ 1724730 w 1830590"/>
                    <a:gd name="connsiteY1817" fmla="*/ 866175 h 2366371"/>
                    <a:gd name="connsiteX1818" fmla="*/ 1821656 w 1830590"/>
                    <a:gd name="connsiteY1818" fmla="*/ 866175 h 2366371"/>
                    <a:gd name="connsiteX1819" fmla="*/ 1821656 w 1830590"/>
                    <a:gd name="connsiteY1819" fmla="*/ 964406 h 2366371"/>
                    <a:gd name="connsiteX1820" fmla="*/ 1724730 w 1830590"/>
                    <a:gd name="connsiteY1820" fmla="*/ 857250 h 2366371"/>
                    <a:gd name="connsiteX1821" fmla="*/ 1724730 w 1830590"/>
                    <a:gd name="connsiteY1821" fmla="*/ 759019 h 2366371"/>
                    <a:gd name="connsiteX1822" fmla="*/ 1821656 w 1830590"/>
                    <a:gd name="connsiteY1822" fmla="*/ 759019 h 2366371"/>
                    <a:gd name="connsiteX1823" fmla="*/ 1821656 w 1830590"/>
                    <a:gd name="connsiteY1823" fmla="*/ 857250 h 2366371"/>
                    <a:gd name="connsiteX1824" fmla="*/ 1724730 w 1830590"/>
                    <a:gd name="connsiteY1824" fmla="*/ 857250 h 2366371"/>
                    <a:gd name="connsiteX1825" fmla="*/ 1821656 w 1830590"/>
                    <a:gd name="connsiteY1825" fmla="*/ 750094 h 2366371"/>
                    <a:gd name="connsiteX1826" fmla="*/ 1724730 w 1830590"/>
                    <a:gd name="connsiteY1826" fmla="*/ 750094 h 2366371"/>
                    <a:gd name="connsiteX1827" fmla="*/ 1724730 w 1830590"/>
                    <a:gd name="connsiteY1827" fmla="*/ 651862 h 2366371"/>
                    <a:gd name="connsiteX1828" fmla="*/ 1821656 w 1830590"/>
                    <a:gd name="connsiteY1828" fmla="*/ 651862 h 2366371"/>
                    <a:gd name="connsiteX1829" fmla="*/ 1821656 w 1830590"/>
                    <a:gd name="connsiteY1829" fmla="*/ 750094 h 2366371"/>
                    <a:gd name="connsiteX1830" fmla="*/ 1724730 w 1830590"/>
                    <a:gd name="connsiteY1830" fmla="*/ 642938 h 2366371"/>
                    <a:gd name="connsiteX1831" fmla="*/ 1724730 w 1830590"/>
                    <a:gd name="connsiteY1831" fmla="*/ 544706 h 2366371"/>
                    <a:gd name="connsiteX1832" fmla="*/ 1821656 w 1830590"/>
                    <a:gd name="connsiteY1832" fmla="*/ 544706 h 2366371"/>
                    <a:gd name="connsiteX1833" fmla="*/ 1821656 w 1830590"/>
                    <a:gd name="connsiteY1833" fmla="*/ 642938 h 2366371"/>
                    <a:gd name="connsiteX1834" fmla="*/ 1724730 w 1830590"/>
                    <a:gd name="connsiteY1834" fmla="*/ 642938 h 2366371"/>
                    <a:gd name="connsiteX1835" fmla="*/ 1821656 w 1830590"/>
                    <a:gd name="connsiteY1835" fmla="*/ 535781 h 2366371"/>
                    <a:gd name="connsiteX1836" fmla="*/ 1724730 w 1830590"/>
                    <a:gd name="connsiteY1836" fmla="*/ 535781 h 2366371"/>
                    <a:gd name="connsiteX1837" fmla="*/ 1724730 w 1830590"/>
                    <a:gd name="connsiteY1837" fmla="*/ 437550 h 2366371"/>
                    <a:gd name="connsiteX1838" fmla="*/ 1821656 w 1830590"/>
                    <a:gd name="connsiteY1838" fmla="*/ 437550 h 2366371"/>
                    <a:gd name="connsiteX1839" fmla="*/ 1821656 w 1830590"/>
                    <a:gd name="connsiteY1839" fmla="*/ 535781 h 2366371"/>
                    <a:gd name="connsiteX1840" fmla="*/ 1724730 w 1830590"/>
                    <a:gd name="connsiteY1840" fmla="*/ 428625 h 2366371"/>
                    <a:gd name="connsiteX1841" fmla="*/ 1724730 w 1830590"/>
                    <a:gd name="connsiteY1841" fmla="*/ 330394 h 2366371"/>
                    <a:gd name="connsiteX1842" fmla="*/ 1821656 w 1830590"/>
                    <a:gd name="connsiteY1842" fmla="*/ 330394 h 2366371"/>
                    <a:gd name="connsiteX1843" fmla="*/ 1821656 w 1830590"/>
                    <a:gd name="connsiteY1843" fmla="*/ 428625 h 2366371"/>
                    <a:gd name="connsiteX1844" fmla="*/ 1724730 w 1830590"/>
                    <a:gd name="connsiteY1844" fmla="*/ 428625 h 2366371"/>
                    <a:gd name="connsiteX1845" fmla="*/ 1821656 w 1830590"/>
                    <a:gd name="connsiteY1845" fmla="*/ 321469 h 2366371"/>
                    <a:gd name="connsiteX1846" fmla="*/ 1724730 w 1830590"/>
                    <a:gd name="connsiteY1846" fmla="*/ 321469 h 2366371"/>
                    <a:gd name="connsiteX1847" fmla="*/ 1724730 w 1830590"/>
                    <a:gd name="connsiteY1847" fmla="*/ 223237 h 2366371"/>
                    <a:gd name="connsiteX1848" fmla="*/ 1821656 w 1830590"/>
                    <a:gd name="connsiteY1848" fmla="*/ 223237 h 2366371"/>
                    <a:gd name="connsiteX1849" fmla="*/ 1821656 w 1830590"/>
                    <a:gd name="connsiteY1849" fmla="*/ 321469 h 2366371"/>
                    <a:gd name="connsiteX1850" fmla="*/ 1724730 w 1830590"/>
                    <a:gd name="connsiteY1850" fmla="*/ 214313 h 2366371"/>
                    <a:gd name="connsiteX1851" fmla="*/ 1724730 w 1830590"/>
                    <a:gd name="connsiteY1851" fmla="*/ 116081 h 2366371"/>
                    <a:gd name="connsiteX1852" fmla="*/ 1821656 w 1830590"/>
                    <a:gd name="connsiteY1852" fmla="*/ 116081 h 2366371"/>
                    <a:gd name="connsiteX1853" fmla="*/ 1821656 w 1830590"/>
                    <a:gd name="connsiteY1853" fmla="*/ 214313 h 2366371"/>
                    <a:gd name="connsiteX1854" fmla="*/ 1724730 w 1830590"/>
                    <a:gd name="connsiteY1854" fmla="*/ 214313 h 2366371"/>
                    <a:gd name="connsiteX1855" fmla="*/ 1821656 w 1830590"/>
                    <a:gd name="connsiteY1855" fmla="*/ 107156 h 2366371"/>
                    <a:gd name="connsiteX1856" fmla="*/ 1724730 w 1830590"/>
                    <a:gd name="connsiteY1856" fmla="*/ 107156 h 2366371"/>
                    <a:gd name="connsiteX1857" fmla="*/ 1724730 w 1830590"/>
                    <a:gd name="connsiteY1857" fmla="*/ 8925 h 2366371"/>
                    <a:gd name="connsiteX1858" fmla="*/ 1821656 w 1830590"/>
                    <a:gd name="connsiteY1858" fmla="*/ 8925 h 2366371"/>
                    <a:gd name="connsiteX1859" fmla="*/ 1821656 w 1830590"/>
                    <a:gd name="connsiteY1859" fmla="*/ 107156 h 2366371"/>
                    <a:gd name="connsiteX1860" fmla="*/ 108452 w 1830590"/>
                    <a:gd name="connsiteY1860" fmla="*/ 8925 h 2366371"/>
                    <a:gd name="connsiteX1861" fmla="*/ 108452 w 1830590"/>
                    <a:gd name="connsiteY1861" fmla="*/ 107156 h 2366371"/>
                    <a:gd name="connsiteX1862" fmla="*/ 8925 w 1830590"/>
                    <a:gd name="connsiteY1862" fmla="*/ 107156 h 2366371"/>
                    <a:gd name="connsiteX1863" fmla="*/ 8925 w 1830590"/>
                    <a:gd name="connsiteY1863" fmla="*/ 8925 h 2366371"/>
                    <a:gd name="connsiteX1864" fmla="*/ 108452 w 1830590"/>
                    <a:gd name="connsiteY1864" fmla="*/ 8925 h 2366371"/>
                    <a:gd name="connsiteX1865" fmla="*/ 8925 w 1830590"/>
                    <a:gd name="connsiteY1865" fmla="*/ 2259206 h 2366371"/>
                    <a:gd name="connsiteX1866" fmla="*/ 108452 w 1830590"/>
                    <a:gd name="connsiteY1866" fmla="*/ 2259206 h 2366371"/>
                    <a:gd name="connsiteX1867" fmla="*/ 108452 w 1830590"/>
                    <a:gd name="connsiteY1867" fmla="*/ 2357437 h 2366371"/>
                    <a:gd name="connsiteX1868" fmla="*/ 8925 w 1830590"/>
                    <a:gd name="connsiteY1868" fmla="*/ 2357437 h 2366371"/>
                    <a:gd name="connsiteX1869" fmla="*/ 8925 w 1830590"/>
                    <a:gd name="connsiteY1869" fmla="*/ 2259206 h 2366371"/>
                    <a:gd name="connsiteX1870" fmla="*/ 1724730 w 1830590"/>
                    <a:gd name="connsiteY1870" fmla="*/ 2357437 h 2366371"/>
                    <a:gd name="connsiteX1871" fmla="*/ 1724730 w 1830590"/>
                    <a:gd name="connsiteY1871" fmla="*/ 2259206 h 2366371"/>
                    <a:gd name="connsiteX1872" fmla="*/ 1821656 w 1830590"/>
                    <a:gd name="connsiteY1872" fmla="*/ 2259206 h 2366371"/>
                    <a:gd name="connsiteX1873" fmla="*/ 1821656 w 1830590"/>
                    <a:gd name="connsiteY1873" fmla="*/ 2357437 h 2366371"/>
                    <a:gd name="connsiteX1874" fmla="*/ 1724730 w 1830590"/>
                    <a:gd name="connsiteY1874" fmla="*/ 2357437 h 2366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Lst>
                  <a:rect l="l" t="t" r="r" b="b"/>
                  <a:pathLst>
                    <a:path w="1830590" h="2366371">
                      <a:moveTo>
                        <a:pt x="0" y="0"/>
                      </a:moveTo>
                      <a:lnTo>
                        <a:pt x="0" y="2366372"/>
                      </a:lnTo>
                      <a:lnTo>
                        <a:pt x="1830591" y="2366372"/>
                      </a:lnTo>
                      <a:lnTo>
                        <a:pt x="1830591" y="0"/>
                      </a:lnTo>
                      <a:lnTo>
                        <a:pt x="0" y="0"/>
                      </a:lnTo>
                      <a:close/>
                      <a:moveTo>
                        <a:pt x="867480" y="1500187"/>
                      </a:moveTo>
                      <a:lnTo>
                        <a:pt x="867480" y="1401956"/>
                      </a:lnTo>
                      <a:lnTo>
                        <a:pt x="965711" y="1401956"/>
                      </a:lnTo>
                      <a:lnTo>
                        <a:pt x="965711" y="1500187"/>
                      </a:lnTo>
                      <a:lnTo>
                        <a:pt x="867480" y="1500187"/>
                      </a:lnTo>
                      <a:close/>
                      <a:moveTo>
                        <a:pt x="965702" y="1509112"/>
                      </a:moveTo>
                      <a:lnTo>
                        <a:pt x="965702" y="1607344"/>
                      </a:lnTo>
                      <a:lnTo>
                        <a:pt x="867470" y="1607344"/>
                      </a:lnTo>
                      <a:lnTo>
                        <a:pt x="867470" y="1509112"/>
                      </a:lnTo>
                      <a:lnTo>
                        <a:pt x="965702" y="1509112"/>
                      </a:lnTo>
                      <a:close/>
                      <a:moveTo>
                        <a:pt x="965702" y="866175"/>
                      </a:moveTo>
                      <a:lnTo>
                        <a:pt x="965702" y="964406"/>
                      </a:lnTo>
                      <a:lnTo>
                        <a:pt x="867470" y="964406"/>
                      </a:lnTo>
                      <a:lnTo>
                        <a:pt x="867470" y="866175"/>
                      </a:lnTo>
                      <a:lnTo>
                        <a:pt x="965702" y="866175"/>
                      </a:lnTo>
                      <a:close/>
                      <a:moveTo>
                        <a:pt x="867480" y="857250"/>
                      </a:moveTo>
                      <a:lnTo>
                        <a:pt x="867480" y="759019"/>
                      </a:lnTo>
                      <a:lnTo>
                        <a:pt x="965711" y="759019"/>
                      </a:lnTo>
                      <a:lnTo>
                        <a:pt x="965711" y="857250"/>
                      </a:lnTo>
                      <a:lnTo>
                        <a:pt x="867480" y="857250"/>
                      </a:lnTo>
                      <a:close/>
                      <a:moveTo>
                        <a:pt x="867480" y="1285875"/>
                      </a:moveTo>
                      <a:lnTo>
                        <a:pt x="867480" y="1187644"/>
                      </a:lnTo>
                      <a:lnTo>
                        <a:pt x="965711" y="1187644"/>
                      </a:lnTo>
                      <a:lnTo>
                        <a:pt x="965711" y="1285875"/>
                      </a:lnTo>
                      <a:lnTo>
                        <a:pt x="867480" y="1285875"/>
                      </a:lnTo>
                      <a:close/>
                      <a:moveTo>
                        <a:pt x="965702" y="1294800"/>
                      </a:moveTo>
                      <a:lnTo>
                        <a:pt x="965702" y="1393031"/>
                      </a:lnTo>
                      <a:lnTo>
                        <a:pt x="867470" y="1393031"/>
                      </a:lnTo>
                      <a:lnTo>
                        <a:pt x="867470" y="1294800"/>
                      </a:lnTo>
                      <a:lnTo>
                        <a:pt x="965702" y="1294800"/>
                      </a:lnTo>
                      <a:close/>
                      <a:moveTo>
                        <a:pt x="867480" y="1178719"/>
                      </a:moveTo>
                      <a:lnTo>
                        <a:pt x="867480" y="1080487"/>
                      </a:lnTo>
                      <a:lnTo>
                        <a:pt x="965711" y="1080487"/>
                      </a:lnTo>
                      <a:lnTo>
                        <a:pt x="965711" y="1178719"/>
                      </a:lnTo>
                      <a:lnTo>
                        <a:pt x="867480" y="1178719"/>
                      </a:lnTo>
                      <a:close/>
                      <a:moveTo>
                        <a:pt x="867480" y="1071562"/>
                      </a:moveTo>
                      <a:lnTo>
                        <a:pt x="867480" y="973331"/>
                      </a:lnTo>
                      <a:lnTo>
                        <a:pt x="965711" y="973331"/>
                      </a:lnTo>
                      <a:lnTo>
                        <a:pt x="965711" y="1071562"/>
                      </a:lnTo>
                      <a:lnTo>
                        <a:pt x="867480" y="1071562"/>
                      </a:lnTo>
                      <a:close/>
                      <a:moveTo>
                        <a:pt x="858546" y="964406"/>
                      </a:moveTo>
                      <a:lnTo>
                        <a:pt x="760314" y="964406"/>
                      </a:lnTo>
                      <a:lnTo>
                        <a:pt x="760314" y="866175"/>
                      </a:lnTo>
                      <a:lnTo>
                        <a:pt x="858546" y="866175"/>
                      </a:lnTo>
                      <a:lnTo>
                        <a:pt x="858546" y="964406"/>
                      </a:lnTo>
                      <a:close/>
                      <a:moveTo>
                        <a:pt x="858546" y="973331"/>
                      </a:moveTo>
                      <a:lnTo>
                        <a:pt x="858546" y="1071562"/>
                      </a:lnTo>
                      <a:lnTo>
                        <a:pt x="760314" y="1071562"/>
                      </a:lnTo>
                      <a:lnTo>
                        <a:pt x="760314" y="973331"/>
                      </a:lnTo>
                      <a:lnTo>
                        <a:pt x="858546" y="973331"/>
                      </a:lnTo>
                      <a:close/>
                      <a:moveTo>
                        <a:pt x="858546" y="1080487"/>
                      </a:moveTo>
                      <a:lnTo>
                        <a:pt x="858546" y="1178719"/>
                      </a:lnTo>
                      <a:lnTo>
                        <a:pt x="760314" y="1178719"/>
                      </a:lnTo>
                      <a:lnTo>
                        <a:pt x="760314" y="1080487"/>
                      </a:lnTo>
                      <a:lnTo>
                        <a:pt x="858546" y="1080487"/>
                      </a:lnTo>
                      <a:close/>
                      <a:moveTo>
                        <a:pt x="858546" y="1187644"/>
                      </a:moveTo>
                      <a:lnTo>
                        <a:pt x="858546" y="1285875"/>
                      </a:lnTo>
                      <a:lnTo>
                        <a:pt x="760314" y="1285875"/>
                      </a:lnTo>
                      <a:lnTo>
                        <a:pt x="760314" y="1187644"/>
                      </a:lnTo>
                      <a:lnTo>
                        <a:pt x="858546" y="1187644"/>
                      </a:lnTo>
                      <a:close/>
                      <a:moveTo>
                        <a:pt x="858546" y="1294800"/>
                      </a:moveTo>
                      <a:lnTo>
                        <a:pt x="858546" y="1393031"/>
                      </a:lnTo>
                      <a:lnTo>
                        <a:pt x="760314" y="1393031"/>
                      </a:lnTo>
                      <a:lnTo>
                        <a:pt x="760314" y="1294800"/>
                      </a:lnTo>
                      <a:lnTo>
                        <a:pt x="858546" y="1294800"/>
                      </a:lnTo>
                      <a:close/>
                      <a:moveTo>
                        <a:pt x="858546" y="1401956"/>
                      </a:moveTo>
                      <a:lnTo>
                        <a:pt x="858546" y="1500187"/>
                      </a:lnTo>
                      <a:lnTo>
                        <a:pt x="760314" y="1500187"/>
                      </a:lnTo>
                      <a:lnTo>
                        <a:pt x="760314" y="1401956"/>
                      </a:lnTo>
                      <a:lnTo>
                        <a:pt x="858546" y="1401956"/>
                      </a:lnTo>
                      <a:close/>
                      <a:moveTo>
                        <a:pt x="974636" y="1401956"/>
                      </a:moveTo>
                      <a:lnTo>
                        <a:pt x="1072867" y="1401956"/>
                      </a:lnTo>
                      <a:lnTo>
                        <a:pt x="1072867" y="1500187"/>
                      </a:lnTo>
                      <a:lnTo>
                        <a:pt x="974636" y="1500187"/>
                      </a:lnTo>
                      <a:lnTo>
                        <a:pt x="974636" y="1401956"/>
                      </a:lnTo>
                      <a:close/>
                      <a:moveTo>
                        <a:pt x="974636" y="1393031"/>
                      </a:moveTo>
                      <a:lnTo>
                        <a:pt x="974636" y="1294800"/>
                      </a:lnTo>
                      <a:lnTo>
                        <a:pt x="1072867" y="1294800"/>
                      </a:lnTo>
                      <a:lnTo>
                        <a:pt x="1072867" y="1393031"/>
                      </a:lnTo>
                      <a:lnTo>
                        <a:pt x="974636" y="1393031"/>
                      </a:lnTo>
                      <a:close/>
                      <a:moveTo>
                        <a:pt x="974636" y="1285875"/>
                      </a:moveTo>
                      <a:lnTo>
                        <a:pt x="974636" y="1187644"/>
                      </a:lnTo>
                      <a:lnTo>
                        <a:pt x="1072867" y="1187644"/>
                      </a:lnTo>
                      <a:lnTo>
                        <a:pt x="1072867" y="1285875"/>
                      </a:lnTo>
                      <a:lnTo>
                        <a:pt x="974636" y="1285875"/>
                      </a:lnTo>
                      <a:close/>
                      <a:moveTo>
                        <a:pt x="974636" y="1178719"/>
                      </a:moveTo>
                      <a:lnTo>
                        <a:pt x="974636" y="1080487"/>
                      </a:lnTo>
                      <a:lnTo>
                        <a:pt x="1072867" y="1080487"/>
                      </a:lnTo>
                      <a:lnTo>
                        <a:pt x="1072867" y="1178719"/>
                      </a:lnTo>
                      <a:lnTo>
                        <a:pt x="974636" y="1178719"/>
                      </a:lnTo>
                      <a:close/>
                      <a:moveTo>
                        <a:pt x="974636" y="1071562"/>
                      </a:moveTo>
                      <a:lnTo>
                        <a:pt x="974636" y="973331"/>
                      </a:lnTo>
                      <a:lnTo>
                        <a:pt x="1072867" y="973331"/>
                      </a:lnTo>
                      <a:lnTo>
                        <a:pt x="1072867" y="1071562"/>
                      </a:lnTo>
                      <a:lnTo>
                        <a:pt x="974636" y="1071562"/>
                      </a:lnTo>
                      <a:close/>
                      <a:moveTo>
                        <a:pt x="974636" y="964406"/>
                      </a:moveTo>
                      <a:lnTo>
                        <a:pt x="974636" y="866175"/>
                      </a:lnTo>
                      <a:lnTo>
                        <a:pt x="1072867" y="866175"/>
                      </a:lnTo>
                      <a:lnTo>
                        <a:pt x="1072867" y="964406"/>
                      </a:lnTo>
                      <a:lnTo>
                        <a:pt x="974636" y="964406"/>
                      </a:lnTo>
                      <a:close/>
                      <a:moveTo>
                        <a:pt x="974636" y="857250"/>
                      </a:moveTo>
                      <a:lnTo>
                        <a:pt x="974636" y="759019"/>
                      </a:lnTo>
                      <a:lnTo>
                        <a:pt x="1072867" y="759019"/>
                      </a:lnTo>
                      <a:lnTo>
                        <a:pt x="1072867" y="857250"/>
                      </a:lnTo>
                      <a:lnTo>
                        <a:pt x="974636" y="857250"/>
                      </a:lnTo>
                      <a:close/>
                      <a:moveTo>
                        <a:pt x="974636" y="750094"/>
                      </a:moveTo>
                      <a:lnTo>
                        <a:pt x="974636" y="651862"/>
                      </a:lnTo>
                      <a:lnTo>
                        <a:pt x="1072867" y="651862"/>
                      </a:lnTo>
                      <a:lnTo>
                        <a:pt x="1072867" y="750094"/>
                      </a:lnTo>
                      <a:lnTo>
                        <a:pt x="974636" y="750094"/>
                      </a:lnTo>
                      <a:close/>
                      <a:moveTo>
                        <a:pt x="965702" y="750094"/>
                      </a:moveTo>
                      <a:lnTo>
                        <a:pt x="867470" y="750094"/>
                      </a:lnTo>
                      <a:lnTo>
                        <a:pt x="867470" y="651862"/>
                      </a:lnTo>
                      <a:lnTo>
                        <a:pt x="965702" y="651862"/>
                      </a:lnTo>
                      <a:lnTo>
                        <a:pt x="965702" y="750094"/>
                      </a:lnTo>
                      <a:close/>
                      <a:moveTo>
                        <a:pt x="858546" y="750094"/>
                      </a:moveTo>
                      <a:lnTo>
                        <a:pt x="760314" y="750094"/>
                      </a:lnTo>
                      <a:lnTo>
                        <a:pt x="760314" y="651862"/>
                      </a:lnTo>
                      <a:lnTo>
                        <a:pt x="858546" y="651862"/>
                      </a:lnTo>
                      <a:lnTo>
                        <a:pt x="858546" y="750094"/>
                      </a:lnTo>
                      <a:close/>
                      <a:moveTo>
                        <a:pt x="858546" y="759019"/>
                      </a:moveTo>
                      <a:lnTo>
                        <a:pt x="858546" y="857250"/>
                      </a:lnTo>
                      <a:lnTo>
                        <a:pt x="760314" y="857250"/>
                      </a:lnTo>
                      <a:lnTo>
                        <a:pt x="760314" y="759019"/>
                      </a:lnTo>
                      <a:lnTo>
                        <a:pt x="858546" y="759019"/>
                      </a:lnTo>
                      <a:close/>
                      <a:moveTo>
                        <a:pt x="751389" y="857250"/>
                      </a:moveTo>
                      <a:lnTo>
                        <a:pt x="653158" y="857250"/>
                      </a:lnTo>
                      <a:lnTo>
                        <a:pt x="653158" y="759019"/>
                      </a:lnTo>
                      <a:lnTo>
                        <a:pt x="751389" y="759019"/>
                      </a:lnTo>
                      <a:lnTo>
                        <a:pt x="751389" y="857250"/>
                      </a:lnTo>
                      <a:close/>
                      <a:moveTo>
                        <a:pt x="751389" y="866175"/>
                      </a:moveTo>
                      <a:lnTo>
                        <a:pt x="751389" y="964406"/>
                      </a:lnTo>
                      <a:lnTo>
                        <a:pt x="653158" y="964406"/>
                      </a:lnTo>
                      <a:lnTo>
                        <a:pt x="653158" y="866175"/>
                      </a:lnTo>
                      <a:lnTo>
                        <a:pt x="751389" y="866175"/>
                      </a:lnTo>
                      <a:close/>
                      <a:moveTo>
                        <a:pt x="751389" y="973331"/>
                      </a:moveTo>
                      <a:lnTo>
                        <a:pt x="751389" y="1071562"/>
                      </a:lnTo>
                      <a:lnTo>
                        <a:pt x="653158" y="1071562"/>
                      </a:lnTo>
                      <a:lnTo>
                        <a:pt x="653158" y="973331"/>
                      </a:lnTo>
                      <a:lnTo>
                        <a:pt x="751389" y="973331"/>
                      </a:lnTo>
                      <a:close/>
                      <a:moveTo>
                        <a:pt x="751389" y="1080487"/>
                      </a:moveTo>
                      <a:lnTo>
                        <a:pt x="751389" y="1178719"/>
                      </a:lnTo>
                      <a:lnTo>
                        <a:pt x="653158" y="1178719"/>
                      </a:lnTo>
                      <a:lnTo>
                        <a:pt x="653158" y="1080487"/>
                      </a:lnTo>
                      <a:lnTo>
                        <a:pt x="751389" y="1080487"/>
                      </a:lnTo>
                      <a:close/>
                      <a:moveTo>
                        <a:pt x="751389" y="1187644"/>
                      </a:moveTo>
                      <a:lnTo>
                        <a:pt x="751389" y="1285875"/>
                      </a:lnTo>
                      <a:lnTo>
                        <a:pt x="653158" y="1285875"/>
                      </a:lnTo>
                      <a:lnTo>
                        <a:pt x="653158" y="1187644"/>
                      </a:lnTo>
                      <a:lnTo>
                        <a:pt x="751389" y="1187644"/>
                      </a:lnTo>
                      <a:close/>
                      <a:moveTo>
                        <a:pt x="751389" y="1294800"/>
                      </a:moveTo>
                      <a:lnTo>
                        <a:pt x="751389" y="1393031"/>
                      </a:lnTo>
                      <a:lnTo>
                        <a:pt x="653158" y="1393031"/>
                      </a:lnTo>
                      <a:lnTo>
                        <a:pt x="653158" y="1294800"/>
                      </a:lnTo>
                      <a:lnTo>
                        <a:pt x="751389" y="1294800"/>
                      </a:lnTo>
                      <a:close/>
                      <a:moveTo>
                        <a:pt x="751389" y="1401956"/>
                      </a:moveTo>
                      <a:lnTo>
                        <a:pt x="751389" y="1500187"/>
                      </a:lnTo>
                      <a:lnTo>
                        <a:pt x="653158" y="1500187"/>
                      </a:lnTo>
                      <a:lnTo>
                        <a:pt x="653158" y="1401956"/>
                      </a:lnTo>
                      <a:lnTo>
                        <a:pt x="751389" y="1401956"/>
                      </a:lnTo>
                      <a:close/>
                      <a:moveTo>
                        <a:pt x="751389" y="1509112"/>
                      </a:moveTo>
                      <a:lnTo>
                        <a:pt x="751389" y="1607344"/>
                      </a:lnTo>
                      <a:lnTo>
                        <a:pt x="653158" y="1607344"/>
                      </a:lnTo>
                      <a:lnTo>
                        <a:pt x="653158" y="1509112"/>
                      </a:lnTo>
                      <a:lnTo>
                        <a:pt x="751389" y="1509112"/>
                      </a:lnTo>
                      <a:close/>
                      <a:moveTo>
                        <a:pt x="760324" y="1509112"/>
                      </a:moveTo>
                      <a:lnTo>
                        <a:pt x="858555" y="1509112"/>
                      </a:lnTo>
                      <a:lnTo>
                        <a:pt x="858555" y="1607344"/>
                      </a:lnTo>
                      <a:lnTo>
                        <a:pt x="760324" y="1607344"/>
                      </a:lnTo>
                      <a:lnTo>
                        <a:pt x="760324" y="1509112"/>
                      </a:lnTo>
                      <a:close/>
                      <a:moveTo>
                        <a:pt x="858546" y="1616269"/>
                      </a:moveTo>
                      <a:lnTo>
                        <a:pt x="858546" y="1714500"/>
                      </a:lnTo>
                      <a:lnTo>
                        <a:pt x="760314" y="1714500"/>
                      </a:lnTo>
                      <a:lnTo>
                        <a:pt x="760314" y="1616269"/>
                      </a:lnTo>
                      <a:lnTo>
                        <a:pt x="858546" y="1616269"/>
                      </a:lnTo>
                      <a:close/>
                      <a:moveTo>
                        <a:pt x="867480" y="1616269"/>
                      </a:moveTo>
                      <a:lnTo>
                        <a:pt x="965711" y="1616269"/>
                      </a:lnTo>
                      <a:lnTo>
                        <a:pt x="965711" y="1714500"/>
                      </a:lnTo>
                      <a:lnTo>
                        <a:pt x="867480" y="1714500"/>
                      </a:lnTo>
                      <a:lnTo>
                        <a:pt x="867480" y="1616269"/>
                      </a:lnTo>
                      <a:close/>
                      <a:moveTo>
                        <a:pt x="974636" y="1616269"/>
                      </a:moveTo>
                      <a:lnTo>
                        <a:pt x="1072867" y="1616269"/>
                      </a:lnTo>
                      <a:lnTo>
                        <a:pt x="1072867" y="1714500"/>
                      </a:lnTo>
                      <a:lnTo>
                        <a:pt x="974636" y="1714500"/>
                      </a:lnTo>
                      <a:lnTo>
                        <a:pt x="974636" y="1616269"/>
                      </a:lnTo>
                      <a:close/>
                      <a:moveTo>
                        <a:pt x="974636" y="1607344"/>
                      </a:moveTo>
                      <a:lnTo>
                        <a:pt x="974636" y="1509112"/>
                      </a:lnTo>
                      <a:lnTo>
                        <a:pt x="1072867" y="1509112"/>
                      </a:lnTo>
                      <a:lnTo>
                        <a:pt x="1072867" y="1607344"/>
                      </a:lnTo>
                      <a:lnTo>
                        <a:pt x="974636" y="1607344"/>
                      </a:lnTo>
                      <a:close/>
                      <a:moveTo>
                        <a:pt x="1081792" y="1509112"/>
                      </a:moveTo>
                      <a:lnTo>
                        <a:pt x="1180024" y="1509112"/>
                      </a:lnTo>
                      <a:lnTo>
                        <a:pt x="1180024" y="1607344"/>
                      </a:lnTo>
                      <a:lnTo>
                        <a:pt x="1081792" y="1607344"/>
                      </a:lnTo>
                      <a:lnTo>
                        <a:pt x="1081792" y="1509112"/>
                      </a:lnTo>
                      <a:close/>
                      <a:moveTo>
                        <a:pt x="1081792" y="1500187"/>
                      </a:moveTo>
                      <a:lnTo>
                        <a:pt x="1081792" y="1401956"/>
                      </a:lnTo>
                      <a:lnTo>
                        <a:pt x="1180024" y="1401956"/>
                      </a:lnTo>
                      <a:lnTo>
                        <a:pt x="1180024" y="1500187"/>
                      </a:lnTo>
                      <a:lnTo>
                        <a:pt x="1081792" y="1500187"/>
                      </a:lnTo>
                      <a:close/>
                      <a:moveTo>
                        <a:pt x="1081792" y="1393031"/>
                      </a:moveTo>
                      <a:lnTo>
                        <a:pt x="1081792" y="1294800"/>
                      </a:lnTo>
                      <a:lnTo>
                        <a:pt x="1180024" y="1294800"/>
                      </a:lnTo>
                      <a:lnTo>
                        <a:pt x="1180024" y="1393031"/>
                      </a:lnTo>
                      <a:lnTo>
                        <a:pt x="1081792" y="1393031"/>
                      </a:lnTo>
                      <a:close/>
                      <a:moveTo>
                        <a:pt x="1081792" y="1285875"/>
                      </a:moveTo>
                      <a:lnTo>
                        <a:pt x="1081792" y="1187644"/>
                      </a:lnTo>
                      <a:lnTo>
                        <a:pt x="1180024" y="1187644"/>
                      </a:lnTo>
                      <a:lnTo>
                        <a:pt x="1180024" y="1285875"/>
                      </a:lnTo>
                      <a:lnTo>
                        <a:pt x="1081792" y="1285875"/>
                      </a:lnTo>
                      <a:close/>
                      <a:moveTo>
                        <a:pt x="1081792" y="1178719"/>
                      </a:moveTo>
                      <a:lnTo>
                        <a:pt x="1081792" y="1080487"/>
                      </a:lnTo>
                      <a:lnTo>
                        <a:pt x="1180024" y="1080487"/>
                      </a:lnTo>
                      <a:lnTo>
                        <a:pt x="1180024" y="1178719"/>
                      </a:lnTo>
                      <a:lnTo>
                        <a:pt x="1081792" y="1178719"/>
                      </a:lnTo>
                      <a:close/>
                      <a:moveTo>
                        <a:pt x="1081792" y="1071562"/>
                      </a:moveTo>
                      <a:lnTo>
                        <a:pt x="1081792" y="973331"/>
                      </a:lnTo>
                      <a:lnTo>
                        <a:pt x="1180024" y="973331"/>
                      </a:lnTo>
                      <a:lnTo>
                        <a:pt x="1180024" y="1071562"/>
                      </a:lnTo>
                      <a:lnTo>
                        <a:pt x="1081792" y="1071562"/>
                      </a:lnTo>
                      <a:close/>
                      <a:moveTo>
                        <a:pt x="1081792" y="964406"/>
                      </a:moveTo>
                      <a:lnTo>
                        <a:pt x="1081792" y="866175"/>
                      </a:lnTo>
                      <a:lnTo>
                        <a:pt x="1180024" y="866175"/>
                      </a:lnTo>
                      <a:lnTo>
                        <a:pt x="1180024" y="964406"/>
                      </a:lnTo>
                      <a:lnTo>
                        <a:pt x="1081792" y="964406"/>
                      </a:lnTo>
                      <a:close/>
                      <a:moveTo>
                        <a:pt x="1081792" y="857250"/>
                      </a:moveTo>
                      <a:lnTo>
                        <a:pt x="1081792" y="759019"/>
                      </a:lnTo>
                      <a:lnTo>
                        <a:pt x="1180024" y="759019"/>
                      </a:lnTo>
                      <a:lnTo>
                        <a:pt x="1180024" y="857250"/>
                      </a:lnTo>
                      <a:lnTo>
                        <a:pt x="1081792" y="857250"/>
                      </a:lnTo>
                      <a:close/>
                      <a:moveTo>
                        <a:pt x="1081792" y="750094"/>
                      </a:moveTo>
                      <a:lnTo>
                        <a:pt x="1081792" y="651862"/>
                      </a:lnTo>
                      <a:lnTo>
                        <a:pt x="1180024" y="651862"/>
                      </a:lnTo>
                      <a:lnTo>
                        <a:pt x="1180024" y="750094"/>
                      </a:lnTo>
                      <a:lnTo>
                        <a:pt x="1081792" y="750094"/>
                      </a:lnTo>
                      <a:close/>
                      <a:moveTo>
                        <a:pt x="1081792" y="642938"/>
                      </a:moveTo>
                      <a:lnTo>
                        <a:pt x="1081792" y="544706"/>
                      </a:lnTo>
                      <a:lnTo>
                        <a:pt x="1180024" y="544706"/>
                      </a:lnTo>
                      <a:lnTo>
                        <a:pt x="1180024" y="642938"/>
                      </a:lnTo>
                      <a:lnTo>
                        <a:pt x="1081792" y="642938"/>
                      </a:lnTo>
                      <a:close/>
                      <a:moveTo>
                        <a:pt x="1072858" y="642938"/>
                      </a:moveTo>
                      <a:lnTo>
                        <a:pt x="974627" y="642938"/>
                      </a:lnTo>
                      <a:lnTo>
                        <a:pt x="974627" y="544706"/>
                      </a:lnTo>
                      <a:lnTo>
                        <a:pt x="1072858" y="544706"/>
                      </a:lnTo>
                      <a:lnTo>
                        <a:pt x="1072858" y="642938"/>
                      </a:lnTo>
                      <a:close/>
                      <a:moveTo>
                        <a:pt x="965702" y="642938"/>
                      </a:moveTo>
                      <a:lnTo>
                        <a:pt x="867470" y="642938"/>
                      </a:lnTo>
                      <a:lnTo>
                        <a:pt x="867470" y="544706"/>
                      </a:lnTo>
                      <a:lnTo>
                        <a:pt x="965702" y="544706"/>
                      </a:lnTo>
                      <a:lnTo>
                        <a:pt x="965702" y="642938"/>
                      </a:lnTo>
                      <a:close/>
                      <a:moveTo>
                        <a:pt x="858546" y="642938"/>
                      </a:moveTo>
                      <a:lnTo>
                        <a:pt x="760314" y="642938"/>
                      </a:lnTo>
                      <a:lnTo>
                        <a:pt x="760314" y="544706"/>
                      </a:lnTo>
                      <a:lnTo>
                        <a:pt x="858546" y="544706"/>
                      </a:lnTo>
                      <a:lnTo>
                        <a:pt x="858546" y="642938"/>
                      </a:lnTo>
                      <a:close/>
                      <a:moveTo>
                        <a:pt x="751389" y="642938"/>
                      </a:moveTo>
                      <a:lnTo>
                        <a:pt x="653158" y="642938"/>
                      </a:lnTo>
                      <a:lnTo>
                        <a:pt x="653158" y="544706"/>
                      </a:lnTo>
                      <a:lnTo>
                        <a:pt x="751389" y="544706"/>
                      </a:lnTo>
                      <a:lnTo>
                        <a:pt x="751389" y="642938"/>
                      </a:lnTo>
                      <a:close/>
                      <a:moveTo>
                        <a:pt x="751389" y="651862"/>
                      </a:moveTo>
                      <a:lnTo>
                        <a:pt x="751389" y="750094"/>
                      </a:lnTo>
                      <a:lnTo>
                        <a:pt x="653158" y="750094"/>
                      </a:lnTo>
                      <a:lnTo>
                        <a:pt x="653158" y="651862"/>
                      </a:lnTo>
                      <a:lnTo>
                        <a:pt x="751389" y="651862"/>
                      </a:lnTo>
                      <a:close/>
                      <a:moveTo>
                        <a:pt x="644233" y="750094"/>
                      </a:moveTo>
                      <a:lnTo>
                        <a:pt x="546002" y="750094"/>
                      </a:lnTo>
                      <a:lnTo>
                        <a:pt x="546002" y="651862"/>
                      </a:lnTo>
                      <a:lnTo>
                        <a:pt x="644233" y="651862"/>
                      </a:lnTo>
                      <a:lnTo>
                        <a:pt x="644233" y="750094"/>
                      </a:lnTo>
                      <a:close/>
                      <a:moveTo>
                        <a:pt x="644233" y="759019"/>
                      </a:moveTo>
                      <a:lnTo>
                        <a:pt x="644233" y="857250"/>
                      </a:lnTo>
                      <a:lnTo>
                        <a:pt x="546002" y="857250"/>
                      </a:lnTo>
                      <a:lnTo>
                        <a:pt x="546002" y="759019"/>
                      </a:lnTo>
                      <a:lnTo>
                        <a:pt x="644233" y="759019"/>
                      </a:lnTo>
                      <a:close/>
                      <a:moveTo>
                        <a:pt x="644233" y="866175"/>
                      </a:moveTo>
                      <a:lnTo>
                        <a:pt x="644233" y="964406"/>
                      </a:lnTo>
                      <a:lnTo>
                        <a:pt x="546002" y="964406"/>
                      </a:lnTo>
                      <a:lnTo>
                        <a:pt x="546002" y="866175"/>
                      </a:lnTo>
                      <a:lnTo>
                        <a:pt x="644233" y="866175"/>
                      </a:lnTo>
                      <a:close/>
                      <a:moveTo>
                        <a:pt x="644233" y="973331"/>
                      </a:moveTo>
                      <a:lnTo>
                        <a:pt x="644233" y="1071562"/>
                      </a:lnTo>
                      <a:lnTo>
                        <a:pt x="546002" y="1071562"/>
                      </a:lnTo>
                      <a:lnTo>
                        <a:pt x="546002" y="973331"/>
                      </a:lnTo>
                      <a:lnTo>
                        <a:pt x="644233" y="973331"/>
                      </a:lnTo>
                      <a:close/>
                      <a:moveTo>
                        <a:pt x="644233" y="1080487"/>
                      </a:moveTo>
                      <a:lnTo>
                        <a:pt x="644233" y="1178719"/>
                      </a:lnTo>
                      <a:lnTo>
                        <a:pt x="546002" y="1178719"/>
                      </a:lnTo>
                      <a:lnTo>
                        <a:pt x="546002" y="1080487"/>
                      </a:lnTo>
                      <a:lnTo>
                        <a:pt x="644233" y="1080487"/>
                      </a:lnTo>
                      <a:close/>
                      <a:moveTo>
                        <a:pt x="644233" y="1187644"/>
                      </a:moveTo>
                      <a:lnTo>
                        <a:pt x="644233" y="1285875"/>
                      </a:lnTo>
                      <a:lnTo>
                        <a:pt x="546002" y="1285875"/>
                      </a:lnTo>
                      <a:lnTo>
                        <a:pt x="546002" y="1187644"/>
                      </a:lnTo>
                      <a:lnTo>
                        <a:pt x="644233" y="1187644"/>
                      </a:lnTo>
                      <a:close/>
                      <a:moveTo>
                        <a:pt x="644233" y="1294800"/>
                      </a:moveTo>
                      <a:lnTo>
                        <a:pt x="644233" y="1393031"/>
                      </a:lnTo>
                      <a:lnTo>
                        <a:pt x="546002" y="1393031"/>
                      </a:lnTo>
                      <a:lnTo>
                        <a:pt x="546002" y="1294800"/>
                      </a:lnTo>
                      <a:lnTo>
                        <a:pt x="644233" y="1294800"/>
                      </a:lnTo>
                      <a:close/>
                      <a:moveTo>
                        <a:pt x="644233" y="1401956"/>
                      </a:moveTo>
                      <a:lnTo>
                        <a:pt x="644233" y="1500187"/>
                      </a:lnTo>
                      <a:lnTo>
                        <a:pt x="546002" y="1500187"/>
                      </a:lnTo>
                      <a:lnTo>
                        <a:pt x="546002" y="1401956"/>
                      </a:lnTo>
                      <a:lnTo>
                        <a:pt x="644233" y="1401956"/>
                      </a:lnTo>
                      <a:close/>
                      <a:moveTo>
                        <a:pt x="644233" y="1509112"/>
                      </a:moveTo>
                      <a:lnTo>
                        <a:pt x="644233" y="1607344"/>
                      </a:lnTo>
                      <a:lnTo>
                        <a:pt x="546002" y="1607344"/>
                      </a:lnTo>
                      <a:lnTo>
                        <a:pt x="546002" y="1509112"/>
                      </a:lnTo>
                      <a:lnTo>
                        <a:pt x="644233" y="1509112"/>
                      </a:lnTo>
                      <a:close/>
                      <a:moveTo>
                        <a:pt x="644233" y="1616269"/>
                      </a:moveTo>
                      <a:lnTo>
                        <a:pt x="644233" y="1714500"/>
                      </a:lnTo>
                      <a:lnTo>
                        <a:pt x="546002" y="1714500"/>
                      </a:lnTo>
                      <a:lnTo>
                        <a:pt x="546002" y="1616269"/>
                      </a:lnTo>
                      <a:lnTo>
                        <a:pt x="644233" y="1616269"/>
                      </a:lnTo>
                      <a:close/>
                      <a:moveTo>
                        <a:pt x="653167" y="1616269"/>
                      </a:moveTo>
                      <a:lnTo>
                        <a:pt x="751399" y="1616269"/>
                      </a:lnTo>
                      <a:lnTo>
                        <a:pt x="751399" y="1714500"/>
                      </a:lnTo>
                      <a:lnTo>
                        <a:pt x="653167" y="1714500"/>
                      </a:lnTo>
                      <a:lnTo>
                        <a:pt x="653167" y="1616269"/>
                      </a:lnTo>
                      <a:close/>
                      <a:moveTo>
                        <a:pt x="751389" y="1723425"/>
                      </a:moveTo>
                      <a:lnTo>
                        <a:pt x="751389" y="1821656"/>
                      </a:lnTo>
                      <a:lnTo>
                        <a:pt x="653158" y="1821656"/>
                      </a:lnTo>
                      <a:lnTo>
                        <a:pt x="653158" y="1723425"/>
                      </a:lnTo>
                      <a:lnTo>
                        <a:pt x="751389" y="1723425"/>
                      </a:lnTo>
                      <a:close/>
                      <a:moveTo>
                        <a:pt x="760324" y="1723425"/>
                      </a:moveTo>
                      <a:lnTo>
                        <a:pt x="858555" y="1723425"/>
                      </a:lnTo>
                      <a:lnTo>
                        <a:pt x="858555" y="1821656"/>
                      </a:lnTo>
                      <a:lnTo>
                        <a:pt x="760324" y="1821656"/>
                      </a:lnTo>
                      <a:lnTo>
                        <a:pt x="760324" y="1723425"/>
                      </a:lnTo>
                      <a:close/>
                      <a:moveTo>
                        <a:pt x="867480" y="1723425"/>
                      </a:moveTo>
                      <a:lnTo>
                        <a:pt x="965711" y="1723425"/>
                      </a:lnTo>
                      <a:lnTo>
                        <a:pt x="965711" y="1821656"/>
                      </a:lnTo>
                      <a:lnTo>
                        <a:pt x="867480" y="1821656"/>
                      </a:lnTo>
                      <a:lnTo>
                        <a:pt x="867480" y="1723425"/>
                      </a:lnTo>
                      <a:close/>
                      <a:moveTo>
                        <a:pt x="974636" y="1723425"/>
                      </a:moveTo>
                      <a:lnTo>
                        <a:pt x="1072867" y="1723425"/>
                      </a:lnTo>
                      <a:lnTo>
                        <a:pt x="1072867" y="1821656"/>
                      </a:lnTo>
                      <a:lnTo>
                        <a:pt x="974636" y="1821656"/>
                      </a:lnTo>
                      <a:lnTo>
                        <a:pt x="974636" y="1723425"/>
                      </a:lnTo>
                      <a:close/>
                      <a:moveTo>
                        <a:pt x="1081792" y="1723425"/>
                      </a:moveTo>
                      <a:lnTo>
                        <a:pt x="1180024" y="1723425"/>
                      </a:lnTo>
                      <a:lnTo>
                        <a:pt x="1180024" y="1821656"/>
                      </a:lnTo>
                      <a:lnTo>
                        <a:pt x="1081792" y="1821656"/>
                      </a:lnTo>
                      <a:lnTo>
                        <a:pt x="1081792" y="1723425"/>
                      </a:lnTo>
                      <a:close/>
                      <a:moveTo>
                        <a:pt x="1081792" y="1714500"/>
                      </a:moveTo>
                      <a:lnTo>
                        <a:pt x="1081792" y="1616269"/>
                      </a:lnTo>
                      <a:lnTo>
                        <a:pt x="1180024" y="1616269"/>
                      </a:lnTo>
                      <a:lnTo>
                        <a:pt x="1180024" y="1714500"/>
                      </a:lnTo>
                      <a:lnTo>
                        <a:pt x="1081792" y="1714500"/>
                      </a:lnTo>
                      <a:close/>
                      <a:moveTo>
                        <a:pt x="1188949" y="1616269"/>
                      </a:moveTo>
                      <a:lnTo>
                        <a:pt x="1287180" y="1616269"/>
                      </a:lnTo>
                      <a:lnTo>
                        <a:pt x="1287180" y="1714500"/>
                      </a:lnTo>
                      <a:lnTo>
                        <a:pt x="1188949" y="1714500"/>
                      </a:lnTo>
                      <a:lnTo>
                        <a:pt x="1188949" y="1616269"/>
                      </a:lnTo>
                      <a:close/>
                      <a:moveTo>
                        <a:pt x="1188949" y="1607344"/>
                      </a:moveTo>
                      <a:lnTo>
                        <a:pt x="1188949" y="1509112"/>
                      </a:lnTo>
                      <a:lnTo>
                        <a:pt x="1287180" y="1509112"/>
                      </a:lnTo>
                      <a:lnTo>
                        <a:pt x="1287180" y="1607344"/>
                      </a:lnTo>
                      <a:lnTo>
                        <a:pt x="1188949" y="1607344"/>
                      </a:lnTo>
                      <a:close/>
                      <a:moveTo>
                        <a:pt x="1188949" y="1500187"/>
                      </a:moveTo>
                      <a:lnTo>
                        <a:pt x="1188949" y="1401956"/>
                      </a:lnTo>
                      <a:lnTo>
                        <a:pt x="1287180" y="1401956"/>
                      </a:lnTo>
                      <a:lnTo>
                        <a:pt x="1287180" y="1500187"/>
                      </a:lnTo>
                      <a:lnTo>
                        <a:pt x="1188949" y="1500187"/>
                      </a:lnTo>
                      <a:close/>
                      <a:moveTo>
                        <a:pt x="1188949" y="1393031"/>
                      </a:moveTo>
                      <a:lnTo>
                        <a:pt x="1188949" y="1294800"/>
                      </a:lnTo>
                      <a:lnTo>
                        <a:pt x="1287180" y="1294800"/>
                      </a:lnTo>
                      <a:lnTo>
                        <a:pt x="1287180" y="1393031"/>
                      </a:lnTo>
                      <a:lnTo>
                        <a:pt x="1188949" y="1393031"/>
                      </a:lnTo>
                      <a:close/>
                      <a:moveTo>
                        <a:pt x="1188949" y="1285875"/>
                      </a:moveTo>
                      <a:lnTo>
                        <a:pt x="1188949" y="1187644"/>
                      </a:lnTo>
                      <a:lnTo>
                        <a:pt x="1287180" y="1187644"/>
                      </a:lnTo>
                      <a:lnTo>
                        <a:pt x="1287180" y="1285875"/>
                      </a:lnTo>
                      <a:lnTo>
                        <a:pt x="1188949" y="1285875"/>
                      </a:lnTo>
                      <a:close/>
                      <a:moveTo>
                        <a:pt x="1188949" y="1178719"/>
                      </a:moveTo>
                      <a:lnTo>
                        <a:pt x="1188949" y="1080487"/>
                      </a:lnTo>
                      <a:lnTo>
                        <a:pt x="1287180" y="1080487"/>
                      </a:lnTo>
                      <a:lnTo>
                        <a:pt x="1287180" y="1178719"/>
                      </a:lnTo>
                      <a:lnTo>
                        <a:pt x="1188949" y="1178719"/>
                      </a:lnTo>
                      <a:close/>
                      <a:moveTo>
                        <a:pt x="1188949" y="1071562"/>
                      </a:moveTo>
                      <a:lnTo>
                        <a:pt x="1188949" y="973331"/>
                      </a:lnTo>
                      <a:lnTo>
                        <a:pt x="1287180" y="973331"/>
                      </a:lnTo>
                      <a:lnTo>
                        <a:pt x="1287180" y="1071562"/>
                      </a:lnTo>
                      <a:lnTo>
                        <a:pt x="1188949" y="1071562"/>
                      </a:lnTo>
                      <a:close/>
                      <a:moveTo>
                        <a:pt x="1188949" y="964406"/>
                      </a:moveTo>
                      <a:lnTo>
                        <a:pt x="1188949" y="866175"/>
                      </a:lnTo>
                      <a:lnTo>
                        <a:pt x="1287180" y="866175"/>
                      </a:lnTo>
                      <a:lnTo>
                        <a:pt x="1287180" y="964406"/>
                      </a:lnTo>
                      <a:lnTo>
                        <a:pt x="1188949" y="964406"/>
                      </a:lnTo>
                      <a:close/>
                      <a:moveTo>
                        <a:pt x="1188949" y="857250"/>
                      </a:moveTo>
                      <a:lnTo>
                        <a:pt x="1188949" y="759019"/>
                      </a:lnTo>
                      <a:lnTo>
                        <a:pt x="1287180" y="759019"/>
                      </a:lnTo>
                      <a:lnTo>
                        <a:pt x="1287180" y="857250"/>
                      </a:lnTo>
                      <a:lnTo>
                        <a:pt x="1188949" y="857250"/>
                      </a:lnTo>
                      <a:close/>
                      <a:moveTo>
                        <a:pt x="1188949" y="750094"/>
                      </a:moveTo>
                      <a:lnTo>
                        <a:pt x="1188949" y="651862"/>
                      </a:lnTo>
                      <a:lnTo>
                        <a:pt x="1287180" y="651862"/>
                      </a:lnTo>
                      <a:lnTo>
                        <a:pt x="1287180" y="750094"/>
                      </a:lnTo>
                      <a:lnTo>
                        <a:pt x="1188949" y="750094"/>
                      </a:lnTo>
                      <a:close/>
                      <a:moveTo>
                        <a:pt x="1188949" y="642938"/>
                      </a:moveTo>
                      <a:lnTo>
                        <a:pt x="1188949" y="544706"/>
                      </a:lnTo>
                      <a:lnTo>
                        <a:pt x="1287180" y="544706"/>
                      </a:lnTo>
                      <a:lnTo>
                        <a:pt x="1287180" y="642938"/>
                      </a:lnTo>
                      <a:lnTo>
                        <a:pt x="1188949" y="642938"/>
                      </a:lnTo>
                      <a:close/>
                      <a:moveTo>
                        <a:pt x="1188949" y="535781"/>
                      </a:moveTo>
                      <a:lnTo>
                        <a:pt x="1188949" y="437550"/>
                      </a:lnTo>
                      <a:lnTo>
                        <a:pt x="1287180" y="437550"/>
                      </a:lnTo>
                      <a:lnTo>
                        <a:pt x="1287180" y="535781"/>
                      </a:lnTo>
                      <a:lnTo>
                        <a:pt x="1188949" y="535781"/>
                      </a:lnTo>
                      <a:close/>
                      <a:moveTo>
                        <a:pt x="1180014" y="535781"/>
                      </a:moveTo>
                      <a:lnTo>
                        <a:pt x="1081783" y="535781"/>
                      </a:lnTo>
                      <a:lnTo>
                        <a:pt x="1081783" y="437550"/>
                      </a:lnTo>
                      <a:lnTo>
                        <a:pt x="1180014" y="437550"/>
                      </a:lnTo>
                      <a:lnTo>
                        <a:pt x="1180014" y="535781"/>
                      </a:lnTo>
                      <a:close/>
                      <a:moveTo>
                        <a:pt x="1072858" y="535781"/>
                      </a:moveTo>
                      <a:lnTo>
                        <a:pt x="974627" y="535781"/>
                      </a:lnTo>
                      <a:lnTo>
                        <a:pt x="974627" y="437550"/>
                      </a:lnTo>
                      <a:lnTo>
                        <a:pt x="1072858" y="437550"/>
                      </a:lnTo>
                      <a:lnTo>
                        <a:pt x="1072858" y="535781"/>
                      </a:lnTo>
                      <a:close/>
                      <a:moveTo>
                        <a:pt x="965702" y="535781"/>
                      </a:moveTo>
                      <a:lnTo>
                        <a:pt x="867470" y="535781"/>
                      </a:lnTo>
                      <a:lnTo>
                        <a:pt x="867470" y="437550"/>
                      </a:lnTo>
                      <a:lnTo>
                        <a:pt x="965702" y="437550"/>
                      </a:lnTo>
                      <a:lnTo>
                        <a:pt x="965702" y="535781"/>
                      </a:lnTo>
                      <a:close/>
                      <a:moveTo>
                        <a:pt x="858546" y="535781"/>
                      </a:moveTo>
                      <a:lnTo>
                        <a:pt x="760314" y="535781"/>
                      </a:lnTo>
                      <a:lnTo>
                        <a:pt x="760314" y="437550"/>
                      </a:lnTo>
                      <a:lnTo>
                        <a:pt x="858546" y="437550"/>
                      </a:lnTo>
                      <a:lnTo>
                        <a:pt x="858546" y="535781"/>
                      </a:lnTo>
                      <a:close/>
                      <a:moveTo>
                        <a:pt x="751389" y="535781"/>
                      </a:moveTo>
                      <a:lnTo>
                        <a:pt x="653158" y="535781"/>
                      </a:lnTo>
                      <a:lnTo>
                        <a:pt x="653158" y="437550"/>
                      </a:lnTo>
                      <a:lnTo>
                        <a:pt x="751389" y="437550"/>
                      </a:lnTo>
                      <a:lnTo>
                        <a:pt x="751389" y="535781"/>
                      </a:lnTo>
                      <a:close/>
                      <a:moveTo>
                        <a:pt x="644233" y="535781"/>
                      </a:moveTo>
                      <a:lnTo>
                        <a:pt x="546002" y="535781"/>
                      </a:lnTo>
                      <a:lnTo>
                        <a:pt x="546002" y="437550"/>
                      </a:lnTo>
                      <a:lnTo>
                        <a:pt x="644233" y="437550"/>
                      </a:lnTo>
                      <a:lnTo>
                        <a:pt x="644233" y="535781"/>
                      </a:lnTo>
                      <a:close/>
                      <a:moveTo>
                        <a:pt x="644233" y="544706"/>
                      </a:moveTo>
                      <a:lnTo>
                        <a:pt x="644233" y="642938"/>
                      </a:lnTo>
                      <a:lnTo>
                        <a:pt x="546002" y="642938"/>
                      </a:lnTo>
                      <a:lnTo>
                        <a:pt x="546002" y="544706"/>
                      </a:lnTo>
                      <a:lnTo>
                        <a:pt x="644233" y="544706"/>
                      </a:lnTo>
                      <a:close/>
                      <a:moveTo>
                        <a:pt x="537077" y="642938"/>
                      </a:moveTo>
                      <a:lnTo>
                        <a:pt x="438845" y="642938"/>
                      </a:lnTo>
                      <a:lnTo>
                        <a:pt x="438845" y="544706"/>
                      </a:lnTo>
                      <a:lnTo>
                        <a:pt x="537077" y="544706"/>
                      </a:lnTo>
                      <a:lnTo>
                        <a:pt x="537077" y="642938"/>
                      </a:lnTo>
                      <a:close/>
                      <a:moveTo>
                        <a:pt x="537077" y="651862"/>
                      </a:moveTo>
                      <a:lnTo>
                        <a:pt x="537077" y="750094"/>
                      </a:lnTo>
                      <a:lnTo>
                        <a:pt x="438845" y="750094"/>
                      </a:lnTo>
                      <a:lnTo>
                        <a:pt x="438845" y="651862"/>
                      </a:lnTo>
                      <a:lnTo>
                        <a:pt x="537077" y="651862"/>
                      </a:lnTo>
                      <a:close/>
                      <a:moveTo>
                        <a:pt x="537077" y="759019"/>
                      </a:moveTo>
                      <a:lnTo>
                        <a:pt x="537077" y="857250"/>
                      </a:lnTo>
                      <a:lnTo>
                        <a:pt x="438845" y="857250"/>
                      </a:lnTo>
                      <a:lnTo>
                        <a:pt x="438845" y="759019"/>
                      </a:lnTo>
                      <a:lnTo>
                        <a:pt x="537077" y="759019"/>
                      </a:lnTo>
                      <a:close/>
                      <a:moveTo>
                        <a:pt x="537077" y="866175"/>
                      </a:moveTo>
                      <a:lnTo>
                        <a:pt x="537077" y="964406"/>
                      </a:lnTo>
                      <a:lnTo>
                        <a:pt x="438845" y="964406"/>
                      </a:lnTo>
                      <a:lnTo>
                        <a:pt x="438845" y="866175"/>
                      </a:lnTo>
                      <a:lnTo>
                        <a:pt x="537077" y="866175"/>
                      </a:lnTo>
                      <a:close/>
                      <a:moveTo>
                        <a:pt x="537077" y="973331"/>
                      </a:moveTo>
                      <a:lnTo>
                        <a:pt x="537077" y="1071562"/>
                      </a:lnTo>
                      <a:lnTo>
                        <a:pt x="438845" y="1071562"/>
                      </a:lnTo>
                      <a:lnTo>
                        <a:pt x="438845" y="973331"/>
                      </a:lnTo>
                      <a:lnTo>
                        <a:pt x="537077" y="973331"/>
                      </a:lnTo>
                      <a:close/>
                      <a:moveTo>
                        <a:pt x="537077" y="1080487"/>
                      </a:moveTo>
                      <a:lnTo>
                        <a:pt x="537077" y="1178719"/>
                      </a:lnTo>
                      <a:lnTo>
                        <a:pt x="438845" y="1178719"/>
                      </a:lnTo>
                      <a:lnTo>
                        <a:pt x="438845" y="1080487"/>
                      </a:lnTo>
                      <a:lnTo>
                        <a:pt x="537077" y="1080487"/>
                      </a:lnTo>
                      <a:close/>
                      <a:moveTo>
                        <a:pt x="537077" y="1187644"/>
                      </a:moveTo>
                      <a:lnTo>
                        <a:pt x="537077" y="1285875"/>
                      </a:lnTo>
                      <a:lnTo>
                        <a:pt x="438845" y="1285875"/>
                      </a:lnTo>
                      <a:lnTo>
                        <a:pt x="438845" y="1187644"/>
                      </a:lnTo>
                      <a:lnTo>
                        <a:pt x="537077" y="1187644"/>
                      </a:lnTo>
                      <a:close/>
                      <a:moveTo>
                        <a:pt x="537077" y="1294800"/>
                      </a:moveTo>
                      <a:lnTo>
                        <a:pt x="537077" y="1393031"/>
                      </a:lnTo>
                      <a:lnTo>
                        <a:pt x="438845" y="1393031"/>
                      </a:lnTo>
                      <a:lnTo>
                        <a:pt x="438845" y="1294800"/>
                      </a:lnTo>
                      <a:lnTo>
                        <a:pt x="537077" y="1294800"/>
                      </a:lnTo>
                      <a:close/>
                      <a:moveTo>
                        <a:pt x="537077" y="1401956"/>
                      </a:moveTo>
                      <a:lnTo>
                        <a:pt x="537077" y="1500187"/>
                      </a:lnTo>
                      <a:lnTo>
                        <a:pt x="438845" y="1500187"/>
                      </a:lnTo>
                      <a:lnTo>
                        <a:pt x="438845" y="1401956"/>
                      </a:lnTo>
                      <a:lnTo>
                        <a:pt x="537077" y="1401956"/>
                      </a:lnTo>
                      <a:close/>
                      <a:moveTo>
                        <a:pt x="537077" y="1509112"/>
                      </a:moveTo>
                      <a:lnTo>
                        <a:pt x="537077" y="1607344"/>
                      </a:lnTo>
                      <a:lnTo>
                        <a:pt x="438845" y="1607344"/>
                      </a:lnTo>
                      <a:lnTo>
                        <a:pt x="438845" y="1509112"/>
                      </a:lnTo>
                      <a:lnTo>
                        <a:pt x="537077" y="1509112"/>
                      </a:lnTo>
                      <a:close/>
                      <a:moveTo>
                        <a:pt x="537077" y="1616269"/>
                      </a:moveTo>
                      <a:lnTo>
                        <a:pt x="537077" y="1714500"/>
                      </a:lnTo>
                      <a:lnTo>
                        <a:pt x="438845" y="1714500"/>
                      </a:lnTo>
                      <a:lnTo>
                        <a:pt x="438845" y="1616269"/>
                      </a:lnTo>
                      <a:lnTo>
                        <a:pt x="537077" y="1616269"/>
                      </a:lnTo>
                      <a:close/>
                      <a:moveTo>
                        <a:pt x="537077" y="1723425"/>
                      </a:moveTo>
                      <a:lnTo>
                        <a:pt x="537077" y="1821656"/>
                      </a:lnTo>
                      <a:lnTo>
                        <a:pt x="438845" y="1821656"/>
                      </a:lnTo>
                      <a:lnTo>
                        <a:pt x="438845" y="1723425"/>
                      </a:lnTo>
                      <a:lnTo>
                        <a:pt x="537077" y="1723425"/>
                      </a:lnTo>
                      <a:close/>
                      <a:moveTo>
                        <a:pt x="546011" y="1723425"/>
                      </a:moveTo>
                      <a:lnTo>
                        <a:pt x="644243" y="1723425"/>
                      </a:lnTo>
                      <a:lnTo>
                        <a:pt x="644243" y="1821656"/>
                      </a:lnTo>
                      <a:lnTo>
                        <a:pt x="546011" y="1821656"/>
                      </a:lnTo>
                      <a:lnTo>
                        <a:pt x="546011" y="1723425"/>
                      </a:lnTo>
                      <a:close/>
                      <a:moveTo>
                        <a:pt x="644233" y="1830581"/>
                      </a:moveTo>
                      <a:lnTo>
                        <a:pt x="644233" y="1928812"/>
                      </a:lnTo>
                      <a:lnTo>
                        <a:pt x="546002" y="1928812"/>
                      </a:lnTo>
                      <a:lnTo>
                        <a:pt x="546002" y="1830581"/>
                      </a:lnTo>
                      <a:lnTo>
                        <a:pt x="644233" y="1830581"/>
                      </a:lnTo>
                      <a:close/>
                      <a:moveTo>
                        <a:pt x="653167" y="1830581"/>
                      </a:moveTo>
                      <a:lnTo>
                        <a:pt x="751399" y="1830581"/>
                      </a:lnTo>
                      <a:lnTo>
                        <a:pt x="751399" y="1928812"/>
                      </a:lnTo>
                      <a:lnTo>
                        <a:pt x="653167" y="1928812"/>
                      </a:lnTo>
                      <a:lnTo>
                        <a:pt x="653167" y="1830581"/>
                      </a:lnTo>
                      <a:close/>
                      <a:moveTo>
                        <a:pt x="760324" y="1830581"/>
                      </a:moveTo>
                      <a:lnTo>
                        <a:pt x="858555" y="1830581"/>
                      </a:lnTo>
                      <a:lnTo>
                        <a:pt x="858555" y="1928812"/>
                      </a:lnTo>
                      <a:lnTo>
                        <a:pt x="760324" y="1928812"/>
                      </a:lnTo>
                      <a:lnTo>
                        <a:pt x="760324" y="1830581"/>
                      </a:lnTo>
                      <a:close/>
                      <a:moveTo>
                        <a:pt x="867480" y="1830581"/>
                      </a:moveTo>
                      <a:lnTo>
                        <a:pt x="965711" y="1830581"/>
                      </a:lnTo>
                      <a:lnTo>
                        <a:pt x="965711" y="1928812"/>
                      </a:lnTo>
                      <a:lnTo>
                        <a:pt x="867480" y="1928812"/>
                      </a:lnTo>
                      <a:lnTo>
                        <a:pt x="867480" y="1830581"/>
                      </a:lnTo>
                      <a:close/>
                      <a:moveTo>
                        <a:pt x="974636" y="1830581"/>
                      </a:moveTo>
                      <a:lnTo>
                        <a:pt x="1072867" y="1830581"/>
                      </a:lnTo>
                      <a:lnTo>
                        <a:pt x="1072867" y="1928812"/>
                      </a:lnTo>
                      <a:lnTo>
                        <a:pt x="974636" y="1928812"/>
                      </a:lnTo>
                      <a:lnTo>
                        <a:pt x="974636" y="1830581"/>
                      </a:lnTo>
                      <a:close/>
                      <a:moveTo>
                        <a:pt x="1081792" y="1830581"/>
                      </a:moveTo>
                      <a:lnTo>
                        <a:pt x="1180024" y="1830581"/>
                      </a:lnTo>
                      <a:lnTo>
                        <a:pt x="1180024" y="1928812"/>
                      </a:lnTo>
                      <a:lnTo>
                        <a:pt x="1081792" y="1928812"/>
                      </a:lnTo>
                      <a:lnTo>
                        <a:pt x="1081792" y="1830581"/>
                      </a:lnTo>
                      <a:close/>
                      <a:moveTo>
                        <a:pt x="1188949" y="1830581"/>
                      </a:moveTo>
                      <a:lnTo>
                        <a:pt x="1287180" y="1830581"/>
                      </a:lnTo>
                      <a:lnTo>
                        <a:pt x="1287180" y="1928812"/>
                      </a:lnTo>
                      <a:lnTo>
                        <a:pt x="1188949" y="1928812"/>
                      </a:lnTo>
                      <a:lnTo>
                        <a:pt x="1188949" y="1830581"/>
                      </a:lnTo>
                      <a:close/>
                      <a:moveTo>
                        <a:pt x="1188949" y="1821656"/>
                      </a:moveTo>
                      <a:lnTo>
                        <a:pt x="1188949" y="1723425"/>
                      </a:lnTo>
                      <a:lnTo>
                        <a:pt x="1287180" y="1723425"/>
                      </a:lnTo>
                      <a:lnTo>
                        <a:pt x="1287180" y="1821656"/>
                      </a:lnTo>
                      <a:lnTo>
                        <a:pt x="1188949" y="1821656"/>
                      </a:lnTo>
                      <a:close/>
                      <a:moveTo>
                        <a:pt x="1296105" y="1723425"/>
                      </a:moveTo>
                      <a:lnTo>
                        <a:pt x="1394336" y="1723425"/>
                      </a:lnTo>
                      <a:lnTo>
                        <a:pt x="1394336" y="1821656"/>
                      </a:lnTo>
                      <a:lnTo>
                        <a:pt x="1296105" y="1821656"/>
                      </a:lnTo>
                      <a:lnTo>
                        <a:pt x="1296105" y="1723425"/>
                      </a:lnTo>
                      <a:close/>
                      <a:moveTo>
                        <a:pt x="1296105" y="1714500"/>
                      </a:moveTo>
                      <a:lnTo>
                        <a:pt x="1296105" y="1616269"/>
                      </a:lnTo>
                      <a:lnTo>
                        <a:pt x="1394336" y="1616269"/>
                      </a:lnTo>
                      <a:lnTo>
                        <a:pt x="1394336" y="1714500"/>
                      </a:lnTo>
                      <a:lnTo>
                        <a:pt x="1296105" y="1714500"/>
                      </a:lnTo>
                      <a:close/>
                      <a:moveTo>
                        <a:pt x="1296105" y="1607344"/>
                      </a:moveTo>
                      <a:lnTo>
                        <a:pt x="1296105" y="1509112"/>
                      </a:lnTo>
                      <a:lnTo>
                        <a:pt x="1394336" y="1509112"/>
                      </a:lnTo>
                      <a:lnTo>
                        <a:pt x="1394336" y="1607344"/>
                      </a:lnTo>
                      <a:lnTo>
                        <a:pt x="1296105" y="1607344"/>
                      </a:lnTo>
                      <a:close/>
                      <a:moveTo>
                        <a:pt x="1296105" y="1500187"/>
                      </a:moveTo>
                      <a:lnTo>
                        <a:pt x="1296105" y="1401956"/>
                      </a:lnTo>
                      <a:lnTo>
                        <a:pt x="1394336" y="1401956"/>
                      </a:lnTo>
                      <a:lnTo>
                        <a:pt x="1394336" y="1500187"/>
                      </a:lnTo>
                      <a:lnTo>
                        <a:pt x="1296105" y="1500187"/>
                      </a:lnTo>
                      <a:close/>
                      <a:moveTo>
                        <a:pt x="1296105" y="1393031"/>
                      </a:moveTo>
                      <a:lnTo>
                        <a:pt x="1296105" y="1294800"/>
                      </a:lnTo>
                      <a:lnTo>
                        <a:pt x="1394336" y="1294800"/>
                      </a:lnTo>
                      <a:lnTo>
                        <a:pt x="1394336" y="1393031"/>
                      </a:lnTo>
                      <a:lnTo>
                        <a:pt x="1296105" y="1393031"/>
                      </a:lnTo>
                      <a:close/>
                      <a:moveTo>
                        <a:pt x="1296105" y="1285875"/>
                      </a:moveTo>
                      <a:lnTo>
                        <a:pt x="1296105" y="1187644"/>
                      </a:lnTo>
                      <a:lnTo>
                        <a:pt x="1394336" y="1187644"/>
                      </a:lnTo>
                      <a:lnTo>
                        <a:pt x="1394336" y="1285875"/>
                      </a:lnTo>
                      <a:lnTo>
                        <a:pt x="1296105" y="1285875"/>
                      </a:lnTo>
                      <a:close/>
                      <a:moveTo>
                        <a:pt x="1296105" y="1178719"/>
                      </a:moveTo>
                      <a:lnTo>
                        <a:pt x="1296105" y="1080487"/>
                      </a:lnTo>
                      <a:lnTo>
                        <a:pt x="1394336" y="1080487"/>
                      </a:lnTo>
                      <a:lnTo>
                        <a:pt x="1394336" y="1178719"/>
                      </a:lnTo>
                      <a:lnTo>
                        <a:pt x="1296105" y="1178719"/>
                      </a:lnTo>
                      <a:close/>
                      <a:moveTo>
                        <a:pt x="1296105" y="1071562"/>
                      </a:moveTo>
                      <a:lnTo>
                        <a:pt x="1296105" y="973331"/>
                      </a:lnTo>
                      <a:lnTo>
                        <a:pt x="1394336" y="973331"/>
                      </a:lnTo>
                      <a:lnTo>
                        <a:pt x="1394336" y="1071562"/>
                      </a:lnTo>
                      <a:lnTo>
                        <a:pt x="1296105" y="1071562"/>
                      </a:lnTo>
                      <a:close/>
                      <a:moveTo>
                        <a:pt x="1296105" y="964406"/>
                      </a:moveTo>
                      <a:lnTo>
                        <a:pt x="1296105" y="866175"/>
                      </a:lnTo>
                      <a:lnTo>
                        <a:pt x="1394336" y="866175"/>
                      </a:lnTo>
                      <a:lnTo>
                        <a:pt x="1394336" y="964406"/>
                      </a:lnTo>
                      <a:lnTo>
                        <a:pt x="1296105" y="964406"/>
                      </a:lnTo>
                      <a:close/>
                      <a:moveTo>
                        <a:pt x="1296105" y="857250"/>
                      </a:moveTo>
                      <a:lnTo>
                        <a:pt x="1296105" y="759019"/>
                      </a:lnTo>
                      <a:lnTo>
                        <a:pt x="1394336" y="759019"/>
                      </a:lnTo>
                      <a:lnTo>
                        <a:pt x="1394336" y="857250"/>
                      </a:lnTo>
                      <a:lnTo>
                        <a:pt x="1296105" y="857250"/>
                      </a:lnTo>
                      <a:close/>
                      <a:moveTo>
                        <a:pt x="1296105" y="750094"/>
                      </a:moveTo>
                      <a:lnTo>
                        <a:pt x="1296105" y="651862"/>
                      </a:lnTo>
                      <a:lnTo>
                        <a:pt x="1394336" y="651862"/>
                      </a:lnTo>
                      <a:lnTo>
                        <a:pt x="1394336" y="750094"/>
                      </a:lnTo>
                      <a:lnTo>
                        <a:pt x="1296105" y="750094"/>
                      </a:lnTo>
                      <a:close/>
                      <a:moveTo>
                        <a:pt x="1296105" y="642938"/>
                      </a:moveTo>
                      <a:lnTo>
                        <a:pt x="1296105" y="544706"/>
                      </a:lnTo>
                      <a:lnTo>
                        <a:pt x="1394336" y="544706"/>
                      </a:lnTo>
                      <a:lnTo>
                        <a:pt x="1394336" y="642938"/>
                      </a:lnTo>
                      <a:lnTo>
                        <a:pt x="1296105" y="642938"/>
                      </a:lnTo>
                      <a:close/>
                      <a:moveTo>
                        <a:pt x="1296105" y="535781"/>
                      </a:moveTo>
                      <a:lnTo>
                        <a:pt x="1296105" y="437550"/>
                      </a:lnTo>
                      <a:lnTo>
                        <a:pt x="1394336" y="437550"/>
                      </a:lnTo>
                      <a:lnTo>
                        <a:pt x="1394336" y="535781"/>
                      </a:lnTo>
                      <a:lnTo>
                        <a:pt x="1296105" y="535781"/>
                      </a:lnTo>
                      <a:close/>
                      <a:moveTo>
                        <a:pt x="1296105" y="428625"/>
                      </a:moveTo>
                      <a:lnTo>
                        <a:pt x="1296105" y="330394"/>
                      </a:lnTo>
                      <a:lnTo>
                        <a:pt x="1394336" y="330394"/>
                      </a:lnTo>
                      <a:lnTo>
                        <a:pt x="1394336" y="428625"/>
                      </a:lnTo>
                      <a:lnTo>
                        <a:pt x="1296105" y="428625"/>
                      </a:lnTo>
                      <a:close/>
                      <a:moveTo>
                        <a:pt x="1287171" y="428625"/>
                      </a:moveTo>
                      <a:lnTo>
                        <a:pt x="1188939" y="428625"/>
                      </a:lnTo>
                      <a:lnTo>
                        <a:pt x="1188939" y="330394"/>
                      </a:lnTo>
                      <a:lnTo>
                        <a:pt x="1287171" y="330394"/>
                      </a:lnTo>
                      <a:lnTo>
                        <a:pt x="1287171" y="428625"/>
                      </a:lnTo>
                      <a:close/>
                      <a:moveTo>
                        <a:pt x="1180014" y="428625"/>
                      </a:moveTo>
                      <a:lnTo>
                        <a:pt x="1081783" y="428625"/>
                      </a:lnTo>
                      <a:lnTo>
                        <a:pt x="1081783" y="330394"/>
                      </a:lnTo>
                      <a:lnTo>
                        <a:pt x="1180014" y="330394"/>
                      </a:lnTo>
                      <a:lnTo>
                        <a:pt x="1180014" y="428625"/>
                      </a:lnTo>
                      <a:close/>
                      <a:moveTo>
                        <a:pt x="1072858" y="428625"/>
                      </a:moveTo>
                      <a:lnTo>
                        <a:pt x="974627" y="428625"/>
                      </a:lnTo>
                      <a:lnTo>
                        <a:pt x="974627" y="330394"/>
                      </a:lnTo>
                      <a:lnTo>
                        <a:pt x="1072858" y="330394"/>
                      </a:lnTo>
                      <a:lnTo>
                        <a:pt x="1072858" y="428625"/>
                      </a:lnTo>
                      <a:close/>
                      <a:moveTo>
                        <a:pt x="965702" y="428625"/>
                      </a:moveTo>
                      <a:lnTo>
                        <a:pt x="867470" y="428625"/>
                      </a:lnTo>
                      <a:lnTo>
                        <a:pt x="867470" y="330394"/>
                      </a:lnTo>
                      <a:lnTo>
                        <a:pt x="965702" y="330394"/>
                      </a:lnTo>
                      <a:lnTo>
                        <a:pt x="965702" y="428625"/>
                      </a:lnTo>
                      <a:close/>
                      <a:moveTo>
                        <a:pt x="858546" y="428625"/>
                      </a:moveTo>
                      <a:lnTo>
                        <a:pt x="760314" y="428625"/>
                      </a:lnTo>
                      <a:lnTo>
                        <a:pt x="760314" y="330394"/>
                      </a:lnTo>
                      <a:lnTo>
                        <a:pt x="858546" y="330394"/>
                      </a:lnTo>
                      <a:lnTo>
                        <a:pt x="858546" y="428625"/>
                      </a:lnTo>
                      <a:close/>
                      <a:moveTo>
                        <a:pt x="751389" y="428625"/>
                      </a:moveTo>
                      <a:lnTo>
                        <a:pt x="653158" y="428625"/>
                      </a:lnTo>
                      <a:lnTo>
                        <a:pt x="653158" y="330394"/>
                      </a:lnTo>
                      <a:lnTo>
                        <a:pt x="751389" y="330394"/>
                      </a:lnTo>
                      <a:lnTo>
                        <a:pt x="751389" y="428625"/>
                      </a:lnTo>
                      <a:close/>
                      <a:moveTo>
                        <a:pt x="644233" y="428625"/>
                      </a:moveTo>
                      <a:lnTo>
                        <a:pt x="546002" y="428625"/>
                      </a:lnTo>
                      <a:lnTo>
                        <a:pt x="546002" y="330394"/>
                      </a:lnTo>
                      <a:lnTo>
                        <a:pt x="644233" y="330394"/>
                      </a:lnTo>
                      <a:lnTo>
                        <a:pt x="644233" y="428625"/>
                      </a:lnTo>
                      <a:close/>
                      <a:moveTo>
                        <a:pt x="537077" y="428625"/>
                      </a:moveTo>
                      <a:lnTo>
                        <a:pt x="438845" y="428625"/>
                      </a:lnTo>
                      <a:lnTo>
                        <a:pt x="438845" y="330394"/>
                      </a:lnTo>
                      <a:lnTo>
                        <a:pt x="537077" y="330394"/>
                      </a:lnTo>
                      <a:lnTo>
                        <a:pt x="537077" y="428625"/>
                      </a:lnTo>
                      <a:close/>
                      <a:moveTo>
                        <a:pt x="537077" y="437550"/>
                      </a:moveTo>
                      <a:lnTo>
                        <a:pt x="537077" y="535781"/>
                      </a:lnTo>
                      <a:lnTo>
                        <a:pt x="438845" y="535781"/>
                      </a:lnTo>
                      <a:lnTo>
                        <a:pt x="438845" y="437550"/>
                      </a:lnTo>
                      <a:lnTo>
                        <a:pt x="537077" y="437550"/>
                      </a:lnTo>
                      <a:close/>
                      <a:moveTo>
                        <a:pt x="429920" y="535781"/>
                      </a:moveTo>
                      <a:lnTo>
                        <a:pt x="331689" y="535781"/>
                      </a:lnTo>
                      <a:lnTo>
                        <a:pt x="331689" y="437550"/>
                      </a:lnTo>
                      <a:lnTo>
                        <a:pt x="429920" y="437550"/>
                      </a:lnTo>
                      <a:lnTo>
                        <a:pt x="429920" y="535781"/>
                      </a:lnTo>
                      <a:close/>
                      <a:moveTo>
                        <a:pt x="429920" y="544706"/>
                      </a:moveTo>
                      <a:lnTo>
                        <a:pt x="429920" y="642938"/>
                      </a:lnTo>
                      <a:lnTo>
                        <a:pt x="331689" y="642938"/>
                      </a:lnTo>
                      <a:lnTo>
                        <a:pt x="331689" y="544706"/>
                      </a:lnTo>
                      <a:lnTo>
                        <a:pt x="429920" y="544706"/>
                      </a:lnTo>
                      <a:close/>
                      <a:moveTo>
                        <a:pt x="429920" y="651862"/>
                      </a:moveTo>
                      <a:lnTo>
                        <a:pt x="429920" y="750094"/>
                      </a:lnTo>
                      <a:lnTo>
                        <a:pt x="331689" y="750094"/>
                      </a:lnTo>
                      <a:lnTo>
                        <a:pt x="331689" y="651862"/>
                      </a:lnTo>
                      <a:lnTo>
                        <a:pt x="429920" y="651862"/>
                      </a:lnTo>
                      <a:close/>
                      <a:moveTo>
                        <a:pt x="429920" y="759019"/>
                      </a:moveTo>
                      <a:lnTo>
                        <a:pt x="429920" y="857250"/>
                      </a:lnTo>
                      <a:lnTo>
                        <a:pt x="331689" y="857250"/>
                      </a:lnTo>
                      <a:lnTo>
                        <a:pt x="331689" y="759019"/>
                      </a:lnTo>
                      <a:lnTo>
                        <a:pt x="429920" y="759019"/>
                      </a:lnTo>
                      <a:close/>
                      <a:moveTo>
                        <a:pt x="429920" y="866175"/>
                      </a:moveTo>
                      <a:lnTo>
                        <a:pt x="429920" y="964406"/>
                      </a:lnTo>
                      <a:lnTo>
                        <a:pt x="331689" y="964406"/>
                      </a:lnTo>
                      <a:lnTo>
                        <a:pt x="331689" y="866175"/>
                      </a:lnTo>
                      <a:lnTo>
                        <a:pt x="429920" y="866175"/>
                      </a:lnTo>
                      <a:close/>
                      <a:moveTo>
                        <a:pt x="429920" y="973331"/>
                      </a:moveTo>
                      <a:lnTo>
                        <a:pt x="429920" y="1071562"/>
                      </a:lnTo>
                      <a:lnTo>
                        <a:pt x="331689" y="1071562"/>
                      </a:lnTo>
                      <a:lnTo>
                        <a:pt x="331689" y="973331"/>
                      </a:lnTo>
                      <a:lnTo>
                        <a:pt x="429920" y="973331"/>
                      </a:lnTo>
                      <a:close/>
                      <a:moveTo>
                        <a:pt x="429920" y="1080487"/>
                      </a:moveTo>
                      <a:lnTo>
                        <a:pt x="429920" y="1178719"/>
                      </a:lnTo>
                      <a:lnTo>
                        <a:pt x="331689" y="1178719"/>
                      </a:lnTo>
                      <a:lnTo>
                        <a:pt x="331689" y="1080487"/>
                      </a:lnTo>
                      <a:lnTo>
                        <a:pt x="429920" y="1080487"/>
                      </a:lnTo>
                      <a:close/>
                      <a:moveTo>
                        <a:pt x="429920" y="1187644"/>
                      </a:moveTo>
                      <a:lnTo>
                        <a:pt x="429920" y="1285875"/>
                      </a:lnTo>
                      <a:lnTo>
                        <a:pt x="331689" y="1285875"/>
                      </a:lnTo>
                      <a:lnTo>
                        <a:pt x="331689" y="1187644"/>
                      </a:lnTo>
                      <a:lnTo>
                        <a:pt x="429920" y="1187644"/>
                      </a:lnTo>
                      <a:close/>
                      <a:moveTo>
                        <a:pt x="429920" y="1294800"/>
                      </a:moveTo>
                      <a:lnTo>
                        <a:pt x="429920" y="1393031"/>
                      </a:lnTo>
                      <a:lnTo>
                        <a:pt x="331689" y="1393031"/>
                      </a:lnTo>
                      <a:lnTo>
                        <a:pt x="331689" y="1294800"/>
                      </a:lnTo>
                      <a:lnTo>
                        <a:pt x="429920" y="1294800"/>
                      </a:lnTo>
                      <a:close/>
                      <a:moveTo>
                        <a:pt x="429920" y="1401956"/>
                      </a:moveTo>
                      <a:lnTo>
                        <a:pt x="429920" y="1500187"/>
                      </a:lnTo>
                      <a:lnTo>
                        <a:pt x="331689" y="1500187"/>
                      </a:lnTo>
                      <a:lnTo>
                        <a:pt x="331689" y="1401956"/>
                      </a:lnTo>
                      <a:lnTo>
                        <a:pt x="429920" y="1401956"/>
                      </a:lnTo>
                      <a:close/>
                      <a:moveTo>
                        <a:pt x="429920" y="1509112"/>
                      </a:moveTo>
                      <a:lnTo>
                        <a:pt x="429920" y="1607344"/>
                      </a:lnTo>
                      <a:lnTo>
                        <a:pt x="331689" y="1607344"/>
                      </a:lnTo>
                      <a:lnTo>
                        <a:pt x="331689" y="1509112"/>
                      </a:lnTo>
                      <a:lnTo>
                        <a:pt x="429920" y="1509112"/>
                      </a:lnTo>
                      <a:close/>
                      <a:moveTo>
                        <a:pt x="429920" y="1616269"/>
                      </a:moveTo>
                      <a:lnTo>
                        <a:pt x="429920" y="1714500"/>
                      </a:lnTo>
                      <a:lnTo>
                        <a:pt x="331689" y="1714500"/>
                      </a:lnTo>
                      <a:lnTo>
                        <a:pt x="331689" y="1616269"/>
                      </a:lnTo>
                      <a:lnTo>
                        <a:pt x="429920" y="1616269"/>
                      </a:lnTo>
                      <a:close/>
                      <a:moveTo>
                        <a:pt x="429920" y="1723425"/>
                      </a:moveTo>
                      <a:lnTo>
                        <a:pt x="429920" y="1821656"/>
                      </a:lnTo>
                      <a:lnTo>
                        <a:pt x="331689" y="1821656"/>
                      </a:lnTo>
                      <a:lnTo>
                        <a:pt x="331689" y="1723425"/>
                      </a:lnTo>
                      <a:lnTo>
                        <a:pt x="429920" y="1723425"/>
                      </a:lnTo>
                      <a:close/>
                      <a:moveTo>
                        <a:pt x="429920" y="1830581"/>
                      </a:moveTo>
                      <a:lnTo>
                        <a:pt x="429920" y="1928812"/>
                      </a:lnTo>
                      <a:lnTo>
                        <a:pt x="331689" y="1928812"/>
                      </a:lnTo>
                      <a:lnTo>
                        <a:pt x="331689" y="1830581"/>
                      </a:lnTo>
                      <a:lnTo>
                        <a:pt x="429920" y="1830581"/>
                      </a:lnTo>
                      <a:close/>
                      <a:moveTo>
                        <a:pt x="438855" y="1830581"/>
                      </a:moveTo>
                      <a:lnTo>
                        <a:pt x="537086" y="1830581"/>
                      </a:lnTo>
                      <a:lnTo>
                        <a:pt x="537086" y="1928812"/>
                      </a:lnTo>
                      <a:lnTo>
                        <a:pt x="438855" y="1928812"/>
                      </a:lnTo>
                      <a:lnTo>
                        <a:pt x="438855" y="1830581"/>
                      </a:lnTo>
                      <a:close/>
                      <a:moveTo>
                        <a:pt x="537077" y="1937737"/>
                      </a:moveTo>
                      <a:lnTo>
                        <a:pt x="537077" y="2035969"/>
                      </a:lnTo>
                      <a:lnTo>
                        <a:pt x="438845" y="2035969"/>
                      </a:lnTo>
                      <a:lnTo>
                        <a:pt x="438845" y="1937737"/>
                      </a:lnTo>
                      <a:lnTo>
                        <a:pt x="537077" y="1937737"/>
                      </a:lnTo>
                      <a:close/>
                      <a:moveTo>
                        <a:pt x="546011" y="1937737"/>
                      </a:moveTo>
                      <a:lnTo>
                        <a:pt x="644243" y="1937737"/>
                      </a:lnTo>
                      <a:lnTo>
                        <a:pt x="644243" y="2035969"/>
                      </a:lnTo>
                      <a:lnTo>
                        <a:pt x="546011" y="2035969"/>
                      </a:lnTo>
                      <a:lnTo>
                        <a:pt x="546011" y="1937737"/>
                      </a:lnTo>
                      <a:close/>
                      <a:moveTo>
                        <a:pt x="653167" y="1937737"/>
                      </a:moveTo>
                      <a:lnTo>
                        <a:pt x="751399" y="1937737"/>
                      </a:lnTo>
                      <a:lnTo>
                        <a:pt x="751399" y="2035969"/>
                      </a:lnTo>
                      <a:lnTo>
                        <a:pt x="653167" y="2035969"/>
                      </a:lnTo>
                      <a:lnTo>
                        <a:pt x="653167" y="1937737"/>
                      </a:lnTo>
                      <a:close/>
                      <a:moveTo>
                        <a:pt x="760324" y="1937737"/>
                      </a:moveTo>
                      <a:lnTo>
                        <a:pt x="858555" y="1937737"/>
                      </a:lnTo>
                      <a:lnTo>
                        <a:pt x="858555" y="2035969"/>
                      </a:lnTo>
                      <a:lnTo>
                        <a:pt x="760324" y="2035969"/>
                      </a:lnTo>
                      <a:lnTo>
                        <a:pt x="760324" y="1937737"/>
                      </a:lnTo>
                      <a:close/>
                      <a:moveTo>
                        <a:pt x="867480" y="1937737"/>
                      </a:moveTo>
                      <a:lnTo>
                        <a:pt x="965711" y="1937737"/>
                      </a:lnTo>
                      <a:lnTo>
                        <a:pt x="965711" y="2035969"/>
                      </a:lnTo>
                      <a:lnTo>
                        <a:pt x="867480" y="2035969"/>
                      </a:lnTo>
                      <a:lnTo>
                        <a:pt x="867480" y="1937737"/>
                      </a:lnTo>
                      <a:close/>
                      <a:moveTo>
                        <a:pt x="974636" y="1937737"/>
                      </a:moveTo>
                      <a:lnTo>
                        <a:pt x="1072867" y="1937737"/>
                      </a:lnTo>
                      <a:lnTo>
                        <a:pt x="1072867" y="2035969"/>
                      </a:lnTo>
                      <a:lnTo>
                        <a:pt x="974636" y="2035969"/>
                      </a:lnTo>
                      <a:lnTo>
                        <a:pt x="974636" y="1937737"/>
                      </a:lnTo>
                      <a:close/>
                      <a:moveTo>
                        <a:pt x="1081792" y="1937737"/>
                      </a:moveTo>
                      <a:lnTo>
                        <a:pt x="1180024" y="1937737"/>
                      </a:lnTo>
                      <a:lnTo>
                        <a:pt x="1180024" y="2035969"/>
                      </a:lnTo>
                      <a:lnTo>
                        <a:pt x="1081792" y="2035969"/>
                      </a:lnTo>
                      <a:lnTo>
                        <a:pt x="1081792" y="1937737"/>
                      </a:lnTo>
                      <a:close/>
                      <a:moveTo>
                        <a:pt x="1188949" y="1937737"/>
                      </a:moveTo>
                      <a:lnTo>
                        <a:pt x="1287180" y="1937737"/>
                      </a:lnTo>
                      <a:lnTo>
                        <a:pt x="1287180" y="2035969"/>
                      </a:lnTo>
                      <a:lnTo>
                        <a:pt x="1188949" y="2035969"/>
                      </a:lnTo>
                      <a:lnTo>
                        <a:pt x="1188949" y="1937737"/>
                      </a:lnTo>
                      <a:close/>
                      <a:moveTo>
                        <a:pt x="1296105" y="1937737"/>
                      </a:moveTo>
                      <a:lnTo>
                        <a:pt x="1394336" y="1937737"/>
                      </a:lnTo>
                      <a:lnTo>
                        <a:pt x="1394336" y="2035969"/>
                      </a:lnTo>
                      <a:lnTo>
                        <a:pt x="1296105" y="2035969"/>
                      </a:lnTo>
                      <a:lnTo>
                        <a:pt x="1296105" y="1937737"/>
                      </a:lnTo>
                      <a:close/>
                      <a:moveTo>
                        <a:pt x="1296105" y="1928812"/>
                      </a:moveTo>
                      <a:lnTo>
                        <a:pt x="1296105" y="1830581"/>
                      </a:lnTo>
                      <a:lnTo>
                        <a:pt x="1394336" y="1830581"/>
                      </a:lnTo>
                      <a:lnTo>
                        <a:pt x="1394336" y="1928812"/>
                      </a:lnTo>
                      <a:lnTo>
                        <a:pt x="1296105" y="1928812"/>
                      </a:lnTo>
                      <a:close/>
                      <a:moveTo>
                        <a:pt x="1403261" y="1830581"/>
                      </a:moveTo>
                      <a:lnTo>
                        <a:pt x="1501492" y="1830581"/>
                      </a:lnTo>
                      <a:lnTo>
                        <a:pt x="1501492" y="1928812"/>
                      </a:lnTo>
                      <a:lnTo>
                        <a:pt x="1403261" y="1928812"/>
                      </a:lnTo>
                      <a:lnTo>
                        <a:pt x="1403261" y="1830581"/>
                      </a:lnTo>
                      <a:close/>
                      <a:moveTo>
                        <a:pt x="1403261" y="1821656"/>
                      </a:moveTo>
                      <a:lnTo>
                        <a:pt x="1403261" y="1723425"/>
                      </a:lnTo>
                      <a:lnTo>
                        <a:pt x="1501492" y="1723425"/>
                      </a:lnTo>
                      <a:lnTo>
                        <a:pt x="1501492" y="1821656"/>
                      </a:lnTo>
                      <a:lnTo>
                        <a:pt x="1403261" y="1821656"/>
                      </a:lnTo>
                      <a:close/>
                      <a:moveTo>
                        <a:pt x="1403261" y="1714500"/>
                      </a:moveTo>
                      <a:lnTo>
                        <a:pt x="1403261" y="1616269"/>
                      </a:lnTo>
                      <a:lnTo>
                        <a:pt x="1501492" y="1616269"/>
                      </a:lnTo>
                      <a:lnTo>
                        <a:pt x="1501492" y="1714500"/>
                      </a:lnTo>
                      <a:lnTo>
                        <a:pt x="1403261" y="1714500"/>
                      </a:lnTo>
                      <a:close/>
                      <a:moveTo>
                        <a:pt x="1403261" y="1607344"/>
                      </a:moveTo>
                      <a:lnTo>
                        <a:pt x="1403261" y="1509112"/>
                      </a:lnTo>
                      <a:lnTo>
                        <a:pt x="1501492" y="1509112"/>
                      </a:lnTo>
                      <a:lnTo>
                        <a:pt x="1501492" y="1607344"/>
                      </a:lnTo>
                      <a:lnTo>
                        <a:pt x="1403261" y="1607344"/>
                      </a:lnTo>
                      <a:close/>
                      <a:moveTo>
                        <a:pt x="1403261" y="1500187"/>
                      </a:moveTo>
                      <a:lnTo>
                        <a:pt x="1403261" y="1401956"/>
                      </a:lnTo>
                      <a:lnTo>
                        <a:pt x="1501492" y="1401956"/>
                      </a:lnTo>
                      <a:lnTo>
                        <a:pt x="1501492" y="1500187"/>
                      </a:lnTo>
                      <a:lnTo>
                        <a:pt x="1403261" y="1500187"/>
                      </a:lnTo>
                      <a:close/>
                      <a:moveTo>
                        <a:pt x="1403261" y="1393031"/>
                      </a:moveTo>
                      <a:lnTo>
                        <a:pt x="1403261" y="1294800"/>
                      </a:lnTo>
                      <a:lnTo>
                        <a:pt x="1501492" y="1294800"/>
                      </a:lnTo>
                      <a:lnTo>
                        <a:pt x="1501492" y="1393031"/>
                      </a:lnTo>
                      <a:lnTo>
                        <a:pt x="1403261" y="1393031"/>
                      </a:lnTo>
                      <a:close/>
                      <a:moveTo>
                        <a:pt x="1403261" y="1285875"/>
                      </a:moveTo>
                      <a:lnTo>
                        <a:pt x="1403261" y="1187644"/>
                      </a:lnTo>
                      <a:lnTo>
                        <a:pt x="1501492" y="1187644"/>
                      </a:lnTo>
                      <a:lnTo>
                        <a:pt x="1501492" y="1285875"/>
                      </a:lnTo>
                      <a:lnTo>
                        <a:pt x="1403261" y="1285875"/>
                      </a:lnTo>
                      <a:close/>
                      <a:moveTo>
                        <a:pt x="1403261" y="1178719"/>
                      </a:moveTo>
                      <a:lnTo>
                        <a:pt x="1403261" y="1080487"/>
                      </a:lnTo>
                      <a:lnTo>
                        <a:pt x="1501492" y="1080487"/>
                      </a:lnTo>
                      <a:lnTo>
                        <a:pt x="1501492" y="1178719"/>
                      </a:lnTo>
                      <a:lnTo>
                        <a:pt x="1403261" y="1178719"/>
                      </a:lnTo>
                      <a:close/>
                      <a:moveTo>
                        <a:pt x="1403261" y="1071562"/>
                      </a:moveTo>
                      <a:lnTo>
                        <a:pt x="1403261" y="973331"/>
                      </a:lnTo>
                      <a:lnTo>
                        <a:pt x="1501492" y="973331"/>
                      </a:lnTo>
                      <a:lnTo>
                        <a:pt x="1501492" y="1071562"/>
                      </a:lnTo>
                      <a:lnTo>
                        <a:pt x="1403261" y="1071562"/>
                      </a:lnTo>
                      <a:close/>
                      <a:moveTo>
                        <a:pt x="1403261" y="964406"/>
                      </a:moveTo>
                      <a:lnTo>
                        <a:pt x="1403261" y="866175"/>
                      </a:lnTo>
                      <a:lnTo>
                        <a:pt x="1501492" y="866175"/>
                      </a:lnTo>
                      <a:lnTo>
                        <a:pt x="1501492" y="964406"/>
                      </a:lnTo>
                      <a:lnTo>
                        <a:pt x="1403261" y="964406"/>
                      </a:lnTo>
                      <a:close/>
                      <a:moveTo>
                        <a:pt x="1403261" y="857250"/>
                      </a:moveTo>
                      <a:lnTo>
                        <a:pt x="1403261" y="759019"/>
                      </a:lnTo>
                      <a:lnTo>
                        <a:pt x="1501492" y="759019"/>
                      </a:lnTo>
                      <a:lnTo>
                        <a:pt x="1501492" y="857250"/>
                      </a:lnTo>
                      <a:lnTo>
                        <a:pt x="1403261" y="857250"/>
                      </a:lnTo>
                      <a:close/>
                      <a:moveTo>
                        <a:pt x="1403261" y="750094"/>
                      </a:moveTo>
                      <a:lnTo>
                        <a:pt x="1403261" y="651862"/>
                      </a:lnTo>
                      <a:lnTo>
                        <a:pt x="1501492" y="651862"/>
                      </a:lnTo>
                      <a:lnTo>
                        <a:pt x="1501492" y="750094"/>
                      </a:lnTo>
                      <a:lnTo>
                        <a:pt x="1403261" y="750094"/>
                      </a:lnTo>
                      <a:close/>
                      <a:moveTo>
                        <a:pt x="1403261" y="642938"/>
                      </a:moveTo>
                      <a:lnTo>
                        <a:pt x="1403261" y="544706"/>
                      </a:lnTo>
                      <a:lnTo>
                        <a:pt x="1501492" y="544706"/>
                      </a:lnTo>
                      <a:lnTo>
                        <a:pt x="1501492" y="642938"/>
                      </a:lnTo>
                      <a:lnTo>
                        <a:pt x="1403261" y="642938"/>
                      </a:lnTo>
                      <a:close/>
                      <a:moveTo>
                        <a:pt x="1403261" y="535781"/>
                      </a:moveTo>
                      <a:lnTo>
                        <a:pt x="1403261" y="437550"/>
                      </a:lnTo>
                      <a:lnTo>
                        <a:pt x="1501492" y="437550"/>
                      </a:lnTo>
                      <a:lnTo>
                        <a:pt x="1501492" y="535781"/>
                      </a:lnTo>
                      <a:lnTo>
                        <a:pt x="1403261" y="535781"/>
                      </a:lnTo>
                      <a:close/>
                      <a:moveTo>
                        <a:pt x="1403261" y="428625"/>
                      </a:moveTo>
                      <a:lnTo>
                        <a:pt x="1403261" y="330394"/>
                      </a:lnTo>
                      <a:lnTo>
                        <a:pt x="1501492" y="330394"/>
                      </a:lnTo>
                      <a:lnTo>
                        <a:pt x="1501492" y="428625"/>
                      </a:lnTo>
                      <a:lnTo>
                        <a:pt x="1403261" y="428625"/>
                      </a:lnTo>
                      <a:close/>
                      <a:moveTo>
                        <a:pt x="1403261" y="321469"/>
                      </a:moveTo>
                      <a:lnTo>
                        <a:pt x="1403261" y="223237"/>
                      </a:lnTo>
                      <a:lnTo>
                        <a:pt x="1501492" y="223237"/>
                      </a:lnTo>
                      <a:lnTo>
                        <a:pt x="1501492" y="321469"/>
                      </a:lnTo>
                      <a:lnTo>
                        <a:pt x="1403261" y="321469"/>
                      </a:lnTo>
                      <a:close/>
                      <a:moveTo>
                        <a:pt x="1394327" y="321469"/>
                      </a:moveTo>
                      <a:lnTo>
                        <a:pt x="1296095" y="321469"/>
                      </a:lnTo>
                      <a:lnTo>
                        <a:pt x="1296095" y="223237"/>
                      </a:lnTo>
                      <a:lnTo>
                        <a:pt x="1394327" y="223237"/>
                      </a:lnTo>
                      <a:lnTo>
                        <a:pt x="1394327" y="321469"/>
                      </a:lnTo>
                      <a:close/>
                      <a:moveTo>
                        <a:pt x="1287171" y="321469"/>
                      </a:moveTo>
                      <a:lnTo>
                        <a:pt x="1188939" y="321469"/>
                      </a:lnTo>
                      <a:lnTo>
                        <a:pt x="1188939" y="223237"/>
                      </a:lnTo>
                      <a:lnTo>
                        <a:pt x="1287171" y="223237"/>
                      </a:lnTo>
                      <a:lnTo>
                        <a:pt x="1287171" y="321469"/>
                      </a:lnTo>
                      <a:close/>
                      <a:moveTo>
                        <a:pt x="1180014" y="321469"/>
                      </a:moveTo>
                      <a:lnTo>
                        <a:pt x="1081783" y="321469"/>
                      </a:lnTo>
                      <a:lnTo>
                        <a:pt x="1081783" y="223237"/>
                      </a:lnTo>
                      <a:lnTo>
                        <a:pt x="1180014" y="223237"/>
                      </a:lnTo>
                      <a:lnTo>
                        <a:pt x="1180014" y="321469"/>
                      </a:lnTo>
                      <a:close/>
                      <a:moveTo>
                        <a:pt x="1072858" y="321469"/>
                      </a:moveTo>
                      <a:lnTo>
                        <a:pt x="974627" y="321469"/>
                      </a:lnTo>
                      <a:lnTo>
                        <a:pt x="974627" y="223237"/>
                      </a:lnTo>
                      <a:lnTo>
                        <a:pt x="1072858" y="223237"/>
                      </a:lnTo>
                      <a:lnTo>
                        <a:pt x="1072858" y="321469"/>
                      </a:lnTo>
                      <a:close/>
                      <a:moveTo>
                        <a:pt x="965702" y="321469"/>
                      </a:moveTo>
                      <a:lnTo>
                        <a:pt x="867470" y="321469"/>
                      </a:lnTo>
                      <a:lnTo>
                        <a:pt x="867470" y="223237"/>
                      </a:lnTo>
                      <a:lnTo>
                        <a:pt x="965702" y="223237"/>
                      </a:lnTo>
                      <a:lnTo>
                        <a:pt x="965702" y="321469"/>
                      </a:lnTo>
                      <a:close/>
                      <a:moveTo>
                        <a:pt x="858546" y="321469"/>
                      </a:moveTo>
                      <a:lnTo>
                        <a:pt x="760314" y="321469"/>
                      </a:lnTo>
                      <a:lnTo>
                        <a:pt x="760314" y="223237"/>
                      </a:lnTo>
                      <a:lnTo>
                        <a:pt x="858546" y="223237"/>
                      </a:lnTo>
                      <a:lnTo>
                        <a:pt x="858546" y="321469"/>
                      </a:lnTo>
                      <a:close/>
                      <a:moveTo>
                        <a:pt x="751389" y="321469"/>
                      </a:moveTo>
                      <a:lnTo>
                        <a:pt x="653158" y="321469"/>
                      </a:lnTo>
                      <a:lnTo>
                        <a:pt x="653158" y="223237"/>
                      </a:lnTo>
                      <a:lnTo>
                        <a:pt x="751389" y="223237"/>
                      </a:lnTo>
                      <a:lnTo>
                        <a:pt x="751389" y="321469"/>
                      </a:lnTo>
                      <a:close/>
                      <a:moveTo>
                        <a:pt x="644233" y="321469"/>
                      </a:moveTo>
                      <a:lnTo>
                        <a:pt x="546002" y="321469"/>
                      </a:lnTo>
                      <a:lnTo>
                        <a:pt x="546002" y="223237"/>
                      </a:lnTo>
                      <a:lnTo>
                        <a:pt x="644233" y="223237"/>
                      </a:lnTo>
                      <a:lnTo>
                        <a:pt x="644233" y="321469"/>
                      </a:lnTo>
                      <a:close/>
                      <a:moveTo>
                        <a:pt x="537077" y="321469"/>
                      </a:moveTo>
                      <a:lnTo>
                        <a:pt x="438845" y="321469"/>
                      </a:lnTo>
                      <a:lnTo>
                        <a:pt x="438845" y="223237"/>
                      </a:lnTo>
                      <a:lnTo>
                        <a:pt x="537077" y="223237"/>
                      </a:lnTo>
                      <a:lnTo>
                        <a:pt x="537077" y="321469"/>
                      </a:lnTo>
                      <a:close/>
                      <a:moveTo>
                        <a:pt x="429920" y="321469"/>
                      </a:moveTo>
                      <a:lnTo>
                        <a:pt x="331689" y="321469"/>
                      </a:lnTo>
                      <a:lnTo>
                        <a:pt x="331689" y="223237"/>
                      </a:lnTo>
                      <a:lnTo>
                        <a:pt x="429920" y="223237"/>
                      </a:lnTo>
                      <a:lnTo>
                        <a:pt x="429920" y="321469"/>
                      </a:lnTo>
                      <a:close/>
                      <a:moveTo>
                        <a:pt x="429920" y="330394"/>
                      </a:moveTo>
                      <a:lnTo>
                        <a:pt x="429920" y="428625"/>
                      </a:lnTo>
                      <a:lnTo>
                        <a:pt x="331689" y="428625"/>
                      </a:lnTo>
                      <a:lnTo>
                        <a:pt x="331689" y="330394"/>
                      </a:lnTo>
                      <a:lnTo>
                        <a:pt x="429920" y="330394"/>
                      </a:lnTo>
                      <a:close/>
                      <a:moveTo>
                        <a:pt x="322764" y="428625"/>
                      </a:moveTo>
                      <a:lnTo>
                        <a:pt x="224533" y="428625"/>
                      </a:lnTo>
                      <a:lnTo>
                        <a:pt x="224533" y="330394"/>
                      </a:lnTo>
                      <a:lnTo>
                        <a:pt x="322764" y="330394"/>
                      </a:lnTo>
                      <a:lnTo>
                        <a:pt x="322764" y="428625"/>
                      </a:lnTo>
                      <a:close/>
                      <a:moveTo>
                        <a:pt x="322764" y="437550"/>
                      </a:moveTo>
                      <a:lnTo>
                        <a:pt x="322764" y="535781"/>
                      </a:lnTo>
                      <a:lnTo>
                        <a:pt x="224533" y="535781"/>
                      </a:lnTo>
                      <a:lnTo>
                        <a:pt x="224533" y="437550"/>
                      </a:lnTo>
                      <a:lnTo>
                        <a:pt x="322764" y="437550"/>
                      </a:lnTo>
                      <a:close/>
                      <a:moveTo>
                        <a:pt x="322764" y="544706"/>
                      </a:moveTo>
                      <a:lnTo>
                        <a:pt x="322764" y="642938"/>
                      </a:lnTo>
                      <a:lnTo>
                        <a:pt x="224533" y="642938"/>
                      </a:lnTo>
                      <a:lnTo>
                        <a:pt x="224533" y="544706"/>
                      </a:lnTo>
                      <a:lnTo>
                        <a:pt x="322764" y="544706"/>
                      </a:lnTo>
                      <a:close/>
                      <a:moveTo>
                        <a:pt x="322764" y="651862"/>
                      </a:moveTo>
                      <a:lnTo>
                        <a:pt x="322764" y="750094"/>
                      </a:lnTo>
                      <a:lnTo>
                        <a:pt x="224533" y="750094"/>
                      </a:lnTo>
                      <a:lnTo>
                        <a:pt x="224533" y="651862"/>
                      </a:lnTo>
                      <a:lnTo>
                        <a:pt x="322764" y="651862"/>
                      </a:lnTo>
                      <a:close/>
                      <a:moveTo>
                        <a:pt x="322764" y="759019"/>
                      </a:moveTo>
                      <a:lnTo>
                        <a:pt x="322764" y="857250"/>
                      </a:lnTo>
                      <a:lnTo>
                        <a:pt x="224533" y="857250"/>
                      </a:lnTo>
                      <a:lnTo>
                        <a:pt x="224533" y="759019"/>
                      </a:lnTo>
                      <a:lnTo>
                        <a:pt x="322764" y="759019"/>
                      </a:lnTo>
                      <a:close/>
                      <a:moveTo>
                        <a:pt x="322764" y="866175"/>
                      </a:moveTo>
                      <a:lnTo>
                        <a:pt x="322764" y="964406"/>
                      </a:lnTo>
                      <a:lnTo>
                        <a:pt x="224533" y="964406"/>
                      </a:lnTo>
                      <a:lnTo>
                        <a:pt x="224533" y="866175"/>
                      </a:lnTo>
                      <a:lnTo>
                        <a:pt x="322764" y="866175"/>
                      </a:lnTo>
                      <a:close/>
                      <a:moveTo>
                        <a:pt x="322764" y="973331"/>
                      </a:moveTo>
                      <a:lnTo>
                        <a:pt x="322764" y="1071562"/>
                      </a:lnTo>
                      <a:lnTo>
                        <a:pt x="224533" y="1071562"/>
                      </a:lnTo>
                      <a:lnTo>
                        <a:pt x="224533" y="973331"/>
                      </a:lnTo>
                      <a:lnTo>
                        <a:pt x="322764" y="973331"/>
                      </a:lnTo>
                      <a:close/>
                      <a:moveTo>
                        <a:pt x="322764" y="1080487"/>
                      </a:moveTo>
                      <a:lnTo>
                        <a:pt x="322764" y="1178719"/>
                      </a:lnTo>
                      <a:lnTo>
                        <a:pt x="224533" y="1178719"/>
                      </a:lnTo>
                      <a:lnTo>
                        <a:pt x="224533" y="1080487"/>
                      </a:lnTo>
                      <a:lnTo>
                        <a:pt x="322764" y="1080487"/>
                      </a:lnTo>
                      <a:close/>
                      <a:moveTo>
                        <a:pt x="322764" y="1187644"/>
                      </a:moveTo>
                      <a:lnTo>
                        <a:pt x="322764" y="1285875"/>
                      </a:lnTo>
                      <a:lnTo>
                        <a:pt x="224533" y="1285875"/>
                      </a:lnTo>
                      <a:lnTo>
                        <a:pt x="224533" y="1187644"/>
                      </a:lnTo>
                      <a:lnTo>
                        <a:pt x="322764" y="1187644"/>
                      </a:lnTo>
                      <a:close/>
                      <a:moveTo>
                        <a:pt x="322764" y="1294800"/>
                      </a:moveTo>
                      <a:lnTo>
                        <a:pt x="322764" y="1393031"/>
                      </a:lnTo>
                      <a:lnTo>
                        <a:pt x="224533" y="1393031"/>
                      </a:lnTo>
                      <a:lnTo>
                        <a:pt x="224533" y="1294800"/>
                      </a:lnTo>
                      <a:lnTo>
                        <a:pt x="322764" y="1294800"/>
                      </a:lnTo>
                      <a:close/>
                      <a:moveTo>
                        <a:pt x="322764" y="1401956"/>
                      </a:moveTo>
                      <a:lnTo>
                        <a:pt x="322764" y="1500187"/>
                      </a:lnTo>
                      <a:lnTo>
                        <a:pt x="224533" y="1500187"/>
                      </a:lnTo>
                      <a:lnTo>
                        <a:pt x="224533" y="1401956"/>
                      </a:lnTo>
                      <a:lnTo>
                        <a:pt x="322764" y="1401956"/>
                      </a:lnTo>
                      <a:close/>
                      <a:moveTo>
                        <a:pt x="322764" y="1509112"/>
                      </a:moveTo>
                      <a:lnTo>
                        <a:pt x="322764" y="1607344"/>
                      </a:lnTo>
                      <a:lnTo>
                        <a:pt x="224533" y="1607344"/>
                      </a:lnTo>
                      <a:lnTo>
                        <a:pt x="224533" y="1509112"/>
                      </a:lnTo>
                      <a:lnTo>
                        <a:pt x="322764" y="1509112"/>
                      </a:lnTo>
                      <a:close/>
                      <a:moveTo>
                        <a:pt x="322764" y="1616269"/>
                      </a:moveTo>
                      <a:lnTo>
                        <a:pt x="322764" y="1714500"/>
                      </a:lnTo>
                      <a:lnTo>
                        <a:pt x="224533" y="1714500"/>
                      </a:lnTo>
                      <a:lnTo>
                        <a:pt x="224533" y="1616269"/>
                      </a:lnTo>
                      <a:lnTo>
                        <a:pt x="322764" y="1616269"/>
                      </a:lnTo>
                      <a:close/>
                      <a:moveTo>
                        <a:pt x="322764" y="1723425"/>
                      </a:moveTo>
                      <a:lnTo>
                        <a:pt x="322764" y="1821656"/>
                      </a:lnTo>
                      <a:lnTo>
                        <a:pt x="224533" y="1821656"/>
                      </a:lnTo>
                      <a:lnTo>
                        <a:pt x="224533" y="1723425"/>
                      </a:lnTo>
                      <a:lnTo>
                        <a:pt x="322764" y="1723425"/>
                      </a:lnTo>
                      <a:close/>
                      <a:moveTo>
                        <a:pt x="322764" y="1830581"/>
                      </a:moveTo>
                      <a:lnTo>
                        <a:pt x="322764" y="1928812"/>
                      </a:lnTo>
                      <a:lnTo>
                        <a:pt x="224533" y="1928812"/>
                      </a:lnTo>
                      <a:lnTo>
                        <a:pt x="224533" y="1830581"/>
                      </a:lnTo>
                      <a:lnTo>
                        <a:pt x="322764" y="1830581"/>
                      </a:lnTo>
                      <a:close/>
                      <a:moveTo>
                        <a:pt x="322764" y="1937737"/>
                      </a:moveTo>
                      <a:lnTo>
                        <a:pt x="322764" y="2035969"/>
                      </a:lnTo>
                      <a:lnTo>
                        <a:pt x="224533" y="2035969"/>
                      </a:lnTo>
                      <a:lnTo>
                        <a:pt x="224533" y="1937737"/>
                      </a:lnTo>
                      <a:lnTo>
                        <a:pt x="322764" y="1937737"/>
                      </a:lnTo>
                      <a:close/>
                      <a:moveTo>
                        <a:pt x="331699" y="1937737"/>
                      </a:moveTo>
                      <a:lnTo>
                        <a:pt x="429930" y="1937737"/>
                      </a:lnTo>
                      <a:lnTo>
                        <a:pt x="429930" y="2035969"/>
                      </a:lnTo>
                      <a:lnTo>
                        <a:pt x="331699" y="2035969"/>
                      </a:lnTo>
                      <a:lnTo>
                        <a:pt x="331699" y="1937737"/>
                      </a:lnTo>
                      <a:close/>
                      <a:moveTo>
                        <a:pt x="429920" y="2044894"/>
                      </a:moveTo>
                      <a:lnTo>
                        <a:pt x="429920" y="2143125"/>
                      </a:lnTo>
                      <a:lnTo>
                        <a:pt x="331689" y="2143125"/>
                      </a:lnTo>
                      <a:lnTo>
                        <a:pt x="331689" y="2044894"/>
                      </a:lnTo>
                      <a:lnTo>
                        <a:pt x="429920" y="2044894"/>
                      </a:lnTo>
                      <a:close/>
                      <a:moveTo>
                        <a:pt x="438855" y="2044894"/>
                      </a:moveTo>
                      <a:lnTo>
                        <a:pt x="537086" y="2044894"/>
                      </a:lnTo>
                      <a:lnTo>
                        <a:pt x="537086" y="2143125"/>
                      </a:lnTo>
                      <a:lnTo>
                        <a:pt x="438855" y="2143125"/>
                      </a:lnTo>
                      <a:lnTo>
                        <a:pt x="438855" y="2044894"/>
                      </a:lnTo>
                      <a:close/>
                      <a:moveTo>
                        <a:pt x="546011" y="2044894"/>
                      </a:moveTo>
                      <a:lnTo>
                        <a:pt x="644243" y="2044894"/>
                      </a:lnTo>
                      <a:lnTo>
                        <a:pt x="644243" y="2143125"/>
                      </a:lnTo>
                      <a:lnTo>
                        <a:pt x="546011" y="2143125"/>
                      </a:lnTo>
                      <a:lnTo>
                        <a:pt x="546011" y="2044894"/>
                      </a:lnTo>
                      <a:close/>
                      <a:moveTo>
                        <a:pt x="653167" y="2044894"/>
                      </a:moveTo>
                      <a:lnTo>
                        <a:pt x="751399" y="2044894"/>
                      </a:lnTo>
                      <a:lnTo>
                        <a:pt x="751399" y="2143125"/>
                      </a:lnTo>
                      <a:lnTo>
                        <a:pt x="653167" y="2143125"/>
                      </a:lnTo>
                      <a:lnTo>
                        <a:pt x="653167" y="2044894"/>
                      </a:lnTo>
                      <a:close/>
                      <a:moveTo>
                        <a:pt x="760324" y="2044894"/>
                      </a:moveTo>
                      <a:lnTo>
                        <a:pt x="858555" y="2044894"/>
                      </a:lnTo>
                      <a:lnTo>
                        <a:pt x="858555" y="2143125"/>
                      </a:lnTo>
                      <a:lnTo>
                        <a:pt x="760324" y="2143125"/>
                      </a:lnTo>
                      <a:lnTo>
                        <a:pt x="760324" y="2044894"/>
                      </a:lnTo>
                      <a:close/>
                      <a:moveTo>
                        <a:pt x="867480" y="2044894"/>
                      </a:moveTo>
                      <a:lnTo>
                        <a:pt x="965711" y="2044894"/>
                      </a:lnTo>
                      <a:lnTo>
                        <a:pt x="965711" y="2143125"/>
                      </a:lnTo>
                      <a:lnTo>
                        <a:pt x="867480" y="2143125"/>
                      </a:lnTo>
                      <a:lnTo>
                        <a:pt x="867480" y="2044894"/>
                      </a:lnTo>
                      <a:close/>
                      <a:moveTo>
                        <a:pt x="974636" y="2044894"/>
                      </a:moveTo>
                      <a:lnTo>
                        <a:pt x="1072867" y="2044894"/>
                      </a:lnTo>
                      <a:lnTo>
                        <a:pt x="1072867" y="2143125"/>
                      </a:lnTo>
                      <a:lnTo>
                        <a:pt x="974636" y="2143125"/>
                      </a:lnTo>
                      <a:lnTo>
                        <a:pt x="974636" y="2044894"/>
                      </a:lnTo>
                      <a:close/>
                      <a:moveTo>
                        <a:pt x="1081792" y="2044894"/>
                      </a:moveTo>
                      <a:lnTo>
                        <a:pt x="1180024" y="2044894"/>
                      </a:lnTo>
                      <a:lnTo>
                        <a:pt x="1180024" y="2143125"/>
                      </a:lnTo>
                      <a:lnTo>
                        <a:pt x="1081792" y="2143125"/>
                      </a:lnTo>
                      <a:lnTo>
                        <a:pt x="1081792" y="2044894"/>
                      </a:lnTo>
                      <a:close/>
                      <a:moveTo>
                        <a:pt x="1188949" y="2044894"/>
                      </a:moveTo>
                      <a:lnTo>
                        <a:pt x="1287180" y="2044894"/>
                      </a:lnTo>
                      <a:lnTo>
                        <a:pt x="1287180" y="2143125"/>
                      </a:lnTo>
                      <a:lnTo>
                        <a:pt x="1188949" y="2143125"/>
                      </a:lnTo>
                      <a:lnTo>
                        <a:pt x="1188949" y="2044894"/>
                      </a:lnTo>
                      <a:close/>
                      <a:moveTo>
                        <a:pt x="1296105" y="2044894"/>
                      </a:moveTo>
                      <a:lnTo>
                        <a:pt x="1394336" y="2044894"/>
                      </a:lnTo>
                      <a:lnTo>
                        <a:pt x="1394336" y="2143125"/>
                      </a:lnTo>
                      <a:lnTo>
                        <a:pt x="1296105" y="2143125"/>
                      </a:lnTo>
                      <a:lnTo>
                        <a:pt x="1296105" y="2044894"/>
                      </a:lnTo>
                      <a:close/>
                      <a:moveTo>
                        <a:pt x="1403261" y="2044894"/>
                      </a:moveTo>
                      <a:lnTo>
                        <a:pt x="1501492" y="2044894"/>
                      </a:lnTo>
                      <a:lnTo>
                        <a:pt x="1501492" y="2143125"/>
                      </a:lnTo>
                      <a:lnTo>
                        <a:pt x="1403261" y="2143125"/>
                      </a:lnTo>
                      <a:lnTo>
                        <a:pt x="1403261" y="2044894"/>
                      </a:lnTo>
                      <a:close/>
                      <a:moveTo>
                        <a:pt x="1403261" y="2035969"/>
                      </a:moveTo>
                      <a:lnTo>
                        <a:pt x="1403261" y="1937737"/>
                      </a:lnTo>
                      <a:lnTo>
                        <a:pt x="1501492" y="1937737"/>
                      </a:lnTo>
                      <a:lnTo>
                        <a:pt x="1501492" y="2035969"/>
                      </a:lnTo>
                      <a:lnTo>
                        <a:pt x="1403261" y="2035969"/>
                      </a:lnTo>
                      <a:close/>
                      <a:moveTo>
                        <a:pt x="1510417" y="1937737"/>
                      </a:moveTo>
                      <a:lnTo>
                        <a:pt x="1608649" y="1937737"/>
                      </a:lnTo>
                      <a:lnTo>
                        <a:pt x="1608649" y="2035969"/>
                      </a:lnTo>
                      <a:lnTo>
                        <a:pt x="1510417" y="2035969"/>
                      </a:lnTo>
                      <a:lnTo>
                        <a:pt x="1510417" y="1937737"/>
                      </a:lnTo>
                      <a:close/>
                      <a:moveTo>
                        <a:pt x="1510417" y="1928812"/>
                      </a:moveTo>
                      <a:lnTo>
                        <a:pt x="1510417" y="1830581"/>
                      </a:lnTo>
                      <a:lnTo>
                        <a:pt x="1608649" y="1830581"/>
                      </a:lnTo>
                      <a:lnTo>
                        <a:pt x="1608649" y="1928812"/>
                      </a:lnTo>
                      <a:lnTo>
                        <a:pt x="1510417" y="1928812"/>
                      </a:lnTo>
                      <a:close/>
                      <a:moveTo>
                        <a:pt x="1510417" y="1821656"/>
                      </a:moveTo>
                      <a:lnTo>
                        <a:pt x="1510417" y="1723425"/>
                      </a:lnTo>
                      <a:lnTo>
                        <a:pt x="1608649" y="1723425"/>
                      </a:lnTo>
                      <a:lnTo>
                        <a:pt x="1608649" y="1821656"/>
                      </a:lnTo>
                      <a:lnTo>
                        <a:pt x="1510417" y="1821656"/>
                      </a:lnTo>
                      <a:close/>
                      <a:moveTo>
                        <a:pt x="1510417" y="1714500"/>
                      </a:moveTo>
                      <a:lnTo>
                        <a:pt x="1510417" y="1616269"/>
                      </a:lnTo>
                      <a:lnTo>
                        <a:pt x="1608649" y="1616269"/>
                      </a:lnTo>
                      <a:lnTo>
                        <a:pt x="1608649" y="1714500"/>
                      </a:lnTo>
                      <a:lnTo>
                        <a:pt x="1510417" y="1714500"/>
                      </a:lnTo>
                      <a:close/>
                      <a:moveTo>
                        <a:pt x="1510417" y="1607344"/>
                      </a:moveTo>
                      <a:lnTo>
                        <a:pt x="1510417" y="1509112"/>
                      </a:lnTo>
                      <a:lnTo>
                        <a:pt x="1608649" y="1509112"/>
                      </a:lnTo>
                      <a:lnTo>
                        <a:pt x="1608649" y="1607344"/>
                      </a:lnTo>
                      <a:lnTo>
                        <a:pt x="1510417" y="1607344"/>
                      </a:lnTo>
                      <a:close/>
                      <a:moveTo>
                        <a:pt x="1510417" y="1500187"/>
                      </a:moveTo>
                      <a:lnTo>
                        <a:pt x="1510417" y="1401956"/>
                      </a:lnTo>
                      <a:lnTo>
                        <a:pt x="1608649" y="1401956"/>
                      </a:lnTo>
                      <a:lnTo>
                        <a:pt x="1608649" y="1500187"/>
                      </a:lnTo>
                      <a:lnTo>
                        <a:pt x="1510417" y="1500187"/>
                      </a:lnTo>
                      <a:close/>
                      <a:moveTo>
                        <a:pt x="1510417" y="1393031"/>
                      </a:moveTo>
                      <a:lnTo>
                        <a:pt x="1510417" y="1294800"/>
                      </a:lnTo>
                      <a:lnTo>
                        <a:pt x="1608649" y="1294800"/>
                      </a:lnTo>
                      <a:lnTo>
                        <a:pt x="1608649" y="1393031"/>
                      </a:lnTo>
                      <a:lnTo>
                        <a:pt x="1510417" y="1393031"/>
                      </a:lnTo>
                      <a:close/>
                      <a:moveTo>
                        <a:pt x="1510417" y="1285875"/>
                      </a:moveTo>
                      <a:lnTo>
                        <a:pt x="1510417" y="1187644"/>
                      </a:lnTo>
                      <a:lnTo>
                        <a:pt x="1608649" y="1187644"/>
                      </a:lnTo>
                      <a:lnTo>
                        <a:pt x="1608649" y="1285875"/>
                      </a:lnTo>
                      <a:lnTo>
                        <a:pt x="1510417" y="1285875"/>
                      </a:lnTo>
                      <a:close/>
                      <a:moveTo>
                        <a:pt x="1510417" y="1178719"/>
                      </a:moveTo>
                      <a:lnTo>
                        <a:pt x="1510417" y="1080487"/>
                      </a:lnTo>
                      <a:lnTo>
                        <a:pt x="1608649" y="1080487"/>
                      </a:lnTo>
                      <a:lnTo>
                        <a:pt x="1608649" y="1178719"/>
                      </a:lnTo>
                      <a:lnTo>
                        <a:pt x="1510417" y="1178719"/>
                      </a:lnTo>
                      <a:close/>
                      <a:moveTo>
                        <a:pt x="1510417" y="1071562"/>
                      </a:moveTo>
                      <a:lnTo>
                        <a:pt x="1510417" y="973331"/>
                      </a:lnTo>
                      <a:lnTo>
                        <a:pt x="1608649" y="973331"/>
                      </a:lnTo>
                      <a:lnTo>
                        <a:pt x="1608649" y="1071562"/>
                      </a:lnTo>
                      <a:lnTo>
                        <a:pt x="1510417" y="1071562"/>
                      </a:lnTo>
                      <a:close/>
                      <a:moveTo>
                        <a:pt x="1510417" y="964406"/>
                      </a:moveTo>
                      <a:lnTo>
                        <a:pt x="1510417" y="866175"/>
                      </a:lnTo>
                      <a:lnTo>
                        <a:pt x="1608649" y="866175"/>
                      </a:lnTo>
                      <a:lnTo>
                        <a:pt x="1608649" y="964406"/>
                      </a:lnTo>
                      <a:lnTo>
                        <a:pt x="1510417" y="964406"/>
                      </a:lnTo>
                      <a:close/>
                      <a:moveTo>
                        <a:pt x="1510417" y="857250"/>
                      </a:moveTo>
                      <a:lnTo>
                        <a:pt x="1510417" y="759019"/>
                      </a:lnTo>
                      <a:lnTo>
                        <a:pt x="1608649" y="759019"/>
                      </a:lnTo>
                      <a:lnTo>
                        <a:pt x="1608649" y="857250"/>
                      </a:lnTo>
                      <a:lnTo>
                        <a:pt x="1510417" y="857250"/>
                      </a:lnTo>
                      <a:close/>
                      <a:moveTo>
                        <a:pt x="1510417" y="750094"/>
                      </a:moveTo>
                      <a:lnTo>
                        <a:pt x="1510417" y="651862"/>
                      </a:lnTo>
                      <a:lnTo>
                        <a:pt x="1608649" y="651862"/>
                      </a:lnTo>
                      <a:lnTo>
                        <a:pt x="1608649" y="750094"/>
                      </a:lnTo>
                      <a:lnTo>
                        <a:pt x="1510417" y="750094"/>
                      </a:lnTo>
                      <a:close/>
                      <a:moveTo>
                        <a:pt x="1510417" y="642938"/>
                      </a:moveTo>
                      <a:lnTo>
                        <a:pt x="1510417" y="544706"/>
                      </a:lnTo>
                      <a:lnTo>
                        <a:pt x="1608649" y="544706"/>
                      </a:lnTo>
                      <a:lnTo>
                        <a:pt x="1608649" y="642938"/>
                      </a:lnTo>
                      <a:lnTo>
                        <a:pt x="1510417" y="642938"/>
                      </a:lnTo>
                      <a:close/>
                      <a:moveTo>
                        <a:pt x="1510417" y="535781"/>
                      </a:moveTo>
                      <a:lnTo>
                        <a:pt x="1510417" y="437550"/>
                      </a:lnTo>
                      <a:lnTo>
                        <a:pt x="1608649" y="437550"/>
                      </a:lnTo>
                      <a:lnTo>
                        <a:pt x="1608649" y="535781"/>
                      </a:lnTo>
                      <a:lnTo>
                        <a:pt x="1510417" y="535781"/>
                      </a:lnTo>
                      <a:close/>
                      <a:moveTo>
                        <a:pt x="1510417" y="428625"/>
                      </a:moveTo>
                      <a:lnTo>
                        <a:pt x="1510417" y="330394"/>
                      </a:lnTo>
                      <a:lnTo>
                        <a:pt x="1608649" y="330394"/>
                      </a:lnTo>
                      <a:lnTo>
                        <a:pt x="1608649" y="428625"/>
                      </a:lnTo>
                      <a:lnTo>
                        <a:pt x="1510417" y="428625"/>
                      </a:lnTo>
                      <a:close/>
                      <a:moveTo>
                        <a:pt x="1510417" y="321469"/>
                      </a:moveTo>
                      <a:lnTo>
                        <a:pt x="1510417" y="223237"/>
                      </a:lnTo>
                      <a:lnTo>
                        <a:pt x="1608649" y="223237"/>
                      </a:lnTo>
                      <a:lnTo>
                        <a:pt x="1608649" y="321469"/>
                      </a:lnTo>
                      <a:lnTo>
                        <a:pt x="1510417" y="321469"/>
                      </a:lnTo>
                      <a:close/>
                      <a:moveTo>
                        <a:pt x="1510417" y="214313"/>
                      </a:moveTo>
                      <a:lnTo>
                        <a:pt x="1510417" y="116081"/>
                      </a:lnTo>
                      <a:lnTo>
                        <a:pt x="1608649" y="116081"/>
                      </a:lnTo>
                      <a:lnTo>
                        <a:pt x="1608649" y="214313"/>
                      </a:lnTo>
                      <a:lnTo>
                        <a:pt x="1510417" y="214313"/>
                      </a:lnTo>
                      <a:close/>
                      <a:moveTo>
                        <a:pt x="1501483" y="214313"/>
                      </a:moveTo>
                      <a:lnTo>
                        <a:pt x="1403252" y="214313"/>
                      </a:lnTo>
                      <a:lnTo>
                        <a:pt x="1403252" y="116081"/>
                      </a:lnTo>
                      <a:lnTo>
                        <a:pt x="1501483" y="116081"/>
                      </a:lnTo>
                      <a:lnTo>
                        <a:pt x="1501483" y="214313"/>
                      </a:lnTo>
                      <a:close/>
                      <a:moveTo>
                        <a:pt x="1394327" y="214313"/>
                      </a:moveTo>
                      <a:lnTo>
                        <a:pt x="1296095" y="214313"/>
                      </a:lnTo>
                      <a:lnTo>
                        <a:pt x="1296095" y="116081"/>
                      </a:lnTo>
                      <a:lnTo>
                        <a:pt x="1394327" y="116081"/>
                      </a:lnTo>
                      <a:lnTo>
                        <a:pt x="1394327" y="214313"/>
                      </a:lnTo>
                      <a:close/>
                      <a:moveTo>
                        <a:pt x="1287171" y="214313"/>
                      </a:moveTo>
                      <a:lnTo>
                        <a:pt x="1188939" y="214313"/>
                      </a:lnTo>
                      <a:lnTo>
                        <a:pt x="1188939" y="116081"/>
                      </a:lnTo>
                      <a:lnTo>
                        <a:pt x="1287171" y="116081"/>
                      </a:lnTo>
                      <a:lnTo>
                        <a:pt x="1287171" y="214313"/>
                      </a:lnTo>
                      <a:close/>
                      <a:moveTo>
                        <a:pt x="1180014" y="214313"/>
                      </a:moveTo>
                      <a:lnTo>
                        <a:pt x="1081783" y="214313"/>
                      </a:lnTo>
                      <a:lnTo>
                        <a:pt x="1081783" y="116081"/>
                      </a:lnTo>
                      <a:lnTo>
                        <a:pt x="1180014" y="116081"/>
                      </a:lnTo>
                      <a:lnTo>
                        <a:pt x="1180014" y="214313"/>
                      </a:lnTo>
                      <a:close/>
                      <a:moveTo>
                        <a:pt x="1072858" y="214313"/>
                      </a:moveTo>
                      <a:lnTo>
                        <a:pt x="974627" y="214313"/>
                      </a:lnTo>
                      <a:lnTo>
                        <a:pt x="974627" y="116081"/>
                      </a:lnTo>
                      <a:lnTo>
                        <a:pt x="1072858" y="116081"/>
                      </a:lnTo>
                      <a:lnTo>
                        <a:pt x="1072858" y="214313"/>
                      </a:lnTo>
                      <a:close/>
                      <a:moveTo>
                        <a:pt x="965702" y="214313"/>
                      </a:moveTo>
                      <a:lnTo>
                        <a:pt x="867470" y="214313"/>
                      </a:lnTo>
                      <a:lnTo>
                        <a:pt x="867470" y="116081"/>
                      </a:lnTo>
                      <a:lnTo>
                        <a:pt x="965702" y="116081"/>
                      </a:lnTo>
                      <a:lnTo>
                        <a:pt x="965702" y="214313"/>
                      </a:lnTo>
                      <a:close/>
                      <a:moveTo>
                        <a:pt x="858546" y="214313"/>
                      </a:moveTo>
                      <a:lnTo>
                        <a:pt x="760314" y="214313"/>
                      </a:lnTo>
                      <a:lnTo>
                        <a:pt x="760314" y="116081"/>
                      </a:lnTo>
                      <a:lnTo>
                        <a:pt x="858546" y="116081"/>
                      </a:lnTo>
                      <a:lnTo>
                        <a:pt x="858546" y="214313"/>
                      </a:lnTo>
                      <a:close/>
                      <a:moveTo>
                        <a:pt x="751389" y="214313"/>
                      </a:moveTo>
                      <a:lnTo>
                        <a:pt x="653158" y="214313"/>
                      </a:lnTo>
                      <a:lnTo>
                        <a:pt x="653158" y="116081"/>
                      </a:lnTo>
                      <a:lnTo>
                        <a:pt x="751389" y="116081"/>
                      </a:lnTo>
                      <a:lnTo>
                        <a:pt x="751389" y="214313"/>
                      </a:lnTo>
                      <a:close/>
                      <a:moveTo>
                        <a:pt x="644233" y="214313"/>
                      </a:moveTo>
                      <a:lnTo>
                        <a:pt x="546002" y="214313"/>
                      </a:lnTo>
                      <a:lnTo>
                        <a:pt x="546002" y="116081"/>
                      </a:lnTo>
                      <a:lnTo>
                        <a:pt x="644233" y="116081"/>
                      </a:lnTo>
                      <a:lnTo>
                        <a:pt x="644233" y="214313"/>
                      </a:lnTo>
                      <a:close/>
                      <a:moveTo>
                        <a:pt x="537077" y="214313"/>
                      </a:moveTo>
                      <a:lnTo>
                        <a:pt x="438845" y="214313"/>
                      </a:lnTo>
                      <a:lnTo>
                        <a:pt x="438845" y="116081"/>
                      </a:lnTo>
                      <a:lnTo>
                        <a:pt x="537077" y="116081"/>
                      </a:lnTo>
                      <a:lnTo>
                        <a:pt x="537077" y="214313"/>
                      </a:lnTo>
                      <a:close/>
                      <a:moveTo>
                        <a:pt x="429920" y="214313"/>
                      </a:moveTo>
                      <a:lnTo>
                        <a:pt x="331689" y="214313"/>
                      </a:lnTo>
                      <a:lnTo>
                        <a:pt x="331689" y="116081"/>
                      </a:lnTo>
                      <a:lnTo>
                        <a:pt x="429920" y="116081"/>
                      </a:lnTo>
                      <a:lnTo>
                        <a:pt x="429920" y="214313"/>
                      </a:lnTo>
                      <a:close/>
                      <a:moveTo>
                        <a:pt x="322764" y="214313"/>
                      </a:moveTo>
                      <a:lnTo>
                        <a:pt x="224533" y="214313"/>
                      </a:lnTo>
                      <a:lnTo>
                        <a:pt x="224533" y="116081"/>
                      </a:lnTo>
                      <a:lnTo>
                        <a:pt x="322764" y="116081"/>
                      </a:lnTo>
                      <a:lnTo>
                        <a:pt x="322764" y="214313"/>
                      </a:lnTo>
                      <a:close/>
                      <a:moveTo>
                        <a:pt x="322764" y="223237"/>
                      </a:moveTo>
                      <a:lnTo>
                        <a:pt x="322764" y="321469"/>
                      </a:lnTo>
                      <a:lnTo>
                        <a:pt x="224533" y="321469"/>
                      </a:lnTo>
                      <a:lnTo>
                        <a:pt x="224533" y="223237"/>
                      </a:lnTo>
                      <a:lnTo>
                        <a:pt x="322764" y="223237"/>
                      </a:lnTo>
                      <a:close/>
                      <a:moveTo>
                        <a:pt x="215608" y="321469"/>
                      </a:moveTo>
                      <a:lnTo>
                        <a:pt x="117377" y="321469"/>
                      </a:lnTo>
                      <a:lnTo>
                        <a:pt x="117377" y="223237"/>
                      </a:lnTo>
                      <a:lnTo>
                        <a:pt x="215608" y="223237"/>
                      </a:lnTo>
                      <a:lnTo>
                        <a:pt x="215608" y="321469"/>
                      </a:lnTo>
                      <a:close/>
                      <a:moveTo>
                        <a:pt x="215608" y="330394"/>
                      </a:moveTo>
                      <a:lnTo>
                        <a:pt x="215608" y="428625"/>
                      </a:lnTo>
                      <a:lnTo>
                        <a:pt x="117377" y="428625"/>
                      </a:lnTo>
                      <a:lnTo>
                        <a:pt x="117377" y="330394"/>
                      </a:lnTo>
                      <a:lnTo>
                        <a:pt x="215608" y="330394"/>
                      </a:lnTo>
                      <a:close/>
                      <a:moveTo>
                        <a:pt x="215608" y="437550"/>
                      </a:moveTo>
                      <a:lnTo>
                        <a:pt x="215608" y="535781"/>
                      </a:lnTo>
                      <a:lnTo>
                        <a:pt x="117377" y="535781"/>
                      </a:lnTo>
                      <a:lnTo>
                        <a:pt x="117377" y="437550"/>
                      </a:lnTo>
                      <a:lnTo>
                        <a:pt x="215608" y="437550"/>
                      </a:lnTo>
                      <a:close/>
                      <a:moveTo>
                        <a:pt x="215608" y="544706"/>
                      </a:moveTo>
                      <a:lnTo>
                        <a:pt x="215608" y="642938"/>
                      </a:lnTo>
                      <a:lnTo>
                        <a:pt x="117377" y="642938"/>
                      </a:lnTo>
                      <a:lnTo>
                        <a:pt x="117377" y="544706"/>
                      </a:lnTo>
                      <a:lnTo>
                        <a:pt x="215608" y="544706"/>
                      </a:lnTo>
                      <a:close/>
                      <a:moveTo>
                        <a:pt x="215608" y="651862"/>
                      </a:moveTo>
                      <a:lnTo>
                        <a:pt x="215608" y="750094"/>
                      </a:lnTo>
                      <a:lnTo>
                        <a:pt x="117377" y="750094"/>
                      </a:lnTo>
                      <a:lnTo>
                        <a:pt x="117377" y="651862"/>
                      </a:lnTo>
                      <a:lnTo>
                        <a:pt x="215608" y="651862"/>
                      </a:lnTo>
                      <a:close/>
                      <a:moveTo>
                        <a:pt x="215608" y="759019"/>
                      </a:moveTo>
                      <a:lnTo>
                        <a:pt x="215608" y="857250"/>
                      </a:lnTo>
                      <a:lnTo>
                        <a:pt x="117377" y="857250"/>
                      </a:lnTo>
                      <a:lnTo>
                        <a:pt x="117377" y="759019"/>
                      </a:lnTo>
                      <a:lnTo>
                        <a:pt x="215608" y="759019"/>
                      </a:lnTo>
                      <a:close/>
                      <a:moveTo>
                        <a:pt x="215608" y="866175"/>
                      </a:moveTo>
                      <a:lnTo>
                        <a:pt x="215608" y="964406"/>
                      </a:lnTo>
                      <a:lnTo>
                        <a:pt x="117377" y="964406"/>
                      </a:lnTo>
                      <a:lnTo>
                        <a:pt x="117377" y="866175"/>
                      </a:lnTo>
                      <a:lnTo>
                        <a:pt x="215608" y="866175"/>
                      </a:lnTo>
                      <a:close/>
                      <a:moveTo>
                        <a:pt x="215608" y="973331"/>
                      </a:moveTo>
                      <a:lnTo>
                        <a:pt x="215608" y="1071562"/>
                      </a:lnTo>
                      <a:lnTo>
                        <a:pt x="117377" y="1071562"/>
                      </a:lnTo>
                      <a:lnTo>
                        <a:pt x="117377" y="973331"/>
                      </a:lnTo>
                      <a:lnTo>
                        <a:pt x="215608" y="973331"/>
                      </a:lnTo>
                      <a:close/>
                      <a:moveTo>
                        <a:pt x="215608" y="1080487"/>
                      </a:moveTo>
                      <a:lnTo>
                        <a:pt x="215608" y="1178719"/>
                      </a:lnTo>
                      <a:lnTo>
                        <a:pt x="117377" y="1178719"/>
                      </a:lnTo>
                      <a:lnTo>
                        <a:pt x="117377" y="1080487"/>
                      </a:lnTo>
                      <a:lnTo>
                        <a:pt x="215608" y="1080487"/>
                      </a:lnTo>
                      <a:close/>
                      <a:moveTo>
                        <a:pt x="215608" y="1187644"/>
                      </a:moveTo>
                      <a:lnTo>
                        <a:pt x="215608" y="1285875"/>
                      </a:lnTo>
                      <a:lnTo>
                        <a:pt x="117377" y="1285875"/>
                      </a:lnTo>
                      <a:lnTo>
                        <a:pt x="117377" y="1187644"/>
                      </a:lnTo>
                      <a:lnTo>
                        <a:pt x="215608" y="1187644"/>
                      </a:lnTo>
                      <a:close/>
                      <a:moveTo>
                        <a:pt x="215608" y="1294800"/>
                      </a:moveTo>
                      <a:lnTo>
                        <a:pt x="215608" y="1393031"/>
                      </a:lnTo>
                      <a:lnTo>
                        <a:pt x="117377" y="1393031"/>
                      </a:lnTo>
                      <a:lnTo>
                        <a:pt x="117377" y="1294800"/>
                      </a:lnTo>
                      <a:lnTo>
                        <a:pt x="215608" y="1294800"/>
                      </a:lnTo>
                      <a:close/>
                      <a:moveTo>
                        <a:pt x="215608" y="1401956"/>
                      </a:moveTo>
                      <a:lnTo>
                        <a:pt x="215608" y="1500187"/>
                      </a:lnTo>
                      <a:lnTo>
                        <a:pt x="117377" y="1500187"/>
                      </a:lnTo>
                      <a:lnTo>
                        <a:pt x="117377" y="1401956"/>
                      </a:lnTo>
                      <a:lnTo>
                        <a:pt x="215608" y="1401956"/>
                      </a:lnTo>
                      <a:close/>
                      <a:moveTo>
                        <a:pt x="215608" y="1509112"/>
                      </a:moveTo>
                      <a:lnTo>
                        <a:pt x="215608" y="1607344"/>
                      </a:lnTo>
                      <a:lnTo>
                        <a:pt x="117377" y="1607344"/>
                      </a:lnTo>
                      <a:lnTo>
                        <a:pt x="117377" y="1509112"/>
                      </a:lnTo>
                      <a:lnTo>
                        <a:pt x="215608" y="1509112"/>
                      </a:lnTo>
                      <a:close/>
                      <a:moveTo>
                        <a:pt x="215608" y="1616269"/>
                      </a:moveTo>
                      <a:lnTo>
                        <a:pt x="215608" y="1714500"/>
                      </a:lnTo>
                      <a:lnTo>
                        <a:pt x="117377" y="1714500"/>
                      </a:lnTo>
                      <a:lnTo>
                        <a:pt x="117377" y="1616269"/>
                      </a:lnTo>
                      <a:lnTo>
                        <a:pt x="215608" y="1616269"/>
                      </a:lnTo>
                      <a:close/>
                      <a:moveTo>
                        <a:pt x="215608" y="1723425"/>
                      </a:moveTo>
                      <a:lnTo>
                        <a:pt x="215608" y="1821656"/>
                      </a:lnTo>
                      <a:lnTo>
                        <a:pt x="117377" y="1821656"/>
                      </a:lnTo>
                      <a:lnTo>
                        <a:pt x="117377" y="1723425"/>
                      </a:lnTo>
                      <a:lnTo>
                        <a:pt x="215608" y="1723425"/>
                      </a:lnTo>
                      <a:close/>
                      <a:moveTo>
                        <a:pt x="215608" y="1830581"/>
                      </a:moveTo>
                      <a:lnTo>
                        <a:pt x="215608" y="1928812"/>
                      </a:lnTo>
                      <a:lnTo>
                        <a:pt x="117377" y="1928812"/>
                      </a:lnTo>
                      <a:lnTo>
                        <a:pt x="117377" y="1830581"/>
                      </a:lnTo>
                      <a:lnTo>
                        <a:pt x="215608" y="1830581"/>
                      </a:lnTo>
                      <a:close/>
                      <a:moveTo>
                        <a:pt x="215608" y="1937737"/>
                      </a:moveTo>
                      <a:lnTo>
                        <a:pt x="215608" y="2035969"/>
                      </a:lnTo>
                      <a:lnTo>
                        <a:pt x="117377" y="2035969"/>
                      </a:lnTo>
                      <a:lnTo>
                        <a:pt x="117377" y="1937737"/>
                      </a:lnTo>
                      <a:lnTo>
                        <a:pt x="215608" y="1937737"/>
                      </a:lnTo>
                      <a:close/>
                      <a:moveTo>
                        <a:pt x="215608" y="2044894"/>
                      </a:moveTo>
                      <a:lnTo>
                        <a:pt x="215608" y="2143125"/>
                      </a:lnTo>
                      <a:lnTo>
                        <a:pt x="117377" y="2143125"/>
                      </a:lnTo>
                      <a:lnTo>
                        <a:pt x="117377" y="2044894"/>
                      </a:lnTo>
                      <a:lnTo>
                        <a:pt x="215608" y="2044894"/>
                      </a:lnTo>
                      <a:close/>
                      <a:moveTo>
                        <a:pt x="224542" y="2044894"/>
                      </a:moveTo>
                      <a:lnTo>
                        <a:pt x="322774" y="2044894"/>
                      </a:lnTo>
                      <a:lnTo>
                        <a:pt x="322774" y="2143125"/>
                      </a:lnTo>
                      <a:lnTo>
                        <a:pt x="224542" y="2143125"/>
                      </a:lnTo>
                      <a:lnTo>
                        <a:pt x="224542" y="2044894"/>
                      </a:lnTo>
                      <a:close/>
                      <a:moveTo>
                        <a:pt x="322764" y="2152050"/>
                      </a:moveTo>
                      <a:lnTo>
                        <a:pt x="322764" y="2250281"/>
                      </a:lnTo>
                      <a:lnTo>
                        <a:pt x="224533" y="2250281"/>
                      </a:lnTo>
                      <a:lnTo>
                        <a:pt x="224533" y="2152050"/>
                      </a:lnTo>
                      <a:lnTo>
                        <a:pt x="322764" y="2152050"/>
                      </a:lnTo>
                      <a:close/>
                      <a:moveTo>
                        <a:pt x="331699" y="2152050"/>
                      </a:moveTo>
                      <a:lnTo>
                        <a:pt x="429930" y="2152050"/>
                      </a:lnTo>
                      <a:lnTo>
                        <a:pt x="429930" y="2250281"/>
                      </a:lnTo>
                      <a:lnTo>
                        <a:pt x="331699" y="2250281"/>
                      </a:lnTo>
                      <a:lnTo>
                        <a:pt x="331699" y="2152050"/>
                      </a:lnTo>
                      <a:close/>
                      <a:moveTo>
                        <a:pt x="438855" y="2152050"/>
                      </a:moveTo>
                      <a:lnTo>
                        <a:pt x="537086" y="2152050"/>
                      </a:lnTo>
                      <a:lnTo>
                        <a:pt x="537086" y="2250281"/>
                      </a:lnTo>
                      <a:lnTo>
                        <a:pt x="438855" y="2250281"/>
                      </a:lnTo>
                      <a:lnTo>
                        <a:pt x="438855" y="2152050"/>
                      </a:lnTo>
                      <a:close/>
                      <a:moveTo>
                        <a:pt x="546011" y="2152050"/>
                      </a:moveTo>
                      <a:lnTo>
                        <a:pt x="644243" y="2152050"/>
                      </a:lnTo>
                      <a:lnTo>
                        <a:pt x="644243" y="2250281"/>
                      </a:lnTo>
                      <a:lnTo>
                        <a:pt x="546011" y="2250281"/>
                      </a:lnTo>
                      <a:lnTo>
                        <a:pt x="546011" y="2152050"/>
                      </a:lnTo>
                      <a:close/>
                      <a:moveTo>
                        <a:pt x="653167" y="2152050"/>
                      </a:moveTo>
                      <a:lnTo>
                        <a:pt x="751399" y="2152050"/>
                      </a:lnTo>
                      <a:lnTo>
                        <a:pt x="751399" y="2250281"/>
                      </a:lnTo>
                      <a:lnTo>
                        <a:pt x="653167" y="2250281"/>
                      </a:lnTo>
                      <a:lnTo>
                        <a:pt x="653167" y="2152050"/>
                      </a:lnTo>
                      <a:close/>
                      <a:moveTo>
                        <a:pt x="760324" y="2152050"/>
                      </a:moveTo>
                      <a:lnTo>
                        <a:pt x="858555" y="2152050"/>
                      </a:lnTo>
                      <a:lnTo>
                        <a:pt x="858555" y="2250281"/>
                      </a:lnTo>
                      <a:lnTo>
                        <a:pt x="760324" y="2250281"/>
                      </a:lnTo>
                      <a:lnTo>
                        <a:pt x="760324" y="2152050"/>
                      </a:lnTo>
                      <a:close/>
                      <a:moveTo>
                        <a:pt x="867480" y="2152050"/>
                      </a:moveTo>
                      <a:lnTo>
                        <a:pt x="965711" y="2152050"/>
                      </a:lnTo>
                      <a:lnTo>
                        <a:pt x="965711" y="2250281"/>
                      </a:lnTo>
                      <a:lnTo>
                        <a:pt x="867480" y="2250281"/>
                      </a:lnTo>
                      <a:lnTo>
                        <a:pt x="867480" y="2152050"/>
                      </a:lnTo>
                      <a:close/>
                      <a:moveTo>
                        <a:pt x="974636" y="2152050"/>
                      </a:moveTo>
                      <a:lnTo>
                        <a:pt x="1072867" y="2152050"/>
                      </a:lnTo>
                      <a:lnTo>
                        <a:pt x="1072867" y="2250281"/>
                      </a:lnTo>
                      <a:lnTo>
                        <a:pt x="974636" y="2250281"/>
                      </a:lnTo>
                      <a:lnTo>
                        <a:pt x="974636" y="2152050"/>
                      </a:lnTo>
                      <a:close/>
                      <a:moveTo>
                        <a:pt x="1081792" y="2152050"/>
                      </a:moveTo>
                      <a:lnTo>
                        <a:pt x="1180024" y="2152050"/>
                      </a:lnTo>
                      <a:lnTo>
                        <a:pt x="1180024" y="2250281"/>
                      </a:lnTo>
                      <a:lnTo>
                        <a:pt x="1081792" y="2250281"/>
                      </a:lnTo>
                      <a:lnTo>
                        <a:pt x="1081792" y="2152050"/>
                      </a:lnTo>
                      <a:close/>
                      <a:moveTo>
                        <a:pt x="1188949" y="2152050"/>
                      </a:moveTo>
                      <a:lnTo>
                        <a:pt x="1287180" y="2152050"/>
                      </a:lnTo>
                      <a:lnTo>
                        <a:pt x="1287180" y="2250281"/>
                      </a:lnTo>
                      <a:lnTo>
                        <a:pt x="1188949" y="2250281"/>
                      </a:lnTo>
                      <a:lnTo>
                        <a:pt x="1188949" y="2152050"/>
                      </a:lnTo>
                      <a:close/>
                      <a:moveTo>
                        <a:pt x="1296105" y="2152050"/>
                      </a:moveTo>
                      <a:lnTo>
                        <a:pt x="1394336" y="2152050"/>
                      </a:lnTo>
                      <a:lnTo>
                        <a:pt x="1394336" y="2250281"/>
                      </a:lnTo>
                      <a:lnTo>
                        <a:pt x="1296105" y="2250281"/>
                      </a:lnTo>
                      <a:lnTo>
                        <a:pt x="1296105" y="2152050"/>
                      </a:lnTo>
                      <a:close/>
                      <a:moveTo>
                        <a:pt x="1403261" y="2152050"/>
                      </a:moveTo>
                      <a:lnTo>
                        <a:pt x="1501492" y="2152050"/>
                      </a:lnTo>
                      <a:lnTo>
                        <a:pt x="1501492" y="2250281"/>
                      </a:lnTo>
                      <a:lnTo>
                        <a:pt x="1403261" y="2250281"/>
                      </a:lnTo>
                      <a:lnTo>
                        <a:pt x="1403261" y="2152050"/>
                      </a:lnTo>
                      <a:close/>
                      <a:moveTo>
                        <a:pt x="1510417" y="2152050"/>
                      </a:moveTo>
                      <a:lnTo>
                        <a:pt x="1608649" y="2152050"/>
                      </a:lnTo>
                      <a:lnTo>
                        <a:pt x="1608649" y="2250281"/>
                      </a:lnTo>
                      <a:lnTo>
                        <a:pt x="1510417" y="2250281"/>
                      </a:lnTo>
                      <a:lnTo>
                        <a:pt x="1510417" y="2152050"/>
                      </a:lnTo>
                      <a:close/>
                      <a:moveTo>
                        <a:pt x="1510417" y="2143125"/>
                      </a:moveTo>
                      <a:lnTo>
                        <a:pt x="1510417" y="2044894"/>
                      </a:lnTo>
                      <a:lnTo>
                        <a:pt x="1608649" y="2044894"/>
                      </a:lnTo>
                      <a:lnTo>
                        <a:pt x="1608649" y="2143125"/>
                      </a:lnTo>
                      <a:lnTo>
                        <a:pt x="1510417" y="2143125"/>
                      </a:lnTo>
                      <a:close/>
                      <a:moveTo>
                        <a:pt x="1617574" y="2044894"/>
                      </a:moveTo>
                      <a:lnTo>
                        <a:pt x="1715805" y="2044894"/>
                      </a:lnTo>
                      <a:lnTo>
                        <a:pt x="1715805" y="2143125"/>
                      </a:lnTo>
                      <a:lnTo>
                        <a:pt x="1617574" y="2143125"/>
                      </a:lnTo>
                      <a:lnTo>
                        <a:pt x="1617574" y="2044894"/>
                      </a:lnTo>
                      <a:close/>
                      <a:moveTo>
                        <a:pt x="1617574" y="2035969"/>
                      </a:moveTo>
                      <a:lnTo>
                        <a:pt x="1617574" y="1937737"/>
                      </a:lnTo>
                      <a:lnTo>
                        <a:pt x="1715805" y="1937737"/>
                      </a:lnTo>
                      <a:lnTo>
                        <a:pt x="1715805" y="2035969"/>
                      </a:lnTo>
                      <a:lnTo>
                        <a:pt x="1617574" y="2035969"/>
                      </a:lnTo>
                      <a:close/>
                      <a:moveTo>
                        <a:pt x="1617574" y="1928812"/>
                      </a:moveTo>
                      <a:lnTo>
                        <a:pt x="1617574" y="1830581"/>
                      </a:lnTo>
                      <a:lnTo>
                        <a:pt x="1715805" y="1830581"/>
                      </a:lnTo>
                      <a:lnTo>
                        <a:pt x="1715805" y="1928812"/>
                      </a:lnTo>
                      <a:lnTo>
                        <a:pt x="1617574" y="1928812"/>
                      </a:lnTo>
                      <a:close/>
                      <a:moveTo>
                        <a:pt x="1617574" y="1821656"/>
                      </a:moveTo>
                      <a:lnTo>
                        <a:pt x="1617574" y="1723425"/>
                      </a:lnTo>
                      <a:lnTo>
                        <a:pt x="1715805" y="1723425"/>
                      </a:lnTo>
                      <a:lnTo>
                        <a:pt x="1715805" y="1821656"/>
                      </a:lnTo>
                      <a:lnTo>
                        <a:pt x="1617574" y="1821656"/>
                      </a:lnTo>
                      <a:close/>
                      <a:moveTo>
                        <a:pt x="1617574" y="1714500"/>
                      </a:moveTo>
                      <a:lnTo>
                        <a:pt x="1617574" y="1616269"/>
                      </a:lnTo>
                      <a:lnTo>
                        <a:pt x="1715805" y="1616269"/>
                      </a:lnTo>
                      <a:lnTo>
                        <a:pt x="1715805" y="1714500"/>
                      </a:lnTo>
                      <a:lnTo>
                        <a:pt x="1617574" y="1714500"/>
                      </a:lnTo>
                      <a:close/>
                      <a:moveTo>
                        <a:pt x="1617574" y="1607344"/>
                      </a:moveTo>
                      <a:lnTo>
                        <a:pt x="1617574" y="1509112"/>
                      </a:lnTo>
                      <a:lnTo>
                        <a:pt x="1715805" y="1509112"/>
                      </a:lnTo>
                      <a:lnTo>
                        <a:pt x="1715805" y="1607344"/>
                      </a:lnTo>
                      <a:lnTo>
                        <a:pt x="1617574" y="1607344"/>
                      </a:lnTo>
                      <a:close/>
                      <a:moveTo>
                        <a:pt x="1617574" y="1500187"/>
                      </a:moveTo>
                      <a:lnTo>
                        <a:pt x="1617574" y="1401956"/>
                      </a:lnTo>
                      <a:lnTo>
                        <a:pt x="1715805" y="1401956"/>
                      </a:lnTo>
                      <a:lnTo>
                        <a:pt x="1715805" y="1500187"/>
                      </a:lnTo>
                      <a:lnTo>
                        <a:pt x="1617574" y="1500187"/>
                      </a:lnTo>
                      <a:close/>
                      <a:moveTo>
                        <a:pt x="1617574" y="1393031"/>
                      </a:moveTo>
                      <a:lnTo>
                        <a:pt x="1617574" y="1294800"/>
                      </a:lnTo>
                      <a:lnTo>
                        <a:pt x="1715805" y="1294800"/>
                      </a:lnTo>
                      <a:lnTo>
                        <a:pt x="1715805" y="1393031"/>
                      </a:lnTo>
                      <a:lnTo>
                        <a:pt x="1617574" y="1393031"/>
                      </a:lnTo>
                      <a:close/>
                      <a:moveTo>
                        <a:pt x="1617574" y="1285875"/>
                      </a:moveTo>
                      <a:lnTo>
                        <a:pt x="1617574" y="1187644"/>
                      </a:lnTo>
                      <a:lnTo>
                        <a:pt x="1715805" y="1187644"/>
                      </a:lnTo>
                      <a:lnTo>
                        <a:pt x="1715805" y="1285875"/>
                      </a:lnTo>
                      <a:lnTo>
                        <a:pt x="1617574" y="1285875"/>
                      </a:lnTo>
                      <a:close/>
                      <a:moveTo>
                        <a:pt x="1617574" y="1178719"/>
                      </a:moveTo>
                      <a:lnTo>
                        <a:pt x="1617574" y="1080487"/>
                      </a:lnTo>
                      <a:lnTo>
                        <a:pt x="1715805" y="1080487"/>
                      </a:lnTo>
                      <a:lnTo>
                        <a:pt x="1715805" y="1178719"/>
                      </a:lnTo>
                      <a:lnTo>
                        <a:pt x="1617574" y="1178719"/>
                      </a:lnTo>
                      <a:close/>
                      <a:moveTo>
                        <a:pt x="1617574" y="1071562"/>
                      </a:moveTo>
                      <a:lnTo>
                        <a:pt x="1617574" y="973331"/>
                      </a:lnTo>
                      <a:lnTo>
                        <a:pt x="1715805" y="973331"/>
                      </a:lnTo>
                      <a:lnTo>
                        <a:pt x="1715805" y="1071562"/>
                      </a:lnTo>
                      <a:lnTo>
                        <a:pt x="1617574" y="1071562"/>
                      </a:lnTo>
                      <a:close/>
                      <a:moveTo>
                        <a:pt x="1617574" y="964406"/>
                      </a:moveTo>
                      <a:lnTo>
                        <a:pt x="1617574" y="866175"/>
                      </a:lnTo>
                      <a:lnTo>
                        <a:pt x="1715805" y="866175"/>
                      </a:lnTo>
                      <a:lnTo>
                        <a:pt x="1715805" y="964406"/>
                      </a:lnTo>
                      <a:lnTo>
                        <a:pt x="1617574" y="964406"/>
                      </a:lnTo>
                      <a:close/>
                      <a:moveTo>
                        <a:pt x="1617574" y="857250"/>
                      </a:moveTo>
                      <a:lnTo>
                        <a:pt x="1617574" y="759019"/>
                      </a:lnTo>
                      <a:lnTo>
                        <a:pt x="1715805" y="759019"/>
                      </a:lnTo>
                      <a:lnTo>
                        <a:pt x="1715805" y="857250"/>
                      </a:lnTo>
                      <a:lnTo>
                        <a:pt x="1617574" y="857250"/>
                      </a:lnTo>
                      <a:close/>
                      <a:moveTo>
                        <a:pt x="1617574" y="750094"/>
                      </a:moveTo>
                      <a:lnTo>
                        <a:pt x="1617574" y="651862"/>
                      </a:lnTo>
                      <a:lnTo>
                        <a:pt x="1715805" y="651862"/>
                      </a:lnTo>
                      <a:lnTo>
                        <a:pt x="1715805" y="750094"/>
                      </a:lnTo>
                      <a:lnTo>
                        <a:pt x="1617574" y="750094"/>
                      </a:lnTo>
                      <a:close/>
                      <a:moveTo>
                        <a:pt x="1617574" y="642938"/>
                      </a:moveTo>
                      <a:lnTo>
                        <a:pt x="1617574" y="544706"/>
                      </a:lnTo>
                      <a:lnTo>
                        <a:pt x="1715805" y="544706"/>
                      </a:lnTo>
                      <a:lnTo>
                        <a:pt x="1715805" y="642938"/>
                      </a:lnTo>
                      <a:lnTo>
                        <a:pt x="1617574" y="642938"/>
                      </a:lnTo>
                      <a:close/>
                      <a:moveTo>
                        <a:pt x="1617574" y="535781"/>
                      </a:moveTo>
                      <a:lnTo>
                        <a:pt x="1617574" y="437550"/>
                      </a:lnTo>
                      <a:lnTo>
                        <a:pt x="1715805" y="437550"/>
                      </a:lnTo>
                      <a:lnTo>
                        <a:pt x="1715805" y="535781"/>
                      </a:lnTo>
                      <a:lnTo>
                        <a:pt x="1617574" y="535781"/>
                      </a:lnTo>
                      <a:close/>
                      <a:moveTo>
                        <a:pt x="1617574" y="428625"/>
                      </a:moveTo>
                      <a:lnTo>
                        <a:pt x="1617574" y="330394"/>
                      </a:lnTo>
                      <a:lnTo>
                        <a:pt x="1715805" y="330394"/>
                      </a:lnTo>
                      <a:lnTo>
                        <a:pt x="1715805" y="428625"/>
                      </a:lnTo>
                      <a:lnTo>
                        <a:pt x="1617574" y="428625"/>
                      </a:lnTo>
                      <a:close/>
                      <a:moveTo>
                        <a:pt x="1617574" y="321469"/>
                      </a:moveTo>
                      <a:lnTo>
                        <a:pt x="1617574" y="223237"/>
                      </a:lnTo>
                      <a:lnTo>
                        <a:pt x="1715805" y="223237"/>
                      </a:lnTo>
                      <a:lnTo>
                        <a:pt x="1715805" y="321469"/>
                      </a:lnTo>
                      <a:lnTo>
                        <a:pt x="1617574" y="321469"/>
                      </a:lnTo>
                      <a:close/>
                      <a:moveTo>
                        <a:pt x="1617574" y="214313"/>
                      </a:moveTo>
                      <a:lnTo>
                        <a:pt x="1617574" y="116081"/>
                      </a:lnTo>
                      <a:lnTo>
                        <a:pt x="1715805" y="116081"/>
                      </a:lnTo>
                      <a:lnTo>
                        <a:pt x="1715805" y="214313"/>
                      </a:lnTo>
                      <a:lnTo>
                        <a:pt x="1617574" y="214313"/>
                      </a:lnTo>
                      <a:close/>
                      <a:moveTo>
                        <a:pt x="1617574" y="107156"/>
                      </a:moveTo>
                      <a:lnTo>
                        <a:pt x="1617574" y="8925"/>
                      </a:lnTo>
                      <a:lnTo>
                        <a:pt x="1715805" y="8925"/>
                      </a:lnTo>
                      <a:lnTo>
                        <a:pt x="1715805" y="107156"/>
                      </a:lnTo>
                      <a:lnTo>
                        <a:pt x="1617574" y="107156"/>
                      </a:lnTo>
                      <a:close/>
                      <a:moveTo>
                        <a:pt x="1608639" y="107156"/>
                      </a:moveTo>
                      <a:lnTo>
                        <a:pt x="1510408" y="107156"/>
                      </a:lnTo>
                      <a:lnTo>
                        <a:pt x="1510408" y="8925"/>
                      </a:lnTo>
                      <a:lnTo>
                        <a:pt x="1608639" y="8925"/>
                      </a:lnTo>
                      <a:lnTo>
                        <a:pt x="1608639" y="107156"/>
                      </a:lnTo>
                      <a:close/>
                      <a:moveTo>
                        <a:pt x="1501483" y="107156"/>
                      </a:moveTo>
                      <a:lnTo>
                        <a:pt x="1403252" y="107156"/>
                      </a:lnTo>
                      <a:lnTo>
                        <a:pt x="1403252" y="8925"/>
                      </a:lnTo>
                      <a:lnTo>
                        <a:pt x="1501483" y="8925"/>
                      </a:lnTo>
                      <a:lnTo>
                        <a:pt x="1501483" y="107156"/>
                      </a:lnTo>
                      <a:close/>
                      <a:moveTo>
                        <a:pt x="1394327" y="107156"/>
                      </a:moveTo>
                      <a:lnTo>
                        <a:pt x="1296095" y="107156"/>
                      </a:lnTo>
                      <a:lnTo>
                        <a:pt x="1296095" y="8925"/>
                      </a:lnTo>
                      <a:lnTo>
                        <a:pt x="1394327" y="8925"/>
                      </a:lnTo>
                      <a:lnTo>
                        <a:pt x="1394327" y="107156"/>
                      </a:lnTo>
                      <a:close/>
                      <a:moveTo>
                        <a:pt x="1287171" y="107156"/>
                      </a:moveTo>
                      <a:lnTo>
                        <a:pt x="1188939" y="107156"/>
                      </a:lnTo>
                      <a:lnTo>
                        <a:pt x="1188939" y="8925"/>
                      </a:lnTo>
                      <a:lnTo>
                        <a:pt x="1287171" y="8925"/>
                      </a:lnTo>
                      <a:lnTo>
                        <a:pt x="1287171" y="107156"/>
                      </a:lnTo>
                      <a:close/>
                      <a:moveTo>
                        <a:pt x="1180014" y="107156"/>
                      </a:moveTo>
                      <a:lnTo>
                        <a:pt x="1081783" y="107156"/>
                      </a:lnTo>
                      <a:lnTo>
                        <a:pt x="1081783" y="8925"/>
                      </a:lnTo>
                      <a:lnTo>
                        <a:pt x="1180014" y="8925"/>
                      </a:lnTo>
                      <a:lnTo>
                        <a:pt x="1180014" y="107156"/>
                      </a:lnTo>
                      <a:close/>
                      <a:moveTo>
                        <a:pt x="1072858" y="107156"/>
                      </a:moveTo>
                      <a:lnTo>
                        <a:pt x="974627" y="107156"/>
                      </a:lnTo>
                      <a:lnTo>
                        <a:pt x="974627" y="8925"/>
                      </a:lnTo>
                      <a:lnTo>
                        <a:pt x="1072858" y="8925"/>
                      </a:lnTo>
                      <a:lnTo>
                        <a:pt x="1072858" y="107156"/>
                      </a:lnTo>
                      <a:close/>
                      <a:moveTo>
                        <a:pt x="965702" y="107156"/>
                      </a:moveTo>
                      <a:lnTo>
                        <a:pt x="867470" y="107156"/>
                      </a:lnTo>
                      <a:lnTo>
                        <a:pt x="867470" y="8925"/>
                      </a:lnTo>
                      <a:lnTo>
                        <a:pt x="965702" y="8925"/>
                      </a:lnTo>
                      <a:lnTo>
                        <a:pt x="965702" y="107156"/>
                      </a:lnTo>
                      <a:close/>
                      <a:moveTo>
                        <a:pt x="858546" y="107156"/>
                      </a:moveTo>
                      <a:lnTo>
                        <a:pt x="760314" y="107156"/>
                      </a:lnTo>
                      <a:lnTo>
                        <a:pt x="760314" y="8925"/>
                      </a:lnTo>
                      <a:lnTo>
                        <a:pt x="858546" y="8925"/>
                      </a:lnTo>
                      <a:lnTo>
                        <a:pt x="858546" y="107156"/>
                      </a:lnTo>
                      <a:close/>
                      <a:moveTo>
                        <a:pt x="751389" y="107156"/>
                      </a:moveTo>
                      <a:lnTo>
                        <a:pt x="653158" y="107156"/>
                      </a:lnTo>
                      <a:lnTo>
                        <a:pt x="653158" y="8925"/>
                      </a:lnTo>
                      <a:lnTo>
                        <a:pt x="751389" y="8925"/>
                      </a:lnTo>
                      <a:lnTo>
                        <a:pt x="751389" y="107156"/>
                      </a:lnTo>
                      <a:close/>
                      <a:moveTo>
                        <a:pt x="644233" y="107156"/>
                      </a:moveTo>
                      <a:lnTo>
                        <a:pt x="546002" y="107156"/>
                      </a:lnTo>
                      <a:lnTo>
                        <a:pt x="546002" y="8925"/>
                      </a:lnTo>
                      <a:lnTo>
                        <a:pt x="644233" y="8925"/>
                      </a:lnTo>
                      <a:lnTo>
                        <a:pt x="644233" y="107156"/>
                      </a:lnTo>
                      <a:close/>
                      <a:moveTo>
                        <a:pt x="537077" y="107156"/>
                      </a:moveTo>
                      <a:lnTo>
                        <a:pt x="438845" y="107156"/>
                      </a:lnTo>
                      <a:lnTo>
                        <a:pt x="438845" y="8925"/>
                      </a:lnTo>
                      <a:lnTo>
                        <a:pt x="537077" y="8925"/>
                      </a:lnTo>
                      <a:lnTo>
                        <a:pt x="537077" y="107156"/>
                      </a:lnTo>
                      <a:close/>
                      <a:moveTo>
                        <a:pt x="429920" y="107156"/>
                      </a:moveTo>
                      <a:lnTo>
                        <a:pt x="331689" y="107156"/>
                      </a:lnTo>
                      <a:lnTo>
                        <a:pt x="331689" y="8925"/>
                      </a:lnTo>
                      <a:lnTo>
                        <a:pt x="429920" y="8925"/>
                      </a:lnTo>
                      <a:lnTo>
                        <a:pt x="429920" y="107156"/>
                      </a:lnTo>
                      <a:close/>
                      <a:moveTo>
                        <a:pt x="322764" y="107156"/>
                      </a:moveTo>
                      <a:lnTo>
                        <a:pt x="224533" y="107156"/>
                      </a:lnTo>
                      <a:lnTo>
                        <a:pt x="224533" y="8925"/>
                      </a:lnTo>
                      <a:lnTo>
                        <a:pt x="322764" y="8925"/>
                      </a:lnTo>
                      <a:lnTo>
                        <a:pt x="322764" y="107156"/>
                      </a:lnTo>
                      <a:close/>
                      <a:moveTo>
                        <a:pt x="215608" y="107156"/>
                      </a:moveTo>
                      <a:lnTo>
                        <a:pt x="117377" y="107156"/>
                      </a:lnTo>
                      <a:lnTo>
                        <a:pt x="117377" y="8925"/>
                      </a:lnTo>
                      <a:lnTo>
                        <a:pt x="215608" y="8925"/>
                      </a:lnTo>
                      <a:lnTo>
                        <a:pt x="215608" y="107156"/>
                      </a:lnTo>
                      <a:close/>
                      <a:moveTo>
                        <a:pt x="215608" y="116081"/>
                      </a:moveTo>
                      <a:lnTo>
                        <a:pt x="215608" y="214313"/>
                      </a:lnTo>
                      <a:lnTo>
                        <a:pt x="117377" y="214313"/>
                      </a:lnTo>
                      <a:lnTo>
                        <a:pt x="117377" y="116081"/>
                      </a:lnTo>
                      <a:lnTo>
                        <a:pt x="215608" y="116081"/>
                      </a:lnTo>
                      <a:close/>
                      <a:moveTo>
                        <a:pt x="108452" y="214313"/>
                      </a:moveTo>
                      <a:lnTo>
                        <a:pt x="8925" y="214313"/>
                      </a:lnTo>
                      <a:lnTo>
                        <a:pt x="8925" y="116081"/>
                      </a:lnTo>
                      <a:lnTo>
                        <a:pt x="108452" y="116081"/>
                      </a:lnTo>
                      <a:lnTo>
                        <a:pt x="108452" y="214313"/>
                      </a:lnTo>
                      <a:close/>
                      <a:moveTo>
                        <a:pt x="8925" y="223237"/>
                      </a:moveTo>
                      <a:lnTo>
                        <a:pt x="108452" y="223237"/>
                      </a:lnTo>
                      <a:lnTo>
                        <a:pt x="108452" y="321469"/>
                      </a:lnTo>
                      <a:lnTo>
                        <a:pt x="8925" y="321469"/>
                      </a:lnTo>
                      <a:lnTo>
                        <a:pt x="8925" y="223237"/>
                      </a:lnTo>
                      <a:close/>
                      <a:moveTo>
                        <a:pt x="108452" y="330394"/>
                      </a:moveTo>
                      <a:lnTo>
                        <a:pt x="108452" y="428625"/>
                      </a:lnTo>
                      <a:lnTo>
                        <a:pt x="8925" y="428625"/>
                      </a:lnTo>
                      <a:lnTo>
                        <a:pt x="8925" y="330394"/>
                      </a:lnTo>
                      <a:lnTo>
                        <a:pt x="108452" y="330394"/>
                      </a:lnTo>
                      <a:close/>
                      <a:moveTo>
                        <a:pt x="8925" y="437550"/>
                      </a:moveTo>
                      <a:lnTo>
                        <a:pt x="108452" y="437550"/>
                      </a:lnTo>
                      <a:lnTo>
                        <a:pt x="108452" y="535781"/>
                      </a:lnTo>
                      <a:lnTo>
                        <a:pt x="8925" y="535781"/>
                      </a:lnTo>
                      <a:lnTo>
                        <a:pt x="8925" y="437550"/>
                      </a:lnTo>
                      <a:close/>
                      <a:moveTo>
                        <a:pt x="108452" y="544706"/>
                      </a:moveTo>
                      <a:lnTo>
                        <a:pt x="108452" y="642938"/>
                      </a:lnTo>
                      <a:lnTo>
                        <a:pt x="8925" y="642938"/>
                      </a:lnTo>
                      <a:lnTo>
                        <a:pt x="8925" y="544706"/>
                      </a:lnTo>
                      <a:lnTo>
                        <a:pt x="108452" y="544706"/>
                      </a:lnTo>
                      <a:close/>
                      <a:moveTo>
                        <a:pt x="8925" y="651862"/>
                      </a:moveTo>
                      <a:lnTo>
                        <a:pt x="108452" y="651862"/>
                      </a:lnTo>
                      <a:lnTo>
                        <a:pt x="108452" y="750094"/>
                      </a:lnTo>
                      <a:lnTo>
                        <a:pt x="8925" y="750094"/>
                      </a:lnTo>
                      <a:lnTo>
                        <a:pt x="8925" y="651862"/>
                      </a:lnTo>
                      <a:close/>
                      <a:moveTo>
                        <a:pt x="108452" y="759019"/>
                      </a:moveTo>
                      <a:lnTo>
                        <a:pt x="108452" y="857250"/>
                      </a:lnTo>
                      <a:lnTo>
                        <a:pt x="8925" y="857250"/>
                      </a:lnTo>
                      <a:lnTo>
                        <a:pt x="8925" y="759019"/>
                      </a:lnTo>
                      <a:lnTo>
                        <a:pt x="108452" y="759019"/>
                      </a:lnTo>
                      <a:close/>
                      <a:moveTo>
                        <a:pt x="8925" y="866175"/>
                      </a:moveTo>
                      <a:lnTo>
                        <a:pt x="108452" y="866175"/>
                      </a:lnTo>
                      <a:lnTo>
                        <a:pt x="108452" y="964406"/>
                      </a:lnTo>
                      <a:lnTo>
                        <a:pt x="8925" y="964406"/>
                      </a:lnTo>
                      <a:lnTo>
                        <a:pt x="8925" y="866175"/>
                      </a:lnTo>
                      <a:close/>
                      <a:moveTo>
                        <a:pt x="108452" y="973331"/>
                      </a:moveTo>
                      <a:lnTo>
                        <a:pt x="108452" y="1071562"/>
                      </a:lnTo>
                      <a:lnTo>
                        <a:pt x="8925" y="1071562"/>
                      </a:lnTo>
                      <a:lnTo>
                        <a:pt x="8925" y="973331"/>
                      </a:lnTo>
                      <a:lnTo>
                        <a:pt x="108452" y="973331"/>
                      </a:lnTo>
                      <a:close/>
                      <a:moveTo>
                        <a:pt x="8925" y="1080487"/>
                      </a:moveTo>
                      <a:lnTo>
                        <a:pt x="108452" y="1080487"/>
                      </a:lnTo>
                      <a:lnTo>
                        <a:pt x="108452" y="1178719"/>
                      </a:lnTo>
                      <a:lnTo>
                        <a:pt x="8925" y="1178719"/>
                      </a:lnTo>
                      <a:lnTo>
                        <a:pt x="8925" y="1080487"/>
                      </a:lnTo>
                      <a:close/>
                      <a:moveTo>
                        <a:pt x="108452" y="1187644"/>
                      </a:moveTo>
                      <a:lnTo>
                        <a:pt x="108452" y="1285875"/>
                      </a:lnTo>
                      <a:lnTo>
                        <a:pt x="8925" y="1285875"/>
                      </a:lnTo>
                      <a:lnTo>
                        <a:pt x="8925" y="1187644"/>
                      </a:lnTo>
                      <a:lnTo>
                        <a:pt x="108452" y="1187644"/>
                      </a:lnTo>
                      <a:close/>
                      <a:moveTo>
                        <a:pt x="8925" y="1294800"/>
                      </a:moveTo>
                      <a:lnTo>
                        <a:pt x="108452" y="1294800"/>
                      </a:lnTo>
                      <a:lnTo>
                        <a:pt x="108452" y="1393031"/>
                      </a:lnTo>
                      <a:lnTo>
                        <a:pt x="8925" y="1393031"/>
                      </a:lnTo>
                      <a:lnTo>
                        <a:pt x="8925" y="1294800"/>
                      </a:lnTo>
                      <a:close/>
                      <a:moveTo>
                        <a:pt x="108452" y="1401956"/>
                      </a:moveTo>
                      <a:lnTo>
                        <a:pt x="108452" y="1500187"/>
                      </a:lnTo>
                      <a:lnTo>
                        <a:pt x="8925" y="1500187"/>
                      </a:lnTo>
                      <a:lnTo>
                        <a:pt x="8925" y="1401956"/>
                      </a:lnTo>
                      <a:lnTo>
                        <a:pt x="108452" y="1401956"/>
                      </a:lnTo>
                      <a:close/>
                      <a:moveTo>
                        <a:pt x="8925" y="1509112"/>
                      </a:moveTo>
                      <a:lnTo>
                        <a:pt x="108452" y="1509112"/>
                      </a:lnTo>
                      <a:lnTo>
                        <a:pt x="108452" y="1607344"/>
                      </a:lnTo>
                      <a:lnTo>
                        <a:pt x="8925" y="1607344"/>
                      </a:lnTo>
                      <a:lnTo>
                        <a:pt x="8925" y="1509112"/>
                      </a:lnTo>
                      <a:close/>
                      <a:moveTo>
                        <a:pt x="108452" y="1616269"/>
                      </a:moveTo>
                      <a:lnTo>
                        <a:pt x="108452" y="1714500"/>
                      </a:lnTo>
                      <a:lnTo>
                        <a:pt x="8925" y="1714500"/>
                      </a:lnTo>
                      <a:lnTo>
                        <a:pt x="8925" y="1616269"/>
                      </a:lnTo>
                      <a:lnTo>
                        <a:pt x="108452" y="1616269"/>
                      </a:lnTo>
                      <a:close/>
                      <a:moveTo>
                        <a:pt x="8925" y="1723425"/>
                      </a:moveTo>
                      <a:lnTo>
                        <a:pt x="108452" y="1723425"/>
                      </a:lnTo>
                      <a:lnTo>
                        <a:pt x="108452" y="1821656"/>
                      </a:lnTo>
                      <a:lnTo>
                        <a:pt x="8925" y="1821656"/>
                      </a:lnTo>
                      <a:lnTo>
                        <a:pt x="8925" y="1723425"/>
                      </a:lnTo>
                      <a:close/>
                      <a:moveTo>
                        <a:pt x="108452" y="1830581"/>
                      </a:moveTo>
                      <a:lnTo>
                        <a:pt x="108452" y="1928812"/>
                      </a:lnTo>
                      <a:lnTo>
                        <a:pt x="8925" y="1928812"/>
                      </a:lnTo>
                      <a:lnTo>
                        <a:pt x="8925" y="1830581"/>
                      </a:lnTo>
                      <a:lnTo>
                        <a:pt x="108452" y="1830581"/>
                      </a:lnTo>
                      <a:close/>
                      <a:moveTo>
                        <a:pt x="8925" y="1937737"/>
                      </a:moveTo>
                      <a:lnTo>
                        <a:pt x="108452" y="1937737"/>
                      </a:lnTo>
                      <a:lnTo>
                        <a:pt x="108452" y="2035969"/>
                      </a:lnTo>
                      <a:lnTo>
                        <a:pt x="8925" y="2035969"/>
                      </a:lnTo>
                      <a:lnTo>
                        <a:pt x="8925" y="1937737"/>
                      </a:lnTo>
                      <a:close/>
                      <a:moveTo>
                        <a:pt x="108452" y="2044894"/>
                      </a:moveTo>
                      <a:lnTo>
                        <a:pt x="108452" y="2143125"/>
                      </a:lnTo>
                      <a:lnTo>
                        <a:pt x="8925" y="2143125"/>
                      </a:lnTo>
                      <a:lnTo>
                        <a:pt x="8925" y="2044894"/>
                      </a:lnTo>
                      <a:lnTo>
                        <a:pt x="108452" y="2044894"/>
                      </a:lnTo>
                      <a:close/>
                      <a:moveTo>
                        <a:pt x="8925" y="2152050"/>
                      </a:moveTo>
                      <a:lnTo>
                        <a:pt x="108452" y="2152050"/>
                      </a:lnTo>
                      <a:lnTo>
                        <a:pt x="108452" y="2250281"/>
                      </a:lnTo>
                      <a:lnTo>
                        <a:pt x="8925" y="2250281"/>
                      </a:lnTo>
                      <a:lnTo>
                        <a:pt x="8925" y="2152050"/>
                      </a:lnTo>
                      <a:close/>
                      <a:moveTo>
                        <a:pt x="117386" y="2152050"/>
                      </a:moveTo>
                      <a:lnTo>
                        <a:pt x="215618" y="2152050"/>
                      </a:lnTo>
                      <a:lnTo>
                        <a:pt x="215618" y="2250281"/>
                      </a:lnTo>
                      <a:lnTo>
                        <a:pt x="117386" y="2250281"/>
                      </a:lnTo>
                      <a:lnTo>
                        <a:pt x="117386" y="2152050"/>
                      </a:lnTo>
                      <a:close/>
                      <a:moveTo>
                        <a:pt x="215608" y="2259206"/>
                      </a:moveTo>
                      <a:lnTo>
                        <a:pt x="215608" y="2357437"/>
                      </a:lnTo>
                      <a:lnTo>
                        <a:pt x="117377" y="2357437"/>
                      </a:lnTo>
                      <a:lnTo>
                        <a:pt x="117377" y="2259206"/>
                      </a:lnTo>
                      <a:lnTo>
                        <a:pt x="215608" y="2259206"/>
                      </a:lnTo>
                      <a:close/>
                      <a:moveTo>
                        <a:pt x="224542" y="2259206"/>
                      </a:moveTo>
                      <a:lnTo>
                        <a:pt x="322774" y="2259206"/>
                      </a:lnTo>
                      <a:lnTo>
                        <a:pt x="322774" y="2357437"/>
                      </a:lnTo>
                      <a:lnTo>
                        <a:pt x="224542" y="2357437"/>
                      </a:lnTo>
                      <a:lnTo>
                        <a:pt x="224542" y="2259206"/>
                      </a:lnTo>
                      <a:close/>
                      <a:moveTo>
                        <a:pt x="331699" y="2259206"/>
                      </a:moveTo>
                      <a:lnTo>
                        <a:pt x="429930" y="2259206"/>
                      </a:lnTo>
                      <a:lnTo>
                        <a:pt x="429930" y="2357437"/>
                      </a:lnTo>
                      <a:lnTo>
                        <a:pt x="331699" y="2357437"/>
                      </a:lnTo>
                      <a:lnTo>
                        <a:pt x="331699" y="2259206"/>
                      </a:lnTo>
                      <a:close/>
                      <a:moveTo>
                        <a:pt x="438855" y="2259206"/>
                      </a:moveTo>
                      <a:lnTo>
                        <a:pt x="537086" y="2259206"/>
                      </a:lnTo>
                      <a:lnTo>
                        <a:pt x="537086" y="2357437"/>
                      </a:lnTo>
                      <a:lnTo>
                        <a:pt x="438855" y="2357437"/>
                      </a:lnTo>
                      <a:lnTo>
                        <a:pt x="438855" y="2259206"/>
                      </a:lnTo>
                      <a:close/>
                      <a:moveTo>
                        <a:pt x="546011" y="2259206"/>
                      </a:moveTo>
                      <a:lnTo>
                        <a:pt x="644243" y="2259206"/>
                      </a:lnTo>
                      <a:lnTo>
                        <a:pt x="644243" y="2357437"/>
                      </a:lnTo>
                      <a:lnTo>
                        <a:pt x="546011" y="2357437"/>
                      </a:lnTo>
                      <a:lnTo>
                        <a:pt x="546011" y="2259206"/>
                      </a:lnTo>
                      <a:close/>
                      <a:moveTo>
                        <a:pt x="653167" y="2259206"/>
                      </a:moveTo>
                      <a:lnTo>
                        <a:pt x="751399" y="2259206"/>
                      </a:lnTo>
                      <a:lnTo>
                        <a:pt x="751399" y="2357437"/>
                      </a:lnTo>
                      <a:lnTo>
                        <a:pt x="653167" y="2357437"/>
                      </a:lnTo>
                      <a:lnTo>
                        <a:pt x="653167" y="2259206"/>
                      </a:lnTo>
                      <a:close/>
                      <a:moveTo>
                        <a:pt x="760324" y="2259206"/>
                      </a:moveTo>
                      <a:lnTo>
                        <a:pt x="858555" y="2259206"/>
                      </a:lnTo>
                      <a:lnTo>
                        <a:pt x="858555" y="2357437"/>
                      </a:lnTo>
                      <a:lnTo>
                        <a:pt x="760324" y="2357437"/>
                      </a:lnTo>
                      <a:lnTo>
                        <a:pt x="760324" y="2259206"/>
                      </a:lnTo>
                      <a:close/>
                      <a:moveTo>
                        <a:pt x="867480" y="2259206"/>
                      </a:moveTo>
                      <a:lnTo>
                        <a:pt x="965711" y="2259206"/>
                      </a:lnTo>
                      <a:lnTo>
                        <a:pt x="965711" y="2357437"/>
                      </a:lnTo>
                      <a:lnTo>
                        <a:pt x="867480" y="2357437"/>
                      </a:lnTo>
                      <a:lnTo>
                        <a:pt x="867480" y="2259206"/>
                      </a:lnTo>
                      <a:close/>
                      <a:moveTo>
                        <a:pt x="974636" y="2259206"/>
                      </a:moveTo>
                      <a:lnTo>
                        <a:pt x="1072867" y="2259206"/>
                      </a:lnTo>
                      <a:lnTo>
                        <a:pt x="1072867" y="2357437"/>
                      </a:lnTo>
                      <a:lnTo>
                        <a:pt x="974636" y="2357437"/>
                      </a:lnTo>
                      <a:lnTo>
                        <a:pt x="974636" y="2259206"/>
                      </a:lnTo>
                      <a:close/>
                      <a:moveTo>
                        <a:pt x="1081792" y="2259206"/>
                      </a:moveTo>
                      <a:lnTo>
                        <a:pt x="1180024" y="2259206"/>
                      </a:lnTo>
                      <a:lnTo>
                        <a:pt x="1180024" y="2357437"/>
                      </a:lnTo>
                      <a:lnTo>
                        <a:pt x="1081792" y="2357437"/>
                      </a:lnTo>
                      <a:lnTo>
                        <a:pt x="1081792" y="2259206"/>
                      </a:lnTo>
                      <a:close/>
                      <a:moveTo>
                        <a:pt x="1188949" y="2259206"/>
                      </a:moveTo>
                      <a:lnTo>
                        <a:pt x="1287180" y="2259206"/>
                      </a:lnTo>
                      <a:lnTo>
                        <a:pt x="1287180" y="2357437"/>
                      </a:lnTo>
                      <a:lnTo>
                        <a:pt x="1188949" y="2357437"/>
                      </a:lnTo>
                      <a:lnTo>
                        <a:pt x="1188949" y="2259206"/>
                      </a:lnTo>
                      <a:close/>
                      <a:moveTo>
                        <a:pt x="1296105" y="2259206"/>
                      </a:moveTo>
                      <a:lnTo>
                        <a:pt x="1394336" y="2259206"/>
                      </a:lnTo>
                      <a:lnTo>
                        <a:pt x="1394336" y="2357437"/>
                      </a:lnTo>
                      <a:lnTo>
                        <a:pt x="1296105" y="2357437"/>
                      </a:lnTo>
                      <a:lnTo>
                        <a:pt x="1296105" y="2259206"/>
                      </a:lnTo>
                      <a:close/>
                      <a:moveTo>
                        <a:pt x="1403261" y="2259206"/>
                      </a:moveTo>
                      <a:lnTo>
                        <a:pt x="1501492" y="2259206"/>
                      </a:lnTo>
                      <a:lnTo>
                        <a:pt x="1501492" y="2357437"/>
                      </a:lnTo>
                      <a:lnTo>
                        <a:pt x="1403261" y="2357437"/>
                      </a:lnTo>
                      <a:lnTo>
                        <a:pt x="1403261" y="2259206"/>
                      </a:lnTo>
                      <a:close/>
                      <a:moveTo>
                        <a:pt x="1510417" y="2259206"/>
                      </a:moveTo>
                      <a:lnTo>
                        <a:pt x="1608649" y="2259206"/>
                      </a:lnTo>
                      <a:lnTo>
                        <a:pt x="1608649" y="2357437"/>
                      </a:lnTo>
                      <a:lnTo>
                        <a:pt x="1510417" y="2357437"/>
                      </a:lnTo>
                      <a:lnTo>
                        <a:pt x="1510417" y="2259206"/>
                      </a:lnTo>
                      <a:close/>
                      <a:moveTo>
                        <a:pt x="1617574" y="2259206"/>
                      </a:moveTo>
                      <a:lnTo>
                        <a:pt x="1715805" y="2259206"/>
                      </a:lnTo>
                      <a:lnTo>
                        <a:pt x="1715805" y="2357437"/>
                      </a:lnTo>
                      <a:lnTo>
                        <a:pt x="1617574" y="2357437"/>
                      </a:lnTo>
                      <a:lnTo>
                        <a:pt x="1617574" y="2259206"/>
                      </a:lnTo>
                      <a:close/>
                      <a:moveTo>
                        <a:pt x="1617574" y="2250281"/>
                      </a:moveTo>
                      <a:lnTo>
                        <a:pt x="1617574" y="2152050"/>
                      </a:lnTo>
                      <a:lnTo>
                        <a:pt x="1715805" y="2152050"/>
                      </a:lnTo>
                      <a:lnTo>
                        <a:pt x="1715805" y="2250281"/>
                      </a:lnTo>
                      <a:lnTo>
                        <a:pt x="1617574" y="2250281"/>
                      </a:lnTo>
                      <a:close/>
                      <a:moveTo>
                        <a:pt x="1724730" y="2152050"/>
                      </a:moveTo>
                      <a:lnTo>
                        <a:pt x="1821656" y="2152050"/>
                      </a:lnTo>
                      <a:lnTo>
                        <a:pt x="1821656" y="2250281"/>
                      </a:lnTo>
                      <a:lnTo>
                        <a:pt x="1724730" y="2250281"/>
                      </a:lnTo>
                      <a:lnTo>
                        <a:pt x="1724730" y="2152050"/>
                      </a:lnTo>
                      <a:close/>
                      <a:moveTo>
                        <a:pt x="1724730" y="2143125"/>
                      </a:moveTo>
                      <a:lnTo>
                        <a:pt x="1724730" y="2044894"/>
                      </a:lnTo>
                      <a:lnTo>
                        <a:pt x="1821656" y="2044894"/>
                      </a:lnTo>
                      <a:lnTo>
                        <a:pt x="1821656" y="2143125"/>
                      </a:lnTo>
                      <a:lnTo>
                        <a:pt x="1724730" y="2143125"/>
                      </a:lnTo>
                      <a:close/>
                      <a:moveTo>
                        <a:pt x="1821656" y="2035969"/>
                      </a:moveTo>
                      <a:lnTo>
                        <a:pt x="1724730" y="2035969"/>
                      </a:lnTo>
                      <a:lnTo>
                        <a:pt x="1724730" y="1937737"/>
                      </a:lnTo>
                      <a:lnTo>
                        <a:pt x="1821656" y="1937737"/>
                      </a:lnTo>
                      <a:lnTo>
                        <a:pt x="1821656" y="2035969"/>
                      </a:lnTo>
                      <a:close/>
                      <a:moveTo>
                        <a:pt x="1724730" y="1928812"/>
                      </a:moveTo>
                      <a:lnTo>
                        <a:pt x="1724730" y="1830581"/>
                      </a:lnTo>
                      <a:lnTo>
                        <a:pt x="1821656" y="1830581"/>
                      </a:lnTo>
                      <a:lnTo>
                        <a:pt x="1821656" y="1928812"/>
                      </a:lnTo>
                      <a:lnTo>
                        <a:pt x="1724730" y="1928812"/>
                      </a:lnTo>
                      <a:close/>
                      <a:moveTo>
                        <a:pt x="1821656" y="1821656"/>
                      </a:moveTo>
                      <a:lnTo>
                        <a:pt x="1724730" y="1821656"/>
                      </a:lnTo>
                      <a:lnTo>
                        <a:pt x="1724730" y="1723425"/>
                      </a:lnTo>
                      <a:lnTo>
                        <a:pt x="1821656" y="1723425"/>
                      </a:lnTo>
                      <a:lnTo>
                        <a:pt x="1821656" y="1821656"/>
                      </a:lnTo>
                      <a:close/>
                      <a:moveTo>
                        <a:pt x="1724730" y="1714500"/>
                      </a:moveTo>
                      <a:lnTo>
                        <a:pt x="1724730" y="1616269"/>
                      </a:lnTo>
                      <a:lnTo>
                        <a:pt x="1821656" y="1616269"/>
                      </a:lnTo>
                      <a:lnTo>
                        <a:pt x="1821656" y="1714500"/>
                      </a:lnTo>
                      <a:lnTo>
                        <a:pt x="1724730" y="1714500"/>
                      </a:lnTo>
                      <a:close/>
                      <a:moveTo>
                        <a:pt x="1821656" y="1607344"/>
                      </a:moveTo>
                      <a:lnTo>
                        <a:pt x="1724730" y="1607344"/>
                      </a:lnTo>
                      <a:lnTo>
                        <a:pt x="1724730" y="1509112"/>
                      </a:lnTo>
                      <a:lnTo>
                        <a:pt x="1821656" y="1509112"/>
                      </a:lnTo>
                      <a:lnTo>
                        <a:pt x="1821656" y="1607344"/>
                      </a:lnTo>
                      <a:close/>
                      <a:moveTo>
                        <a:pt x="1724730" y="1500187"/>
                      </a:moveTo>
                      <a:lnTo>
                        <a:pt x="1724730" y="1401956"/>
                      </a:lnTo>
                      <a:lnTo>
                        <a:pt x="1821656" y="1401956"/>
                      </a:lnTo>
                      <a:lnTo>
                        <a:pt x="1821656" y="1500187"/>
                      </a:lnTo>
                      <a:lnTo>
                        <a:pt x="1724730" y="1500187"/>
                      </a:lnTo>
                      <a:close/>
                      <a:moveTo>
                        <a:pt x="1821656" y="1393031"/>
                      </a:moveTo>
                      <a:lnTo>
                        <a:pt x="1724730" y="1393031"/>
                      </a:lnTo>
                      <a:lnTo>
                        <a:pt x="1724730" y="1294800"/>
                      </a:lnTo>
                      <a:lnTo>
                        <a:pt x="1821656" y="1294800"/>
                      </a:lnTo>
                      <a:lnTo>
                        <a:pt x="1821656" y="1393031"/>
                      </a:lnTo>
                      <a:close/>
                      <a:moveTo>
                        <a:pt x="1724730" y="1285875"/>
                      </a:moveTo>
                      <a:lnTo>
                        <a:pt x="1724730" y="1187644"/>
                      </a:lnTo>
                      <a:lnTo>
                        <a:pt x="1821656" y="1187644"/>
                      </a:lnTo>
                      <a:lnTo>
                        <a:pt x="1821656" y="1285875"/>
                      </a:lnTo>
                      <a:lnTo>
                        <a:pt x="1724730" y="1285875"/>
                      </a:lnTo>
                      <a:close/>
                      <a:moveTo>
                        <a:pt x="1821656" y="1178719"/>
                      </a:moveTo>
                      <a:lnTo>
                        <a:pt x="1724730" y="1178719"/>
                      </a:lnTo>
                      <a:lnTo>
                        <a:pt x="1724730" y="1080487"/>
                      </a:lnTo>
                      <a:lnTo>
                        <a:pt x="1821656" y="1080487"/>
                      </a:lnTo>
                      <a:lnTo>
                        <a:pt x="1821656" y="1178719"/>
                      </a:lnTo>
                      <a:close/>
                      <a:moveTo>
                        <a:pt x="1724730" y="1071562"/>
                      </a:moveTo>
                      <a:lnTo>
                        <a:pt x="1724730" y="973331"/>
                      </a:lnTo>
                      <a:lnTo>
                        <a:pt x="1821656" y="973331"/>
                      </a:lnTo>
                      <a:lnTo>
                        <a:pt x="1821656" y="1071562"/>
                      </a:lnTo>
                      <a:lnTo>
                        <a:pt x="1724730" y="1071562"/>
                      </a:lnTo>
                      <a:close/>
                      <a:moveTo>
                        <a:pt x="1821656" y="964406"/>
                      </a:moveTo>
                      <a:lnTo>
                        <a:pt x="1724730" y="964406"/>
                      </a:lnTo>
                      <a:lnTo>
                        <a:pt x="1724730" y="866175"/>
                      </a:lnTo>
                      <a:lnTo>
                        <a:pt x="1821656" y="866175"/>
                      </a:lnTo>
                      <a:lnTo>
                        <a:pt x="1821656" y="964406"/>
                      </a:lnTo>
                      <a:close/>
                      <a:moveTo>
                        <a:pt x="1724730" y="857250"/>
                      </a:moveTo>
                      <a:lnTo>
                        <a:pt x="1724730" y="759019"/>
                      </a:lnTo>
                      <a:lnTo>
                        <a:pt x="1821656" y="759019"/>
                      </a:lnTo>
                      <a:lnTo>
                        <a:pt x="1821656" y="857250"/>
                      </a:lnTo>
                      <a:lnTo>
                        <a:pt x="1724730" y="857250"/>
                      </a:lnTo>
                      <a:close/>
                      <a:moveTo>
                        <a:pt x="1821656" y="750094"/>
                      </a:moveTo>
                      <a:lnTo>
                        <a:pt x="1724730" y="750094"/>
                      </a:lnTo>
                      <a:lnTo>
                        <a:pt x="1724730" y="651862"/>
                      </a:lnTo>
                      <a:lnTo>
                        <a:pt x="1821656" y="651862"/>
                      </a:lnTo>
                      <a:lnTo>
                        <a:pt x="1821656" y="750094"/>
                      </a:lnTo>
                      <a:close/>
                      <a:moveTo>
                        <a:pt x="1724730" y="642938"/>
                      </a:moveTo>
                      <a:lnTo>
                        <a:pt x="1724730" y="544706"/>
                      </a:lnTo>
                      <a:lnTo>
                        <a:pt x="1821656" y="544706"/>
                      </a:lnTo>
                      <a:lnTo>
                        <a:pt x="1821656" y="642938"/>
                      </a:lnTo>
                      <a:lnTo>
                        <a:pt x="1724730" y="642938"/>
                      </a:lnTo>
                      <a:close/>
                      <a:moveTo>
                        <a:pt x="1821656" y="535781"/>
                      </a:moveTo>
                      <a:lnTo>
                        <a:pt x="1724730" y="535781"/>
                      </a:lnTo>
                      <a:lnTo>
                        <a:pt x="1724730" y="437550"/>
                      </a:lnTo>
                      <a:lnTo>
                        <a:pt x="1821656" y="437550"/>
                      </a:lnTo>
                      <a:lnTo>
                        <a:pt x="1821656" y="535781"/>
                      </a:lnTo>
                      <a:close/>
                      <a:moveTo>
                        <a:pt x="1724730" y="428625"/>
                      </a:moveTo>
                      <a:lnTo>
                        <a:pt x="1724730" y="330394"/>
                      </a:lnTo>
                      <a:lnTo>
                        <a:pt x="1821656" y="330394"/>
                      </a:lnTo>
                      <a:lnTo>
                        <a:pt x="1821656" y="428625"/>
                      </a:lnTo>
                      <a:lnTo>
                        <a:pt x="1724730" y="428625"/>
                      </a:lnTo>
                      <a:close/>
                      <a:moveTo>
                        <a:pt x="1821656" y="321469"/>
                      </a:moveTo>
                      <a:lnTo>
                        <a:pt x="1724730" y="321469"/>
                      </a:lnTo>
                      <a:lnTo>
                        <a:pt x="1724730" y="223237"/>
                      </a:lnTo>
                      <a:lnTo>
                        <a:pt x="1821656" y="223237"/>
                      </a:lnTo>
                      <a:lnTo>
                        <a:pt x="1821656" y="321469"/>
                      </a:lnTo>
                      <a:close/>
                      <a:moveTo>
                        <a:pt x="1724730" y="214313"/>
                      </a:moveTo>
                      <a:lnTo>
                        <a:pt x="1724730" y="116081"/>
                      </a:lnTo>
                      <a:lnTo>
                        <a:pt x="1821656" y="116081"/>
                      </a:lnTo>
                      <a:lnTo>
                        <a:pt x="1821656" y="214313"/>
                      </a:lnTo>
                      <a:lnTo>
                        <a:pt x="1724730" y="214313"/>
                      </a:lnTo>
                      <a:close/>
                      <a:moveTo>
                        <a:pt x="1821656" y="107156"/>
                      </a:moveTo>
                      <a:lnTo>
                        <a:pt x="1724730" y="107156"/>
                      </a:lnTo>
                      <a:lnTo>
                        <a:pt x="1724730" y="8925"/>
                      </a:lnTo>
                      <a:lnTo>
                        <a:pt x="1821656" y="8925"/>
                      </a:lnTo>
                      <a:lnTo>
                        <a:pt x="1821656" y="107156"/>
                      </a:lnTo>
                      <a:close/>
                      <a:moveTo>
                        <a:pt x="108452" y="8925"/>
                      </a:moveTo>
                      <a:lnTo>
                        <a:pt x="108452" y="107156"/>
                      </a:lnTo>
                      <a:lnTo>
                        <a:pt x="8925" y="107156"/>
                      </a:lnTo>
                      <a:lnTo>
                        <a:pt x="8925" y="8925"/>
                      </a:lnTo>
                      <a:lnTo>
                        <a:pt x="108452" y="8925"/>
                      </a:lnTo>
                      <a:close/>
                      <a:moveTo>
                        <a:pt x="8925" y="2259206"/>
                      </a:moveTo>
                      <a:lnTo>
                        <a:pt x="108452" y="2259206"/>
                      </a:lnTo>
                      <a:lnTo>
                        <a:pt x="108452" y="2357437"/>
                      </a:lnTo>
                      <a:lnTo>
                        <a:pt x="8925" y="2357437"/>
                      </a:lnTo>
                      <a:lnTo>
                        <a:pt x="8925" y="2259206"/>
                      </a:lnTo>
                      <a:close/>
                      <a:moveTo>
                        <a:pt x="1724730" y="2357437"/>
                      </a:moveTo>
                      <a:lnTo>
                        <a:pt x="1724730" y="2259206"/>
                      </a:lnTo>
                      <a:lnTo>
                        <a:pt x="1821656" y="2259206"/>
                      </a:lnTo>
                      <a:lnTo>
                        <a:pt x="1821656" y="2357437"/>
                      </a:lnTo>
                      <a:lnTo>
                        <a:pt x="1724730" y="2357437"/>
                      </a:lnTo>
                      <a:close/>
                    </a:path>
                  </a:pathLst>
                </a:custGeom>
                <a:solidFill>
                  <a:srgbClr val="F2F2F2"/>
                </a:solidFill>
                <a:ln w="9525" cap="flat">
                  <a:noFill/>
                  <a:prstDash val="solid"/>
                  <a:miter/>
                </a:ln>
              </p:spPr>
              <p:txBody>
                <a:bodyPr rtlCol="0" anchor="ctr"/>
                <a:lstStyle/>
                <a:p>
                  <a:endParaRPr lang="en-GB" sz="800" noProof="0" dirty="0"/>
                </a:p>
              </p:txBody>
            </p:sp>
            <p:sp>
              <p:nvSpPr>
                <p:cNvPr id="4147" name="Freeform: Shape 4146">
                  <a:extLst>
                    <a:ext uri="{FF2B5EF4-FFF2-40B4-BE49-F238E27FC236}">
                      <a16:creationId xmlns:a16="http://schemas.microsoft.com/office/drawing/2014/main" id="{B383C7BB-82C5-3B88-8740-FDA43DC37ED2}"/>
                    </a:ext>
                  </a:extLst>
                </p:cNvPr>
                <p:cNvSpPr/>
                <p:nvPr/>
              </p:nvSpPr>
              <p:spPr>
                <a:xfrm>
                  <a:off x="6262796" y="6416419"/>
                  <a:ext cx="2134200" cy="214312"/>
                </a:xfrm>
                <a:custGeom>
                  <a:avLst/>
                  <a:gdLst>
                    <a:gd name="connsiteX0" fmla="*/ 0 w 2134200"/>
                    <a:gd name="connsiteY0" fmla="*/ 0 h 214312"/>
                    <a:gd name="connsiteX1" fmla="*/ 2134200 w 2134200"/>
                    <a:gd name="connsiteY1" fmla="*/ 0 h 214312"/>
                    <a:gd name="connsiteX2" fmla="*/ 2134200 w 2134200"/>
                    <a:gd name="connsiteY2" fmla="*/ 214313 h 214312"/>
                    <a:gd name="connsiteX3" fmla="*/ 0 w 2134200"/>
                    <a:gd name="connsiteY3" fmla="*/ 214313 h 214312"/>
                  </a:gdLst>
                  <a:ahLst/>
                  <a:cxnLst>
                    <a:cxn ang="0">
                      <a:pos x="connsiteX0" y="connsiteY0"/>
                    </a:cxn>
                    <a:cxn ang="0">
                      <a:pos x="connsiteX1" y="connsiteY1"/>
                    </a:cxn>
                    <a:cxn ang="0">
                      <a:pos x="connsiteX2" y="connsiteY2"/>
                    </a:cxn>
                    <a:cxn ang="0">
                      <a:pos x="connsiteX3" y="connsiteY3"/>
                    </a:cxn>
                  </a:cxnLst>
                  <a:rect l="l" t="t" r="r" b="b"/>
                  <a:pathLst>
                    <a:path w="2134200" h="214312">
                      <a:moveTo>
                        <a:pt x="0" y="0"/>
                      </a:moveTo>
                      <a:lnTo>
                        <a:pt x="2134200" y="0"/>
                      </a:lnTo>
                      <a:lnTo>
                        <a:pt x="2134200" y="214313"/>
                      </a:lnTo>
                      <a:lnTo>
                        <a:pt x="0" y="214313"/>
                      </a:lnTo>
                      <a:close/>
                    </a:path>
                  </a:pathLst>
                </a:custGeom>
                <a:solidFill>
                  <a:schemeClr val="accent4"/>
                </a:solidFill>
                <a:ln w="9525" cap="flat">
                  <a:noFill/>
                  <a:prstDash val="solid"/>
                  <a:miter/>
                </a:ln>
              </p:spPr>
              <p:txBody>
                <a:bodyPr rtlCol="0" anchor="ctr"/>
                <a:lstStyle/>
                <a:p>
                  <a:endParaRPr lang="en-GB" sz="800" noProof="0" dirty="0"/>
                </a:p>
              </p:txBody>
            </p:sp>
            <p:sp>
              <p:nvSpPr>
                <p:cNvPr id="4148" name="Freeform: Shape 4147">
                  <a:extLst>
                    <a:ext uri="{FF2B5EF4-FFF2-40B4-BE49-F238E27FC236}">
                      <a16:creationId xmlns:a16="http://schemas.microsoft.com/office/drawing/2014/main" id="{F826E075-72A9-6D1E-9823-A2E7E35B8EE1}"/>
                    </a:ext>
                  </a:extLst>
                </p:cNvPr>
                <p:cNvSpPr/>
                <p:nvPr/>
              </p:nvSpPr>
              <p:spPr>
                <a:xfrm>
                  <a:off x="6544079" y="6477274"/>
                  <a:ext cx="107156" cy="107156"/>
                </a:xfrm>
                <a:custGeom>
                  <a:avLst/>
                  <a:gdLst>
                    <a:gd name="connsiteX0" fmla="*/ 107156 w 107156"/>
                    <a:gd name="connsiteY0" fmla="*/ 53578 h 107156"/>
                    <a:gd name="connsiteX1" fmla="*/ 53578 w 107156"/>
                    <a:gd name="connsiteY1" fmla="*/ 107156 h 107156"/>
                    <a:gd name="connsiteX2" fmla="*/ 0 w 107156"/>
                    <a:gd name="connsiteY2" fmla="*/ 53578 h 107156"/>
                    <a:gd name="connsiteX3" fmla="*/ 53578 w 107156"/>
                    <a:gd name="connsiteY3" fmla="*/ 0 h 107156"/>
                    <a:gd name="connsiteX4" fmla="*/ 107156 w 107156"/>
                    <a:gd name="connsiteY4" fmla="*/ 53578 h 107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56" h="107156">
                      <a:moveTo>
                        <a:pt x="107156" y="53578"/>
                      </a:moveTo>
                      <a:cubicBezTo>
                        <a:pt x="107156" y="83169"/>
                        <a:pt x="83168" y="107156"/>
                        <a:pt x="53578" y="107156"/>
                      </a:cubicBezTo>
                      <a:cubicBezTo>
                        <a:pt x="23988" y="107156"/>
                        <a:pt x="0" y="83169"/>
                        <a:pt x="0" y="53578"/>
                      </a:cubicBezTo>
                      <a:cubicBezTo>
                        <a:pt x="0" y="23988"/>
                        <a:pt x="23988" y="0"/>
                        <a:pt x="53578" y="0"/>
                      </a:cubicBezTo>
                      <a:cubicBezTo>
                        <a:pt x="83168" y="0"/>
                        <a:pt x="107156" y="23988"/>
                        <a:pt x="107156" y="53578"/>
                      </a:cubicBezTo>
                      <a:close/>
                    </a:path>
                  </a:pathLst>
                </a:custGeom>
                <a:solidFill>
                  <a:srgbClr val="FFFFFF"/>
                </a:solidFill>
                <a:ln w="9525" cap="flat">
                  <a:noFill/>
                  <a:prstDash val="solid"/>
                  <a:miter/>
                </a:ln>
              </p:spPr>
              <p:txBody>
                <a:bodyPr rtlCol="0" anchor="ctr"/>
                <a:lstStyle/>
                <a:p>
                  <a:endParaRPr lang="en-GB" sz="800" noProof="0" dirty="0"/>
                </a:p>
              </p:txBody>
            </p:sp>
            <p:sp>
              <p:nvSpPr>
                <p:cNvPr id="4149" name="Freeform: Shape 4148">
                  <a:extLst>
                    <a:ext uri="{FF2B5EF4-FFF2-40B4-BE49-F238E27FC236}">
                      <a16:creationId xmlns:a16="http://schemas.microsoft.com/office/drawing/2014/main" id="{B7DA1BAB-BC33-19AB-7F7A-8A334195038B}"/>
                    </a:ext>
                  </a:extLst>
                </p:cNvPr>
                <p:cNvSpPr/>
                <p:nvPr/>
              </p:nvSpPr>
              <p:spPr>
                <a:xfrm>
                  <a:off x="8044266" y="6477274"/>
                  <a:ext cx="107156" cy="107156"/>
                </a:xfrm>
                <a:custGeom>
                  <a:avLst/>
                  <a:gdLst>
                    <a:gd name="connsiteX0" fmla="*/ 107156 w 107156"/>
                    <a:gd name="connsiteY0" fmla="*/ 53578 h 107156"/>
                    <a:gd name="connsiteX1" fmla="*/ 53578 w 107156"/>
                    <a:gd name="connsiteY1" fmla="*/ 107156 h 107156"/>
                    <a:gd name="connsiteX2" fmla="*/ 0 w 107156"/>
                    <a:gd name="connsiteY2" fmla="*/ 53578 h 107156"/>
                    <a:gd name="connsiteX3" fmla="*/ 53578 w 107156"/>
                    <a:gd name="connsiteY3" fmla="*/ 0 h 107156"/>
                    <a:gd name="connsiteX4" fmla="*/ 107156 w 107156"/>
                    <a:gd name="connsiteY4" fmla="*/ 53578 h 107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56" h="107156">
                      <a:moveTo>
                        <a:pt x="107156" y="53578"/>
                      </a:moveTo>
                      <a:cubicBezTo>
                        <a:pt x="107156" y="83169"/>
                        <a:pt x="83169" y="107156"/>
                        <a:pt x="53578" y="107156"/>
                      </a:cubicBezTo>
                      <a:cubicBezTo>
                        <a:pt x="23988" y="107156"/>
                        <a:pt x="0" y="83169"/>
                        <a:pt x="0" y="53578"/>
                      </a:cubicBezTo>
                      <a:cubicBezTo>
                        <a:pt x="0" y="23988"/>
                        <a:pt x="23988" y="0"/>
                        <a:pt x="53578" y="0"/>
                      </a:cubicBezTo>
                      <a:cubicBezTo>
                        <a:pt x="83169" y="0"/>
                        <a:pt x="107156" y="23988"/>
                        <a:pt x="107156" y="53578"/>
                      </a:cubicBezTo>
                      <a:close/>
                    </a:path>
                  </a:pathLst>
                </a:custGeom>
                <a:solidFill>
                  <a:srgbClr val="FFFFFF"/>
                </a:solidFill>
                <a:ln w="9525" cap="flat">
                  <a:noFill/>
                  <a:prstDash val="solid"/>
                  <a:miter/>
                </a:ln>
              </p:spPr>
              <p:txBody>
                <a:bodyPr rtlCol="0" anchor="ctr"/>
                <a:lstStyle/>
                <a:p>
                  <a:endParaRPr lang="en-GB" sz="800" noProof="0" dirty="0"/>
                </a:p>
              </p:txBody>
            </p:sp>
          </p:grpSp>
        </p:grpSp>
        <p:sp>
          <p:nvSpPr>
            <p:cNvPr id="4140" name="Freeform: Shape 4139">
              <a:extLst>
                <a:ext uri="{FF2B5EF4-FFF2-40B4-BE49-F238E27FC236}">
                  <a16:creationId xmlns:a16="http://schemas.microsoft.com/office/drawing/2014/main" id="{61B03F11-955A-8F4D-E003-7E3DFCD71FBF}"/>
                </a:ext>
              </a:extLst>
            </p:cNvPr>
            <p:cNvSpPr/>
            <p:nvPr/>
          </p:nvSpPr>
          <p:spPr>
            <a:xfrm>
              <a:off x="9987101" y="7115728"/>
              <a:ext cx="1411596" cy="326755"/>
            </a:xfrm>
            <a:custGeom>
              <a:avLst/>
              <a:gdLst>
                <a:gd name="connsiteX0" fmla="*/ 0 w 2134200"/>
                <a:gd name="connsiteY0" fmla="*/ 0 h 214312"/>
                <a:gd name="connsiteX1" fmla="*/ 2134200 w 2134200"/>
                <a:gd name="connsiteY1" fmla="*/ 0 h 214312"/>
                <a:gd name="connsiteX2" fmla="*/ 2134200 w 2134200"/>
                <a:gd name="connsiteY2" fmla="*/ 214313 h 214312"/>
                <a:gd name="connsiteX3" fmla="*/ 0 w 2134200"/>
                <a:gd name="connsiteY3" fmla="*/ 214313 h 214312"/>
              </a:gdLst>
              <a:ahLst/>
              <a:cxnLst>
                <a:cxn ang="0">
                  <a:pos x="connsiteX0" y="connsiteY0"/>
                </a:cxn>
                <a:cxn ang="0">
                  <a:pos x="connsiteX1" y="connsiteY1"/>
                </a:cxn>
                <a:cxn ang="0">
                  <a:pos x="connsiteX2" y="connsiteY2"/>
                </a:cxn>
                <a:cxn ang="0">
                  <a:pos x="connsiteX3" y="connsiteY3"/>
                </a:cxn>
              </a:cxnLst>
              <a:rect l="l" t="t" r="r" b="b"/>
              <a:pathLst>
                <a:path w="2134200" h="214312">
                  <a:moveTo>
                    <a:pt x="0" y="0"/>
                  </a:moveTo>
                  <a:lnTo>
                    <a:pt x="2134200" y="0"/>
                  </a:lnTo>
                  <a:lnTo>
                    <a:pt x="2134200" y="214313"/>
                  </a:lnTo>
                  <a:lnTo>
                    <a:pt x="0" y="214313"/>
                  </a:lnTo>
                  <a:close/>
                </a:path>
              </a:pathLst>
            </a:custGeom>
            <a:solidFill>
              <a:srgbClr val="FF0066"/>
            </a:solidFill>
            <a:ln w="9525" cap="flat">
              <a:noFill/>
              <a:prstDash val="solid"/>
              <a:miter/>
            </a:ln>
          </p:spPr>
          <p:txBody>
            <a:bodyPr rtlCol="0" anchor="ctr"/>
            <a:lstStyle/>
            <a:p>
              <a:r>
                <a:rPr lang="en-GB" sz="900" noProof="0" dirty="0">
                  <a:solidFill>
                    <a:schemeClr val="bg1"/>
                  </a:solidFill>
                  <a:latin typeface="Corbel" panose="020B0503020204020204" pitchFamily="34" charset="0"/>
                </a:rPr>
                <a:t>$$$$</a:t>
              </a:r>
              <a:endParaRPr lang="en-GB" sz="800" noProof="0" dirty="0">
                <a:solidFill>
                  <a:schemeClr val="bg1"/>
                </a:solidFill>
                <a:latin typeface="Corbel" panose="020B0503020204020204" pitchFamily="34" charset="0"/>
              </a:endParaRPr>
            </a:p>
          </p:txBody>
        </p:sp>
        <p:sp>
          <p:nvSpPr>
            <p:cNvPr id="4141" name="Freeform: Shape 4140">
              <a:extLst>
                <a:ext uri="{FF2B5EF4-FFF2-40B4-BE49-F238E27FC236}">
                  <a16:creationId xmlns:a16="http://schemas.microsoft.com/office/drawing/2014/main" id="{27789F1C-D679-5545-7DFD-93395025C8E8}"/>
                </a:ext>
              </a:extLst>
            </p:cNvPr>
            <p:cNvSpPr/>
            <p:nvPr/>
          </p:nvSpPr>
          <p:spPr>
            <a:xfrm>
              <a:off x="10384474" y="8739275"/>
              <a:ext cx="1411596" cy="326755"/>
            </a:xfrm>
            <a:custGeom>
              <a:avLst/>
              <a:gdLst>
                <a:gd name="connsiteX0" fmla="*/ 0 w 2134200"/>
                <a:gd name="connsiteY0" fmla="*/ 0 h 214312"/>
                <a:gd name="connsiteX1" fmla="*/ 2134200 w 2134200"/>
                <a:gd name="connsiteY1" fmla="*/ 0 h 214312"/>
                <a:gd name="connsiteX2" fmla="*/ 2134200 w 2134200"/>
                <a:gd name="connsiteY2" fmla="*/ 214313 h 214312"/>
                <a:gd name="connsiteX3" fmla="*/ 0 w 2134200"/>
                <a:gd name="connsiteY3" fmla="*/ 214313 h 214312"/>
              </a:gdLst>
              <a:ahLst/>
              <a:cxnLst>
                <a:cxn ang="0">
                  <a:pos x="connsiteX0" y="connsiteY0"/>
                </a:cxn>
                <a:cxn ang="0">
                  <a:pos x="connsiteX1" y="connsiteY1"/>
                </a:cxn>
                <a:cxn ang="0">
                  <a:pos x="connsiteX2" y="connsiteY2"/>
                </a:cxn>
                <a:cxn ang="0">
                  <a:pos x="connsiteX3" y="connsiteY3"/>
                </a:cxn>
              </a:cxnLst>
              <a:rect l="l" t="t" r="r" b="b"/>
              <a:pathLst>
                <a:path w="2134200" h="214312">
                  <a:moveTo>
                    <a:pt x="0" y="0"/>
                  </a:moveTo>
                  <a:lnTo>
                    <a:pt x="2134200" y="0"/>
                  </a:lnTo>
                  <a:lnTo>
                    <a:pt x="2134200" y="214313"/>
                  </a:lnTo>
                  <a:lnTo>
                    <a:pt x="0" y="214313"/>
                  </a:lnTo>
                  <a:close/>
                </a:path>
              </a:pathLst>
            </a:custGeom>
            <a:solidFill>
              <a:srgbClr val="00B050"/>
            </a:solidFill>
            <a:ln w="9525" cap="flat">
              <a:noFill/>
              <a:prstDash val="solid"/>
              <a:miter/>
            </a:ln>
          </p:spPr>
          <p:txBody>
            <a:bodyPr rtlCol="0" anchor="ctr"/>
            <a:lstStyle/>
            <a:p>
              <a:r>
                <a:rPr lang="en-GB" sz="900" noProof="0" dirty="0">
                  <a:solidFill>
                    <a:schemeClr val="bg1"/>
                  </a:solidFill>
                  <a:latin typeface="Corbel" panose="020B0503020204020204" pitchFamily="34" charset="0"/>
                </a:rPr>
                <a:t>$$$$</a:t>
              </a:r>
              <a:endParaRPr lang="en-GB" sz="800" noProof="0" dirty="0">
                <a:solidFill>
                  <a:schemeClr val="bg1"/>
                </a:solidFill>
                <a:latin typeface="Corbel" panose="020B0503020204020204" pitchFamily="34" charset="0"/>
              </a:endParaRPr>
            </a:p>
          </p:txBody>
        </p:sp>
      </p:grpSp>
      <p:sp>
        <p:nvSpPr>
          <p:cNvPr id="4151" name="TextBox 4150">
            <a:extLst>
              <a:ext uri="{FF2B5EF4-FFF2-40B4-BE49-F238E27FC236}">
                <a16:creationId xmlns:a16="http://schemas.microsoft.com/office/drawing/2014/main" id="{8EBF0509-E11A-82BD-7CD6-97EDC5955688}"/>
              </a:ext>
            </a:extLst>
          </p:cNvPr>
          <p:cNvSpPr txBox="1"/>
          <p:nvPr/>
        </p:nvSpPr>
        <p:spPr>
          <a:xfrm>
            <a:off x="6871079" y="2539359"/>
            <a:ext cx="1037806" cy="646331"/>
          </a:xfrm>
          <a:prstGeom prst="rect">
            <a:avLst/>
          </a:prstGeom>
          <a:noFill/>
        </p:spPr>
        <p:txBody>
          <a:bodyPr wrap="square">
            <a:spAutoFit/>
          </a:bodyPr>
          <a:lstStyle/>
          <a:p>
            <a:r>
              <a:rPr lang="en-GB" noProof="0" dirty="0"/>
              <a:t>Problem sets</a:t>
            </a:r>
            <a:endParaRPr lang="en-GB" b="1" noProof="0" dirty="0">
              <a:solidFill>
                <a:schemeClr val="accent5"/>
              </a:solidFill>
              <a:latin typeface="Corbel" panose="020B0503020204020204" pitchFamily="34" charset="0"/>
            </a:endParaRPr>
          </a:p>
        </p:txBody>
      </p:sp>
      <p:sp>
        <p:nvSpPr>
          <p:cNvPr id="4152" name="TextBox 4151">
            <a:extLst>
              <a:ext uri="{FF2B5EF4-FFF2-40B4-BE49-F238E27FC236}">
                <a16:creationId xmlns:a16="http://schemas.microsoft.com/office/drawing/2014/main" id="{A9D84E2F-B1A3-E292-533D-421F679CE1A7}"/>
              </a:ext>
            </a:extLst>
          </p:cNvPr>
          <p:cNvSpPr txBox="1"/>
          <p:nvPr/>
        </p:nvSpPr>
        <p:spPr>
          <a:xfrm>
            <a:off x="6871079" y="3495192"/>
            <a:ext cx="2112964" cy="369332"/>
          </a:xfrm>
          <a:prstGeom prst="rect">
            <a:avLst/>
          </a:prstGeom>
          <a:noFill/>
        </p:spPr>
        <p:txBody>
          <a:bodyPr wrap="square">
            <a:spAutoFit/>
          </a:bodyPr>
          <a:lstStyle/>
          <a:p>
            <a:r>
              <a:rPr lang="en-GB" noProof="0" dirty="0"/>
              <a:t>Quizzes</a:t>
            </a:r>
            <a:endParaRPr lang="en-GB" b="1" noProof="0" dirty="0">
              <a:solidFill>
                <a:schemeClr val="accent5"/>
              </a:solidFill>
              <a:latin typeface="Corbel" panose="020B0503020204020204" pitchFamily="34" charset="0"/>
            </a:endParaRPr>
          </a:p>
        </p:txBody>
      </p:sp>
      <p:sp>
        <p:nvSpPr>
          <p:cNvPr id="4167" name="TextBox 4166">
            <a:extLst>
              <a:ext uri="{FF2B5EF4-FFF2-40B4-BE49-F238E27FC236}">
                <a16:creationId xmlns:a16="http://schemas.microsoft.com/office/drawing/2014/main" id="{99BBD900-8B2F-522F-1D47-ADF1A3B55631}"/>
              </a:ext>
            </a:extLst>
          </p:cNvPr>
          <p:cNvSpPr txBox="1"/>
          <p:nvPr/>
        </p:nvSpPr>
        <p:spPr>
          <a:xfrm>
            <a:off x="9847884" y="2687073"/>
            <a:ext cx="675075" cy="369332"/>
          </a:xfrm>
          <a:prstGeom prst="rect">
            <a:avLst/>
          </a:prstGeom>
          <a:noFill/>
        </p:spPr>
        <p:txBody>
          <a:bodyPr wrap="square">
            <a:spAutoFit/>
          </a:bodyPr>
          <a:lstStyle/>
          <a:p>
            <a:r>
              <a:rPr lang="en-GB" b="1" noProof="0" dirty="0">
                <a:solidFill>
                  <a:srgbClr val="FF0000"/>
                </a:solidFill>
              </a:rPr>
              <a:t>20%</a:t>
            </a:r>
            <a:endParaRPr lang="en-GB" b="1" noProof="0" dirty="0">
              <a:solidFill>
                <a:srgbClr val="FF0000"/>
              </a:solidFill>
              <a:latin typeface="Corbel" panose="020B0503020204020204" pitchFamily="34" charset="0"/>
            </a:endParaRPr>
          </a:p>
        </p:txBody>
      </p:sp>
      <p:sp>
        <p:nvSpPr>
          <p:cNvPr id="4153" name="TextBox 4152">
            <a:extLst>
              <a:ext uri="{FF2B5EF4-FFF2-40B4-BE49-F238E27FC236}">
                <a16:creationId xmlns:a16="http://schemas.microsoft.com/office/drawing/2014/main" id="{6C448880-4C7A-1FD3-AACD-95C632E990A2}"/>
              </a:ext>
            </a:extLst>
          </p:cNvPr>
          <p:cNvSpPr txBox="1"/>
          <p:nvPr/>
        </p:nvSpPr>
        <p:spPr>
          <a:xfrm>
            <a:off x="6868258" y="4167419"/>
            <a:ext cx="2112964" cy="646331"/>
          </a:xfrm>
          <a:prstGeom prst="rect">
            <a:avLst/>
          </a:prstGeom>
          <a:noFill/>
        </p:spPr>
        <p:txBody>
          <a:bodyPr wrap="square">
            <a:spAutoFit/>
          </a:bodyPr>
          <a:lstStyle/>
          <a:p>
            <a:r>
              <a:rPr lang="en-GB" noProof="0" dirty="0"/>
              <a:t>Submissions </a:t>
            </a:r>
          </a:p>
          <a:p>
            <a:r>
              <a:rPr lang="en-GB" noProof="0" dirty="0"/>
              <a:t>(4 deliverables)</a:t>
            </a:r>
          </a:p>
        </p:txBody>
      </p:sp>
      <p:cxnSp>
        <p:nvCxnSpPr>
          <p:cNvPr id="4169" name="Straight Arrow Connector 4168">
            <a:extLst>
              <a:ext uri="{FF2B5EF4-FFF2-40B4-BE49-F238E27FC236}">
                <a16:creationId xmlns:a16="http://schemas.microsoft.com/office/drawing/2014/main" id="{3DCBD6CC-ED8A-4A1B-2DB1-686AD8537728}"/>
              </a:ext>
            </a:extLst>
          </p:cNvPr>
          <p:cNvCxnSpPr>
            <a:cxnSpLocks/>
            <a:stCxn id="4151" idx="3"/>
            <a:endCxn id="4167" idx="1"/>
          </p:cNvCxnSpPr>
          <p:nvPr/>
        </p:nvCxnSpPr>
        <p:spPr>
          <a:xfrm>
            <a:off x="7908885" y="2862525"/>
            <a:ext cx="1938999" cy="9214"/>
          </a:xfrm>
          <a:prstGeom prst="straightConnector1">
            <a:avLst/>
          </a:prstGeom>
          <a:ln>
            <a:solidFill>
              <a:srgbClr val="B5AEBE"/>
            </a:solidFill>
            <a:tailEnd type="triangle"/>
          </a:ln>
        </p:spPr>
        <p:style>
          <a:lnRef idx="2">
            <a:schemeClr val="accent1"/>
          </a:lnRef>
          <a:fillRef idx="0">
            <a:schemeClr val="accent1"/>
          </a:fillRef>
          <a:effectRef idx="1">
            <a:schemeClr val="accent1"/>
          </a:effectRef>
          <a:fontRef idx="minor">
            <a:schemeClr val="tx1"/>
          </a:fontRef>
        </p:style>
      </p:cxnSp>
      <p:sp>
        <p:nvSpPr>
          <p:cNvPr id="4173" name="TextBox 4172">
            <a:extLst>
              <a:ext uri="{FF2B5EF4-FFF2-40B4-BE49-F238E27FC236}">
                <a16:creationId xmlns:a16="http://schemas.microsoft.com/office/drawing/2014/main" id="{03036BFE-4110-1172-9797-12FB01F9C070}"/>
              </a:ext>
            </a:extLst>
          </p:cNvPr>
          <p:cNvSpPr txBox="1"/>
          <p:nvPr/>
        </p:nvSpPr>
        <p:spPr>
          <a:xfrm>
            <a:off x="9847884" y="3500686"/>
            <a:ext cx="675075" cy="369332"/>
          </a:xfrm>
          <a:prstGeom prst="rect">
            <a:avLst/>
          </a:prstGeom>
          <a:noFill/>
        </p:spPr>
        <p:txBody>
          <a:bodyPr wrap="square">
            <a:spAutoFit/>
          </a:bodyPr>
          <a:lstStyle/>
          <a:p>
            <a:r>
              <a:rPr lang="en-GB" b="1" noProof="0" dirty="0">
                <a:solidFill>
                  <a:srgbClr val="FF0000"/>
                </a:solidFill>
              </a:rPr>
              <a:t>10%</a:t>
            </a:r>
            <a:endParaRPr lang="en-GB" b="1" noProof="0" dirty="0">
              <a:solidFill>
                <a:srgbClr val="FF0000"/>
              </a:solidFill>
              <a:latin typeface="Corbel" panose="020B0503020204020204" pitchFamily="34" charset="0"/>
            </a:endParaRPr>
          </a:p>
        </p:txBody>
      </p:sp>
      <p:cxnSp>
        <p:nvCxnSpPr>
          <p:cNvPr id="4171" name="Straight Arrow Connector 4170">
            <a:extLst>
              <a:ext uri="{FF2B5EF4-FFF2-40B4-BE49-F238E27FC236}">
                <a16:creationId xmlns:a16="http://schemas.microsoft.com/office/drawing/2014/main" id="{DBC9EDBF-6F56-C7EB-E385-02FC6AE71626}"/>
              </a:ext>
            </a:extLst>
          </p:cNvPr>
          <p:cNvCxnSpPr>
            <a:cxnSpLocks/>
            <a:stCxn id="4152" idx="3"/>
            <a:endCxn id="4173" idx="1"/>
          </p:cNvCxnSpPr>
          <p:nvPr/>
        </p:nvCxnSpPr>
        <p:spPr>
          <a:xfrm>
            <a:off x="8984043" y="3679858"/>
            <a:ext cx="863841" cy="5494"/>
          </a:xfrm>
          <a:prstGeom prst="straightConnector1">
            <a:avLst/>
          </a:prstGeom>
          <a:ln>
            <a:solidFill>
              <a:srgbClr val="B5AEBE"/>
            </a:solidFill>
            <a:tailEnd type="triangle"/>
          </a:ln>
        </p:spPr>
        <p:style>
          <a:lnRef idx="2">
            <a:schemeClr val="accent1"/>
          </a:lnRef>
          <a:fillRef idx="0">
            <a:schemeClr val="accent1"/>
          </a:fillRef>
          <a:effectRef idx="1">
            <a:schemeClr val="accent1"/>
          </a:effectRef>
          <a:fontRef idx="minor">
            <a:schemeClr val="tx1"/>
          </a:fontRef>
        </p:style>
      </p:cxnSp>
      <p:sp>
        <p:nvSpPr>
          <p:cNvPr id="4182" name="TextBox 4181">
            <a:extLst>
              <a:ext uri="{FF2B5EF4-FFF2-40B4-BE49-F238E27FC236}">
                <a16:creationId xmlns:a16="http://schemas.microsoft.com/office/drawing/2014/main" id="{BBF3299F-A699-6DD3-B5F9-51AD926DFC19}"/>
              </a:ext>
            </a:extLst>
          </p:cNvPr>
          <p:cNvSpPr txBox="1"/>
          <p:nvPr/>
        </p:nvSpPr>
        <p:spPr>
          <a:xfrm>
            <a:off x="9582938" y="4314298"/>
            <a:ext cx="1204967" cy="369332"/>
          </a:xfrm>
          <a:prstGeom prst="rect">
            <a:avLst/>
          </a:prstGeom>
          <a:noFill/>
        </p:spPr>
        <p:txBody>
          <a:bodyPr wrap="square">
            <a:spAutoFit/>
          </a:bodyPr>
          <a:lstStyle/>
          <a:p>
            <a:r>
              <a:rPr lang="en-GB" b="1" noProof="0" dirty="0">
                <a:solidFill>
                  <a:srgbClr val="FF0000"/>
                </a:solidFill>
              </a:rPr>
              <a:t>70%</a:t>
            </a:r>
            <a:endParaRPr lang="en-GB" b="1" noProof="0" dirty="0">
              <a:solidFill>
                <a:srgbClr val="FF0000"/>
              </a:solidFill>
              <a:latin typeface="Corbel" panose="020B0503020204020204" pitchFamily="34" charset="0"/>
            </a:endParaRPr>
          </a:p>
        </p:txBody>
      </p:sp>
      <p:cxnSp>
        <p:nvCxnSpPr>
          <p:cNvPr id="4176" name="Straight Arrow Connector 4175">
            <a:extLst>
              <a:ext uri="{FF2B5EF4-FFF2-40B4-BE49-F238E27FC236}">
                <a16:creationId xmlns:a16="http://schemas.microsoft.com/office/drawing/2014/main" id="{10BE3967-D388-8E44-DD65-C6ED33D968C3}"/>
              </a:ext>
            </a:extLst>
          </p:cNvPr>
          <p:cNvCxnSpPr>
            <a:cxnSpLocks/>
            <a:stCxn id="4153" idx="3"/>
            <a:endCxn id="4182" idx="1"/>
          </p:cNvCxnSpPr>
          <p:nvPr/>
        </p:nvCxnSpPr>
        <p:spPr>
          <a:xfrm>
            <a:off x="8981222" y="4490585"/>
            <a:ext cx="601716" cy="8379"/>
          </a:xfrm>
          <a:prstGeom prst="straightConnector1">
            <a:avLst/>
          </a:prstGeom>
          <a:ln>
            <a:solidFill>
              <a:srgbClr val="B5AEBE"/>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FF84FE7D-1E46-5BF0-4C98-B5325B29331D}"/>
              </a:ext>
            </a:extLst>
          </p:cNvPr>
          <p:cNvSpPr txBox="1"/>
          <p:nvPr/>
        </p:nvSpPr>
        <p:spPr>
          <a:xfrm>
            <a:off x="863045" y="4014170"/>
            <a:ext cx="828588" cy="923330"/>
          </a:xfrm>
          <a:prstGeom prst="rect">
            <a:avLst/>
          </a:prstGeom>
          <a:noFill/>
        </p:spPr>
        <p:txBody>
          <a:bodyPr wrap="square">
            <a:spAutoFit/>
          </a:bodyPr>
          <a:lstStyle/>
          <a:p>
            <a:r>
              <a:rPr lang="en-GB" sz="5400" noProof="0" dirty="0">
                <a:solidFill>
                  <a:srgbClr val="FF0000"/>
                </a:solidFill>
                <a:latin typeface="Aptos Black" panose="020B0004020202020204" pitchFamily="34" charset="0"/>
              </a:rPr>
              <a:t>2.</a:t>
            </a:r>
            <a:endParaRPr lang="en-GB" sz="5400" b="1" noProof="0" dirty="0">
              <a:solidFill>
                <a:srgbClr val="FF0000"/>
              </a:solidFill>
              <a:latin typeface="Aptos Black" panose="020B0004020202020204" pitchFamily="34" charset="0"/>
            </a:endParaRPr>
          </a:p>
        </p:txBody>
      </p:sp>
      <p:sp>
        <p:nvSpPr>
          <p:cNvPr id="4098" name="TextBox 4097">
            <a:extLst>
              <a:ext uri="{FF2B5EF4-FFF2-40B4-BE49-F238E27FC236}">
                <a16:creationId xmlns:a16="http://schemas.microsoft.com/office/drawing/2014/main" id="{9EAE4BDD-C71E-662F-7517-68F4E7DF8848}"/>
              </a:ext>
            </a:extLst>
          </p:cNvPr>
          <p:cNvSpPr txBox="1"/>
          <p:nvPr/>
        </p:nvSpPr>
        <p:spPr>
          <a:xfrm>
            <a:off x="1691633" y="4167419"/>
            <a:ext cx="3325098" cy="1021883"/>
          </a:xfrm>
          <a:prstGeom prst="rect">
            <a:avLst/>
          </a:prstGeom>
          <a:noFill/>
        </p:spPr>
        <p:txBody>
          <a:bodyPr wrap="square">
            <a:spAutoFit/>
          </a:bodyPr>
          <a:lstStyle/>
          <a:p>
            <a:pPr>
              <a:lnSpc>
                <a:spcPts val="1800"/>
              </a:lnSpc>
            </a:pPr>
            <a:r>
              <a:rPr lang="en-GB" b="1" noProof="0" dirty="0">
                <a:highlight>
                  <a:srgbClr val="FFC000"/>
                </a:highlight>
              </a:rPr>
              <a:t>Conceptual deepening in statistics and research methodology</a:t>
            </a:r>
          </a:p>
          <a:p>
            <a:pPr>
              <a:lnSpc>
                <a:spcPts val="1800"/>
              </a:lnSpc>
            </a:pPr>
            <a:endParaRPr lang="en-GB" noProof="0" dirty="0"/>
          </a:p>
        </p:txBody>
      </p:sp>
      <p:sp>
        <p:nvSpPr>
          <p:cNvPr id="18" name="Footer Placeholder 4">
            <a:extLst>
              <a:ext uri="{FF2B5EF4-FFF2-40B4-BE49-F238E27FC236}">
                <a16:creationId xmlns:a16="http://schemas.microsoft.com/office/drawing/2014/main" id="{4E35BDE7-70F0-6577-A0D6-FAB45D7DF166}"/>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2402414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51"/>
                                        </p:tgtEl>
                                        <p:attrNameLst>
                                          <p:attrName>style.visibility</p:attrName>
                                        </p:attrNameLst>
                                      </p:cBhvr>
                                      <p:to>
                                        <p:strVal val="visible"/>
                                      </p:to>
                                    </p:set>
                                    <p:animEffect transition="in" filter="fade">
                                      <p:cBhvr>
                                        <p:cTn id="10" dur="500"/>
                                        <p:tgtEl>
                                          <p:spTgt spid="4151"/>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152"/>
                                        </p:tgtEl>
                                        <p:attrNameLst>
                                          <p:attrName>style.visibility</p:attrName>
                                        </p:attrNameLst>
                                      </p:cBhvr>
                                      <p:to>
                                        <p:strVal val="visible"/>
                                      </p:to>
                                    </p:set>
                                    <p:animEffect transition="in" filter="fade">
                                      <p:cBhvr>
                                        <p:cTn id="16" dur="500"/>
                                        <p:tgtEl>
                                          <p:spTgt spid="4152"/>
                                        </p:tgtEl>
                                      </p:cBhvr>
                                    </p:animEffect>
                                  </p:childTnLst>
                                </p:cTn>
                              </p:par>
                              <p:par>
                                <p:cTn id="17" presetID="10" presetClass="entr" presetSubtype="0" fill="hold" nodeType="withEffect">
                                  <p:stCondLst>
                                    <p:cond delay="0"/>
                                  </p:stCondLst>
                                  <p:childTnLst>
                                    <p:set>
                                      <p:cBhvr>
                                        <p:cTn id="18" dur="1" fill="hold">
                                          <p:stCondLst>
                                            <p:cond delay="0"/>
                                          </p:stCondLst>
                                        </p:cTn>
                                        <p:tgtEl>
                                          <p:spTgt spid="4138"/>
                                        </p:tgtEl>
                                        <p:attrNameLst>
                                          <p:attrName>style.visibility</p:attrName>
                                        </p:attrNameLst>
                                      </p:cBhvr>
                                      <p:to>
                                        <p:strVal val="visible"/>
                                      </p:to>
                                    </p:set>
                                    <p:animEffect transition="in" filter="fade">
                                      <p:cBhvr>
                                        <p:cTn id="19" dur="500"/>
                                        <p:tgtEl>
                                          <p:spTgt spid="413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153"/>
                                        </p:tgtEl>
                                        <p:attrNameLst>
                                          <p:attrName>style.visibility</p:attrName>
                                        </p:attrNameLst>
                                      </p:cBhvr>
                                      <p:to>
                                        <p:strVal val="visible"/>
                                      </p:to>
                                    </p:set>
                                    <p:animEffect transition="in" filter="fade">
                                      <p:cBhvr>
                                        <p:cTn id="22" dur="500"/>
                                        <p:tgtEl>
                                          <p:spTgt spid="415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69"/>
                                        </p:tgtEl>
                                        <p:attrNameLst>
                                          <p:attrName>style.visibility</p:attrName>
                                        </p:attrNameLst>
                                      </p:cBhvr>
                                      <p:to>
                                        <p:strVal val="visible"/>
                                      </p:to>
                                    </p:set>
                                    <p:animEffect transition="in" filter="fade">
                                      <p:cBhvr>
                                        <p:cTn id="27" dur="500"/>
                                        <p:tgtEl>
                                          <p:spTgt spid="416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167"/>
                                        </p:tgtEl>
                                        <p:attrNameLst>
                                          <p:attrName>style.visibility</p:attrName>
                                        </p:attrNameLst>
                                      </p:cBhvr>
                                      <p:to>
                                        <p:strVal val="visible"/>
                                      </p:to>
                                    </p:set>
                                    <p:animEffect transition="in" filter="fade">
                                      <p:cBhvr>
                                        <p:cTn id="30" dur="500"/>
                                        <p:tgtEl>
                                          <p:spTgt spid="416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173"/>
                                        </p:tgtEl>
                                        <p:attrNameLst>
                                          <p:attrName>style.visibility</p:attrName>
                                        </p:attrNameLst>
                                      </p:cBhvr>
                                      <p:to>
                                        <p:strVal val="visible"/>
                                      </p:to>
                                    </p:set>
                                    <p:animEffect transition="in" filter="fade">
                                      <p:cBhvr>
                                        <p:cTn id="33" dur="500"/>
                                        <p:tgtEl>
                                          <p:spTgt spid="4173"/>
                                        </p:tgtEl>
                                      </p:cBhvr>
                                    </p:animEffect>
                                  </p:childTnLst>
                                </p:cTn>
                              </p:par>
                              <p:par>
                                <p:cTn id="34" presetID="10" presetClass="entr" presetSubtype="0" fill="hold" nodeType="withEffect">
                                  <p:stCondLst>
                                    <p:cond delay="0"/>
                                  </p:stCondLst>
                                  <p:childTnLst>
                                    <p:set>
                                      <p:cBhvr>
                                        <p:cTn id="35" dur="1" fill="hold">
                                          <p:stCondLst>
                                            <p:cond delay="0"/>
                                          </p:stCondLst>
                                        </p:cTn>
                                        <p:tgtEl>
                                          <p:spTgt spid="4171"/>
                                        </p:tgtEl>
                                        <p:attrNameLst>
                                          <p:attrName>style.visibility</p:attrName>
                                        </p:attrNameLst>
                                      </p:cBhvr>
                                      <p:to>
                                        <p:strVal val="visible"/>
                                      </p:to>
                                    </p:set>
                                    <p:animEffect transition="in" filter="fade">
                                      <p:cBhvr>
                                        <p:cTn id="36" dur="500"/>
                                        <p:tgtEl>
                                          <p:spTgt spid="4171"/>
                                        </p:tgtEl>
                                      </p:cBhvr>
                                    </p:animEffect>
                                  </p:childTnLst>
                                </p:cTn>
                              </p:par>
                              <p:par>
                                <p:cTn id="37" presetID="10" presetClass="entr" presetSubtype="0" fill="hold" nodeType="withEffect">
                                  <p:stCondLst>
                                    <p:cond delay="0"/>
                                  </p:stCondLst>
                                  <p:childTnLst>
                                    <p:set>
                                      <p:cBhvr>
                                        <p:cTn id="38" dur="1" fill="hold">
                                          <p:stCondLst>
                                            <p:cond delay="0"/>
                                          </p:stCondLst>
                                        </p:cTn>
                                        <p:tgtEl>
                                          <p:spTgt spid="4176"/>
                                        </p:tgtEl>
                                        <p:attrNameLst>
                                          <p:attrName>style.visibility</p:attrName>
                                        </p:attrNameLst>
                                      </p:cBhvr>
                                      <p:to>
                                        <p:strVal val="visible"/>
                                      </p:to>
                                    </p:set>
                                    <p:animEffect transition="in" filter="fade">
                                      <p:cBhvr>
                                        <p:cTn id="39" dur="500"/>
                                        <p:tgtEl>
                                          <p:spTgt spid="417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182"/>
                                        </p:tgtEl>
                                        <p:attrNameLst>
                                          <p:attrName>style.visibility</p:attrName>
                                        </p:attrNameLst>
                                      </p:cBhvr>
                                      <p:to>
                                        <p:strVal val="visible"/>
                                      </p:to>
                                    </p:set>
                                    <p:animEffect transition="in" filter="fade">
                                      <p:cBhvr>
                                        <p:cTn id="42" dur="500"/>
                                        <p:tgtEl>
                                          <p:spTgt spid="4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1" grpId="0"/>
      <p:bldP spid="4152" grpId="0"/>
      <p:bldP spid="4167" grpId="0"/>
      <p:bldP spid="4153" grpId="0"/>
      <p:bldP spid="4173" grpId="0"/>
      <p:bldP spid="418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p:txBody>
          <a:bodyPr/>
          <a:lstStyle/>
          <a:p>
            <a:fld id="{330EA680-D336-4FF7-8B7A-9848BB0A1C32}" type="slidenum">
              <a:rPr lang="en-GB" noProof="0" smtClean="0"/>
              <a:t>9</a:t>
            </a:fld>
            <a:endParaRPr lang="en-GB" noProof="0" dirty="0"/>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12" name="TextBox 11">
            <a:extLst>
              <a:ext uri="{FF2B5EF4-FFF2-40B4-BE49-F238E27FC236}">
                <a16:creationId xmlns:a16="http://schemas.microsoft.com/office/drawing/2014/main" id="{C173E3E7-12EB-F386-F41F-B4216B3B8070}"/>
              </a:ext>
            </a:extLst>
          </p:cNvPr>
          <p:cNvSpPr txBox="1"/>
          <p:nvPr/>
        </p:nvSpPr>
        <p:spPr>
          <a:xfrm>
            <a:off x="809906" y="2154174"/>
            <a:ext cx="828588" cy="923330"/>
          </a:xfrm>
          <a:prstGeom prst="rect">
            <a:avLst/>
          </a:prstGeom>
          <a:noFill/>
        </p:spPr>
        <p:txBody>
          <a:bodyPr wrap="square">
            <a:spAutoFit/>
          </a:bodyPr>
          <a:lstStyle/>
          <a:p>
            <a:r>
              <a:rPr lang="en-GB" sz="5400" noProof="0" dirty="0">
                <a:solidFill>
                  <a:srgbClr val="FF0000"/>
                </a:solidFill>
                <a:latin typeface="Aptos Black" panose="020B0004020202020204" pitchFamily="34" charset="0"/>
              </a:rPr>
              <a:t>1.</a:t>
            </a:r>
            <a:endParaRPr lang="en-GB" sz="5400" b="1" noProof="0" dirty="0">
              <a:solidFill>
                <a:srgbClr val="FF0000"/>
              </a:solidFill>
              <a:latin typeface="Aptos Black" panose="020B0004020202020204" pitchFamily="34" charset="0"/>
            </a:endParaRPr>
          </a:p>
        </p:txBody>
      </p:sp>
      <p:sp>
        <p:nvSpPr>
          <p:cNvPr id="13" name="TextBox 12">
            <a:extLst>
              <a:ext uri="{FF2B5EF4-FFF2-40B4-BE49-F238E27FC236}">
                <a16:creationId xmlns:a16="http://schemas.microsoft.com/office/drawing/2014/main" id="{0C874568-781C-544A-2267-8B0E9B2B9FB4}"/>
              </a:ext>
            </a:extLst>
          </p:cNvPr>
          <p:cNvSpPr txBox="1"/>
          <p:nvPr/>
        </p:nvSpPr>
        <p:spPr>
          <a:xfrm>
            <a:off x="1638494" y="2307423"/>
            <a:ext cx="4290165" cy="1477328"/>
          </a:xfrm>
          <a:prstGeom prst="rect">
            <a:avLst/>
          </a:prstGeom>
          <a:noFill/>
        </p:spPr>
        <p:txBody>
          <a:bodyPr wrap="square">
            <a:spAutoFit/>
          </a:bodyPr>
          <a:lstStyle/>
          <a:p>
            <a:pPr>
              <a:lnSpc>
                <a:spcPts val="1800"/>
              </a:lnSpc>
            </a:pPr>
            <a:r>
              <a:rPr lang="en-GB" b="1" noProof="0" dirty="0">
                <a:highlight>
                  <a:srgbClr val="FFC000"/>
                </a:highlight>
              </a:rPr>
              <a:t>Hands-on work with data and statistical software</a:t>
            </a:r>
          </a:p>
          <a:p>
            <a:pPr>
              <a:lnSpc>
                <a:spcPts val="1800"/>
              </a:lnSpc>
            </a:pPr>
            <a:endParaRPr lang="en-GB" b="1" noProof="0" dirty="0">
              <a:highlight>
                <a:srgbClr val="FFC000"/>
              </a:highlight>
            </a:endParaRPr>
          </a:p>
          <a:p>
            <a:pPr>
              <a:lnSpc>
                <a:spcPts val="1800"/>
              </a:lnSpc>
            </a:pPr>
            <a:r>
              <a:rPr lang="en-GB" sz="1600" noProof="0" dirty="0">
                <a:solidFill>
                  <a:schemeClr val="tx1">
                    <a:lumMod val="65000"/>
                    <a:lumOff val="35000"/>
                  </a:schemeClr>
                </a:solidFill>
                <a:latin typeface="Aptos Light" panose="020B0004020202020204" pitchFamily="34" charset="0"/>
              </a:rPr>
              <a:t>You will engage directly with datasets using tools such as R and RStudio to develop practical skills in data analysis and interpretation</a:t>
            </a:r>
          </a:p>
        </p:txBody>
      </p:sp>
      <p:pic>
        <p:nvPicPr>
          <p:cNvPr id="4102" name="Picture 6" descr="RStudio Estadísticas: precios, funciones y opiniones">
            <a:extLst>
              <a:ext uri="{FF2B5EF4-FFF2-40B4-BE49-F238E27FC236}">
                <a16:creationId xmlns:a16="http://schemas.microsoft.com/office/drawing/2014/main" id="{2D2C5D76-CD1A-A65F-A77F-2912565995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6830" y="3077504"/>
            <a:ext cx="574740" cy="57474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brand [Zotero Documentation]">
            <a:extLst>
              <a:ext uri="{FF2B5EF4-FFF2-40B4-BE49-F238E27FC236}">
                <a16:creationId xmlns:a16="http://schemas.microsoft.com/office/drawing/2014/main" id="{B09ED1A3-C07B-77B5-610E-688EE69E96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98812" y="3077504"/>
            <a:ext cx="630723" cy="630723"/>
          </a:xfrm>
          <a:prstGeom prst="rect">
            <a:avLst/>
          </a:prstGeom>
          <a:noFill/>
          <a:extLst>
            <a:ext uri="{909E8E84-426E-40DD-AFC4-6F175D3DCCD1}">
              <a14:hiddenFill xmlns:a14="http://schemas.microsoft.com/office/drawing/2010/main">
                <a:solidFill>
                  <a:srgbClr val="FFFFFF"/>
                </a:solidFill>
              </a14:hiddenFill>
            </a:ext>
          </a:extLst>
        </p:spPr>
      </p:pic>
      <p:sp>
        <p:nvSpPr>
          <p:cNvPr id="9" name="Título 1">
            <a:extLst>
              <a:ext uri="{FF2B5EF4-FFF2-40B4-BE49-F238E27FC236}">
                <a16:creationId xmlns:a16="http://schemas.microsoft.com/office/drawing/2014/main" id="{C7FAA30D-9A52-6548-2203-4A9E788B77E8}"/>
              </a:ext>
            </a:extLst>
          </p:cNvPr>
          <p:cNvSpPr txBox="1">
            <a:spLocks/>
          </p:cNvSpPr>
          <p:nvPr/>
        </p:nvSpPr>
        <p:spPr>
          <a:xfrm>
            <a:off x="886671" y="501650"/>
            <a:ext cx="2994610" cy="64633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Course Tools</a:t>
            </a:r>
          </a:p>
        </p:txBody>
      </p:sp>
      <p:sp>
        <p:nvSpPr>
          <p:cNvPr id="10" name="TextBox 9">
            <a:extLst>
              <a:ext uri="{FF2B5EF4-FFF2-40B4-BE49-F238E27FC236}">
                <a16:creationId xmlns:a16="http://schemas.microsoft.com/office/drawing/2014/main" id="{B69992C1-6D18-6C2C-5C87-7CE08BB6102B}"/>
              </a:ext>
            </a:extLst>
          </p:cNvPr>
          <p:cNvSpPr txBox="1"/>
          <p:nvPr/>
        </p:nvSpPr>
        <p:spPr>
          <a:xfrm>
            <a:off x="886671" y="1147983"/>
            <a:ext cx="3805979" cy="646331"/>
          </a:xfrm>
          <a:prstGeom prst="rect">
            <a:avLst/>
          </a:prstGeom>
          <a:noFill/>
        </p:spPr>
        <p:txBody>
          <a:bodyPr wrap="square">
            <a:spAutoFit/>
          </a:bodyPr>
          <a:lstStyle/>
          <a:p>
            <a:r>
              <a:rPr lang="en-GB" b="1" noProof="0" dirty="0"/>
              <a:t>We will use multiple statistical and research software</a:t>
            </a:r>
            <a:endParaRPr lang="en-GB" b="1" noProof="0" dirty="0">
              <a:latin typeface="Corbel" panose="020B0503020204020204" pitchFamily="34" charset="0"/>
            </a:endParaRPr>
          </a:p>
        </p:txBody>
      </p:sp>
      <p:sp>
        <p:nvSpPr>
          <p:cNvPr id="19" name="TextBox 18">
            <a:extLst>
              <a:ext uri="{FF2B5EF4-FFF2-40B4-BE49-F238E27FC236}">
                <a16:creationId xmlns:a16="http://schemas.microsoft.com/office/drawing/2014/main" id="{898DE7B1-7FCF-3C7E-7378-A11FC63F08D0}"/>
              </a:ext>
            </a:extLst>
          </p:cNvPr>
          <p:cNvSpPr txBox="1"/>
          <p:nvPr/>
        </p:nvSpPr>
        <p:spPr>
          <a:xfrm>
            <a:off x="6263342" y="2154174"/>
            <a:ext cx="828588" cy="923330"/>
          </a:xfrm>
          <a:prstGeom prst="rect">
            <a:avLst/>
          </a:prstGeom>
          <a:noFill/>
        </p:spPr>
        <p:txBody>
          <a:bodyPr wrap="square">
            <a:spAutoFit/>
          </a:bodyPr>
          <a:lstStyle/>
          <a:p>
            <a:r>
              <a:rPr lang="en-GB" sz="5400" noProof="0" dirty="0">
                <a:solidFill>
                  <a:srgbClr val="FF0000"/>
                </a:solidFill>
                <a:latin typeface="Aptos Black" panose="020B0004020202020204" pitchFamily="34" charset="0"/>
              </a:rPr>
              <a:t>2.</a:t>
            </a:r>
            <a:endParaRPr lang="en-GB" sz="5400" b="1" noProof="0" dirty="0">
              <a:solidFill>
                <a:srgbClr val="FF0000"/>
              </a:solidFill>
              <a:latin typeface="Aptos Black" panose="020B0004020202020204" pitchFamily="34" charset="0"/>
            </a:endParaRPr>
          </a:p>
        </p:txBody>
      </p:sp>
      <p:sp>
        <p:nvSpPr>
          <p:cNvPr id="20" name="TextBox 19">
            <a:extLst>
              <a:ext uri="{FF2B5EF4-FFF2-40B4-BE49-F238E27FC236}">
                <a16:creationId xmlns:a16="http://schemas.microsoft.com/office/drawing/2014/main" id="{5E7F9674-81B6-1F15-69E6-F76B44DD06F8}"/>
              </a:ext>
            </a:extLst>
          </p:cNvPr>
          <p:cNvSpPr txBox="1"/>
          <p:nvPr/>
        </p:nvSpPr>
        <p:spPr>
          <a:xfrm>
            <a:off x="7091930" y="2307423"/>
            <a:ext cx="4290164" cy="1477328"/>
          </a:xfrm>
          <a:prstGeom prst="rect">
            <a:avLst/>
          </a:prstGeom>
          <a:noFill/>
        </p:spPr>
        <p:txBody>
          <a:bodyPr wrap="square">
            <a:spAutoFit/>
          </a:bodyPr>
          <a:lstStyle/>
          <a:p>
            <a:pPr>
              <a:lnSpc>
                <a:spcPts val="1800"/>
              </a:lnSpc>
            </a:pPr>
            <a:r>
              <a:rPr lang="en-GB" b="1" noProof="0" dirty="0">
                <a:highlight>
                  <a:srgbClr val="FFC000"/>
                </a:highlight>
              </a:rPr>
              <a:t>Management of sources and academic literature</a:t>
            </a:r>
          </a:p>
          <a:p>
            <a:pPr>
              <a:lnSpc>
                <a:spcPts val="1800"/>
              </a:lnSpc>
            </a:pPr>
            <a:endParaRPr lang="en-GB" b="1" noProof="0" dirty="0">
              <a:highlight>
                <a:srgbClr val="FFC000"/>
              </a:highlight>
            </a:endParaRPr>
          </a:p>
          <a:p>
            <a:pPr>
              <a:lnSpc>
                <a:spcPts val="1800"/>
              </a:lnSpc>
            </a:pPr>
            <a:r>
              <a:rPr lang="en-GB" sz="1600" noProof="0" dirty="0">
                <a:solidFill>
                  <a:schemeClr val="tx1">
                    <a:lumMod val="65000"/>
                    <a:lumOff val="35000"/>
                  </a:schemeClr>
                </a:solidFill>
                <a:latin typeface="Aptos Light" panose="020B0004020202020204" pitchFamily="34" charset="0"/>
              </a:rPr>
              <a:t>Zotero will be used to organize bibliographic references and streamline the handling of research materials</a:t>
            </a:r>
          </a:p>
        </p:txBody>
      </p:sp>
      <p:sp>
        <p:nvSpPr>
          <p:cNvPr id="23" name="TextBox 22">
            <a:extLst>
              <a:ext uri="{FF2B5EF4-FFF2-40B4-BE49-F238E27FC236}">
                <a16:creationId xmlns:a16="http://schemas.microsoft.com/office/drawing/2014/main" id="{C53A0A8E-8212-AC0B-C97C-BC1C0E522BDA}"/>
              </a:ext>
            </a:extLst>
          </p:cNvPr>
          <p:cNvSpPr txBox="1"/>
          <p:nvPr/>
        </p:nvSpPr>
        <p:spPr>
          <a:xfrm>
            <a:off x="875248" y="4180173"/>
            <a:ext cx="828588" cy="923330"/>
          </a:xfrm>
          <a:prstGeom prst="rect">
            <a:avLst/>
          </a:prstGeom>
          <a:noFill/>
        </p:spPr>
        <p:txBody>
          <a:bodyPr wrap="square">
            <a:spAutoFit/>
          </a:bodyPr>
          <a:lstStyle/>
          <a:p>
            <a:r>
              <a:rPr lang="en-GB" sz="5400" noProof="0" dirty="0">
                <a:solidFill>
                  <a:srgbClr val="FF0000"/>
                </a:solidFill>
                <a:latin typeface="Aptos Black" panose="020B0004020202020204" pitchFamily="34" charset="0"/>
              </a:rPr>
              <a:t>3.</a:t>
            </a:r>
            <a:endParaRPr lang="en-GB" sz="5400" b="1" noProof="0" dirty="0">
              <a:solidFill>
                <a:srgbClr val="FF0000"/>
              </a:solidFill>
              <a:latin typeface="Aptos Black" panose="020B0004020202020204" pitchFamily="34" charset="0"/>
            </a:endParaRPr>
          </a:p>
        </p:txBody>
      </p:sp>
      <p:sp>
        <p:nvSpPr>
          <p:cNvPr id="24" name="TextBox 23">
            <a:extLst>
              <a:ext uri="{FF2B5EF4-FFF2-40B4-BE49-F238E27FC236}">
                <a16:creationId xmlns:a16="http://schemas.microsoft.com/office/drawing/2014/main" id="{C6B6EC35-08F4-9DE8-FB10-B90C015B7440}"/>
              </a:ext>
            </a:extLst>
          </p:cNvPr>
          <p:cNvSpPr txBox="1"/>
          <p:nvPr/>
        </p:nvSpPr>
        <p:spPr>
          <a:xfrm>
            <a:off x="1703836" y="4333422"/>
            <a:ext cx="4224823" cy="1477328"/>
          </a:xfrm>
          <a:prstGeom prst="rect">
            <a:avLst/>
          </a:prstGeom>
          <a:noFill/>
        </p:spPr>
        <p:txBody>
          <a:bodyPr wrap="square">
            <a:spAutoFit/>
          </a:bodyPr>
          <a:lstStyle/>
          <a:p>
            <a:pPr>
              <a:lnSpc>
                <a:spcPts val="1800"/>
              </a:lnSpc>
            </a:pPr>
            <a:r>
              <a:rPr lang="en-GB" b="1" noProof="0" dirty="0">
                <a:highlight>
                  <a:srgbClr val="FFC000"/>
                </a:highlight>
              </a:rPr>
              <a:t>Design and implementation of data collection instruments</a:t>
            </a:r>
          </a:p>
          <a:p>
            <a:pPr>
              <a:lnSpc>
                <a:spcPts val="1800"/>
              </a:lnSpc>
            </a:pPr>
            <a:endParaRPr lang="en-GB" b="1" noProof="0" dirty="0">
              <a:highlight>
                <a:srgbClr val="FFC000"/>
              </a:highlight>
            </a:endParaRPr>
          </a:p>
          <a:p>
            <a:pPr>
              <a:lnSpc>
                <a:spcPts val="1800"/>
              </a:lnSpc>
            </a:pPr>
            <a:r>
              <a:rPr lang="en-GB" sz="1600" noProof="0" dirty="0">
                <a:solidFill>
                  <a:schemeClr val="tx1">
                    <a:lumMod val="65000"/>
                    <a:lumOff val="35000"/>
                  </a:schemeClr>
                </a:solidFill>
                <a:latin typeface="Aptos Light" panose="020B0004020202020204" pitchFamily="34" charset="0"/>
              </a:rPr>
              <a:t>You will create and apply structured forms using platforms like Qualtrics to gather primary data for research purposes.</a:t>
            </a:r>
          </a:p>
        </p:txBody>
      </p:sp>
      <p:pic>
        <p:nvPicPr>
          <p:cNvPr id="2051" name="Picture 3" descr="Qualtrics logo in transparent PNG and vectorized SVG formats">
            <a:extLst>
              <a:ext uri="{FF2B5EF4-FFF2-40B4-BE49-F238E27FC236}">
                <a16:creationId xmlns:a16="http://schemas.microsoft.com/office/drawing/2014/main" id="{F89569F8-330A-D1A3-B961-1EA7D5A4E75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6830" y="5103502"/>
            <a:ext cx="574740" cy="310869"/>
          </a:xfrm>
          <a:prstGeom prst="rect">
            <a:avLst/>
          </a:prstGeom>
          <a:noFill/>
          <a:extLst>
            <a:ext uri="{909E8E84-426E-40DD-AFC4-6F175D3DCCD1}">
              <a14:hiddenFill xmlns:a14="http://schemas.microsoft.com/office/drawing/2010/main">
                <a:solidFill>
                  <a:srgbClr val="FFFFFF"/>
                </a:solidFill>
              </a14:hiddenFill>
            </a:ext>
          </a:extLst>
        </p:spPr>
      </p:pic>
      <p:sp>
        <p:nvSpPr>
          <p:cNvPr id="25" name="Footer Placeholder 4">
            <a:extLst>
              <a:ext uri="{FF2B5EF4-FFF2-40B4-BE49-F238E27FC236}">
                <a16:creationId xmlns:a16="http://schemas.microsoft.com/office/drawing/2014/main" id="{2279F503-DC7E-6A09-CF73-99A24D4AFC04}"/>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pic>
        <p:nvPicPr>
          <p:cNvPr id="2" name="Picture 2" descr="brand [Zotero Documentation]">
            <a:extLst>
              <a:ext uri="{FF2B5EF4-FFF2-40B4-BE49-F238E27FC236}">
                <a16:creationId xmlns:a16="http://schemas.microsoft.com/office/drawing/2014/main" id="{A6637F01-E85C-0280-ABEB-7C64A0949C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63343" y="3077504"/>
            <a:ext cx="630723" cy="63072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6B27B03-CEFE-F0D7-D8C8-5B028A8E934E}"/>
              </a:ext>
            </a:extLst>
          </p:cNvPr>
          <p:cNvSpPr txBox="1"/>
          <p:nvPr/>
        </p:nvSpPr>
        <p:spPr>
          <a:xfrm>
            <a:off x="6227873" y="2154174"/>
            <a:ext cx="828588" cy="923330"/>
          </a:xfrm>
          <a:prstGeom prst="rect">
            <a:avLst/>
          </a:prstGeom>
          <a:noFill/>
        </p:spPr>
        <p:txBody>
          <a:bodyPr wrap="square">
            <a:spAutoFit/>
          </a:bodyPr>
          <a:lstStyle/>
          <a:p>
            <a:r>
              <a:rPr lang="en-GB" sz="5400" noProof="0" dirty="0">
                <a:solidFill>
                  <a:srgbClr val="FF0000"/>
                </a:solidFill>
                <a:latin typeface="Aptos Black" panose="020B0004020202020204" pitchFamily="34" charset="0"/>
              </a:rPr>
              <a:t>2.</a:t>
            </a:r>
            <a:endParaRPr lang="en-GB" sz="5400" b="1" noProof="0" dirty="0">
              <a:solidFill>
                <a:srgbClr val="FF0000"/>
              </a:solidFill>
              <a:latin typeface="Aptos Black" panose="020B0004020202020204" pitchFamily="34" charset="0"/>
            </a:endParaRPr>
          </a:p>
        </p:txBody>
      </p:sp>
      <p:sp>
        <p:nvSpPr>
          <p:cNvPr id="6" name="TextBox 5">
            <a:extLst>
              <a:ext uri="{FF2B5EF4-FFF2-40B4-BE49-F238E27FC236}">
                <a16:creationId xmlns:a16="http://schemas.microsoft.com/office/drawing/2014/main" id="{C8246D26-6003-F491-DF48-07AACA31BF3C}"/>
              </a:ext>
            </a:extLst>
          </p:cNvPr>
          <p:cNvSpPr txBox="1"/>
          <p:nvPr/>
        </p:nvSpPr>
        <p:spPr>
          <a:xfrm>
            <a:off x="7056461" y="2307423"/>
            <a:ext cx="4290164" cy="1477328"/>
          </a:xfrm>
          <a:prstGeom prst="rect">
            <a:avLst/>
          </a:prstGeom>
          <a:noFill/>
        </p:spPr>
        <p:txBody>
          <a:bodyPr wrap="square">
            <a:spAutoFit/>
          </a:bodyPr>
          <a:lstStyle/>
          <a:p>
            <a:pPr>
              <a:lnSpc>
                <a:spcPts val="1800"/>
              </a:lnSpc>
            </a:pPr>
            <a:r>
              <a:rPr lang="en-GB" b="1" noProof="0" dirty="0">
                <a:highlight>
                  <a:srgbClr val="FFC000"/>
                </a:highlight>
              </a:rPr>
              <a:t>Management of sources and academic literature</a:t>
            </a:r>
          </a:p>
          <a:p>
            <a:pPr>
              <a:lnSpc>
                <a:spcPts val="1800"/>
              </a:lnSpc>
            </a:pPr>
            <a:endParaRPr lang="en-GB" b="1" noProof="0" dirty="0">
              <a:highlight>
                <a:srgbClr val="FFC000"/>
              </a:highlight>
            </a:endParaRPr>
          </a:p>
          <a:p>
            <a:pPr>
              <a:lnSpc>
                <a:spcPts val="1800"/>
              </a:lnSpc>
            </a:pPr>
            <a:r>
              <a:rPr lang="en-GB" sz="1600" noProof="0" dirty="0">
                <a:solidFill>
                  <a:schemeClr val="tx1">
                    <a:lumMod val="65000"/>
                    <a:lumOff val="35000"/>
                  </a:schemeClr>
                </a:solidFill>
                <a:latin typeface="Aptos Light" panose="020B0004020202020204" pitchFamily="34" charset="0"/>
              </a:rPr>
              <a:t>Zotero will be used to organize bibliographic references and streamline the handling of research materials</a:t>
            </a:r>
          </a:p>
        </p:txBody>
      </p:sp>
    </p:spTree>
    <p:extLst>
      <p:ext uri="{BB962C8B-B14F-4D97-AF65-F5344CB8AC3E}">
        <p14:creationId xmlns:p14="http://schemas.microsoft.com/office/powerpoint/2010/main" val="2483836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4102"/>
                                        </p:tgtEl>
                                        <p:attrNameLst>
                                          <p:attrName>style.visibility</p:attrName>
                                        </p:attrNameLst>
                                      </p:cBhvr>
                                      <p:to>
                                        <p:strVal val="visible"/>
                                      </p:to>
                                    </p:set>
                                    <p:animEffect transition="in" filter="fade">
                                      <p:cBhvr>
                                        <p:cTn id="13" dur="500"/>
                                        <p:tgtEl>
                                          <p:spTgt spid="410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nodeType="withEffect">
                                  <p:stCondLst>
                                    <p:cond delay="0"/>
                                  </p:stCondLst>
                                  <p:childTnLst>
                                    <p:set>
                                      <p:cBhvr>
                                        <p:cTn id="34" dur="1" fill="hold">
                                          <p:stCondLst>
                                            <p:cond delay="0"/>
                                          </p:stCondLst>
                                        </p:cTn>
                                        <p:tgtEl>
                                          <p:spTgt spid="2051"/>
                                        </p:tgtEl>
                                        <p:attrNameLst>
                                          <p:attrName>style.visibility</p:attrName>
                                        </p:attrNameLst>
                                      </p:cBhvr>
                                      <p:to>
                                        <p:strVal val="visible"/>
                                      </p:to>
                                    </p:set>
                                    <p:animEffect transition="in" filter="fade">
                                      <p:cBhvr>
                                        <p:cTn id="35"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23" grpId="0"/>
      <p:bldP spid="24" grpId="0"/>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22F70-3B79-A8C8-FDDA-18452DE25EDC}"/>
            </a:ext>
          </a:extLst>
        </p:cNvPr>
        <p:cNvGrpSpPr/>
        <p:nvPr/>
      </p:nvGrpSpPr>
      <p:grpSpPr>
        <a:xfrm>
          <a:off x="0" y="0"/>
          <a:ext cx="0" cy="0"/>
          <a:chOff x="0" y="0"/>
          <a:chExt cx="0" cy="0"/>
        </a:xfrm>
      </p:grpSpPr>
      <p:cxnSp>
        <p:nvCxnSpPr>
          <p:cNvPr id="4096" name="Straight Connector 4095">
            <a:extLst>
              <a:ext uri="{FF2B5EF4-FFF2-40B4-BE49-F238E27FC236}">
                <a16:creationId xmlns:a16="http://schemas.microsoft.com/office/drawing/2014/main" id="{51A3EB7B-29B1-C4F8-CF1D-22EE9A62429A}"/>
              </a:ext>
            </a:extLst>
          </p:cNvPr>
          <p:cNvCxnSpPr>
            <a:cxnSpLocks/>
          </p:cNvCxnSpPr>
          <p:nvPr/>
        </p:nvCxnSpPr>
        <p:spPr>
          <a:xfrm flipH="1">
            <a:off x="8924296" y="4613611"/>
            <a:ext cx="722941" cy="0"/>
          </a:xfrm>
          <a:prstGeom prst="line">
            <a:avLst/>
          </a:prstGeom>
          <a:ln w="28575">
            <a:solidFill>
              <a:srgbClr val="00B050"/>
            </a:solidFill>
          </a:ln>
        </p:spPr>
        <p:style>
          <a:lnRef idx="2">
            <a:schemeClr val="accent1"/>
          </a:lnRef>
          <a:fillRef idx="0">
            <a:schemeClr val="accent1"/>
          </a:fillRef>
          <a:effectRef idx="1">
            <a:schemeClr val="accent1"/>
          </a:effectRef>
          <a:fontRef idx="minor">
            <a:schemeClr val="tx1"/>
          </a:fontRef>
        </p:style>
      </p:cxnSp>
      <p:sp>
        <p:nvSpPr>
          <p:cNvPr id="63" name="Oval 62">
            <a:extLst>
              <a:ext uri="{FF2B5EF4-FFF2-40B4-BE49-F238E27FC236}">
                <a16:creationId xmlns:a16="http://schemas.microsoft.com/office/drawing/2014/main" id="{8CDC9175-D4D3-8773-1F0C-A1A85DA61719}"/>
              </a:ext>
            </a:extLst>
          </p:cNvPr>
          <p:cNvSpPr/>
          <p:nvPr/>
        </p:nvSpPr>
        <p:spPr>
          <a:xfrm>
            <a:off x="9118719" y="4447832"/>
            <a:ext cx="331557" cy="331557"/>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Slide Number Placeholder 2">
            <a:extLst>
              <a:ext uri="{FF2B5EF4-FFF2-40B4-BE49-F238E27FC236}">
                <a16:creationId xmlns:a16="http://schemas.microsoft.com/office/drawing/2014/main" id="{10D5521E-FA35-F2E3-175A-C492FB38879D}"/>
              </a:ext>
            </a:extLst>
          </p:cNvPr>
          <p:cNvSpPr>
            <a:spLocks noGrp="1"/>
          </p:cNvSpPr>
          <p:nvPr>
            <p:ph type="sldNum" sz="quarter" idx="12"/>
          </p:nvPr>
        </p:nvSpPr>
        <p:spPr/>
        <p:txBody>
          <a:bodyPr/>
          <a:lstStyle/>
          <a:p>
            <a:fld id="{330EA680-D336-4FF7-8B7A-9848BB0A1C32}" type="slidenum">
              <a:rPr lang="en-GB" noProof="0" smtClean="0"/>
              <a:t>10</a:t>
            </a:fld>
            <a:endParaRPr lang="en-GB" noProof="0" dirty="0"/>
          </a:p>
        </p:txBody>
      </p:sp>
      <p:sp>
        <p:nvSpPr>
          <p:cNvPr id="4" name="Date Placeholder 3">
            <a:extLst>
              <a:ext uri="{FF2B5EF4-FFF2-40B4-BE49-F238E27FC236}">
                <a16:creationId xmlns:a16="http://schemas.microsoft.com/office/drawing/2014/main" id="{C2647D76-399B-9600-ABCC-5E8DF53A7041}"/>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5" name="Rectangle 4">
            <a:extLst>
              <a:ext uri="{FF2B5EF4-FFF2-40B4-BE49-F238E27FC236}">
                <a16:creationId xmlns:a16="http://schemas.microsoft.com/office/drawing/2014/main" id="{471A72DC-4CD7-4A2F-05C6-4308136D8ADA}"/>
              </a:ext>
            </a:extLst>
          </p:cNvPr>
          <p:cNvSpPr/>
          <p:nvPr/>
        </p:nvSpPr>
        <p:spPr>
          <a:xfrm>
            <a:off x="1442039" y="4827311"/>
            <a:ext cx="2645507" cy="1778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b="1" noProof="0" dirty="0">
                <a:solidFill>
                  <a:sysClr val="windowText" lastClr="000000"/>
                </a:solidFill>
                <a:highlight>
                  <a:srgbClr val="FFC000"/>
                </a:highlight>
              </a:rPr>
              <a:t>Design and develop</a:t>
            </a:r>
          </a:p>
        </p:txBody>
      </p:sp>
      <p:cxnSp>
        <p:nvCxnSpPr>
          <p:cNvPr id="4150" name="Straight Connector 4149">
            <a:extLst>
              <a:ext uri="{FF2B5EF4-FFF2-40B4-BE49-F238E27FC236}">
                <a16:creationId xmlns:a16="http://schemas.microsoft.com/office/drawing/2014/main" id="{5D5BDC07-0BF2-8B66-F670-CECCDB85BD03}"/>
              </a:ext>
            </a:extLst>
          </p:cNvPr>
          <p:cNvCxnSpPr>
            <a:cxnSpLocks/>
            <a:stCxn id="4156" idx="0"/>
            <a:endCxn id="4157" idx="4"/>
          </p:cNvCxnSpPr>
          <p:nvPr/>
        </p:nvCxnSpPr>
        <p:spPr>
          <a:xfrm flipV="1">
            <a:off x="1852347" y="1448603"/>
            <a:ext cx="0" cy="2420004"/>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156" name="Rectangle 4155">
            <a:extLst>
              <a:ext uri="{FF2B5EF4-FFF2-40B4-BE49-F238E27FC236}">
                <a16:creationId xmlns:a16="http://schemas.microsoft.com/office/drawing/2014/main" id="{32168D33-4E04-0B4C-8352-E3628AF3278C}"/>
              </a:ext>
            </a:extLst>
          </p:cNvPr>
          <p:cNvSpPr/>
          <p:nvPr/>
        </p:nvSpPr>
        <p:spPr>
          <a:xfrm>
            <a:off x="1563988" y="3868607"/>
            <a:ext cx="576718" cy="2667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ysClr val="windowText" lastClr="000000"/>
                </a:solidFill>
              </a:rPr>
              <a:t>26-01</a:t>
            </a:r>
          </a:p>
        </p:txBody>
      </p:sp>
      <p:sp>
        <p:nvSpPr>
          <p:cNvPr id="4157" name="Oval 4156">
            <a:extLst>
              <a:ext uri="{FF2B5EF4-FFF2-40B4-BE49-F238E27FC236}">
                <a16:creationId xmlns:a16="http://schemas.microsoft.com/office/drawing/2014/main" id="{091D12BB-B311-8017-2196-B2F2CBD83E48}"/>
              </a:ext>
            </a:extLst>
          </p:cNvPr>
          <p:cNvSpPr/>
          <p:nvPr/>
        </p:nvSpPr>
        <p:spPr>
          <a:xfrm>
            <a:off x="1769797" y="1283504"/>
            <a:ext cx="165099" cy="165099"/>
          </a:xfrm>
          <a:prstGeom prst="ellipse">
            <a:avLst/>
          </a:prstGeom>
          <a:solidFill>
            <a:srgbClr val="F22D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158" name="Rectangle 4157">
            <a:extLst>
              <a:ext uri="{FF2B5EF4-FFF2-40B4-BE49-F238E27FC236}">
                <a16:creationId xmlns:a16="http://schemas.microsoft.com/office/drawing/2014/main" id="{8EC0C27B-9376-17B6-6180-DA9A9A072C98}"/>
              </a:ext>
            </a:extLst>
          </p:cNvPr>
          <p:cNvSpPr/>
          <p:nvPr/>
        </p:nvSpPr>
        <p:spPr>
          <a:xfrm>
            <a:off x="1450505" y="1531554"/>
            <a:ext cx="1211918" cy="2667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900" noProof="0" dirty="0">
                <a:solidFill>
                  <a:schemeClr val="tx1">
                    <a:lumMod val="50000"/>
                    <a:lumOff val="50000"/>
                  </a:schemeClr>
                </a:solidFill>
              </a:rPr>
              <a:t>Project definition</a:t>
            </a:r>
          </a:p>
        </p:txBody>
      </p:sp>
      <p:sp>
        <p:nvSpPr>
          <p:cNvPr id="4159" name="Rectangle 4158">
            <a:extLst>
              <a:ext uri="{FF2B5EF4-FFF2-40B4-BE49-F238E27FC236}">
                <a16:creationId xmlns:a16="http://schemas.microsoft.com/office/drawing/2014/main" id="{9398E804-E1E1-DB72-3402-6307DF717F28}"/>
              </a:ext>
            </a:extLst>
          </p:cNvPr>
          <p:cNvSpPr/>
          <p:nvPr/>
        </p:nvSpPr>
        <p:spPr>
          <a:xfrm>
            <a:off x="3109647" y="3878132"/>
            <a:ext cx="576718" cy="2667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ysClr val="windowText" lastClr="000000"/>
                </a:solidFill>
              </a:rPr>
              <a:t>25-02</a:t>
            </a:r>
          </a:p>
        </p:txBody>
      </p:sp>
      <p:cxnSp>
        <p:nvCxnSpPr>
          <p:cNvPr id="4160" name="Straight Connector 4159">
            <a:extLst>
              <a:ext uri="{FF2B5EF4-FFF2-40B4-BE49-F238E27FC236}">
                <a16:creationId xmlns:a16="http://schemas.microsoft.com/office/drawing/2014/main" id="{EA481BAD-36EF-6E62-C534-AED498C61208}"/>
              </a:ext>
            </a:extLst>
          </p:cNvPr>
          <p:cNvCxnSpPr>
            <a:cxnSpLocks/>
          </p:cNvCxnSpPr>
          <p:nvPr/>
        </p:nvCxnSpPr>
        <p:spPr>
          <a:xfrm flipH="1" flipV="1">
            <a:off x="3396976" y="1452670"/>
            <a:ext cx="1" cy="2429675"/>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161" name="Star: 4 Points 4160">
            <a:extLst>
              <a:ext uri="{FF2B5EF4-FFF2-40B4-BE49-F238E27FC236}">
                <a16:creationId xmlns:a16="http://schemas.microsoft.com/office/drawing/2014/main" id="{6D854993-1D44-837D-B9E6-12577F90A0CD}"/>
              </a:ext>
            </a:extLst>
          </p:cNvPr>
          <p:cNvSpPr/>
          <p:nvPr/>
        </p:nvSpPr>
        <p:spPr>
          <a:xfrm>
            <a:off x="3315455" y="1283358"/>
            <a:ext cx="165099" cy="165099"/>
          </a:xfrm>
          <a:prstGeom prst="star4">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noProof="0" dirty="0"/>
          </a:p>
        </p:txBody>
      </p:sp>
      <p:sp>
        <p:nvSpPr>
          <p:cNvPr id="4162" name="Rectangle 4161">
            <a:extLst>
              <a:ext uri="{FF2B5EF4-FFF2-40B4-BE49-F238E27FC236}">
                <a16:creationId xmlns:a16="http://schemas.microsoft.com/office/drawing/2014/main" id="{6245A720-B874-6E37-922C-BB7562CDE62E}"/>
              </a:ext>
            </a:extLst>
          </p:cNvPr>
          <p:cNvSpPr/>
          <p:nvPr/>
        </p:nvSpPr>
        <p:spPr>
          <a:xfrm>
            <a:off x="3021183" y="1531554"/>
            <a:ext cx="865483" cy="2667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900" b="1" noProof="0" dirty="0">
                <a:solidFill>
                  <a:schemeClr val="tx1">
                    <a:lumMod val="75000"/>
                    <a:lumOff val="25000"/>
                  </a:schemeClr>
                </a:solidFill>
              </a:rPr>
              <a:t>DOA - First submission</a:t>
            </a:r>
          </a:p>
        </p:txBody>
      </p:sp>
      <p:cxnSp>
        <p:nvCxnSpPr>
          <p:cNvPr id="4163" name="Straight Connector 4162">
            <a:extLst>
              <a:ext uri="{FF2B5EF4-FFF2-40B4-BE49-F238E27FC236}">
                <a16:creationId xmlns:a16="http://schemas.microsoft.com/office/drawing/2014/main" id="{7FD506EB-5EB5-22A9-057D-E5CB4EC7D5AA}"/>
              </a:ext>
            </a:extLst>
          </p:cNvPr>
          <p:cNvCxnSpPr>
            <a:cxnSpLocks/>
            <a:endCxn id="4157" idx="6"/>
          </p:cNvCxnSpPr>
          <p:nvPr/>
        </p:nvCxnSpPr>
        <p:spPr>
          <a:xfrm flipH="1">
            <a:off x="1934896" y="1365908"/>
            <a:ext cx="1380559" cy="146"/>
          </a:xfrm>
          <a:prstGeom prst="line">
            <a:avLst/>
          </a:prstGeom>
          <a:ln w="9525">
            <a:solidFill>
              <a:srgbClr val="F26665"/>
            </a:solidFill>
          </a:ln>
        </p:spPr>
        <p:style>
          <a:lnRef idx="2">
            <a:schemeClr val="accent1"/>
          </a:lnRef>
          <a:fillRef idx="0">
            <a:schemeClr val="accent1"/>
          </a:fillRef>
          <a:effectRef idx="1">
            <a:schemeClr val="accent1"/>
          </a:effectRef>
          <a:fontRef idx="minor">
            <a:schemeClr val="tx1"/>
          </a:fontRef>
        </p:style>
      </p:cxnSp>
      <p:sp>
        <p:nvSpPr>
          <p:cNvPr id="4168" name="Rectangle 4167">
            <a:extLst>
              <a:ext uri="{FF2B5EF4-FFF2-40B4-BE49-F238E27FC236}">
                <a16:creationId xmlns:a16="http://schemas.microsoft.com/office/drawing/2014/main" id="{06990DFB-1607-AE2A-75D8-89508B64A09A}"/>
              </a:ext>
            </a:extLst>
          </p:cNvPr>
          <p:cNvSpPr/>
          <p:nvPr/>
        </p:nvSpPr>
        <p:spPr>
          <a:xfrm>
            <a:off x="3942972" y="3868607"/>
            <a:ext cx="664705" cy="2667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ysClr val="windowText" lastClr="000000"/>
                </a:solidFill>
              </a:rPr>
              <a:t>18-03</a:t>
            </a:r>
          </a:p>
        </p:txBody>
      </p:sp>
      <p:cxnSp>
        <p:nvCxnSpPr>
          <p:cNvPr id="4170" name="Straight Connector 4169">
            <a:extLst>
              <a:ext uri="{FF2B5EF4-FFF2-40B4-BE49-F238E27FC236}">
                <a16:creationId xmlns:a16="http://schemas.microsoft.com/office/drawing/2014/main" id="{6694DD78-B621-B1B4-FE7E-B61D95F46A15}"/>
              </a:ext>
            </a:extLst>
          </p:cNvPr>
          <p:cNvCxnSpPr>
            <a:cxnSpLocks/>
            <a:stCxn id="4168" idx="0"/>
            <a:endCxn id="4191" idx="4"/>
          </p:cNvCxnSpPr>
          <p:nvPr/>
        </p:nvCxnSpPr>
        <p:spPr>
          <a:xfrm flipH="1" flipV="1">
            <a:off x="4268128" y="2202837"/>
            <a:ext cx="7197" cy="166577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172" name="Oval 4171">
            <a:extLst>
              <a:ext uri="{FF2B5EF4-FFF2-40B4-BE49-F238E27FC236}">
                <a16:creationId xmlns:a16="http://schemas.microsoft.com/office/drawing/2014/main" id="{72B42BBD-1A26-D549-0443-443258B5E816}"/>
              </a:ext>
            </a:extLst>
          </p:cNvPr>
          <p:cNvSpPr/>
          <p:nvPr/>
        </p:nvSpPr>
        <p:spPr>
          <a:xfrm>
            <a:off x="4185579" y="1283358"/>
            <a:ext cx="165099" cy="165099"/>
          </a:xfrm>
          <a:prstGeom prst="ellipse">
            <a:avLst/>
          </a:prstGeom>
          <a:solidFill>
            <a:srgbClr val="F22D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4174" name="Straight Connector 4173">
            <a:extLst>
              <a:ext uri="{FF2B5EF4-FFF2-40B4-BE49-F238E27FC236}">
                <a16:creationId xmlns:a16="http://schemas.microsoft.com/office/drawing/2014/main" id="{CDB2B337-9872-1669-DDDE-EC331C89ED11}"/>
              </a:ext>
            </a:extLst>
          </p:cNvPr>
          <p:cNvCxnSpPr>
            <a:cxnSpLocks/>
            <a:stCxn id="4172" idx="2"/>
          </p:cNvCxnSpPr>
          <p:nvPr/>
        </p:nvCxnSpPr>
        <p:spPr>
          <a:xfrm flipH="1">
            <a:off x="3480554" y="1365908"/>
            <a:ext cx="705025" cy="0"/>
          </a:xfrm>
          <a:prstGeom prst="line">
            <a:avLst/>
          </a:prstGeom>
          <a:ln w="9525">
            <a:solidFill>
              <a:srgbClr val="F26665"/>
            </a:solidFill>
          </a:ln>
        </p:spPr>
        <p:style>
          <a:lnRef idx="2">
            <a:schemeClr val="accent1"/>
          </a:lnRef>
          <a:fillRef idx="0">
            <a:schemeClr val="accent1"/>
          </a:fillRef>
          <a:effectRef idx="1">
            <a:schemeClr val="accent1"/>
          </a:effectRef>
          <a:fontRef idx="minor">
            <a:schemeClr val="tx1"/>
          </a:fontRef>
        </p:style>
      </p:cxnSp>
      <p:sp>
        <p:nvSpPr>
          <p:cNvPr id="4180" name="Rectangle 4179">
            <a:extLst>
              <a:ext uri="{FF2B5EF4-FFF2-40B4-BE49-F238E27FC236}">
                <a16:creationId xmlns:a16="http://schemas.microsoft.com/office/drawing/2014/main" id="{CF0B2B17-AB4B-1AB5-9F35-9BD5121A07C3}"/>
              </a:ext>
            </a:extLst>
          </p:cNvPr>
          <p:cNvSpPr/>
          <p:nvPr/>
        </p:nvSpPr>
        <p:spPr>
          <a:xfrm>
            <a:off x="3886667" y="1499259"/>
            <a:ext cx="1151059" cy="43219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900" noProof="0" dirty="0">
                <a:solidFill>
                  <a:schemeClr val="tx1">
                    <a:lumMod val="50000"/>
                    <a:lumOff val="50000"/>
                  </a:schemeClr>
                </a:solidFill>
              </a:rPr>
              <a:t>Data collection instrument/form</a:t>
            </a:r>
          </a:p>
        </p:txBody>
      </p:sp>
      <p:sp>
        <p:nvSpPr>
          <p:cNvPr id="4191" name="Oval 4190">
            <a:extLst>
              <a:ext uri="{FF2B5EF4-FFF2-40B4-BE49-F238E27FC236}">
                <a16:creationId xmlns:a16="http://schemas.microsoft.com/office/drawing/2014/main" id="{83D1B2FE-4148-03C0-AE5B-5A65E816FBAF}"/>
              </a:ext>
            </a:extLst>
          </p:cNvPr>
          <p:cNvSpPr/>
          <p:nvPr/>
        </p:nvSpPr>
        <p:spPr>
          <a:xfrm>
            <a:off x="4185578" y="2037738"/>
            <a:ext cx="165099" cy="165099"/>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lumMod val="50000"/>
                  <a:lumOff val="50000"/>
                </a:schemeClr>
              </a:solidFill>
            </a:endParaRPr>
          </a:p>
        </p:txBody>
      </p:sp>
      <p:sp>
        <p:nvSpPr>
          <p:cNvPr id="4192" name="Rectangle 4191">
            <a:extLst>
              <a:ext uri="{FF2B5EF4-FFF2-40B4-BE49-F238E27FC236}">
                <a16:creationId xmlns:a16="http://schemas.microsoft.com/office/drawing/2014/main" id="{C3581C15-0746-EB82-F2B0-574CD29ABFDA}"/>
              </a:ext>
            </a:extLst>
          </p:cNvPr>
          <p:cNvSpPr/>
          <p:nvPr/>
        </p:nvSpPr>
        <p:spPr>
          <a:xfrm>
            <a:off x="3824498" y="2261259"/>
            <a:ext cx="1151059" cy="43219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900" noProof="0" dirty="0">
                <a:solidFill>
                  <a:schemeClr val="tx1">
                    <a:lumMod val="50000"/>
                    <a:lumOff val="50000"/>
                  </a:schemeClr>
                </a:solidFill>
              </a:rPr>
              <a:t>Start of data collection</a:t>
            </a:r>
          </a:p>
        </p:txBody>
      </p:sp>
      <p:cxnSp>
        <p:nvCxnSpPr>
          <p:cNvPr id="4194" name="Straight Connector 4193">
            <a:extLst>
              <a:ext uri="{FF2B5EF4-FFF2-40B4-BE49-F238E27FC236}">
                <a16:creationId xmlns:a16="http://schemas.microsoft.com/office/drawing/2014/main" id="{560046D7-6D0F-6FCA-D150-5FB57D740EE2}"/>
              </a:ext>
            </a:extLst>
          </p:cNvPr>
          <p:cNvCxnSpPr>
            <a:cxnSpLocks/>
            <a:endCxn id="4191" idx="6"/>
          </p:cNvCxnSpPr>
          <p:nvPr/>
        </p:nvCxnSpPr>
        <p:spPr>
          <a:xfrm flipH="1">
            <a:off x="4350677" y="2120288"/>
            <a:ext cx="1167210" cy="0"/>
          </a:xfrm>
          <a:prstGeom prst="line">
            <a:avLst/>
          </a:prstGeom>
          <a:ln w="9525">
            <a:solidFill>
              <a:srgbClr val="00B0F0"/>
            </a:solidFill>
          </a:ln>
        </p:spPr>
        <p:style>
          <a:lnRef idx="2">
            <a:schemeClr val="accent1"/>
          </a:lnRef>
          <a:fillRef idx="0">
            <a:schemeClr val="accent1"/>
          </a:fillRef>
          <a:effectRef idx="1">
            <a:schemeClr val="accent1"/>
          </a:effectRef>
          <a:fontRef idx="minor">
            <a:schemeClr val="tx1"/>
          </a:fontRef>
        </p:style>
      </p:cxnSp>
      <p:sp>
        <p:nvSpPr>
          <p:cNvPr id="4199" name="Rectangle 4198">
            <a:extLst>
              <a:ext uri="{FF2B5EF4-FFF2-40B4-BE49-F238E27FC236}">
                <a16:creationId xmlns:a16="http://schemas.microsoft.com/office/drawing/2014/main" id="{2457E91E-D07E-3A82-F6AA-76989915492D}"/>
              </a:ext>
            </a:extLst>
          </p:cNvPr>
          <p:cNvSpPr/>
          <p:nvPr/>
        </p:nvSpPr>
        <p:spPr>
          <a:xfrm>
            <a:off x="6212141" y="3868607"/>
            <a:ext cx="576718" cy="2667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ysClr val="windowText" lastClr="000000"/>
                </a:solidFill>
              </a:rPr>
              <a:t>08-04</a:t>
            </a:r>
          </a:p>
        </p:txBody>
      </p:sp>
      <p:cxnSp>
        <p:nvCxnSpPr>
          <p:cNvPr id="4200" name="Straight Connector 4199">
            <a:extLst>
              <a:ext uri="{FF2B5EF4-FFF2-40B4-BE49-F238E27FC236}">
                <a16:creationId xmlns:a16="http://schemas.microsoft.com/office/drawing/2014/main" id="{E3CC4234-194B-869B-C54F-F55BD5EBD625}"/>
              </a:ext>
            </a:extLst>
          </p:cNvPr>
          <p:cNvCxnSpPr>
            <a:cxnSpLocks/>
            <a:stCxn id="4199" idx="0"/>
          </p:cNvCxnSpPr>
          <p:nvPr/>
        </p:nvCxnSpPr>
        <p:spPr>
          <a:xfrm flipH="1" flipV="1">
            <a:off x="6500498" y="2202837"/>
            <a:ext cx="2" cy="166577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02" name="Straight Connector 4201">
            <a:extLst>
              <a:ext uri="{FF2B5EF4-FFF2-40B4-BE49-F238E27FC236}">
                <a16:creationId xmlns:a16="http://schemas.microsoft.com/office/drawing/2014/main" id="{719300A6-A56F-A6FD-1F1C-D62AEE02AEA4}"/>
              </a:ext>
            </a:extLst>
          </p:cNvPr>
          <p:cNvCxnSpPr>
            <a:cxnSpLocks/>
          </p:cNvCxnSpPr>
          <p:nvPr/>
        </p:nvCxnSpPr>
        <p:spPr>
          <a:xfrm flipH="1">
            <a:off x="5250738" y="2120288"/>
            <a:ext cx="1167210" cy="0"/>
          </a:xfrm>
          <a:prstGeom prst="line">
            <a:avLst/>
          </a:prstGeom>
          <a:ln w="9525">
            <a:solidFill>
              <a:srgbClr val="00B0F0"/>
            </a:solidFill>
          </a:ln>
        </p:spPr>
        <p:style>
          <a:lnRef idx="2">
            <a:schemeClr val="accent1"/>
          </a:lnRef>
          <a:fillRef idx="0">
            <a:schemeClr val="accent1"/>
          </a:fillRef>
          <a:effectRef idx="1">
            <a:schemeClr val="accent1"/>
          </a:effectRef>
          <a:fontRef idx="minor">
            <a:schemeClr val="tx1"/>
          </a:fontRef>
        </p:style>
      </p:cxnSp>
      <p:sp>
        <p:nvSpPr>
          <p:cNvPr id="4193" name="Rectangle 4192">
            <a:extLst>
              <a:ext uri="{FF2B5EF4-FFF2-40B4-BE49-F238E27FC236}">
                <a16:creationId xmlns:a16="http://schemas.microsoft.com/office/drawing/2014/main" id="{1B42EA0C-C2BB-5357-9F96-206997F6397D}"/>
              </a:ext>
            </a:extLst>
          </p:cNvPr>
          <p:cNvSpPr/>
          <p:nvPr/>
        </p:nvSpPr>
        <p:spPr>
          <a:xfrm>
            <a:off x="6212141" y="2477764"/>
            <a:ext cx="1004336" cy="43219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900" noProof="0" dirty="0">
                <a:solidFill>
                  <a:schemeClr val="tx1">
                    <a:lumMod val="50000"/>
                    <a:lumOff val="50000"/>
                  </a:schemeClr>
                </a:solidFill>
              </a:rPr>
              <a:t>End of data collection</a:t>
            </a:r>
          </a:p>
        </p:txBody>
      </p:sp>
      <p:sp>
        <p:nvSpPr>
          <p:cNvPr id="4203" name="Rectangle 4202">
            <a:extLst>
              <a:ext uri="{FF2B5EF4-FFF2-40B4-BE49-F238E27FC236}">
                <a16:creationId xmlns:a16="http://schemas.microsoft.com/office/drawing/2014/main" id="{DF61C8B5-43E8-1206-6BF0-DBA0E4290BC3}"/>
              </a:ext>
            </a:extLst>
          </p:cNvPr>
          <p:cNvSpPr/>
          <p:nvPr/>
        </p:nvSpPr>
        <p:spPr>
          <a:xfrm>
            <a:off x="6096000" y="2261259"/>
            <a:ext cx="1245110" cy="2667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900" b="1" noProof="0" dirty="0">
                <a:solidFill>
                  <a:schemeClr val="tx1">
                    <a:lumMod val="75000"/>
                    <a:lumOff val="25000"/>
                  </a:schemeClr>
                </a:solidFill>
              </a:rPr>
              <a:t>Second submission</a:t>
            </a:r>
          </a:p>
        </p:txBody>
      </p:sp>
      <p:sp>
        <p:nvSpPr>
          <p:cNvPr id="4211" name="Rectangle 4210">
            <a:extLst>
              <a:ext uri="{FF2B5EF4-FFF2-40B4-BE49-F238E27FC236}">
                <a16:creationId xmlns:a16="http://schemas.microsoft.com/office/drawing/2014/main" id="{6B3D3972-1FDD-DD11-D53B-C715B213D3C7}"/>
              </a:ext>
            </a:extLst>
          </p:cNvPr>
          <p:cNvSpPr/>
          <p:nvPr/>
        </p:nvSpPr>
        <p:spPr>
          <a:xfrm>
            <a:off x="7711162" y="3846498"/>
            <a:ext cx="745584" cy="2667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ysClr val="windowText" lastClr="000000"/>
                </a:solidFill>
              </a:rPr>
              <a:t>29-04</a:t>
            </a:r>
          </a:p>
        </p:txBody>
      </p:sp>
      <p:cxnSp>
        <p:nvCxnSpPr>
          <p:cNvPr id="4212" name="Straight Connector 4211">
            <a:extLst>
              <a:ext uri="{FF2B5EF4-FFF2-40B4-BE49-F238E27FC236}">
                <a16:creationId xmlns:a16="http://schemas.microsoft.com/office/drawing/2014/main" id="{166E3B21-ACD0-C5AC-4571-C88E52F6CC3B}"/>
              </a:ext>
            </a:extLst>
          </p:cNvPr>
          <p:cNvCxnSpPr>
            <a:cxnSpLocks/>
            <a:stCxn id="4211" idx="0"/>
          </p:cNvCxnSpPr>
          <p:nvPr/>
        </p:nvCxnSpPr>
        <p:spPr>
          <a:xfrm flipH="1" flipV="1">
            <a:off x="8073214" y="3118980"/>
            <a:ext cx="10740" cy="727518"/>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215" name="Rectangle 4214">
            <a:extLst>
              <a:ext uri="{FF2B5EF4-FFF2-40B4-BE49-F238E27FC236}">
                <a16:creationId xmlns:a16="http://schemas.microsoft.com/office/drawing/2014/main" id="{9E74EB4F-7C50-6AB6-9E1E-2C22CC6E906E}"/>
              </a:ext>
            </a:extLst>
          </p:cNvPr>
          <p:cNvSpPr/>
          <p:nvPr/>
        </p:nvSpPr>
        <p:spPr>
          <a:xfrm>
            <a:off x="7429349" y="3213435"/>
            <a:ext cx="1309209" cy="2667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b="1" noProof="0" dirty="0">
                <a:solidFill>
                  <a:schemeClr val="tx1">
                    <a:lumMod val="75000"/>
                    <a:lumOff val="25000"/>
                  </a:schemeClr>
                </a:solidFill>
              </a:rPr>
              <a:t>Third submission</a:t>
            </a:r>
          </a:p>
        </p:txBody>
      </p:sp>
      <p:cxnSp>
        <p:nvCxnSpPr>
          <p:cNvPr id="4220" name="Straight Connector 4219">
            <a:extLst>
              <a:ext uri="{FF2B5EF4-FFF2-40B4-BE49-F238E27FC236}">
                <a16:creationId xmlns:a16="http://schemas.microsoft.com/office/drawing/2014/main" id="{9C58D2C9-F4AF-A059-5B29-E4F48FF59F55}"/>
              </a:ext>
            </a:extLst>
          </p:cNvPr>
          <p:cNvCxnSpPr>
            <a:cxnSpLocks/>
          </p:cNvCxnSpPr>
          <p:nvPr/>
        </p:nvCxnSpPr>
        <p:spPr>
          <a:xfrm flipH="1" flipV="1">
            <a:off x="8155763" y="3036431"/>
            <a:ext cx="1864342" cy="2883"/>
          </a:xfrm>
          <a:prstGeom prst="line">
            <a:avLst/>
          </a:prstGeom>
          <a:ln w="9525">
            <a:solidFill>
              <a:srgbClr val="00B050"/>
            </a:solidFill>
          </a:ln>
        </p:spPr>
        <p:style>
          <a:lnRef idx="2">
            <a:schemeClr val="accent1"/>
          </a:lnRef>
          <a:fillRef idx="0">
            <a:schemeClr val="accent1"/>
          </a:fillRef>
          <a:effectRef idx="1">
            <a:schemeClr val="accent1"/>
          </a:effectRef>
          <a:fontRef idx="minor">
            <a:schemeClr val="tx1"/>
          </a:fontRef>
        </p:style>
      </p:cxnSp>
      <p:sp>
        <p:nvSpPr>
          <p:cNvPr id="4226" name="Oval 4225">
            <a:extLst>
              <a:ext uri="{FF2B5EF4-FFF2-40B4-BE49-F238E27FC236}">
                <a16:creationId xmlns:a16="http://schemas.microsoft.com/office/drawing/2014/main" id="{82176075-6E0C-72DF-0368-3F1C852792CE}"/>
              </a:ext>
            </a:extLst>
          </p:cNvPr>
          <p:cNvSpPr/>
          <p:nvPr/>
        </p:nvSpPr>
        <p:spPr>
          <a:xfrm>
            <a:off x="6422315" y="2951208"/>
            <a:ext cx="165099" cy="165099"/>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lumMod val="50000"/>
                  <a:lumOff val="50000"/>
                </a:schemeClr>
              </a:solidFill>
            </a:endParaRPr>
          </a:p>
        </p:txBody>
      </p:sp>
      <p:sp>
        <p:nvSpPr>
          <p:cNvPr id="4227" name="Rectangle 4226">
            <a:extLst>
              <a:ext uri="{FF2B5EF4-FFF2-40B4-BE49-F238E27FC236}">
                <a16:creationId xmlns:a16="http://schemas.microsoft.com/office/drawing/2014/main" id="{AD12FC5C-EE47-04E6-B0A9-D9846D22076C}"/>
              </a:ext>
            </a:extLst>
          </p:cNvPr>
          <p:cNvSpPr/>
          <p:nvPr/>
        </p:nvSpPr>
        <p:spPr>
          <a:xfrm>
            <a:off x="5761125" y="3293873"/>
            <a:ext cx="1530441" cy="2667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solidFill>
                  <a:schemeClr val="tx1">
                    <a:lumMod val="50000"/>
                    <a:lumOff val="50000"/>
                  </a:schemeClr>
                </a:solidFill>
              </a:rPr>
              <a:t>Start of data description and analysis </a:t>
            </a:r>
          </a:p>
        </p:txBody>
      </p:sp>
      <p:cxnSp>
        <p:nvCxnSpPr>
          <p:cNvPr id="4228" name="Straight Connector 4227">
            <a:extLst>
              <a:ext uri="{FF2B5EF4-FFF2-40B4-BE49-F238E27FC236}">
                <a16:creationId xmlns:a16="http://schemas.microsoft.com/office/drawing/2014/main" id="{769A3721-FE0A-187B-B24D-009B00359D9A}"/>
              </a:ext>
            </a:extLst>
          </p:cNvPr>
          <p:cNvCxnSpPr>
            <a:cxnSpLocks/>
            <a:endCxn id="4226" idx="6"/>
          </p:cNvCxnSpPr>
          <p:nvPr/>
        </p:nvCxnSpPr>
        <p:spPr>
          <a:xfrm flipH="1" flipV="1">
            <a:off x="6587414" y="3033758"/>
            <a:ext cx="1403250" cy="2673"/>
          </a:xfrm>
          <a:prstGeom prst="line">
            <a:avLst/>
          </a:prstGeom>
          <a:ln w="9525">
            <a:solidFill>
              <a:srgbClr val="00B050"/>
            </a:solidFill>
          </a:ln>
        </p:spPr>
        <p:style>
          <a:lnRef idx="2">
            <a:schemeClr val="accent1"/>
          </a:lnRef>
          <a:fillRef idx="0">
            <a:schemeClr val="accent1"/>
          </a:fillRef>
          <a:effectRef idx="1">
            <a:schemeClr val="accent1"/>
          </a:effectRef>
          <a:fontRef idx="minor">
            <a:schemeClr val="tx1"/>
          </a:fontRef>
        </p:style>
      </p:cxnSp>
      <p:sp>
        <p:nvSpPr>
          <p:cNvPr id="4232" name="Rectangle 4231">
            <a:extLst>
              <a:ext uri="{FF2B5EF4-FFF2-40B4-BE49-F238E27FC236}">
                <a16:creationId xmlns:a16="http://schemas.microsoft.com/office/drawing/2014/main" id="{494EAA8B-A402-02A1-E55C-ACB8977FBE36}"/>
              </a:ext>
            </a:extLst>
          </p:cNvPr>
          <p:cNvSpPr/>
          <p:nvPr/>
        </p:nvSpPr>
        <p:spPr>
          <a:xfrm>
            <a:off x="9667408" y="3867877"/>
            <a:ext cx="891573" cy="2667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ysClr val="windowText" lastClr="000000"/>
                </a:solidFill>
              </a:rPr>
              <a:t>20-05</a:t>
            </a:r>
          </a:p>
        </p:txBody>
      </p:sp>
      <p:cxnSp>
        <p:nvCxnSpPr>
          <p:cNvPr id="4233" name="Straight Connector 4232">
            <a:extLst>
              <a:ext uri="{FF2B5EF4-FFF2-40B4-BE49-F238E27FC236}">
                <a16:creationId xmlns:a16="http://schemas.microsoft.com/office/drawing/2014/main" id="{495E2B3C-F090-794D-31BB-DE16AAF8636E}"/>
              </a:ext>
            </a:extLst>
          </p:cNvPr>
          <p:cNvCxnSpPr>
            <a:cxnSpLocks/>
            <a:stCxn id="4232" idx="0"/>
          </p:cNvCxnSpPr>
          <p:nvPr/>
        </p:nvCxnSpPr>
        <p:spPr>
          <a:xfrm flipH="1" flipV="1">
            <a:off x="10102655" y="3121863"/>
            <a:ext cx="10540" cy="746014"/>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26D49D56-3365-942F-6579-EACA4417B506}"/>
              </a:ext>
            </a:extLst>
          </p:cNvPr>
          <p:cNvSpPr/>
          <p:nvPr/>
        </p:nvSpPr>
        <p:spPr>
          <a:xfrm>
            <a:off x="2647284" y="4453476"/>
            <a:ext cx="331557" cy="331557"/>
          </a:xfrm>
          <a:prstGeom prst="ellipse">
            <a:avLst/>
          </a:prstGeom>
          <a:solidFill>
            <a:srgbClr val="F22D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36" name="Straight Connector 35">
            <a:extLst>
              <a:ext uri="{FF2B5EF4-FFF2-40B4-BE49-F238E27FC236}">
                <a16:creationId xmlns:a16="http://schemas.microsoft.com/office/drawing/2014/main" id="{94315A7D-55AD-C671-6E37-A66AC52353AD}"/>
              </a:ext>
            </a:extLst>
          </p:cNvPr>
          <p:cNvCxnSpPr>
            <a:cxnSpLocks/>
          </p:cNvCxnSpPr>
          <p:nvPr/>
        </p:nvCxnSpPr>
        <p:spPr>
          <a:xfrm flipH="1">
            <a:off x="2452861" y="4619255"/>
            <a:ext cx="722941" cy="0"/>
          </a:xfrm>
          <a:prstGeom prst="line">
            <a:avLst/>
          </a:prstGeom>
          <a:ln w="28575">
            <a:solidFill>
              <a:srgbClr val="F22D1C"/>
            </a:solidFill>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93D2EF30-2E47-3D31-2E9D-C9E29C67D14F}"/>
              </a:ext>
            </a:extLst>
          </p:cNvPr>
          <p:cNvSpPr txBox="1"/>
          <p:nvPr/>
        </p:nvSpPr>
        <p:spPr>
          <a:xfrm>
            <a:off x="1354436" y="5023838"/>
            <a:ext cx="2917252" cy="954107"/>
          </a:xfrm>
          <a:prstGeom prst="rect">
            <a:avLst/>
          </a:prstGeom>
          <a:noFill/>
        </p:spPr>
        <p:txBody>
          <a:bodyPr wrap="square">
            <a:spAutoFit/>
          </a:bodyPr>
          <a:lstStyle/>
          <a:p>
            <a:pPr marL="171450" indent="-171450">
              <a:buFont typeface="Arial" panose="020B0604020202020204" pitchFamily="34" charset="0"/>
              <a:buChar char="•"/>
            </a:pPr>
            <a:r>
              <a:rPr lang="en-GB" sz="800" b="1" noProof="0" dirty="0">
                <a:latin typeface="Aptos Light" panose="020B0004020202020204" pitchFamily="34" charset="0"/>
              </a:rPr>
              <a:t>Review academic literature </a:t>
            </a:r>
            <a:r>
              <a:rPr lang="en-GB" sz="800" noProof="0" dirty="0">
                <a:solidFill>
                  <a:schemeClr val="tx1">
                    <a:lumMod val="50000"/>
                    <a:lumOff val="50000"/>
                  </a:schemeClr>
                </a:solidFill>
                <a:latin typeface="Aptos Light" panose="020B0004020202020204" pitchFamily="34" charset="0"/>
              </a:rPr>
              <a:t>on the chosen social phenomenon to identify key concepts, theories, and findings.</a:t>
            </a:r>
          </a:p>
          <a:p>
            <a:pPr marL="171450" indent="-171450">
              <a:buFont typeface="Arial" panose="020B0604020202020204" pitchFamily="34" charset="0"/>
              <a:buChar char="•"/>
            </a:pPr>
            <a:r>
              <a:rPr lang="en-GB" sz="800" b="1" noProof="0" dirty="0">
                <a:latin typeface="Aptos Light" panose="020B0004020202020204" pitchFamily="34" charset="0"/>
              </a:rPr>
              <a:t>Define an appropriate research design </a:t>
            </a:r>
            <a:r>
              <a:rPr lang="en-GB" sz="800" noProof="0" dirty="0">
                <a:solidFill>
                  <a:schemeClr val="tx1">
                    <a:lumMod val="50000"/>
                    <a:lumOff val="50000"/>
                  </a:schemeClr>
                </a:solidFill>
                <a:latin typeface="Aptos Light" panose="020B0004020202020204" pitchFamily="34" charset="0"/>
              </a:rPr>
              <a:t>aligned with your objectives and methodological approach.</a:t>
            </a:r>
          </a:p>
          <a:p>
            <a:pPr marL="171450" indent="-171450">
              <a:buFont typeface="Arial" panose="020B0604020202020204" pitchFamily="34" charset="0"/>
              <a:buChar char="•"/>
            </a:pPr>
            <a:r>
              <a:rPr lang="en-GB" sz="800" b="1" noProof="0" dirty="0">
                <a:latin typeface="Aptos Light" panose="020B0004020202020204" pitchFamily="34" charset="0"/>
              </a:rPr>
              <a:t>Develop tailored instruments</a:t>
            </a:r>
            <a:r>
              <a:rPr lang="en-GB" sz="800" noProof="0" dirty="0">
                <a:solidFill>
                  <a:schemeClr val="tx1">
                    <a:lumMod val="50000"/>
                    <a:lumOff val="50000"/>
                  </a:schemeClr>
                </a:solidFill>
                <a:latin typeface="Aptos Light" panose="020B0004020202020204" pitchFamily="34" charset="0"/>
              </a:rPr>
              <a:t>, such as questionnaires and interview guides, for data collection.</a:t>
            </a:r>
          </a:p>
        </p:txBody>
      </p:sp>
      <p:pic>
        <p:nvPicPr>
          <p:cNvPr id="53" name="Graphic 52" descr="Research with solid fill">
            <a:extLst>
              <a:ext uri="{FF2B5EF4-FFF2-40B4-BE49-F238E27FC236}">
                <a16:creationId xmlns:a16="http://schemas.microsoft.com/office/drawing/2014/main" id="{97409B42-B48B-956A-87E0-D637255F446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82373" y="4511401"/>
            <a:ext cx="216947" cy="216947"/>
          </a:xfrm>
          <a:prstGeom prst="rect">
            <a:avLst/>
          </a:prstGeom>
        </p:spPr>
      </p:pic>
      <p:pic>
        <p:nvPicPr>
          <p:cNvPr id="55" name="Graphic 54" descr="Drawing compass with solid fill">
            <a:extLst>
              <a:ext uri="{FF2B5EF4-FFF2-40B4-BE49-F238E27FC236}">
                <a16:creationId xmlns:a16="http://schemas.microsoft.com/office/drawing/2014/main" id="{56576560-261A-27E2-A748-F99A80C80B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5311" y="4494850"/>
            <a:ext cx="248201" cy="248201"/>
          </a:xfrm>
          <a:prstGeom prst="rect">
            <a:avLst/>
          </a:prstGeom>
        </p:spPr>
      </p:pic>
      <p:sp>
        <p:nvSpPr>
          <p:cNvPr id="58" name="Rectangle 57">
            <a:extLst>
              <a:ext uri="{FF2B5EF4-FFF2-40B4-BE49-F238E27FC236}">
                <a16:creationId xmlns:a16="http://schemas.microsoft.com/office/drawing/2014/main" id="{6C0C0799-B13C-88D1-DCB4-F62DE565FB3C}"/>
              </a:ext>
            </a:extLst>
          </p:cNvPr>
          <p:cNvSpPr/>
          <p:nvPr/>
        </p:nvSpPr>
        <p:spPr>
          <a:xfrm>
            <a:off x="4600907" y="4821667"/>
            <a:ext cx="2645507" cy="1778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b="1" noProof="0" dirty="0">
                <a:solidFill>
                  <a:sysClr val="windowText" lastClr="000000"/>
                </a:solidFill>
                <a:highlight>
                  <a:srgbClr val="FFC000"/>
                </a:highlight>
              </a:rPr>
              <a:t>Implement</a:t>
            </a:r>
          </a:p>
        </p:txBody>
      </p:sp>
      <p:sp>
        <p:nvSpPr>
          <p:cNvPr id="59" name="Oval 58">
            <a:extLst>
              <a:ext uri="{FF2B5EF4-FFF2-40B4-BE49-F238E27FC236}">
                <a16:creationId xmlns:a16="http://schemas.microsoft.com/office/drawing/2014/main" id="{C050073A-AC6B-15A1-24FB-A42704DB7EFD}"/>
              </a:ext>
            </a:extLst>
          </p:cNvPr>
          <p:cNvSpPr/>
          <p:nvPr/>
        </p:nvSpPr>
        <p:spPr>
          <a:xfrm>
            <a:off x="5806152" y="4447832"/>
            <a:ext cx="331557" cy="331557"/>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60" name="Straight Connector 59">
            <a:extLst>
              <a:ext uri="{FF2B5EF4-FFF2-40B4-BE49-F238E27FC236}">
                <a16:creationId xmlns:a16="http://schemas.microsoft.com/office/drawing/2014/main" id="{51678A96-C3C8-4B89-CB79-1468FE47A267}"/>
              </a:ext>
            </a:extLst>
          </p:cNvPr>
          <p:cNvCxnSpPr>
            <a:cxnSpLocks/>
          </p:cNvCxnSpPr>
          <p:nvPr/>
        </p:nvCxnSpPr>
        <p:spPr>
          <a:xfrm flipH="1">
            <a:off x="5611729" y="4613611"/>
            <a:ext cx="722941" cy="0"/>
          </a:xfrm>
          <a:prstGeom prst="line">
            <a:avLst/>
          </a:prstGeom>
          <a:ln w="28575">
            <a:solidFill>
              <a:srgbClr val="00B0F0"/>
            </a:solidFill>
          </a:ln>
        </p:spPr>
        <p:style>
          <a:lnRef idx="2">
            <a:schemeClr val="accent1"/>
          </a:lnRef>
          <a:fillRef idx="0">
            <a:schemeClr val="accent1"/>
          </a:fillRef>
          <a:effectRef idx="1">
            <a:schemeClr val="accent1"/>
          </a:effectRef>
          <a:fontRef idx="minor">
            <a:schemeClr val="tx1"/>
          </a:fontRef>
        </p:style>
      </p:cxnSp>
      <p:pic>
        <p:nvPicPr>
          <p:cNvPr id="57" name="Graphic 56" descr="Rocket with solid fill">
            <a:extLst>
              <a:ext uri="{FF2B5EF4-FFF2-40B4-BE49-F238E27FC236}">
                <a16:creationId xmlns:a16="http://schemas.microsoft.com/office/drawing/2014/main" id="{40AFFD71-7240-83E0-49F4-A2894E32F0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55483" y="4513588"/>
            <a:ext cx="223819" cy="223819"/>
          </a:xfrm>
          <a:prstGeom prst="rect">
            <a:avLst/>
          </a:prstGeom>
        </p:spPr>
      </p:pic>
      <p:sp>
        <p:nvSpPr>
          <p:cNvPr id="61" name="TextBox 60">
            <a:extLst>
              <a:ext uri="{FF2B5EF4-FFF2-40B4-BE49-F238E27FC236}">
                <a16:creationId xmlns:a16="http://schemas.microsoft.com/office/drawing/2014/main" id="{29460019-20E7-66E8-5DFF-20C196E84CF8}"/>
              </a:ext>
            </a:extLst>
          </p:cNvPr>
          <p:cNvSpPr txBox="1"/>
          <p:nvPr/>
        </p:nvSpPr>
        <p:spPr>
          <a:xfrm>
            <a:off x="4482861" y="5000606"/>
            <a:ext cx="2917252" cy="830997"/>
          </a:xfrm>
          <a:prstGeom prst="rect">
            <a:avLst/>
          </a:prstGeom>
          <a:noFill/>
        </p:spPr>
        <p:txBody>
          <a:bodyPr wrap="square">
            <a:spAutoFit/>
          </a:bodyPr>
          <a:lstStyle>
            <a:defPPr>
              <a:defRPr lang="en-US"/>
            </a:defPPr>
            <a:lvl1pPr marL="171450" indent="-171450">
              <a:buFont typeface="Arial" panose="020B0604020202020204" pitchFamily="34" charset="0"/>
              <a:buChar char="•"/>
              <a:defRPr sz="800" b="1">
                <a:latin typeface="Aptos Light" panose="020B0004020202020204" pitchFamily="34" charset="0"/>
              </a:defRPr>
            </a:lvl1pPr>
          </a:lstStyle>
          <a:p>
            <a:r>
              <a:rPr lang="en-GB" noProof="0" dirty="0"/>
              <a:t>Collect quantitative and qualitative data </a:t>
            </a:r>
            <a:r>
              <a:rPr lang="en-GB" b="0" noProof="0" dirty="0">
                <a:solidFill>
                  <a:schemeClr val="tx1">
                    <a:lumMod val="50000"/>
                    <a:lumOff val="50000"/>
                  </a:schemeClr>
                </a:solidFill>
              </a:rPr>
              <a:t>in accordance with the chosen research design and aligned with the research questions.</a:t>
            </a:r>
          </a:p>
          <a:p>
            <a:r>
              <a:rPr lang="en-GB" noProof="0" dirty="0"/>
              <a:t>Conduct appropriate data analyses </a:t>
            </a:r>
            <a:r>
              <a:rPr lang="en-GB" b="0" noProof="0" dirty="0">
                <a:solidFill>
                  <a:schemeClr val="tx1">
                    <a:lumMod val="50000"/>
                    <a:lumOff val="50000"/>
                  </a:schemeClr>
                </a:solidFill>
              </a:rPr>
              <a:t>tailored to the types of data collected, ensuring that the findings effectively address the research questions posed</a:t>
            </a:r>
          </a:p>
        </p:txBody>
      </p:sp>
      <p:sp>
        <p:nvSpPr>
          <p:cNvPr id="62" name="Rectangle 61">
            <a:extLst>
              <a:ext uri="{FF2B5EF4-FFF2-40B4-BE49-F238E27FC236}">
                <a16:creationId xmlns:a16="http://schemas.microsoft.com/office/drawing/2014/main" id="{A3D3FD1D-C5EF-6BDB-5D39-E7384B72838A}"/>
              </a:ext>
            </a:extLst>
          </p:cNvPr>
          <p:cNvSpPr/>
          <p:nvPr/>
        </p:nvSpPr>
        <p:spPr>
          <a:xfrm>
            <a:off x="7913474" y="4821667"/>
            <a:ext cx="2645507" cy="1778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b="1" noProof="0" dirty="0">
                <a:solidFill>
                  <a:sysClr val="windowText" lastClr="000000"/>
                </a:solidFill>
                <a:highlight>
                  <a:srgbClr val="FFC000"/>
                </a:highlight>
              </a:rPr>
              <a:t>Analyse and communicate</a:t>
            </a:r>
          </a:p>
        </p:txBody>
      </p:sp>
      <p:sp>
        <p:nvSpPr>
          <p:cNvPr id="4099" name="TextBox 4098">
            <a:extLst>
              <a:ext uri="{FF2B5EF4-FFF2-40B4-BE49-F238E27FC236}">
                <a16:creationId xmlns:a16="http://schemas.microsoft.com/office/drawing/2014/main" id="{7E24BCF7-C796-FB19-2815-439CCBA28C9A}"/>
              </a:ext>
            </a:extLst>
          </p:cNvPr>
          <p:cNvSpPr txBox="1"/>
          <p:nvPr/>
        </p:nvSpPr>
        <p:spPr>
          <a:xfrm>
            <a:off x="7795428" y="5000606"/>
            <a:ext cx="2917252" cy="707886"/>
          </a:xfrm>
          <a:prstGeom prst="rect">
            <a:avLst/>
          </a:prstGeom>
          <a:noFill/>
        </p:spPr>
        <p:txBody>
          <a:bodyPr wrap="square">
            <a:spAutoFit/>
          </a:bodyPr>
          <a:lstStyle>
            <a:defPPr>
              <a:defRPr lang="en-US"/>
            </a:defPPr>
            <a:lvl1pPr marL="171450" indent="-171450">
              <a:buFont typeface="Arial" panose="020B0604020202020204" pitchFamily="34" charset="0"/>
              <a:buChar char="•"/>
              <a:defRPr sz="800" b="1">
                <a:latin typeface="Aptos Light" panose="020B0004020202020204" pitchFamily="34" charset="0"/>
              </a:defRPr>
            </a:lvl1pPr>
          </a:lstStyle>
          <a:p>
            <a:r>
              <a:rPr lang="en-GB" noProof="0" dirty="0"/>
              <a:t>Identify the contextual implications of the research project, </a:t>
            </a:r>
            <a:r>
              <a:rPr lang="en-GB" b="0" noProof="0" dirty="0">
                <a:solidFill>
                  <a:schemeClr val="tx1">
                    <a:lumMod val="50000"/>
                    <a:lumOff val="50000"/>
                  </a:schemeClr>
                </a:solidFill>
              </a:rPr>
              <a:t>considering its impact from design through to results.</a:t>
            </a:r>
          </a:p>
          <a:p>
            <a:r>
              <a:rPr lang="en-GB" noProof="0" dirty="0"/>
              <a:t>Clearly communicate the project’s findings, </a:t>
            </a:r>
            <a:r>
              <a:rPr lang="en-GB" b="0" noProof="0" dirty="0"/>
              <a:t>meeting </a:t>
            </a:r>
            <a:r>
              <a:rPr lang="en-GB" b="0" noProof="0" dirty="0">
                <a:solidFill>
                  <a:schemeClr val="tx1">
                    <a:lumMod val="50000"/>
                    <a:lumOff val="50000"/>
                  </a:schemeClr>
                </a:solidFill>
              </a:rPr>
              <a:t>professional standards of oral, written, and visual communication.</a:t>
            </a:r>
          </a:p>
        </p:txBody>
      </p:sp>
      <p:sp>
        <p:nvSpPr>
          <p:cNvPr id="6" name="Título 1">
            <a:extLst>
              <a:ext uri="{FF2B5EF4-FFF2-40B4-BE49-F238E27FC236}">
                <a16:creationId xmlns:a16="http://schemas.microsoft.com/office/drawing/2014/main" id="{7A54FEB8-9716-5C5E-A9C8-379892EF28C9}"/>
              </a:ext>
            </a:extLst>
          </p:cNvPr>
          <p:cNvSpPr txBox="1">
            <a:spLocks/>
          </p:cNvSpPr>
          <p:nvPr/>
        </p:nvSpPr>
        <p:spPr>
          <a:xfrm>
            <a:off x="886671" y="501650"/>
            <a:ext cx="7593094" cy="64633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Project Timeline and Development Steps</a:t>
            </a:r>
          </a:p>
        </p:txBody>
      </p:sp>
      <p:sp>
        <p:nvSpPr>
          <p:cNvPr id="9" name="Footer Placeholder 4">
            <a:extLst>
              <a:ext uri="{FF2B5EF4-FFF2-40B4-BE49-F238E27FC236}">
                <a16:creationId xmlns:a16="http://schemas.microsoft.com/office/drawing/2014/main" id="{1B075F53-0558-805C-4171-99FA71DE55E9}"/>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
        <p:nvSpPr>
          <p:cNvPr id="11" name="Star: 4 Points 10">
            <a:extLst>
              <a:ext uri="{FF2B5EF4-FFF2-40B4-BE49-F238E27FC236}">
                <a16:creationId xmlns:a16="http://schemas.microsoft.com/office/drawing/2014/main" id="{8DD25C53-0408-A62C-38D7-3C15299345AD}"/>
              </a:ext>
            </a:extLst>
          </p:cNvPr>
          <p:cNvSpPr/>
          <p:nvPr/>
        </p:nvSpPr>
        <p:spPr>
          <a:xfrm>
            <a:off x="6419934" y="2035357"/>
            <a:ext cx="165099" cy="165099"/>
          </a:xfrm>
          <a:prstGeom prst="star4">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noProof="0" dirty="0"/>
          </a:p>
        </p:txBody>
      </p:sp>
      <p:sp>
        <p:nvSpPr>
          <p:cNvPr id="13" name="Star: 4 Points 12">
            <a:extLst>
              <a:ext uri="{FF2B5EF4-FFF2-40B4-BE49-F238E27FC236}">
                <a16:creationId xmlns:a16="http://schemas.microsoft.com/office/drawing/2014/main" id="{64E33072-3881-FE0F-2571-A424F2685928}"/>
              </a:ext>
            </a:extLst>
          </p:cNvPr>
          <p:cNvSpPr/>
          <p:nvPr/>
        </p:nvSpPr>
        <p:spPr>
          <a:xfrm>
            <a:off x="7986299" y="2944308"/>
            <a:ext cx="165099" cy="165099"/>
          </a:xfrm>
          <a:prstGeom prst="star4">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noProof="0" dirty="0"/>
          </a:p>
        </p:txBody>
      </p:sp>
      <p:sp>
        <p:nvSpPr>
          <p:cNvPr id="14" name="Star: 4 Points 13">
            <a:extLst>
              <a:ext uri="{FF2B5EF4-FFF2-40B4-BE49-F238E27FC236}">
                <a16:creationId xmlns:a16="http://schemas.microsoft.com/office/drawing/2014/main" id="{C1193AFA-4450-4CCC-7278-870315E3437B}"/>
              </a:ext>
            </a:extLst>
          </p:cNvPr>
          <p:cNvSpPr/>
          <p:nvPr/>
        </p:nvSpPr>
        <p:spPr>
          <a:xfrm>
            <a:off x="10030644" y="2944307"/>
            <a:ext cx="165099" cy="165099"/>
          </a:xfrm>
          <a:prstGeom prst="star4">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noProof="0" dirty="0"/>
          </a:p>
        </p:txBody>
      </p:sp>
      <p:sp>
        <p:nvSpPr>
          <p:cNvPr id="15" name="Rectangle 14">
            <a:extLst>
              <a:ext uri="{FF2B5EF4-FFF2-40B4-BE49-F238E27FC236}">
                <a16:creationId xmlns:a16="http://schemas.microsoft.com/office/drawing/2014/main" id="{E49F82FA-87CC-E4B4-5A31-2196F2368CBD}"/>
              </a:ext>
            </a:extLst>
          </p:cNvPr>
          <p:cNvSpPr/>
          <p:nvPr/>
        </p:nvSpPr>
        <p:spPr>
          <a:xfrm>
            <a:off x="9441387" y="3228170"/>
            <a:ext cx="1309209" cy="2667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b="1" noProof="0" dirty="0">
                <a:solidFill>
                  <a:schemeClr val="tx1">
                    <a:lumMod val="75000"/>
                    <a:lumOff val="25000"/>
                  </a:schemeClr>
                </a:solidFill>
              </a:rPr>
              <a:t>Last submission</a:t>
            </a:r>
          </a:p>
        </p:txBody>
      </p:sp>
    </p:spTree>
    <p:extLst>
      <p:ext uri="{BB962C8B-B14F-4D97-AF65-F5344CB8AC3E}">
        <p14:creationId xmlns:p14="http://schemas.microsoft.com/office/powerpoint/2010/main" val="2935189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par>
                                <p:cTn id="11" presetID="10"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par>
                                <p:cTn id="17" presetID="10" presetClass="entr" presetSubtype="0" fill="hold"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500"/>
                                        <p:tgtEl>
                                          <p:spTgt spid="5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156"/>
                                        </p:tgtEl>
                                        <p:attrNameLst>
                                          <p:attrName>style.visibility</p:attrName>
                                        </p:attrNameLst>
                                      </p:cBhvr>
                                      <p:to>
                                        <p:strVal val="visible"/>
                                      </p:to>
                                    </p:set>
                                    <p:animEffect transition="in" filter="fade">
                                      <p:cBhvr>
                                        <p:cTn id="24" dur="500"/>
                                        <p:tgtEl>
                                          <p:spTgt spid="415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159"/>
                                        </p:tgtEl>
                                        <p:attrNameLst>
                                          <p:attrName>style.visibility</p:attrName>
                                        </p:attrNameLst>
                                      </p:cBhvr>
                                      <p:to>
                                        <p:strVal val="visible"/>
                                      </p:to>
                                    </p:set>
                                    <p:animEffect transition="in" filter="fade">
                                      <p:cBhvr>
                                        <p:cTn id="27" dur="500"/>
                                        <p:tgtEl>
                                          <p:spTgt spid="415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168"/>
                                        </p:tgtEl>
                                        <p:attrNameLst>
                                          <p:attrName>style.visibility</p:attrName>
                                        </p:attrNameLst>
                                      </p:cBhvr>
                                      <p:to>
                                        <p:strVal val="visible"/>
                                      </p:to>
                                    </p:set>
                                    <p:animEffect transition="in" filter="fade">
                                      <p:cBhvr>
                                        <p:cTn id="30" dur="500"/>
                                        <p:tgtEl>
                                          <p:spTgt spid="416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150"/>
                                        </p:tgtEl>
                                        <p:attrNameLst>
                                          <p:attrName>style.visibility</p:attrName>
                                        </p:attrNameLst>
                                      </p:cBhvr>
                                      <p:to>
                                        <p:strVal val="visible"/>
                                      </p:to>
                                    </p:set>
                                    <p:animEffect transition="in" filter="fade">
                                      <p:cBhvr>
                                        <p:cTn id="35" dur="500"/>
                                        <p:tgtEl>
                                          <p:spTgt spid="415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158"/>
                                        </p:tgtEl>
                                        <p:attrNameLst>
                                          <p:attrName>style.visibility</p:attrName>
                                        </p:attrNameLst>
                                      </p:cBhvr>
                                      <p:to>
                                        <p:strVal val="visible"/>
                                      </p:to>
                                    </p:set>
                                    <p:animEffect transition="in" filter="fade">
                                      <p:cBhvr>
                                        <p:cTn id="38" dur="500"/>
                                        <p:tgtEl>
                                          <p:spTgt spid="415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157"/>
                                        </p:tgtEl>
                                        <p:attrNameLst>
                                          <p:attrName>style.visibility</p:attrName>
                                        </p:attrNameLst>
                                      </p:cBhvr>
                                      <p:to>
                                        <p:strVal val="visible"/>
                                      </p:to>
                                    </p:set>
                                    <p:animEffect transition="in" filter="fade">
                                      <p:cBhvr>
                                        <p:cTn id="41" dur="500"/>
                                        <p:tgtEl>
                                          <p:spTgt spid="415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4163"/>
                                        </p:tgtEl>
                                        <p:attrNameLst>
                                          <p:attrName>style.visibility</p:attrName>
                                        </p:attrNameLst>
                                      </p:cBhvr>
                                      <p:to>
                                        <p:strVal val="visible"/>
                                      </p:to>
                                    </p:set>
                                    <p:animEffect transition="in" filter="fade">
                                      <p:cBhvr>
                                        <p:cTn id="46" dur="500"/>
                                        <p:tgtEl>
                                          <p:spTgt spid="416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161"/>
                                        </p:tgtEl>
                                        <p:attrNameLst>
                                          <p:attrName>style.visibility</p:attrName>
                                        </p:attrNameLst>
                                      </p:cBhvr>
                                      <p:to>
                                        <p:strVal val="visible"/>
                                      </p:to>
                                    </p:set>
                                    <p:animEffect transition="in" filter="fade">
                                      <p:cBhvr>
                                        <p:cTn id="49" dur="500"/>
                                        <p:tgtEl>
                                          <p:spTgt spid="416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162"/>
                                        </p:tgtEl>
                                        <p:attrNameLst>
                                          <p:attrName>style.visibility</p:attrName>
                                        </p:attrNameLst>
                                      </p:cBhvr>
                                      <p:to>
                                        <p:strVal val="visible"/>
                                      </p:to>
                                    </p:set>
                                    <p:animEffect transition="in" filter="fade">
                                      <p:cBhvr>
                                        <p:cTn id="52" dur="500"/>
                                        <p:tgtEl>
                                          <p:spTgt spid="4162"/>
                                        </p:tgtEl>
                                      </p:cBhvr>
                                    </p:animEffect>
                                  </p:childTnLst>
                                </p:cTn>
                              </p:par>
                              <p:par>
                                <p:cTn id="53" presetID="10" presetClass="entr" presetSubtype="0" fill="hold" nodeType="withEffect">
                                  <p:stCondLst>
                                    <p:cond delay="0"/>
                                  </p:stCondLst>
                                  <p:childTnLst>
                                    <p:set>
                                      <p:cBhvr>
                                        <p:cTn id="54" dur="1" fill="hold">
                                          <p:stCondLst>
                                            <p:cond delay="0"/>
                                          </p:stCondLst>
                                        </p:cTn>
                                        <p:tgtEl>
                                          <p:spTgt spid="4160"/>
                                        </p:tgtEl>
                                        <p:attrNameLst>
                                          <p:attrName>style.visibility</p:attrName>
                                        </p:attrNameLst>
                                      </p:cBhvr>
                                      <p:to>
                                        <p:strVal val="visible"/>
                                      </p:to>
                                    </p:set>
                                    <p:animEffect transition="in" filter="fade">
                                      <p:cBhvr>
                                        <p:cTn id="55" dur="500"/>
                                        <p:tgtEl>
                                          <p:spTgt spid="416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174"/>
                                        </p:tgtEl>
                                        <p:attrNameLst>
                                          <p:attrName>style.visibility</p:attrName>
                                        </p:attrNameLst>
                                      </p:cBhvr>
                                      <p:to>
                                        <p:strVal val="visible"/>
                                      </p:to>
                                    </p:set>
                                    <p:animEffect transition="in" filter="fade">
                                      <p:cBhvr>
                                        <p:cTn id="60" dur="500"/>
                                        <p:tgtEl>
                                          <p:spTgt spid="417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172"/>
                                        </p:tgtEl>
                                        <p:attrNameLst>
                                          <p:attrName>style.visibility</p:attrName>
                                        </p:attrNameLst>
                                      </p:cBhvr>
                                      <p:to>
                                        <p:strVal val="visible"/>
                                      </p:to>
                                    </p:set>
                                    <p:animEffect transition="in" filter="fade">
                                      <p:cBhvr>
                                        <p:cTn id="65" dur="500"/>
                                        <p:tgtEl>
                                          <p:spTgt spid="417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80"/>
                                        </p:tgtEl>
                                        <p:attrNameLst>
                                          <p:attrName>style.visibility</p:attrName>
                                        </p:attrNameLst>
                                      </p:cBhvr>
                                      <p:to>
                                        <p:strVal val="visible"/>
                                      </p:to>
                                    </p:set>
                                    <p:animEffect transition="in" filter="fade">
                                      <p:cBhvr>
                                        <p:cTn id="68" dur="500"/>
                                        <p:tgtEl>
                                          <p:spTgt spid="4180"/>
                                        </p:tgtEl>
                                      </p:cBhvr>
                                    </p:animEffect>
                                  </p:childTnLst>
                                </p:cTn>
                              </p:par>
                              <p:par>
                                <p:cTn id="69" presetID="10" presetClass="entr" presetSubtype="0" fill="hold" nodeType="withEffect">
                                  <p:stCondLst>
                                    <p:cond delay="0"/>
                                  </p:stCondLst>
                                  <p:childTnLst>
                                    <p:set>
                                      <p:cBhvr>
                                        <p:cTn id="70" dur="1" fill="hold">
                                          <p:stCondLst>
                                            <p:cond delay="0"/>
                                          </p:stCondLst>
                                        </p:cTn>
                                        <p:tgtEl>
                                          <p:spTgt spid="4170"/>
                                        </p:tgtEl>
                                        <p:attrNameLst>
                                          <p:attrName>style.visibility</p:attrName>
                                        </p:attrNameLst>
                                      </p:cBhvr>
                                      <p:to>
                                        <p:strVal val="visible"/>
                                      </p:to>
                                    </p:set>
                                    <p:animEffect transition="in" filter="fade">
                                      <p:cBhvr>
                                        <p:cTn id="71" dur="500"/>
                                        <p:tgtEl>
                                          <p:spTgt spid="417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58"/>
                                        </p:tgtEl>
                                        <p:attrNameLst>
                                          <p:attrName>style.visibility</p:attrName>
                                        </p:attrNameLst>
                                      </p:cBhvr>
                                      <p:to>
                                        <p:strVal val="visible"/>
                                      </p:to>
                                    </p:set>
                                    <p:animEffect transition="in" filter="fade">
                                      <p:cBhvr>
                                        <p:cTn id="76" dur="500"/>
                                        <p:tgtEl>
                                          <p:spTgt spid="5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9"/>
                                        </p:tgtEl>
                                        <p:attrNameLst>
                                          <p:attrName>style.visibility</p:attrName>
                                        </p:attrNameLst>
                                      </p:cBhvr>
                                      <p:to>
                                        <p:strVal val="visible"/>
                                      </p:to>
                                    </p:set>
                                    <p:animEffect transition="in" filter="fade">
                                      <p:cBhvr>
                                        <p:cTn id="79" dur="500"/>
                                        <p:tgtEl>
                                          <p:spTgt spid="59"/>
                                        </p:tgtEl>
                                      </p:cBhvr>
                                    </p:animEffect>
                                  </p:childTnLst>
                                </p:cTn>
                              </p:par>
                              <p:par>
                                <p:cTn id="80" presetID="10" presetClass="entr" presetSubtype="0" fill="hold" nodeType="withEffect">
                                  <p:stCondLst>
                                    <p:cond delay="0"/>
                                  </p:stCondLst>
                                  <p:childTnLst>
                                    <p:set>
                                      <p:cBhvr>
                                        <p:cTn id="81" dur="1" fill="hold">
                                          <p:stCondLst>
                                            <p:cond delay="0"/>
                                          </p:stCondLst>
                                        </p:cTn>
                                        <p:tgtEl>
                                          <p:spTgt spid="60"/>
                                        </p:tgtEl>
                                        <p:attrNameLst>
                                          <p:attrName>style.visibility</p:attrName>
                                        </p:attrNameLst>
                                      </p:cBhvr>
                                      <p:to>
                                        <p:strVal val="visible"/>
                                      </p:to>
                                    </p:set>
                                    <p:animEffect transition="in" filter="fade">
                                      <p:cBhvr>
                                        <p:cTn id="82" dur="500"/>
                                        <p:tgtEl>
                                          <p:spTgt spid="60"/>
                                        </p:tgtEl>
                                      </p:cBhvr>
                                    </p:animEffect>
                                  </p:childTnLst>
                                </p:cTn>
                              </p:par>
                              <p:par>
                                <p:cTn id="83" presetID="10" presetClass="entr" presetSubtype="0" fill="hold" nodeType="with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fade">
                                      <p:cBhvr>
                                        <p:cTn id="85" dur="500"/>
                                        <p:tgtEl>
                                          <p:spTgt spid="5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61"/>
                                        </p:tgtEl>
                                        <p:attrNameLst>
                                          <p:attrName>style.visibility</p:attrName>
                                        </p:attrNameLst>
                                      </p:cBhvr>
                                      <p:to>
                                        <p:strVal val="visible"/>
                                      </p:to>
                                    </p:set>
                                    <p:animEffect transition="in" filter="fade">
                                      <p:cBhvr>
                                        <p:cTn id="88" dur="500"/>
                                        <p:tgtEl>
                                          <p:spTgt spid="61"/>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4199"/>
                                        </p:tgtEl>
                                        <p:attrNameLst>
                                          <p:attrName>style.visibility</p:attrName>
                                        </p:attrNameLst>
                                      </p:cBhvr>
                                      <p:to>
                                        <p:strVal val="visible"/>
                                      </p:to>
                                    </p:set>
                                    <p:animEffect transition="in" filter="fade">
                                      <p:cBhvr>
                                        <p:cTn id="93" dur="500"/>
                                        <p:tgtEl>
                                          <p:spTgt spid="4199"/>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4191"/>
                                        </p:tgtEl>
                                        <p:attrNameLst>
                                          <p:attrName>style.visibility</p:attrName>
                                        </p:attrNameLst>
                                      </p:cBhvr>
                                      <p:to>
                                        <p:strVal val="visible"/>
                                      </p:to>
                                    </p:set>
                                    <p:animEffect transition="in" filter="fade">
                                      <p:cBhvr>
                                        <p:cTn id="98" dur="500"/>
                                        <p:tgtEl>
                                          <p:spTgt spid="419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192"/>
                                        </p:tgtEl>
                                        <p:attrNameLst>
                                          <p:attrName>style.visibility</p:attrName>
                                        </p:attrNameLst>
                                      </p:cBhvr>
                                      <p:to>
                                        <p:strVal val="visible"/>
                                      </p:to>
                                    </p:set>
                                    <p:animEffect transition="in" filter="fade">
                                      <p:cBhvr>
                                        <p:cTn id="101" dur="500"/>
                                        <p:tgtEl>
                                          <p:spTgt spid="419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193"/>
                                        </p:tgtEl>
                                        <p:attrNameLst>
                                          <p:attrName>style.visibility</p:attrName>
                                        </p:attrNameLst>
                                      </p:cBhvr>
                                      <p:to>
                                        <p:strVal val="visible"/>
                                      </p:to>
                                    </p:set>
                                    <p:animEffect transition="in" filter="fade">
                                      <p:cBhvr>
                                        <p:cTn id="104" dur="500"/>
                                        <p:tgtEl>
                                          <p:spTgt spid="4193"/>
                                        </p:tgtEl>
                                      </p:cBhvr>
                                    </p:animEffect>
                                  </p:childTnLst>
                                </p:cTn>
                              </p:par>
                              <p:par>
                                <p:cTn id="105" presetID="10" presetClass="entr" presetSubtype="0" fill="hold" nodeType="withEffect">
                                  <p:stCondLst>
                                    <p:cond delay="0"/>
                                  </p:stCondLst>
                                  <p:childTnLst>
                                    <p:set>
                                      <p:cBhvr>
                                        <p:cTn id="106" dur="1" fill="hold">
                                          <p:stCondLst>
                                            <p:cond delay="0"/>
                                          </p:stCondLst>
                                        </p:cTn>
                                        <p:tgtEl>
                                          <p:spTgt spid="4194"/>
                                        </p:tgtEl>
                                        <p:attrNameLst>
                                          <p:attrName>style.visibility</p:attrName>
                                        </p:attrNameLst>
                                      </p:cBhvr>
                                      <p:to>
                                        <p:strVal val="visible"/>
                                      </p:to>
                                    </p:set>
                                    <p:animEffect transition="in" filter="fade">
                                      <p:cBhvr>
                                        <p:cTn id="107" dur="500"/>
                                        <p:tgtEl>
                                          <p:spTgt spid="4194"/>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4202"/>
                                        </p:tgtEl>
                                        <p:attrNameLst>
                                          <p:attrName>style.visibility</p:attrName>
                                        </p:attrNameLst>
                                      </p:cBhvr>
                                      <p:to>
                                        <p:strVal val="visible"/>
                                      </p:to>
                                    </p:set>
                                    <p:animEffect transition="in" filter="fade">
                                      <p:cBhvr>
                                        <p:cTn id="112" dur="500"/>
                                        <p:tgtEl>
                                          <p:spTgt spid="4202"/>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03"/>
                                        </p:tgtEl>
                                        <p:attrNameLst>
                                          <p:attrName>style.visibility</p:attrName>
                                        </p:attrNameLst>
                                      </p:cBhvr>
                                      <p:to>
                                        <p:strVal val="visible"/>
                                      </p:to>
                                    </p:set>
                                    <p:animEffect transition="in" filter="fade">
                                      <p:cBhvr>
                                        <p:cTn id="115" dur="500"/>
                                        <p:tgtEl>
                                          <p:spTgt spid="4203"/>
                                        </p:tgtEl>
                                      </p:cBhvr>
                                    </p:animEffect>
                                  </p:childTnLst>
                                </p:cTn>
                              </p:par>
                              <p:par>
                                <p:cTn id="116" presetID="10" presetClass="entr" presetSubtype="0" fill="hold" nodeType="withEffect">
                                  <p:stCondLst>
                                    <p:cond delay="0"/>
                                  </p:stCondLst>
                                  <p:childTnLst>
                                    <p:set>
                                      <p:cBhvr>
                                        <p:cTn id="117" dur="1" fill="hold">
                                          <p:stCondLst>
                                            <p:cond delay="0"/>
                                          </p:stCondLst>
                                        </p:cTn>
                                        <p:tgtEl>
                                          <p:spTgt spid="4200"/>
                                        </p:tgtEl>
                                        <p:attrNameLst>
                                          <p:attrName>style.visibility</p:attrName>
                                        </p:attrNameLst>
                                      </p:cBhvr>
                                      <p:to>
                                        <p:strVal val="visible"/>
                                      </p:to>
                                    </p:set>
                                    <p:animEffect transition="in" filter="fade">
                                      <p:cBhvr>
                                        <p:cTn id="118" dur="500"/>
                                        <p:tgtEl>
                                          <p:spTgt spid="4200"/>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4096"/>
                                        </p:tgtEl>
                                        <p:attrNameLst>
                                          <p:attrName>style.visibility</p:attrName>
                                        </p:attrNameLst>
                                      </p:cBhvr>
                                      <p:to>
                                        <p:strVal val="visible"/>
                                      </p:to>
                                    </p:set>
                                    <p:animEffect transition="in" filter="fade">
                                      <p:cBhvr>
                                        <p:cTn id="123" dur="500"/>
                                        <p:tgtEl>
                                          <p:spTgt spid="4096"/>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63"/>
                                        </p:tgtEl>
                                        <p:attrNameLst>
                                          <p:attrName>style.visibility</p:attrName>
                                        </p:attrNameLst>
                                      </p:cBhvr>
                                      <p:to>
                                        <p:strVal val="visible"/>
                                      </p:to>
                                    </p:set>
                                    <p:animEffect transition="in" filter="fade">
                                      <p:cBhvr>
                                        <p:cTn id="126" dur="500"/>
                                        <p:tgtEl>
                                          <p:spTgt spid="63"/>
                                        </p:tgtEl>
                                      </p:cBhvr>
                                    </p:animEffect>
                                  </p:childTnLst>
                                </p:cTn>
                              </p:par>
                              <p:par>
                                <p:cTn id="127" presetID="10" presetClass="entr" presetSubtype="0" fill="hold" nodeType="withEffect">
                                  <p:stCondLst>
                                    <p:cond delay="0"/>
                                  </p:stCondLst>
                                  <p:childTnLst>
                                    <p:set>
                                      <p:cBhvr>
                                        <p:cTn id="128" dur="1" fill="hold">
                                          <p:stCondLst>
                                            <p:cond delay="0"/>
                                          </p:stCondLst>
                                        </p:cTn>
                                        <p:tgtEl>
                                          <p:spTgt spid="53"/>
                                        </p:tgtEl>
                                        <p:attrNameLst>
                                          <p:attrName>style.visibility</p:attrName>
                                        </p:attrNameLst>
                                      </p:cBhvr>
                                      <p:to>
                                        <p:strVal val="visible"/>
                                      </p:to>
                                    </p:set>
                                    <p:animEffect transition="in" filter="fade">
                                      <p:cBhvr>
                                        <p:cTn id="129" dur="500"/>
                                        <p:tgtEl>
                                          <p:spTgt spid="53"/>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2"/>
                                        </p:tgtEl>
                                        <p:attrNameLst>
                                          <p:attrName>style.visibility</p:attrName>
                                        </p:attrNameLst>
                                      </p:cBhvr>
                                      <p:to>
                                        <p:strVal val="visible"/>
                                      </p:to>
                                    </p:set>
                                    <p:animEffect transition="in" filter="fade">
                                      <p:cBhvr>
                                        <p:cTn id="132" dur="500"/>
                                        <p:tgtEl>
                                          <p:spTgt spid="62"/>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099"/>
                                        </p:tgtEl>
                                        <p:attrNameLst>
                                          <p:attrName>style.visibility</p:attrName>
                                        </p:attrNameLst>
                                      </p:cBhvr>
                                      <p:to>
                                        <p:strVal val="visible"/>
                                      </p:to>
                                    </p:set>
                                    <p:animEffect transition="in" filter="fade">
                                      <p:cBhvr>
                                        <p:cTn id="135" dur="500"/>
                                        <p:tgtEl>
                                          <p:spTgt spid="4099"/>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4232"/>
                                        </p:tgtEl>
                                        <p:attrNameLst>
                                          <p:attrName>style.visibility</p:attrName>
                                        </p:attrNameLst>
                                      </p:cBhvr>
                                      <p:to>
                                        <p:strVal val="visible"/>
                                      </p:to>
                                    </p:set>
                                    <p:animEffect transition="in" filter="fade">
                                      <p:cBhvr>
                                        <p:cTn id="140" dur="500"/>
                                        <p:tgtEl>
                                          <p:spTgt spid="423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211"/>
                                        </p:tgtEl>
                                        <p:attrNameLst>
                                          <p:attrName>style.visibility</p:attrName>
                                        </p:attrNameLst>
                                      </p:cBhvr>
                                      <p:to>
                                        <p:strVal val="visible"/>
                                      </p:to>
                                    </p:set>
                                    <p:animEffect transition="in" filter="fade">
                                      <p:cBhvr>
                                        <p:cTn id="143" dur="500"/>
                                        <p:tgtEl>
                                          <p:spTgt spid="4211"/>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4226"/>
                                        </p:tgtEl>
                                        <p:attrNameLst>
                                          <p:attrName>style.visibility</p:attrName>
                                        </p:attrNameLst>
                                      </p:cBhvr>
                                      <p:to>
                                        <p:strVal val="visible"/>
                                      </p:to>
                                    </p:set>
                                    <p:animEffect transition="in" filter="fade">
                                      <p:cBhvr>
                                        <p:cTn id="148" dur="500"/>
                                        <p:tgtEl>
                                          <p:spTgt spid="4226"/>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4227"/>
                                        </p:tgtEl>
                                        <p:attrNameLst>
                                          <p:attrName>style.visibility</p:attrName>
                                        </p:attrNameLst>
                                      </p:cBhvr>
                                      <p:to>
                                        <p:strVal val="visible"/>
                                      </p:to>
                                    </p:set>
                                    <p:animEffect transition="in" filter="fade">
                                      <p:cBhvr>
                                        <p:cTn id="151" dur="500"/>
                                        <p:tgtEl>
                                          <p:spTgt spid="4227"/>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nodeType="clickEffect">
                                  <p:stCondLst>
                                    <p:cond delay="0"/>
                                  </p:stCondLst>
                                  <p:childTnLst>
                                    <p:set>
                                      <p:cBhvr>
                                        <p:cTn id="155" dur="1" fill="hold">
                                          <p:stCondLst>
                                            <p:cond delay="0"/>
                                          </p:stCondLst>
                                        </p:cTn>
                                        <p:tgtEl>
                                          <p:spTgt spid="4228"/>
                                        </p:tgtEl>
                                        <p:attrNameLst>
                                          <p:attrName>style.visibility</p:attrName>
                                        </p:attrNameLst>
                                      </p:cBhvr>
                                      <p:to>
                                        <p:strVal val="visible"/>
                                      </p:to>
                                    </p:set>
                                    <p:animEffect transition="in" filter="fade">
                                      <p:cBhvr>
                                        <p:cTn id="156" dur="500"/>
                                        <p:tgtEl>
                                          <p:spTgt spid="4228"/>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4215"/>
                                        </p:tgtEl>
                                        <p:attrNameLst>
                                          <p:attrName>style.visibility</p:attrName>
                                        </p:attrNameLst>
                                      </p:cBhvr>
                                      <p:to>
                                        <p:strVal val="visible"/>
                                      </p:to>
                                    </p:set>
                                    <p:animEffect transition="in" filter="fade">
                                      <p:cBhvr>
                                        <p:cTn id="159" dur="500"/>
                                        <p:tgtEl>
                                          <p:spTgt spid="4215"/>
                                        </p:tgtEl>
                                      </p:cBhvr>
                                    </p:animEffect>
                                  </p:childTnLst>
                                </p:cTn>
                              </p:par>
                              <p:par>
                                <p:cTn id="160" presetID="10" presetClass="entr" presetSubtype="0" fill="hold" nodeType="withEffect">
                                  <p:stCondLst>
                                    <p:cond delay="0"/>
                                  </p:stCondLst>
                                  <p:childTnLst>
                                    <p:set>
                                      <p:cBhvr>
                                        <p:cTn id="161" dur="1" fill="hold">
                                          <p:stCondLst>
                                            <p:cond delay="0"/>
                                          </p:stCondLst>
                                        </p:cTn>
                                        <p:tgtEl>
                                          <p:spTgt spid="4212"/>
                                        </p:tgtEl>
                                        <p:attrNameLst>
                                          <p:attrName>style.visibility</p:attrName>
                                        </p:attrNameLst>
                                      </p:cBhvr>
                                      <p:to>
                                        <p:strVal val="visible"/>
                                      </p:to>
                                    </p:set>
                                    <p:animEffect transition="in" filter="fade">
                                      <p:cBhvr>
                                        <p:cTn id="162" dur="500"/>
                                        <p:tgtEl>
                                          <p:spTgt spid="4212"/>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nodeType="clickEffect">
                                  <p:stCondLst>
                                    <p:cond delay="0"/>
                                  </p:stCondLst>
                                  <p:childTnLst>
                                    <p:set>
                                      <p:cBhvr>
                                        <p:cTn id="166" dur="1" fill="hold">
                                          <p:stCondLst>
                                            <p:cond delay="0"/>
                                          </p:stCondLst>
                                        </p:cTn>
                                        <p:tgtEl>
                                          <p:spTgt spid="4220"/>
                                        </p:tgtEl>
                                        <p:attrNameLst>
                                          <p:attrName>style.visibility</p:attrName>
                                        </p:attrNameLst>
                                      </p:cBhvr>
                                      <p:to>
                                        <p:strVal val="visible"/>
                                      </p:to>
                                    </p:set>
                                    <p:animEffect transition="in" filter="fade">
                                      <p:cBhvr>
                                        <p:cTn id="167" dur="500"/>
                                        <p:tgtEl>
                                          <p:spTgt spid="4220"/>
                                        </p:tgtEl>
                                      </p:cBhvr>
                                    </p:animEffect>
                                  </p:childTnLst>
                                </p:cTn>
                              </p:par>
                              <p:par>
                                <p:cTn id="168" presetID="10" presetClass="entr" presetSubtype="0" fill="hold" nodeType="withEffect">
                                  <p:stCondLst>
                                    <p:cond delay="0"/>
                                  </p:stCondLst>
                                  <p:childTnLst>
                                    <p:set>
                                      <p:cBhvr>
                                        <p:cTn id="169" dur="1" fill="hold">
                                          <p:stCondLst>
                                            <p:cond delay="0"/>
                                          </p:stCondLst>
                                        </p:cTn>
                                        <p:tgtEl>
                                          <p:spTgt spid="4233"/>
                                        </p:tgtEl>
                                        <p:attrNameLst>
                                          <p:attrName>style.visibility</p:attrName>
                                        </p:attrNameLst>
                                      </p:cBhvr>
                                      <p:to>
                                        <p:strVal val="visible"/>
                                      </p:to>
                                    </p:set>
                                    <p:animEffect transition="in" filter="fade">
                                      <p:cBhvr>
                                        <p:cTn id="170" dur="500"/>
                                        <p:tgtEl>
                                          <p:spTgt spid="4233"/>
                                        </p:tgtEl>
                                      </p:cBhvr>
                                    </p:animEffect>
                                  </p:childTnLst>
                                </p:cTn>
                              </p:par>
                            </p:childTnLst>
                          </p:cTn>
                        </p:par>
                      </p:childTnLst>
                    </p:cTn>
                  </p:par>
                  <p:par>
                    <p:cTn id="171" fill="hold">
                      <p:stCondLst>
                        <p:cond delay="indefinite"/>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6"/>
                                        </p:tgtEl>
                                        <p:attrNameLst>
                                          <p:attrName>style.visibility</p:attrName>
                                        </p:attrNameLst>
                                      </p:cBhvr>
                                      <p:to>
                                        <p:strVal val="visible"/>
                                      </p:to>
                                    </p:set>
                                    <p:animEffect transition="in" filter="fade">
                                      <p:cBhvr>
                                        <p:cTn id="175" dur="500"/>
                                        <p:tgtEl>
                                          <p:spTgt spid="6"/>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11"/>
                                        </p:tgtEl>
                                        <p:attrNameLst>
                                          <p:attrName>style.visibility</p:attrName>
                                        </p:attrNameLst>
                                      </p:cBhvr>
                                      <p:to>
                                        <p:strVal val="visible"/>
                                      </p:to>
                                    </p:set>
                                    <p:animEffect transition="in" filter="fade">
                                      <p:cBhvr>
                                        <p:cTn id="178" dur="500"/>
                                        <p:tgtEl>
                                          <p:spTgt spid="11"/>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13"/>
                                        </p:tgtEl>
                                        <p:attrNameLst>
                                          <p:attrName>style.visibility</p:attrName>
                                        </p:attrNameLst>
                                      </p:cBhvr>
                                      <p:to>
                                        <p:strVal val="visible"/>
                                      </p:to>
                                    </p:set>
                                    <p:animEffect transition="in" filter="fade">
                                      <p:cBhvr>
                                        <p:cTn id="181" dur="500"/>
                                        <p:tgtEl>
                                          <p:spTgt spid="13"/>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14"/>
                                        </p:tgtEl>
                                        <p:attrNameLst>
                                          <p:attrName>style.visibility</p:attrName>
                                        </p:attrNameLst>
                                      </p:cBhvr>
                                      <p:to>
                                        <p:strVal val="visible"/>
                                      </p:to>
                                    </p:set>
                                    <p:animEffect transition="in" filter="fade">
                                      <p:cBhvr>
                                        <p:cTn id="184" dur="500"/>
                                        <p:tgtEl>
                                          <p:spTgt spid="14"/>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15"/>
                                        </p:tgtEl>
                                        <p:attrNameLst>
                                          <p:attrName>style.visibility</p:attrName>
                                        </p:attrNameLst>
                                      </p:cBhvr>
                                      <p:to>
                                        <p:strVal val="visible"/>
                                      </p:to>
                                    </p:set>
                                    <p:animEffect transition="in" filter="fade">
                                      <p:cBhvr>
                                        <p:cTn id="18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5" grpId="0"/>
      <p:bldP spid="4156" grpId="0"/>
      <p:bldP spid="4157" grpId="0" animBg="1"/>
      <p:bldP spid="4158" grpId="0" animBg="1"/>
      <p:bldP spid="4159" grpId="0"/>
      <p:bldP spid="4161" grpId="0" animBg="1"/>
      <p:bldP spid="4162" grpId="0" animBg="1"/>
      <p:bldP spid="4168" grpId="0"/>
      <p:bldP spid="4172" grpId="0" animBg="1"/>
      <p:bldP spid="4180" grpId="0" animBg="1"/>
      <p:bldP spid="4191" grpId="0" animBg="1"/>
      <p:bldP spid="4192" grpId="0" animBg="1"/>
      <p:bldP spid="4199" grpId="0"/>
      <p:bldP spid="4193" grpId="0" animBg="1"/>
      <p:bldP spid="4203" grpId="0" animBg="1"/>
      <p:bldP spid="4211" grpId="0"/>
      <p:bldP spid="4215" grpId="0" animBg="1"/>
      <p:bldP spid="4226" grpId="0" animBg="1"/>
      <p:bldP spid="4227" grpId="0" animBg="1"/>
      <p:bldP spid="4232" grpId="0"/>
      <p:bldP spid="35" grpId="0" animBg="1"/>
      <p:bldP spid="51" grpId="0"/>
      <p:bldP spid="58" grpId="0"/>
      <p:bldP spid="59" grpId="0" animBg="1"/>
      <p:bldP spid="61" grpId="0"/>
      <p:bldP spid="62" grpId="0"/>
      <p:bldP spid="4099" grpId="0"/>
      <p:bldP spid="6" grpId="0"/>
      <p:bldP spid="11" grpId="0" animBg="1"/>
      <p:bldP spid="13" grpId="0" animBg="1"/>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1B068-27BD-8474-B243-8160067F78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65C23CE-6B92-76F9-9C3F-A8480AB7CE60}"/>
              </a:ext>
            </a:extLst>
          </p:cNvPr>
          <p:cNvSpPr/>
          <p:nvPr/>
        </p:nvSpPr>
        <p:spPr>
          <a:xfrm>
            <a:off x="0" y="0"/>
            <a:ext cx="12192000" cy="6865082"/>
          </a:xfrm>
          <a:prstGeom prst="rect">
            <a:avLst/>
          </a:prstGeom>
          <a:gradFill flip="none" rotWithShape="1">
            <a:gsLst>
              <a:gs pos="8000">
                <a:srgbClr val="F22D1C"/>
              </a:gs>
              <a:gs pos="47000">
                <a:srgbClr val="FF5050">
                  <a:alpha val="94902"/>
                </a:srgbClr>
              </a:gs>
              <a:gs pos="100000">
                <a:srgbClr val="FF7C80"/>
              </a:gs>
            </a:gsLst>
            <a:lin ang="12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5" name="Date Placeholder 3">
            <a:extLst>
              <a:ext uri="{FF2B5EF4-FFF2-40B4-BE49-F238E27FC236}">
                <a16:creationId xmlns:a16="http://schemas.microsoft.com/office/drawing/2014/main" id="{7B1569EF-80B0-D6E6-75F6-1F6A3A98E303}"/>
              </a:ext>
            </a:extLst>
          </p:cNvPr>
          <p:cNvSpPr>
            <a:spLocks noGrp="1"/>
          </p:cNvSpPr>
          <p:nvPr>
            <p:ph type="dt" sz="half" idx="10"/>
          </p:nvPr>
        </p:nvSpPr>
        <p:spPr>
          <a:xfrm>
            <a:off x="11003616" y="136525"/>
            <a:ext cx="1117563" cy="365125"/>
          </a:xfrm>
        </p:spPr>
        <p:txBody>
          <a:bodyPr/>
          <a:lstStyle/>
          <a:p>
            <a:fld id="{27AB8C26-330F-4C13-A9D7-A5B1D2394DAC}" type="datetime1">
              <a:rPr lang="es-CO" noProof="0" smtClean="0">
                <a:solidFill>
                  <a:schemeClr val="bg1"/>
                </a:solidFill>
              </a:rPr>
              <a:t>27/03/2026</a:t>
            </a:fld>
            <a:endParaRPr lang="es-CO" noProof="0" dirty="0">
              <a:solidFill>
                <a:schemeClr val="bg1"/>
              </a:solidFill>
            </a:endParaRPr>
          </a:p>
        </p:txBody>
      </p:sp>
      <p:sp>
        <p:nvSpPr>
          <p:cNvPr id="29" name="TextBox 28">
            <a:extLst>
              <a:ext uri="{FF2B5EF4-FFF2-40B4-BE49-F238E27FC236}">
                <a16:creationId xmlns:a16="http://schemas.microsoft.com/office/drawing/2014/main" id="{9744D985-94F2-6249-86B4-0908FCBB85D1}"/>
              </a:ext>
            </a:extLst>
          </p:cNvPr>
          <p:cNvSpPr txBox="1"/>
          <p:nvPr/>
        </p:nvSpPr>
        <p:spPr>
          <a:xfrm>
            <a:off x="869960" y="2305615"/>
            <a:ext cx="6517811"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4800" i="0" u="none" strike="noStrike" kern="1200" cap="none" spc="0" normalizeH="0" baseline="0" noProof="0" dirty="0" err="1">
                <a:ln>
                  <a:noFill/>
                </a:ln>
                <a:solidFill>
                  <a:prstClr val="white"/>
                </a:solidFill>
                <a:effectLst/>
                <a:uLnTx/>
                <a:uFillTx/>
                <a:latin typeface="Aptos SemiBold" panose="020B0004020202020204" pitchFamily="34" charset="0"/>
                <a:ea typeface="+mn-ea"/>
                <a:cs typeface="+mn-cs"/>
              </a:rPr>
              <a:t>Before</a:t>
            </a:r>
            <a:r>
              <a:rPr kumimoji="0" lang="es-CO" sz="4800" i="0" u="none" strike="noStrike" kern="1200" cap="none" spc="0" normalizeH="0" baseline="0" noProof="0" dirty="0">
                <a:ln>
                  <a:noFill/>
                </a:ln>
                <a:solidFill>
                  <a:prstClr val="white"/>
                </a:solidFill>
                <a:effectLst/>
                <a:uLnTx/>
                <a:uFillTx/>
                <a:latin typeface="Aptos SemiBold" panose="020B0004020202020204" pitchFamily="34" charset="0"/>
                <a:ea typeface="+mn-ea"/>
                <a:cs typeface="+mn-cs"/>
              </a:rPr>
              <a:t> </a:t>
            </a:r>
            <a:r>
              <a:rPr kumimoji="0" lang="es-CO" sz="4800" i="0" u="none" strike="noStrike" kern="1200" cap="none" spc="0" normalizeH="0" baseline="0" noProof="0" dirty="0" err="1">
                <a:ln>
                  <a:noFill/>
                </a:ln>
                <a:solidFill>
                  <a:prstClr val="white"/>
                </a:solidFill>
                <a:effectLst/>
                <a:uLnTx/>
                <a:uFillTx/>
                <a:latin typeface="Aptos SemiBold" panose="020B0004020202020204" pitchFamily="34" charset="0"/>
                <a:ea typeface="+mn-ea"/>
                <a:cs typeface="+mn-cs"/>
              </a:rPr>
              <a:t>we</a:t>
            </a:r>
            <a:r>
              <a:rPr kumimoji="0" lang="es-CO" sz="4800" i="0" u="none" strike="noStrike" kern="1200" cap="none" spc="0" normalizeH="0" baseline="0" noProof="0" dirty="0">
                <a:ln>
                  <a:noFill/>
                </a:ln>
                <a:solidFill>
                  <a:prstClr val="white"/>
                </a:solidFill>
                <a:effectLst/>
                <a:uLnTx/>
                <a:uFillTx/>
                <a:latin typeface="Aptos SemiBold" panose="020B0004020202020204" pitchFamily="34" charset="0"/>
                <a:ea typeface="+mn-ea"/>
                <a:cs typeface="+mn-cs"/>
              </a:rPr>
              <a:t> </a:t>
            </a:r>
            <a:r>
              <a:rPr kumimoji="0" lang="es-CO" sz="4800" i="0" u="none" strike="noStrike" kern="1200" cap="none" spc="0" normalizeH="0" baseline="0" noProof="0" dirty="0" err="1">
                <a:ln>
                  <a:noFill/>
                </a:ln>
                <a:solidFill>
                  <a:prstClr val="white"/>
                </a:solidFill>
                <a:effectLst/>
                <a:uLnTx/>
                <a:uFillTx/>
                <a:latin typeface="Aptos SemiBold" panose="020B0004020202020204" pitchFamily="34" charset="0"/>
                <a:ea typeface="+mn-ea"/>
                <a:cs typeface="+mn-cs"/>
              </a:rPr>
              <a:t>begin</a:t>
            </a:r>
            <a:r>
              <a:rPr kumimoji="0" lang="es-CO" sz="4800" i="0" u="none" strike="noStrike" kern="1200" cap="none" spc="0" normalizeH="0" baseline="0" noProof="0" dirty="0">
                <a:ln>
                  <a:noFill/>
                </a:ln>
                <a:solidFill>
                  <a:prstClr val="white"/>
                </a:solidFill>
                <a:effectLst/>
                <a:uLnTx/>
                <a:uFillTx/>
                <a:latin typeface="Aptos SemiBold" panose="020B0004020202020204" pitchFamily="34" charset="0"/>
                <a:ea typeface="+mn-ea"/>
                <a:cs typeface="+mn-cs"/>
              </a:rPr>
              <a:t>, </a:t>
            </a:r>
            <a:r>
              <a:rPr kumimoji="0" lang="es-CO" sz="4800" i="0" u="none" strike="noStrike" kern="1200" cap="none" spc="0" normalizeH="0" baseline="0" noProof="0" dirty="0" err="1">
                <a:ln>
                  <a:noFill/>
                </a:ln>
                <a:solidFill>
                  <a:prstClr val="white"/>
                </a:solidFill>
                <a:effectLst/>
                <a:uLnTx/>
                <a:uFillTx/>
                <a:latin typeface="Aptos SemiBold" panose="020B0004020202020204" pitchFamily="34" charset="0"/>
                <a:ea typeface="+mn-ea"/>
                <a:cs typeface="+mn-cs"/>
              </a:rPr>
              <a:t>lets</a:t>
            </a:r>
            <a:r>
              <a:rPr kumimoji="0" lang="es-CO" sz="4800" i="0" u="none" strike="noStrike" kern="1200" cap="none" spc="0" normalizeH="0" baseline="0" noProof="0" dirty="0">
                <a:ln>
                  <a:noFill/>
                </a:ln>
                <a:solidFill>
                  <a:prstClr val="white"/>
                </a:solidFill>
                <a:effectLst/>
                <a:uLnTx/>
                <a:uFillTx/>
                <a:latin typeface="Aptos SemiBold" panose="020B0004020202020204" pitchFamily="34" charset="0"/>
                <a:ea typeface="+mn-ea"/>
                <a:cs typeface="+mn-cs"/>
              </a:rPr>
              <a:t> </a:t>
            </a:r>
            <a:r>
              <a:rPr kumimoji="0" lang="es-CO" sz="4800" i="0" u="none" strike="noStrike" kern="1200" cap="none" spc="0" normalizeH="0" baseline="0" noProof="0" dirty="0" err="1">
                <a:ln>
                  <a:noFill/>
                </a:ln>
                <a:solidFill>
                  <a:prstClr val="white"/>
                </a:solidFill>
                <a:effectLst/>
                <a:uLnTx/>
                <a:uFillTx/>
                <a:latin typeface="Aptos SemiBold" panose="020B0004020202020204" pitchFamily="34" charset="0"/>
                <a:ea typeface="+mn-ea"/>
                <a:cs typeface="+mn-cs"/>
              </a:rPr>
              <a:t>talk</a:t>
            </a:r>
            <a:r>
              <a:rPr kumimoji="0" lang="es-CO" sz="4800" i="0" u="none" strike="noStrike" kern="1200" cap="none" spc="0" normalizeH="0" baseline="0" noProof="0" dirty="0">
                <a:ln>
                  <a:noFill/>
                </a:ln>
                <a:solidFill>
                  <a:prstClr val="white"/>
                </a:solidFill>
                <a:effectLst/>
                <a:uLnTx/>
                <a:uFillTx/>
                <a:latin typeface="Aptos SemiBold" panose="020B0004020202020204" pitchFamily="34" charset="0"/>
                <a:ea typeface="+mn-ea"/>
                <a:cs typeface="+mn-cs"/>
              </a:rPr>
              <a:t> </a:t>
            </a:r>
            <a:r>
              <a:rPr kumimoji="0" lang="es-CO" sz="4800" i="0" u="none" strike="noStrike" kern="1200" cap="none" spc="0" normalizeH="0" baseline="0" noProof="0" dirty="0" err="1">
                <a:ln>
                  <a:noFill/>
                </a:ln>
                <a:solidFill>
                  <a:prstClr val="white"/>
                </a:solidFill>
                <a:effectLst/>
                <a:uLnTx/>
                <a:uFillTx/>
                <a:latin typeface="Aptos SemiBold" panose="020B0004020202020204" pitchFamily="34" charset="0"/>
                <a:ea typeface="+mn-ea"/>
                <a:cs typeface="+mn-cs"/>
              </a:rPr>
              <a:t>LLMs</a:t>
            </a:r>
            <a:r>
              <a:rPr kumimoji="0" lang="es-CO" sz="4800" i="0" u="none" strike="noStrike" kern="1200" cap="none" spc="0" normalizeH="0" baseline="0" noProof="0" dirty="0">
                <a:ln>
                  <a:noFill/>
                </a:ln>
                <a:solidFill>
                  <a:prstClr val="white"/>
                </a:solidFill>
                <a:effectLst/>
                <a:uLnTx/>
                <a:uFillTx/>
                <a:latin typeface="Aptos SemiBold" panose="020B0004020202020204" pitchFamily="34" charset="0"/>
                <a:ea typeface="+mn-ea"/>
                <a:cs typeface="+mn-cs"/>
              </a:rPr>
              <a:t> 🤖</a:t>
            </a:r>
            <a:endParaRPr kumimoji="0" lang="es-CO" sz="4800" b="0" i="0" u="none" strike="noStrike" kern="1200" cap="none" spc="0" normalizeH="0" baseline="0" noProof="0" dirty="0">
              <a:ln>
                <a:noFill/>
              </a:ln>
              <a:solidFill>
                <a:prstClr val="white"/>
              </a:solidFill>
              <a:effectLst/>
              <a:uLnTx/>
              <a:uFillTx/>
              <a:latin typeface="Aptos SemiBold" panose="020B0004020202020204" pitchFamily="34" charset="0"/>
              <a:ea typeface="+mn-ea"/>
              <a:cs typeface="+mn-cs"/>
            </a:endParaRPr>
          </a:p>
        </p:txBody>
      </p:sp>
      <p:sp>
        <p:nvSpPr>
          <p:cNvPr id="7" name="Slide Number Placeholder 2">
            <a:extLst>
              <a:ext uri="{FF2B5EF4-FFF2-40B4-BE49-F238E27FC236}">
                <a16:creationId xmlns:a16="http://schemas.microsoft.com/office/drawing/2014/main" id="{F0360119-7998-B9AB-B9F4-5D57DCDEA783}"/>
              </a:ext>
            </a:extLst>
          </p:cNvPr>
          <p:cNvSpPr>
            <a:spLocks noGrp="1"/>
          </p:cNvSpPr>
          <p:nvPr>
            <p:ph type="sldNum" sz="quarter" idx="12"/>
          </p:nvPr>
        </p:nvSpPr>
        <p:spPr>
          <a:xfrm>
            <a:off x="8739389" y="6356348"/>
            <a:ext cx="2743200" cy="365125"/>
          </a:xfrm>
        </p:spPr>
        <p:txBody>
          <a:bodyPr/>
          <a:lstStyle/>
          <a:p>
            <a:fld id="{330EA680-D336-4FF7-8B7A-9848BB0A1C32}" type="slidenum">
              <a:rPr lang="es-CO" noProof="0" smtClean="0">
                <a:solidFill>
                  <a:schemeClr val="bg1"/>
                </a:solidFill>
              </a:rPr>
              <a:t>11</a:t>
            </a:fld>
            <a:endParaRPr lang="es-CO" noProof="0" dirty="0">
              <a:solidFill>
                <a:schemeClr val="bg1"/>
              </a:solidFill>
            </a:endParaRPr>
          </a:p>
        </p:txBody>
      </p:sp>
    </p:spTree>
    <p:extLst>
      <p:ext uri="{BB962C8B-B14F-4D97-AF65-F5344CB8AC3E}">
        <p14:creationId xmlns:p14="http://schemas.microsoft.com/office/powerpoint/2010/main" val="2178104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8C483-88DE-93DD-B4F7-A471AB6A509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9E74263-6FD5-2E37-9FF1-56FFA316C83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5B747DD1-A061-97E3-675E-A8F750D757EF}"/>
              </a:ext>
            </a:extLst>
          </p:cNvPr>
          <p:cNvSpPr txBox="1">
            <a:spLocks/>
          </p:cNvSpPr>
          <p:nvPr/>
        </p:nvSpPr>
        <p:spPr>
          <a:xfrm>
            <a:off x="891589" y="501651"/>
            <a:ext cx="3489911"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dirty="0">
                <a:ln>
                  <a:noFill/>
                </a:ln>
                <a:solidFill>
                  <a:srgbClr val="FF0000"/>
                </a:solidFill>
                <a:effectLst/>
                <a:uLnTx/>
                <a:uFillTx/>
                <a:latin typeface="Aptos SemiBold" panose="020F0502020204030204" pitchFamily="34" charset="0"/>
                <a:ea typeface="+mj-ea"/>
                <a:cs typeface="+mj-cs"/>
              </a:rPr>
              <a:t>LLMs</a:t>
            </a:r>
          </a:p>
        </p:txBody>
      </p:sp>
      <p:sp>
        <p:nvSpPr>
          <p:cNvPr id="5" name="Slide Number Placeholder 2">
            <a:extLst>
              <a:ext uri="{FF2B5EF4-FFF2-40B4-BE49-F238E27FC236}">
                <a16:creationId xmlns:a16="http://schemas.microsoft.com/office/drawing/2014/main" id="{1D922531-C462-E09F-8F99-4923350CCBDF}"/>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F1F7D364-3FF2-4FA8-051F-02F8785A3A0A}"/>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sp>
        <p:nvSpPr>
          <p:cNvPr id="2" name="Rectangle: Rounded Corners 1">
            <a:extLst>
              <a:ext uri="{FF2B5EF4-FFF2-40B4-BE49-F238E27FC236}">
                <a16:creationId xmlns:a16="http://schemas.microsoft.com/office/drawing/2014/main" id="{E3B51041-F6A8-0E56-FA3B-5A1090AD3EFD}"/>
              </a:ext>
            </a:extLst>
          </p:cNvPr>
          <p:cNvSpPr/>
          <p:nvPr/>
        </p:nvSpPr>
        <p:spPr>
          <a:xfrm>
            <a:off x="1193800" y="1390650"/>
            <a:ext cx="3187700" cy="410337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TextBox 5">
            <a:extLst>
              <a:ext uri="{FF2B5EF4-FFF2-40B4-BE49-F238E27FC236}">
                <a16:creationId xmlns:a16="http://schemas.microsoft.com/office/drawing/2014/main" id="{9D4E64C6-60C8-0FAE-76BD-F0B2F511C372}"/>
              </a:ext>
            </a:extLst>
          </p:cNvPr>
          <p:cNvSpPr txBox="1"/>
          <p:nvPr/>
        </p:nvSpPr>
        <p:spPr>
          <a:xfrm>
            <a:off x="1428750" y="1576070"/>
            <a:ext cx="2716530" cy="1107996"/>
          </a:xfrm>
          <a:prstGeom prst="rect">
            <a:avLst/>
          </a:prstGeom>
          <a:noFill/>
        </p:spPr>
        <p:txBody>
          <a:bodyPr wrap="square" rtlCol="0">
            <a:spAutoFit/>
          </a:bodyPr>
          <a:lstStyle/>
          <a:p>
            <a:r>
              <a:rPr lang="en-GB" b="1" noProof="0" dirty="0">
                <a:solidFill>
                  <a:srgbClr val="00B0F0"/>
                </a:solidFill>
              </a:rPr>
              <a:t>Human</a:t>
            </a:r>
          </a:p>
          <a:p>
            <a:r>
              <a:rPr lang="en-GB" sz="1200" noProof="0" dirty="0"/>
              <a:t>Can you explain to me the intuition behind a logistic model, with an emphasis on the interpretation of its results?</a:t>
            </a:r>
          </a:p>
        </p:txBody>
      </p:sp>
      <p:sp>
        <p:nvSpPr>
          <p:cNvPr id="7" name="TextBox 6">
            <a:extLst>
              <a:ext uri="{FF2B5EF4-FFF2-40B4-BE49-F238E27FC236}">
                <a16:creationId xmlns:a16="http://schemas.microsoft.com/office/drawing/2014/main" id="{3289A651-0887-4221-5C2A-6EC2778F5324}"/>
              </a:ext>
            </a:extLst>
          </p:cNvPr>
          <p:cNvSpPr txBox="1"/>
          <p:nvPr/>
        </p:nvSpPr>
        <p:spPr>
          <a:xfrm>
            <a:off x="1428750" y="2868732"/>
            <a:ext cx="2108200" cy="1938992"/>
          </a:xfrm>
          <a:prstGeom prst="rect">
            <a:avLst/>
          </a:prstGeom>
          <a:noFill/>
        </p:spPr>
        <p:txBody>
          <a:bodyPr wrap="square" rtlCol="0">
            <a:spAutoFit/>
          </a:bodyPr>
          <a:lstStyle/>
          <a:p>
            <a:r>
              <a:rPr lang="en-GB" b="1" noProof="0" dirty="0">
                <a:solidFill>
                  <a:srgbClr val="00B0F0"/>
                </a:solidFill>
              </a:rPr>
              <a:t>AI Assistant</a:t>
            </a:r>
          </a:p>
          <a:p>
            <a:endParaRPr lang="en-GB" b="1" noProof="0" dirty="0">
              <a:solidFill>
                <a:srgbClr val="00B0F0"/>
              </a:solidFill>
            </a:endParaRPr>
          </a:p>
          <a:p>
            <a:r>
              <a:rPr lang="en-GB" sz="1200" noProof="0" dirty="0"/>
              <a:t>A logistic model is a statistical technique used to predict the probability of a binary event (for example, success vs. failure, yes vs. no, 1 vs. 0) based on one or more independent variables.</a:t>
            </a:r>
          </a:p>
        </p:txBody>
      </p:sp>
      <p:grpSp>
        <p:nvGrpSpPr>
          <p:cNvPr id="24" name="Group 23">
            <a:extLst>
              <a:ext uri="{FF2B5EF4-FFF2-40B4-BE49-F238E27FC236}">
                <a16:creationId xmlns:a16="http://schemas.microsoft.com/office/drawing/2014/main" id="{5B8BC190-8C91-D71F-AD45-5EB206267209}"/>
              </a:ext>
            </a:extLst>
          </p:cNvPr>
          <p:cNvGrpSpPr/>
          <p:nvPr/>
        </p:nvGrpSpPr>
        <p:grpSpPr>
          <a:xfrm>
            <a:off x="1193165" y="3437556"/>
            <a:ext cx="3187700" cy="2577282"/>
            <a:chOff x="1193800" y="3282377"/>
            <a:chExt cx="3187700" cy="2577282"/>
          </a:xfrm>
        </p:grpSpPr>
        <p:sp>
          <p:nvSpPr>
            <p:cNvPr id="22" name="Freeform: Shape 21">
              <a:extLst>
                <a:ext uri="{FF2B5EF4-FFF2-40B4-BE49-F238E27FC236}">
                  <a16:creationId xmlns:a16="http://schemas.microsoft.com/office/drawing/2014/main" id="{0449BFE2-AA42-C4FB-8689-387E59BA6851}"/>
                </a:ext>
              </a:extLst>
            </p:cNvPr>
            <p:cNvSpPr/>
            <p:nvPr/>
          </p:nvSpPr>
          <p:spPr>
            <a:xfrm>
              <a:off x="1193800" y="3282377"/>
              <a:ext cx="3187700" cy="1547609"/>
            </a:xfrm>
            <a:custGeom>
              <a:avLst/>
              <a:gdLst>
                <a:gd name="connsiteX0" fmla="*/ 679696 w 3187700"/>
                <a:gd name="connsiteY0" fmla="*/ 0 h 1547609"/>
                <a:gd name="connsiteX1" fmla="*/ 1335272 w 3187700"/>
                <a:gd name="connsiteY1" fmla="*/ 341396 h 1547609"/>
                <a:gd name="connsiteX2" fmla="*/ 1448197 w 3187700"/>
                <a:gd name="connsiteY2" fmla="*/ 374102 h 1547609"/>
                <a:gd name="connsiteX3" fmla="*/ 1616828 w 3187700"/>
                <a:gd name="connsiteY3" fmla="*/ 137165 h 1547609"/>
                <a:gd name="connsiteX4" fmla="*/ 1795154 w 3187700"/>
                <a:gd name="connsiteY4" fmla="*/ 252618 h 1547609"/>
                <a:gd name="connsiteX5" fmla="*/ 1924047 w 3187700"/>
                <a:gd name="connsiteY5" fmla="*/ 71516 h 1547609"/>
                <a:gd name="connsiteX6" fmla="*/ 2083104 w 3187700"/>
                <a:gd name="connsiteY6" fmla="*/ 169434 h 1547609"/>
                <a:gd name="connsiteX7" fmla="*/ 2203694 w 3187700"/>
                <a:gd name="connsiteY7" fmla="*/ 0 h 1547609"/>
                <a:gd name="connsiteX8" fmla="*/ 2624259 w 3187700"/>
                <a:gd name="connsiteY8" fmla="*/ 248036 h 1547609"/>
                <a:gd name="connsiteX9" fmla="*/ 2674669 w 3187700"/>
                <a:gd name="connsiteY9" fmla="*/ 269625 h 1547609"/>
                <a:gd name="connsiteX10" fmla="*/ 2769323 w 3187700"/>
                <a:gd name="connsiteY10" fmla="*/ 136632 h 1547609"/>
                <a:gd name="connsiteX11" fmla="*/ 2928380 w 3187700"/>
                <a:gd name="connsiteY11" fmla="*/ 234550 h 1547609"/>
                <a:gd name="connsiteX12" fmla="*/ 3048970 w 3187700"/>
                <a:gd name="connsiteY12" fmla="*/ 65116 h 1547609"/>
                <a:gd name="connsiteX13" fmla="*/ 3187700 w 3187700"/>
                <a:gd name="connsiteY13" fmla="*/ 158013 h 1547609"/>
                <a:gd name="connsiteX14" fmla="*/ 3187700 w 3187700"/>
                <a:gd name="connsiteY14" fmla="*/ 1016315 h 1547609"/>
                <a:gd name="connsiteX15" fmla="*/ 2656406 w 3187700"/>
                <a:gd name="connsiteY15" fmla="*/ 1547609 h 1547609"/>
                <a:gd name="connsiteX16" fmla="*/ 531294 w 3187700"/>
                <a:gd name="connsiteY16" fmla="*/ 1547609 h 1547609"/>
                <a:gd name="connsiteX17" fmla="*/ 0 w 3187700"/>
                <a:gd name="connsiteY17" fmla="*/ 1016315 h 1547609"/>
                <a:gd name="connsiteX18" fmla="*/ 0 w 3187700"/>
                <a:gd name="connsiteY18" fmla="*/ 267598 h 1547609"/>
                <a:gd name="connsiteX19" fmla="*/ 92831 w 3187700"/>
                <a:gd name="connsiteY19" fmla="*/ 137165 h 1547609"/>
                <a:gd name="connsiteX20" fmla="*/ 271156 w 3187700"/>
                <a:gd name="connsiteY20" fmla="*/ 252618 h 1547609"/>
                <a:gd name="connsiteX21" fmla="*/ 400049 w 3187700"/>
                <a:gd name="connsiteY21" fmla="*/ 71516 h 1547609"/>
                <a:gd name="connsiteX22" fmla="*/ 559106 w 3187700"/>
                <a:gd name="connsiteY22" fmla="*/ 169434 h 154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187700" h="1547609">
                  <a:moveTo>
                    <a:pt x="679696" y="0"/>
                  </a:moveTo>
                  <a:cubicBezTo>
                    <a:pt x="930813" y="178724"/>
                    <a:pt x="1144066" y="277792"/>
                    <a:pt x="1335272" y="341396"/>
                  </a:cubicBezTo>
                  <a:lnTo>
                    <a:pt x="1448197" y="374102"/>
                  </a:lnTo>
                  <a:lnTo>
                    <a:pt x="1616828" y="137165"/>
                  </a:lnTo>
                  <a:cubicBezTo>
                    <a:pt x="1703283" y="198696"/>
                    <a:pt x="1795154" y="252618"/>
                    <a:pt x="1795154" y="252618"/>
                  </a:cubicBezTo>
                  <a:lnTo>
                    <a:pt x="1924047" y="71516"/>
                  </a:lnTo>
                  <a:cubicBezTo>
                    <a:pt x="1999911" y="125510"/>
                    <a:pt x="2083104" y="169434"/>
                    <a:pt x="2083104" y="169434"/>
                  </a:cubicBezTo>
                  <a:lnTo>
                    <a:pt x="2203694" y="0"/>
                  </a:lnTo>
                  <a:cubicBezTo>
                    <a:pt x="2356755" y="108936"/>
                    <a:pt x="2495750" y="188279"/>
                    <a:pt x="2624259" y="248036"/>
                  </a:cubicBezTo>
                  <a:lnTo>
                    <a:pt x="2674669" y="269625"/>
                  </a:lnTo>
                  <a:lnTo>
                    <a:pt x="2769323" y="136632"/>
                  </a:lnTo>
                  <a:cubicBezTo>
                    <a:pt x="2845187" y="190626"/>
                    <a:pt x="2928380" y="234550"/>
                    <a:pt x="2928380" y="234550"/>
                  </a:cubicBezTo>
                  <a:lnTo>
                    <a:pt x="3048970" y="65116"/>
                  </a:lnTo>
                  <a:lnTo>
                    <a:pt x="3187700" y="158013"/>
                  </a:lnTo>
                  <a:lnTo>
                    <a:pt x="3187700" y="1016315"/>
                  </a:lnTo>
                  <a:cubicBezTo>
                    <a:pt x="3187700" y="1309741"/>
                    <a:pt x="2949832" y="1547609"/>
                    <a:pt x="2656406" y="1547609"/>
                  </a:cubicBezTo>
                  <a:lnTo>
                    <a:pt x="531294" y="1547609"/>
                  </a:lnTo>
                  <a:cubicBezTo>
                    <a:pt x="237868" y="1547609"/>
                    <a:pt x="0" y="1309741"/>
                    <a:pt x="0" y="1016315"/>
                  </a:cubicBezTo>
                  <a:lnTo>
                    <a:pt x="0" y="267598"/>
                  </a:lnTo>
                  <a:lnTo>
                    <a:pt x="92831" y="137165"/>
                  </a:lnTo>
                  <a:cubicBezTo>
                    <a:pt x="179286" y="198696"/>
                    <a:pt x="271156" y="252618"/>
                    <a:pt x="271156" y="252618"/>
                  </a:cubicBezTo>
                  <a:lnTo>
                    <a:pt x="400049" y="71516"/>
                  </a:lnTo>
                  <a:cubicBezTo>
                    <a:pt x="475913" y="125510"/>
                    <a:pt x="559106" y="169434"/>
                    <a:pt x="559106" y="169434"/>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3" name="Rectangle 22">
              <a:extLst>
                <a:ext uri="{FF2B5EF4-FFF2-40B4-BE49-F238E27FC236}">
                  <a16:creationId xmlns:a16="http://schemas.microsoft.com/office/drawing/2014/main" id="{F7A3CF8F-566D-D462-9808-3D1203FEB434}"/>
                </a:ext>
              </a:extLst>
            </p:cNvPr>
            <p:cNvSpPr/>
            <p:nvPr/>
          </p:nvSpPr>
          <p:spPr>
            <a:xfrm>
              <a:off x="1193800" y="4161394"/>
              <a:ext cx="3187700" cy="16982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63" name="Group 162">
            <a:extLst>
              <a:ext uri="{FF2B5EF4-FFF2-40B4-BE49-F238E27FC236}">
                <a16:creationId xmlns:a16="http://schemas.microsoft.com/office/drawing/2014/main" id="{13D23628-F645-FA6D-B0CF-C006DB9F829E}"/>
              </a:ext>
            </a:extLst>
          </p:cNvPr>
          <p:cNvGrpSpPr/>
          <p:nvPr/>
        </p:nvGrpSpPr>
        <p:grpSpPr>
          <a:xfrm>
            <a:off x="5859044" y="2690041"/>
            <a:ext cx="3738370" cy="2378826"/>
            <a:chOff x="6557544" y="2252922"/>
            <a:chExt cx="3738370" cy="2378826"/>
          </a:xfrm>
        </p:grpSpPr>
        <p:sp>
          <p:nvSpPr>
            <p:cNvPr id="140" name="Freeform: Shape 139">
              <a:extLst>
                <a:ext uri="{FF2B5EF4-FFF2-40B4-BE49-F238E27FC236}">
                  <a16:creationId xmlns:a16="http://schemas.microsoft.com/office/drawing/2014/main" id="{92BB8D01-D888-1BA0-8F16-6F0714C43B47}"/>
                </a:ext>
              </a:extLst>
            </p:cNvPr>
            <p:cNvSpPr/>
            <p:nvPr/>
          </p:nvSpPr>
          <p:spPr>
            <a:xfrm rot="10800000">
              <a:off x="6557544" y="2252922"/>
              <a:ext cx="3738370" cy="2378826"/>
            </a:xfrm>
            <a:custGeom>
              <a:avLst/>
              <a:gdLst>
                <a:gd name="connsiteX0" fmla="*/ 3736122 w 3738370"/>
                <a:gd name="connsiteY0" fmla="*/ 2036055 h 2378826"/>
                <a:gd name="connsiteX1" fmla="*/ 3734722 w 3738370"/>
                <a:gd name="connsiteY1" fmla="*/ 1901161 h 2378826"/>
                <a:gd name="connsiteX2" fmla="*/ 3727996 w 3738370"/>
                <a:gd name="connsiteY2" fmla="*/ 1224477 h 2378826"/>
                <a:gd name="connsiteX3" fmla="*/ 3723177 w 3738370"/>
                <a:gd name="connsiteY3" fmla="*/ 533743 h 2378826"/>
                <a:gd name="connsiteX4" fmla="*/ 3722949 w 3738370"/>
                <a:gd name="connsiteY4" fmla="*/ 258242 h 2378826"/>
                <a:gd name="connsiteX5" fmla="*/ 3704689 w 3738370"/>
                <a:gd name="connsiteY5" fmla="*/ 116491 h 2378826"/>
                <a:gd name="connsiteX6" fmla="*/ 3580217 w 3738370"/>
                <a:gd name="connsiteY6" fmla="*/ 6248 h 2378826"/>
                <a:gd name="connsiteX7" fmla="*/ 3482509 w 3738370"/>
                <a:gd name="connsiteY7" fmla="*/ 810 h 2378826"/>
                <a:gd name="connsiteX8" fmla="*/ 3388716 w 3738370"/>
                <a:gd name="connsiteY8" fmla="*/ 343 h 2378826"/>
                <a:gd name="connsiteX9" fmla="*/ 3167231 w 3738370"/>
                <a:gd name="connsiteY9" fmla="*/ 0 h 2378826"/>
                <a:gd name="connsiteX10" fmla="*/ 2611609 w 3738370"/>
                <a:gd name="connsiteY10" fmla="*/ 1210 h 2378826"/>
                <a:gd name="connsiteX11" fmla="*/ 1968510 w 3738370"/>
                <a:gd name="connsiteY11" fmla="*/ 4181 h 2378826"/>
                <a:gd name="connsiteX12" fmla="*/ 1310895 w 3738370"/>
                <a:gd name="connsiteY12" fmla="*/ 8039 h 2378826"/>
                <a:gd name="connsiteX13" fmla="*/ 719020 w 3738370"/>
                <a:gd name="connsiteY13" fmla="*/ 11859 h 2378826"/>
                <a:gd name="connsiteX14" fmla="*/ 264449 w 3738370"/>
                <a:gd name="connsiteY14" fmla="*/ 14764 h 2378826"/>
                <a:gd name="connsiteX15" fmla="*/ 178810 w 3738370"/>
                <a:gd name="connsiteY15" fmla="*/ 15497 h 2378826"/>
                <a:gd name="connsiteX16" fmla="*/ 35735 w 3738370"/>
                <a:gd name="connsiteY16" fmla="*/ 84344 h 2378826"/>
                <a:gd name="connsiteX17" fmla="*/ 2312 w 3738370"/>
                <a:gd name="connsiteY17" fmla="*/ 152791 h 2378826"/>
                <a:gd name="connsiteX18" fmla="*/ 388 w 3738370"/>
                <a:gd name="connsiteY18" fmla="*/ 208083 h 2378826"/>
                <a:gd name="connsiteX19" fmla="*/ 16 w 3738370"/>
                <a:gd name="connsiteY19" fmla="*/ 322583 h 2378826"/>
                <a:gd name="connsiteX20" fmla="*/ 2712 w 3738370"/>
                <a:gd name="connsiteY20" fmla="*/ 927316 h 2378826"/>
                <a:gd name="connsiteX21" fmla="*/ 9065 w 3738370"/>
                <a:gd name="connsiteY21" fmla="*/ 1611582 h 2378826"/>
                <a:gd name="connsiteX22" fmla="*/ 14999 w 3738370"/>
                <a:gd name="connsiteY22" fmla="*/ 2155679 h 2378826"/>
                <a:gd name="connsiteX23" fmla="*/ 16485 w 3738370"/>
                <a:gd name="connsiteY23" fmla="*/ 2208076 h 2378826"/>
                <a:gd name="connsiteX24" fmla="*/ 42927 w 3738370"/>
                <a:gd name="connsiteY24" fmla="*/ 2281828 h 2378826"/>
                <a:gd name="connsiteX25" fmla="*/ 156588 w 3738370"/>
                <a:gd name="connsiteY25" fmla="*/ 2377259 h 2378826"/>
                <a:gd name="connsiteX26" fmla="*/ 240303 w 3738370"/>
                <a:gd name="connsiteY26" fmla="*/ 2377478 h 2378826"/>
                <a:gd name="connsiteX27" fmla="*/ 334144 w 3738370"/>
                <a:gd name="connsiteY27" fmla="*/ 2376850 h 2378826"/>
                <a:gd name="connsiteX28" fmla="*/ 825929 w 3738370"/>
                <a:gd name="connsiteY28" fmla="*/ 2373354 h 2378826"/>
                <a:gd name="connsiteX29" fmla="*/ 1447512 w 3738370"/>
                <a:gd name="connsiteY29" fmla="*/ 2368991 h 2378826"/>
                <a:gd name="connsiteX30" fmla="*/ 2115690 w 3738370"/>
                <a:gd name="connsiteY30" fmla="*/ 2363829 h 2378826"/>
                <a:gd name="connsiteX31" fmla="*/ 2754056 w 3738370"/>
                <a:gd name="connsiteY31" fmla="*/ 2359219 h 2378826"/>
                <a:gd name="connsiteX32" fmla="*/ 3284132 w 3738370"/>
                <a:gd name="connsiteY32" fmla="*/ 2354418 h 2378826"/>
                <a:gd name="connsiteX33" fmla="*/ 3413329 w 3738370"/>
                <a:gd name="connsiteY33" fmla="*/ 2353199 h 2378826"/>
                <a:gd name="connsiteX34" fmla="*/ 3435665 w 3738370"/>
                <a:gd name="connsiteY34" fmla="*/ 2357380 h 2378826"/>
                <a:gd name="connsiteX35" fmla="*/ 3620488 w 3738370"/>
                <a:gd name="connsiteY35" fmla="*/ 2317861 h 2378826"/>
                <a:gd name="connsiteX36" fmla="*/ 3647139 w 3738370"/>
                <a:gd name="connsiteY36" fmla="*/ 2298011 h 2378826"/>
                <a:gd name="connsiteX37" fmla="*/ 3734864 w 3738370"/>
                <a:gd name="connsiteY37" fmla="*/ 2160918 h 2378826"/>
                <a:gd name="connsiteX38" fmla="*/ 3736122 w 3738370"/>
                <a:gd name="connsiteY38" fmla="*/ 2036055 h 2378826"/>
                <a:gd name="connsiteX39" fmla="*/ 3683534 w 3738370"/>
                <a:gd name="connsiteY39" fmla="*/ 2075564 h 2378826"/>
                <a:gd name="connsiteX40" fmla="*/ 3627699 w 3738370"/>
                <a:gd name="connsiteY40" fmla="*/ 2037845 h 2378826"/>
                <a:gd name="connsiteX41" fmla="*/ 3566005 w 3738370"/>
                <a:gd name="connsiteY41" fmla="*/ 2021234 h 2378826"/>
                <a:gd name="connsiteX42" fmla="*/ 3537687 w 3738370"/>
                <a:gd name="connsiteY42" fmla="*/ 2025034 h 2378826"/>
                <a:gd name="connsiteX43" fmla="*/ 3537735 w 3738370"/>
                <a:gd name="connsiteY43" fmla="*/ 2013309 h 2378826"/>
                <a:gd name="connsiteX44" fmla="*/ 3533305 w 3738370"/>
                <a:gd name="connsiteY44" fmla="*/ 1543745 h 2378826"/>
                <a:gd name="connsiteX45" fmla="*/ 3523028 w 3738370"/>
                <a:gd name="connsiteY45" fmla="*/ 597998 h 2378826"/>
                <a:gd name="connsiteX46" fmla="*/ 3519914 w 3738370"/>
                <a:gd name="connsiteY46" fmla="*/ 359912 h 2378826"/>
                <a:gd name="connsiteX47" fmla="*/ 3519961 w 3738370"/>
                <a:gd name="connsiteY47" fmla="*/ 338147 h 2378826"/>
                <a:gd name="connsiteX48" fmla="*/ 3561100 w 3738370"/>
                <a:gd name="connsiteY48" fmla="*/ 342738 h 2378826"/>
                <a:gd name="connsiteX49" fmla="*/ 3622621 w 3738370"/>
                <a:gd name="connsiteY49" fmla="*/ 335566 h 2378826"/>
                <a:gd name="connsiteX50" fmla="*/ 3679381 w 3738370"/>
                <a:gd name="connsiteY50" fmla="*/ 312496 h 2378826"/>
                <a:gd name="connsiteX51" fmla="*/ 3690563 w 3738370"/>
                <a:gd name="connsiteY51" fmla="*/ 304152 h 2378826"/>
                <a:gd name="connsiteX52" fmla="*/ 3692649 w 3738370"/>
                <a:gd name="connsiteY52" fmla="*/ 847858 h 2378826"/>
                <a:gd name="connsiteX53" fmla="*/ 3698821 w 3738370"/>
                <a:gd name="connsiteY53" fmla="*/ 1549403 h 2378826"/>
                <a:gd name="connsiteX54" fmla="*/ 3704442 w 3738370"/>
                <a:gd name="connsiteY54" fmla="*/ 2096338 h 2378826"/>
                <a:gd name="connsiteX55" fmla="*/ 3683534 w 3738370"/>
                <a:gd name="connsiteY55" fmla="*/ 2075564 h 2378826"/>
                <a:gd name="connsiteX56" fmla="*/ 995893 w 3738370"/>
                <a:gd name="connsiteY56" fmla="*/ 42367 h 2378826"/>
                <a:gd name="connsiteX57" fmla="*/ 1618619 w 3738370"/>
                <a:gd name="connsiteY57" fmla="*/ 38481 h 2378826"/>
                <a:gd name="connsiteX58" fmla="*/ 2265814 w 3738370"/>
                <a:gd name="connsiteY58" fmla="*/ 34985 h 2378826"/>
                <a:gd name="connsiteX59" fmla="*/ 2868375 w 3738370"/>
                <a:gd name="connsiteY59" fmla="*/ 32728 h 2378826"/>
                <a:gd name="connsiteX60" fmla="*/ 3356541 w 3738370"/>
                <a:gd name="connsiteY60" fmla="*/ 32547 h 2378826"/>
                <a:gd name="connsiteX61" fmla="*/ 3382306 w 3738370"/>
                <a:gd name="connsiteY61" fmla="*/ 32652 h 2378826"/>
                <a:gd name="connsiteX62" fmla="*/ 3363208 w 3738370"/>
                <a:gd name="connsiteY62" fmla="*/ 102213 h 2378826"/>
                <a:gd name="connsiteX63" fmla="*/ 3357664 w 3738370"/>
                <a:gd name="connsiteY63" fmla="*/ 145694 h 2378826"/>
                <a:gd name="connsiteX64" fmla="*/ 3358722 w 3738370"/>
                <a:gd name="connsiteY64" fmla="*/ 167821 h 2378826"/>
                <a:gd name="connsiteX65" fmla="*/ 3259157 w 3738370"/>
                <a:gd name="connsiteY65" fmla="*/ 165706 h 2378826"/>
                <a:gd name="connsiteX66" fmla="*/ 3027519 w 3738370"/>
                <a:gd name="connsiteY66" fmla="*/ 164116 h 2378826"/>
                <a:gd name="connsiteX67" fmla="*/ 2089335 w 3738370"/>
                <a:gd name="connsiteY67" fmla="*/ 169507 h 2378826"/>
                <a:gd name="connsiteX68" fmla="*/ 1146607 w 3738370"/>
                <a:gd name="connsiteY68" fmla="*/ 173898 h 2378826"/>
                <a:gd name="connsiteX69" fmla="*/ 671805 w 3738370"/>
                <a:gd name="connsiteY69" fmla="*/ 178670 h 2378826"/>
                <a:gd name="connsiteX70" fmla="*/ 437528 w 3738370"/>
                <a:gd name="connsiteY70" fmla="*/ 182518 h 2378826"/>
                <a:gd name="connsiteX71" fmla="*/ 381416 w 3738370"/>
                <a:gd name="connsiteY71" fmla="*/ 183623 h 2378826"/>
                <a:gd name="connsiteX72" fmla="*/ 361747 w 3738370"/>
                <a:gd name="connsiteY72" fmla="*/ 183442 h 2378826"/>
                <a:gd name="connsiteX73" fmla="*/ 365272 w 3738370"/>
                <a:gd name="connsiteY73" fmla="*/ 97574 h 2378826"/>
                <a:gd name="connsiteX74" fmla="*/ 347822 w 3738370"/>
                <a:gd name="connsiteY74" fmla="*/ 46549 h 2378826"/>
                <a:gd name="connsiteX75" fmla="*/ 472028 w 3738370"/>
                <a:gd name="connsiteY75" fmla="*/ 45777 h 2378826"/>
                <a:gd name="connsiteX76" fmla="*/ 995893 w 3738370"/>
                <a:gd name="connsiteY76" fmla="*/ 42367 h 2378826"/>
                <a:gd name="connsiteX77" fmla="*/ 44127 w 3738370"/>
                <a:gd name="connsiteY77" fmla="*/ 1922869 h 2378826"/>
                <a:gd name="connsiteX78" fmla="*/ 38164 w 3738370"/>
                <a:gd name="connsiteY78" fmla="*/ 1295829 h 2378826"/>
                <a:gd name="connsiteX79" fmla="*/ 33116 w 3738370"/>
                <a:gd name="connsiteY79" fmla="*/ 630393 h 2378826"/>
                <a:gd name="connsiteX80" fmla="*/ 32363 w 3738370"/>
                <a:gd name="connsiteY80" fmla="*/ 412671 h 2378826"/>
                <a:gd name="connsiteX81" fmla="*/ 60900 w 3738370"/>
                <a:gd name="connsiteY81" fmla="*/ 431216 h 2378826"/>
                <a:gd name="connsiteX82" fmla="*/ 110754 w 3738370"/>
                <a:gd name="connsiteY82" fmla="*/ 433969 h 2378826"/>
                <a:gd name="connsiteX83" fmla="*/ 199003 w 3738370"/>
                <a:gd name="connsiteY83" fmla="*/ 411651 h 2378826"/>
                <a:gd name="connsiteX84" fmla="*/ 198536 w 3738370"/>
                <a:gd name="connsiteY84" fmla="*/ 632365 h 2378826"/>
                <a:gd name="connsiteX85" fmla="*/ 199984 w 3738370"/>
                <a:gd name="connsiteY85" fmla="*/ 1099404 h 2378826"/>
                <a:gd name="connsiteX86" fmla="*/ 216053 w 3738370"/>
                <a:gd name="connsiteY86" fmla="*/ 2004308 h 2378826"/>
                <a:gd name="connsiteX87" fmla="*/ 111364 w 3738370"/>
                <a:gd name="connsiteY87" fmla="*/ 2019786 h 2378826"/>
                <a:gd name="connsiteX88" fmla="*/ 47165 w 3738370"/>
                <a:gd name="connsiteY88" fmla="*/ 2097929 h 2378826"/>
                <a:gd name="connsiteX89" fmla="*/ 45793 w 3738370"/>
                <a:gd name="connsiteY89" fmla="*/ 2099634 h 2378826"/>
                <a:gd name="connsiteX90" fmla="*/ 44127 w 3738370"/>
                <a:gd name="connsiteY90" fmla="*/ 1922869 h 2378826"/>
                <a:gd name="connsiteX91" fmla="*/ 593691 w 3738370"/>
                <a:gd name="connsiteY91" fmla="*/ 2344598 h 2378826"/>
                <a:gd name="connsiteX92" fmla="*/ 371320 w 3738370"/>
                <a:gd name="connsiteY92" fmla="*/ 2345884 h 2378826"/>
                <a:gd name="connsiteX93" fmla="*/ 394589 w 3738370"/>
                <a:gd name="connsiteY93" fmla="*/ 2276580 h 2378826"/>
                <a:gd name="connsiteX94" fmla="*/ 385017 w 3738370"/>
                <a:gd name="connsiteY94" fmla="*/ 2212448 h 2378826"/>
                <a:gd name="connsiteX95" fmla="*/ 383216 w 3738370"/>
                <a:gd name="connsiteY95" fmla="*/ 2209333 h 2378826"/>
                <a:gd name="connsiteX96" fmla="*/ 404400 w 3738370"/>
                <a:gd name="connsiteY96" fmla="*/ 2210143 h 2378826"/>
                <a:gd name="connsiteX97" fmla="*/ 522234 w 3738370"/>
                <a:gd name="connsiteY97" fmla="*/ 2212943 h 2378826"/>
                <a:gd name="connsiteX98" fmla="*/ 985282 w 3738370"/>
                <a:gd name="connsiteY98" fmla="*/ 2209371 h 2378826"/>
                <a:gd name="connsiteX99" fmla="*/ 1212996 w 3738370"/>
                <a:gd name="connsiteY99" fmla="*/ 2207933 h 2378826"/>
                <a:gd name="connsiteX100" fmla="*/ 1221302 w 3738370"/>
                <a:gd name="connsiteY100" fmla="*/ 2205628 h 2378826"/>
                <a:gd name="connsiteX101" fmla="*/ 1222884 w 3738370"/>
                <a:gd name="connsiteY101" fmla="*/ 2217610 h 2378826"/>
                <a:gd name="connsiteX102" fmla="*/ 1226560 w 3738370"/>
                <a:gd name="connsiteY102" fmla="*/ 2242737 h 2378826"/>
                <a:gd name="connsiteX103" fmla="*/ 1234647 w 3738370"/>
                <a:gd name="connsiteY103" fmla="*/ 2265845 h 2378826"/>
                <a:gd name="connsiteX104" fmla="*/ 1234066 w 3738370"/>
                <a:gd name="connsiteY104" fmla="*/ 2265855 h 2378826"/>
                <a:gd name="connsiteX105" fmla="*/ 1163800 w 3738370"/>
                <a:gd name="connsiteY105" fmla="*/ 2268103 h 2378826"/>
                <a:gd name="connsiteX106" fmla="*/ 1125967 w 3738370"/>
                <a:gd name="connsiteY106" fmla="*/ 2279952 h 2378826"/>
                <a:gd name="connsiteX107" fmla="*/ 1107593 w 3738370"/>
                <a:gd name="connsiteY107" fmla="*/ 2315832 h 2378826"/>
                <a:gd name="connsiteX108" fmla="*/ 1106098 w 3738370"/>
                <a:gd name="connsiteY108" fmla="*/ 2341607 h 2378826"/>
                <a:gd name="connsiteX109" fmla="*/ 593691 w 3738370"/>
                <a:gd name="connsiteY109" fmla="*/ 2344598 h 2378826"/>
                <a:gd name="connsiteX110" fmla="*/ 1688056 w 3738370"/>
                <a:gd name="connsiteY110" fmla="*/ 2093500 h 2378826"/>
                <a:gd name="connsiteX111" fmla="*/ 1695409 w 3738370"/>
                <a:gd name="connsiteY111" fmla="*/ 2129847 h 2378826"/>
                <a:gd name="connsiteX112" fmla="*/ 1704658 w 3738370"/>
                <a:gd name="connsiteY112" fmla="*/ 2177053 h 2378826"/>
                <a:gd name="connsiteX113" fmla="*/ 1729518 w 3738370"/>
                <a:gd name="connsiteY113" fmla="*/ 2257463 h 2378826"/>
                <a:gd name="connsiteX114" fmla="*/ 1728775 w 3738370"/>
                <a:gd name="connsiteY114" fmla="*/ 2257473 h 2378826"/>
                <a:gd name="connsiteX115" fmla="*/ 1333545 w 3738370"/>
                <a:gd name="connsiteY115" fmla="*/ 2264236 h 2378826"/>
                <a:gd name="connsiteX116" fmla="*/ 1254764 w 3738370"/>
                <a:gd name="connsiteY116" fmla="*/ 2265502 h 2378826"/>
                <a:gd name="connsiteX117" fmla="*/ 1255887 w 3738370"/>
                <a:gd name="connsiteY117" fmla="*/ 2263616 h 2378826"/>
                <a:gd name="connsiteX118" fmla="*/ 1252964 w 3738370"/>
                <a:gd name="connsiteY118" fmla="*/ 2212991 h 2378826"/>
                <a:gd name="connsiteX119" fmla="*/ 1248058 w 3738370"/>
                <a:gd name="connsiteY119" fmla="*/ 2168347 h 2378826"/>
                <a:gd name="connsiteX120" fmla="*/ 1241124 w 3738370"/>
                <a:gd name="connsiteY120" fmla="*/ 2104949 h 2378826"/>
                <a:gd name="connsiteX121" fmla="*/ 1251696 w 3738370"/>
                <a:gd name="connsiteY121" fmla="*/ 2101520 h 2378826"/>
                <a:gd name="connsiteX122" fmla="*/ 1292473 w 3738370"/>
                <a:gd name="connsiteY122" fmla="*/ 2093014 h 2378826"/>
                <a:gd name="connsiteX123" fmla="*/ 1384142 w 3738370"/>
                <a:gd name="connsiteY123" fmla="*/ 2084899 h 2378826"/>
                <a:gd name="connsiteX124" fmla="*/ 1588139 w 3738370"/>
                <a:gd name="connsiteY124" fmla="*/ 2090557 h 2378826"/>
                <a:gd name="connsiteX125" fmla="*/ 1683998 w 3738370"/>
                <a:gd name="connsiteY125" fmla="*/ 2093976 h 2378826"/>
                <a:gd name="connsiteX126" fmla="*/ 1688056 w 3738370"/>
                <a:gd name="connsiteY126" fmla="*/ 2093500 h 2378826"/>
                <a:gd name="connsiteX127" fmla="*/ 1756141 w 3738370"/>
                <a:gd name="connsiteY127" fmla="*/ 2242166 h 2378826"/>
                <a:gd name="connsiteX128" fmla="*/ 1741196 w 3738370"/>
                <a:gd name="connsiteY128" fmla="*/ 2201752 h 2378826"/>
                <a:gd name="connsiteX129" fmla="*/ 1748178 w 3738370"/>
                <a:gd name="connsiteY129" fmla="*/ 2203285 h 2378826"/>
                <a:gd name="connsiteX130" fmla="*/ 1979635 w 3738370"/>
                <a:gd name="connsiteY130" fmla="*/ 2201913 h 2378826"/>
                <a:gd name="connsiteX131" fmla="*/ 1985264 w 3738370"/>
                <a:gd name="connsiteY131" fmla="*/ 2200894 h 2378826"/>
                <a:gd name="connsiteX132" fmla="*/ 2136903 w 3738370"/>
                <a:gd name="connsiteY132" fmla="*/ 2252291 h 2378826"/>
                <a:gd name="connsiteX133" fmla="*/ 2125806 w 3738370"/>
                <a:gd name="connsiteY133" fmla="*/ 2252405 h 2378826"/>
                <a:gd name="connsiteX134" fmla="*/ 1756064 w 3738370"/>
                <a:gd name="connsiteY134" fmla="*/ 2257101 h 2378826"/>
                <a:gd name="connsiteX135" fmla="*/ 1756141 w 3738370"/>
                <a:gd name="connsiteY135" fmla="*/ 2242166 h 2378826"/>
                <a:gd name="connsiteX136" fmla="*/ 2299866 w 3738370"/>
                <a:gd name="connsiteY136" fmla="*/ 2192750 h 2378826"/>
                <a:gd name="connsiteX137" fmla="*/ 2299180 w 3738370"/>
                <a:gd name="connsiteY137" fmla="*/ 2242509 h 2378826"/>
                <a:gd name="connsiteX138" fmla="*/ 2299513 w 3738370"/>
                <a:gd name="connsiteY138" fmla="*/ 2250681 h 2378826"/>
                <a:gd name="connsiteX139" fmla="*/ 2188976 w 3738370"/>
                <a:gd name="connsiteY139" fmla="*/ 2251758 h 2378826"/>
                <a:gd name="connsiteX140" fmla="*/ 2178965 w 3738370"/>
                <a:gd name="connsiteY140" fmla="*/ 2232346 h 2378826"/>
                <a:gd name="connsiteX141" fmla="*/ 1984721 w 3738370"/>
                <a:gd name="connsiteY141" fmla="*/ 2167814 h 2378826"/>
                <a:gd name="connsiteX142" fmla="*/ 1987217 w 3738370"/>
                <a:gd name="connsiteY142" fmla="*/ 2138953 h 2378826"/>
                <a:gd name="connsiteX143" fmla="*/ 1990170 w 3738370"/>
                <a:gd name="connsiteY143" fmla="*/ 2116931 h 2378826"/>
                <a:gd name="connsiteX144" fmla="*/ 1994361 w 3738370"/>
                <a:gd name="connsiteY144" fmla="*/ 2094424 h 2378826"/>
                <a:gd name="connsiteX145" fmla="*/ 2014087 w 3738370"/>
                <a:gd name="connsiteY145" fmla="*/ 2103377 h 2378826"/>
                <a:gd name="connsiteX146" fmla="*/ 2054073 w 3738370"/>
                <a:gd name="connsiteY146" fmla="*/ 2118312 h 2378826"/>
                <a:gd name="connsiteX147" fmla="*/ 2123348 w 3738370"/>
                <a:gd name="connsiteY147" fmla="*/ 2140972 h 2378826"/>
                <a:gd name="connsiteX148" fmla="*/ 2237611 w 3738370"/>
                <a:gd name="connsiteY148" fmla="*/ 2175653 h 2378826"/>
                <a:gd name="connsiteX149" fmla="*/ 2299866 w 3738370"/>
                <a:gd name="connsiteY149" fmla="*/ 2192750 h 2378826"/>
                <a:gd name="connsiteX150" fmla="*/ 1925962 w 3738370"/>
                <a:gd name="connsiteY150" fmla="*/ 2149202 h 2378826"/>
                <a:gd name="connsiteX151" fmla="*/ 1960500 w 3738370"/>
                <a:gd name="connsiteY151" fmla="*/ 2141068 h 2378826"/>
                <a:gd name="connsiteX152" fmla="*/ 1959966 w 3738370"/>
                <a:gd name="connsiteY152" fmla="*/ 2160137 h 2378826"/>
                <a:gd name="connsiteX153" fmla="*/ 1956289 w 3738370"/>
                <a:gd name="connsiteY153" fmla="*/ 2158013 h 2378826"/>
                <a:gd name="connsiteX154" fmla="*/ 1901349 w 3738370"/>
                <a:gd name="connsiteY154" fmla="*/ 2146030 h 2378826"/>
                <a:gd name="connsiteX155" fmla="*/ 1897673 w 3738370"/>
                <a:gd name="connsiteY155" fmla="*/ 2143944 h 2378826"/>
                <a:gd name="connsiteX156" fmla="*/ 1925962 w 3738370"/>
                <a:gd name="connsiteY156" fmla="*/ 2149202 h 2378826"/>
                <a:gd name="connsiteX157" fmla="*/ 2452818 w 3738370"/>
                <a:gd name="connsiteY157" fmla="*/ 2336406 h 2378826"/>
                <a:gd name="connsiteX158" fmla="*/ 1802346 w 3738370"/>
                <a:gd name="connsiteY158" fmla="*/ 2338273 h 2378826"/>
                <a:gd name="connsiteX159" fmla="*/ 1156218 w 3738370"/>
                <a:gd name="connsiteY159" fmla="*/ 2341302 h 2378826"/>
                <a:gd name="connsiteX160" fmla="*/ 1116594 w 3738370"/>
                <a:gd name="connsiteY160" fmla="*/ 2341531 h 2378826"/>
                <a:gd name="connsiteX161" fmla="*/ 1126967 w 3738370"/>
                <a:gd name="connsiteY161" fmla="*/ 2296916 h 2378826"/>
                <a:gd name="connsiteX162" fmla="*/ 1158418 w 3738370"/>
                <a:gd name="connsiteY162" fmla="*/ 2282143 h 2378826"/>
                <a:gd name="connsiteX163" fmla="*/ 1217168 w 3738370"/>
                <a:gd name="connsiteY163" fmla="*/ 2280419 h 2378826"/>
                <a:gd name="connsiteX164" fmla="*/ 1312895 w 3738370"/>
                <a:gd name="connsiteY164" fmla="*/ 2279723 h 2378826"/>
                <a:gd name="connsiteX165" fmla="*/ 1692923 w 3738370"/>
                <a:gd name="connsiteY165" fmla="*/ 2275094 h 2378826"/>
                <a:gd name="connsiteX166" fmla="*/ 2072866 w 3738370"/>
                <a:gd name="connsiteY166" fmla="*/ 2270065 h 2378826"/>
                <a:gd name="connsiteX167" fmla="*/ 2455476 w 3738370"/>
                <a:gd name="connsiteY167" fmla="*/ 2267484 h 2378826"/>
                <a:gd name="connsiteX168" fmla="*/ 2542363 w 3738370"/>
                <a:gd name="connsiteY168" fmla="*/ 2267207 h 2378826"/>
                <a:gd name="connsiteX169" fmla="*/ 2597017 w 3738370"/>
                <a:gd name="connsiteY169" fmla="*/ 2267350 h 2378826"/>
                <a:gd name="connsiteX170" fmla="*/ 2634793 w 3738370"/>
                <a:gd name="connsiteY170" fmla="*/ 2276875 h 2378826"/>
                <a:gd name="connsiteX171" fmla="*/ 2663521 w 3738370"/>
                <a:gd name="connsiteY171" fmla="*/ 2309317 h 2378826"/>
                <a:gd name="connsiteX172" fmla="*/ 2675513 w 3738370"/>
                <a:gd name="connsiteY172" fmla="*/ 2336340 h 2378826"/>
                <a:gd name="connsiteX173" fmla="*/ 2452818 w 3738370"/>
                <a:gd name="connsiteY173" fmla="*/ 2336406 h 2378826"/>
                <a:gd name="connsiteX174" fmla="*/ 3037558 w 3738370"/>
                <a:gd name="connsiteY174" fmla="*/ 2337206 h 2378826"/>
                <a:gd name="connsiteX175" fmla="*/ 2694182 w 3738370"/>
                <a:gd name="connsiteY175" fmla="*/ 2336359 h 2378826"/>
                <a:gd name="connsiteX176" fmla="*/ 2693667 w 3738370"/>
                <a:gd name="connsiteY176" fmla="*/ 2333149 h 2378826"/>
                <a:gd name="connsiteX177" fmla="*/ 2631545 w 3738370"/>
                <a:gd name="connsiteY177" fmla="*/ 2254853 h 2378826"/>
                <a:gd name="connsiteX178" fmla="*/ 2525684 w 3738370"/>
                <a:gd name="connsiteY178" fmla="*/ 2248910 h 2378826"/>
                <a:gd name="connsiteX179" fmla="*/ 2328860 w 3738370"/>
                <a:gd name="connsiteY179" fmla="*/ 2250405 h 2378826"/>
                <a:gd name="connsiteX180" fmla="*/ 2328222 w 3738370"/>
                <a:gd name="connsiteY180" fmla="*/ 2176367 h 2378826"/>
                <a:gd name="connsiteX181" fmla="*/ 2325564 w 3738370"/>
                <a:gd name="connsiteY181" fmla="*/ 2170786 h 2378826"/>
                <a:gd name="connsiteX182" fmla="*/ 2317497 w 3738370"/>
                <a:gd name="connsiteY182" fmla="*/ 2165652 h 2378826"/>
                <a:gd name="connsiteX183" fmla="*/ 2071409 w 3738370"/>
                <a:gd name="connsiteY183" fmla="*/ 2094033 h 2378826"/>
                <a:gd name="connsiteX184" fmla="*/ 2026412 w 3738370"/>
                <a:gd name="connsiteY184" fmla="*/ 2082622 h 2378826"/>
                <a:gd name="connsiteX185" fmla="*/ 2000114 w 3738370"/>
                <a:gd name="connsiteY185" fmla="*/ 2078250 h 2378826"/>
                <a:gd name="connsiteX186" fmla="*/ 1977873 w 3738370"/>
                <a:gd name="connsiteY186" fmla="*/ 2079098 h 2378826"/>
                <a:gd name="connsiteX187" fmla="*/ 1976997 w 3738370"/>
                <a:gd name="connsiteY187" fmla="*/ 2081717 h 2378826"/>
                <a:gd name="connsiteX188" fmla="*/ 1972168 w 3738370"/>
                <a:gd name="connsiteY188" fmla="*/ 2084851 h 2378826"/>
                <a:gd name="connsiteX189" fmla="*/ 1963748 w 3738370"/>
                <a:gd name="connsiteY189" fmla="*/ 2102577 h 2378826"/>
                <a:gd name="connsiteX190" fmla="*/ 1886157 w 3738370"/>
                <a:gd name="connsiteY190" fmla="*/ 2088261 h 2378826"/>
                <a:gd name="connsiteX191" fmla="*/ 1871555 w 3738370"/>
                <a:gd name="connsiteY191" fmla="*/ 2094205 h 2378826"/>
                <a:gd name="connsiteX192" fmla="*/ 1866393 w 3738370"/>
                <a:gd name="connsiteY192" fmla="*/ 2106054 h 2378826"/>
                <a:gd name="connsiteX193" fmla="*/ 1861716 w 3738370"/>
                <a:gd name="connsiteY193" fmla="*/ 2117188 h 2378826"/>
                <a:gd name="connsiteX194" fmla="*/ 1862725 w 3738370"/>
                <a:gd name="connsiteY194" fmla="*/ 2122865 h 2378826"/>
                <a:gd name="connsiteX195" fmla="*/ 1882851 w 3738370"/>
                <a:gd name="connsiteY195" fmla="*/ 2163661 h 2378826"/>
                <a:gd name="connsiteX196" fmla="*/ 1900330 w 3738370"/>
                <a:gd name="connsiteY196" fmla="*/ 2171691 h 2378826"/>
                <a:gd name="connsiteX197" fmla="*/ 1748187 w 3738370"/>
                <a:gd name="connsiteY197" fmla="*/ 2172595 h 2378826"/>
                <a:gd name="connsiteX198" fmla="*/ 1736176 w 3738370"/>
                <a:gd name="connsiteY198" fmla="*/ 2178634 h 2378826"/>
                <a:gd name="connsiteX199" fmla="*/ 1733700 w 3738370"/>
                <a:gd name="connsiteY199" fmla="*/ 2165985 h 2378826"/>
                <a:gd name="connsiteX200" fmla="*/ 1725032 w 3738370"/>
                <a:gd name="connsiteY200" fmla="*/ 2121694 h 2378826"/>
                <a:gd name="connsiteX201" fmla="*/ 1710535 w 3738370"/>
                <a:gd name="connsiteY201" fmla="*/ 2077888 h 2378826"/>
                <a:gd name="connsiteX202" fmla="*/ 1697705 w 3738370"/>
                <a:gd name="connsiteY202" fmla="*/ 2072488 h 2378826"/>
                <a:gd name="connsiteX203" fmla="*/ 1684017 w 3738370"/>
                <a:gd name="connsiteY203" fmla="*/ 2063296 h 2378826"/>
                <a:gd name="connsiteX204" fmla="*/ 1292207 w 3738370"/>
                <a:gd name="connsiteY204" fmla="*/ 2062115 h 2378826"/>
                <a:gd name="connsiteX205" fmla="*/ 1246096 w 3738370"/>
                <a:gd name="connsiteY205" fmla="*/ 2073631 h 2378826"/>
                <a:gd name="connsiteX206" fmla="*/ 1233780 w 3738370"/>
                <a:gd name="connsiteY206" fmla="*/ 2078155 h 2378826"/>
                <a:gd name="connsiteX207" fmla="*/ 1221778 w 3738370"/>
                <a:gd name="connsiteY207" fmla="*/ 2081994 h 2378826"/>
                <a:gd name="connsiteX208" fmla="*/ 1221141 w 3738370"/>
                <a:gd name="connsiteY208" fmla="*/ 2084651 h 2378826"/>
                <a:gd name="connsiteX209" fmla="*/ 1211073 w 3738370"/>
                <a:gd name="connsiteY209" fmla="*/ 2098043 h 2378826"/>
                <a:gd name="connsiteX210" fmla="*/ 1216349 w 3738370"/>
                <a:gd name="connsiteY210" fmla="*/ 2107340 h 2378826"/>
                <a:gd name="connsiteX211" fmla="*/ 1217254 w 3738370"/>
                <a:gd name="connsiteY211" fmla="*/ 2107645 h 2378826"/>
                <a:gd name="connsiteX212" fmla="*/ 1217521 w 3738370"/>
                <a:gd name="connsiteY212" fmla="*/ 2170062 h 2378826"/>
                <a:gd name="connsiteX213" fmla="*/ 1218245 w 3738370"/>
                <a:gd name="connsiteY213" fmla="*/ 2178091 h 2378826"/>
                <a:gd name="connsiteX214" fmla="*/ 1213006 w 3738370"/>
                <a:gd name="connsiteY214" fmla="*/ 2177234 h 2378826"/>
                <a:gd name="connsiteX215" fmla="*/ 760569 w 3738370"/>
                <a:gd name="connsiteY215" fmla="*/ 2181987 h 2378826"/>
                <a:gd name="connsiteX216" fmla="*/ 535331 w 3738370"/>
                <a:gd name="connsiteY216" fmla="*/ 2182406 h 2378826"/>
                <a:gd name="connsiteX217" fmla="*/ 424069 w 3738370"/>
                <a:gd name="connsiteY217" fmla="*/ 2180092 h 2378826"/>
                <a:gd name="connsiteX218" fmla="*/ 368358 w 3738370"/>
                <a:gd name="connsiteY218" fmla="*/ 2178053 h 2378826"/>
                <a:gd name="connsiteX219" fmla="*/ 312522 w 3738370"/>
                <a:gd name="connsiteY219" fmla="*/ 2173548 h 2378826"/>
                <a:gd name="connsiteX220" fmla="*/ 282461 w 3738370"/>
                <a:gd name="connsiteY220" fmla="*/ 2142496 h 2378826"/>
                <a:gd name="connsiteX221" fmla="*/ 255467 w 3738370"/>
                <a:gd name="connsiteY221" fmla="*/ 2101348 h 2378826"/>
                <a:gd name="connsiteX222" fmla="*/ 248238 w 3738370"/>
                <a:gd name="connsiteY222" fmla="*/ 2053533 h 2378826"/>
                <a:gd name="connsiteX223" fmla="*/ 246438 w 3738370"/>
                <a:gd name="connsiteY223" fmla="*/ 1994230 h 2378826"/>
                <a:gd name="connsiteX224" fmla="*/ 240427 w 3738370"/>
                <a:gd name="connsiteY224" fmla="*/ 1763763 h 2378826"/>
                <a:gd name="connsiteX225" fmla="*/ 232693 w 3738370"/>
                <a:gd name="connsiteY225" fmla="*/ 1309859 h 2378826"/>
                <a:gd name="connsiteX226" fmla="*/ 229750 w 3738370"/>
                <a:gd name="connsiteY226" fmla="*/ 401936 h 2378826"/>
                <a:gd name="connsiteX227" fmla="*/ 229969 w 3738370"/>
                <a:gd name="connsiteY227" fmla="*/ 345929 h 2378826"/>
                <a:gd name="connsiteX228" fmla="*/ 236551 w 3738370"/>
                <a:gd name="connsiteY228" fmla="*/ 292770 h 2378826"/>
                <a:gd name="connsiteX229" fmla="*/ 292253 w 3738370"/>
                <a:gd name="connsiteY229" fmla="*/ 234934 h 2378826"/>
                <a:gd name="connsiteX230" fmla="*/ 326295 w 3738370"/>
                <a:gd name="connsiteY230" fmla="*/ 219046 h 2378826"/>
                <a:gd name="connsiteX231" fmla="*/ 381436 w 3738370"/>
                <a:gd name="connsiteY231" fmla="*/ 214351 h 2378826"/>
                <a:gd name="connsiteX232" fmla="*/ 493659 w 3738370"/>
                <a:gd name="connsiteY232" fmla="*/ 212207 h 2378826"/>
                <a:gd name="connsiteX233" fmla="*/ 952136 w 3738370"/>
                <a:gd name="connsiteY233" fmla="*/ 206169 h 2378826"/>
                <a:gd name="connsiteX234" fmla="*/ 1865154 w 3738370"/>
                <a:gd name="connsiteY234" fmla="*/ 201263 h 2378826"/>
                <a:gd name="connsiteX235" fmla="*/ 2772906 w 3738370"/>
                <a:gd name="connsiteY235" fmla="*/ 195853 h 2378826"/>
                <a:gd name="connsiteX236" fmla="*/ 3223334 w 3738370"/>
                <a:gd name="connsiteY236" fmla="*/ 195910 h 2378826"/>
                <a:gd name="connsiteX237" fmla="*/ 3337319 w 3738370"/>
                <a:gd name="connsiteY237" fmla="*/ 197958 h 2378826"/>
                <a:gd name="connsiteX238" fmla="*/ 3393479 w 3738370"/>
                <a:gd name="connsiteY238" fmla="*/ 199892 h 2378826"/>
                <a:gd name="connsiteX239" fmla="*/ 3439380 w 3738370"/>
                <a:gd name="connsiteY239" fmla="*/ 219828 h 2378826"/>
                <a:gd name="connsiteX240" fmla="*/ 3485566 w 3738370"/>
                <a:gd name="connsiteY240" fmla="*/ 283836 h 2378826"/>
                <a:gd name="connsiteX241" fmla="*/ 3488815 w 3738370"/>
                <a:gd name="connsiteY241" fmla="*/ 330156 h 2378826"/>
                <a:gd name="connsiteX242" fmla="*/ 3489624 w 3738370"/>
                <a:gd name="connsiteY242" fmla="*/ 389677 h 2378826"/>
                <a:gd name="connsiteX243" fmla="*/ 3500254 w 3738370"/>
                <a:gd name="connsiteY243" fmla="*/ 1305659 h 2378826"/>
                <a:gd name="connsiteX244" fmla="*/ 3504693 w 3738370"/>
                <a:gd name="connsiteY244" fmla="*/ 1762001 h 2378826"/>
                <a:gd name="connsiteX245" fmla="*/ 3506826 w 3738370"/>
                <a:gd name="connsiteY245" fmla="*/ 1990173 h 2378826"/>
                <a:gd name="connsiteX246" fmla="*/ 3495358 w 3738370"/>
                <a:gd name="connsiteY246" fmla="*/ 2083146 h 2378826"/>
                <a:gd name="connsiteX247" fmla="*/ 3441751 w 3738370"/>
                <a:gd name="connsiteY247" fmla="*/ 2141725 h 2378826"/>
                <a:gd name="connsiteX248" fmla="*/ 3425245 w 3738370"/>
                <a:gd name="connsiteY248" fmla="*/ 2151240 h 2378826"/>
                <a:gd name="connsiteX249" fmla="*/ 3410929 w 3738370"/>
                <a:gd name="connsiteY249" fmla="*/ 2152774 h 2378826"/>
                <a:gd name="connsiteX250" fmla="*/ 3378524 w 3738370"/>
                <a:gd name="connsiteY250" fmla="*/ 2156289 h 2378826"/>
                <a:gd name="connsiteX251" fmla="*/ 3311516 w 3738370"/>
                <a:gd name="connsiteY251" fmla="*/ 2161165 h 2378826"/>
                <a:gd name="connsiteX252" fmla="*/ 3179880 w 3738370"/>
                <a:gd name="connsiteY252" fmla="*/ 2163880 h 2378826"/>
                <a:gd name="connsiteX253" fmla="*/ 2912409 w 3738370"/>
                <a:gd name="connsiteY253" fmla="*/ 2161403 h 2378826"/>
                <a:gd name="connsiteX254" fmla="*/ 2788556 w 3738370"/>
                <a:gd name="connsiteY254" fmla="*/ 2167928 h 2378826"/>
                <a:gd name="connsiteX255" fmla="*/ 2568338 w 3738370"/>
                <a:gd name="connsiteY255" fmla="*/ 2168319 h 2378826"/>
                <a:gd name="connsiteX256" fmla="*/ 2345928 w 3738370"/>
                <a:gd name="connsiteY256" fmla="*/ 2169004 h 2378826"/>
                <a:gd name="connsiteX257" fmla="*/ 2345928 w 3738370"/>
                <a:gd name="connsiteY257" fmla="*/ 2199713 h 2378826"/>
                <a:gd name="connsiteX258" fmla="*/ 3283675 w 3738370"/>
                <a:gd name="connsiteY258" fmla="*/ 2198389 h 2378826"/>
                <a:gd name="connsiteX259" fmla="*/ 3355950 w 3738370"/>
                <a:gd name="connsiteY259" fmla="*/ 2199637 h 2378826"/>
                <a:gd name="connsiteX260" fmla="*/ 3354359 w 3738370"/>
                <a:gd name="connsiteY260" fmla="*/ 2208486 h 2378826"/>
                <a:gd name="connsiteX261" fmla="*/ 3351131 w 3738370"/>
                <a:gd name="connsiteY261" fmla="*/ 2236851 h 2378826"/>
                <a:gd name="connsiteX262" fmla="*/ 3358646 w 3738370"/>
                <a:gd name="connsiteY262" fmla="*/ 2288305 h 2378826"/>
                <a:gd name="connsiteX263" fmla="*/ 3386554 w 3738370"/>
                <a:gd name="connsiteY263" fmla="*/ 2332492 h 2378826"/>
                <a:gd name="connsiteX264" fmla="*/ 3396507 w 3738370"/>
                <a:gd name="connsiteY264" fmla="*/ 2341617 h 2378826"/>
                <a:gd name="connsiteX265" fmla="*/ 3037558 w 3738370"/>
                <a:gd name="connsiteY265" fmla="*/ 2337206 h 237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Lst>
              <a:rect l="l" t="t" r="r" b="b"/>
              <a:pathLst>
                <a:path w="3738370" h="2378826">
                  <a:moveTo>
                    <a:pt x="3736122" y="2036055"/>
                  </a:moveTo>
                  <a:cubicBezTo>
                    <a:pt x="3735665" y="1991087"/>
                    <a:pt x="3735188" y="1946129"/>
                    <a:pt x="3734722" y="1901161"/>
                  </a:cubicBezTo>
                  <a:cubicBezTo>
                    <a:pt x="3732378" y="1675600"/>
                    <a:pt x="3730035" y="1450038"/>
                    <a:pt x="3727996" y="1224477"/>
                  </a:cubicBezTo>
                  <a:cubicBezTo>
                    <a:pt x="3725920" y="994239"/>
                    <a:pt x="3724044" y="763991"/>
                    <a:pt x="3723177" y="533743"/>
                  </a:cubicBezTo>
                  <a:cubicBezTo>
                    <a:pt x="3722834" y="441912"/>
                    <a:pt x="3722634" y="350082"/>
                    <a:pt x="3722949" y="258242"/>
                  </a:cubicBezTo>
                  <a:cubicBezTo>
                    <a:pt x="3723120" y="209445"/>
                    <a:pt x="3725063" y="162239"/>
                    <a:pt x="3704689" y="116491"/>
                  </a:cubicBezTo>
                  <a:cubicBezTo>
                    <a:pt x="3681600" y="64637"/>
                    <a:pt x="3635966" y="20612"/>
                    <a:pt x="3580217" y="6248"/>
                  </a:cubicBezTo>
                  <a:cubicBezTo>
                    <a:pt x="3548955" y="-1810"/>
                    <a:pt x="3514608" y="1019"/>
                    <a:pt x="3482509" y="810"/>
                  </a:cubicBezTo>
                  <a:cubicBezTo>
                    <a:pt x="3451248" y="610"/>
                    <a:pt x="3419987" y="457"/>
                    <a:pt x="3388716" y="343"/>
                  </a:cubicBezTo>
                  <a:cubicBezTo>
                    <a:pt x="3314888" y="76"/>
                    <a:pt x="3241060" y="0"/>
                    <a:pt x="3167231" y="0"/>
                  </a:cubicBezTo>
                  <a:cubicBezTo>
                    <a:pt x="2982027" y="10"/>
                    <a:pt x="2796814" y="533"/>
                    <a:pt x="2611609" y="1210"/>
                  </a:cubicBezTo>
                  <a:cubicBezTo>
                    <a:pt x="2397240" y="1991"/>
                    <a:pt x="2182880" y="3029"/>
                    <a:pt x="1968510" y="4181"/>
                  </a:cubicBezTo>
                  <a:cubicBezTo>
                    <a:pt x="1749301" y="5363"/>
                    <a:pt x="1530103" y="6667"/>
                    <a:pt x="1310895" y="8039"/>
                  </a:cubicBezTo>
                  <a:cubicBezTo>
                    <a:pt x="1113603" y="9277"/>
                    <a:pt x="916312" y="10563"/>
                    <a:pt x="719020" y="11859"/>
                  </a:cubicBezTo>
                  <a:cubicBezTo>
                    <a:pt x="567497" y="12849"/>
                    <a:pt x="415973" y="13859"/>
                    <a:pt x="264449" y="14764"/>
                  </a:cubicBezTo>
                  <a:cubicBezTo>
                    <a:pt x="236017" y="14935"/>
                    <a:pt x="207185" y="13745"/>
                    <a:pt x="178810" y="15497"/>
                  </a:cubicBezTo>
                  <a:cubicBezTo>
                    <a:pt x="125823" y="18774"/>
                    <a:pt x="70682" y="43929"/>
                    <a:pt x="35735" y="84344"/>
                  </a:cubicBezTo>
                  <a:cubicBezTo>
                    <a:pt x="18838" y="103889"/>
                    <a:pt x="6351" y="127092"/>
                    <a:pt x="2312" y="152791"/>
                  </a:cubicBezTo>
                  <a:cubicBezTo>
                    <a:pt x="-536" y="170926"/>
                    <a:pt x="502" y="189767"/>
                    <a:pt x="388" y="208083"/>
                  </a:cubicBezTo>
                  <a:cubicBezTo>
                    <a:pt x="150" y="246250"/>
                    <a:pt x="54" y="284416"/>
                    <a:pt x="16" y="322583"/>
                  </a:cubicBezTo>
                  <a:cubicBezTo>
                    <a:pt x="-165" y="524161"/>
                    <a:pt x="1188" y="725748"/>
                    <a:pt x="2712" y="927316"/>
                  </a:cubicBezTo>
                  <a:cubicBezTo>
                    <a:pt x="4436" y="1155411"/>
                    <a:pt x="6608" y="1383497"/>
                    <a:pt x="9065" y="1611582"/>
                  </a:cubicBezTo>
                  <a:cubicBezTo>
                    <a:pt x="11018" y="1792948"/>
                    <a:pt x="13132" y="1974313"/>
                    <a:pt x="14999" y="2155679"/>
                  </a:cubicBezTo>
                  <a:cubicBezTo>
                    <a:pt x="15180" y="2173043"/>
                    <a:pt x="14294" y="2190836"/>
                    <a:pt x="16485" y="2208076"/>
                  </a:cubicBezTo>
                  <a:cubicBezTo>
                    <a:pt x="19790" y="2234108"/>
                    <a:pt x="30039" y="2259120"/>
                    <a:pt x="42927" y="2281828"/>
                  </a:cubicBezTo>
                  <a:cubicBezTo>
                    <a:pt x="66358" y="2323100"/>
                    <a:pt x="106230" y="2371163"/>
                    <a:pt x="156588" y="2377259"/>
                  </a:cubicBezTo>
                  <a:cubicBezTo>
                    <a:pt x="183811" y="2380555"/>
                    <a:pt x="212900" y="2377659"/>
                    <a:pt x="240303" y="2377478"/>
                  </a:cubicBezTo>
                  <a:cubicBezTo>
                    <a:pt x="271583" y="2377278"/>
                    <a:pt x="302864" y="2377068"/>
                    <a:pt x="334144" y="2376850"/>
                  </a:cubicBezTo>
                  <a:cubicBezTo>
                    <a:pt x="498069" y="2375735"/>
                    <a:pt x="662004" y="2374535"/>
                    <a:pt x="825929" y="2373354"/>
                  </a:cubicBezTo>
                  <a:cubicBezTo>
                    <a:pt x="1033127" y="2371868"/>
                    <a:pt x="1240315" y="2370392"/>
                    <a:pt x="1447512" y="2368991"/>
                  </a:cubicBezTo>
                  <a:cubicBezTo>
                    <a:pt x="1670244" y="2367487"/>
                    <a:pt x="1892967" y="2365439"/>
                    <a:pt x="2115690" y="2363829"/>
                  </a:cubicBezTo>
                  <a:cubicBezTo>
                    <a:pt x="2328479" y="2362286"/>
                    <a:pt x="2541267" y="2360876"/>
                    <a:pt x="2754056" y="2359219"/>
                  </a:cubicBezTo>
                  <a:cubicBezTo>
                    <a:pt x="2930764" y="2357847"/>
                    <a:pt x="3107443" y="2356342"/>
                    <a:pt x="3284132" y="2354418"/>
                  </a:cubicBezTo>
                  <a:cubicBezTo>
                    <a:pt x="3327194" y="2353952"/>
                    <a:pt x="3370257" y="2353551"/>
                    <a:pt x="3413329" y="2353199"/>
                  </a:cubicBezTo>
                  <a:cubicBezTo>
                    <a:pt x="3420673" y="2356971"/>
                    <a:pt x="3428369" y="2359009"/>
                    <a:pt x="3435665" y="2357380"/>
                  </a:cubicBezTo>
                  <a:cubicBezTo>
                    <a:pt x="3516113" y="2381021"/>
                    <a:pt x="3576492" y="2356961"/>
                    <a:pt x="3620488" y="2317861"/>
                  </a:cubicBezTo>
                  <a:cubicBezTo>
                    <a:pt x="3629699" y="2311708"/>
                    <a:pt x="3638595" y="2305069"/>
                    <a:pt x="3647139" y="2298011"/>
                  </a:cubicBezTo>
                  <a:cubicBezTo>
                    <a:pt x="3688554" y="2263750"/>
                    <a:pt x="3725691" y="2215058"/>
                    <a:pt x="3734864" y="2160918"/>
                  </a:cubicBezTo>
                  <a:cubicBezTo>
                    <a:pt x="3741675" y="2120760"/>
                    <a:pt x="3736541" y="2076688"/>
                    <a:pt x="3736122" y="2036055"/>
                  </a:cubicBezTo>
                  <a:close/>
                  <a:moveTo>
                    <a:pt x="3683534" y="2075564"/>
                  </a:moveTo>
                  <a:cubicBezTo>
                    <a:pt x="3666779" y="2060553"/>
                    <a:pt x="3648034" y="2047513"/>
                    <a:pt x="3627699" y="2037845"/>
                  </a:cubicBezTo>
                  <a:cubicBezTo>
                    <a:pt x="3608553" y="2028749"/>
                    <a:pt x="3587446" y="2021319"/>
                    <a:pt x="3566005" y="2021234"/>
                  </a:cubicBezTo>
                  <a:cubicBezTo>
                    <a:pt x="3556661" y="2021195"/>
                    <a:pt x="3546755" y="2022177"/>
                    <a:pt x="3537687" y="2025034"/>
                  </a:cubicBezTo>
                  <a:cubicBezTo>
                    <a:pt x="3537763" y="2021167"/>
                    <a:pt x="3537773" y="2017262"/>
                    <a:pt x="3537735" y="2013309"/>
                  </a:cubicBezTo>
                  <a:cubicBezTo>
                    <a:pt x="3536277" y="1856784"/>
                    <a:pt x="3534820" y="1700260"/>
                    <a:pt x="3533305" y="1543745"/>
                  </a:cubicBezTo>
                  <a:cubicBezTo>
                    <a:pt x="3530258" y="1228496"/>
                    <a:pt x="3526981" y="913238"/>
                    <a:pt x="3523028" y="597998"/>
                  </a:cubicBezTo>
                  <a:cubicBezTo>
                    <a:pt x="3522038" y="518636"/>
                    <a:pt x="3520999" y="439274"/>
                    <a:pt x="3519914" y="359912"/>
                  </a:cubicBezTo>
                  <a:cubicBezTo>
                    <a:pt x="3519818" y="352739"/>
                    <a:pt x="3519895" y="345462"/>
                    <a:pt x="3519961" y="338147"/>
                  </a:cubicBezTo>
                  <a:cubicBezTo>
                    <a:pt x="3532772" y="342624"/>
                    <a:pt x="3548450" y="342700"/>
                    <a:pt x="3561100" y="342738"/>
                  </a:cubicBezTo>
                  <a:cubicBezTo>
                    <a:pt x="3581636" y="342795"/>
                    <a:pt x="3602629" y="340176"/>
                    <a:pt x="3622621" y="335566"/>
                  </a:cubicBezTo>
                  <a:cubicBezTo>
                    <a:pt x="3642405" y="331003"/>
                    <a:pt x="3662427" y="323840"/>
                    <a:pt x="3679381" y="312496"/>
                  </a:cubicBezTo>
                  <a:cubicBezTo>
                    <a:pt x="3683229" y="309924"/>
                    <a:pt x="3686991" y="307143"/>
                    <a:pt x="3690563" y="304152"/>
                  </a:cubicBezTo>
                  <a:cubicBezTo>
                    <a:pt x="3690202" y="485384"/>
                    <a:pt x="3691373" y="666626"/>
                    <a:pt x="3692649" y="847858"/>
                  </a:cubicBezTo>
                  <a:cubicBezTo>
                    <a:pt x="3694287" y="1081707"/>
                    <a:pt x="3696479" y="1315555"/>
                    <a:pt x="3698821" y="1549403"/>
                  </a:cubicBezTo>
                  <a:cubicBezTo>
                    <a:pt x="3700650" y="1731712"/>
                    <a:pt x="3702613" y="1914020"/>
                    <a:pt x="3704442" y="2096338"/>
                  </a:cubicBezTo>
                  <a:cubicBezTo>
                    <a:pt x="3697907" y="2088747"/>
                    <a:pt x="3690506" y="2081822"/>
                    <a:pt x="3683534" y="2075564"/>
                  </a:cubicBezTo>
                  <a:close/>
                  <a:moveTo>
                    <a:pt x="995893" y="42367"/>
                  </a:moveTo>
                  <a:cubicBezTo>
                    <a:pt x="1203471" y="41024"/>
                    <a:pt x="1411040" y="39710"/>
                    <a:pt x="1618619" y="38481"/>
                  </a:cubicBezTo>
                  <a:cubicBezTo>
                    <a:pt x="1834350" y="37205"/>
                    <a:pt x="2050082" y="36014"/>
                    <a:pt x="2265814" y="34985"/>
                  </a:cubicBezTo>
                  <a:cubicBezTo>
                    <a:pt x="2466668" y="34033"/>
                    <a:pt x="2667521" y="33214"/>
                    <a:pt x="2868375" y="32728"/>
                  </a:cubicBezTo>
                  <a:cubicBezTo>
                    <a:pt x="3031100" y="32328"/>
                    <a:pt x="3193816" y="32090"/>
                    <a:pt x="3356541" y="32547"/>
                  </a:cubicBezTo>
                  <a:cubicBezTo>
                    <a:pt x="3365133" y="32575"/>
                    <a:pt x="3373715" y="32614"/>
                    <a:pt x="3382306" y="32652"/>
                  </a:cubicBezTo>
                  <a:cubicBezTo>
                    <a:pt x="3373352" y="54959"/>
                    <a:pt x="3367599" y="78657"/>
                    <a:pt x="3363208" y="102213"/>
                  </a:cubicBezTo>
                  <a:cubicBezTo>
                    <a:pt x="3360532" y="116548"/>
                    <a:pt x="3358207" y="131102"/>
                    <a:pt x="3357664" y="145694"/>
                  </a:cubicBezTo>
                  <a:cubicBezTo>
                    <a:pt x="3357398" y="152905"/>
                    <a:pt x="3357227" y="160601"/>
                    <a:pt x="3358722" y="167821"/>
                  </a:cubicBezTo>
                  <a:cubicBezTo>
                    <a:pt x="3325537" y="166954"/>
                    <a:pt x="3292352" y="166230"/>
                    <a:pt x="3259157" y="165706"/>
                  </a:cubicBezTo>
                  <a:cubicBezTo>
                    <a:pt x="3181947" y="164487"/>
                    <a:pt x="3104738" y="164097"/>
                    <a:pt x="3027519" y="164116"/>
                  </a:cubicBezTo>
                  <a:cubicBezTo>
                    <a:pt x="2714784" y="164211"/>
                    <a:pt x="2402069" y="167869"/>
                    <a:pt x="2089335" y="169507"/>
                  </a:cubicBezTo>
                  <a:cubicBezTo>
                    <a:pt x="1775095" y="171155"/>
                    <a:pt x="1460846" y="171745"/>
                    <a:pt x="1146607" y="173898"/>
                  </a:cubicBezTo>
                  <a:cubicBezTo>
                    <a:pt x="988330" y="174984"/>
                    <a:pt x="830063" y="176460"/>
                    <a:pt x="671805" y="178670"/>
                  </a:cubicBezTo>
                  <a:cubicBezTo>
                    <a:pt x="593709" y="179765"/>
                    <a:pt x="515624" y="181032"/>
                    <a:pt x="437528" y="182518"/>
                  </a:cubicBezTo>
                  <a:cubicBezTo>
                    <a:pt x="418821" y="182870"/>
                    <a:pt x="400114" y="183242"/>
                    <a:pt x="381416" y="183623"/>
                  </a:cubicBezTo>
                  <a:cubicBezTo>
                    <a:pt x="375063" y="183756"/>
                    <a:pt x="368434" y="183547"/>
                    <a:pt x="361747" y="183442"/>
                  </a:cubicBezTo>
                  <a:cubicBezTo>
                    <a:pt x="367910" y="155572"/>
                    <a:pt x="368891" y="125749"/>
                    <a:pt x="365272" y="97574"/>
                  </a:cubicBezTo>
                  <a:cubicBezTo>
                    <a:pt x="363147" y="81010"/>
                    <a:pt x="358633" y="60608"/>
                    <a:pt x="347822" y="46549"/>
                  </a:cubicBezTo>
                  <a:cubicBezTo>
                    <a:pt x="389227" y="46291"/>
                    <a:pt x="430623" y="46044"/>
                    <a:pt x="472028" y="45777"/>
                  </a:cubicBezTo>
                  <a:cubicBezTo>
                    <a:pt x="646650" y="44663"/>
                    <a:pt x="821271" y="43501"/>
                    <a:pt x="995893" y="42367"/>
                  </a:cubicBezTo>
                  <a:close/>
                  <a:moveTo>
                    <a:pt x="44127" y="1922869"/>
                  </a:moveTo>
                  <a:cubicBezTo>
                    <a:pt x="42088" y="1713852"/>
                    <a:pt x="40107" y="1504845"/>
                    <a:pt x="38164" y="1295829"/>
                  </a:cubicBezTo>
                  <a:cubicBezTo>
                    <a:pt x="36097" y="1074020"/>
                    <a:pt x="34230" y="852211"/>
                    <a:pt x="33116" y="630393"/>
                  </a:cubicBezTo>
                  <a:cubicBezTo>
                    <a:pt x="32754" y="557822"/>
                    <a:pt x="32468" y="485242"/>
                    <a:pt x="32363" y="412671"/>
                  </a:cubicBezTo>
                  <a:cubicBezTo>
                    <a:pt x="36611" y="422367"/>
                    <a:pt x="51756" y="428635"/>
                    <a:pt x="60900" y="431216"/>
                  </a:cubicBezTo>
                  <a:cubicBezTo>
                    <a:pt x="77064" y="435778"/>
                    <a:pt x="94190" y="435683"/>
                    <a:pt x="110754" y="433969"/>
                  </a:cubicBezTo>
                  <a:cubicBezTo>
                    <a:pt x="141310" y="430816"/>
                    <a:pt x="170743" y="423129"/>
                    <a:pt x="199003" y="411651"/>
                  </a:cubicBezTo>
                  <a:cubicBezTo>
                    <a:pt x="198746" y="485223"/>
                    <a:pt x="198584" y="558794"/>
                    <a:pt x="198536" y="632365"/>
                  </a:cubicBezTo>
                  <a:cubicBezTo>
                    <a:pt x="198441" y="788051"/>
                    <a:pt x="198860" y="943728"/>
                    <a:pt x="199984" y="1099404"/>
                  </a:cubicBezTo>
                  <a:cubicBezTo>
                    <a:pt x="202175" y="1401080"/>
                    <a:pt x="207090" y="1702746"/>
                    <a:pt x="216053" y="2004308"/>
                  </a:cubicBezTo>
                  <a:cubicBezTo>
                    <a:pt x="180668" y="2001698"/>
                    <a:pt x="144053" y="2005413"/>
                    <a:pt x="111364" y="2019786"/>
                  </a:cubicBezTo>
                  <a:cubicBezTo>
                    <a:pt x="79645" y="2033740"/>
                    <a:pt x="51832" y="2062543"/>
                    <a:pt x="47165" y="2097929"/>
                  </a:cubicBezTo>
                  <a:cubicBezTo>
                    <a:pt x="46698" y="2098491"/>
                    <a:pt x="46241" y="2099062"/>
                    <a:pt x="45793" y="2099634"/>
                  </a:cubicBezTo>
                  <a:cubicBezTo>
                    <a:pt x="45260" y="2040722"/>
                    <a:pt x="44698" y="1981800"/>
                    <a:pt x="44127" y="1922869"/>
                  </a:cubicBezTo>
                  <a:close/>
                  <a:moveTo>
                    <a:pt x="593691" y="2344598"/>
                  </a:moveTo>
                  <a:cubicBezTo>
                    <a:pt x="519567" y="2345036"/>
                    <a:pt x="445444" y="2345465"/>
                    <a:pt x="371320" y="2345884"/>
                  </a:cubicBezTo>
                  <a:cubicBezTo>
                    <a:pt x="389694" y="2330463"/>
                    <a:pt x="393780" y="2298897"/>
                    <a:pt x="394589" y="2276580"/>
                  </a:cubicBezTo>
                  <a:cubicBezTo>
                    <a:pt x="395361" y="2255063"/>
                    <a:pt x="393294" y="2232451"/>
                    <a:pt x="385017" y="2212448"/>
                  </a:cubicBezTo>
                  <a:cubicBezTo>
                    <a:pt x="384541" y="2211295"/>
                    <a:pt x="383931" y="2210257"/>
                    <a:pt x="383216" y="2209333"/>
                  </a:cubicBezTo>
                  <a:cubicBezTo>
                    <a:pt x="390275" y="2209610"/>
                    <a:pt x="397333" y="2209895"/>
                    <a:pt x="404400" y="2210143"/>
                  </a:cubicBezTo>
                  <a:cubicBezTo>
                    <a:pt x="443662" y="2211515"/>
                    <a:pt x="482943" y="2212400"/>
                    <a:pt x="522234" y="2212943"/>
                  </a:cubicBezTo>
                  <a:cubicBezTo>
                    <a:pt x="676596" y="2215048"/>
                    <a:pt x="830939" y="2211562"/>
                    <a:pt x="985282" y="2209371"/>
                  </a:cubicBezTo>
                  <a:cubicBezTo>
                    <a:pt x="1061187" y="2208295"/>
                    <a:pt x="1137092" y="2207571"/>
                    <a:pt x="1212996" y="2207933"/>
                  </a:cubicBezTo>
                  <a:cubicBezTo>
                    <a:pt x="1216331" y="2207952"/>
                    <a:pt x="1219093" y="2207076"/>
                    <a:pt x="1221302" y="2205628"/>
                  </a:cubicBezTo>
                  <a:cubicBezTo>
                    <a:pt x="1221817" y="2209629"/>
                    <a:pt x="1222341" y="2213620"/>
                    <a:pt x="1222884" y="2217610"/>
                  </a:cubicBezTo>
                  <a:cubicBezTo>
                    <a:pt x="1224017" y="2226002"/>
                    <a:pt x="1225226" y="2234375"/>
                    <a:pt x="1226560" y="2242737"/>
                  </a:cubicBezTo>
                  <a:cubicBezTo>
                    <a:pt x="1227951" y="2251462"/>
                    <a:pt x="1228475" y="2259140"/>
                    <a:pt x="1234647" y="2265845"/>
                  </a:cubicBezTo>
                  <a:cubicBezTo>
                    <a:pt x="1234456" y="2265845"/>
                    <a:pt x="1234256" y="2265855"/>
                    <a:pt x="1234066" y="2265855"/>
                  </a:cubicBezTo>
                  <a:cubicBezTo>
                    <a:pt x="1210730" y="2266274"/>
                    <a:pt x="1187050" y="2265826"/>
                    <a:pt x="1163800" y="2268103"/>
                  </a:cubicBezTo>
                  <a:cubicBezTo>
                    <a:pt x="1150617" y="2269398"/>
                    <a:pt x="1136749" y="2271675"/>
                    <a:pt x="1125967" y="2279952"/>
                  </a:cubicBezTo>
                  <a:cubicBezTo>
                    <a:pt x="1114756" y="2288562"/>
                    <a:pt x="1109555" y="2302202"/>
                    <a:pt x="1107593" y="2315832"/>
                  </a:cubicBezTo>
                  <a:cubicBezTo>
                    <a:pt x="1106364" y="2324386"/>
                    <a:pt x="1106040" y="2332987"/>
                    <a:pt x="1106098" y="2341607"/>
                  </a:cubicBezTo>
                  <a:cubicBezTo>
                    <a:pt x="935295" y="2342588"/>
                    <a:pt x="764493" y="2343598"/>
                    <a:pt x="593691" y="2344598"/>
                  </a:cubicBezTo>
                  <a:close/>
                  <a:moveTo>
                    <a:pt x="1688056" y="2093500"/>
                  </a:moveTo>
                  <a:cubicBezTo>
                    <a:pt x="1689046" y="2105749"/>
                    <a:pt x="1692971" y="2118027"/>
                    <a:pt x="1695409" y="2129847"/>
                  </a:cubicBezTo>
                  <a:cubicBezTo>
                    <a:pt x="1698648" y="2145554"/>
                    <a:pt x="1701515" y="2161337"/>
                    <a:pt x="1704658" y="2177053"/>
                  </a:cubicBezTo>
                  <a:cubicBezTo>
                    <a:pt x="1710125" y="2204380"/>
                    <a:pt x="1715888" y="2232841"/>
                    <a:pt x="1729518" y="2257463"/>
                  </a:cubicBezTo>
                  <a:cubicBezTo>
                    <a:pt x="1729271" y="2257463"/>
                    <a:pt x="1729023" y="2257473"/>
                    <a:pt x="1728775" y="2257473"/>
                  </a:cubicBezTo>
                  <a:cubicBezTo>
                    <a:pt x="1597025" y="2259378"/>
                    <a:pt x="1465285" y="2261873"/>
                    <a:pt x="1333545" y="2264236"/>
                  </a:cubicBezTo>
                  <a:cubicBezTo>
                    <a:pt x="1307284" y="2264712"/>
                    <a:pt x="1281024" y="2265083"/>
                    <a:pt x="1254764" y="2265502"/>
                  </a:cubicBezTo>
                  <a:cubicBezTo>
                    <a:pt x="1255192" y="2264921"/>
                    <a:pt x="1255583" y="2264312"/>
                    <a:pt x="1255887" y="2263616"/>
                  </a:cubicBezTo>
                  <a:cubicBezTo>
                    <a:pt x="1262470" y="2248710"/>
                    <a:pt x="1255097" y="2228783"/>
                    <a:pt x="1252964" y="2212991"/>
                  </a:cubicBezTo>
                  <a:cubicBezTo>
                    <a:pt x="1250954" y="2198142"/>
                    <a:pt x="1249610" y="2183244"/>
                    <a:pt x="1248058" y="2168347"/>
                  </a:cubicBezTo>
                  <a:cubicBezTo>
                    <a:pt x="1245886" y="2147516"/>
                    <a:pt x="1244534" y="2125913"/>
                    <a:pt x="1241124" y="2104949"/>
                  </a:cubicBezTo>
                  <a:cubicBezTo>
                    <a:pt x="1244819" y="2103692"/>
                    <a:pt x="1248401" y="2102387"/>
                    <a:pt x="1251696" y="2101520"/>
                  </a:cubicBezTo>
                  <a:cubicBezTo>
                    <a:pt x="1265079" y="2097996"/>
                    <a:pt x="1278852" y="2095424"/>
                    <a:pt x="1292473" y="2093014"/>
                  </a:cubicBezTo>
                  <a:cubicBezTo>
                    <a:pt x="1322696" y="2087670"/>
                    <a:pt x="1353500" y="2085766"/>
                    <a:pt x="1384142" y="2084899"/>
                  </a:cubicBezTo>
                  <a:cubicBezTo>
                    <a:pt x="1452179" y="2082965"/>
                    <a:pt x="1520225" y="2087032"/>
                    <a:pt x="1588139" y="2090557"/>
                  </a:cubicBezTo>
                  <a:cubicBezTo>
                    <a:pt x="1620066" y="2092214"/>
                    <a:pt x="1652023" y="2093938"/>
                    <a:pt x="1683998" y="2093976"/>
                  </a:cubicBezTo>
                  <a:cubicBezTo>
                    <a:pt x="1685465" y="2093995"/>
                    <a:pt x="1686808" y="2093814"/>
                    <a:pt x="1688056" y="2093500"/>
                  </a:cubicBezTo>
                  <a:close/>
                  <a:moveTo>
                    <a:pt x="1756141" y="2242166"/>
                  </a:moveTo>
                  <a:cubicBezTo>
                    <a:pt x="1749207" y="2229698"/>
                    <a:pt x="1744692" y="2215868"/>
                    <a:pt x="1741196" y="2201752"/>
                  </a:cubicBezTo>
                  <a:cubicBezTo>
                    <a:pt x="1743158" y="2202733"/>
                    <a:pt x="1745482" y="2203304"/>
                    <a:pt x="1748178" y="2203285"/>
                  </a:cubicBezTo>
                  <a:cubicBezTo>
                    <a:pt x="1825330" y="2202809"/>
                    <a:pt x="1902483" y="2202352"/>
                    <a:pt x="1979635" y="2201913"/>
                  </a:cubicBezTo>
                  <a:cubicBezTo>
                    <a:pt x="1981740" y="2201904"/>
                    <a:pt x="1983607" y="2201523"/>
                    <a:pt x="1985264" y="2200894"/>
                  </a:cubicBezTo>
                  <a:cubicBezTo>
                    <a:pt x="2034918" y="2220544"/>
                    <a:pt x="2085648" y="2237299"/>
                    <a:pt x="2136903" y="2252291"/>
                  </a:cubicBezTo>
                  <a:cubicBezTo>
                    <a:pt x="2133207" y="2252329"/>
                    <a:pt x="2129511" y="2252367"/>
                    <a:pt x="2125806" y="2252405"/>
                  </a:cubicBezTo>
                  <a:cubicBezTo>
                    <a:pt x="2002552" y="2253701"/>
                    <a:pt x="1879309" y="2255330"/>
                    <a:pt x="1756064" y="2257101"/>
                  </a:cubicBezTo>
                  <a:cubicBezTo>
                    <a:pt x="1758589" y="2252958"/>
                    <a:pt x="1759189" y="2247662"/>
                    <a:pt x="1756141" y="2242166"/>
                  </a:cubicBezTo>
                  <a:close/>
                  <a:moveTo>
                    <a:pt x="2299866" y="2192750"/>
                  </a:moveTo>
                  <a:cubicBezTo>
                    <a:pt x="2302142" y="2209286"/>
                    <a:pt x="2302657" y="2226097"/>
                    <a:pt x="2299180" y="2242509"/>
                  </a:cubicBezTo>
                  <a:cubicBezTo>
                    <a:pt x="2298542" y="2245528"/>
                    <a:pt x="2298723" y="2248272"/>
                    <a:pt x="2299513" y="2250681"/>
                  </a:cubicBezTo>
                  <a:cubicBezTo>
                    <a:pt x="2262671" y="2251024"/>
                    <a:pt x="2225818" y="2251386"/>
                    <a:pt x="2188976" y="2251758"/>
                  </a:cubicBezTo>
                  <a:cubicBezTo>
                    <a:pt x="2191357" y="2244223"/>
                    <a:pt x="2188766" y="2235070"/>
                    <a:pt x="2178965" y="2232346"/>
                  </a:cubicBezTo>
                  <a:cubicBezTo>
                    <a:pt x="2113185" y="2214086"/>
                    <a:pt x="2048054" y="2193379"/>
                    <a:pt x="1984721" y="2167814"/>
                  </a:cubicBezTo>
                  <a:cubicBezTo>
                    <a:pt x="1985684" y="2158213"/>
                    <a:pt x="1986198" y="2148554"/>
                    <a:pt x="1987217" y="2138953"/>
                  </a:cubicBezTo>
                  <a:cubicBezTo>
                    <a:pt x="1987998" y="2131600"/>
                    <a:pt x="1988922" y="2124228"/>
                    <a:pt x="1990170" y="2116931"/>
                  </a:cubicBezTo>
                  <a:cubicBezTo>
                    <a:pt x="1991370" y="2109912"/>
                    <a:pt x="1994923" y="2101568"/>
                    <a:pt x="1994361" y="2094424"/>
                  </a:cubicBezTo>
                  <a:cubicBezTo>
                    <a:pt x="2000857" y="2097615"/>
                    <a:pt x="2007401" y="2100558"/>
                    <a:pt x="2014087" y="2103377"/>
                  </a:cubicBezTo>
                  <a:cubicBezTo>
                    <a:pt x="2027136" y="2108883"/>
                    <a:pt x="2040643" y="2113798"/>
                    <a:pt x="2054073" y="2118312"/>
                  </a:cubicBezTo>
                  <a:cubicBezTo>
                    <a:pt x="2077095" y="2126056"/>
                    <a:pt x="2100270" y="2133381"/>
                    <a:pt x="2123348" y="2140972"/>
                  </a:cubicBezTo>
                  <a:cubicBezTo>
                    <a:pt x="2161134" y="2153402"/>
                    <a:pt x="2199377" y="2164709"/>
                    <a:pt x="2237611" y="2175653"/>
                  </a:cubicBezTo>
                  <a:cubicBezTo>
                    <a:pt x="2258299" y="2181578"/>
                    <a:pt x="2279063" y="2187245"/>
                    <a:pt x="2299866" y="2192750"/>
                  </a:cubicBezTo>
                  <a:close/>
                  <a:moveTo>
                    <a:pt x="1925962" y="2149202"/>
                  </a:moveTo>
                  <a:cubicBezTo>
                    <a:pt x="1938649" y="2149488"/>
                    <a:pt x="1950051" y="2146487"/>
                    <a:pt x="1960500" y="2141068"/>
                  </a:cubicBezTo>
                  <a:cubicBezTo>
                    <a:pt x="1960185" y="2147411"/>
                    <a:pt x="1959957" y="2153784"/>
                    <a:pt x="1959966" y="2160137"/>
                  </a:cubicBezTo>
                  <a:cubicBezTo>
                    <a:pt x="1959014" y="2159213"/>
                    <a:pt x="1957795" y="2158470"/>
                    <a:pt x="1956289" y="2158013"/>
                  </a:cubicBezTo>
                  <a:cubicBezTo>
                    <a:pt x="1938306" y="2152603"/>
                    <a:pt x="1918685" y="2154612"/>
                    <a:pt x="1901349" y="2146030"/>
                  </a:cubicBezTo>
                  <a:cubicBezTo>
                    <a:pt x="1900006" y="2145363"/>
                    <a:pt x="1898796" y="2144668"/>
                    <a:pt x="1897673" y="2143944"/>
                  </a:cubicBezTo>
                  <a:cubicBezTo>
                    <a:pt x="1906769" y="2147040"/>
                    <a:pt x="1916247" y="2148983"/>
                    <a:pt x="1925962" y="2149202"/>
                  </a:cubicBezTo>
                  <a:close/>
                  <a:moveTo>
                    <a:pt x="2452818" y="2336406"/>
                  </a:moveTo>
                  <a:cubicBezTo>
                    <a:pt x="2235991" y="2336854"/>
                    <a:pt x="2019164" y="2337511"/>
                    <a:pt x="1802346" y="2338273"/>
                  </a:cubicBezTo>
                  <a:cubicBezTo>
                    <a:pt x="1586967" y="2339026"/>
                    <a:pt x="1371588" y="2340064"/>
                    <a:pt x="1156218" y="2341302"/>
                  </a:cubicBezTo>
                  <a:cubicBezTo>
                    <a:pt x="1143007" y="2341379"/>
                    <a:pt x="1129805" y="2341455"/>
                    <a:pt x="1116594" y="2341531"/>
                  </a:cubicBezTo>
                  <a:cubicBezTo>
                    <a:pt x="1117118" y="2326529"/>
                    <a:pt x="1118337" y="2309270"/>
                    <a:pt x="1126967" y="2296916"/>
                  </a:cubicBezTo>
                  <a:cubicBezTo>
                    <a:pt x="1134158" y="2286629"/>
                    <a:pt x="1146588" y="2283486"/>
                    <a:pt x="1158418" y="2282143"/>
                  </a:cubicBezTo>
                  <a:cubicBezTo>
                    <a:pt x="1177801" y="2279942"/>
                    <a:pt x="1197690" y="2280637"/>
                    <a:pt x="1217168" y="2280419"/>
                  </a:cubicBezTo>
                  <a:cubicBezTo>
                    <a:pt x="1249077" y="2280056"/>
                    <a:pt x="1280986" y="2279942"/>
                    <a:pt x="1312895" y="2279723"/>
                  </a:cubicBezTo>
                  <a:cubicBezTo>
                    <a:pt x="1439577" y="2278847"/>
                    <a:pt x="1566250" y="2276951"/>
                    <a:pt x="1692923" y="2275094"/>
                  </a:cubicBezTo>
                  <a:cubicBezTo>
                    <a:pt x="1819568" y="2273237"/>
                    <a:pt x="1946212" y="2271494"/>
                    <a:pt x="2072866" y="2270065"/>
                  </a:cubicBezTo>
                  <a:cubicBezTo>
                    <a:pt x="2200396" y="2268627"/>
                    <a:pt x="2327936" y="2267836"/>
                    <a:pt x="2455476" y="2267484"/>
                  </a:cubicBezTo>
                  <a:cubicBezTo>
                    <a:pt x="2484432" y="2267407"/>
                    <a:pt x="2513407" y="2267598"/>
                    <a:pt x="2542363" y="2267207"/>
                  </a:cubicBezTo>
                  <a:cubicBezTo>
                    <a:pt x="2560556" y="2266959"/>
                    <a:pt x="2578843" y="2266160"/>
                    <a:pt x="2597017" y="2267350"/>
                  </a:cubicBezTo>
                  <a:cubicBezTo>
                    <a:pt x="2610000" y="2268207"/>
                    <a:pt x="2623344" y="2270351"/>
                    <a:pt x="2634793" y="2276875"/>
                  </a:cubicBezTo>
                  <a:cubicBezTo>
                    <a:pt x="2647738" y="2284257"/>
                    <a:pt x="2656605" y="2296392"/>
                    <a:pt x="2663521" y="2309317"/>
                  </a:cubicBezTo>
                  <a:cubicBezTo>
                    <a:pt x="2668179" y="2318014"/>
                    <a:pt x="2671998" y="2327139"/>
                    <a:pt x="2675513" y="2336340"/>
                  </a:cubicBezTo>
                  <a:cubicBezTo>
                    <a:pt x="2601284" y="2336263"/>
                    <a:pt x="2527047" y="2336254"/>
                    <a:pt x="2452818" y="2336406"/>
                  </a:cubicBezTo>
                  <a:close/>
                  <a:moveTo>
                    <a:pt x="3037558" y="2337206"/>
                  </a:moveTo>
                  <a:cubicBezTo>
                    <a:pt x="2923096" y="2336816"/>
                    <a:pt x="2808634" y="2336492"/>
                    <a:pt x="2694182" y="2336359"/>
                  </a:cubicBezTo>
                  <a:cubicBezTo>
                    <a:pt x="2694201" y="2335368"/>
                    <a:pt x="2694049" y="2334292"/>
                    <a:pt x="2693667" y="2333149"/>
                  </a:cubicBezTo>
                  <a:cubicBezTo>
                    <a:pt x="2682781" y="2300383"/>
                    <a:pt x="2665893" y="2267322"/>
                    <a:pt x="2631545" y="2254853"/>
                  </a:cubicBezTo>
                  <a:cubicBezTo>
                    <a:pt x="2598732" y="2242947"/>
                    <a:pt x="2559775" y="2248710"/>
                    <a:pt x="2525684" y="2248910"/>
                  </a:cubicBezTo>
                  <a:cubicBezTo>
                    <a:pt x="2460076" y="2249300"/>
                    <a:pt x="2394468" y="2249815"/>
                    <a:pt x="2328860" y="2250405"/>
                  </a:cubicBezTo>
                  <a:cubicBezTo>
                    <a:pt x="2334061" y="2225640"/>
                    <a:pt x="2332460" y="2201151"/>
                    <a:pt x="2328222" y="2176367"/>
                  </a:cubicBezTo>
                  <a:cubicBezTo>
                    <a:pt x="2327860" y="2174243"/>
                    <a:pt x="2326908" y="2172367"/>
                    <a:pt x="2325564" y="2170786"/>
                  </a:cubicBezTo>
                  <a:cubicBezTo>
                    <a:pt x="2323783" y="2168452"/>
                    <a:pt x="2321135" y="2166604"/>
                    <a:pt x="2317497" y="2165652"/>
                  </a:cubicBezTo>
                  <a:cubicBezTo>
                    <a:pt x="2234810" y="2143992"/>
                    <a:pt x="2153495" y="2117769"/>
                    <a:pt x="2071409" y="2094033"/>
                  </a:cubicBezTo>
                  <a:cubicBezTo>
                    <a:pt x="2056559" y="2089737"/>
                    <a:pt x="2041519" y="2085918"/>
                    <a:pt x="2026412" y="2082622"/>
                  </a:cubicBezTo>
                  <a:cubicBezTo>
                    <a:pt x="2017735" y="2080727"/>
                    <a:pt x="2008934" y="2079279"/>
                    <a:pt x="2000114" y="2078250"/>
                  </a:cubicBezTo>
                  <a:cubicBezTo>
                    <a:pt x="1992808" y="2077402"/>
                    <a:pt x="1984541" y="2075298"/>
                    <a:pt x="1977873" y="2079098"/>
                  </a:cubicBezTo>
                  <a:cubicBezTo>
                    <a:pt x="1976930" y="2079631"/>
                    <a:pt x="1976663" y="2080746"/>
                    <a:pt x="1976997" y="2081717"/>
                  </a:cubicBezTo>
                  <a:cubicBezTo>
                    <a:pt x="1975320" y="2082318"/>
                    <a:pt x="1973673" y="2083327"/>
                    <a:pt x="1972168" y="2084851"/>
                  </a:cubicBezTo>
                  <a:cubicBezTo>
                    <a:pt x="1967824" y="2089232"/>
                    <a:pt x="1965291" y="2095595"/>
                    <a:pt x="1963748" y="2102577"/>
                  </a:cubicBezTo>
                  <a:cubicBezTo>
                    <a:pt x="1937906" y="2097710"/>
                    <a:pt x="1911941" y="2093481"/>
                    <a:pt x="1886157" y="2088261"/>
                  </a:cubicBezTo>
                  <a:cubicBezTo>
                    <a:pt x="1880728" y="2087156"/>
                    <a:pt x="1874308" y="2088928"/>
                    <a:pt x="1871555" y="2094205"/>
                  </a:cubicBezTo>
                  <a:cubicBezTo>
                    <a:pt x="1869526" y="2098081"/>
                    <a:pt x="1867783" y="2102053"/>
                    <a:pt x="1866393" y="2106054"/>
                  </a:cubicBezTo>
                  <a:cubicBezTo>
                    <a:pt x="1863268" y="2108864"/>
                    <a:pt x="1862097" y="2112397"/>
                    <a:pt x="1861716" y="2117188"/>
                  </a:cubicBezTo>
                  <a:cubicBezTo>
                    <a:pt x="1861563" y="2119132"/>
                    <a:pt x="1861963" y="2121065"/>
                    <a:pt x="1862725" y="2122865"/>
                  </a:cubicBezTo>
                  <a:cubicBezTo>
                    <a:pt x="1861506" y="2138515"/>
                    <a:pt x="1866973" y="2153336"/>
                    <a:pt x="1882851" y="2163661"/>
                  </a:cubicBezTo>
                  <a:cubicBezTo>
                    <a:pt x="1888195" y="2167138"/>
                    <a:pt x="1894158" y="2169719"/>
                    <a:pt x="1900330" y="2171691"/>
                  </a:cubicBezTo>
                  <a:cubicBezTo>
                    <a:pt x="1849619" y="2171986"/>
                    <a:pt x="1798908" y="2172281"/>
                    <a:pt x="1748187" y="2172595"/>
                  </a:cubicBezTo>
                  <a:cubicBezTo>
                    <a:pt x="1742605" y="2172634"/>
                    <a:pt x="1738605" y="2175101"/>
                    <a:pt x="1736176" y="2178634"/>
                  </a:cubicBezTo>
                  <a:cubicBezTo>
                    <a:pt x="1735338" y="2174386"/>
                    <a:pt x="1734519" y="2170157"/>
                    <a:pt x="1733700" y="2165985"/>
                  </a:cubicBezTo>
                  <a:cubicBezTo>
                    <a:pt x="1730776" y="2151231"/>
                    <a:pt x="1728070" y="2136429"/>
                    <a:pt x="1725032" y="2121694"/>
                  </a:cubicBezTo>
                  <a:cubicBezTo>
                    <a:pt x="1721993" y="2106959"/>
                    <a:pt x="1719765" y="2090261"/>
                    <a:pt x="1710535" y="2077888"/>
                  </a:cubicBezTo>
                  <a:cubicBezTo>
                    <a:pt x="1707163" y="2073374"/>
                    <a:pt x="1702162" y="2071707"/>
                    <a:pt x="1697705" y="2072488"/>
                  </a:cubicBezTo>
                  <a:cubicBezTo>
                    <a:pt x="1695733" y="2067344"/>
                    <a:pt x="1691180" y="2063306"/>
                    <a:pt x="1684017" y="2063296"/>
                  </a:cubicBezTo>
                  <a:cubicBezTo>
                    <a:pt x="1553639" y="2063124"/>
                    <a:pt x="1422051" y="2041617"/>
                    <a:pt x="1292207" y="2062115"/>
                  </a:cubicBezTo>
                  <a:cubicBezTo>
                    <a:pt x="1276405" y="2064610"/>
                    <a:pt x="1261136" y="2068125"/>
                    <a:pt x="1246096" y="2073631"/>
                  </a:cubicBezTo>
                  <a:cubicBezTo>
                    <a:pt x="1242448" y="2074964"/>
                    <a:pt x="1238133" y="2076402"/>
                    <a:pt x="1233780" y="2078155"/>
                  </a:cubicBezTo>
                  <a:cubicBezTo>
                    <a:pt x="1229884" y="2075212"/>
                    <a:pt x="1223217" y="2076469"/>
                    <a:pt x="1221778" y="2081994"/>
                  </a:cubicBezTo>
                  <a:cubicBezTo>
                    <a:pt x="1221550" y="2082870"/>
                    <a:pt x="1221350" y="2083765"/>
                    <a:pt x="1221141" y="2084651"/>
                  </a:cubicBezTo>
                  <a:cubicBezTo>
                    <a:pt x="1216216" y="2088061"/>
                    <a:pt x="1212359" y="2092357"/>
                    <a:pt x="1211073" y="2098043"/>
                  </a:cubicBezTo>
                  <a:cubicBezTo>
                    <a:pt x="1210091" y="2102387"/>
                    <a:pt x="1212406" y="2105739"/>
                    <a:pt x="1216349" y="2107340"/>
                  </a:cubicBezTo>
                  <a:cubicBezTo>
                    <a:pt x="1216644" y="2107463"/>
                    <a:pt x="1216959" y="2107540"/>
                    <a:pt x="1217254" y="2107645"/>
                  </a:cubicBezTo>
                  <a:cubicBezTo>
                    <a:pt x="1215082" y="2128390"/>
                    <a:pt x="1215921" y="2149888"/>
                    <a:pt x="1217521" y="2170062"/>
                  </a:cubicBezTo>
                  <a:cubicBezTo>
                    <a:pt x="1217730" y="2172738"/>
                    <a:pt x="1217987" y="2175415"/>
                    <a:pt x="1218245" y="2178091"/>
                  </a:cubicBezTo>
                  <a:cubicBezTo>
                    <a:pt x="1216683" y="2177548"/>
                    <a:pt x="1214949" y="2177244"/>
                    <a:pt x="1213006" y="2177234"/>
                  </a:cubicBezTo>
                  <a:cubicBezTo>
                    <a:pt x="1062178" y="2176520"/>
                    <a:pt x="911378" y="2180206"/>
                    <a:pt x="760569" y="2181987"/>
                  </a:cubicBezTo>
                  <a:cubicBezTo>
                    <a:pt x="685493" y="2182873"/>
                    <a:pt x="610407" y="2183273"/>
                    <a:pt x="535331" y="2182406"/>
                  </a:cubicBezTo>
                  <a:cubicBezTo>
                    <a:pt x="498241" y="2181977"/>
                    <a:pt x="461150" y="2181234"/>
                    <a:pt x="424069" y="2180092"/>
                  </a:cubicBezTo>
                  <a:cubicBezTo>
                    <a:pt x="405496" y="2179520"/>
                    <a:pt x="386922" y="2178844"/>
                    <a:pt x="368358" y="2178053"/>
                  </a:cubicBezTo>
                  <a:cubicBezTo>
                    <a:pt x="351860" y="2177358"/>
                    <a:pt x="327543" y="2180673"/>
                    <a:pt x="312522" y="2173548"/>
                  </a:cubicBezTo>
                  <a:cubicBezTo>
                    <a:pt x="299663" y="2167452"/>
                    <a:pt x="290472" y="2153574"/>
                    <a:pt x="282461" y="2142496"/>
                  </a:cubicBezTo>
                  <a:cubicBezTo>
                    <a:pt x="272727" y="2129028"/>
                    <a:pt x="262249" y="2116770"/>
                    <a:pt x="255467" y="2101348"/>
                  </a:cubicBezTo>
                  <a:cubicBezTo>
                    <a:pt x="248628" y="2085804"/>
                    <a:pt x="248762" y="2070211"/>
                    <a:pt x="248238" y="2053533"/>
                  </a:cubicBezTo>
                  <a:cubicBezTo>
                    <a:pt x="247619" y="2033768"/>
                    <a:pt x="247019" y="2013995"/>
                    <a:pt x="246438" y="1994230"/>
                  </a:cubicBezTo>
                  <a:cubicBezTo>
                    <a:pt x="244180" y="1917411"/>
                    <a:pt x="242180" y="1840592"/>
                    <a:pt x="240427" y="1763763"/>
                  </a:cubicBezTo>
                  <a:cubicBezTo>
                    <a:pt x="236970" y="1612478"/>
                    <a:pt x="234455" y="1461173"/>
                    <a:pt x="232693" y="1309859"/>
                  </a:cubicBezTo>
                  <a:cubicBezTo>
                    <a:pt x="229169" y="1007231"/>
                    <a:pt x="228683" y="704574"/>
                    <a:pt x="229750" y="401936"/>
                  </a:cubicBezTo>
                  <a:cubicBezTo>
                    <a:pt x="229817" y="383267"/>
                    <a:pt x="229893" y="364598"/>
                    <a:pt x="229969" y="345929"/>
                  </a:cubicBezTo>
                  <a:cubicBezTo>
                    <a:pt x="230045" y="327431"/>
                    <a:pt x="228654" y="309953"/>
                    <a:pt x="236551" y="292770"/>
                  </a:cubicBezTo>
                  <a:cubicBezTo>
                    <a:pt x="248038" y="267748"/>
                    <a:pt x="268774" y="248650"/>
                    <a:pt x="292253" y="234934"/>
                  </a:cubicBezTo>
                  <a:cubicBezTo>
                    <a:pt x="303092" y="228600"/>
                    <a:pt x="314484" y="223285"/>
                    <a:pt x="326295" y="219046"/>
                  </a:cubicBezTo>
                  <a:cubicBezTo>
                    <a:pt x="343659" y="212808"/>
                    <a:pt x="363176" y="214722"/>
                    <a:pt x="381436" y="214351"/>
                  </a:cubicBezTo>
                  <a:cubicBezTo>
                    <a:pt x="418840" y="213589"/>
                    <a:pt x="456254" y="212874"/>
                    <a:pt x="493659" y="212207"/>
                  </a:cubicBezTo>
                  <a:cubicBezTo>
                    <a:pt x="646478" y="209493"/>
                    <a:pt x="799307" y="207588"/>
                    <a:pt x="952136" y="206169"/>
                  </a:cubicBezTo>
                  <a:cubicBezTo>
                    <a:pt x="1256469" y="203349"/>
                    <a:pt x="1560811" y="202511"/>
                    <a:pt x="1865154" y="201263"/>
                  </a:cubicBezTo>
                  <a:cubicBezTo>
                    <a:pt x="2167745" y="200015"/>
                    <a:pt x="2470316" y="197520"/>
                    <a:pt x="2772906" y="195853"/>
                  </a:cubicBezTo>
                  <a:cubicBezTo>
                    <a:pt x="2923048" y="195024"/>
                    <a:pt x="3073200" y="194015"/>
                    <a:pt x="3223334" y="195910"/>
                  </a:cubicBezTo>
                  <a:cubicBezTo>
                    <a:pt x="3261329" y="196386"/>
                    <a:pt x="3299334" y="197053"/>
                    <a:pt x="3337319" y="197958"/>
                  </a:cubicBezTo>
                  <a:cubicBezTo>
                    <a:pt x="3355693" y="198396"/>
                    <a:pt x="3375324" y="196996"/>
                    <a:pt x="3393479" y="199892"/>
                  </a:cubicBezTo>
                  <a:cubicBezTo>
                    <a:pt x="3409738" y="202482"/>
                    <a:pt x="3425949" y="210569"/>
                    <a:pt x="3439380" y="219828"/>
                  </a:cubicBezTo>
                  <a:cubicBezTo>
                    <a:pt x="3461420" y="235029"/>
                    <a:pt x="3478890" y="257718"/>
                    <a:pt x="3485566" y="283836"/>
                  </a:cubicBezTo>
                  <a:cubicBezTo>
                    <a:pt x="3489434" y="298961"/>
                    <a:pt x="3488595" y="314668"/>
                    <a:pt x="3488815" y="330156"/>
                  </a:cubicBezTo>
                  <a:cubicBezTo>
                    <a:pt x="3489091" y="349996"/>
                    <a:pt x="3489358" y="369837"/>
                    <a:pt x="3489624" y="389677"/>
                  </a:cubicBezTo>
                  <a:cubicBezTo>
                    <a:pt x="3493749" y="695001"/>
                    <a:pt x="3497158" y="1000325"/>
                    <a:pt x="3500254" y="1305659"/>
                  </a:cubicBezTo>
                  <a:cubicBezTo>
                    <a:pt x="3501797" y="1457773"/>
                    <a:pt x="3503254" y="1609887"/>
                    <a:pt x="3504693" y="1762001"/>
                  </a:cubicBezTo>
                  <a:cubicBezTo>
                    <a:pt x="3505407" y="1838058"/>
                    <a:pt x="3506122" y="1914116"/>
                    <a:pt x="3506826" y="1990173"/>
                  </a:cubicBezTo>
                  <a:cubicBezTo>
                    <a:pt x="3507122" y="2022091"/>
                    <a:pt x="3509988" y="2053685"/>
                    <a:pt x="3495358" y="2083146"/>
                  </a:cubicBezTo>
                  <a:cubicBezTo>
                    <a:pt x="3483433" y="2107178"/>
                    <a:pt x="3464192" y="2127228"/>
                    <a:pt x="3441751" y="2141725"/>
                  </a:cubicBezTo>
                  <a:cubicBezTo>
                    <a:pt x="3436417" y="2145173"/>
                    <a:pt x="3430902" y="2148354"/>
                    <a:pt x="3425245" y="2151240"/>
                  </a:cubicBezTo>
                  <a:cubicBezTo>
                    <a:pt x="3420577" y="2151545"/>
                    <a:pt x="3415872" y="2152174"/>
                    <a:pt x="3410929" y="2152774"/>
                  </a:cubicBezTo>
                  <a:cubicBezTo>
                    <a:pt x="3400146" y="2154088"/>
                    <a:pt x="3389335" y="2155250"/>
                    <a:pt x="3378524" y="2156289"/>
                  </a:cubicBezTo>
                  <a:cubicBezTo>
                    <a:pt x="3356226" y="2158422"/>
                    <a:pt x="3333881" y="2160013"/>
                    <a:pt x="3311516" y="2161165"/>
                  </a:cubicBezTo>
                  <a:cubicBezTo>
                    <a:pt x="3267682" y="2163432"/>
                    <a:pt x="3223772" y="2164042"/>
                    <a:pt x="3179880" y="2163880"/>
                  </a:cubicBezTo>
                  <a:cubicBezTo>
                    <a:pt x="3090717" y="2163556"/>
                    <a:pt x="3001582" y="2160670"/>
                    <a:pt x="2912409" y="2161403"/>
                  </a:cubicBezTo>
                  <a:cubicBezTo>
                    <a:pt x="2871585" y="2161737"/>
                    <a:pt x="2829341" y="2161966"/>
                    <a:pt x="2788556" y="2167928"/>
                  </a:cubicBezTo>
                  <a:cubicBezTo>
                    <a:pt x="2715146" y="2168023"/>
                    <a:pt x="2641746" y="2168147"/>
                    <a:pt x="2568338" y="2168319"/>
                  </a:cubicBezTo>
                  <a:cubicBezTo>
                    <a:pt x="2494204" y="2168500"/>
                    <a:pt x="2420062" y="2168719"/>
                    <a:pt x="2345928" y="2169004"/>
                  </a:cubicBezTo>
                  <a:cubicBezTo>
                    <a:pt x="2326174" y="2169081"/>
                    <a:pt x="2326136" y="2199789"/>
                    <a:pt x="2345928" y="2199713"/>
                  </a:cubicBezTo>
                  <a:cubicBezTo>
                    <a:pt x="2658511" y="2198504"/>
                    <a:pt x="2971093" y="2198399"/>
                    <a:pt x="3283675" y="2198389"/>
                  </a:cubicBezTo>
                  <a:cubicBezTo>
                    <a:pt x="3306925" y="2198389"/>
                    <a:pt x="3331785" y="2200437"/>
                    <a:pt x="3355950" y="2199637"/>
                  </a:cubicBezTo>
                  <a:cubicBezTo>
                    <a:pt x="3355350" y="2202590"/>
                    <a:pt x="3354845" y="2205562"/>
                    <a:pt x="3354359" y="2208486"/>
                  </a:cubicBezTo>
                  <a:cubicBezTo>
                    <a:pt x="3352816" y="2217839"/>
                    <a:pt x="3351340" y="2227364"/>
                    <a:pt x="3351131" y="2236851"/>
                  </a:cubicBezTo>
                  <a:cubicBezTo>
                    <a:pt x="3350750" y="2254225"/>
                    <a:pt x="3352702" y="2271903"/>
                    <a:pt x="3358646" y="2288305"/>
                  </a:cubicBezTo>
                  <a:cubicBezTo>
                    <a:pt x="3364656" y="2304917"/>
                    <a:pt x="3373905" y="2320081"/>
                    <a:pt x="3386554" y="2332492"/>
                  </a:cubicBezTo>
                  <a:cubicBezTo>
                    <a:pt x="3389430" y="2335311"/>
                    <a:pt x="3392802" y="2338492"/>
                    <a:pt x="3396507" y="2341617"/>
                  </a:cubicBezTo>
                  <a:cubicBezTo>
                    <a:pt x="3276855" y="2339454"/>
                    <a:pt x="3157202" y="2337616"/>
                    <a:pt x="3037558" y="2337206"/>
                  </a:cubicBezTo>
                  <a:close/>
                </a:path>
              </a:pathLst>
            </a:custGeom>
            <a:solidFill>
              <a:srgbClr val="000000"/>
            </a:solidFill>
            <a:ln w="9525" cap="flat">
              <a:noFill/>
              <a:prstDash val="solid"/>
              <a:miter/>
            </a:ln>
          </p:spPr>
          <p:txBody>
            <a:bodyPr rtlCol="0" anchor="ctr"/>
            <a:lstStyle/>
            <a:p>
              <a:endParaRPr lang="en-GB" noProof="0" dirty="0"/>
            </a:p>
          </p:txBody>
        </p:sp>
        <p:sp>
          <p:nvSpPr>
            <p:cNvPr id="161" name="Arrow: Pentagon 160">
              <a:extLst>
                <a:ext uri="{FF2B5EF4-FFF2-40B4-BE49-F238E27FC236}">
                  <a16:creationId xmlns:a16="http://schemas.microsoft.com/office/drawing/2014/main" id="{1107BACB-71E5-08B1-9B5A-A0B0049EEBF0}"/>
                </a:ext>
              </a:extLst>
            </p:cNvPr>
            <p:cNvSpPr/>
            <p:nvPr/>
          </p:nvSpPr>
          <p:spPr>
            <a:xfrm rot="5400000">
              <a:off x="8165715" y="1670834"/>
              <a:ext cx="522028" cy="1686204"/>
            </a:xfrm>
            <a:prstGeom prst="homePlat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GB" sz="1200" noProof="0" dirty="0"/>
                <a:t>Prediction machine</a:t>
              </a:r>
            </a:p>
          </p:txBody>
        </p:sp>
      </p:grpSp>
      <p:sp>
        <p:nvSpPr>
          <p:cNvPr id="162" name="TextBox 161">
            <a:extLst>
              <a:ext uri="{FF2B5EF4-FFF2-40B4-BE49-F238E27FC236}">
                <a16:creationId xmlns:a16="http://schemas.microsoft.com/office/drawing/2014/main" id="{535DC2BA-AD5F-8AF2-CC1E-B3D7682B8057}"/>
              </a:ext>
            </a:extLst>
          </p:cNvPr>
          <p:cNvSpPr txBox="1"/>
          <p:nvPr/>
        </p:nvSpPr>
        <p:spPr>
          <a:xfrm>
            <a:off x="6756225" y="3529887"/>
            <a:ext cx="2213603" cy="830997"/>
          </a:xfrm>
          <a:prstGeom prst="rect">
            <a:avLst/>
          </a:prstGeom>
          <a:noFill/>
        </p:spPr>
        <p:txBody>
          <a:bodyPr wrap="square" rtlCol="0">
            <a:spAutoFit/>
          </a:bodyPr>
          <a:lstStyle/>
          <a:p>
            <a:r>
              <a:rPr lang="en-US" sz="1200" dirty="0"/>
              <a:t>It takes text inputs and produces results in terms of </a:t>
            </a:r>
            <a:r>
              <a:rPr lang="en-US" sz="1200" b="1" dirty="0">
                <a:highlight>
                  <a:srgbClr val="FFC000"/>
                </a:highlight>
              </a:rPr>
              <a:t>a prediction of the words that might follow in the text</a:t>
            </a:r>
            <a:r>
              <a:rPr lang="en-US" sz="1200" dirty="0"/>
              <a:t>.</a:t>
            </a:r>
            <a:endParaRPr lang="en-GB" sz="1200" noProof="0" dirty="0"/>
          </a:p>
        </p:txBody>
      </p:sp>
      <p:sp>
        <p:nvSpPr>
          <p:cNvPr id="164" name="TextBox 163">
            <a:extLst>
              <a:ext uri="{FF2B5EF4-FFF2-40B4-BE49-F238E27FC236}">
                <a16:creationId xmlns:a16="http://schemas.microsoft.com/office/drawing/2014/main" id="{B6C9A6B9-D723-1B9E-2D0A-E0259DCE4347}"/>
              </a:ext>
            </a:extLst>
          </p:cNvPr>
          <p:cNvSpPr txBox="1"/>
          <p:nvPr/>
        </p:nvSpPr>
        <p:spPr>
          <a:xfrm>
            <a:off x="6563004" y="2146959"/>
            <a:ext cx="2330450" cy="276999"/>
          </a:xfrm>
          <a:prstGeom prst="rect">
            <a:avLst/>
          </a:prstGeom>
          <a:noFill/>
        </p:spPr>
        <p:txBody>
          <a:bodyPr wrap="square" rtlCol="0">
            <a:spAutoFit/>
          </a:bodyPr>
          <a:lstStyle/>
          <a:p>
            <a:r>
              <a:rPr lang="en-GB" sz="1200" noProof="0" dirty="0"/>
              <a:t>Keep calm and ________</a:t>
            </a:r>
          </a:p>
        </p:txBody>
      </p:sp>
      <p:sp>
        <p:nvSpPr>
          <p:cNvPr id="165" name="TextBox 164">
            <a:extLst>
              <a:ext uri="{FF2B5EF4-FFF2-40B4-BE49-F238E27FC236}">
                <a16:creationId xmlns:a16="http://schemas.microsoft.com/office/drawing/2014/main" id="{6D926497-E567-2B5A-676D-90DBB0208036}"/>
              </a:ext>
            </a:extLst>
          </p:cNvPr>
          <p:cNvSpPr txBox="1"/>
          <p:nvPr/>
        </p:nvSpPr>
        <p:spPr>
          <a:xfrm>
            <a:off x="9819663" y="3806887"/>
            <a:ext cx="829007" cy="276999"/>
          </a:xfrm>
          <a:prstGeom prst="rect">
            <a:avLst/>
          </a:prstGeom>
          <a:noFill/>
        </p:spPr>
        <p:txBody>
          <a:bodyPr wrap="square" rtlCol="0">
            <a:spAutoFit/>
          </a:bodyPr>
          <a:lstStyle/>
          <a:p>
            <a:r>
              <a:rPr lang="en-GB" sz="1200" noProof="0" dirty="0"/>
              <a:t>carry on</a:t>
            </a:r>
          </a:p>
        </p:txBody>
      </p:sp>
      <p:cxnSp>
        <p:nvCxnSpPr>
          <p:cNvPr id="167" name="Straight Arrow Connector 166">
            <a:extLst>
              <a:ext uri="{FF2B5EF4-FFF2-40B4-BE49-F238E27FC236}">
                <a16:creationId xmlns:a16="http://schemas.microsoft.com/office/drawing/2014/main" id="{54A5D973-E997-6978-4197-6FF7572FFBE9}"/>
              </a:ext>
            </a:extLst>
          </p:cNvPr>
          <p:cNvCxnSpPr>
            <a:cxnSpLocks/>
            <a:stCxn id="164" idx="2"/>
          </p:cNvCxnSpPr>
          <p:nvPr/>
        </p:nvCxnSpPr>
        <p:spPr>
          <a:xfrm>
            <a:off x="7728229" y="2423958"/>
            <a:ext cx="0" cy="1807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2" name="Straight Arrow Connector 171">
            <a:extLst>
              <a:ext uri="{FF2B5EF4-FFF2-40B4-BE49-F238E27FC236}">
                <a16:creationId xmlns:a16="http://schemas.microsoft.com/office/drawing/2014/main" id="{F87B11B7-6E6F-5E91-AECF-94B1383DFDAD}"/>
              </a:ext>
            </a:extLst>
          </p:cNvPr>
          <p:cNvCxnSpPr>
            <a:cxnSpLocks/>
          </p:cNvCxnSpPr>
          <p:nvPr/>
        </p:nvCxnSpPr>
        <p:spPr>
          <a:xfrm>
            <a:off x="9705085" y="3945387"/>
            <a:ext cx="11457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Footer Placeholder 4">
            <a:extLst>
              <a:ext uri="{FF2B5EF4-FFF2-40B4-BE49-F238E27FC236}">
                <a16:creationId xmlns:a16="http://schemas.microsoft.com/office/drawing/2014/main" id="{7CFEE80F-51C5-E406-B834-95344606D298}"/>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2975249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7"/>
                                        </p:tgtEl>
                                        <p:attrNameLst>
                                          <p:attrName>style.visibility</p:attrName>
                                        </p:attrNameLst>
                                      </p:cBhvr>
                                      <p:to>
                                        <p:strVal val="visible"/>
                                      </p:to>
                                    </p:set>
                                    <p:animEffect transition="in" filter="fade">
                                      <p:cBhvr>
                                        <p:cTn id="21" dur="500"/>
                                        <p:tgtEl>
                                          <p:spTgt spid="16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4"/>
                                        </p:tgtEl>
                                        <p:attrNameLst>
                                          <p:attrName>style.visibility</p:attrName>
                                        </p:attrNameLst>
                                      </p:cBhvr>
                                      <p:to>
                                        <p:strVal val="visible"/>
                                      </p:to>
                                    </p:set>
                                    <p:animEffect transition="in" filter="fade">
                                      <p:cBhvr>
                                        <p:cTn id="24" dur="500"/>
                                        <p:tgtEl>
                                          <p:spTgt spid="164"/>
                                        </p:tgtEl>
                                      </p:cBhvr>
                                    </p:animEffect>
                                  </p:childTnLst>
                                </p:cTn>
                              </p:par>
                              <p:par>
                                <p:cTn id="25" presetID="10" presetClass="entr" presetSubtype="0" fill="hold" nodeType="withEffect">
                                  <p:stCondLst>
                                    <p:cond delay="0"/>
                                  </p:stCondLst>
                                  <p:childTnLst>
                                    <p:set>
                                      <p:cBhvr>
                                        <p:cTn id="26" dur="1" fill="hold">
                                          <p:stCondLst>
                                            <p:cond delay="0"/>
                                          </p:stCondLst>
                                        </p:cTn>
                                        <p:tgtEl>
                                          <p:spTgt spid="172"/>
                                        </p:tgtEl>
                                        <p:attrNameLst>
                                          <p:attrName>style.visibility</p:attrName>
                                        </p:attrNameLst>
                                      </p:cBhvr>
                                      <p:to>
                                        <p:strVal val="visible"/>
                                      </p:to>
                                    </p:set>
                                    <p:animEffect transition="in" filter="fade">
                                      <p:cBhvr>
                                        <p:cTn id="27" dur="500"/>
                                        <p:tgtEl>
                                          <p:spTgt spid="17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5"/>
                                        </p:tgtEl>
                                        <p:attrNameLst>
                                          <p:attrName>style.visibility</p:attrName>
                                        </p:attrNameLst>
                                      </p:cBhvr>
                                      <p:to>
                                        <p:strVal val="visible"/>
                                      </p:to>
                                    </p:set>
                                    <p:animEffect transition="in" filter="fade">
                                      <p:cBhvr>
                                        <p:cTn id="30" dur="500"/>
                                        <p:tgtEl>
                                          <p:spTgt spid="16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2"/>
                                        </p:tgtEl>
                                        <p:attrNameLst>
                                          <p:attrName>style.visibility</p:attrName>
                                        </p:attrNameLst>
                                      </p:cBhvr>
                                      <p:to>
                                        <p:strVal val="visible"/>
                                      </p:to>
                                    </p:set>
                                    <p:animEffect transition="in" filter="fade">
                                      <p:cBhvr>
                                        <p:cTn id="35" dur="5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2" grpId="0"/>
      <p:bldP spid="164" grpId="0"/>
      <p:bldP spid="16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C8CF6-E135-63BA-0F49-CF1C2A2C86C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FDBFD0D-0F96-1728-7B18-15809D6D1A34}"/>
              </a:ext>
            </a:extLst>
          </p:cNvPr>
          <p:cNvSpPr/>
          <p:nvPr/>
        </p:nvSpPr>
        <p:spPr>
          <a:xfrm>
            <a:off x="0" y="0"/>
            <a:ext cx="12192000" cy="6865082"/>
          </a:xfrm>
          <a:prstGeom prst="rect">
            <a:avLst/>
          </a:prstGeom>
          <a:gradFill flip="none" rotWithShape="1">
            <a:gsLst>
              <a:gs pos="8000">
                <a:srgbClr val="F22D1C"/>
              </a:gs>
              <a:gs pos="47000">
                <a:srgbClr val="FF5050">
                  <a:alpha val="94902"/>
                </a:srgbClr>
              </a:gs>
              <a:gs pos="100000">
                <a:srgbClr val="FF7C80"/>
              </a:gs>
            </a:gsLst>
            <a:lin ang="12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Date Placeholder 3">
            <a:extLst>
              <a:ext uri="{FF2B5EF4-FFF2-40B4-BE49-F238E27FC236}">
                <a16:creationId xmlns:a16="http://schemas.microsoft.com/office/drawing/2014/main" id="{9A943B6A-0D2B-4A48-86B2-F43340CCBCDE}"/>
              </a:ext>
            </a:extLst>
          </p:cNvPr>
          <p:cNvSpPr>
            <a:spLocks noGrp="1"/>
          </p:cNvSpPr>
          <p:nvPr>
            <p:ph type="dt" sz="half" idx="10"/>
          </p:nvPr>
        </p:nvSpPr>
        <p:spPr>
          <a:xfrm>
            <a:off x="11003616" y="136525"/>
            <a:ext cx="1117563" cy="365125"/>
          </a:xfrm>
        </p:spPr>
        <p:txBody>
          <a:bodyPr/>
          <a:lstStyle/>
          <a:p>
            <a:fld id="{27AB8C26-330F-4C13-A9D7-A5B1D2394DAC}" type="datetime1">
              <a:rPr lang="en-GB" noProof="0" smtClean="0">
                <a:solidFill>
                  <a:schemeClr val="bg1"/>
                </a:solidFill>
              </a:rPr>
              <a:t>27/03/2026</a:t>
            </a:fld>
            <a:endParaRPr lang="en-GB" noProof="0" dirty="0">
              <a:solidFill>
                <a:schemeClr val="bg1"/>
              </a:solidFill>
            </a:endParaRPr>
          </a:p>
        </p:txBody>
      </p:sp>
      <p:sp>
        <p:nvSpPr>
          <p:cNvPr id="7" name="Slide Number Placeholder 2">
            <a:extLst>
              <a:ext uri="{FF2B5EF4-FFF2-40B4-BE49-F238E27FC236}">
                <a16:creationId xmlns:a16="http://schemas.microsoft.com/office/drawing/2014/main" id="{EC449066-228B-4C52-DD44-65B466F640BB}"/>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bg1"/>
                </a:solidFill>
              </a:rPr>
              <a:t>13</a:t>
            </a:fld>
            <a:endParaRPr lang="en-GB" noProof="0" dirty="0">
              <a:solidFill>
                <a:schemeClr val="bg1"/>
              </a:solidFill>
            </a:endParaRPr>
          </a:p>
        </p:txBody>
      </p:sp>
      <p:pic>
        <p:nvPicPr>
          <p:cNvPr id="3" name="Picture 4">
            <a:extLst>
              <a:ext uri="{FF2B5EF4-FFF2-40B4-BE49-F238E27FC236}">
                <a16:creationId xmlns:a16="http://schemas.microsoft.com/office/drawing/2014/main" id="{EA9CBD24-835D-315A-0B7B-CF9F9067E0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5495" y="1839685"/>
            <a:ext cx="2634562" cy="3512749"/>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619876E-CFC3-B74E-4EB9-E6BE1E2FAC5B}"/>
              </a:ext>
            </a:extLst>
          </p:cNvPr>
          <p:cNvSpPr txBox="1"/>
          <p:nvPr/>
        </p:nvSpPr>
        <p:spPr>
          <a:xfrm>
            <a:off x="4014989" y="2084296"/>
            <a:ext cx="6096000" cy="3139321"/>
          </a:xfrm>
          <a:prstGeom prst="rect">
            <a:avLst/>
          </a:prstGeom>
          <a:noFill/>
        </p:spPr>
        <p:txBody>
          <a:bodyPr wrap="square">
            <a:spAutoFit/>
          </a:bodyPr>
          <a:lstStyle/>
          <a:p>
            <a:pPr>
              <a:buNone/>
            </a:pPr>
            <a:r>
              <a:rPr lang="en-US" dirty="0">
                <a:solidFill>
                  <a:schemeClr val="bg1"/>
                </a:solidFill>
              </a:rPr>
              <a:t>Large Language Models predict </a:t>
            </a:r>
            <a:r>
              <a:rPr lang="en-US" b="1" dirty="0">
                <a:solidFill>
                  <a:schemeClr val="bg1"/>
                </a:solidFill>
                <a:highlight>
                  <a:srgbClr val="000000"/>
                </a:highlight>
              </a:rPr>
              <a:t>the next word based on probabilities conditioned by preceding text</a:t>
            </a:r>
            <a:r>
              <a:rPr lang="en-US" dirty="0">
                <a:solidFill>
                  <a:schemeClr val="bg1"/>
                </a:solidFill>
              </a:rPr>
              <a:t>. </a:t>
            </a:r>
          </a:p>
          <a:p>
            <a:pPr>
              <a:buNone/>
            </a:pPr>
            <a:endParaRPr lang="en-US" dirty="0">
              <a:solidFill>
                <a:schemeClr val="bg1"/>
              </a:solidFill>
            </a:endParaRPr>
          </a:p>
          <a:p>
            <a:pPr>
              <a:buNone/>
            </a:pPr>
            <a:r>
              <a:rPr lang="en-US" dirty="0">
                <a:solidFill>
                  <a:schemeClr val="bg1"/>
                </a:solidFill>
              </a:rPr>
              <a:t>For example, with the input </a:t>
            </a:r>
            <a:r>
              <a:rPr lang="en-US" i="1" dirty="0">
                <a:solidFill>
                  <a:schemeClr val="bg1"/>
                </a:solidFill>
              </a:rPr>
              <a:t>“Keep calm and carry …”</a:t>
            </a:r>
            <a:r>
              <a:rPr lang="en-US" dirty="0">
                <a:solidFill>
                  <a:schemeClr val="bg1"/>
                </a:solidFill>
              </a:rPr>
              <a:t>, a model trained on historical wartime texts would strongly </a:t>
            </a:r>
            <a:r>
              <a:rPr lang="en-US" dirty="0" err="1">
                <a:solidFill>
                  <a:schemeClr val="bg1"/>
                </a:solidFill>
              </a:rPr>
              <a:t>favour</a:t>
            </a:r>
            <a:r>
              <a:rPr lang="en-US" dirty="0">
                <a:solidFill>
                  <a:schemeClr val="bg1"/>
                </a:solidFill>
              </a:rPr>
              <a:t> </a:t>
            </a:r>
            <a:r>
              <a:rPr lang="en-US" i="1" dirty="0">
                <a:solidFill>
                  <a:schemeClr val="bg1"/>
                </a:solidFill>
              </a:rPr>
              <a:t>“on”</a:t>
            </a:r>
            <a:r>
              <a:rPr lang="en-US" dirty="0">
                <a:solidFill>
                  <a:schemeClr val="bg1"/>
                </a:solidFill>
              </a:rPr>
              <a:t>, </a:t>
            </a:r>
            <a:r>
              <a:rPr lang="en-US" dirty="0">
                <a:solidFill>
                  <a:schemeClr val="bg1"/>
                </a:solidFill>
                <a:highlight>
                  <a:srgbClr val="000000"/>
                </a:highlight>
              </a:rPr>
              <a:t>reflecting the original British slogan</a:t>
            </a:r>
            <a:r>
              <a:rPr lang="en-US" dirty="0">
                <a:solidFill>
                  <a:schemeClr val="bg1"/>
                </a:solidFill>
              </a:rPr>
              <a:t>. </a:t>
            </a:r>
          </a:p>
          <a:p>
            <a:pPr>
              <a:buNone/>
            </a:pPr>
            <a:endParaRPr lang="en-US" dirty="0">
              <a:solidFill>
                <a:schemeClr val="bg1"/>
              </a:solidFill>
            </a:endParaRPr>
          </a:p>
          <a:p>
            <a:pPr>
              <a:buNone/>
            </a:pPr>
            <a:r>
              <a:rPr lang="en-US" dirty="0">
                <a:solidFill>
                  <a:schemeClr val="bg1"/>
                </a:solidFill>
              </a:rPr>
              <a:t>However, with more recent inputs, the probability might shift towards alternatives like </a:t>
            </a:r>
            <a:r>
              <a:rPr lang="en-US" i="1" dirty="0">
                <a:solidFill>
                  <a:schemeClr val="bg1"/>
                </a:solidFill>
              </a:rPr>
              <a:t>“shopping”</a:t>
            </a:r>
            <a:r>
              <a:rPr lang="en-US" dirty="0">
                <a:solidFill>
                  <a:schemeClr val="bg1"/>
                </a:solidFill>
              </a:rPr>
              <a:t> or </a:t>
            </a:r>
            <a:r>
              <a:rPr lang="en-US" i="1" dirty="0">
                <a:solidFill>
                  <a:schemeClr val="bg1"/>
                </a:solidFill>
              </a:rPr>
              <a:t>“coding”</a:t>
            </a:r>
            <a:r>
              <a:rPr lang="en-US" dirty="0">
                <a:solidFill>
                  <a:schemeClr val="bg1"/>
                </a:solidFill>
              </a:rPr>
              <a:t>, </a:t>
            </a:r>
            <a:r>
              <a:rPr lang="en-US" b="1" dirty="0">
                <a:solidFill>
                  <a:schemeClr val="bg1"/>
                </a:solidFill>
                <a:highlight>
                  <a:srgbClr val="000000"/>
                </a:highlight>
              </a:rPr>
              <a:t>showing that predictions depend on the specific cultural and textual context</a:t>
            </a:r>
            <a:r>
              <a:rPr lang="en-US" dirty="0">
                <a:solidFill>
                  <a:schemeClr val="bg1"/>
                </a:solidFill>
              </a:rPr>
              <a:t>.</a:t>
            </a:r>
          </a:p>
        </p:txBody>
      </p:sp>
      <p:sp>
        <p:nvSpPr>
          <p:cNvPr id="8" name="TextBox 7">
            <a:extLst>
              <a:ext uri="{FF2B5EF4-FFF2-40B4-BE49-F238E27FC236}">
                <a16:creationId xmlns:a16="http://schemas.microsoft.com/office/drawing/2014/main" id="{334512A7-B668-3446-8A6F-6317CFBF3FD4}"/>
              </a:ext>
            </a:extLst>
          </p:cNvPr>
          <p:cNvSpPr txBox="1"/>
          <p:nvPr/>
        </p:nvSpPr>
        <p:spPr>
          <a:xfrm>
            <a:off x="710981" y="5456934"/>
            <a:ext cx="2801476" cy="430887"/>
          </a:xfrm>
          <a:prstGeom prst="rect">
            <a:avLst/>
          </a:prstGeom>
          <a:noFill/>
        </p:spPr>
        <p:txBody>
          <a:bodyPr wrap="square">
            <a:spAutoFit/>
          </a:bodyPr>
          <a:lstStyle/>
          <a:p>
            <a:r>
              <a:rPr lang="en-US" sz="1050" dirty="0">
                <a:solidFill>
                  <a:schemeClr val="bg1"/>
                </a:solidFill>
                <a:hlinkClick r:id="rId4">
                  <a:extLst>
                    <a:ext uri="{A12FA001-AC4F-418D-AE19-62706E023703}">
                      <ahyp:hlinkClr xmlns:ahyp="http://schemas.microsoft.com/office/drawing/2018/hyperlinkcolor" val="tx"/>
                    </a:ext>
                  </a:extLst>
                </a:hlinkClick>
              </a:rPr>
              <a:t>Taken from: Keep Calm and Carry On - Wikipedia</a:t>
            </a:r>
            <a:endParaRPr lang="en-US" sz="1050" dirty="0">
              <a:solidFill>
                <a:schemeClr val="bg1"/>
              </a:solidFill>
            </a:endParaRPr>
          </a:p>
        </p:txBody>
      </p:sp>
    </p:spTree>
    <p:extLst>
      <p:ext uri="{BB962C8B-B14F-4D97-AF65-F5344CB8AC3E}">
        <p14:creationId xmlns:p14="http://schemas.microsoft.com/office/powerpoint/2010/main" val="45458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8AC16-DD96-56EB-2158-A0C66723E2B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DB31187-86A0-2052-AE2F-18B2A5429DF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B9918FFD-426A-6724-5535-F6F64A650297}"/>
              </a:ext>
            </a:extLst>
          </p:cNvPr>
          <p:cNvSpPr txBox="1">
            <a:spLocks/>
          </p:cNvSpPr>
          <p:nvPr/>
        </p:nvSpPr>
        <p:spPr>
          <a:xfrm>
            <a:off x="891589" y="501651"/>
            <a:ext cx="3489911"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dirty="0">
                <a:ln>
                  <a:noFill/>
                </a:ln>
                <a:solidFill>
                  <a:srgbClr val="FF0000"/>
                </a:solidFill>
                <a:effectLst/>
                <a:uLnTx/>
                <a:uFillTx/>
                <a:latin typeface="Aptos SemiBold" panose="020F0502020204030204" pitchFamily="34" charset="0"/>
                <a:ea typeface="+mj-ea"/>
                <a:cs typeface="+mj-cs"/>
              </a:rPr>
              <a:t>LLMs</a:t>
            </a:r>
          </a:p>
        </p:txBody>
      </p:sp>
      <p:sp>
        <p:nvSpPr>
          <p:cNvPr id="5" name="Slide Number Placeholder 2">
            <a:extLst>
              <a:ext uri="{FF2B5EF4-FFF2-40B4-BE49-F238E27FC236}">
                <a16:creationId xmlns:a16="http://schemas.microsoft.com/office/drawing/2014/main" id="{5109C3EF-A5F3-F28D-9B28-75628686721B}"/>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2038168B-A17E-5E2B-84BE-EF98FA042884}"/>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grpSp>
        <p:nvGrpSpPr>
          <p:cNvPr id="163" name="Group 162">
            <a:extLst>
              <a:ext uri="{FF2B5EF4-FFF2-40B4-BE49-F238E27FC236}">
                <a16:creationId xmlns:a16="http://schemas.microsoft.com/office/drawing/2014/main" id="{9FB25BAA-C85F-6477-D296-4301E3C17525}"/>
              </a:ext>
            </a:extLst>
          </p:cNvPr>
          <p:cNvGrpSpPr/>
          <p:nvPr/>
        </p:nvGrpSpPr>
        <p:grpSpPr>
          <a:xfrm>
            <a:off x="2096477" y="3086989"/>
            <a:ext cx="3738370" cy="2378826"/>
            <a:chOff x="6557544" y="2252922"/>
            <a:chExt cx="3738370" cy="2378826"/>
          </a:xfrm>
        </p:grpSpPr>
        <p:sp>
          <p:nvSpPr>
            <p:cNvPr id="140" name="Freeform: Shape 139">
              <a:extLst>
                <a:ext uri="{FF2B5EF4-FFF2-40B4-BE49-F238E27FC236}">
                  <a16:creationId xmlns:a16="http://schemas.microsoft.com/office/drawing/2014/main" id="{C23A7C4C-6F66-72ED-C997-053219FEF7F4}"/>
                </a:ext>
              </a:extLst>
            </p:cNvPr>
            <p:cNvSpPr/>
            <p:nvPr/>
          </p:nvSpPr>
          <p:spPr>
            <a:xfrm rot="10800000">
              <a:off x="6557544" y="2252922"/>
              <a:ext cx="3738370" cy="2378826"/>
            </a:xfrm>
            <a:custGeom>
              <a:avLst/>
              <a:gdLst>
                <a:gd name="connsiteX0" fmla="*/ 3736122 w 3738370"/>
                <a:gd name="connsiteY0" fmla="*/ 2036055 h 2378826"/>
                <a:gd name="connsiteX1" fmla="*/ 3734722 w 3738370"/>
                <a:gd name="connsiteY1" fmla="*/ 1901161 h 2378826"/>
                <a:gd name="connsiteX2" fmla="*/ 3727996 w 3738370"/>
                <a:gd name="connsiteY2" fmla="*/ 1224477 h 2378826"/>
                <a:gd name="connsiteX3" fmla="*/ 3723177 w 3738370"/>
                <a:gd name="connsiteY3" fmla="*/ 533743 h 2378826"/>
                <a:gd name="connsiteX4" fmla="*/ 3722949 w 3738370"/>
                <a:gd name="connsiteY4" fmla="*/ 258242 h 2378826"/>
                <a:gd name="connsiteX5" fmla="*/ 3704689 w 3738370"/>
                <a:gd name="connsiteY5" fmla="*/ 116491 h 2378826"/>
                <a:gd name="connsiteX6" fmla="*/ 3580217 w 3738370"/>
                <a:gd name="connsiteY6" fmla="*/ 6248 h 2378826"/>
                <a:gd name="connsiteX7" fmla="*/ 3482509 w 3738370"/>
                <a:gd name="connsiteY7" fmla="*/ 810 h 2378826"/>
                <a:gd name="connsiteX8" fmla="*/ 3388716 w 3738370"/>
                <a:gd name="connsiteY8" fmla="*/ 343 h 2378826"/>
                <a:gd name="connsiteX9" fmla="*/ 3167231 w 3738370"/>
                <a:gd name="connsiteY9" fmla="*/ 0 h 2378826"/>
                <a:gd name="connsiteX10" fmla="*/ 2611609 w 3738370"/>
                <a:gd name="connsiteY10" fmla="*/ 1210 h 2378826"/>
                <a:gd name="connsiteX11" fmla="*/ 1968510 w 3738370"/>
                <a:gd name="connsiteY11" fmla="*/ 4181 h 2378826"/>
                <a:gd name="connsiteX12" fmla="*/ 1310895 w 3738370"/>
                <a:gd name="connsiteY12" fmla="*/ 8039 h 2378826"/>
                <a:gd name="connsiteX13" fmla="*/ 719020 w 3738370"/>
                <a:gd name="connsiteY13" fmla="*/ 11859 h 2378826"/>
                <a:gd name="connsiteX14" fmla="*/ 264449 w 3738370"/>
                <a:gd name="connsiteY14" fmla="*/ 14764 h 2378826"/>
                <a:gd name="connsiteX15" fmla="*/ 178810 w 3738370"/>
                <a:gd name="connsiteY15" fmla="*/ 15497 h 2378826"/>
                <a:gd name="connsiteX16" fmla="*/ 35735 w 3738370"/>
                <a:gd name="connsiteY16" fmla="*/ 84344 h 2378826"/>
                <a:gd name="connsiteX17" fmla="*/ 2312 w 3738370"/>
                <a:gd name="connsiteY17" fmla="*/ 152791 h 2378826"/>
                <a:gd name="connsiteX18" fmla="*/ 388 w 3738370"/>
                <a:gd name="connsiteY18" fmla="*/ 208083 h 2378826"/>
                <a:gd name="connsiteX19" fmla="*/ 16 w 3738370"/>
                <a:gd name="connsiteY19" fmla="*/ 322583 h 2378826"/>
                <a:gd name="connsiteX20" fmla="*/ 2712 w 3738370"/>
                <a:gd name="connsiteY20" fmla="*/ 927316 h 2378826"/>
                <a:gd name="connsiteX21" fmla="*/ 9065 w 3738370"/>
                <a:gd name="connsiteY21" fmla="*/ 1611582 h 2378826"/>
                <a:gd name="connsiteX22" fmla="*/ 14999 w 3738370"/>
                <a:gd name="connsiteY22" fmla="*/ 2155679 h 2378826"/>
                <a:gd name="connsiteX23" fmla="*/ 16485 w 3738370"/>
                <a:gd name="connsiteY23" fmla="*/ 2208076 h 2378826"/>
                <a:gd name="connsiteX24" fmla="*/ 42927 w 3738370"/>
                <a:gd name="connsiteY24" fmla="*/ 2281828 h 2378826"/>
                <a:gd name="connsiteX25" fmla="*/ 156588 w 3738370"/>
                <a:gd name="connsiteY25" fmla="*/ 2377259 h 2378826"/>
                <a:gd name="connsiteX26" fmla="*/ 240303 w 3738370"/>
                <a:gd name="connsiteY26" fmla="*/ 2377478 h 2378826"/>
                <a:gd name="connsiteX27" fmla="*/ 334144 w 3738370"/>
                <a:gd name="connsiteY27" fmla="*/ 2376850 h 2378826"/>
                <a:gd name="connsiteX28" fmla="*/ 825929 w 3738370"/>
                <a:gd name="connsiteY28" fmla="*/ 2373354 h 2378826"/>
                <a:gd name="connsiteX29" fmla="*/ 1447512 w 3738370"/>
                <a:gd name="connsiteY29" fmla="*/ 2368991 h 2378826"/>
                <a:gd name="connsiteX30" fmla="*/ 2115690 w 3738370"/>
                <a:gd name="connsiteY30" fmla="*/ 2363829 h 2378826"/>
                <a:gd name="connsiteX31" fmla="*/ 2754056 w 3738370"/>
                <a:gd name="connsiteY31" fmla="*/ 2359219 h 2378826"/>
                <a:gd name="connsiteX32" fmla="*/ 3284132 w 3738370"/>
                <a:gd name="connsiteY32" fmla="*/ 2354418 h 2378826"/>
                <a:gd name="connsiteX33" fmla="*/ 3413329 w 3738370"/>
                <a:gd name="connsiteY33" fmla="*/ 2353199 h 2378826"/>
                <a:gd name="connsiteX34" fmla="*/ 3435665 w 3738370"/>
                <a:gd name="connsiteY34" fmla="*/ 2357380 h 2378826"/>
                <a:gd name="connsiteX35" fmla="*/ 3620488 w 3738370"/>
                <a:gd name="connsiteY35" fmla="*/ 2317861 h 2378826"/>
                <a:gd name="connsiteX36" fmla="*/ 3647139 w 3738370"/>
                <a:gd name="connsiteY36" fmla="*/ 2298011 h 2378826"/>
                <a:gd name="connsiteX37" fmla="*/ 3734864 w 3738370"/>
                <a:gd name="connsiteY37" fmla="*/ 2160918 h 2378826"/>
                <a:gd name="connsiteX38" fmla="*/ 3736122 w 3738370"/>
                <a:gd name="connsiteY38" fmla="*/ 2036055 h 2378826"/>
                <a:gd name="connsiteX39" fmla="*/ 3683534 w 3738370"/>
                <a:gd name="connsiteY39" fmla="*/ 2075564 h 2378826"/>
                <a:gd name="connsiteX40" fmla="*/ 3627699 w 3738370"/>
                <a:gd name="connsiteY40" fmla="*/ 2037845 h 2378826"/>
                <a:gd name="connsiteX41" fmla="*/ 3566005 w 3738370"/>
                <a:gd name="connsiteY41" fmla="*/ 2021234 h 2378826"/>
                <a:gd name="connsiteX42" fmla="*/ 3537687 w 3738370"/>
                <a:gd name="connsiteY42" fmla="*/ 2025034 h 2378826"/>
                <a:gd name="connsiteX43" fmla="*/ 3537735 w 3738370"/>
                <a:gd name="connsiteY43" fmla="*/ 2013309 h 2378826"/>
                <a:gd name="connsiteX44" fmla="*/ 3533305 w 3738370"/>
                <a:gd name="connsiteY44" fmla="*/ 1543745 h 2378826"/>
                <a:gd name="connsiteX45" fmla="*/ 3523028 w 3738370"/>
                <a:gd name="connsiteY45" fmla="*/ 597998 h 2378826"/>
                <a:gd name="connsiteX46" fmla="*/ 3519914 w 3738370"/>
                <a:gd name="connsiteY46" fmla="*/ 359912 h 2378826"/>
                <a:gd name="connsiteX47" fmla="*/ 3519961 w 3738370"/>
                <a:gd name="connsiteY47" fmla="*/ 338147 h 2378826"/>
                <a:gd name="connsiteX48" fmla="*/ 3561100 w 3738370"/>
                <a:gd name="connsiteY48" fmla="*/ 342738 h 2378826"/>
                <a:gd name="connsiteX49" fmla="*/ 3622621 w 3738370"/>
                <a:gd name="connsiteY49" fmla="*/ 335566 h 2378826"/>
                <a:gd name="connsiteX50" fmla="*/ 3679381 w 3738370"/>
                <a:gd name="connsiteY50" fmla="*/ 312496 h 2378826"/>
                <a:gd name="connsiteX51" fmla="*/ 3690563 w 3738370"/>
                <a:gd name="connsiteY51" fmla="*/ 304152 h 2378826"/>
                <a:gd name="connsiteX52" fmla="*/ 3692649 w 3738370"/>
                <a:gd name="connsiteY52" fmla="*/ 847858 h 2378826"/>
                <a:gd name="connsiteX53" fmla="*/ 3698821 w 3738370"/>
                <a:gd name="connsiteY53" fmla="*/ 1549403 h 2378826"/>
                <a:gd name="connsiteX54" fmla="*/ 3704442 w 3738370"/>
                <a:gd name="connsiteY54" fmla="*/ 2096338 h 2378826"/>
                <a:gd name="connsiteX55" fmla="*/ 3683534 w 3738370"/>
                <a:gd name="connsiteY55" fmla="*/ 2075564 h 2378826"/>
                <a:gd name="connsiteX56" fmla="*/ 995893 w 3738370"/>
                <a:gd name="connsiteY56" fmla="*/ 42367 h 2378826"/>
                <a:gd name="connsiteX57" fmla="*/ 1618619 w 3738370"/>
                <a:gd name="connsiteY57" fmla="*/ 38481 h 2378826"/>
                <a:gd name="connsiteX58" fmla="*/ 2265814 w 3738370"/>
                <a:gd name="connsiteY58" fmla="*/ 34985 h 2378826"/>
                <a:gd name="connsiteX59" fmla="*/ 2868375 w 3738370"/>
                <a:gd name="connsiteY59" fmla="*/ 32728 h 2378826"/>
                <a:gd name="connsiteX60" fmla="*/ 3356541 w 3738370"/>
                <a:gd name="connsiteY60" fmla="*/ 32547 h 2378826"/>
                <a:gd name="connsiteX61" fmla="*/ 3382306 w 3738370"/>
                <a:gd name="connsiteY61" fmla="*/ 32652 h 2378826"/>
                <a:gd name="connsiteX62" fmla="*/ 3363208 w 3738370"/>
                <a:gd name="connsiteY62" fmla="*/ 102213 h 2378826"/>
                <a:gd name="connsiteX63" fmla="*/ 3357664 w 3738370"/>
                <a:gd name="connsiteY63" fmla="*/ 145694 h 2378826"/>
                <a:gd name="connsiteX64" fmla="*/ 3358722 w 3738370"/>
                <a:gd name="connsiteY64" fmla="*/ 167821 h 2378826"/>
                <a:gd name="connsiteX65" fmla="*/ 3259157 w 3738370"/>
                <a:gd name="connsiteY65" fmla="*/ 165706 h 2378826"/>
                <a:gd name="connsiteX66" fmla="*/ 3027519 w 3738370"/>
                <a:gd name="connsiteY66" fmla="*/ 164116 h 2378826"/>
                <a:gd name="connsiteX67" fmla="*/ 2089335 w 3738370"/>
                <a:gd name="connsiteY67" fmla="*/ 169507 h 2378826"/>
                <a:gd name="connsiteX68" fmla="*/ 1146607 w 3738370"/>
                <a:gd name="connsiteY68" fmla="*/ 173898 h 2378826"/>
                <a:gd name="connsiteX69" fmla="*/ 671805 w 3738370"/>
                <a:gd name="connsiteY69" fmla="*/ 178670 h 2378826"/>
                <a:gd name="connsiteX70" fmla="*/ 437528 w 3738370"/>
                <a:gd name="connsiteY70" fmla="*/ 182518 h 2378826"/>
                <a:gd name="connsiteX71" fmla="*/ 381416 w 3738370"/>
                <a:gd name="connsiteY71" fmla="*/ 183623 h 2378826"/>
                <a:gd name="connsiteX72" fmla="*/ 361747 w 3738370"/>
                <a:gd name="connsiteY72" fmla="*/ 183442 h 2378826"/>
                <a:gd name="connsiteX73" fmla="*/ 365272 w 3738370"/>
                <a:gd name="connsiteY73" fmla="*/ 97574 h 2378826"/>
                <a:gd name="connsiteX74" fmla="*/ 347822 w 3738370"/>
                <a:gd name="connsiteY74" fmla="*/ 46549 h 2378826"/>
                <a:gd name="connsiteX75" fmla="*/ 472028 w 3738370"/>
                <a:gd name="connsiteY75" fmla="*/ 45777 h 2378826"/>
                <a:gd name="connsiteX76" fmla="*/ 995893 w 3738370"/>
                <a:gd name="connsiteY76" fmla="*/ 42367 h 2378826"/>
                <a:gd name="connsiteX77" fmla="*/ 44127 w 3738370"/>
                <a:gd name="connsiteY77" fmla="*/ 1922869 h 2378826"/>
                <a:gd name="connsiteX78" fmla="*/ 38164 w 3738370"/>
                <a:gd name="connsiteY78" fmla="*/ 1295829 h 2378826"/>
                <a:gd name="connsiteX79" fmla="*/ 33116 w 3738370"/>
                <a:gd name="connsiteY79" fmla="*/ 630393 h 2378826"/>
                <a:gd name="connsiteX80" fmla="*/ 32363 w 3738370"/>
                <a:gd name="connsiteY80" fmla="*/ 412671 h 2378826"/>
                <a:gd name="connsiteX81" fmla="*/ 60900 w 3738370"/>
                <a:gd name="connsiteY81" fmla="*/ 431216 h 2378826"/>
                <a:gd name="connsiteX82" fmla="*/ 110754 w 3738370"/>
                <a:gd name="connsiteY82" fmla="*/ 433969 h 2378826"/>
                <a:gd name="connsiteX83" fmla="*/ 199003 w 3738370"/>
                <a:gd name="connsiteY83" fmla="*/ 411651 h 2378826"/>
                <a:gd name="connsiteX84" fmla="*/ 198536 w 3738370"/>
                <a:gd name="connsiteY84" fmla="*/ 632365 h 2378826"/>
                <a:gd name="connsiteX85" fmla="*/ 199984 w 3738370"/>
                <a:gd name="connsiteY85" fmla="*/ 1099404 h 2378826"/>
                <a:gd name="connsiteX86" fmla="*/ 216053 w 3738370"/>
                <a:gd name="connsiteY86" fmla="*/ 2004308 h 2378826"/>
                <a:gd name="connsiteX87" fmla="*/ 111364 w 3738370"/>
                <a:gd name="connsiteY87" fmla="*/ 2019786 h 2378826"/>
                <a:gd name="connsiteX88" fmla="*/ 47165 w 3738370"/>
                <a:gd name="connsiteY88" fmla="*/ 2097929 h 2378826"/>
                <a:gd name="connsiteX89" fmla="*/ 45793 w 3738370"/>
                <a:gd name="connsiteY89" fmla="*/ 2099634 h 2378826"/>
                <a:gd name="connsiteX90" fmla="*/ 44127 w 3738370"/>
                <a:gd name="connsiteY90" fmla="*/ 1922869 h 2378826"/>
                <a:gd name="connsiteX91" fmla="*/ 593691 w 3738370"/>
                <a:gd name="connsiteY91" fmla="*/ 2344598 h 2378826"/>
                <a:gd name="connsiteX92" fmla="*/ 371320 w 3738370"/>
                <a:gd name="connsiteY92" fmla="*/ 2345884 h 2378826"/>
                <a:gd name="connsiteX93" fmla="*/ 394589 w 3738370"/>
                <a:gd name="connsiteY93" fmla="*/ 2276580 h 2378826"/>
                <a:gd name="connsiteX94" fmla="*/ 385017 w 3738370"/>
                <a:gd name="connsiteY94" fmla="*/ 2212448 h 2378826"/>
                <a:gd name="connsiteX95" fmla="*/ 383216 w 3738370"/>
                <a:gd name="connsiteY95" fmla="*/ 2209333 h 2378826"/>
                <a:gd name="connsiteX96" fmla="*/ 404400 w 3738370"/>
                <a:gd name="connsiteY96" fmla="*/ 2210143 h 2378826"/>
                <a:gd name="connsiteX97" fmla="*/ 522234 w 3738370"/>
                <a:gd name="connsiteY97" fmla="*/ 2212943 h 2378826"/>
                <a:gd name="connsiteX98" fmla="*/ 985282 w 3738370"/>
                <a:gd name="connsiteY98" fmla="*/ 2209371 h 2378826"/>
                <a:gd name="connsiteX99" fmla="*/ 1212996 w 3738370"/>
                <a:gd name="connsiteY99" fmla="*/ 2207933 h 2378826"/>
                <a:gd name="connsiteX100" fmla="*/ 1221302 w 3738370"/>
                <a:gd name="connsiteY100" fmla="*/ 2205628 h 2378826"/>
                <a:gd name="connsiteX101" fmla="*/ 1222884 w 3738370"/>
                <a:gd name="connsiteY101" fmla="*/ 2217610 h 2378826"/>
                <a:gd name="connsiteX102" fmla="*/ 1226560 w 3738370"/>
                <a:gd name="connsiteY102" fmla="*/ 2242737 h 2378826"/>
                <a:gd name="connsiteX103" fmla="*/ 1234647 w 3738370"/>
                <a:gd name="connsiteY103" fmla="*/ 2265845 h 2378826"/>
                <a:gd name="connsiteX104" fmla="*/ 1234066 w 3738370"/>
                <a:gd name="connsiteY104" fmla="*/ 2265855 h 2378826"/>
                <a:gd name="connsiteX105" fmla="*/ 1163800 w 3738370"/>
                <a:gd name="connsiteY105" fmla="*/ 2268103 h 2378826"/>
                <a:gd name="connsiteX106" fmla="*/ 1125967 w 3738370"/>
                <a:gd name="connsiteY106" fmla="*/ 2279952 h 2378826"/>
                <a:gd name="connsiteX107" fmla="*/ 1107593 w 3738370"/>
                <a:gd name="connsiteY107" fmla="*/ 2315832 h 2378826"/>
                <a:gd name="connsiteX108" fmla="*/ 1106098 w 3738370"/>
                <a:gd name="connsiteY108" fmla="*/ 2341607 h 2378826"/>
                <a:gd name="connsiteX109" fmla="*/ 593691 w 3738370"/>
                <a:gd name="connsiteY109" fmla="*/ 2344598 h 2378826"/>
                <a:gd name="connsiteX110" fmla="*/ 1688056 w 3738370"/>
                <a:gd name="connsiteY110" fmla="*/ 2093500 h 2378826"/>
                <a:gd name="connsiteX111" fmla="*/ 1695409 w 3738370"/>
                <a:gd name="connsiteY111" fmla="*/ 2129847 h 2378826"/>
                <a:gd name="connsiteX112" fmla="*/ 1704658 w 3738370"/>
                <a:gd name="connsiteY112" fmla="*/ 2177053 h 2378826"/>
                <a:gd name="connsiteX113" fmla="*/ 1729518 w 3738370"/>
                <a:gd name="connsiteY113" fmla="*/ 2257463 h 2378826"/>
                <a:gd name="connsiteX114" fmla="*/ 1728775 w 3738370"/>
                <a:gd name="connsiteY114" fmla="*/ 2257473 h 2378826"/>
                <a:gd name="connsiteX115" fmla="*/ 1333545 w 3738370"/>
                <a:gd name="connsiteY115" fmla="*/ 2264236 h 2378826"/>
                <a:gd name="connsiteX116" fmla="*/ 1254764 w 3738370"/>
                <a:gd name="connsiteY116" fmla="*/ 2265502 h 2378826"/>
                <a:gd name="connsiteX117" fmla="*/ 1255887 w 3738370"/>
                <a:gd name="connsiteY117" fmla="*/ 2263616 h 2378826"/>
                <a:gd name="connsiteX118" fmla="*/ 1252964 w 3738370"/>
                <a:gd name="connsiteY118" fmla="*/ 2212991 h 2378826"/>
                <a:gd name="connsiteX119" fmla="*/ 1248058 w 3738370"/>
                <a:gd name="connsiteY119" fmla="*/ 2168347 h 2378826"/>
                <a:gd name="connsiteX120" fmla="*/ 1241124 w 3738370"/>
                <a:gd name="connsiteY120" fmla="*/ 2104949 h 2378826"/>
                <a:gd name="connsiteX121" fmla="*/ 1251696 w 3738370"/>
                <a:gd name="connsiteY121" fmla="*/ 2101520 h 2378826"/>
                <a:gd name="connsiteX122" fmla="*/ 1292473 w 3738370"/>
                <a:gd name="connsiteY122" fmla="*/ 2093014 h 2378826"/>
                <a:gd name="connsiteX123" fmla="*/ 1384142 w 3738370"/>
                <a:gd name="connsiteY123" fmla="*/ 2084899 h 2378826"/>
                <a:gd name="connsiteX124" fmla="*/ 1588139 w 3738370"/>
                <a:gd name="connsiteY124" fmla="*/ 2090557 h 2378826"/>
                <a:gd name="connsiteX125" fmla="*/ 1683998 w 3738370"/>
                <a:gd name="connsiteY125" fmla="*/ 2093976 h 2378826"/>
                <a:gd name="connsiteX126" fmla="*/ 1688056 w 3738370"/>
                <a:gd name="connsiteY126" fmla="*/ 2093500 h 2378826"/>
                <a:gd name="connsiteX127" fmla="*/ 1756141 w 3738370"/>
                <a:gd name="connsiteY127" fmla="*/ 2242166 h 2378826"/>
                <a:gd name="connsiteX128" fmla="*/ 1741196 w 3738370"/>
                <a:gd name="connsiteY128" fmla="*/ 2201752 h 2378826"/>
                <a:gd name="connsiteX129" fmla="*/ 1748178 w 3738370"/>
                <a:gd name="connsiteY129" fmla="*/ 2203285 h 2378826"/>
                <a:gd name="connsiteX130" fmla="*/ 1979635 w 3738370"/>
                <a:gd name="connsiteY130" fmla="*/ 2201913 h 2378826"/>
                <a:gd name="connsiteX131" fmla="*/ 1985264 w 3738370"/>
                <a:gd name="connsiteY131" fmla="*/ 2200894 h 2378826"/>
                <a:gd name="connsiteX132" fmla="*/ 2136903 w 3738370"/>
                <a:gd name="connsiteY132" fmla="*/ 2252291 h 2378826"/>
                <a:gd name="connsiteX133" fmla="*/ 2125806 w 3738370"/>
                <a:gd name="connsiteY133" fmla="*/ 2252405 h 2378826"/>
                <a:gd name="connsiteX134" fmla="*/ 1756064 w 3738370"/>
                <a:gd name="connsiteY134" fmla="*/ 2257101 h 2378826"/>
                <a:gd name="connsiteX135" fmla="*/ 1756141 w 3738370"/>
                <a:gd name="connsiteY135" fmla="*/ 2242166 h 2378826"/>
                <a:gd name="connsiteX136" fmla="*/ 2299866 w 3738370"/>
                <a:gd name="connsiteY136" fmla="*/ 2192750 h 2378826"/>
                <a:gd name="connsiteX137" fmla="*/ 2299180 w 3738370"/>
                <a:gd name="connsiteY137" fmla="*/ 2242509 h 2378826"/>
                <a:gd name="connsiteX138" fmla="*/ 2299513 w 3738370"/>
                <a:gd name="connsiteY138" fmla="*/ 2250681 h 2378826"/>
                <a:gd name="connsiteX139" fmla="*/ 2188976 w 3738370"/>
                <a:gd name="connsiteY139" fmla="*/ 2251758 h 2378826"/>
                <a:gd name="connsiteX140" fmla="*/ 2178965 w 3738370"/>
                <a:gd name="connsiteY140" fmla="*/ 2232346 h 2378826"/>
                <a:gd name="connsiteX141" fmla="*/ 1984721 w 3738370"/>
                <a:gd name="connsiteY141" fmla="*/ 2167814 h 2378826"/>
                <a:gd name="connsiteX142" fmla="*/ 1987217 w 3738370"/>
                <a:gd name="connsiteY142" fmla="*/ 2138953 h 2378826"/>
                <a:gd name="connsiteX143" fmla="*/ 1990170 w 3738370"/>
                <a:gd name="connsiteY143" fmla="*/ 2116931 h 2378826"/>
                <a:gd name="connsiteX144" fmla="*/ 1994361 w 3738370"/>
                <a:gd name="connsiteY144" fmla="*/ 2094424 h 2378826"/>
                <a:gd name="connsiteX145" fmla="*/ 2014087 w 3738370"/>
                <a:gd name="connsiteY145" fmla="*/ 2103377 h 2378826"/>
                <a:gd name="connsiteX146" fmla="*/ 2054073 w 3738370"/>
                <a:gd name="connsiteY146" fmla="*/ 2118312 h 2378826"/>
                <a:gd name="connsiteX147" fmla="*/ 2123348 w 3738370"/>
                <a:gd name="connsiteY147" fmla="*/ 2140972 h 2378826"/>
                <a:gd name="connsiteX148" fmla="*/ 2237611 w 3738370"/>
                <a:gd name="connsiteY148" fmla="*/ 2175653 h 2378826"/>
                <a:gd name="connsiteX149" fmla="*/ 2299866 w 3738370"/>
                <a:gd name="connsiteY149" fmla="*/ 2192750 h 2378826"/>
                <a:gd name="connsiteX150" fmla="*/ 1925962 w 3738370"/>
                <a:gd name="connsiteY150" fmla="*/ 2149202 h 2378826"/>
                <a:gd name="connsiteX151" fmla="*/ 1960500 w 3738370"/>
                <a:gd name="connsiteY151" fmla="*/ 2141068 h 2378826"/>
                <a:gd name="connsiteX152" fmla="*/ 1959966 w 3738370"/>
                <a:gd name="connsiteY152" fmla="*/ 2160137 h 2378826"/>
                <a:gd name="connsiteX153" fmla="*/ 1956289 w 3738370"/>
                <a:gd name="connsiteY153" fmla="*/ 2158013 h 2378826"/>
                <a:gd name="connsiteX154" fmla="*/ 1901349 w 3738370"/>
                <a:gd name="connsiteY154" fmla="*/ 2146030 h 2378826"/>
                <a:gd name="connsiteX155" fmla="*/ 1897673 w 3738370"/>
                <a:gd name="connsiteY155" fmla="*/ 2143944 h 2378826"/>
                <a:gd name="connsiteX156" fmla="*/ 1925962 w 3738370"/>
                <a:gd name="connsiteY156" fmla="*/ 2149202 h 2378826"/>
                <a:gd name="connsiteX157" fmla="*/ 2452818 w 3738370"/>
                <a:gd name="connsiteY157" fmla="*/ 2336406 h 2378826"/>
                <a:gd name="connsiteX158" fmla="*/ 1802346 w 3738370"/>
                <a:gd name="connsiteY158" fmla="*/ 2338273 h 2378826"/>
                <a:gd name="connsiteX159" fmla="*/ 1156218 w 3738370"/>
                <a:gd name="connsiteY159" fmla="*/ 2341302 h 2378826"/>
                <a:gd name="connsiteX160" fmla="*/ 1116594 w 3738370"/>
                <a:gd name="connsiteY160" fmla="*/ 2341531 h 2378826"/>
                <a:gd name="connsiteX161" fmla="*/ 1126967 w 3738370"/>
                <a:gd name="connsiteY161" fmla="*/ 2296916 h 2378826"/>
                <a:gd name="connsiteX162" fmla="*/ 1158418 w 3738370"/>
                <a:gd name="connsiteY162" fmla="*/ 2282143 h 2378826"/>
                <a:gd name="connsiteX163" fmla="*/ 1217168 w 3738370"/>
                <a:gd name="connsiteY163" fmla="*/ 2280419 h 2378826"/>
                <a:gd name="connsiteX164" fmla="*/ 1312895 w 3738370"/>
                <a:gd name="connsiteY164" fmla="*/ 2279723 h 2378826"/>
                <a:gd name="connsiteX165" fmla="*/ 1692923 w 3738370"/>
                <a:gd name="connsiteY165" fmla="*/ 2275094 h 2378826"/>
                <a:gd name="connsiteX166" fmla="*/ 2072866 w 3738370"/>
                <a:gd name="connsiteY166" fmla="*/ 2270065 h 2378826"/>
                <a:gd name="connsiteX167" fmla="*/ 2455476 w 3738370"/>
                <a:gd name="connsiteY167" fmla="*/ 2267484 h 2378826"/>
                <a:gd name="connsiteX168" fmla="*/ 2542363 w 3738370"/>
                <a:gd name="connsiteY168" fmla="*/ 2267207 h 2378826"/>
                <a:gd name="connsiteX169" fmla="*/ 2597017 w 3738370"/>
                <a:gd name="connsiteY169" fmla="*/ 2267350 h 2378826"/>
                <a:gd name="connsiteX170" fmla="*/ 2634793 w 3738370"/>
                <a:gd name="connsiteY170" fmla="*/ 2276875 h 2378826"/>
                <a:gd name="connsiteX171" fmla="*/ 2663521 w 3738370"/>
                <a:gd name="connsiteY171" fmla="*/ 2309317 h 2378826"/>
                <a:gd name="connsiteX172" fmla="*/ 2675513 w 3738370"/>
                <a:gd name="connsiteY172" fmla="*/ 2336340 h 2378826"/>
                <a:gd name="connsiteX173" fmla="*/ 2452818 w 3738370"/>
                <a:gd name="connsiteY173" fmla="*/ 2336406 h 2378826"/>
                <a:gd name="connsiteX174" fmla="*/ 3037558 w 3738370"/>
                <a:gd name="connsiteY174" fmla="*/ 2337206 h 2378826"/>
                <a:gd name="connsiteX175" fmla="*/ 2694182 w 3738370"/>
                <a:gd name="connsiteY175" fmla="*/ 2336359 h 2378826"/>
                <a:gd name="connsiteX176" fmla="*/ 2693667 w 3738370"/>
                <a:gd name="connsiteY176" fmla="*/ 2333149 h 2378826"/>
                <a:gd name="connsiteX177" fmla="*/ 2631545 w 3738370"/>
                <a:gd name="connsiteY177" fmla="*/ 2254853 h 2378826"/>
                <a:gd name="connsiteX178" fmla="*/ 2525684 w 3738370"/>
                <a:gd name="connsiteY178" fmla="*/ 2248910 h 2378826"/>
                <a:gd name="connsiteX179" fmla="*/ 2328860 w 3738370"/>
                <a:gd name="connsiteY179" fmla="*/ 2250405 h 2378826"/>
                <a:gd name="connsiteX180" fmla="*/ 2328222 w 3738370"/>
                <a:gd name="connsiteY180" fmla="*/ 2176367 h 2378826"/>
                <a:gd name="connsiteX181" fmla="*/ 2325564 w 3738370"/>
                <a:gd name="connsiteY181" fmla="*/ 2170786 h 2378826"/>
                <a:gd name="connsiteX182" fmla="*/ 2317497 w 3738370"/>
                <a:gd name="connsiteY182" fmla="*/ 2165652 h 2378826"/>
                <a:gd name="connsiteX183" fmla="*/ 2071409 w 3738370"/>
                <a:gd name="connsiteY183" fmla="*/ 2094033 h 2378826"/>
                <a:gd name="connsiteX184" fmla="*/ 2026412 w 3738370"/>
                <a:gd name="connsiteY184" fmla="*/ 2082622 h 2378826"/>
                <a:gd name="connsiteX185" fmla="*/ 2000114 w 3738370"/>
                <a:gd name="connsiteY185" fmla="*/ 2078250 h 2378826"/>
                <a:gd name="connsiteX186" fmla="*/ 1977873 w 3738370"/>
                <a:gd name="connsiteY186" fmla="*/ 2079098 h 2378826"/>
                <a:gd name="connsiteX187" fmla="*/ 1976997 w 3738370"/>
                <a:gd name="connsiteY187" fmla="*/ 2081717 h 2378826"/>
                <a:gd name="connsiteX188" fmla="*/ 1972168 w 3738370"/>
                <a:gd name="connsiteY188" fmla="*/ 2084851 h 2378826"/>
                <a:gd name="connsiteX189" fmla="*/ 1963748 w 3738370"/>
                <a:gd name="connsiteY189" fmla="*/ 2102577 h 2378826"/>
                <a:gd name="connsiteX190" fmla="*/ 1886157 w 3738370"/>
                <a:gd name="connsiteY190" fmla="*/ 2088261 h 2378826"/>
                <a:gd name="connsiteX191" fmla="*/ 1871555 w 3738370"/>
                <a:gd name="connsiteY191" fmla="*/ 2094205 h 2378826"/>
                <a:gd name="connsiteX192" fmla="*/ 1866393 w 3738370"/>
                <a:gd name="connsiteY192" fmla="*/ 2106054 h 2378826"/>
                <a:gd name="connsiteX193" fmla="*/ 1861716 w 3738370"/>
                <a:gd name="connsiteY193" fmla="*/ 2117188 h 2378826"/>
                <a:gd name="connsiteX194" fmla="*/ 1862725 w 3738370"/>
                <a:gd name="connsiteY194" fmla="*/ 2122865 h 2378826"/>
                <a:gd name="connsiteX195" fmla="*/ 1882851 w 3738370"/>
                <a:gd name="connsiteY195" fmla="*/ 2163661 h 2378826"/>
                <a:gd name="connsiteX196" fmla="*/ 1900330 w 3738370"/>
                <a:gd name="connsiteY196" fmla="*/ 2171691 h 2378826"/>
                <a:gd name="connsiteX197" fmla="*/ 1748187 w 3738370"/>
                <a:gd name="connsiteY197" fmla="*/ 2172595 h 2378826"/>
                <a:gd name="connsiteX198" fmla="*/ 1736176 w 3738370"/>
                <a:gd name="connsiteY198" fmla="*/ 2178634 h 2378826"/>
                <a:gd name="connsiteX199" fmla="*/ 1733700 w 3738370"/>
                <a:gd name="connsiteY199" fmla="*/ 2165985 h 2378826"/>
                <a:gd name="connsiteX200" fmla="*/ 1725032 w 3738370"/>
                <a:gd name="connsiteY200" fmla="*/ 2121694 h 2378826"/>
                <a:gd name="connsiteX201" fmla="*/ 1710535 w 3738370"/>
                <a:gd name="connsiteY201" fmla="*/ 2077888 h 2378826"/>
                <a:gd name="connsiteX202" fmla="*/ 1697705 w 3738370"/>
                <a:gd name="connsiteY202" fmla="*/ 2072488 h 2378826"/>
                <a:gd name="connsiteX203" fmla="*/ 1684017 w 3738370"/>
                <a:gd name="connsiteY203" fmla="*/ 2063296 h 2378826"/>
                <a:gd name="connsiteX204" fmla="*/ 1292207 w 3738370"/>
                <a:gd name="connsiteY204" fmla="*/ 2062115 h 2378826"/>
                <a:gd name="connsiteX205" fmla="*/ 1246096 w 3738370"/>
                <a:gd name="connsiteY205" fmla="*/ 2073631 h 2378826"/>
                <a:gd name="connsiteX206" fmla="*/ 1233780 w 3738370"/>
                <a:gd name="connsiteY206" fmla="*/ 2078155 h 2378826"/>
                <a:gd name="connsiteX207" fmla="*/ 1221778 w 3738370"/>
                <a:gd name="connsiteY207" fmla="*/ 2081994 h 2378826"/>
                <a:gd name="connsiteX208" fmla="*/ 1221141 w 3738370"/>
                <a:gd name="connsiteY208" fmla="*/ 2084651 h 2378826"/>
                <a:gd name="connsiteX209" fmla="*/ 1211073 w 3738370"/>
                <a:gd name="connsiteY209" fmla="*/ 2098043 h 2378826"/>
                <a:gd name="connsiteX210" fmla="*/ 1216349 w 3738370"/>
                <a:gd name="connsiteY210" fmla="*/ 2107340 h 2378826"/>
                <a:gd name="connsiteX211" fmla="*/ 1217254 w 3738370"/>
                <a:gd name="connsiteY211" fmla="*/ 2107645 h 2378826"/>
                <a:gd name="connsiteX212" fmla="*/ 1217521 w 3738370"/>
                <a:gd name="connsiteY212" fmla="*/ 2170062 h 2378826"/>
                <a:gd name="connsiteX213" fmla="*/ 1218245 w 3738370"/>
                <a:gd name="connsiteY213" fmla="*/ 2178091 h 2378826"/>
                <a:gd name="connsiteX214" fmla="*/ 1213006 w 3738370"/>
                <a:gd name="connsiteY214" fmla="*/ 2177234 h 2378826"/>
                <a:gd name="connsiteX215" fmla="*/ 760569 w 3738370"/>
                <a:gd name="connsiteY215" fmla="*/ 2181987 h 2378826"/>
                <a:gd name="connsiteX216" fmla="*/ 535331 w 3738370"/>
                <a:gd name="connsiteY216" fmla="*/ 2182406 h 2378826"/>
                <a:gd name="connsiteX217" fmla="*/ 424069 w 3738370"/>
                <a:gd name="connsiteY217" fmla="*/ 2180092 h 2378826"/>
                <a:gd name="connsiteX218" fmla="*/ 368358 w 3738370"/>
                <a:gd name="connsiteY218" fmla="*/ 2178053 h 2378826"/>
                <a:gd name="connsiteX219" fmla="*/ 312522 w 3738370"/>
                <a:gd name="connsiteY219" fmla="*/ 2173548 h 2378826"/>
                <a:gd name="connsiteX220" fmla="*/ 282461 w 3738370"/>
                <a:gd name="connsiteY220" fmla="*/ 2142496 h 2378826"/>
                <a:gd name="connsiteX221" fmla="*/ 255467 w 3738370"/>
                <a:gd name="connsiteY221" fmla="*/ 2101348 h 2378826"/>
                <a:gd name="connsiteX222" fmla="*/ 248238 w 3738370"/>
                <a:gd name="connsiteY222" fmla="*/ 2053533 h 2378826"/>
                <a:gd name="connsiteX223" fmla="*/ 246438 w 3738370"/>
                <a:gd name="connsiteY223" fmla="*/ 1994230 h 2378826"/>
                <a:gd name="connsiteX224" fmla="*/ 240427 w 3738370"/>
                <a:gd name="connsiteY224" fmla="*/ 1763763 h 2378826"/>
                <a:gd name="connsiteX225" fmla="*/ 232693 w 3738370"/>
                <a:gd name="connsiteY225" fmla="*/ 1309859 h 2378826"/>
                <a:gd name="connsiteX226" fmla="*/ 229750 w 3738370"/>
                <a:gd name="connsiteY226" fmla="*/ 401936 h 2378826"/>
                <a:gd name="connsiteX227" fmla="*/ 229969 w 3738370"/>
                <a:gd name="connsiteY227" fmla="*/ 345929 h 2378826"/>
                <a:gd name="connsiteX228" fmla="*/ 236551 w 3738370"/>
                <a:gd name="connsiteY228" fmla="*/ 292770 h 2378826"/>
                <a:gd name="connsiteX229" fmla="*/ 292253 w 3738370"/>
                <a:gd name="connsiteY229" fmla="*/ 234934 h 2378826"/>
                <a:gd name="connsiteX230" fmla="*/ 326295 w 3738370"/>
                <a:gd name="connsiteY230" fmla="*/ 219046 h 2378826"/>
                <a:gd name="connsiteX231" fmla="*/ 381436 w 3738370"/>
                <a:gd name="connsiteY231" fmla="*/ 214351 h 2378826"/>
                <a:gd name="connsiteX232" fmla="*/ 493659 w 3738370"/>
                <a:gd name="connsiteY232" fmla="*/ 212207 h 2378826"/>
                <a:gd name="connsiteX233" fmla="*/ 952136 w 3738370"/>
                <a:gd name="connsiteY233" fmla="*/ 206169 h 2378826"/>
                <a:gd name="connsiteX234" fmla="*/ 1865154 w 3738370"/>
                <a:gd name="connsiteY234" fmla="*/ 201263 h 2378826"/>
                <a:gd name="connsiteX235" fmla="*/ 2772906 w 3738370"/>
                <a:gd name="connsiteY235" fmla="*/ 195853 h 2378826"/>
                <a:gd name="connsiteX236" fmla="*/ 3223334 w 3738370"/>
                <a:gd name="connsiteY236" fmla="*/ 195910 h 2378826"/>
                <a:gd name="connsiteX237" fmla="*/ 3337319 w 3738370"/>
                <a:gd name="connsiteY237" fmla="*/ 197958 h 2378826"/>
                <a:gd name="connsiteX238" fmla="*/ 3393479 w 3738370"/>
                <a:gd name="connsiteY238" fmla="*/ 199892 h 2378826"/>
                <a:gd name="connsiteX239" fmla="*/ 3439380 w 3738370"/>
                <a:gd name="connsiteY239" fmla="*/ 219828 h 2378826"/>
                <a:gd name="connsiteX240" fmla="*/ 3485566 w 3738370"/>
                <a:gd name="connsiteY240" fmla="*/ 283836 h 2378826"/>
                <a:gd name="connsiteX241" fmla="*/ 3488815 w 3738370"/>
                <a:gd name="connsiteY241" fmla="*/ 330156 h 2378826"/>
                <a:gd name="connsiteX242" fmla="*/ 3489624 w 3738370"/>
                <a:gd name="connsiteY242" fmla="*/ 389677 h 2378826"/>
                <a:gd name="connsiteX243" fmla="*/ 3500254 w 3738370"/>
                <a:gd name="connsiteY243" fmla="*/ 1305659 h 2378826"/>
                <a:gd name="connsiteX244" fmla="*/ 3504693 w 3738370"/>
                <a:gd name="connsiteY244" fmla="*/ 1762001 h 2378826"/>
                <a:gd name="connsiteX245" fmla="*/ 3506826 w 3738370"/>
                <a:gd name="connsiteY245" fmla="*/ 1990173 h 2378826"/>
                <a:gd name="connsiteX246" fmla="*/ 3495358 w 3738370"/>
                <a:gd name="connsiteY246" fmla="*/ 2083146 h 2378826"/>
                <a:gd name="connsiteX247" fmla="*/ 3441751 w 3738370"/>
                <a:gd name="connsiteY247" fmla="*/ 2141725 h 2378826"/>
                <a:gd name="connsiteX248" fmla="*/ 3425245 w 3738370"/>
                <a:gd name="connsiteY248" fmla="*/ 2151240 h 2378826"/>
                <a:gd name="connsiteX249" fmla="*/ 3410929 w 3738370"/>
                <a:gd name="connsiteY249" fmla="*/ 2152774 h 2378826"/>
                <a:gd name="connsiteX250" fmla="*/ 3378524 w 3738370"/>
                <a:gd name="connsiteY250" fmla="*/ 2156289 h 2378826"/>
                <a:gd name="connsiteX251" fmla="*/ 3311516 w 3738370"/>
                <a:gd name="connsiteY251" fmla="*/ 2161165 h 2378826"/>
                <a:gd name="connsiteX252" fmla="*/ 3179880 w 3738370"/>
                <a:gd name="connsiteY252" fmla="*/ 2163880 h 2378826"/>
                <a:gd name="connsiteX253" fmla="*/ 2912409 w 3738370"/>
                <a:gd name="connsiteY253" fmla="*/ 2161403 h 2378826"/>
                <a:gd name="connsiteX254" fmla="*/ 2788556 w 3738370"/>
                <a:gd name="connsiteY254" fmla="*/ 2167928 h 2378826"/>
                <a:gd name="connsiteX255" fmla="*/ 2568338 w 3738370"/>
                <a:gd name="connsiteY255" fmla="*/ 2168319 h 2378826"/>
                <a:gd name="connsiteX256" fmla="*/ 2345928 w 3738370"/>
                <a:gd name="connsiteY256" fmla="*/ 2169004 h 2378826"/>
                <a:gd name="connsiteX257" fmla="*/ 2345928 w 3738370"/>
                <a:gd name="connsiteY257" fmla="*/ 2199713 h 2378826"/>
                <a:gd name="connsiteX258" fmla="*/ 3283675 w 3738370"/>
                <a:gd name="connsiteY258" fmla="*/ 2198389 h 2378826"/>
                <a:gd name="connsiteX259" fmla="*/ 3355950 w 3738370"/>
                <a:gd name="connsiteY259" fmla="*/ 2199637 h 2378826"/>
                <a:gd name="connsiteX260" fmla="*/ 3354359 w 3738370"/>
                <a:gd name="connsiteY260" fmla="*/ 2208486 h 2378826"/>
                <a:gd name="connsiteX261" fmla="*/ 3351131 w 3738370"/>
                <a:gd name="connsiteY261" fmla="*/ 2236851 h 2378826"/>
                <a:gd name="connsiteX262" fmla="*/ 3358646 w 3738370"/>
                <a:gd name="connsiteY262" fmla="*/ 2288305 h 2378826"/>
                <a:gd name="connsiteX263" fmla="*/ 3386554 w 3738370"/>
                <a:gd name="connsiteY263" fmla="*/ 2332492 h 2378826"/>
                <a:gd name="connsiteX264" fmla="*/ 3396507 w 3738370"/>
                <a:gd name="connsiteY264" fmla="*/ 2341617 h 2378826"/>
                <a:gd name="connsiteX265" fmla="*/ 3037558 w 3738370"/>
                <a:gd name="connsiteY265" fmla="*/ 2337206 h 237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Lst>
              <a:rect l="l" t="t" r="r" b="b"/>
              <a:pathLst>
                <a:path w="3738370" h="2378826">
                  <a:moveTo>
                    <a:pt x="3736122" y="2036055"/>
                  </a:moveTo>
                  <a:cubicBezTo>
                    <a:pt x="3735665" y="1991087"/>
                    <a:pt x="3735188" y="1946129"/>
                    <a:pt x="3734722" y="1901161"/>
                  </a:cubicBezTo>
                  <a:cubicBezTo>
                    <a:pt x="3732378" y="1675600"/>
                    <a:pt x="3730035" y="1450038"/>
                    <a:pt x="3727996" y="1224477"/>
                  </a:cubicBezTo>
                  <a:cubicBezTo>
                    <a:pt x="3725920" y="994239"/>
                    <a:pt x="3724044" y="763991"/>
                    <a:pt x="3723177" y="533743"/>
                  </a:cubicBezTo>
                  <a:cubicBezTo>
                    <a:pt x="3722834" y="441912"/>
                    <a:pt x="3722634" y="350082"/>
                    <a:pt x="3722949" y="258242"/>
                  </a:cubicBezTo>
                  <a:cubicBezTo>
                    <a:pt x="3723120" y="209445"/>
                    <a:pt x="3725063" y="162239"/>
                    <a:pt x="3704689" y="116491"/>
                  </a:cubicBezTo>
                  <a:cubicBezTo>
                    <a:pt x="3681600" y="64637"/>
                    <a:pt x="3635966" y="20612"/>
                    <a:pt x="3580217" y="6248"/>
                  </a:cubicBezTo>
                  <a:cubicBezTo>
                    <a:pt x="3548955" y="-1810"/>
                    <a:pt x="3514608" y="1019"/>
                    <a:pt x="3482509" y="810"/>
                  </a:cubicBezTo>
                  <a:cubicBezTo>
                    <a:pt x="3451248" y="610"/>
                    <a:pt x="3419987" y="457"/>
                    <a:pt x="3388716" y="343"/>
                  </a:cubicBezTo>
                  <a:cubicBezTo>
                    <a:pt x="3314888" y="76"/>
                    <a:pt x="3241060" y="0"/>
                    <a:pt x="3167231" y="0"/>
                  </a:cubicBezTo>
                  <a:cubicBezTo>
                    <a:pt x="2982027" y="10"/>
                    <a:pt x="2796814" y="533"/>
                    <a:pt x="2611609" y="1210"/>
                  </a:cubicBezTo>
                  <a:cubicBezTo>
                    <a:pt x="2397240" y="1991"/>
                    <a:pt x="2182880" y="3029"/>
                    <a:pt x="1968510" y="4181"/>
                  </a:cubicBezTo>
                  <a:cubicBezTo>
                    <a:pt x="1749301" y="5363"/>
                    <a:pt x="1530103" y="6667"/>
                    <a:pt x="1310895" y="8039"/>
                  </a:cubicBezTo>
                  <a:cubicBezTo>
                    <a:pt x="1113603" y="9277"/>
                    <a:pt x="916312" y="10563"/>
                    <a:pt x="719020" y="11859"/>
                  </a:cubicBezTo>
                  <a:cubicBezTo>
                    <a:pt x="567497" y="12849"/>
                    <a:pt x="415973" y="13859"/>
                    <a:pt x="264449" y="14764"/>
                  </a:cubicBezTo>
                  <a:cubicBezTo>
                    <a:pt x="236017" y="14935"/>
                    <a:pt x="207185" y="13745"/>
                    <a:pt x="178810" y="15497"/>
                  </a:cubicBezTo>
                  <a:cubicBezTo>
                    <a:pt x="125823" y="18774"/>
                    <a:pt x="70682" y="43929"/>
                    <a:pt x="35735" y="84344"/>
                  </a:cubicBezTo>
                  <a:cubicBezTo>
                    <a:pt x="18838" y="103889"/>
                    <a:pt x="6351" y="127092"/>
                    <a:pt x="2312" y="152791"/>
                  </a:cubicBezTo>
                  <a:cubicBezTo>
                    <a:pt x="-536" y="170926"/>
                    <a:pt x="502" y="189767"/>
                    <a:pt x="388" y="208083"/>
                  </a:cubicBezTo>
                  <a:cubicBezTo>
                    <a:pt x="150" y="246250"/>
                    <a:pt x="54" y="284416"/>
                    <a:pt x="16" y="322583"/>
                  </a:cubicBezTo>
                  <a:cubicBezTo>
                    <a:pt x="-165" y="524161"/>
                    <a:pt x="1188" y="725748"/>
                    <a:pt x="2712" y="927316"/>
                  </a:cubicBezTo>
                  <a:cubicBezTo>
                    <a:pt x="4436" y="1155411"/>
                    <a:pt x="6608" y="1383497"/>
                    <a:pt x="9065" y="1611582"/>
                  </a:cubicBezTo>
                  <a:cubicBezTo>
                    <a:pt x="11018" y="1792948"/>
                    <a:pt x="13132" y="1974313"/>
                    <a:pt x="14999" y="2155679"/>
                  </a:cubicBezTo>
                  <a:cubicBezTo>
                    <a:pt x="15180" y="2173043"/>
                    <a:pt x="14294" y="2190836"/>
                    <a:pt x="16485" y="2208076"/>
                  </a:cubicBezTo>
                  <a:cubicBezTo>
                    <a:pt x="19790" y="2234108"/>
                    <a:pt x="30039" y="2259120"/>
                    <a:pt x="42927" y="2281828"/>
                  </a:cubicBezTo>
                  <a:cubicBezTo>
                    <a:pt x="66358" y="2323100"/>
                    <a:pt x="106230" y="2371163"/>
                    <a:pt x="156588" y="2377259"/>
                  </a:cubicBezTo>
                  <a:cubicBezTo>
                    <a:pt x="183811" y="2380555"/>
                    <a:pt x="212900" y="2377659"/>
                    <a:pt x="240303" y="2377478"/>
                  </a:cubicBezTo>
                  <a:cubicBezTo>
                    <a:pt x="271583" y="2377278"/>
                    <a:pt x="302864" y="2377068"/>
                    <a:pt x="334144" y="2376850"/>
                  </a:cubicBezTo>
                  <a:cubicBezTo>
                    <a:pt x="498069" y="2375735"/>
                    <a:pt x="662004" y="2374535"/>
                    <a:pt x="825929" y="2373354"/>
                  </a:cubicBezTo>
                  <a:cubicBezTo>
                    <a:pt x="1033127" y="2371868"/>
                    <a:pt x="1240315" y="2370392"/>
                    <a:pt x="1447512" y="2368991"/>
                  </a:cubicBezTo>
                  <a:cubicBezTo>
                    <a:pt x="1670244" y="2367487"/>
                    <a:pt x="1892967" y="2365439"/>
                    <a:pt x="2115690" y="2363829"/>
                  </a:cubicBezTo>
                  <a:cubicBezTo>
                    <a:pt x="2328479" y="2362286"/>
                    <a:pt x="2541267" y="2360876"/>
                    <a:pt x="2754056" y="2359219"/>
                  </a:cubicBezTo>
                  <a:cubicBezTo>
                    <a:pt x="2930764" y="2357847"/>
                    <a:pt x="3107443" y="2356342"/>
                    <a:pt x="3284132" y="2354418"/>
                  </a:cubicBezTo>
                  <a:cubicBezTo>
                    <a:pt x="3327194" y="2353952"/>
                    <a:pt x="3370257" y="2353551"/>
                    <a:pt x="3413329" y="2353199"/>
                  </a:cubicBezTo>
                  <a:cubicBezTo>
                    <a:pt x="3420673" y="2356971"/>
                    <a:pt x="3428369" y="2359009"/>
                    <a:pt x="3435665" y="2357380"/>
                  </a:cubicBezTo>
                  <a:cubicBezTo>
                    <a:pt x="3516113" y="2381021"/>
                    <a:pt x="3576492" y="2356961"/>
                    <a:pt x="3620488" y="2317861"/>
                  </a:cubicBezTo>
                  <a:cubicBezTo>
                    <a:pt x="3629699" y="2311708"/>
                    <a:pt x="3638595" y="2305069"/>
                    <a:pt x="3647139" y="2298011"/>
                  </a:cubicBezTo>
                  <a:cubicBezTo>
                    <a:pt x="3688554" y="2263750"/>
                    <a:pt x="3725691" y="2215058"/>
                    <a:pt x="3734864" y="2160918"/>
                  </a:cubicBezTo>
                  <a:cubicBezTo>
                    <a:pt x="3741675" y="2120760"/>
                    <a:pt x="3736541" y="2076688"/>
                    <a:pt x="3736122" y="2036055"/>
                  </a:cubicBezTo>
                  <a:close/>
                  <a:moveTo>
                    <a:pt x="3683534" y="2075564"/>
                  </a:moveTo>
                  <a:cubicBezTo>
                    <a:pt x="3666779" y="2060553"/>
                    <a:pt x="3648034" y="2047513"/>
                    <a:pt x="3627699" y="2037845"/>
                  </a:cubicBezTo>
                  <a:cubicBezTo>
                    <a:pt x="3608553" y="2028749"/>
                    <a:pt x="3587446" y="2021319"/>
                    <a:pt x="3566005" y="2021234"/>
                  </a:cubicBezTo>
                  <a:cubicBezTo>
                    <a:pt x="3556661" y="2021195"/>
                    <a:pt x="3546755" y="2022177"/>
                    <a:pt x="3537687" y="2025034"/>
                  </a:cubicBezTo>
                  <a:cubicBezTo>
                    <a:pt x="3537763" y="2021167"/>
                    <a:pt x="3537773" y="2017262"/>
                    <a:pt x="3537735" y="2013309"/>
                  </a:cubicBezTo>
                  <a:cubicBezTo>
                    <a:pt x="3536277" y="1856784"/>
                    <a:pt x="3534820" y="1700260"/>
                    <a:pt x="3533305" y="1543745"/>
                  </a:cubicBezTo>
                  <a:cubicBezTo>
                    <a:pt x="3530258" y="1228496"/>
                    <a:pt x="3526981" y="913238"/>
                    <a:pt x="3523028" y="597998"/>
                  </a:cubicBezTo>
                  <a:cubicBezTo>
                    <a:pt x="3522038" y="518636"/>
                    <a:pt x="3520999" y="439274"/>
                    <a:pt x="3519914" y="359912"/>
                  </a:cubicBezTo>
                  <a:cubicBezTo>
                    <a:pt x="3519818" y="352739"/>
                    <a:pt x="3519895" y="345462"/>
                    <a:pt x="3519961" y="338147"/>
                  </a:cubicBezTo>
                  <a:cubicBezTo>
                    <a:pt x="3532772" y="342624"/>
                    <a:pt x="3548450" y="342700"/>
                    <a:pt x="3561100" y="342738"/>
                  </a:cubicBezTo>
                  <a:cubicBezTo>
                    <a:pt x="3581636" y="342795"/>
                    <a:pt x="3602629" y="340176"/>
                    <a:pt x="3622621" y="335566"/>
                  </a:cubicBezTo>
                  <a:cubicBezTo>
                    <a:pt x="3642405" y="331003"/>
                    <a:pt x="3662427" y="323840"/>
                    <a:pt x="3679381" y="312496"/>
                  </a:cubicBezTo>
                  <a:cubicBezTo>
                    <a:pt x="3683229" y="309924"/>
                    <a:pt x="3686991" y="307143"/>
                    <a:pt x="3690563" y="304152"/>
                  </a:cubicBezTo>
                  <a:cubicBezTo>
                    <a:pt x="3690202" y="485384"/>
                    <a:pt x="3691373" y="666626"/>
                    <a:pt x="3692649" y="847858"/>
                  </a:cubicBezTo>
                  <a:cubicBezTo>
                    <a:pt x="3694287" y="1081707"/>
                    <a:pt x="3696479" y="1315555"/>
                    <a:pt x="3698821" y="1549403"/>
                  </a:cubicBezTo>
                  <a:cubicBezTo>
                    <a:pt x="3700650" y="1731712"/>
                    <a:pt x="3702613" y="1914020"/>
                    <a:pt x="3704442" y="2096338"/>
                  </a:cubicBezTo>
                  <a:cubicBezTo>
                    <a:pt x="3697907" y="2088747"/>
                    <a:pt x="3690506" y="2081822"/>
                    <a:pt x="3683534" y="2075564"/>
                  </a:cubicBezTo>
                  <a:close/>
                  <a:moveTo>
                    <a:pt x="995893" y="42367"/>
                  </a:moveTo>
                  <a:cubicBezTo>
                    <a:pt x="1203471" y="41024"/>
                    <a:pt x="1411040" y="39710"/>
                    <a:pt x="1618619" y="38481"/>
                  </a:cubicBezTo>
                  <a:cubicBezTo>
                    <a:pt x="1834350" y="37205"/>
                    <a:pt x="2050082" y="36014"/>
                    <a:pt x="2265814" y="34985"/>
                  </a:cubicBezTo>
                  <a:cubicBezTo>
                    <a:pt x="2466668" y="34033"/>
                    <a:pt x="2667521" y="33214"/>
                    <a:pt x="2868375" y="32728"/>
                  </a:cubicBezTo>
                  <a:cubicBezTo>
                    <a:pt x="3031100" y="32328"/>
                    <a:pt x="3193816" y="32090"/>
                    <a:pt x="3356541" y="32547"/>
                  </a:cubicBezTo>
                  <a:cubicBezTo>
                    <a:pt x="3365133" y="32575"/>
                    <a:pt x="3373715" y="32614"/>
                    <a:pt x="3382306" y="32652"/>
                  </a:cubicBezTo>
                  <a:cubicBezTo>
                    <a:pt x="3373352" y="54959"/>
                    <a:pt x="3367599" y="78657"/>
                    <a:pt x="3363208" y="102213"/>
                  </a:cubicBezTo>
                  <a:cubicBezTo>
                    <a:pt x="3360532" y="116548"/>
                    <a:pt x="3358207" y="131102"/>
                    <a:pt x="3357664" y="145694"/>
                  </a:cubicBezTo>
                  <a:cubicBezTo>
                    <a:pt x="3357398" y="152905"/>
                    <a:pt x="3357227" y="160601"/>
                    <a:pt x="3358722" y="167821"/>
                  </a:cubicBezTo>
                  <a:cubicBezTo>
                    <a:pt x="3325537" y="166954"/>
                    <a:pt x="3292352" y="166230"/>
                    <a:pt x="3259157" y="165706"/>
                  </a:cubicBezTo>
                  <a:cubicBezTo>
                    <a:pt x="3181947" y="164487"/>
                    <a:pt x="3104738" y="164097"/>
                    <a:pt x="3027519" y="164116"/>
                  </a:cubicBezTo>
                  <a:cubicBezTo>
                    <a:pt x="2714784" y="164211"/>
                    <a:pt x="2402069" y="167869"/>
                    <a:pt x="2089335" y="169507"/>
                  </a:cubicBezTo>
                  <a:cubicBezTo>
                    <a:pt x="1775095" y="171155"/>
                    <a:pt x="1460846" y="171745"/>
                    <a:pt x="1146607" y="173898"/>
                  </a:cubicBezTo>
                  <a:cubicBezTo>
                    <a:pt x="988330" y="174984"/>
                    <a:pt x="830063" y="176460"/>
                    <a:pt x="671805" y="178670"/>
                  </a:cubicBezTo>
                  <a:cubicBezTo>
                    <a:pt x="593709" y="179765"/>
                    <a:pt x="515624" y="181032"/>
                    <a:pt x="437528" y="182518"/>
                  </a:cubicBezTo>
                  <a:cubicBezTo>
                    <a:pt x="418821" y="182870"/>
                    <a:pt x="400114" y="183242"/>
                    <a:pt x="381416" y="183623"/>
                  </a:cubicBezTo>
                  <a:cubicBezTo>
                    <a:pt x="375063" y="183756"/>
                    <a:pt x="368434" y="183547"/>
                    <a:pt x="361747" y="183442"/>
                  </a:cubicBezTo>
                  <a:cubicBezTo>
                    <a:pt x="367910" y="155572"/>
                    <a:pt x="368891" y="125749"/>
                    <a:pt x="365272" y="97574"/>
                  </a:cubicBezTo>
                  <a:cubicBezTo>
                    <a:pt x="363147" y="81010"/>
                    <a:pt x="358633" y="60608"/>
                    <a:pt x="347822" y="46549"/>
                  </a:cubicBezTo>
                  <a:cubicBezTo>
                    <a:pt x="389227" y="46291"/>
                    <a:pt x="430623" y="46044"/>
                    <a:pt x="472028" y="45777"/>
                  </a:cubicBezTo>
                  <a:cubicBezTo>
                    <a:pt x="646650" y="44663"/>
                    <a:pt x="821271" y="43501"/>
                    <a:pt x="995893" y="42367"/>
                  </a:cubicBezTo>
                  <a:close/>
                  <a:moveTo>
                    <a:pt x="44127" y="1922869"/>
                  </a:moveTo>
                  <a:cubicBezTo>
                    <a:pt x="42088" y="1713852"/>
                    <a:pt x="40107" y="1504845"/>
                    <a:pt x="38164" y="1295829"/>
                  </a:cubicBezTo>
                  <a:cubicBezTo>
                    <a:pt x="36097" y="1074020"/>
                    <a:pt x="34230" y="852211"/>
                    <a:pt x="33116" y="630393"/>
                  </a:cubicBezTo>
                  <a:cubicBezTo>
                    <a:pt x="32754" y="557822"/>
                    <a:pt x="32468" y="485242"/>
                    <a:pt x="32363" y="412671"/>
                  </a:cubicBezTo>
                  <a:cubicBezTo>
                    <a:pt x="36611" y="422367"/>
                    <a:pt x="51756" y="428635"/>
                    <a:pt x="60900" y="431216"/>
                  </a:cubicBezTo>
                  <a:cubicBezTo>
                    <a:pt x="77064" y="435778"/>
                    <a:pt x="94190" y="435683"/>
                    <a:pt x="110754" y="433969"/>
                  </a:cubicBezTo>
                  <a:cubicBezTo>
                    <a:pt x="141310" y="430816"/>
                    <a:pt x="170743" y="423129"/>
                    <a:pt x="199003" y="411651"/>
                  </a:cubicBezTo>
                  <a:cubicBezTo>
                    <a:pt x="198746" y="485223"/>
                    <a:pt x="198584" y="558794"/>
                    <a:pt x="198536" y="632365"/>
                  </a:cubicBezTo>
                  <a:cubicBezTo>
                    <a:pt x="198441" y="788051"/>
                    <a:pt x="198860" y="943728"/>
                    <a:pt x="199984" y="1099404"/>
                  </a:cubicBezTo>
                  <a:cubicBezTo>
                    <a:pt x="202175" y="1401080"/>
                    <a:pt x="207090" y="1702746"/>
                    <a:pt x="216053" y="2004308"/>
                  </a:cubicBezTo>
                  <a:cubicBezTo>
                    <a:pt x="180668" y="2001698"/>
                    <a:pt x="144053" y="2005413"/>
                    <a:pt x="111364" y="2019786"/>
                  </a:cubicBezTo>
                  <a:cubicBezTo>
                    <a:pt x="79645" y="2033740"/>
                    <a:pt x="51832" y="2062543"/>
                    <a:pt x="47165" y="2097929"/>
                  </a:cubicBezTo>
                  <a:cubicBezTo>
                    <a:pt x="46698" y="2098491"/>
                    <a:pt x="46241" y="2099062"/>
                    <a:pt x="45793" y="2099634"/>
                  </a:cubicBezTo>
                  <a:cubicBezTo>
                    <a:pt x="45260" y="2040722"/>
                    <a:pt x="44698" y="1981800"/>
                    <a:pt x="44127" y="1922869"/>
                  </a:cubicBezTo>
                  <a:close/>
                  <a:moveTo>
                    <a:pt x="593691" y="2344598"/>
                  </a:moveTo>
                  <a:cubicBezTo>
                    <a:pt x="519567" y="2345036"/>
                    <a:pt x="445444" y="2345465"/>
                    <a:pt x="371320" y="2345884"/>
                  </a:cubicBezTo>
                  <a:cubicBezTo>
                    <a:pt x="389694" y="2330463"/>
                    <a:pt x="393780" y="2298897"/>
                    <a:pt x="394589" y="2276580"/>
                  </a:cubicBezTo>
                  <a:cubicBezTo>
                    <a:pt x="395361" y="2255063"/>
                    <a:pt x="393294" y="2232451"/>
                    <a:pt x="385017" y="2212448"/>
                  </a:cubicBezTo>
                  <a:cubicBezTo>
                    <a:pt x="384541" y="2211295"/>
                    <a:pt x="383931" y="2210257"/>
                    <a:pt x="383216" y="2209333"/>
                  </a:cubicBezTo>
                  <a:cubicBezTo>
                    <a:pt x="390275" y="2209610"/>
                    <a:pt x="397333" y="2209895"/>
                    <a:pt x="404400" y="2210143"/>
                  </a:cubicBezTo>
                  <a:cubicBezTo>
                    <a:pt x="443662" y="2211515"/>
                    <a:pt x="482943" y="2212400"/>
                    <a:pt x="522234" y="2212943"/>
                  </a:cubicBezTo>
                  <a:cubicBezTo>
                    <a:pt x="676596" y="2215048"/>
                    <a:pt x="830939" y="2211562"/>
                    <a:pt x="985282" y="2209371"/>
                  </a:cubicBezTo>
                  <a:cubicBezTo>
                    <a:pt x="1061187" y="2208295"/>
                    <a:pt x="1137092" y="2207571"/>
                    <a:pt x="1212996" y="2207933"/>
                  </a:cubicBezTo>
                  <a:cubicBezTo>
                    <a:pt x="1216331" y="2207952"/>
                    <a:pt x="1219093" y="2207076"/>
                    <a:pt x="1221302" y="2205628"/>
                  </a:cubicBezTo>
                  <a:cubicBezTo>
                    <a:pt x="1221817" y="2209629"/>
                    <a:pt x="1222341" y="2213620"/>
                    <a:pt x="1222884" y="2217610"/>
                  </a:cubicBezTo>
                  <a:cubicBezTo>
                    <a:pt x="1224017" y="2226002"/>
                    <a:pt x="1225226" y="2234375"/>
                    <a:pt x="1226560" y="2242737"/>
                  </a:cubicBezTo>
                  <a:cubicBezTo>
                    <a:pt x="1227951" y="2251462"/>
                    <a:pt x="1228475" y="2259140"/>
                    <a:pt x="1234647" y="2265845"/>
                  </a:cubicBezTo>
                  <a:cubicBezTo>
                    <a:pt x="1234456" y="2265845"/>
                    <a:pt x="1234256" y="2265855"/>
                    <a:pt x="1234066" y="2265855"/>
                  </a:cubicBezTo>
                  <a:cubicBezTo>
                    <a:pt x="1210730" y="2266274"/>
                    <a:pt x="1187050" y="2265826"/>
                    <a:pt x="1163800" y="2268103"/>
                  </a:cubicBezTo>
                  <a:cubicBezTo>
                    <a:pt x="1150617" y="2269398"/>
                    <a:pt x="1136749" y="2271675"/>
                    <a:pt x="1125967" y="2279952"/>
                  </a:cubicBezTo>
                  <a:cubicBezTo>
                    <a:pt x="1114756" y="2288562"/>
                    <a:pt x="1109555" y="2302202"/>
                    <a:pt x="1107593" y="2315832"/>
                  </a:cubicBezTo>
                  <a:cubicBezTo>
                    <a:pt x="1106364" y="2324386"/>
                    <a:pt x="1106040" y="2332987"/>
                    <a:pt x="1106098" y="2341607"/>
                  </a:cubicBezTo>
                  <a:cubicBezTo>
                    <a:pt x="935295" y="2342588"/>
                    <a:pt x="764493" y="2343598"/>
                    <a:pt x="593691" y="2344598"/>
                  </a:cubicBezTo>
                  <a:close/>
                  <a:moveTo>
                    <a:pt x="1688056" y="2093500"/>
                  </a:moveTo>
                  <a:cubicBezTo>
                    <a:pt x="1689046" y="2105749"/>
                    <a:pt x="1692971" y="2118027"/>
                    <a:pt x="1695409" y="2129847"/>
                  </a:cubicBezTo>
                  <a:cubicBezTo>
                    <a:pt x="1698648" y="2145554"/>
                    <a:pt x="1701515" y="2161337"/>
                    <a:pt x="1704658" y="2177053"/>
                  </a:cubicBezTo>
                  <a:cubicBezTo>
                    <a:pt x="1710125" y="2204380"/>
                    <a:pt x="1715888" y="2232841"/>
                    <a:pt x="1729518" y="2257463"/>
                  </a:cubicBezTo>
                  <a:cubicBezTo>
                    <a:pt x="1729271" y="2257463"/>
                    <a:pt x="1729023" y="2257473"/>
                    <a:pt x="1728775" y="2257473"/>
                  </a:cubicBezTo>
                  <a:cubicBezTo>
                    <a:pt x="1597025" y="2259378"/>
                    <a:pt x="1465285" y="2261873"/>
                    <a:pt x="1333545" y="2264236"/>
                  </a:cubicBezTo>
                  <a:cubicBezTo>
                    <a:pt x="1307284" y="2264712"/>
                    <a:pt x="1281024" y="2265083"/>
                    <a:pt x="1254764" y="2265502"/>
                  </a:cubicBezTo>
                  <a:cubicBezTo>
                    <a:pt x="1255192" y="2264921"/>
                    <a:pt x="1255583" y="2264312"/>
                    <a:pt x="1255887" y="2263616"/>
                  </a:cubicBezTo>
                  <a:cubicBezTo>
                    <a:pt x="1262470" y="2248710"/>
                    <a:pt x="1255097" y="2228783"/>
                    <a:pt x="1252964" y="2212991"/>
                  </a:cubicBezTo>
                  <a:cubicBezTo>
                    <a:pt x="1250954" y="2198142"/>
                    <a:pt x="1249610" y="2183244"/>
                    <a:pt x="1248058" y="2168347"/>
                  </a:cubicBezTo>
                  <a:cubicBezTo>
                    <a:pt x="1245886" y="2147516"/>
                    <a:pt x="1244534" y="2125913"/>
                    <a:pt x="1241124" y="2104949"/>
                  </a:cubicBezTo>
                  <a:cubicBezTo>
                    <a:pt x="1244819" y="2103692"/>
                    <a:pt x="1248401" y="2102387"/>
                    <a:pt x="1251696" y="2101520"/>
                  </a:cubicBezTo>
                  <a:cubicBezTo>
                    <a:pt x="1265079" y="2097996"/>
                    <a:pt x="1278852" y="2095424"/>
                    <a:pt x="1292473" y="2093014"/>
                  </a:cubicBezTo>
                  <a:cubicBezTo>
                    <a:pt x="1322696" y="2087670"/>
                    <a:pt x="1353500" y="2085766"/>
                    <a:pt x="1384142" y="2084899"/>
                  </a:cubicBezTo>
                  <a:cubicBezTo>
                    <a:pt x="1452179" y="2082965"/>
                    <a:pt x="1520225" y="2087032"/>
                    <a:pt x="1588139" y="2090557"/>
                  </a:cubicBezTo>
                  <a:cubicBezTo>
                    <a:pt x="1620066" y="2092214"/>
                    <a:pt x="1652023" y="2093938"/>
                    <a:pt x="1683998" y="2093976"/>
                  </a:cubicBezTo>
                  <a:cubicBezTo>
                    <a:pt x="1685465" y="2093995"/>
                    <a:pt x="1686808" y="2093814"/>
                    <a:pt x="1688056" y="2093500"/>
                  </a:cubicBezTo>
                  <a:close/>
                  <a:moveTo>
                    <a:pt x="1756141" y="2242166"/>
                  </a:moveTo>
                  <a:cubicBezTo>
                    <a:pt x="1749207" y="2229698"/>
                    <a:pt x="1744692" y="2215868"/>
                    <a:pt x="1741196" y="2201752"/>
                  </a:cubicBezTo>
                  <a:cubicBezTo>
                    <a:pt x="1743158" y="2202733"/>
                    <a:pt x="1745482" y="2203304"/>
                    <a:pt x="1748178" y="2203285"/>
                  </a:cubicBezTo>
                  <a:cubicBezTo>
                    <a:pt x="1825330" y="2202809"/>
                    <a:pt x="1902483" y="2202352"/>
                    <a:pt x="1979635" y="2201913"/>
                  </a:cubicBezTo>
                  <a:cubicBezTo>
                    <a:pt x="1981740" y="2201904"/>
                    <a:pt x="1983607" y="2201523"/>
                    <a:pt x="1985264" y="2200894"/>
                  </a:cubicBezTo>
                  <a:cubicBezTo>
                    <a:pt x="2034918" y="2220544"/>
                    <a:pt x="2085648" y="2237299"/>
                    <a:pt x="2136903" y="2252291"/>
                  </a:cubicBezTo>
                  <a:cubicBezTo>
                    <a:pt x="2133207" y="2252329"/>
                    <a:pt x="2129511" y="2252367"/>
                    <a:pt x="2125806" y="2252405"/>
                  </a:cubicBezTo>
                  <a:cubicBezTo>
                    <a:pt x="2002552" y="2253701"/>
                    <a:pt x="1879309" y="2255330"/>
                    <a:pt x="1756064" y="2257101"/>
                  </a:cubicBezTo>
                  <a:cubicBezTo>
                    <a:pt x="1758589" y="2252958"/>
                    <a:pt x="1759189" y="2247662"/>
                    <a:pt x="1756141" y="2242166"/>
                  </a:cubicBezTo>
                  <a:close/>
                  <a:moveTo>
                    <a:pt x="2299866" y="2192750"/>
                  </a:moveTo>
                  <a:cubicBezTo>
                    <a:pt x="2302142" y="2209286"/>
                    <a:pt x="2302657" y="2226097"/>
                    <a:pt x="2299180" y="2242509"/>
                  </a:cubicBezTo>
                  <a:cubicBezTo>
                    <a:pt x="2298542" y="2245528"/>
                    <a:pt x="2298723" y="2248272"/>
                    <a:pt x="2299513" y="2250681"/>
                  </a:cubicBezTo>
                  <a:cubicBezTo>
                    <a:pt x="2262671" y="2251024"/>
                    <a:pt x="2225818" y="2251386"/>
                    <a:pt x="2188976" y="2251758"/>
                  </a:cubicBezTo>
                  <a:cubicBezTo>
                    <a:pt x="2191357" y="2244223"/>
                    <a:pt x="2188766" y="2235070"/>
                    <a:pt x="2178965" y="2232346"/>
                  </a:cubicBezTo>
                  <a:cubicBezTo>
                    <a:pt x="2113185" y="2214086"/>
                    <a:pt x="2048054" y="2193379"/>
                    <a:pt x="1984721" y="2167814"/>
                  </a:cubicBezTo>
                  <a:cubicBezTo>
                    <a:pt x="1985684" y="2158213"/>
                    <a:pt x="1986198" y="2148554"/>
                    <a:pt x="1987217" y="2138953"/>
                  </a:cubicBezTo>
                  <a:cubicBezTo>
                    <a:pt x="1987998" y="2131600"/>
                    <a:pt x="1988922" y="2124228"/>
                    <a:pt x="1990170" y="2116931"/>
                  </a:cubicBezTo>
                  <a:cubicBezTo>
                    <a:pt x="1991370" y="2109912"/>
                    <a:pt x="1994923" y="2101568"/>
                    <a:pt x="1994361" y="2094424"/>
                  </a:cubicBezTo>
                  <a:cubicBezTo>
                    <a:pt x="2000857" y="2097615"/>
                    <a:pt x="2007401" y="2100558"/>
                    <a:pt x="2014087" y="2103377"/>
                  </a:cubicBezTo>
                  <a:cubicBezTo>
                    <a:pt x="2027136" y="2108883"/>
                    <a:pt x="2040643" y="2113798"/>
                    <a:pt x="2054073" y="2118312"/>
                  </a:cubicBezTo>
                  <a:cubicBezTo>
                    <a:pt x="2077095" y="2126056"/>
                    <a:pt x="2100270" y="2133381"/>
                    <a:pt x="2123348" y="2140972"/>
                  </a:cubicBezTo>
                  <a:cubicBezTo>
                    <a:pt x="2161134" y="2153402"/>
                    <a:pt x="2199377" y="2164709"/>
                    <a:pt x="2237611" y="2175653"/>
                  </a:cubicBezTo>
                  <a:cubicBezTo>
                    <a:pt x="2258299" y="2181578"/>
                    <a:pt x="2279063" y="2187245"/>
                    <a:pt x="2299866" y="2192750"/>
                  </a:cubicBezTo>
                  <a:close/>
                  <a:moveTo>
                    <a:pt x="1925962" y="2149202"/>
                  </a:moveTo>
                  <a:cubicBezTo>
                    <a:pt x="1938649" y="2149488"/>
                    <a:pt x="1950051" y="2146487"/>
                    <a:pt x="1960500" y="2141068"/>
                  </a:cubicBezTo>
                  <a:cubicBezTo>
                    <a:pt x="1960185" y="2147411"/>
                    <a:pt x="1959957" y="2153784"/>
                    <a:pt x="1959966" y="2160137"/>
                  </a:cubicBezTo>
                  <a:cubicBezTo>
                    <a:pt x="1959014" y="2159213"/>
                    <a:pt x="1957795" y="2158470"/>
                    <a:pt x="1956289" y="2158013"/>
                  </a:cubicBezTo>
                  <a:cubicBezTo>
                    <a:pt x="1938306" y="2152603"/>
                    <a:pt x="1918685" y="2154612"/>
                    <a:pt x="1901349" y="2146030"/>
                  </a:cubicBezTo>
                  <a:cubicBezTo>
                    <a:pt x="1900006" y="2145363"/>
                    <a:pt x="1898796" y="2144668"/>
                    <a:pt x="1897673" y="2143944"/>
                  </a:cubicBezTo>
                  <a:cubicBezTo>
                    <a:pt x="1906769" y="2147040"/>
                    <a:pt x="1916247" y="2148983"/>
                    <a:pt x="1925962" y="2149202"/>
                  </a:cubicBezTo>
                  <a:close/>
                  <a:moveTo>
                    <a:pt x="2452818" y="2336406"/>
                  </a:moveTo>
                  <a:cubicBezTo>
                    <a:pt x="2235991" y="2336854"/>
                    <a:pt x="2019164" y="2337511"/>
                    <a:pt x="1802346" y="2338273"/>
                  </a:cubicBezTo>
                  <a:cubicBezTo>
                    <a:pt x="1586967" y="2339026"/>
                    <a:pt x="1371588" y="2340064"/>
                    <a:pt x="1156218" y="2341302"/>
                  </a:cubicBezTo>
                  <a:cubicBezTo>
                    <a:pt x="1143007" y="2341379"/>
                    <a:pt x="1129805" y="2341455"/>
                    <a:pt x="1116594" y="2341531"/>
                  </a:cubicBezTo>
                  <a:cubicBezTo>
                    <a:pt x="1117118" y="2326529"/>
                    <a:pt x="1118337" y="2309270"/>
                    <a:pt x="1126967" y="2296916"/>
                  </a:cubicBezTo>
                  <a:cubicBezTo>
                    <a:pt x="1134158" y="2286629"/>
                    <a:pt x="1146588" y="2283486"/>
                    <a:pt x="1158418" y="2282143"/>
                  </a:cubicBezTo>
                  <a:cubicBezTo>
                    <a:pt x="1177801" y="2279942"/>
                    <a:pt x="1197690" y="2280637"/>
                    <a:pt x="1217168" y="2280419"/>
                  </a:cubicBezTo>
                  <a:cubicBezTo>
                    <a:pt x="1249077" y="2280056"/>
                    <a:pt x="1280986" y="2279942"/>
                    <a:pt x="1312895" y="2279723"/>
                  </a:cubicBezTo>
                  <a:cubicBezTo>
                    <a:pt x="1439577" y="2278847"/>
                    <a:pt x="1566250" y="2276951"/>
                    <a:pt x="1692923" y="2275094"/>
                  </a:cubicBezTo>
                  <a:cubicBezTo>
                    <a:pt x="1819568" y="2273237"/>
                    <a:pt x="1946212" y="2271494"/>
                    <a:pt x="2072866" y="2270065"/>
                  </a:cubicBezTo>
                  <a:cubicBezTo>
                    <a:pt x="2200396" y="2268627"/>
                    <a:pt x="2327936" y="2267836"/>
                    <a:pt x="2455476" y="2267484"/>
                  </a:cubicBezTo>
                  <a:cubicBezTo>
                    <a:pt x="2484432" y="2267407"/>
                    <a:pt x="2513407" y="2267598"/>
                    <a:pt x="2542363" y="2267207"/>
                  </a:cubicBezTo>
                  <a:cubicBezTo>
                    <a:pt x="2560556" y="2266959"/>
                    <a:pt x="2578843" y="2266160"/>
                    <a:pt x="2597017" y="2267350"/>
                  </a:cubicBezTo>
                  <a:cubicBezTo>
                    <a:pt x="2610000" y="2268207"/>
                    <a:pt x="2623344" y="2270351"/>
                    <a:pt x="2634793" y="2276875"/>
                  </a:cubicBezTo>
                  <a:cubicBezTo>
                    <a:pt x="2647738" y="2284257"/>
                    <a:pt x="2656605" y="2296392"/>
                    <a:pt x="2663521" y="2309317"/>
                  </a:cubicBezTo>
                  <a:cubicBezTo>
                    <a:pt x="2668179" y="2318014"/>
                    <a:pt x="2671998" y="2327139"/>
                    <a:pt x="2675513" y="2336340"/>
                  </a:cubicBezTo>
                  <a:cubicBezTo>
                    <a:pt x="2601284" y="2336263"/>
                    <a:pt x="2527047" y="2336254"/>
                    <a:pt x="2452818" y="2336406"/>
                  </a:cubicBezTo>
                  <a:close/>
                  <a:moveTo>
                    <a:pt x="3037558" y="2337206"/>
                  </a:moveTo>
                  <a:cubicBezTo>
                    <a:pt x="2923096" y="2336816"/>
                    <a:pt x="2808634" y="2336492"/>
                    <a:pt x="2694182" y="2336359"/>
                  </a:cubicBezTo>
                  <a:cubicBezTo>
                    <a:pt x="2694201" y="2335368"/>
                    <a:pt x="2694049" y="2334292"/>
                    <a:pt x="2693667" y="2333149"/>
                  </a:cubicBezTo>
                  <a:cubicBezTo>
                    <a:pt x="2682781" y="2300383"/>
                    <a:pt x="2665893" y="2267322"/>
                    <a:pt x="2631545" y="2254853"/>
                  </a:cubicBezTo>
                  <a:cubicBezTo>
                    <a:pt x="2598732" y="2242947"/>
                    <a:pt x="2559775" y="2248710"/>
                    <a:pt x="2525684" y="2248910"/>
                  </a:cubicBezTo>
                  <a:cubicBezTo>
                    <a:pt x="2460076" y="2249300"/>
                    <a:pt x="2394468" y="2249815"/>
                    <a:pt x="2328860" y="2250405"/>
                  </a:cubicBezTo>
                  <a:cubicBezTo>
                    <a:pt x="2334061" y="2225640"/>
                    <a:pt x="2332460" y="2201151"/>
                    <a:pt x="2328222" y="2176367"/>
                  </a:cubicBezTo>
                  <a:cubicBezTo>
                    <a:pt x="2327860" y="2174243"/>
                    <a:pt x="2326908" y="2172367"/>
                    <a:pt x="2325564" y="2170786"/>
                  </a:cubicBezTo>
                  <a:cubicBezTo>
                    <a:pt x="2323783" y="2168452"/>
                    <a:pt x="2321135" y="2166604"/>
                    <a:pt x="2317497" y="2165652"/>
                  </a:cubicBezTo>
                  <a:cubicBezTo>
                    <a:pt x="2234810" y="2143992"/>
                    <a:pt x="2153495" y="2117769"/>
                    <a:pt x="2071409" y="2094033"/>
                  </a:cubicBezTo>
                  <a:cubicBezTo>
                    <a:pt x="2056559" y="2089737"/>
                    <a:pt x="2041519" y="2085918"/>
                    <a:pt x="2026412" y="2082622"/>
                  </a:cubicBezTo>
                  <a:cubicBezTo>
                    <a:pt x="2017735" y="2080727"/>
                    <a:pt x="2008934" y="2079279"/>
                    <a:pt x="2000114" y="2078250"/>
                  </a:cubicBezTo>
                  <a:cubicBezTo>
                    <a:pt x="1992808" y="2077402"/>
                    <a:pt x="1984541" y="2075298"/>
                    <a:pt x="1977873" y="2079098"/>
                  </a:cubicBezTo>
                  <a:cubicBezTo>
                    <a:pt x="1976930" y="2079631"/>
                    <a:pt x="1976663" y="2080746"/>
                    <a:pt x="1976997" y="2081717"/>
                  </a:cubicBezTo>
                  <a:cubicBezTo>
                    <a:pt x="1975320" y="2082318"/>
                    <a:pt x="1973673" y="2083327"/>
                    <a:pt x="1972168" y="2084851"/>
                  </a:cubicBezTo>
                  <a:cubicBezTo>
                    <a:pt x="1967824" y="2089232"/>
                    <a:pt x="1965291" y="2095595"/>
                    <a:pt x="1963748" y="2102577"/>
                  </a:cubicBezTo>
                  <a:cubicBezTo>
                    <a:pt x="1937906" y="2097710"/>
                    <a:pt x="1911941" y="2093481"/>
                    <a:pt x="1886157" y="2088261"/>
                  </a:cubicBezTo>
                  <a:cubicBezTo>
                    <a:pt x="1880728" y="2087156"/>
                    <a:pt x="1874308" y="2088928"/>
                    <a:pt x="1871555" y="2094205"/>
                  </a:cubicBezTo>
                  <a:cubicBezTo>
                    <a:pt x="1869526" y="2098081"/>
                    <a:pt x="1867783" y="2102053"/>
                    <a:pt x="1866393" y="2106054"/>
                  </a:cubicBezTo>
                  <a:cubicBezTo>
                    <a:pt x="1863268" y="2108864"/>
                    <a:pt x="1862097" y="2112397"/>
                    <a:pt x="1861716" y="2117188"/>
                  </a:cubicBezTo>
                  <a:cubicBezTo>
                    <a:pt x="1861563" y="2119132"/>
                    <a:pt x="1861963" y="2121065"/>
                    <a:pt x="1862725" y="2122865"/>
                  </a:cubicBezTo>
                  <a:cubicBezTo>
                    <a:pt x="1861506" y="2138515"/>
                    <a:pt x="1866973" y="2153336"/>
                    <a:pt x="1882851" y="2163661"/>
                  </a:cubicBezTo>
                  <a:cubicBezTo>
                    <a:pt x="1888195" y="2167138"/>
                    <a:pt x="1894158" y="2169719"/>
                    <a:pt x="1900330" y="2171691"/>
                  </a:cubicBezTo>
                  <a:cubicBezTo>
                    <a:pt x="1849619" y="2171986"/>
                    <a:pt x="1798908" y="2172281"/>
                    <a:pt x="1748187" y="2172595"/>
                  </a:cubicBezTo>
                  <a:cubicBezTo>
                    <a:pt x="1742605" y="2172634"/>
                    <a:pt x="1738605" y="2175101"/>
                    <a:pt x="1736176" y="2178634"/>
                  </a:cubicBezTo>
                  <a:cubicBezTo>
                    <a:pt x="1735338" y="2174386"/>
                    <a:pt x="1734519" y="2170157"/>
                    <a:pt x="1733700" y="2165985"/>
                  </a:cubicBezTo>
                  <a:cubicBezTo>
                    <a:pt x="1730776" y="2151231"/>
                    <a:pt x="1728070" y="2136429"/>
                    <a:pt x="1725032" y="2121694"/>
                  </a:cubicBezTo>
                  <a:cubicBezTo>
                    <a:pt x="1721993" y="2106959"/>
                    <a:pt x="1719765" y="2090261"/>
                    <a:pt x="1710535" y="2077888"/>
                  </a:cubicBezTo>
                  <a:cubicBezTo>
                    <a:pt x="1707163" y="2073374"/>
                    <a:pt x="1702162" y="2071707"/>
                    <a:pt x="1697705" y="2072488"/>
                  </a:cubicBezTo>
                  <a:cubicBezTo>
                    <a:pt x="1695733" y="2067344"/>
                    <a:pt x="1691180" y="2063306"/>
                    <a:pt x="1684017" y="2063296"/>
                  </a:cubicBezTo>
                  <a:cubicBezTo>
                    <a:pt x="1553639" y="2063124"/>
                    <a:pt x="1422051" y="2041617"/>
                    <a:pt x="1292207" y="2062115"/>
                  </a:cubicBezTo>
                  <a:cubicBezTo>
                    <a:pt x="1276405" y="2064610"/>
                    <a:pt x="1261136" y="2068125"/>
                    <a:pt x="1246096" y="2073631"/>
                  </a:cubicBezTo>
                  <a:cubicBezTo>
                    <a:pt x="1242448" y="2074964"/>
                    <a:pt x="1238133" y="2076402"/>
                    <a:pt x="1233780" y="2078155"/>
                  </a:cubicBezTo>
                  <a:cubicBezTo>
                    <a:pt x="1229884" y="2075212"/>
                    <a:pt x="1223217" y="2076469"/>
                    <a:pt x="1221778" y="2081994"/>
                  </a:cubicBezTo>
                  <a:cubicBezTo>
                    <a:pt x="1221550" y="2082870"/>
                    <a:pt x="1221350" y="2083765"/>
                    <a:pt x="1221141" y="2084651"/>
                  </a:cubicBezTo>
                  <a:cubicBezTo>
                    <a:pt x="1216216" y="2088061"/>
                    <a:pt x="1212359" y="2092357"/>
                    <a:pt x="1211073" y="2098043"/>
                  </a:cubicBezTo>
                  <a:cubicBezTo>
                    <a:pt x="1210091" y="2102387"/>
                    <a:pt x="1212406" y="2105739"/>
                    <a:pt x="1216349" y="2107340"/>
                  </a:cubicBezTo>
                  <a:cubicBezTo>
                    <a:pt x="1216644" y="2107463"/>
                    <a:pt x="1216959" y="2107540"/>
                    <a:pt x="1217254" y="2107645"/>
                  </a:cubicBezTo>
                  <a:cubicBezTo>
                    <a:pt x="1215082" y="2128390"/>
                    <a:pt x="1215921" y="2149888"/>
                    <a:pt x="1217521" y="2170062"/>
                  </a:cubicBezTo>
                  <a:cubicBezTo>
                    <a:pt x="1217730" y="2172738"/>
                    <a:pt x="1217987" y="2175415"/>
                    <a:pt x="1218245" y="2178091"/>
                  </a:cubicBezTo>
                  <a:cubicBezTo>
                    <a:pt x="1216683" y="2177548"/>
                    <a:pt x="1214949" y="2177244"/>
                    <a:pt x="1213006" y="2177234"/>
                  </a:cubicBezTo>
                  <a:cubicBezTo>
                    <a:pt x="1062178" y="2176520"/>
                    <a:pt x="911378" y="2180206"/>
                    <a:pt x="760569" y="2181987"/>
                  </a:cubicBezTo>
                  <a:cubicBezTo>
                    <a:pt x="685493" y="2182873"/>
                    <a:pt x="610407" y="2183273"/>
                    <a:pt x="535331" y="2182406"/>
                  </a:cubicBezTo>
                  <a:cubicBezTo>
                    <a:pt x="498241" y="2181977"/>
                    <a:pt x="461150" y="2181234"/>
                    <a:pt x="424069" y="2180092"/>
                  </a:cubicBezTo>
                  <a:cubicBezTo>
                    <a:pt x="405496" y="2179520"/>
                    <a:pt x="386922" y="2178844"/>
                    <a:pt x="368358" y="2178053"/>
                  </a:cubicBezTo>
                  <a:cubicBezTo>
                    <a:pt x="351860" y="2177358"/>
                    <a:pt x="327543" y="2180673"/>
                    <a:pt x="312522" y="2173548"/>
                  </a:cubicBezTo>
                  <a:cubicBezTo>
                    <a:pt x="299663" y="2167452"/>
                    <a:pt x="290472" y="2153574"/>
                    <a:pt x="282461" y="2142496"/>
                  </a:cubicBezTo>
                  <a:cubicBezTo>
                    <a:pt x="272727" y="2129028"/>
                    <a:pt x="262249" y="2116770"/>
                    <a:pt x="255467" y="2101348"/>
                  </a:cubicBezTo>
                  <a:cubicBezTo>
                    <a:pt x="248628" y="2085804"/>
                    <a:pt x="248762" y="2070211"/>
                    <a:pt x="248238" y="2053533"/>
                  </a:cubicBezTo>
                  <a:cubicBezTo>
                    <a:pt x="247619" y="2033768"/>
                    <a:pt x="247019" y="2013995"/>
                    <a:pt x="246438" y="1994230"/>
                  </a:cubicBezTo>
                  <a:cubicBezTo>
                    <a:pt x="244180" y="1917411"/>
                    <a:pt x="242180" y="1840592"/>
                    <a:pt x="240427" y="1763763"/>
                  </a:cubicBezTo>
                  <a:cubicBezTo>
                    <a:pt x="236970" y="1612478"/>
                    <a:pt x="234455" y="1461173"/>
                    <a:pt x="232693" y="1309859"/>
                  </a:cubicBezTo>
                  <a:cubicBezTo>
                    <a:pt x="229169" y="1007231"/>
                    <a:pt x="228683" y="704574"/>
                    <a:pt x="229750" y="401936"/>
                  </a:cubicBezTo>
                  <a:cubicBezTo>
                    <a:pt x="229817" y="383267"/>
                    <a:pt x="229893" y="364598"/>
                    <a:pt x="229969" y="345929"/>
                  </a:cubicBezTo>
                  <a:cubicBezTo>
                    <a:pt x="230045" y="327431"/>
                    <a:pt x="228654" y="309953"/>
                    <a:pt x="236551" y="292770"/>
                  </a:cubicBezTo>
                  <a:cubicBezTo>
                    <a:pt x="248038" y="267748"/>
                    <a:pt x="268774" y="248650"/>
                    <a:pt x="292253" y="234934"/>
                  </a:cubicBezTo>
                  <a:cubicBezTo>
                    <a:pt x="303092" y="228600"/>
                    <a:pt x="314484" y="223285"/>
                    <a:pt x="326295" y="219046"/>
                  </a:cubicBezTo>
                  <a:cubicBezTo>
                    <a:pt x="343659" y="212808"/>
                    <a:pt x="363176" y="214722"/>
                    <a:pt x="381436" y="214351"/>
                  </a:cubicBezTo>
                  <a:cubicBezTo>
                    <a:pt x="418840" y="213589"/>
                    <a:pt x="456254" y="212874"/>
                    <a:pt x="493659" y="212207"/>
                  </a:cubicBezTo>
                  <a:cubicBezTo>
                    <a:pt x="646478" y="209493"/>
                    <a:pt x="799307" y="207588"/>
                    <a:pt x="952136" y="206169"/>
                  </a:cubicBezTo>
                  <a:cubicBezTo>
                    <a:pt x="1256469" y="203349"/>
                    <a:pt x="1560811" y="202511"/>
                    <a:pt x="1865154" y="201263"/>
                  </a:cubicBezTo>
                  <a:cubicBezTo>
                    <a:pt x="2167745" y="200015"/>
                    <a:pt x="2470316" y="197520"/>
                    <a:pt x="2772906" y="195853"/>
                  </a:cubicBezTo>
                  <a:cubicBezTo>
                    <a:pt x="2923048" y="195024"/>
                    <a:pt x="3073200" y="194015"/>
                    <a:pt x="3223334" y="195910"/>
                  </a:cubicBezTo>
                  <a:cubicBezTo>
                    <a:pt x="3261329" y="196386"/>
                    <a:pt x="3299334" y="197053"/>
                    <a:pt x="3337319" y="197958"/>
                  </a:cubicBezTo>
                  <a:cubicBezTo>
                    <a:pt x="3355693" y="198396"/>
                    <a:pt x="3375324" y="196996"/>
                    <a:pt x="3393479" y="199892"/>
                  </a:cubicBezTo>
                  <a:cubicBezTo>
                    <a:pt x="3409738" y="202482"/>
                    <a:pt x="3425949" y="210569"/>
                    <a:pt x="3439380" y="219828"/>
                  </a:cubicBezTo>
                  <a:cubicBezTo>
                    <a:pt x="3461420" y="235029"/>
                    <a:pt x="3478890" y="257718"/>
                    <a:pt x="3485566" y="283836"/>
                  </a:cubicBezTo>
                  <a:cubicBezTo>
                    <a:pt x="3489434" y="298961"/>
                    <a:pt x="3488595" y="314668"/>
                    <a:pt x="3488815" y="330156"/>
                  </a:cubicBezTo>
                  <a:cubicBezTo>
                    <a:pt x="3489091" y="349996"/>
                    <a:pt x="3489358" y="369837"/>
                    <a:pt x="3489624" y="389677"/>
                  </a:cubicBezTo>
                  <a:cubicBezTo>
                    <a:pt x="3493749" y="695001"/>
                    <a:pt x="3497158" y="1000325"/>
                    <a:pt x="3500254" y="1305659"/>
                  </a:cubicBezTo>
                  <a:cubicBezTo>
                    <a:pt x="3501797" y="1457773"/>
                    <a:pt x="3503254" y="1609887"/>
                    <a:pt x="3504693" y="1762001"/>
                  </a:cubicBezTo>
                  <a:cubicBezTo>
                    <a:pt x="3505407" y="1838058"/>
                    <a:pt x="3506122" y="1914116"/>
                    <a:pt x="3506826" y="1990173"/>
                  </a:cubicBezTo>
                  <a:cubicBezTo>
                    <a:pt x="3507122" y="2022091"/>
                    <a:pt x="3509988" y="2053685"/>
                    <a:pt x="3495358" y="2083146"/>
                  </a:cubicBezTo>
                  <a:cubicBezTo>
                    <a:pt x="3483433" y="2107178"/>
                    <a:pt x="3464192" y="2127228"/>
                    <a:pt x="3441751" y="2141725"/>
                  </a:cubicBezTo>
                  <a:cubicBezTo>
                    <a:pt x="3436417" y="2145173"/>
                    <a:pt x="3430902" y="2148354"/>
                    <a:pt x="3425245" y="2151240"/>
                  </a:cubicBezTo>
                  <a:cubicBezTo>
                    <a:pt x="3420577" y="2151545"/>
                    <a:pt x="3415872" y="2152174"/>
                    <a:pt x="3410929" y="2152774"/>
                  </a:cubicBezTo>
                  <a:cubicBezTo>
                    <a:pt x="3400146" y="2154088"/>
                    <a:pt x="3389335" y="2155250"/>
                    <a:pt x="3378524" y="2156289"/>
                  </a:cubicBezTo>
                  <a:cubicBezTo>
                    <a:pt x="3356226" y="2158422"/>
                    <a:pt x="3333881" y="2160013"/>
                    <a:pt x="3311516" y="2161165"/>
                  </a:cubicBezTo>
                  <a:cubicBezTo>
                    <a:pt x="3267682" y="2163432"/>
                    <a:pt x="3223772" y="2164042"/>
                    <a:pt x="3179880" y="2163880"/>
                  </a:cubicBezTo>
                  <a:cubicBezTo>
                    <a:pt x="3090717" y="2163556"/>
                    <a:pt x="3001582" y="2160670"/>
                    <a:pt x="2912409" y="2161403"/>
                  </a:cubicBezTo>
                  <a:cubicBezTo>
                    <a:pt x="2871585" y="2161737"/>
                    <a:pt x="2829341" y="2161966"/>
                    <a:pt x="2788556" y="2167928"/>
                  </a:cubicBezTo>
                  <a:cubicBezTo>
                    <a:pt x="2715146" y="2168023"/>
                    <a:pt x="2641746" y="2168147"/>
                    <a:pt x="2568338" y="2168319"/>
                  </a:cubicBezTo>
                  <a:cubicBezTo>
                    <a:pt x="2494204" y="2168500"/>
                    <a:pt x="2420062" y="2168719"/>
                    <a:pt x="2345928" y="2169004"/>
                  </a:cubicBezTo>
                  <a:cubicBezTo>
                    <a:pt x="2326174" y="2169081"/>
                    <a:pt x="2326136" y="2199789"/>
                    <a:pt x="2345928" y="2199713"/>
                  </a:cubicBezTo>
                  <a:cubicBezTo>
                    <a:pt x="2658511" y="2198504"/>
                    <a:pt x="2971093" y="2198399"/>
                    <a:pt x="3283675" y="2198389"/>
                  </a:cubicBezTo>
                  <a:cubicBezTo>
                    <a:pt x="3306925" y="2198389"/>
                    <a:pt x="3331785" y="2200437"/>
                    <a:pt x="3355950" y="2199637"/>
                  </a:cubicBezTo>
                  <a:cubicBezTo>
                    <a:pt x="3355350" y="2202590"/>
                    <a:pt x="3354845" y="2205562"/>
                    <a:pt x="3354359" y="2208486"/>
                  </a:cubicBezTo>
                  <a:cubicBezTo>
                    <a:pt x="3352816" y="2217839"/>
                    <a:pt x="3351340" y="2227364"/>
                    <a:pt x="3351131" y="2236851"/>
                  </a:cubicBezTo>
                  <a:cubicBezTo>
                    <a:pt x="3350750" y="2254225"/>
                    <a:pt x="3352702" y="2271903"/>
                    <a:pt x="3358646" y="2288305"/>
                  </a:cubicBezTo>
                  <a:cubicBezTo>
                    <a:pt x="3364656" y="2304917"/>
                    <a:pt x="3373905" y="2320081"/>
                    <a:pt x="3386554" y="2332492"/>
                  </a:cubicBezTo>
                  <a:cubicBezTo>
                    <a:pt x="3389430" y="2335311"/>
                    <a:pt x="3392802" y="2338492"/>
                    <a:pt x="3396507" y="2341617"/>
                  </a:cubicBezTo>
                  <a:cubicBezTo>
                    <a:pt x="3276855" y="2339454"/>
                    <a:pt x="3157202" y="2337616"/>
                    <a:pt x="3037558" y="2337206"/>
                  </a:cubicBezTo>
                  <a:close/>
                </a:path>
              </a:pathLst>
            </a:custGeom>
            <a:solidFill>
              <a:srgbClr val="000000"/>
            </a:solidFill>
            <a:ln w="9525" cap="flat">
              <a:noFill/>
              <a:prstDash val="solid"/>
              <a:miter/>
            </a:ln>
          </p:spPr>
          <p:txBody>
            <a:bodyPr rtlCol="0" anchor="ctr"/>
            <a:lstStyle/>
            <a:p>
              <a:endParaRPr lang="en-GB" noProof="0" dirty="0"/>
            </a:p>
          </p:txBody>
        </p:sp>
        <p:sp>
          <p:nvSpPr>
            <p:cNvPr id="161" name="Arrow: Pentagon 160">
              <a:extLst>
                <a:ext uri="{FF2B5EF4-FFF2-40B4-BE49-F238E27FC236}">
                  <a16:creationId xmlns:a16="http://schemas.microsoft.com/office/drawing/2014/main" id="{846C72BD-68FA-13F0-AD79-59766AD742EF}"/>
                </a:ext>
              </a:extLst>
            </p:cNvPr>
            <p:cNvSpPr/>
            <p:nvPr/>
          </p:nvSpPr>
          <p:spPr>
            <a:xfrm rot="5400000">
              <a:off x="8165715" y="1670834"/>
              <a:ext cx="522028" cy="1686204"/>
            </a:xfrm>
            <a:prstGeom prst="homePlat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GB" sz="1200" dirty="0"/>
                <a:t>Prediction machine</a:t>
              </a:r>
            </a:p>
          </p:txBody>
        </p:sp>
      </p:grpSp>
      <p:sp>
        <p:nvSpPr>
          <p:cNvPr id="164" name="TextBox 163">
            <a:extLst>
              <a:ext uri="{FF2B5EF4-FFF2-40B4-BE49-F238E27FC236}">
                <a16:creationId xmlns:a16="http://schemas.microsoft.com/office/drawing/2014/main" id="{64A2E180-92C0-655E-EDD3-C7EFFDB0962F}"/>
              </a:ext>
            </a:extLst>
          </p:cNvPr>
          <p:cNvSpPr txBox="1"/>
          <p:nvPr/>
        </p:nvSpPr>
        <p:spPr>
          <a:xfrm>
            <a:off x="2178111" y="1434780"/>
            <a:ext cx="3738371" cy="1300762"/>
          </a:xfrm>
          <a:prstGeom prst="rect">
            <a:avLst/>
          </a:prstGeom>
          <a:solidFill>
            <a:schemeClr val="bg1"/>
          </a:solidFill>
        </p:spPr>
        <p:txBody>
          <a:bodyPr wrap="square" rtlCol="0">
            <a:noAutofit/>
          </a:bodyPr>
          <a:lstStyle/>
          <a:p>
            <a:r>
              <a:rPr lang="en-GB" sz="1200" b="1" dirty="0">
                <a:solidFill>
                  <a:srgbClr val="00B0F0"/>
                </a:solidFill>
              </a:rPr>
              <a:t>Human</a:t>
            </a:r>
          </a:p>
          <a:p>
            <a:r>
              <a:rPr lang="en-US" sz="1200" dirty="0"/>
              <a:t>Can you explain to me the intuition behind a logistic model, with an emphasis on the interpretation of its results?</a:t>
            </a:r>
            <a:endParaRPr lang="en-GB" sz="1200" noProof="0" dirty="0"/>
          </a:p>
        </p:txBody>
      </p:sp>
      <p:sp>
        <p:nvSpPr>
          <p:cNvPr id="165" name="TextBox 164">
            <a:extLst>
              <a:ext uri="{FF2B5EF4-FFF2-40B4-BE49-F238E27FC236}">
                <a16:creationId xmlns:a16="http://schemas.microsoft.com/office/drawing/2014/main" id="{B46BB9ED-8004-3470-66F7-F96E11CDDC4C}"/>
              </a:ext>
            </a:extLst>
          </p:cNvPr>
          <p:cNvSpPr txBox="1"/>
          <p:nvPr/>
        </p:nvSpPr>
        <p:spPr>
          <a:xfrm>
            <a:off x="6121588" y="3859773"/>
            <a:ext cx="3738368" cy="1345984"/>
          </a:xfrm>
          <a:prstGeom prst="rect">
            <a:avLst/>
          </a:prstGeom>
          <a:solidFill>
            <a:schemeClr val="bg1"/>
          </a:solidFill>
        </p:spPr>
        <p:txBody>
          <a:bodyPr wrap="square" rtlCol="0">
            <a:noAutofit/>
          </a:bodyPr>
          <a:lstStyle/>
          <a:p>
            <a:r>
              <a:rPr lang="en-GB" sz="1200" b="1" noProof="0" dirty="0" err="1">
                <a:solidFill>
                  <a:srgbClr val="00B0F0"/>
                </a:solidFill>
              </a:rPr>
              <a:t>Asistente</a:t>
            </a:r>
            <a:r>
              <a:rPr lang="en-GB" sz="1200" b="1" noProof="0" dirty="0">
                <a:solidFill>
                  <a:srgbClr val="00B0F0"/>
                </a:solidFill>
              </a:rPr>
              <a:t> de IA</a:t>
            </a:r>
          </a:p>
          <a:p>
            <a:r>
              <a:rPr lang="en-GB" sz="1200" noProof="0" dirty="0"/>
              <a:t>A</a:t>
            </a:r>
          </a:p>
        </p:txBody>
      </p:sp>
      <p:sp>
        <p:nvSpPr>
          <p:cNvPr id="14" name="TextBox 13">
            <a:extLst>
              <a:ext uri="{FF2B5EF4-FFF2-40B4-BE49-F238E27FC236}">
                <a16:creationId xmlns:a16="http://schemas.microsoft.com/office/drawing/2014/main" id="{3515CC09-531C-0F11-CB76-A6F8B94DDE0D}"/>
              </a:ext>
            </a:extLst>
          </p:cNvPr>
          <p:cNvSpPr txBox="1"/>
          <p:nvPr/>
        </p:nvSpPr>
        <p:spPr>
          <a:xfrm>
            <a:off x="2178111" y="1434780"/>
            <a:ext cx="3738371" cy="1300762"/>
          </a:xfrm>
          <a:prstGeom prst="rect">
            <a:avLst/>
          </a:prstGeom>
          <a:solidFill>
            <a:schemeClr val="bg1"/>
          </a:solidFill>
        </p:spPr>
        <p:txBody>
          <a:bodyPr wrap="square" rtlCol="0">
            <a:noAutofit/>
          </a:bodyPr>
          <a:lstStyle/>
          <a:p>
            <a:r>
              <a:rPr lang="en-GB" sz="1200" b="1" dirty="0">
                <a:solidFill>
                  <a:srgbClr val="00B0F0"/>
                </a:solidFill>
              </a:rPr>
              <a:t>Human</a:t>
            </a:r>
          </a:p>
          <a:p>
            <a:r>
              <a:rPr lang="en-US" sz="1200" dirty="0"/>
              <a:t>Can you explain to me the intuition behind a logistic model, with an emphasis on the interpretation of its results?</a:t>
            </a:r>
            <a:br>
              <a:rPr lang="en-GB" sz="1200" noProof="0" dirty="0"/>
            </a:br>
            <a:r>
              <a:rPr lang="en-US" sz="1200" b="1" dirty="0">
                <a:solidFill>
                  <a:srgbClr val="00B0F0"/>
                </a:solidFill>
              </a:rPr>
              <a:t>AI Assistant </a:t>
            </a:r>
          </a:p>
          <a:p>
            <a:r>
              <a:rPr lang="en-GB" sz="1200" noProof="0" dirty="0"/>
              <a:t>A</a:t>
            </a:r>
          </a:p>
          <a:p>
            <a:endParaRPr lang="en-GB" sz="1200" noProof="0" dirty="0"/>
          </a:p>
        </p:txBody>
      </p:sp>
      <p:sp>
        <p:nvSpPr>
          <p:cNvPr id="15" name="TextBox 14">
            <a:extLst>
              <a:ext uri="{FF2B5EF4-FFF2-40B4-BE49-F238E27FC236}">
                <a16:creationId xmlns:a16="http://schemas.microsoft.com/office/drawing/2014/main" id="{CC23E474-9D6D-9AD1-E072-012D5F2DFF8B}"/>
              </a:ext>
            </a:extLst>
          </p:cNvPr>
          <p:cNvSpPr txBox="1"/>
          <p:nvPr/>
        </p:nvSpPr>
        <p:spPr>
          <a:xfrm>
            <a:off x="6121588" y="3859773"/>
            <a:ext cx="3738368" cy="1345984"/>
          </a:xfrm>
          <a:prstGeom prst="rect">
            <a:avLst/>
          </a:prstGeom>
          <a:solidFill>
            <a:schemeClr val="bg1"/>
          </a:solidFill>
        </p:spPr>
        <p:txBody>
          <a:bodyPr wrap="square" rtlCol="0">
            <a:noAutofit/>
          </a:bodyPr>
          <a:lstStyle/>
          <a:p>
            <a:r>
              <a:rPr lang="en-US" sz="1200" b="1" dirty="0">
                <a:solidFill>
                  <a:srgbClr val="00B0F0"/>
                </a:solidFill>
              </a:rPr>
              <a:t>AI Assistant</a:t>
            </a:r>
            <a:br>
              <a:rPr lang="en-US" sz="1200" b="1" dirty="0"/>
            </a:br>
            <a:r>
              <a:rPr lang="en-US" sz="1200" dirty="0"/>
              <a:t>A logistic model</a:t>
            </a:r>
            <a:endParaRPr lang="en-GB" sz="1200" noProof="0" dirty="0"/>
          </a:p>
        </p:txBody>
      </p:sp>
      <p:sp>
        <p:nvSpPr>
          <p:cNvPr id="20" name="TextBox 19">
            <a:extLst>
              <a:ext uri="{FF2B5EF4-FFF2-40B4-BE49-F238E27FC236}">
                <a16:creationId xmlns:a16="http://schemas.microsoft.com/office/drawing/2014/main" id="{99A29871-55BD-6B7F-17FB-87FDAB391A0D}"/>
              </a:ext>
            </a:extLst>
          </p:cNvPr>
          <p:cNvSpPr txBox="1"/>
          <p:nvPr/>
        </p:nvSpPr>
        <p:spPr>
          <a:xfrm>
            <a:off x="2178111" y="1434780"/>
            <a:ext cx="3738371" cy="1300762"/>
          </a:xfrm>
          <a:prstGeom prst="rect">
            <a:avLst/>
          </a:prstGeom>
          <a:solidFill>
            <a:schemeClr val="bg1"/>
          </a:solidFill>
        </p:spPr>
        <p:txBody>
          <a:bodyPr wrap="square" rtlCol="0">
            <a:noAutofit/>
          </a:bodyPr>
          <a:lstStyle/>
          <a:p>
            <a:r>
              <a:rPr lang="en-GB" sz="1200" b="1" dirty="0">
                <a:solidFill>
                  <a:srgbClr val="00B0F0"/>
                </a:solidFill>
              </a:rPr>
              <a:t>Human</a:t>
            </a:r>
          </a:p>
          <a:p>
            <a:r>
              <a:rPr lang="en-US" sz="1200" dirty="0"/>
              <a:t>Can you explain to me the intuition behind a logistic model, with an emphasis on the interpretation of its results?</a:t>
            </a:r>
            <a:br>
              <a:rPr lang="en-GB" sz="1200" noProof="0" dirty="0"/>
            </a:br>
            <a:r>
              <a:rPr lang="en-US" sz="1200" b="1" dirty="0">
                <a:solidFill>
                  <a:srgbClr val="00B0F0"/>
                </a:solidFill>
              </a:rPr>
              <a:t>AI Assistant </a:t>
            </a:r>
          </a:p>
          <a:p>
            <a:r>
              <a:rPr lang="en-GB" sz="1200" noProof="0" dirty="0"/>
              <a:t>A logistic</a:t>
            </a:r>
          </a:p>
          <a:p>
            <a:endParaRPr lang="en-GB" sz="1200" noProof="0" dirty="0"/>
          </a:p>
          <a:p>
            <a:endParaRPr lang="en-GB" sz="1200" noProof="0" dirty="0"/>
          </a:p>
        </p:txBody>
      </p:sp>
      <p:sp>
        <p:nvSpPr>
          <p:cNvPr id="21" name="TextBox 20">
            <a:extLst>
              <a:ext uri="{FF2B5EF4-FFF2-40B4-BE49-F238E27FC236}">
                <a16:creationId xmlns:a16="http://schemas.microsoft.com/office/drawing/2014/main" id="{26AD9B27-BF54-A283-D7FC-65F884DE7DBA}"/>
              </a:ext>
            </a:extLst>
          </p:cNvPr>
          <p:cNvSpPr txBox="1"/>
          <p:nvPr/>
        </p:nvSpPr>
        <p:spPr>
          <a:xfrm>
            <a:off x="6121588" y="3859773"/>
            <a:ext cx="3738368" cy="1345984"/>
          </a:xfrm>
          <a:prstGeom prst="rect">
            <a:avLst/>
          </a:prstGeom>
          <a:solidFill>
            <a:schemeClr val="bg1"/>
          </a:solidFill>
        </p:spPr>
        <p:txBody>
          <a:bodyPr wrap="square" rtlCol="0">
            <a:noAutofit/>
          </a:bodyPr>
          <a:lstStyle/>
          <a:p>
            <a:r>
              <a:rPr lang="en-US" sz="1200" b="1" dirty="0">
                <a:solidFill>
                  <a:srgbClr val="00B0F0"/>
                </a:solidFill>
              </a:rPr>
              <a:t>AI Assistant</a:t>
            </a:r>
            <a:br>
              <a:rPr lang="en-US" sz="1200" b="1" dirty="0"/>
            </a:br>
            <a:r>
              <a:rPr lang="en-US" sz="1200" dirty="0"/>
              <a:t>A logistic model</a:t>
            </a:r>
            <a:endParaRPr lang="en-GB" sz="1200" noProof="0" dirty="0"/>
          </a:p>
        </p:txBody>
      </p:sp>
      <p:sp>
        <p:nvSpPr>
          <p:cNvPr id="25" name="TextBox 24">
            <a:extLst>
              <a:ext uri="{FF2B5EF4-FFF2-40B4-BE49-F238E27FC236}">
                <a16:creationId xmlns:a16="http://schemas.microsoft.com/office/drawing/2014/main" id="{A9DA5F44-ECDC-729F-1FD3-40914F525F1A}"/>
              </a:ext>
            </a:extLst>
          </p:cNvPr>
          <p:cNvSpPr txBox="1"/>
          <p:nvPr/>
        </p:nvSpPr>
        <p:spPr>
          <a:xfrm>
            <a:off x="2178111" y="1434780"/>
            <a:ext cx="3738371" cy="1300762"/>
          </a:xfrm>
          <a:prstGeom prst="rect">
            <a:avLst/>
          </a:prstGeom>
          <a:solidFill>
            <a:schemeClr val="bg1"/>
          </a:solidFill>
        </p:spPr>
        <p:txBody>
          <a:bodyPr wrap="square" rtlCol="0">
            <a:noAutofit/>
          </a:bodyPr>
          <a:lstStyle/>
          <a:p>
            <a:r>
              <a:rPr lang="en-GB" sz="1200" b="1" noProof="0" dirty="0">
                <a:solidFill>
                  <a:srgbClr val="00B0F0"/>
                </a:solidFill>
              </a:rPr>
              <a:t>Humano</a:t>
            </a:r>
          </a:p>
          <a:p>
            <a:r>
              <a:rPr lang="en-US" sz="1200" dirty="0"/>
              <a:t>Can you explain to me the intuition behind a logistic model, with an emphasis on the interpretation of its results?</a:t>
            </a:r>
            <a:br>
              <a:rPr lang="en-GB" sz="1200" noProof="0" dirty="0"/>
            </a:br>
            <a:r>
              <a:rPr lang="en-US" sz="1200" b="1" dirty="0">
                <a:solidFill>
                  <a:srgbClr val="00B0F0"/>
                </a:solidFill>
              </a:rPr>
              <a:t>AI Assistant </a:t>
            </a:r>
          </a:p>
          <a:p>
            <a:r>
              <a:rPr lang="en-GB" sz="1200" dirty="0"/>
              <a:t>A logistic model …</a:t>
            </a:r>
            <a:endParaRPr lang="en-GB" sz="1200" noProof="0" dirty="0"/>
          </a:p>
          <a:p>
            <a:endParaRPr lang="en-GB" sz="1200" noProof="0" dirty="0"/>
          </a:p>
        </p:txBody>
      </p:sp>
      <p:sp>
        <p:nvSpPr>
          <p:cNvPr id="26" name="TextBox 25">
            <a:extLst>
              <a:ext uri="{FF2B5EF4-FFF2-40B4-BE49-F238E27FC236}">
                <a16:creationId xmlns:a16="http://schemas.microsoft.com/office/drawing/2014/main" id="{D64C453A-DA33-E536-254F-F0AC78E61FC7}"/>
              </a:ext>
            </a:extLst>
          </p:cNvPr>
          <p:cNvSpPr txBox="1"/>
          <p:nvPr/>
        </p:nvSpPr>
        <p:spPr>
          <a:xfrm>
            <a:off x="6121588" y="3859773"/>
            <a:ext cx="3738368" cy="1345984"/>
          </a:xfrm>
          <a:prstGeom prst="rect">
            <a:avLst/>
          </a:prstGeom>
          <a:solidFill>
            <a:schemeClr val="bg1"/>
          </a:solidFill>
        </p:spPr>
        <p:txBody>
          <a:bodyPr wrap="square" rtlCol="0">
            <a:noAutofit/>
          </a:bodyPr>
          <a:lstStyle/>
          <a:p>
            <a:r>
              <a:rPr lang="en-US" sz="1200" b="1" dirty="0">
                <a:solidFill>
                  <a:srgbClr val="00B0F0"/>
                </a:solidFill>
              </a:rPr>
              <a:t>AI Assistant</a:t>
            </a:r>
            <a:br>
              <a:rPr lang="en-US" sz="1200" b="1" dirty="0"/>
            </a:br>
            <a:r>
              <a:rPr lang="en-US" sz="1200" dirty="0"/>
              <a:t>A logistic model is</a:t>
            </a:r>
            <a:endParaRPr lang="en-GB" sz="1200" noProof="0" dirty="0"/>
          </a:p>
        </p:txBody>
      </p:sp>
      <p:sp>
        <p:nvSpPr>
          <p:cNvPr id="27" name="TextBox 26">
            <a:extLst>
              <a:ext uri="{FF2B5EF4-FFF2-40B4-BE49-F238E27FC236}">
                <a16:creationId xmlns:a16="http://schemas.microsoft.com/office/drawing/2014/main" id="{89A054BB-ED47-4086-4B5F-5DF5865DA551}"/>
              </a:ext>
            </a:extLst>
          </p:cNvPr>
          <p:cNvSpPr txBox="1"/>
          <p:nvPr/>
        </p:nvSpPr>
        <p:spPr>
          <a:xfrm>
            <a:off x="2178111" y="1434780"/>
            <a:ext cx="3738371" cy="1300762"/>
          </a:xfrm>
          <a:prstGeom prst="rect">
            <a:avLst/>
          </a:prstGeom>
          <a:solidFill>
            <a:schemeClr val="bg1"/>
          </a:solidFill>
        </p:spPr>
        <p:txBody>
          <a:bodyPr wrap="square" rtlCol="0">
            <a:noAutofit/>
          </a:bodyPr>
          <a:lstStyle/>
          <a:p>
            <a:r>
              <a:rPr lang="en-GB" sz="1200" b="1" noProof="0" dirty="0">
                <a:solidFill>
                  <a:srgbClr val="00B0F0"/>
                </a:solidFill>
              </a:rPr>
              <a:t>Human</a:t>
            </a:r>
          </a:p>
          <a:p>
            <a:r>
              <a:rPr lang="en-US" sz="1200" dirty="0"/>
              <a:t>Can you explain to me the intuition behind a logistic model, with an emphasis on the interpretation of its results?</a:t>
            </a:r>
            <a:br>
              <a:rPr lang="en-GB" sz="1200" noProof="0" dirty="0"/>
            </a:br>
            <a:r>
              <a:rPr lang="en-US" sz="1200" b="1" dirty="0">
                <a:solidFill>
                  <a:srgbClr val="00B0F0"/>
                </a:solidFill>
              </a:rPr>
              <a:t>AI Assistant </a:t>
            </a:r>
          </a:p>
          <a:p>
            <a:r>
              <a:rPr lang="en-GB" sz="1200" noProof="0" dirty="0"/>
              <a:t>A logistic model …</a:t>
            </a:r>
          </a:p>
          <a:p>
            <a:endParaRPr lang="en-GB" sz="1200" noProof="0" dirty="0"/>
          </a:p>
          <a:p>
            <a:endParaRPr lang="en-GB" sz="1200" noProof="0" dirty="0"/>
          </a:p>
        </p:txBody>
      </p:sp>
      <p:sp>
        <p:nvSpPr>
          <p:cNvPr id="28" name="TextBox 27">
            <a:extLst>
              <a:ext uri="{FF2B5EF4-FFF2-40B4-BE49-F238E27FC236}">
                <a16:creationId xmlns:a16="http://schemas.microsoft.com/office/drawing/2014/main" id="{83A5D167-B9F9-13A6-262C-E9593E6CE8F0}"/>
              </a:ext>
            </a:extLst>
          </p:cNvPr>
          <p:cNvSpPr txBox="1"/>
          <p:nvPr/>
        </p:nvSpPr>
        <p:spPr>
          <a:xfrm>
            <a:off x="6121588" y="3859773"/>
            <a:ext cx="3738368" cy="1345984"/>
          </a:xfrm>
          <a:prstGeom prst="rect">
            <a:avLst/>
          </a:prstGeom>
          <a:solidFill>
            <a:schemeClr val="bg1"/>
          </a:solidFill>
        </p:spPr>
        <p:txBody>
          <a:bodyPr wrap="square" rtlCol="0">
            <a:noAutofit/>
          </a:bodyPr>
          <a:lstStyle/>
          <a:p>
            <a:r>
              <a:rPr lang="en-US" sz="1200" b="1" dirty="0">
                <a:solidFill>
                  <a:srgbClr val="00B0F0"/>
                </a:solidFill>
              </a:rPr>
              <a:t>AI Assistant</a:t>
            </a:r>
            <a:br>
              <a:rPr lang="en-US" sz="1200" b="1" dirty="0"/>
            </a:br>
            <a:r>
              <a:rPr lang="en-US" sz="1200" dirty="0"/>
              <a:t>A logistic model is a statistical technique used to predict the probability of a binary event (for example, success vs. failure, yes vs. no, 1 vs. 0) based on one or more independent variables</a:t>
            </a:r>
          </a:p>
          <a:p>
            <a:endParaRPr lang="en-GB" sz="1200" noProof="0" dirty="0"/>
          </a:p>
        </p:txBody>
      </p:sp>
      <p:cxnSp>
        <p:nvCxnSpPr>
          <p:cNvPr id="29" name="Straight Arrow Connector 28">
            <a:extLst>
              <a:ext uri="{FF2B5EF4-FFF2-40B4-BE49-F238E27FC236}">
                <a16:creationId xmlns:a16="http://schemas.microsoft.com/office/drawing/2014/main" id="{3BB6926E-8021-47A8-7A1D-D882576291E1}"/>
              </a:ext>
            </a:extLst>
          </p:cNvPr>
          <p:cNvCxnSpPr>
            <a:cxnSpLocks/>
          </p:cNvCxnSpPr>
          <p:nvPr/>
        </p:nvCxnSpPr>
        <p:spPr>
          <a:xfrm>
            <a:off x="3944072" y="2820906"/>
            <a:ext cx="0" cy="1807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892B710-97E1-301C-549E-895ACE89BDE2}"/>
              </a:ext>
            </a:extLst>
          </p:cNvPr>
          <p:cNvCxnSpPr>
            <a:cxnSpLocks/>
          </p:cNvCxnSpPr>
          <p:nvPr/>
        </p:nvCxnSpPr>
        <p:spPr>
          <a:xfrm>
            <a:off x="5920928" y="4342335"/>
            <a:ext cx="11457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29048031-9F25-AA6F-2018-B0C2AB39591A}"/>
              </a:ext>
            </a:extLst>
          </p:cNvPr>
          <p:cNvSpPr txBox="1"/>
          <p:nvPr/>
        </p:nvSpPr>
        <p:spPr>
          <a:xfrm>
            <a:off x="2943369" y="4019169"/>
            <a:ext cx="2001405"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0000"/>
                </a:solidFill>
                <a:effectLst/>
                <a:uLnTx/>
                <a:uFillTx/>
                <a:latin typeface="Aptos" panose="020B0004020202020204"/>
                <a:ea typeface="+mn-ea"/>
                <a:cs typeface="+mn-cs"/>
              </a:rPr>
              <a:t>Large Language</a:t>
            </a:r>
            <a:r>
              <a:rPr kumimoji="0" lang="en-GB" sz="1800" b="1" i="0" u="none" strike="noStrike" kern="1200" cap="none" spc="0" normalizeH="0" noProof="0" dirty="0">
                <a:ln>
                  <a:noFill/>
                </a:ln>
                <a:solidFill>
                  <a:srgbClr val="FF0000"/>
                </a:solidFill>
                <a:effectLst/>
                <a:uLnTx/>
                <a:uFillTx/>
                <a:latin typeface="Aptos" panose="020B0004020202020204"/>
                <a:ea typeface="+mn-ea"/>
                <a:cs typeface="+mn-cs"/>
              </a:rPr>
              <a:t> Models (LLM)</a:t>
            </a:r>
            <a:endParaRPr kumimoji="0" lang="en-GB" sz="1800" b="0" i="0" u="none" strike="noStrike" kern="1200" cap="none" spc="0" normalizeH="0" baseline="0" noProof="0" dirty="0">
              <a:ln>
                <a:noFill/>
              </a:ln>
              <a:solidFill>
                <a:prstClr val="black"/>
              </a:solidFill>
              <a:effectLst/>
              <a:uLnTx/>
              <a:uFillTx/>
              <a:latin typeface="Aptos" panose="020B0004020202020204"/>
              <a:ea typeface="+mn-ea"/>
              <a:cs typeface="+mn-cs"/>
            </a:endParaRPr>
          </a:p>
        </p:txBody>
      </p:sp>
      <p:cxnSp>
        <p:nvCxnSpPr>
          <p:cNvPr id="32" name="Straight Arrow Connector 31">
            <a:extLst>
              <a:ext uri="{FF2B5EF4-FFF2-40B4-BE49-F238E27FC236}">
                <a16:creationId xmlns:a16="http://schemas.microsoft.com/office/drawing/2014/main" id="{DF9D8CAD-8A6F-027D-B8BF-D620B21C3534}"/>
              </a:ext>
            </a:extLst>
          </p:cNvPr>
          <p:cNvCxnSpPr>
            <a:cxnSpLocks/>
          </p:cNvCxnSpPr>
          <p:nvPr/>
        </p:nvCxnSpPr>
        <p:spPr>
          <a:xfrm flipH="1" flipV="1">
            <a:off x="8243617" y="2551881"/>
            <a:ext cx="4312" cy="11620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D2C8A705-4A6F-0DA4-6595-FA6254368AFB}"/>
              </a:ext>
            </a:extLst>
          </p:cNvPr>
          <p:cNvSpPr txBox="1"/>
          <p:nvPr/>
        </p:nvSpPr>
        <p:spPr>
          <a:xfrm>
            <a:off x="6848918" y="1759708"/>
            <a:ext cx="3164337" cy="646331"/>
          </a:xfrm>
          <a:prstGeom prst="rect">
            <a:avLst/>
          </a:prstGeom>
          <a:noFill/>
        </p:spPr>
        <p:txBody>
          <a:bodyPr wrap="square" rtlCol="0">
            <a:spAutoFit/>
          </a:bodyPr>
          <a:lstStyle/>
          <a:p>
            <a:r>
              <a:rPr lang="en-US" sz="1200" b="1" dirty="0">
                <a:highlight>
                  <a:srgbClr val="FFC000"/>
                </a:highlight>
              </a:rPr>
              <a:t>An LLM is a sophisticated mathematical function that predicts which word ‘follows’ after any given piece of text.”</a:t>
            </a:r>
            <a:endParaRPr lang="en-GB" sz="1200" b="1" noProof="0" dirty="0"/>
          </a:p>
        </p:txBody>
      </p:sp>
      <p:sp>
        <p:nvSpPr>
          <p:cNvPr id="2" name="Footer Placeholder 4">
            <a:extLst>
              <a:ext uri="{FF2B5EF4-FFF2-40B4-BE49-F238E27FC236}">
                <a16:creationId xmlns:a16="http://schemas.microsoft.com/office/drawing/2014/main" id="{772272DC-BDF9-25CB-B625-57FAC6BBF4A4}"/>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42376156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fade">
                                      <p:cBhvr>
                                        <p:cTn id="7" dur="500"/>
                                        <p:tgtEl>
                                          <p:spTgt spid="1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4"/>
                                        </p:tgtEl>
                                        <p:attrNameLst>
                                          <p:attrName>style.visibility</p:attrName>
                                        </p:attrNameLst>
                                      </p:cBhvr>
                                      <p:to>
                                        <p:strVal val="visible"/>
                                      </p:to>
                                    </p:set>
                                    <p:animEffect transition="in" filter="fade">
                                      <p:cBhvr>
                                        <p:cTn id="12" dur="500"/>
                                        <p:tgtEl>
                                          <p:spTgt spid="164"/>
                                        </p:tgtEl>
                                      </p:cBhvr>
                                    </p:animEffect>
                                  </p:childTnLst>
                                </p:cTn>
                              </p:par>
                              <p:par>
                                <p:cTn id="13" presetID="10"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5"/>
                                        </p:tgtEl>
                                        <p:attrNameLst>
                                          <p:attrName>style.visibility</p:attrName>
                                        </p:attrNameLst>
                                      </p:cBhvr>
                                      <p:to>
                                        <p:strVal val="visible"/>
                                      </p:to>
                                    </p:set>
                                    <p:animEffect transition="in" filter="fade">
                                      <p:cBhvr>
                                        <p:cTn id="21" dur="500"/>
                                        <p:tgtEl>
                                          <p:spTgt spid="16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00"/>
                                        <p:tgtEl>
                                          <p:spTgt spid="2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500"/>
                                        <p:tgtEl>
                                          <p:spTgt spid="31"/>
                                        </p:tgtEl>
                                      </p:cBhvr>
                                    </p:animEffect>
                                  </p:childTnLst>
                                </p:cTn>
                              </p:par>
                              <p:par>
                                <p:cTn id="57" presetID="10" presetClass="entr" presetSubtype="0" fill="hold" nodeType="with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00"/>
                                        <p:tgtEl>
                                          <p:spTgt spid="3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animBg="1"/>
      <p:bldP spid="165" grpId="0" animBg="1"/>
      <p:bldP spid="14" grpId="0" animBg="1"/>
      <p:bldP spid="15" grpId="0" animBg="1"/>
      <p:bldP spid="20" grpId="0" animBg="1"/>
      <p:bldP spid="21" grpId="0" animBg="1"/>
      <p:bldP spid="25" grpId="0" animBg="1"/>
      <p:bldP spid="26" grpId="0" animBg="1"/>
      <p:bldP spid="27" grpId="0" animBg="1"/>
      <p:bldP spid="28" grpId="0" animBg="1"/>
      <p:bldP spid="31" grpId="0"/>
      <p:bldP spid="3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00C9F-5D88-5A75-7CD9-7A775D45564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7B3888B-96E6-083A-BCB4-41A26401644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14D0BD3C-0644-B3BA-CA4D-4F49400A92FB}"/>
              </a:ext>
            </a:extLst>
          </p:cNvPr>
          <p:cNvSpPr txBox="1">
            <a:spLocks/>
          </p:cNvSpPr>
          <p:nvPr/>
        </p:nvSpPr>
        <p:spPr>
          <a:xfrm>
            <a:off x="891589" y="501651"/>
            <a:ext cx="3489911"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dirty="0">
                <a:ln>
                  <a:noFill/>
                </a:ln>
                <a:solidFill>
                  <a:srgbClr val="FF0000"/>
                </a:solidFill>
                <a:effectLst/>
                <a:uLnTx/>
                <a:uFillTx/>
                <a:latin typeface="Aptos SemiBold" panose="020F0502020204030204" pitchFamily="34" charset="0"/>
                <a:ea typeface="+mj-ea"/>
                <a:cs typeface="+mj-cs"/>
              </a:rPr>
              <a:t>LLMs</a:t>
            </a:r>
          </a:p>
        </p:txBody>
      </p:sp>
      <p:sp>
        <p:nvSpPr>
          <p:cNvPr id="5" name="Slide Number Placeholder 2">
            <a:extLst>
              <a:ext uri="{FF2B5EF4-FFF2-40B4-BE49-F238E27FC236}">
                <a16:creationId xmlns:a16="http://schemas.microsoft.com/office/drawing/2014/main" id="{34C17D01-54AE-3599-3FB6-6CF5422C3EA1}"/>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0EDB9C80-152B-1166-EC0F-198F83E6E433}"/>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grpSp>
        <p:nvGrpSpPr>
          <p:cNvPr id="163" name="Group 162">
            <a:extLst>
              <a:ext uri="{FF2B5EF4-FFF2-40B4-BE49-F238E27FC236}">
                <a16:creationId xmlns:a16="http://schemas.microsoft.com/office/drawing/2014/main" id="{F6C596E0-2F80-47F7-A42A-6CF8FF8493F4}"/>
              </a:ext>
            </a:extLst>
          </p:cNvPr>
          <p:cNvGrpSpPr/>
          <p:nvPr/>
        </p:nvGrpSpPr>
        <p:grpSpPr>
          <a:xfrm>
            <a:off x="1238784" y="2690041"/>
            <a:ext cx="3738370" cy="2378826"/>
            <a:chOff x="6557544" y="2252922"/>
            <a:chExt cx="3738370" cy="2378826"/>
          </a:xfrm>
        </p:grpSpPr>
        <p:sp>
          <p:nvSpPr>
            <p:cNvPr id="140" name="Freeform: Shape 139">
              <a:extLst>
                <a:ext uri="{FF2B5EF4-FFF2-40B4-BE49-F238E27FC236}">
                  <a16:creationId xmlns:a16="http://schemas.microsoft.com/office/drawing/2014/main" id="{8D8EFA77-CFA4-C263-47A7-1594847995F2}"/>
                </a:ext>
              </a:extLst>
            </p:cNvPr>
            <p:cNvSpPr/>
            <p:nvPr/>
          </p:nvSpPr>
          <p:spPr>
            <a:xfrm rot="10800000">
              <a:off x="6557544" y="2252922"/>
              <a:ext cx="3738370" cy="2378826"/>
            </a:xfrm>
            <a:custGeom>
              <a:avLst/>
              <a:gdLst>
                <a:gd name="connsiteX0" fmla="*/ 3736122 w 3738370"/>
                <a:gd name="connsiteY0" fmla="*/ 2036055 h 2378826"/>
                <a:gd name="connsiteX1" fmla="*/ 3734722 w 3738370"/>
                <a:gd name="connsiteY1" fmla="*/ 1901161 h 2378826"/>
                <a:gd name="connsiteX2" fmla="*/ 3727996 w 3738370"/>
                <a:gd name="connsiteY2" fmla="*/ 1224477 h 2378826"/>
                <a:gd name="connsiteX3" fmla="*/ 3723177 w 3738370"/>
                <a:gd name="connsiteY3" fmla="*/ 533743 h 2378826"/>
                <a:gd name="connsiteX4" fmla="*/ 3722949 w 3738370"/>
                <a:gd name="connsiteY4" fmla="*/ 258242 h 2378826"/>
                <a:gd name="connsiteX5" fmla="*/ 3704689 w 3738370"/>
                <a:gd name="connsiteY5" fmla="*/ 116491 h 2378826"/>
                <a:gd name="connsiteX6" fmla="*/ 3580217 w 3738370"/>
                <a:gd name="connsiteY6" fmla="*/ 6248 h 2378826"/>
                <a:gd name="connsiteX7" fmla="*/ 3482509 w 3738370"/>
                <a:gd name="connsiteY7" fmla="*/ 810 h 2378826"/>
                <a:gd name="connsiteX8" fmla="*/ 3388716 w 3738370"/>
                <a:gd name="connsiteY8" fmla="*/ 343 h 2378826"/>
                <a:gd name="connsiteX9" fmla="*/ 3167231 w 3738370"/>
                <a:gd name="connsiteY9" fmla="*/ 0 h 2378826"/>
                <a:gd name="connsiteX10" fmla="*/ 2611609 w 3738370"/>
                <a:gd name="connsiteY10" fmla="*/ 1210 h 2378826"/>
                <a:gd name="connsiteX11" fmla="*/ 1968510 w 3738370"/>
                <a:gd name="connsiteY11" fmla="*/ 4181 h 2378826"/>
                <a:gd name="connsiteX12" fmla="*/ 1310895 w 3738370"/>
                <a:gd name="connsiteY12" fmla="*/ 8039 h 2378826"/>
                <a:gd name="connsiteX13" fmla="*/ 719020 w 3738370"/>
                <a:gd name="connsiteY13" fmla="*/ 11859 h 2378826"/>
                <a:gd name="connsiteX14" fmla="*/ 264449 w 3738370"/>
                <a:gd name="connsiteY14" fmla="*/ 14764 h 2378826"/>
                <a:gd name="connsiteX15" fmla="*/ 178810 w 3738370"/>
                <a:gd name="connsiteY15" fmla="*/ 15497 h 2378826"/>
                <a:gd name="connsiteX16" fmla="*/ 35735 w 3738370"/>
                <a:gd name="connsiteY16" fmla="*/ 84344 h 2378826"/>
                <a:gd name="connsiteX17" fmla="*/ 2312 w 3738370"/>
                <a:gd name="connsiteY17" fmla="*/ 152791 h 2378826"/>
                <a:gd name="connsiteX18" fmla="*/ 388 w 3738370"/>
                <a:gd name="connsiteY18" fmla="*/ 208083 h 2378826"/>
                <a:gd name="connsiteX19" fmla="*/ 16 w 3738370"/>
                <a:gd name="connsiteY19" fmla="*/ 322583 h 2378826"/>
                <a:gd name="connsiteX20" fmla="*/ 2712 w 3738370"/>
                <a:gd name="connsiteY20" fmla="*/ 927316 h 2378826"/>
                <a:gd name="connsiteX21" fmla="*/ 9065 w 3738370"/>
                <a:gd name="connsiteY21" fmla="*/ 1611582 h 2378826"/>
                <a:gd name="connsiteX22" fmla="*/ 14999 w 3738370"/>
                <a:gd name="connsiteY22" fmla="*/ 2155679 h 2378826"/>
                <a:gd name="connsiteX23" fmla="*/ 16485 w 3738370"/>
                <a:gd name="connsiteY23" fmla="*/ 2208076 h 2378826"/>
                <a:gd name="connsiteX24" fmla="*/ 42927 w 3738370"/>
                <a:gd name="connsiteY24" fmla="*/ 2281828 h 2378826"/>
                <a:gd name="connsiteX25" fmla="*/ 156588 w 3738370"/>
                <a:gd name="connsiteY25" fmla="*/ 2377259 h 2378826"/>
                <a:gd name="connsiteX26" fmla="*/ 240303 w 3738370"/>
                <a:gd name="connsiteY26" fmla="*/ 2377478 h 2378826"/>
                <a:gd name="connsiteX27" fmla="*/ 334144 w 3738370"/>
                <a:gd name="connsiteY27" fmla="*/ 2376850 h 2378826"/>
                <a:gd name="connsiteX28" fmla="*/ 825929 w 3738370"/>
                <a:gd name="connsiteY28" fmla="*/ 2373354 h 2378826"/>
                <a:gd name="connsiteX29" fmla="*/ 1447512 w 3738370"/>
                <a:gd name="connsiteY29" fmla="*/ 2368991 h 2378826"/>
                <a:gd name="connsiteX30" fmla="*/ 2115690 w 3738370"/>
                <a:gd name="connsiteY30" fmla="*/ 2363829 h 2378826"/>
                <a:gd name="connsiteX31" fmla="*/ 2754056 w 3738370"/>
                <a:gd name="connsiteY31" fmla="*/ 2359219 h 2378826"/>
                <a:gd name="connsiteX32" fmla="*/ 3284132 w 3738370"/>
                <a:gd name="connsiteY32" fmla="*/ 2354418 h 2378826"/>
                <a:gd name="connsiteX33" fmla="*/ 3413329 w 3738370"/>
                <a:gd name="connsiteY33" fmla="*/ 2353199 h 2378826"/>
                <a:gd name="connsiteX34" fmla="*/ 3435665 w 3738370"/>
                <a:gd name="connsiteY34" fmla="*/ 2357380 h 2378826"/>
                <a:gd name="connsiteX35" fmla="*/ 3620488 w 3738370"/>
                <a:gd name="connsiteY35" fmla="*/ 2317861 h 2378826"/>
                <a:gd name="connsiteX36" fmla="*/ 3647139 w 3738370"/>
                <a:gd name="connsiteY36" fmla="*/ 2298011 h 2378826"/>
                <a:gd name="connsiteX37" fmla="*/ 3734864 w 3738370"/>
                <a:gd name="connsiteY37" fmla="*/ 2160918 h 2378826"/>
                <a:gd name="connsiteX38" fmla="*/ 3736122 w 3738370"/>
                <a:gd name="connsiteY38" fmla="*/ 2036055 h 2378826"/>
                <a:gd name="connsiteX39" fmla="*/ 3683534 w 3738370"/>
                <a:gd name="connsiteY39" fmla="*/ 2075564 h 2378826"/>
                <a:gd name="connsiteX40" fmla="*/ 3627699 w 3738370"/>
                <a:gd name="connsiteY40" fmla="*/ 2037845 h 2378826"/>
                <a:gd name="connsiteX41" fmla="*/ 3566005 w 3738370"/>
                <a:gd name="connsiteY41" fmla="*/ 2021234 h 2378826"/>
                <a:gd name="connsiteX42" fmla="*/ 3537687 w 3738370"/>
                <a:gd name="connsiteY42" fmla="*/ 2025034 h 2378826"/>
                <a:gd name="connsiteX43" fmla="*/ 3537735 w 3738370"/>
                <a:gd name="connsiteY43" fmla="*/ 2013309 h 2378826"/>
                <a:gd name="connsiteX44" fmla="*/ 3533305 w 3738370"/>
                <a:gd name="connsiteY44" fmla="*/ 1543745 h 2378826"/>
                <a:gd name="connsiteX45" fmla="*/ 3523028 w 3738370"/>
                <a:gd name="connsiteY45" fmla="*/ 597998 h 2378826"/>
                <a:gd name="connsiteX46" fmla="*/ 3519914 w 3738370"/>
                <a:gd name="connsiteY46" fmla="*/ 359912 h 2378826"/>
                <a:gd name="connsiteX47" fmla="*/ 3519961 w 3738370"/>
                <a:gd name="connsiteY47" fmla="*/ 338147 h 2378826"/>
                <a:gd name="connsiteX48" fmla="*/ 3561100 w 3738370"/>
                <a:gd name="connsiteY48" fmla="*/ 342738 h 2378826"/>
                <a:gd name="connsiteX49" fmla="*/ 3622621 w 3738370"/>
                <a:gd name="connsiteY49" fmla="*/ 335566 h 2378826"/>
                <a:gd name="connsiteX50" fmla="*/ 3679381 w 3738370"/>
                <a:gd name="connsiteY50" fmla="*/ 312496 h 2378826"/>
                <a:gd name="connsiteX51" fmla="*/ 3690563 w 3738370"/>
                <a:gd name="connsiteY51" fmla="*/ 304152 h 2378826"/>
                <a:gd name="connsiteX52" fmla="*/ 3692649 w 3738370"/>
                <a:gd name="connsiteY52" fmla="*/ 847858 h 2378826"/>
                <a:gd name="connsiteX53" fmla="*/ 3698821 w 3738370"/>
                <a:gd name="connsiteY53" fmla="*/ 1549403 h 2378826"/>
                <a:gd name="connsiteX54" fmla="*/ 3704442 w 3738370"/>
                <a:gd name="connsiteY54" fmla="*/ 2096338 h 2378826"/>
                <a:gd name="connsiteX55" fmla="*/ 3683534 w 3738370"/>
                <a:gd name="connsiteY55" fmla="*/ 2075564 h 2378826"/>
                <a:gd name="connsiteX56" fmla="*/ 995893 w 3738370"/>
                <a:gd name="connsiteY56" fmla="*/ 42367 h 2378826"/>
                <a:gd name="connsiteX57" fmla="*/ 1618619 w 3738370"/>
                <a:gd name="connsiteY57" fmla="*/ 38481 h 2378826"/>
                <a:gd name="connsiteX58" fmla="*/ 2265814 w 3738370"/>
                <a:gd name="connsiteY58" fmla="*/ 34985 h 2378826"/>
                <a:gd name="connsiteX59" fmla="*/ 2868375 w 3738370"/>
                <a:gd name="connsiteY59" fmla="*/ 32728 h 2378826"/>
                <a:gd name="connsiteX60" fmla="*/ 3356541 w 3738370"/>
                <a:gd name="connsiteY60" fmla="*/ 32547 h 2378826"/>
                <a:gd name="connsiteX61" fmla="*/ 3382306 w 3738370"/>
                <a:gd name="connsiteY61" fmla="*/ 32652 h 2378826"/>
                <a:gd name="connsiteX62" fmla="*/ 3363208 w 3738370"/>
                <a:gd name="connsiteY62" fmla="*/ 102213 h 2378826"/>
                <a:gd name="connsiteX63" fmla="*/ 3357664 w 3738370"/>
                <a:gd name="connsiteY63" fmla="*/ 145694 h 2378826"/>
                <a:gd name="connsiteX64" fmla="*/ 3358722 w 3738370"/>
                <a:gd name="connsiteY64" fmla="*/ 167821 h 2378826"/>
                <a:gd name="connsiteX65" fmla="*/ 3259157 w 3738370"/>
                <a:gd name="connsiteY65" fmla="*/ 165706 h 2378826"/>
                <a:gd name="connsiteX66" fmla="*/ 3027519 w 3738370"/>
                <a:gd name="connsiteY66" fmla="*/ 164116 h 2378826"/>
                <a:gd name="connsiteX67" fmla="*/ 2089335 w 3738370"/>
                <a:gd name="connsiteY67" fmla="*/ 169507 h 2378826"/>
                <a:gd name="connsiteX68" fmla="*/ 1146607 w 3738370"/>
                <a:gd name="connsiteY68" fmla="*/ 173898 h 2378826"/>
                <a:gd name="connsiteX69" fmla="*/ 671805 w 3738370"/>
                <a:gd name="connsiteY69" fmla="*/ 178670 h 2378826"/>
                <a:gd name="connsiteX70" fmla="*/ 437528 w 3738370"/>
                <a:gd name="connsiteY70" fmla="*/ 182518 h 2378826"/>
                <a:gd name="connsiteX71" fmla="*/ 381416 w 3738370"/>
                <a:gd name="connsiteY71" fmla="*/ 183623 h 2378826"/>
                <a:gd name="connsiteX72" fmla="*/ 361747 w 3738370"/>
                <a:gd name="connsiteY72" fmla="*/ 183442 h 2378826"/>
                <a:gd name="connsiteX73" fmla="*/ 365272 w 3738370"/>
                <a:gd name="connsiteY73" fmla="*/ 97574 h 2378826"/>
                <a:gd name="connsiteX74" fmla="*/ 347822 w 3738370"/>
                <a:gd name="connsiteY74" fmla="*/ 46549 h 2378826"/>
                <a:gd name="connsiteX75" fmla="*/ 472028 w 3738370"/>
                <a:gd name="connsiteY75" fmla="*/ 45777 h 2378826"/>
                <a:gd name="connsiteX76" fmla="*/ 995893 w 3738370"/>
                <a:gd name="connsiteY76" fmla="*/ 42367 h 2378826"/>
                <a:gd name="connsiteX77" fmla="*/ 44127 w 3738370"/>
                <a:gd name="connsiteY77" fmla="*/ 1922869 h 2378826"/>
                <a:gd name="connsiteX78" fmla="*/ 38164 w 3738370"/>
                <a:gd name="connsiteY78" fmla="*/ 1295829 h 2378826"/>
                <a:gd name="connsiteX79" fmla="*/ 33116 w 3738370"/>
                <a:gd name="connsiteY79" fmla="*/ 630393 h 2378826"/>
                <a:gd name="connsiteX80" fmla="*/ 32363 w 3738370"/>
                <a:gd name="connsiteY80" fmla="*/ 412671 h 2378826"/>
                <a:gd name="connsiteX81" fmla="*/ 60900 w 3738370"/>
                <a:gd name="connsiteY81" fmla="*/ 431216 h 2378826"/>
                <a:gd name="connsiteX82" fmla="*/ 110754 w 3738370"/>
                <a:gd name="connsiteY82" fmla="*/ 433969 h 2378826"/>
                <a:gd name="connsiteX83" fmla="*/ 199003 w 3738370"/>
                <a:gd name="connsiteY83" fmla="*/ 411651 h 2378826"/>
                <a:gd name="connsiteX84" fmla="*/ 198536 w 3738370"/>
                <a:gd name="connsiteY84" fmla="*/ 632365 h 2378826"/>
                <a:gd name="connsiteX85" fmla="*/ 199984 w 3738370"/>
                <a:gd name="connsiteY85" fmla="*/ 1099404 h 2378826"/>
                <a:gd name="connsiteX86" fmla="*/ 216053 w 3738370"/>
                <a:gd name="connsiteY86" fmla="*/ 2004308 h 2378826"/>
                <a:gd name="connsiteX87" fmla="*/ 111364 w 3738370"/>
                <a:gd name="connsiteY87" fmla="*/ 2019786 h 2378826"/>
                <a:gd name="connsiteX88" fmla="*/ 47165 w 3738370"/>
                <a:gd name="connsiteY88" fmla="*/ 2097929 h 2378826"/>
                <a:gd name="connsiteX89" fmla="*/ 45793 w 3738370"/>
                <a:gd name="connsiteY89" fmla="*/ 2099634 h 2378826"/>
                <a:gd name="connsiteX90" fmla="*/ 44127 w 3738370"/>
                <a:gd name="connsiteY90" fmla="*/ 1922869 h 2378826"/>
                <a:gd name="connsiteX91" fmla="*/ 593691 w 3738370"/>
                <a:gd name="connsiteY91" fmla="*/ 2344598 h 2378826"/>
                <a:gd name="connsiteX92" fmla="*/ 371320 w 3738370"/>
                <a:gd name="connsiteY92" fmla="*/ 2345884 h 2378826"/>
                <a:gd name="connsiteX93" fmla="*/ 394589 w 3738370"/>
                <a:gd name="connsiteY93" fmla="*/ 2276580 h 2378826"/>
                <a:gd name="connsiteX94" fmla="*/ 385017 w 3738370"/>
                <a:gd name="connsiteY94" fmla="*/ 2212448 h 2378826"/>
                <a:gd name="connsiteX95" fmla="*/ 383216 w 3738370"/>
                <a:gd name="connsiteY95" fmla="*/ 2209333 h 2378826"/>
                <a:gd name="connsiteX96" fmla="*/ 404400 w 3738370"/>
                <a:gd name="connsiteY96" fmla="*/ 2210143 h 2378826"/>
                <a:gd name="connsiteX97" fmla="*/ 522234 w 3738370"/>
                <a:gd name="connsiteY97" fmla="*/ 2212943 h 2378826"/>
                <a:gd name="connsiteX98" fmla="*/ 985282 w 3738370"/>
                <a:gd name="connsiteY98" fmla="*/ 2209371 h 2378826"/>
                <a:gd name="connsiteX99" fmla="*/ 1212996 w 3738370"/>
                <a:gd name="connsiteY99" fmla="*/ 2207933 h 2378826"/>
                <a:gd name="connsiteX100" fmla="*/ 1221302 w 3738370"/>
                <a:gd name="connsiteY100" fmla="*/ 2205628 h 2378826"/>
                <a:gd name="connsiteX101" fmla="*/ 1222884 w 3738370"/>
                <a:gd name="connsiteY101" fmla="*/ 2217610 h 2378826"/>
                <a:gd name="connsiteX102" fmla="*/ 1226560 w 3738370"/>
                <a:gd name="connsiteY102" fmla="*/ 2242737 h 2378826"/>
                <a:gd name="connsiteX103" fmla="*/ 1234647 w 3738370"/>
                <a:gd name="connsiteY103" fmla="*/ 2265845 h 2378826"/>
                <a:gd name="connsiteX104" fmla="*/ 1234066 w 3738370"/>
                <a:gd name="connsiteY104" fmla="*/ 2265855 h 2378826"/>
                <a:gd name="connsiteX105" fmla="*/ 1163800 w 3738370"/>
                <a:gd name="connsiteY105" fmla="*/ 2268103 h 2378826"/>
                <a:gd name="connsiteX106" fmla="*/ 1125967 w 3738370"/>
                <a:gd name="connsiteY106" fmla="*/ 2279952 h 2378826"/>
                <a:gd name="connsiteX107" fmla="*/ 1107593 w 3738370"/>
                <a:gd name="connsiteY107" fmla="*/ 2315832 h 2378826"/>
                <a:gd name="connsiteX108" fmla="*/ 1106098 w 3738370"/>
                <a:gd name="connsiteY108" fmla="*/ 2341607 h 2378826"/>
                <a:gd name="connsiteX109" fmla="*/ 593691 w 3738370"/>
                <a:gd name="connsiteY109" fmla="*/ 2344598 h 2378826"/>
                <a:gd name="connsiteX110" fmla="*/ 1688056 w 3738370"/>
                <a:gd name="connsiteY110" fmla="*/ 2093500 h 2378826"/>
                <a:gd name="connsiteX111" fmla="*/ 1695409 w 3738370"/>
                <a:gd name="connsiteY111" fmla="*/ 2129847 h 2378826"/>
                <a:gd name="connsiteX112" fmla="*/ 1704658 w 3738370"/>
                <a:gd name="connsiteY112" fmla="*/ 2177053 h 2378826"/>
                <a:gd name="connsiteX113" fmla="*/ 1729518 w 3738370"/>
                <a:gd name="connsiteY113" fmla="*/ 2257463 h 2378826"/>
                <a:gd name="connsiteX114" fmla="*/ 1728775 w 3738370"/>
                <a:gd name="connsiteY114" fmla="*/ 2257473 h 2378826"/>
                <a:gd name="connsiteX115" fmla="*/ 1333545 w 3738370"/>
                <a:gd name="connsiteY115" fmla="*/ 2264236 h 2378826"/>
                <a:gd name="connsiteX116" fmla="*/ 1254764 w 3738370"/>
                <a:gd name="connsiteY116" fmla="*/ 2265502 h 2378826"/>
                <a:gd name="connsiteX117" fmla="*/ 1255887 w 3738370"/>
                <a:gd name="connsiteY117" fmla="*/ 2263616 h 2378826"/>
                <a:gd name="connsiteX118" fmla="*/ 1252964 w 3738370"/>
                <a:gd name="connsiteY118" fmla="*/ 2212991 h 2378826"/>
                <a:gd name="connsiteX119" fmla="*/ 1248058 w 3738370"/>
                <a:gd name="connsiteY119" fmla="*/ 2168347 h 2378826"/>
                <a:gd name="connsiteX120" fmla="*/ 1241124 w 3738370"/>
                <a:gd name="connsiteY120" fmla="*/ 2104949 h 2378826"/>
                <a:gd name="connsiteX121" fmla="*/ 1251696 w 3738370"/>
                <a:gd name="connsiteY121" fmla="*/ 2101520 h 2378826"/>
                <a:gd name="connsiteX122" fmla="*/ 1292473 w 3738370"/>
                <a:gd name="connsiteY122" fmla="*/ 2093014 h 2378826"/>
                <a:gd name="connsiteX123" fmla="*/ 1384142 w 3738370"/>
                <a:gd name="connsiteY123" fmla="*/ 2084899 h 2378826"/>
                <a:gd name="connsiteX124" fmla="*/ 1588139 w 3738370"/>
                <a:gd name="connsiteY124" fmla="*/ 2090557 h 2378826"/>
                <a:gd name="connsiteX125" fmla="*/ 1683998 w 3738370"/>
                <a:gd name="connsiteY125" fmla="*/ 2093976 h 2378826"/>
                <a:gd name="connsiteX126" fmla="*/ 1688056 w 3738370"/>
                <a:gd name="connsiteY126" fmla="*/ 2093500 h 2378826"/>
                <a:gd name="connsiteX127" fmla="*/ 1756141 w 3738370"/>
                <a:gd name="connsiteY127" fmla="*/ 2242166 h 2378826"/>
                <a:gd name="connsiteX128" fmla="*/ 1741196 w 3738370"/>
                <a:gd name="connsiteY128" fmla="*/ 2201752 h 2378826"/>
                <a:gd name="connsiteX129" fmla="*/ 1748178 w 3738370"/>
                <a:gd name="connsiteY129" fmla="*/ 2203285 h 2378826"/>
                <a:gd name="connsiteX130" fmla="*/ 1979635 w 3738370"/>
                <a:gd name="connsiteY130" fmla="*/ 2201913 h 2378826"/>
                <a:gd name="connsiteX131" fmla="*/ 1985264 w 3738370"/>
                <a:gd name="connsiteY131" fmla="*/ 2200894 h 2378826"/>
                <a:gd name="connsiteX132" fmla="*/ 2136903 w 3738370"/>
                <a:gd name="connsiteY132" fmla="*/ 2252291 h 2378826"/>
                <a:gd name="connsiteX133" fmla="*/ 2125806 w 3738370"/>
                <a:gd name="connsiteY133" fmla="*/ 2252405 h 2378826"/>
                <a:gd name="connsiteX134" fmla="*/ 1756064 w 3738370"/>
                <a:gd name="connsiteY134" fmla="*/ 2257101 h 2378826"/>
                <a:gd name="connsiteX135" fmla="*/ 1756141 w 3738370"/>
                <a:gd name="connsiteY135" fmla="*/ 2242166 h 2378826"/>
                <a:gd name="connsiteX136" fmla="*/ 2299866 w 3738370"/>
                <a:gd name="connsiteY136" fmla="*/ 2192750 h 2378826"/>
                <a:gd name="connsiteX137" fmla="*/ 2299180 w 3738370"/>
                <a:gd name="connsiteY137" fmla="*/ 2242509 h 2378826"/>
                <a:gd name="connsiteX138" fmla="*/ 2299513 w 3738370"/>
                <a:gd name="connsiteY138" fmla="*/ 2250681 h 2378826"/>
                <a:gd name="connsiteX139" fmla="*/ 2188976 w 3738370"/>
                <a:gd name="connsiteY139" fmla="*/ 2251758 h 2378826"/>
                <a:gd name="connsiteX140" fmla="*/ 2178965 w 3738370"/>
                <a:gd name="connsiteY140" fmla="*/ 2232346 h 2378826"/>
                <a:gd name="connsiteX141" fmla="*/ 1984721 w 3738370"/>
                <a:gd name="connsiteY141" fmla="*/ 2167814 h 2378826"/>
                <a:gd name="connsiteX142" fmla="*/ 1987217 w 3738370"/>
                <a:gd name="connsiteY142" fmla="*/ 2138953 h 2378826"/>
                <a:gd name="connsiteX143" fmla="*/ 1990170 w 3738370"/>
                <a:gd name="connsiteY143" fmla="*/ 2116931 h 2378826"/>
                <a:gd name="connsiteX144" fmla="*/ 1994361 w 3738370"/>
                <a:gd name="connsiteY144" fmla="*/ 2094424 h 2378826"/>
                <a:gd name="connsiteX145" fmla="*/ 2014087 w 3738370"/>
                <a:gd name="connsiteY145" fmla="*/ 2103377 h 2378826"/>
                <a:gd name="connsiteX146" fmla="*/ 2054073 w 3738370"/>
                <a:gd name="connsiteY146" fmla="*/ 2118312 h 2378826"/>
                <a:gd name="connsiteX147" fmla="*/ 2123348 w 3738370"/>
                <a:gd name="connsiteY147" fmla="*/ 2140972 h 2378826"/>
                <a:gd name="connsiteX148" fmla="*/ 2237611 w 3738370"/>
                <a:gd name="connsiteY148" fmla="*/ 2175653 h 2378826"/>
                <a:gd name="connsiteX149" fmla="*/ 2299866 w 3738370"/>
                <a:gd name="connsiteY149" fmla="*/ 2192750 h 2378826"/>
                <a:gd name="connsiteX150" fmla="*/ 1925962 w 3738370"/>
                <a:gd name="connsiteY150" fmla="*/ 2149202 h 2378826"/>
                <a:gd name="connsiteX151" fmla="*/ 1960500 w 3738370"/>
                <a:gd name="connsiteY151" fmla="*/ 2141068 h 2378826"/>
                <a:gd name="connsiteX152" fmla="*/ 1959966 w 3738370"/>
                <a:gd name="connsiteY152" fmla="*/ 2160137 h 2378826"/>
                <a:gd name="connsiteX153" fmla="*/ 1956289 w 3738370"/>
                <a:gd name="connsiteY153" fmla="*/ 2158013 h 2378826"/>
                <a:gd name="connsiteX154" fmla="*/ 1901349 w 3738370"/>
                <a:gd name="connsiteY154" fmla="*/ 2146030 h 2378826"/>
                <a:gd name="connsiteX155" fmla="*/ 1897673 w 3738370"/>
                <a:gd name="connsiteY155" fmla="*/ 2143944 h 2378826"/>
                <a:gd name="connsiteX156" fmla="*/ 1925962 w 3738370"/>
                <a:gd name="connsiteY156" fmla="*/ 2149202 h 2378826"/>
                <a:gd name="connsiteX157" fmla="*/ 2452818 w 3738370"/>
                <a:gd name="connsiteY157" fmla="*/ 2336406 h 2378826"/>
                <a:gd name="connsiteX158" fmla="*/ 1802346 w 3738370"/>
                <a:gd name="connsiteY158" fmla="*/ 2338273 h 2378826"/>
                <a:gd name="connsiteX159" fmla="*/ 1156218 w 3738370"/>
                <a:gd name="connsiteY159" fmla="*/ 2341302 h 2378826"/>
                <a:gd name="connsiteX160" fmla="*/ 1116594 w 3738370"/>
                <a:gd name="connsiteY160" fmla="*/ 2341531 h 2378826"/>
                <a:gd name="connsiteX161" fmla="*/ 1126967 w 3738370"/>
                <a:gd name="connsiteY161" fmla="*/ 2296916 h 2378826"/>
                <a:gd name="connsiteX162" fmla="*/ 1158418 w 3738370"/>
                <a:gd name="connsiteY162" fmla="*/ 2282143 h 2378826"/>
                <a:gd name="connsiteX163" fmla="*/ 1217168 w 3738370"/>
                <a:gd name="connsiteY163" fmla="*/ 2280419 h 2378826"/>
                <a:gd name="connsiteX164" fmla="*/ 1312895 w 3738370"/>
                <a:gd name="connsiteY164" fmla="*/ 2279723 h 2378826"/>
                <a:gd name="connsiteX165" fmla="*/ 1692923 w 3738370"/>
                <a:gd name="connsiteY165" fmla="*/ 2275094 h 2378826"/>
                <a:gd name="connsiteX166" fmla="*/ 2072866 w 3738370"/>
                <a:gd name="connsiteY166" fmla="*/ 2270065 h 2378826"/>
                <a:gd name="connsiteX167" fmla="*/ 2455476 w 3738370"/>
                <a:gd name="connsiteY167" fmla="*/ 2267484 h 2378826"/>
                <a:gd name="connsiteX168" fmla="*/ 2542363 w 3738370"/>
                <a:gd name="connsiteY168" fmla="*/ 2267207 h 2378826"/>
                <a:gd name="connsiteX169" fmla="*/ 2597017 w 3738370"/>
                <a:gd name="connsiteY169" fmla="*/ 2267350 h 2378826"/>
                <a:gd name="connsiteX170" fmla="*/ 2634793 w 3738370"/>
                <a:gd name="connsiteY170" fmla="*/ 2276875 h 2378826"/>
                <a:gd name="connsiteX171" fmla="*/ 2663521 w 3738370"/>
                <a:gd name="connsiteY171" fmla="*/ 2309317 h 2378826"/>
                <a:gd name="connsiteX172" fmla="*/ 2675513 w 3738370"/>
                <a:gd name="connsiteY172" fmla="*/ 2336340 h 2378826"/>
                <a:gd name="connsiteX173" fmla="*/ 2452818 w 3738370"/>
                <a:gd name="connsiteY173" fmla="*/ 2336406 h 2378826"/>
                <a:gd name="connsiteX174" fmla="*/ 3037558 w 3738370"/>
                <a:gd name="connsiteY174" fmla="*/ 2337206 h 2378826"/>
                <a:gd name="connsiteX175" fmla="*/ 2694182 w 3738370"/>
                <a:gd name="connsiteY175" fmla="*/ 2336359 h 2378826"/>
                <a:gd name="connsiteX176" fmla="*/ 2693667 w 3738370"/>
                <a:gd name="connsiteY176" fmla="*/ 2333149 h 2378826"/>
                <a:gd name="connsiteX177" fmla="*/ 2631545 w 3738370"/>
                <a:gd name="connsiteY177" fmla="*/ 2254853 h 2378826"/>
                <a:gd name="connsiteX178" fmla="*/ 2525684 w 3738370"/>
                <a:gd name="connsiteY178" fmla="*/ 2248910 h 2378826"/>
                <a:gd name="connsiteX179" fmla="*/ 2328860 w 3738370"/>
                <a:gd name="connsiteY179" fmla="*/ 2250405 h 2378826"/>
                <a:gd name="connsiteX180" fmla="*/ 2328222 w 3738370"/>
                <a:gd name="connsiteY180" fmla="*/ 2176367 h 2378826"/>
                <a:gd name="connsiteX181" fmla="*/ 2325564 w 3738370"/>
                <a:gd name="connsiteY181" fmla="*/ 2170786 h 2378826"/>
                <a:gd name="connsiteX182" fmla="*/ 2317497 w 3738370"/>
                <a:gd name="connsiteY182" fmla="*/ 2165652 h 2378826"/>
                <a:gd name="connsiteX183" fmla="*/ 2071409 w 3738370"/>
                <a:gd name="connsiteY183" fmla="*/ 2094033 h 2378826"/>
                <a:gd name="connsiteX184" fmla="*/ 2026412 w 3738370"/>
                <a:gd name="connsiteY184" fmla="*/ 2082622 h 2378826"/>
                <a:gd name="connsiteX185" fmla="*/ 2000114 w 3738370"/>
                <a:gd name="connsiteY185" fmla="*/ 2078250 h 2378826"/>
                <a:gd name="connsiteX186" fmla="*/ 1977873 w 3738370"/>
                <a:gd name="connsiteY186" fmla="*/ 2079098 h 2378826"/>
                <a:gd name="connsiteX187" fmla="*/ 1976997 w 3738370"/>
                <a:gd name="connsiteY187" fmla="*/ 2081717 h 2378826"/>
                <a:gd name="connsiteX188" fmla="*/ 1972168 w 3738370"/>
                <a:gd name="connsiteY188" fmla="*/ 2084851 h 2378826"/>
                <a:gd name="connsiteX189" fmla="*/ 1963748 w 3738370"/>
                <a:gd name="connsiteY189" fmla="*/ 2102577 h 2378826"/>
                <a:gd name="connsiteX190" fmla="*/ 1886157 w 3738370"/>
                <a:gd name="connsiteY190" fmla="*/ 2088261 h 2378826"/>
                <a:gd name="connsiteX191" fmla="*/ 1871555 w 3738370"/>
                <a:gd name="connsiteY191" fmla="*/ 2094205 h 2378826"/>
                <a:gd name="connsiteX192" fmla="*/ 1866393 w 3738370"/>
                <a:gd name="connsiteY192" fmla="*/ 2106054 h 2378826"/>
                <a:gd name="connsiteX193" fmla="*/ 1861716 w 3738370"/>
                <a:gd name="connsiteY193" fmla="*/ 2117188 h 2378826"/>
                <a:gd name="connsiteX194" fmla="*/ 1862725 w 3738370"/>
                <a:gd name="connsiteY194" fmla="*/ 2122865 h 2378826"/>
                <a:gd name="connsiteX195" fmla="*/ 1882851 w 3738370"/>
                <a:gd name="connsiteY195" fmla="*/ 2163661 h 2378826"/>
                <a:gd name="connsiteX196" fmla="*/ 1900330 w 3738370"/>
                <a:gd name="connsiteY196" fmla="*/ 2171691 h 2378826"/>
                <a:gd name="connsiteX197" fmla="*/ 1748187 w 3738370"/>
                <a:gd name="connsiteY197" fmla="*/ 2172595 h 2378826"/>
                <a:gd name="connsiteX198" fmla="*/ 1736176 w 3738370"/>
                <a:gd name="connsiteY198" fmla="*/ 2178634 h 2378826"/>
                <a:gd name="connsiteX199" fmla="*/ 1733700 w 3738370"/>
                <a:gd name="connsiteY199" fmla="*/ 2165985 h 2378826"/>
                <a:gd name="connsiteX200" fmla="*/ 1725032 w 3738370"/>
                <a:gd name="connsiteY200" fmla="*/ 2121694 h 2378826"/>
                <a:gd name="connsiteX201" fmla="*/ 1710535 w 3738370"/>
                <a:gd name="connsiteY201" fmla="*/ 2077888 h 2378826"/>
                <a:gd name="connsiteX202" fmla="*/ 1697705 w 3738370"/>
                <a:gd name="connsiteY202" fmla="*/ 2072488 h 2378826"/>
                <a:gd name="connsiteX203" fmla="*/ 1684017 w 3738370"/>
                <a:gd name="connsiteY203" fmla="*/ 2063296 h 2378826"/>
                <a:gd name="connsiteX204" fmla="*/ 1292207 w 3738370"/>
                <a:gd name="connsiteY204" fmla="*/ 2062115 h 2378826"/>
                <a:gd name="connsiteX205" fmla="*/ 1246096 w 3738370"/>
                <a:gd name="connsiteY205" fmla="*/ 2073631 h 2378826"/>
                <a:gd name="connsiteX206" fmla="*/ 1233780 w 3738370"/>
                <a:gd name="connsiteY206" fmla="*/ 2078155 h 2378826"/>
                <a:gd name="connsiteX207" fmla="*/ 1221778 w 3738370"/>
                <a:gd name="connsiteY207" fmla="*/ 2081994 h 2378826"/>
                <a:gd name="connsiteX208" fmla="*/ 1221141 w 3738370"/>
                <a:gd name="connsiteY208" fmla="*/ 2084651 h 2378826"/>
                <a:gd name="connsiteX209" fmla="*/ 1211073 w 3738370"/>
                <a:gd name="connsiteY209" fmla="*/ 2098043 h 2378826"/>
                <a:gd name="connsiteX210" fmla="*/ 1216349 w 3738370"/>
                <a:gd name="connsiteY210" fmla="*/ 2107340 h 2378826"/>
                <a:gd name="connsiteX211" fmla="*/ 1217254 w 3738370"/>
                <a:gd name="connsiteY211" fmla="*/ 2107645 h 2378826"/>
                <a:gd name="connsiteX212" fmla="*/ 1217521 w 3738370"/>
                <a:gd name="connsiteY212" fmla="*/ 2170062 h 2378826"/>
                <a:gd name="connsiteX213" fmla="*/ 1218245 w 3738370"/>
                <a:gd name="connsiteY213" fmla="*/ 2178091 h 2378826"/>
                <a:gd name="connsiteX214" fmla="*/ 1213006 w 3738370"/>
                <a:gd name="connsiteY214" fmla="*/ 2177234 h 2378826"/>
                <a:gd name="connsiteX215" fmla="*/ 760569 w 3738370"/>
                <a:gd name="connsiteY215" fmla="*/ 2181987 h 2378826"/>
                <a:gd name="connsiteX216" fmla="*/ 535331 w 3738370"/>
                <a:gd name="connsiteY216" fmla="*/ 2182406 h 2378826"/>
                <a:gd name="connsiteX217" fmla="*/ 424069 w 3738370"/>
                <a:gd name="connsiteY217" fmla="*/ 2180092 h 2378826"/>
                <a:gd name="connsiteX218" fmla="*/ 368358 w 3738370"/>
                <a:gd name="connsiteY218" fmla="*/ 2178053 h 2378826"/>
                <a:gd name="connsiteX219" fmla="*/ 312522 w 3738370"/>
                <a:gd name="connsiteY219" fmla="*/ 2173548 h 2378826"/>
                <a:gd name="connsiteX220" fmla="*/ 282461 w 3738370"/>
                <a:gd name="connsiteY220" fmla="*/ 2142496 h 2378826"/>
                <a:gd name="connsiteX221" fmla="*/ 255467 w 3738370"/>
                <a:gd name="connsiteY221" fmla="*/ 2101348 h 2378826"/>
                <a:gd name="connsiteX222" fmla="*/ 248238 w 3738370"/>
                <a:gd name="connsiteY222" fmla="*/ 2053533 h 2378826"/>
                <a:gd name="connsiteX223" fmla="*/ 246438 w 3738370"/>
                <a:gd name="connsiteY223" fmla="*/ 1994230 h 2378826"/>
                <a:gd name="connsiteX224" fmla="*/ 240427 w 3738370"/>
                <a:gd name="connsiteY224" fmla="*/ 1763763 h 2378826"/>
                <a:gd name="connsiteX225" fmla="*/ 232693 w 3738370"/>
                <a:gd name="connsiteY225" fmla="*/ 1309859 h 2378826"/>
                <a:gd name="connsiteX226" fmla="*/ 229750 w 3738370"/>
                <a:gd name="connsiteY226" fmla="*/ 401936 h 2378826"/>
                <a:gd name="connsiteX227" fmla="*/ 229969 w 3738370"/>
                <a:gd name="connsiteY227" fmla="*/ 345929 h 2378826"/>
                <a:gd name="connsiteX228" fmla="*/ 236551 w 3738370"/>
                <a:gd name="connsiteY228" fmla="*/ 292770 h 2378826"/>
                <a:gd name="connsiteX229" fmla="*/ 292253 w 3738370"/>
                <a:gd name="connsiteY229" fmla="*/ 234934 h 2378826"/>
                <a:gd name="connsiteX230" fmla="*/ 326295 w 3738370"/>
                <a:gd name="connsiteY230" fmla="*/ 219046 h 2378826"/>
                <a:gd name="connsiteX231" fmla="*/ 381436 w 3738370"/>
                <a:gd name="connsiteY231" fmla="*/ 214351 h 2378826"/>
                <a:gd name="connsiteX232" fmla="*/ 493659 w 3738370"/>
                <a:gd name="connsiteY232" fmla="*/ 212207 h 2378826"/>
                <a:gd name="connsiteX233" fmla="*/ 952136 w 3738370"/>
                <a:gd name="connsiteY233" fmla="*/ 206169 h 2378826"/>
                <a:gd name="connsiteX234" fmla="*/ 1865154 w 3738370"/>
                <a:gd name="connsiteY234" fmla="*/ 201263 h 2378826"/>
                <a:gd name="connsiteX235" fmla="*/ 2772906 w 3738370"/>
                <a:gd name="connsiteY235" fmla="*/ 195853 h 2378826"/>
                <a:gd name="connsiteX236" fmla="*/ 3223334 w 3738370"/>
                <a:gd name="connsiteY236" fmla="*/ 195910 h 2378826"/>
                <a:gd name="connsiteX237" fmla="*/ 3337319 w 3738370"/>
                <a:gd name="connsiteY237" fmla="*/ 197958 h 2378826"/>
                <a:gd name="connsiteX238" fmla="*/ 3393479 w 3738370"/>
                <a:gd name="connsiteY238" fmla="*/ 199892 h 2378826"/>
                <a:gd name="connsiteX239" fmla="*/ 3439380 w 3738370"/>
                <a:gd name="connsiteY239" fmla="*/ 219828 h 2378826"/>
                <a:gd name="connsiteX240" fmla="*/ 3485566 w 3738370"/>
                <a:gd name="connsiteY240" fmla="*/ 283836 h 2378826"/>
                <a:gd name="connsiteX241" fmla="*/ 3488815 w 3738370"/>
                <a:gd name="connsiteY241" fmla="*/ 330156 h 2378826"/>
                <a:gd name="connsiteX242" fmla="*/ 3489624 w 3738370"/>
                <a:gd name="connsiteY242" fmla="*/ 389677 h 2378826"/>
                <a:gd name="connsiteX243" fmla="*/ 3500254 w 3738370"/>
                <a:gd name="connsiteY243" fmla="*/ 1305659 h 2378826"/>
                <a:gd name="connsiteX244" fmla="*/ 3504693 w 3738370"/>
                <a:gd name="connsiteY244" fmla="*/ 1762001 h 2378826"/>
                <a:gd name="connsiteX245" fmla="*/ 3506826 w 3738370"/>
                <a:gd name="connsiteY245" fmla="*/ 1990173 h 2378826"/>
                <a:gd name="connsiteX246" fmla="*/ 3495358 w 3738370"/>
                <a:gd name="connsiteY246" fmla="*/ 2083146 h 2378826"/>
                <a:gd name="connsiteX247" fmla="*/ 3441751 w 3738370"/>
                <a:gd name="connsiteY247" fmla="*/ 2141725 h 2378826"/>
                <a:gd name="connsiteX248" fmla="*/ 3425245 w 3738370"/>
                <a:gd name="connsiteY248" fmla="*/ 2151240 h 2378826"/>
                <a:gd name="connsiteX249" fmla="*/ 3410929 w 3738370"/>
                <a:gd name="connsiteY249" fmla="*/ 2152774 h 2378826"/>
                <a:gd name="connsiteX250" fmla="*/ 3378524 w 3738370"/>
                <a:gd name="connsiteY250" fmla="*/ 2156289 h 2378826"/>
                <a:gd name="connsiteX251" fmla="*/ 3311516 w 3738370"/>
                <a:gd name="connsiteY251" fmla="*/ 2161165 h 2378826"/>
                <a:gd name="connsiteX252" fmla="*/ 3179880 w 3738370"/>
                <a:gd name="connsiteY252" fmla="*/ 2163880 h 2378826"/>
                <a:gd name="connsiteX253" fmla="*/ 2912409 w 3738370"/>
                <a:gd name="connsiteY253" fmla="*/ 2161403 h 2378826"/>
                <a:gd name="connsiteX254" fmla="*/ 2788556 w 3738370"/>
                <a:gd name="connsiteY254" fmla="*/ 2167928 h 2378826"/>
                <a:gd name="connsiteX255" fmla="*/ 2568338 w 3738370"/>
                <a:gd name="connsiteY255" fmla="*/ 2168319 h 2378826"/>
                <a:gd name="connsiteX256" fmla="*/ 2345928 w 3738370"/>
                <a:gd name="connsiteY256" fmla="*/ 2169004 h 2378826"/>
                <a:gd name="connsiteX257" fmla="*/ 2345928 w 3738370"/>
                <a:gd name="connsiteY257" fmla="*/ 2199713 h 2378826"/>
                <a:gd name="connsiteX258" fmla="*/ 3283675 w 3738370"/>
                <a:gd name="connsiteY258" fmla="*/ 2198389 h 2378826"/>
                <a:gd name="connsiteX259" fmla="*/ 3355950 w 3738370"/>
                <a:gd name="connsiteY259" fmla="*/ 2199637 h 2378826"/>
                <a:gd name="connsiteX260" fmla="*/ 3354359 w 3738370"/>
                <a:gd name="connsiteY260" fmla="*/ 2208486 h 2378826"/>
                <a:gd name="connsiteX261" fmla="*/ 3351131 w 3738370"/>
                <a:gd name="connsiteY261" fmla="*/ 2236851 h 2378826"/>
                <a:gd name="connsiteX262" fmla="*/ 3358646 w 3738370"/>
                <a:gd name="connsiteY262" fmla="*/ 2288305 h 2378826"/>
                <a:gd name="connsiteX263" fmla="*/ 3386554 w 3738370"/>
                <a:gd name="connsiteY263" fmla="*/ 2332492 h 2378826"/>
                <a:gd name="connsiteX264" fmla="*/ 3396507 w 3738370"/>
                <a:gd name="connsiteY264" fmla="*/ 2341617 h 2378826"/>
                <a:gd name="connsiteX265" fmla="*/ 3037558 w 3738370"/>
                <a:gd name="connsiteY265" fmla="*/ 2337206 h 237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Lst>
              <a:rect l="l" t="t" r="r" b="b"/>
              <a:pathLst>
                <a:path w="3738370" h="2378826">
                  <a:moveTo>
                    <a:pt x="3736122" y="2036055"/>
                  </a:moveTo>
                  <a:cubicBezTo>
                    <a:pt x="3735665" y="1991087"/>
                    <a:pt x="3735188" y="1946129"/>
                    <a:pt x="3734722" y="1901161"/>
                  </a:cubicBezTo>
                  <a:cubicBezTo>
                    <a:pt x="3732378" y="1675600"/>
                    <a:pt x="3730035" y="1450038"/>
                    <a:pt x="3727996" y="1224477"/>
                  </a:cubicBezTo>
                  <a:cubicBezTo>
                    <a:pt x="3725920" y="994239"/>
                    <a:pt x="3724044" y="763991"/>
                    <a:pt x="3723177" y="533743"/>
                  </a:cubicBezTo>
                  <a:cubicBezTo>
                    <a:pt x="3722834" y="441912"/>
                    <a:pt x="3722634" y="350082"/>
                    <a:pt x="3722949" y="258242"/>
                  </a:cubicBezTo>
                  <a:cubicBezTo>
                    <a:pt x="3723120" y="209445"/>
                    <a:pt x="3725063" y="162239"/>
                    <a:pt x="3704689" y="116491"/>
                  </a:cubicBezTo>
                  <a:cubicBezTo>
                    <a:pt x="3681600" y="64637"/>
                    <a:pt x="3635966" y="20612"/>
                    <a:pt x="3580217" y="6248"/>
                  </a:cubicBezTo>
                  <a:cubicBezTo>
                    <a:pt x="3548955" y="-1810"/>
                    <a:pt x="3514608" y="1019"/>
                    <a:pt x="3482509" y="810"/>
                  </a:cubicBezTo>
                  <a:cubicBezTo>
                    <a:pt x="3451248" y="610"/>
                    <a:pt x="3419987" y="457"/>
                    <a:pt x="3388716" y="343"/>
                  </a:cubicBezTo>
                  <a:cubicBezTo>
                    <a:pt x="3314888" y="76"/>
                    <a:pt x="3241060" y="0"/>
                    <a:pt x="3167231" y="0"/>
                  </a:cubicBezTo>
                  <a:cubicBezTo>
                    <a:pt x="2982027" y="10"/>
                    <a:pt x="2796814" y="533"/>
                    <a:pt x="2611609" y="1210"/>
                  </a:cubicBezTo>
                  <a:cubicBezTo>
                    <a:pt x="2397240" y="1991"/>
                    <a:pt x="2182880" y="3029"/>
                    <a:pt x="1968510" y="4181"/>
                  </a:cubicBezTo>
                  <a:cubicBezTo>
                    <a:pt x="1749301" y="5363"/>
                    <a:pt x="1530103" y="6667"/>
                    <a:pt x="1310895" y="8039"/>
                  </a:cubicBezTo>
                  <a:cubicBezTo>
                    <a:pt x="1113603" y="9277"/>
                    <a:pt x="916312" y="10563"/>
                    <a:pt x="719020" y="11859"/>
                  </a:cubicBezTo>
                  <a:cubicBezTo>
                    <a:pt x="567497" y="12849"/>
                    <a:pt x="415973" y="13859"/>
                    <a:pt x="264449" y="14764"/>
                  </a:cubicBezTo>
                  <a:cubicBezTo>
                    <a:pt x="236017" y="14935"/>
                    <a:pt x="207185" y="13745"/>
                    <a:pt x="178810" y="15497"/>
                  </a:cubicBezTo>
                  <a:cubicBezTo>
                    <a:pt x="125823" y="18774"/>
                    <a:pt x="70682" y="43929"/>
                    <a:pt x="35735" y="84344"/>
                  </a:cubicBezTo>
                  <a:cubicBezTo>
                    <a:pt x="18838" y="103889"/>
                    <a:pt x="6351" y="127092"/>
                    <a:pt x="2312" y="152791"/>
                  </a:cubicBezTo>
                  <a:cubicBezTo>
                    <a:pt x="-536" y="170926"/>
                    <a:pt x="502" y="189767"/>
                    <a:pt x="388" y="208083"/>
                  </a:cubicBezTo>
                  <a:cubicBezTo>
                    <a:pt x="150" y="246250"/>
                    <a:pt x="54" y="284416"/>
                    <a:pt x="16" y="322583"/>
                  </a:cubicBezTo>
                  <a:cubicBezTo>
                    <a:pt x="-165" y="524161"/>
                    <a:pt x="1188" y="725748"/>
                    <a:pt x="2712" y="927316"/>
                  </a:cubicBezTo>
                  <a:cubicBezTo>
                    <a:pt x="4436" y="1155411"/>
                    <a:pt x="6608" y="1383497"/>
                    <a:pt x="9065" y="1611582"/>
                  </a:cubicBezTo>
                  <a:cubicBezTo>
                    <a:pt x="11018" y="1792948"/>
                    <a:pt x="13132" y="1974313"/>
                    <a:pt x="14999" y="2155679"/>
                  </a:cubicBezTo>
                  <a:cubicBezTo>
                    <a:pt x="15180" y="2173043"/>
                    <a:pt x="14294" y="2190836"/>
                    <a:pt x="16485" y="2208076"/>
                  </a:cubicBezTo>
                  <a:cubicBezTo>
                    <a:pt x="19790" y="2234108"/>
                    <a:pt x="30039" y="2259120"/>
                    <a:pt x="42927" y="2281828"/>
                  </a:cubicBezTo>
                  <a:cubicBezTo>
                    <a:pt x="66358" y="2323100"/>
                    <a:pt x="106230" y="2371163"/>
                    <a:pt x="156588" y="2377259"/>
                  </a:cubicBezTo>
                  <a:cubicBezTo>
                    <a:pt x="183811" y="2380555"/>
                    <a:pt x="212900" y="2377659"/>
                    <a:pt x="240303" y="2377478"/>
                  </a:cubicBezTo>
                  <a:cubicBezTo>
                    <a:pt x="271583" y="2377278"/>
                    <a:pt x="302864" y="2377068"/>
                    <a:pt x="334144" y="2376850"/>
                  </a:cubicBezTo>
                  <a:cubicBezTo>
                    <a:pt x="498069" y="2375735"/>
                    <a:pt x="662004" y="2374535"/>
                    <a:pt x="825929" y="2373354"/>
                  </a:cubicBezTo>
                  <a:cubicBezTo>
                    <a:pt x="1033127" y="2371868"/>
                    <a:pt x="1240315" y="2370392"/>
                    <a:pt x="1447512" y="2368991"/>
                  </a:cubicBezTo>
                  <a:cubicBezTo>
                    <a:pt x="1670244" y="2367487"/>
                    <a:pt x="1892967" y="2365439"/>
                    <a:pt x="2115690" y="2363829"/>
                  </a:cubicBezTo>
                  <a:cubicBezTo>
                    <a:pt x="2328479" y="2362286"/>
                    <a:pt x="2541267" y="2360876"/>
                    <a:pt x="2754056" y="2359219"/>
                  </a:cubicBezTo>
                  <a:cubicBezTo>
                    <a:pt x="2930764" y="2357847"/>
                    <a:pt x="3107443" y="2356342"/>
                    <a:pt x="3284132" y="2354418"/>
                  </a:cubicBezTo>
                  <a:cubicBezTo>
                    <a:pt x="3327194" y="2353952"/>
                    <a:pt x="3370257" y="2353551"/>
                    <a:pt x="3413329" y="2353199"/>
                  </a:cubicBezTo>
                  <a:cubicBezTo>
                    <a:pt x="3420673" y="2356971"/>
                    <a:pt x="3428369" y="2359009"/>
                    <a:pt x="3435665" y="2357380"/>
                  </a:cubicBezTo>
                  <a:cubicBezTo>
                    <a:pt x="3516113" y="2381021"/>
                    <a:pt x="3576492" y="2356961"/>
                    <a:pt x="3620488" y="2317861"/>
                  </a:cubicBezTo>
                  <a:cubicBezTo>
                    <a:pt x="3629699" y="2311708"/>
                    <a:pt x="3638595" y="2305069"/>
                    <a:pt x="3647139" y="2298011"/>
                  </a:cubicBezTo>
                  <a:cubicBezTo>
                    <a:pt x="3688554" y="2263750"/>
                    <a:pt x="3725691" y="2215058"/>
                    <a:pt x="3734864" y="2160918"/>
                  </a:cubicBezTo>
                  <a:cubicBezTo>
                    <a:pt x="3741675" y="2120760"/>
                    <a:pt x="3736541" y="2076688"/>
                    <a:pt x="3736122" y="2036055"/>
                  </a:cubicBezTo>
                  <a:close/>
                  <a:moveTo>
                    <a:pt x="3683534" y="2075564"/>
                  </a:moveTo>
                  <a:cubicBezTo>
                    <a:pt x="3666779" y="2060553"/>
                    <a:pt x="3648034" y="2047513"/>
                    <a:pt x="3627699" y="2037845"/>
                  </a:cubicBezTo>
                  <a:cubicBezTo>
                    <a:pt x="3608553" y="2028749"/>
                    <a:pt x="3587446" y="2021319"/>
                    <a:pt x="3566005" y="2021234"/>
                  </a:cubicBezTo>
                  <a:cubicBezTo>
                    <a:pt x="3556661" y="2021195"/>
                    <a:pt x="3546755" y="2022177"/>
                    <a:pt x="3537687" y="2025034"/>
                  </a:cubicBezTo>
                  <a:cubicBezTo>
                    <a:pt x="3537763" y="2021167"/>
                    <a:pt x="3537773" y="2017262"/>
                    <a:pt x="3537735" y="2013309"/>
                  </a:cubicBezTo>
                  <a:cubicBezTo>
                    <a:pt x="3536277" y="1856784"/>
                    <a:pt x="3534820" y="1700260"/>
                    <a:pt x="3533305" y="1543745"/>
                  </a:cubicBezTo>
                  <a:cubicBezTo>
                    <a:pt x="3530258" y="1228496"/>
                    <a:pt x="3526981" y="913238"/>
                    <a:pt x="3523028" y="597998"/>
                  </a:cubicBezTo>
                  <a:cubicBezTo>
                    <a:pt x="3522038" y="518636"/>
                    <a:pt x="3520999" y="439274"/>
                    <a:pt x="3519914" y="359912"/>
                  </a:cubicBezTo>
                  <a:cubicBezTo>
                    <a:pt x="3519818" y="352739"/>
                    <a:pt x="3519895" y="345462"/>
                    <a:pt x="3519961" y="338147"/>
                  </a:cubicBezTo>
                  <a:cubicBezTo>
                    <a:pt x="3532772" y="342624"/>
                    <a:pt x="3548450" y="342700"/>
                    <a:pt x="3561100" y="342738"/>
                  </a:cubicBezTo>
                  <a:cubicBezTo>
                    <a:pt x="3581636" y="342795"/>
                    <a:pt x="3602629" y="340176"/>
                    <a:pt x="3622621" y="335566"/>
                  </a:cubicBezTo>
                  <a:cubicBezTo>
                    <a:pt x="3642405" y="331003"/>
                    <a:pt x="3662427" y="323840"/>
                    <a:pt x="3679381" y="312496"/>
                  </a:cubicBezTo>
                  <a:cubicBezTo>
                    <a:pt x="3683229" y="309924"/>
                    <a:pt x="3686991" y="307143"/>
                    <a:pt x="3690563" y="304152"/>
                  </a:cubicBezTo>
                  <a:cubicBezTo>
                    <a:pt x="3690202" y="485384"/>
                    <a:pt x="3691373" y="666626"/>
                    <a:pt x="3692649" y="847858"/>
                  </a:cubicBezTo>
                  <a:cubicBezTo>
                    <a:pt x="3694287" y="1081707"/>
                    <a:pt x="3696479" y="1315555"/>
                    <a:pt x="3698821" y="1549403"/>
                  </a:cubicBezTo>
                  <a:cubicBezTo>
                    <a:pt x="3700650" y="1731712"/>
                    <a:pt x="3702613" y="1914020"/>
                    <a:pt x="3704442" y="2096338"/>
                  </a:cubicBezTo>
                  <a:cubicBezTo>
                    <a:pt x="3697907" y="2088747"/>
                    <a:pt x="3690506" y="2081822"/>
                    <a:pt x="3683534" y="2075564"/>
                  </a:cubicBezTo>
                  <a:close/>
                  <a:moveTo>
                    <a:pt x="995893" y="42367"/>
                  </a:moveTo>
                  <a:cubicBezTo>
                    <a:pt x="1203471" y="41024"/>
                    <a:pt x="1411040" y="39710"/>
                    <a:pt x="1618619" y="38481"/>
                  </a:cubicBezTo>
                  <a:cubicBezTo>
                    <a:pt x="1834350" y="37205"/>
                    <a:pt x="2050082" y="36014"/>
                    <a:pt x="2265814" y="34985"/>
                  </a:cubicBezTo>
                  <a:cubicBezTo>
                    <a:pt x="2466668" y="34033"/>
                    <a:pt x="2667521" y="33214"/>
                    <a:pt x="2868375" y="32728"/>
                  </a:cubicBezTo>
                  <a:cubicBezTo>
                    <a:pt x="3031100" y="32328"/>
                    <a:pt x="3193816" y="32090"/>
                    <a:pt x="3356541" y="32547"/>
                  </a:cubicBezTo>
                  <a:cubicBezTo>
                    <a:pt x="3365133" y="32575"/>
                    <a:pt x="3373715" y="32614"/>
                    <a:pt x="3382306" y="32652"/>
                  </a:cubicBezTo>
                  <a:cubicBezTo>
                    <a:pt x="3373352" y="54959"/>
                    <a:pt x="3367599" y="78657"/>
                    <a:pt x="3363208" y="102213"/>
                  </a:cubicBezTo>
                  <a:cubicBezTo>
                    <a:pt x="3360532" y="116548"/>
                    <a:pt x="3358207" y="131102"/>
                    <a:pt x="3357664" y="145694"/>
                  </a:cubicBezTo>
                  <a:cubicBezTo>
                    <a:pt x="3357398" y="152905"/>
                    <a:pt x="3357227" y="160601"/>
                    <a:pt x="3358722" y="167821"/>
                  </a:cubicBezTo>
                  <a:cubicBezTo>
                    <a:pt x="3325537" y="166954"/>
                    <a:pt x="3292352" y="166230"/>
                    <a:pt x="3259157" y="165706"/>
                  </a:cubicBezTo>
                  <a:cubicBezTo>
                    <a:pt x="3181947" y="164487"/>
                    <a:pt x="3104738" y="164097"/>
                    <a:pt x="3027519" y="164116"/>
                  </a:cubicBezTo>
                  <a:cubicBezTo>
                    <a:pt x="2714784" y="164211"/>
                    <a:pt x="2402069" y="167869"/>
                    <a:pt x="2089335" y="169507"/>
                  </a:cubicBezTo>
                  <a:cubicBezTo>
                    <a:pt x="1775095" y="171155"/>
                    <a:pt x="1460846" y="171745"/>
                    <a:pt x="1146607" y="173898"/>
                  </a:cubicBezTo>
                  <a:cubicBezTo>
                    <a:pt x="988330" y="174984"/>
                    <a:pt x="830063" y="176460"/>
                    <a:pt x="671805" y="178670"/>
                  </a:cubicBezTo>
                  <a:cubicBezTo>
                    <a:pt x="593709" y="179765"/>
                    <a:pt x="515624" y="181032"/>
                    <a:pt x="437528" y="182518"/>
                  </a:cubicBezTo>
                  <a:cubicBezTo>
                    <a:pt x="418821" y="182870"/>
                    <a:pt x="400114" y="183242"/>
                    <a:pt x="381416" y="183623"/>
                  </a:cubicBezTo>
                  <a:cubicBezTo>
                    <a:pt x="375063" y="183756"/>
                    <a:pt x="368434" y="183547"/>
                    <a:pt x="361747" y="183442"/>
                  </a:cubicBezTo>
                  <a:cubicBezTo>
                    <a:pt x="367910" y="155572"/>
                    <a:pt x="368891" y="125749"/>
                    <a:pt x="365272" y="97574"/>
                  </a:cubicBezTo>
                  <a:cubicBezTo>
                    <a:pt x="363147" y="81010"/>
                    <a:pt x="358633" y="60608"/>
                    <a:pt x="347822" y="46549"/>
                  </a:cubicBezTo>
                  <a:cubicBezTo>
                    <a:pt x="389227" y="46291"/>
                    <a:pt x="430623" y="46044"/>
                    <a:pt x="472028" y="45777"/>
                  </a:cubicBezTo>
                  <a:cubicBezTo>
                    <a:pt x="646650" y="44663"/>
                    <a:pt x="821271" y="43501"/>
                    <a:pt x="995893" y="42367"/>
                  </a:cubicBezTo>
                  <a:close/>
                  <a:moveTo>
                    <a:pt x="44127" y="1922869"/>
                  </a:moveTo>
                  <a:cubicBezTo>
                    <a:pt x="42088" y="1713852"/>
                    <a:pt x="40107" y="1504845"/>
                    <a:pt x="38164" y="1295829"/>
                  </a:cubicBezTo>
                  <a:cubicBezTo>
                    <a:pt x="36097" y="1074020"/>
                    <a:pt x="34230" y="852211"/>
                    <a:pt x="33116" y="630393"/>
                  </a:cubicBezTo>
                  <a:cubicBezTo>
                    <a:pt x="32754" y="557822"/>
                    <a:pt x="32468" y="485242"/>
                    <a:pt x="32363" y="412671"/>
                  </a:cubicBezTo>
                  <a:cubicBezTo>
                    <a:pt x="36611" y="422367"/>
                    <a:pt x="51756" y="428635"/>
                    <a:pt x="60900" y="431216"/>
                  </a:cubicBezTo>
                  <a:cubicBezTo>
                    <a:pt x="77064" y="435778"/>
                    <a:pt x="94190" y="435683"/>
                    <a:pt x="110754" y="433969"/>
                  </a:cubicBezTo>
                  <a:cubicBezTo>
                    <a:pt x="141310" y="430816"/>
                    <a:pt x="170743" y="423129"/>
                    <a:pt x="199003" y="411651"/>
                  </a:cubicBezTo>
                  <a:cubicBezTo>
                    <a:pt x="198746" y="485223"/>
                    <a:pt x="198584" y="558794"/>
                    <a:pt x="198536" y="632365"/>
                  </a:cubicBezTo>
                  <a:cubicBezTo>
                    <a:pt x="198441" y="788051"/>
                    <a:pt x="198860" y="943728"/>
                    <a:pt x="199984" y="1099404"/>
                  </a:cubicBezTo>
                  <a:cubicBezTo>
                    <a:pt x="202175" y="1401080"/>
                    <a:pt x="207090" y="1702746"/>
                    <a:pt x="216053" y="2004308"/>
                  </a:cubicBezTo>
                  <a:cubicBezTo>
                    <a:pt x="180668" y="2001698"/>
                    <a:pt x="144053" y="2005413"/>
                    <a:pt x="111364" y="2019786"/>
                  </a:cubicBezTo>
                  <a:cubicBezTo>
                    <a:pt x="79645" y="2033740"/>
                    <a:pt x="51832" y="2062543"/>
                    <a:pt x="47165" y="2097929"/>
                  </a:cubicBezTo>
                  <a:cubicBezTo>
                    <a:pt x="46698" y="2098491"/>
                    <a:pt x="46241" y="2099062"/>
                    <a:pt x="45793" y="2099634"/>
                  </a:cubicBezTo>
                  <a:cubicBezTo>
                    <a:pt x="45260" y="2040722"/>
                    <a:pt x="44698" y="1981800"/>
                    <a:pt x="44127" y="1922869"/>
                  </a:cubicBezTo>
                  <a:close/>
                  <a:moveTo>
                    <a:pt x="593691" y="2344598"/>
                  </a:moveTo>
                  <a:cubicBezTo>
                    <a:pt x="519567" y="2345036"/>
                    <a:pt x="445444" y="2345465"/>
                    <a:pt x="371320" y="2345884"/>
                  </a:cubicBezTo>
                  <a:cubicBezTo>
                    <a:pt x="389694" y="2330463"/>
                    <a:pt x="393780" y="2298897"/>
                    <a:pt x="394589" y="2276580"/>
                  </a:cubicBezTo>
                  <a:cubicBezTo>
                    <a:pt x="395361" y="2255063"/>
                    <a:pt x="393294" y="2232451"/>
                    <a:pt x="385017" y="2212448"/>
                  </a:cubicBezTo>
                  <a:cubicBezTo>
                    <a:pt x="384541" y="2211295"/>
                    <a:pt x="383931" y="2210257"/>
                    <a:pt x="383216" y="2209333"/>
                  </a:cubicBezTo>
                  <a:cubicBezTo>
                    <a:pt x="390275" y="2209610"/>
                    <a:pt x="397333" y="2209895"/>
                    <a:pt x="404400" y="2210143"/>
                  </a:cubicBezTo>
                  <a:cubicBezTo>
                    <a:pt x="443662" y="2211515"/>
                    <a:pt x="482943" y="2212400"/>
                    <a:pt x="522234" y="2212943"/>
                  </a:cubicBezTo>
                  <a:cubicBezTo>
                    <a:pt x="676596" y="2215048"/>
                    <a:pt x="830939" y="2211562"/>
                    <a:pt x="985282" y="2209371"/>
                  </a:cubicBezTo>
                  <a:cubicBezTo>
                    <a:pt x="1061187" y="2208295"/>
                    <a:pt x="1137092" y="2207571"/>
                    <a:pt x="1212996" y="2207933"/>
                  </a:cubicBezTo>
                  <a:cubicBezTo>
                    <a:pt x="1216331" y="2207952"/>
                    <a:pt x="1219093" y="2207076"/>
                    <a:pt x="1221302" y="2205628"/>
                  </a:cubicBezTo>
                  <a:cubicBezTo>
                    <a:pt x="1221817" y="2209629"/>
                    <a:pt x="1222341" y="2213620"/>
                    <a:pt x="1222884" y="2217610"/>
                  </a:cubicBezTo>
                  <a:cubicBezTo>
                    <a:pt x="1224017" y="2226002"/>
                    <a:pt x="1225226" y="2234375"/>
                    <a:pt x="1226560" y="2242737"/>
                  </a:cubicBezTo>
                  <a:cubicBezTo>
                    <a:pt x="1227951" y="2251462"/>
                    <a:pt x="1228475" y="2259140"/>
                    <a:pt x="1234647" y="2265845"/>
                  </a:cubicBezTo>
                  <a:cubicBezTo>
                    <a:pt x="1234456" y="2265845"/>
                    <a:pt x="1234256" y="2265855"/>
                    <a:pt x="1234066" y="2265855"/>
                  </a:cubicBezTo>
                  <a:cubicBezTo>
                    <a:pt x="1210730" y="2266274"/>
                    <a:pt x="1187050" y="2265826"/>
                    <a:pt x="1163800" y="2268103"/>
                  </a:cubicBezTo>
                  <a:cubicBezTo>
                    <a:pt x="1150617" y="2269398"/>
                    <a:pt x="1136749" y="2271675"/>
                    <a:pt x="1125967" y="2279952"/>
                  </a:cubicBezTo>
                  <a:cubicBezTo>
                    <a:pt x="1114756" y="2288562"/>
                    <a:pt x="1109555" y="2302202"/>
                    <a:pt x="1107593" y="2315832"/>
                  </a:cubicBezTo>
                  <a:cubicBezTo>
                    <a:pt x="1106364" y="2324386"/>
                    <a:pt x="1106040" y="2332987"/>
                    <a:pt x="1106098" y="2341607"/>
                  </a:cubicBezTo>
                  <a:cubicBezTo>
                    <a:pt x="935295" y="2342588"/>
                    <a:pt x="764493" y="2343598"/>
                    <a:pt x="593691" y="2344598"/>
                  </a:cubicBezTo>
                  <a:close/>
                  <a:moveTo>
                    <a:pt x="1688056" y="2093500"/>
                  </a:moveTo>
                  <a:cubicBezTo>
                    <a:pt x="1689046" y="2105749"/>
                    <a:pt x="1692971" y="2118027"/>
                    <a:pt x="1695409" y="2129847"/>
                  </a:cubicBezTo>
                  <a:cubicBezTo>
                    <a:pt x="1698648" y="2145554"/>
                    <a:pt x="1701515" y="2161337"/>
                    <a:pt x="1704658" y="2177053"/>
                  </a:cubicBezTo>
                  <a:cubicBezTo>
                    <a:pt x="1710125" y="2204380"/>
                    <a:pt x="1715888" y="2232841"/>
                    <a:pt x="1729518" y="2257463"/>
                  </a:cubicBezTo>
                  <a:cubicBezTo>
                    <a:pt x="1729271" y="2257463"/>
                    <a:pt x="1729023" y="2257473"/>
                    <a:pt x="1728775" y="2257473"/>
                  </a:cubicBezTo>
                  <a:cubicBezTo>
                    <a:pt x="1597025" y="2259378"/>
                    <a:pt x="1465285" y="2261873"/>
                    <a:pt x="1333545" y="2264236"/>
                  </a:cubicBezTo>
                  <a:cubicBezTo>
                    <a:pt x="1307284" y="2264712"/>
                    <a:pt x="1281024" y="2265083"/>
                    <a:pt x="1254764" y="2265502"/>
                  </a:cubicBezTo>
                  <a:cubicBezTo>
                    <a:pt x="1255192" y="2264921"/>
                    <a:pt x="1255583" y="2264312"/>
                    <a:pt x="1255887" y="2263616"/>
                  </a:cubicBezTo>
                  <a:cubicBezTo>
                    <a:pt x="1262470" y="2248710"/>
                    <a:pt x="1255097" y="2228783"/>
                    <a:pt x="1252964" y="2212991"/>
                  </a:cubicBezTo>
                  <a:cubicBezTo>
                    <a:pt x="1250954" y="2198142"/>
                    <a:pt x="1249610" y="2183244"/>
                    <a:pt x="1248058" y="2168347"/>
                  </a:cubicBezTo>
                  <a:cubicBezTo>
                    <a:pt x="1245886" y="2147516"/>
                    <a:pt x="1244534" y="2125913"/>
                    <a:pt x="1241124" y="2104949"/>
                  </a:cubicBezTo>
                  <a:cubicBezTo>
                    <a:pt x="1244819" y="2103692"/>
                    <a:pt x="1248401" y="2102387"/>
                    <a:pt x="1251696" y="2101520"/>
                  </a:cubicBezTo>
                  <a:cubicBezTo>
                    <a:pt x="1265079" y="2097996"/>
                    <a:pt x="1278852" y="2095424"/>
                    <a:pt x="1292473" y="2093014"/>
                  </a:cubicBezTo>
                  <a:cubicBezTo>
                    <a:pt x="1322696" y="2087670"/>
                    <a:pt x="1353500" y="2085766"/>
                    <a:pt x="1384142" y="2084899"/>
                  </a:cubicBezTo>
                  <a:cubicBezTo>
                    <a:pt x="1452179" y="2082965"/>
                    <a:pt x="1520225" y="2087032"/>
                    <a:pt x="1588139" y="2090557"/>
                  </a:cubicBezTo>
                  <a:cubicBezTo>
                    <a:pt x="1620066" y="2092214"/>
                    <a:pt x="1652023" y="2093938"/>
                    <a:pt x="1683998" y="2093976"/>
                  </a:cubicBezTo>
                  <a:cubicBezTo>
                    <a:pt x="1685465" y="2093995"/>
                    <a:pt x="1686808" y="2093814"/>
                    <a:pt x="1688056" y="2093500"/>
                  </a:cubicBezTo>
                  <a:close/>
                  <a:moveTo>
                    <a:pt x="1756141" y="2242166"/>
                  </a:moveTo>
                  <a:cubicBezTo>
                    <a:pt x="1749207" y="2229698"/>
                    <a:pt x="1744692" y="2215868"/>
                    <a:pt x="1741196" y="2201752"/>
                  </a:cubicBezTo>
                  <a:cubicBezTo>
                    <a:pt x="1743158" y="2202733"/>
                    <a:pt x="1745482" y="2203304"/>
                    <a:pt x="1748178" y="2203285"/>
                  </a:cubicBezTo>
                  <a:cubicBezTo>
                    <a:pt x="1825330" y="2202809"/>
                    <a:pt x="1902483" y="2202352"/>
                    <a:pt x="1979635" y="2201913"/>
                  </a:cubicBezTo>
                  <a:cubicBezTo>
                    <a:pt x="1981740" y="2201904"/>
                    <a:pt x="1983607" y="2201523"/>
                    <a:pt x="1985264" y="2200894"/>
                  </a:cubicBezTo>
                  <a:cubicBezTo>
                    <a:pt x="2034918" y="2220544"/>
                    <a:pt x="2085648" y="2237299"/>
                    <a:pt x="2136903" y="2252291"/>
                  </a:cubicBezTo>
                  <a:cubicBezTo>
                    <a:pt x="2133207" y="2252329"/>
                    <a:pt x="2129511" y="2252367"/>
                    <a:pt x="2125806" y="2252405"/>
                  </a:cubicBezTo>
                  <a:cubicBezTo>
                    <a:pt x="2002552" y="2253701"/>
                    <a:pt x="1879309" y="2255330"/>
                    <a:pt x="1756064" y="2257101"/>
                  </a:cubicBezTo>
                  <a:cubicBezTo>
                    <a:pt x="1758589" y="2252958"/>
                    <a:pt x="1759189" y="2247662"/>
                    <a:pt x="1756141" y="2242166"/>
                  </a:cubicBezTo>
                  <a:close/>
                  <a:moveTo>
                    <a:pt x="2299866" y="2192750"/>
                  </a:moveTo>
                  <a:cubicBezTo>
                    <a:pt x="2302142" y="2209286"/>
                    <a:pt x="2302657" y="2226097"/>
                    <a:pt x="2299180" y="2242509"/>
                  </a:cubicBezTo>
                  <a:cubicBezTo>
                    <a:pt x="2298542" y="2245528"/>
                    <a:pt x="2298723" y="2248272"/>
                    <a:pt x="2299513" y="2250681"/>
                  </a:cubicBezTo>
                  <a:cubicBezTo>
                    <a:pt x="2262671" y="2251024"/>
                    <a:pt x="2225818" y="2251386"/>
                    <a:pt x="2188976" y="2251758"/>
                  </a:cubicBezTo>
                  <a:cubicBezTo>
                    <a:pt x="2191357" y="2244223"/>
                    <a:pt x="2188766" y="2235070"/>
                    <a:pt x="2178965" y="2232346"/>
                  </a:cubicBezTo>
                  <a:cubicBezTo>
                    <a:pt x="2113185" y="2214086"/>
                    <a:pt x="2048054" y="2193379"/>
                    <a:pt x="1984721" y="2167814"/>
                  </a:cubicBezTo>
                  <a:cubicBezTo>
                    <a:pt x="1985684" y="2158213"/>
                    <a:pt x="1986198" y="2148554"/>
                    <a:pt x="1987217" y="2138953"/>
                  </a:cubicBezTo>
                  <a:cubicBezTo>
                    <a:pt x="1987998" y="2131600"/>
                    <a:pt x="1988922" y="2124228"/>
                    <a:pt x="1990170" y="2116931"/>
                  </a:cubicBezTo>
                  <a:cubicBezTo>
                    <a:pt x="1991370" y="2109912"/>
                    <a:pt x="1994923" y="2101568"/>
                    <a:pt x="1994361" y="2094424"/>
                  </a:cubicBezTo>
                  <a:cubicBezTo>
                    <a:pt x="2000857" y="2097615"/>
                    <a:pt x="2007401" y="2100558"/>
                    <a:pt x="2014087" y="2103377"/>
                  </a:cubicBezTo>
                  <a:cubicBezTo>
                    <a:pt x="2027136" y="2108883"/>
                    <a:pt x="2040643" y="2113798"/>
                    <a:pt x="2054073" y="2118312"/>
                  </a:cubicBezTo>
                  <a:cubicBezTo>
                    <a:pt x="2077095" y="2126056"/>
                    <a:pt x="2100270" y="2133381"/>
                    <a:pt x="2123348" y="2140972"/>
                  </a:cubicBezTo>
                  <a:cubicBezTo>
                    <a:pt x="2161134" y="2153402"/>
                    <a:pt x="2199377" y="2164709"/>
                    <a:pt x="2237611" y="2175653"/>
                  </a:cubicBezTo>
                  <a:cubicBezTo>
                    <a:pt x="2258299" y="2181578"/>
                    <a:pt x="2279063" y="2187245"/>
                    <a:pt x="2299866" y="2192750"/>
                  </a:cubicBezTo>
                  <a:close/>
                  <a:moveTo>
                    <a:pt x="1925962" y="2149202"/>
                  </a:moveTo>
                  <a:cubicBezTo>
                    <a:pt x="1938649" y="2149488"/>
                    <a:pt x="1950051" y="2146487"/>
                    <a:pt x="1960500" y="2141068"/>
                  </a:cubicBezTo>
                  <a:cubicBezTo>
                    <a:pt x="1960185" y="2147411"/>
                    <a:pt x="1959957" y="2153784"/>
                    <a:pt x="1959966" y="2160137"/>
                  </a:cubicBezTo>
                  <a:cubicBezTo>
                    <a:pt x="1959014" y="2159213"/>
                    <a:pt x="1957795" y="2158470"/>
                    <a:pt x="1956289" y="2158013"/>
                  </a:cubicBezTo>
                  <a:cubicBezTo>
                    <a:pt x="1938306" y="2152603"/>
                    <a:pt x="1918685" y="2154612"/>
                    <a:pt x="1901349" y="2146030"/>
                  </a:cubicBezTo>
                  <a:cubicBezTo>
                    <a:pt x="1900006" y="2145363"/>
                    <a:pt x="1898796" y="2144668"/>
                    <a:pt x="1897673" y="2143944"/>
                  </a:cubicBezTo>
                  <a:cubicBezTo>
                    <a:pt x="1906769" y="2147040"/>
                    <a:pt x="1916247" y="2148983"/>
                    <a:pt x="1925962" y="2149202"/>
                  </a:cubicBezTo>
                  <a:close/>
                  <a:moveTo>
                    <a:pt x="2452818" y="2336406"/>
                  </a:moveTo>
                  <a:cubicBezTo>
                    <a:pt x="2235991" y="2336854"/>
                    <a:pt x="2019164" y="2337511"/>
                    <a:pt x="1802346" y="2338273"/>
                  </a:cubicBezTo>
                  <a:cubicBezTo>
                    <a:pt x="1586967" y="2339026"/>
                    <a:pt x="1371588" y="2340064"/>
                    <a:pt x="1156218" y="2341302"/>
                  </a:cubicBezTo>
                  <a:cubicBezTo>
                    <a:pt x="1143007" y="2341379"/>
                    <a:pt x="1129805" y="2341455"/>
                    <a:pt x="1116594" y="2341531"/>
                  </a:cubicBezTo>
                  <a:cubicBezTo>
                    <a:pt x="1117118" y="2326529"/>
                    <a:pt x="1118337" y="2309270"/>
                    <a:pt x="1126967" y="2296916"/>
                  </a:cubicBezTo>
                  <a:cubicBezTo>
                    <a:pt x="1134158" y="2286629"/>
                    <a:pt x="1146588" y="2283486"/>
                    <a:pt x="1158418" y="2282143"/>
                  </a:cubicBezTo>
                  <a:cubicBezTo>
                    <a:pt x="1177801" y="2279942"/>
                    <a:pt x="1197690" y="2280637"/>
                    <a:pt x="1217168" y="2280419"/>
                  </a:cubicBezTo>
                  <a:cubicBezTo>
                    <a:pt x="1249077" y="2280056"/>
                    <a:pt x="1280986" y="2279942"/>
                    <a:pt x="1312895" y="2279723"/>
                  </a:cubicBezTo>
                  <a:cubicBezTo>
                    <a:pt x="1439577" y="2278847"/>
                    <a:pt x="1566250" y="2276951"/>
                    <a:pt x="1692923" y="2275094"/>
                  </a:cubicBezTo>
                  <a:cubicBezTo>
                    <a:pt x="1819568" y="2273237"/>
                    <a:pt x="1946212" y="2271494"/>
                    <a:pt x="2072866" y="2270065"/>
                  </a:cubicBezTo>
                  <a:cubicBezTo>
                    <a:pt x="2200396" y="2268627"/>
                    <a:pt x="2327936" y="2267836"/>
                    <a:pt x="2455476" y="2267484"/>
                  </a:cubicBezTo>
                  <a:cubicBezTo>
                    <a:pt x="2484432" y="2267407"/>
                    <a:pt x="2513407" y="2267598"/>
                    <a:pt x="2542363" y="2267207"/>
                  </a:cubicBezTo>
                  <a:cubicBezTo>
                    <a:pt x="2560556" y="2266959"/>
                    <a:pt x="2578843" y="2266160"/>
                    <a:pt x="2597017" y="2267350"/>
                  </a:cubicBezTo>
                  <a:cubicBezTo>
                    <a:pt x="2610000" y="2268207"/>
                    <a:pt x="2623344" y="2270351"/>
                    <a:pt x="2634793" y="2276875"/>
                  </a:cubicBezTo>
                  <a:cubicBezTo>
                    <a:pt x="2647738" y="2284257"/>
                    <a:pt x="2656605" y="2296392"/>
                    <a:pt x="2663521" y="2309317"/>
                  </a:cubicBezTo>
                  <a:cubicBezTo>
                    <a:pt x="2668179" y="2318014"/>
                    <a:pt x="2671998" y="2327139"/>
                    <a:pt x="2675513" y="2336340"/>
                  </a:cubicBezTo>
                  <a:cubicBezTo>
                    <a:pt x="2601284" y="2336263"/>
                    <a:pt x="2527047" y="2336254"/>
                    <a:pt x="2452818" y="2336406"/>
                  </a:cubicBezTo>
                  <a:close/>
                  <a:moveTo>
                    <a:pt x="3037558" y="2337206"/>
                  </a:moveTo>
                  <a:cubicBezTo>
                    <a:pt x="2923096" y="2336816"/>
                    <a:pt x="2808634" y="2336492"/>
                    <a:pt x="2694182" y="2336359"/>
                  </a:cubicBezTo>
                  <a:cubicBezTo>
                    <a:pt x="2694201" y="2335368"/>
                    <a:pt x="2694049" y="2334292"/>
                    <a:pt x="2693667" y="2333149"/>
                  </a:cubicBezTo>
                  <a:cubicBezTo>
                    <a:pt x="2682781" y="2300383"/>
                    <a:pt x="2665893" y="2267322"/>
                    <a:pt x="2631545" y="2254853"/>
                  </a:cubicBezTo>
                  <a:cubicBezTo>
                    <a:pt x="2598732" y="2242947"/>
                    <a:pt x="2559775" y="2248710"/>
                    <a:pt x="2525684" y="2248910"/>
                  </a:cubicBezTo>
                  <a:cubicBezTo>
                    <a:pt x="2460076" y="2249300"/>
                    <a:pt x="2394468" y="2249815"/>
                    <a:pt x="2328860" y="2250405"/>
                  </a:cubicBezTo>
                  <a:cubicBezTo>
                    <a:pt x="2334061" y="2225640"/>
                    <a:pt x="2332460" y="2201151"/>
                    <a:pt x="2328222" y="2176367"/>
                  </a:cubicBezTo>
                  <a:cubicBezTo>
                    <a:pt x="2327860" y="2174243"/>
                    <a:pt x="2326908" y="2172367"/>
                    <a:pt x="2325564" y="2170786"/>
                  </a:cubicBezTo>
                  <a:cubicBezTo>
                    <a:pt x="2323783" y="2168452"/>
                    <a:pt x="2321135" y="2166604"/>
                    <a:pt x="2317497" y="2165652"/>
                  </a:cubicBezTo>
                  <a:cubicBezTo>
                    <a:pt x="2234810" y="2143992"/>
                    <a:pt x="2153495" y="2117769"/>
                    <a:pt x="2071409" y="2094033"/>
                  </a:cubicBezTo>
                  <a:cubicBezTo>
                    <a:pt x="2056559" y="2089737"/>
                    <a:pt x="2041519" y="2085918"/>
                    <a:pt x="2026412" y="2082622"/>
                  </a:cubicBezTo>
                  <a:cubicBezTo>
                    <a:pt x="2017735" y="2080727"/>
                    <a:pt x="2008934" y="2079279"/>
                    <a:pt x="2000114" y="2078250"/>
                  </a:cubicBezTo>
                  <a:cubicBezTo>
                    <a:pt x="1992808" y="2077402"/>
                    <a:pt x="1984541" y="2075298"/>
                    <a:pt x="1977873" y="2079098"/>
                  </a:cubicBezTo>
                  <a:cubicBezTo>
                    <a:pt x="1976930" y="2079631"/>
                    <a:pt x="1976663" y="2080746"/>
                    <a:pt x="1976997" y="2081717"/>
                  </a:cubicBezTo>
                  <a:cubicBezTo>
                    <a:pt x="1975320" y="2082318"/>
                    <a:pt x="1973673" y="2083327"/>
                    <a:pt x="1972168" y="2084851"/>
                  </a:cubicBezTo>
                  <a:cubicBezTo>
                    <a:pt x="1967824" y="2089232"/>
                    <a:pt x="1965291" y="2095595"/>
                    <a:pt x="1963748" y="2102577"/>
                  </a:cubicBezTo>
                  <a:cubicBezTo>
                    <a:pt x="1937906" y="2097710"/>
                    <a:pt x="1911941" y="2093481"/>
                    <a:pt x="1886157" y="2088261"/>
                  </a:cubicBezTo>
                  <a:cubicBezTo>
                    <a:pt x="1880728" y="2087156"/>
                    <a:pt x="1874308" y="2088928"/>
                    <a:pt x="1871555" y="2094205"/>
                  </a:cubicBezTo>
                  <a:cubicBezTo>
                    <a:pt x="1869526" y="2098081"/>
                    <a:pt x="1867783" y="2102053"/>
                    <a:pt x="1866393" y="2106054"/>
                  </a:cubicBezTo>
                  <a:cubicBezTo>
                    <a:pt x="1863268" y="2108864"/>
                    <a:pt x="1862097" y="2112397"/>
                    <a:pt x="1861716" y="2117188"/>
                  </a:cubicBezTo>
                  <a:cubicBezTo>
                    <a:pt x="1861563" y="2119132"/>
                    <a:pt x="1861963" y="2121065"/>
                    <a:pt x="1862725" y="2122865"/>
                  </a:cubicBezTo>
                  <a:cubicBezTo>
                    <a:pt x="1861506" y="2138515"/>
                    <a:pt x="1866973" y="2153336"/>
                    <a:pt x="1882851" y="2163661"/>
                  </a:cubicBezTo>
                  <a:cubicBezTo>
                    <a:pt x="1888195" y="2167138"/>
                    <a:pt x="1894158" y="2169719"/>
                    <a:pt x="1900330" y="2171691"/>
                  </a:cubicBezTo>
                  <a:cubicBezTo>
                    <a:pt x="1849619" y="2171986"/>
                    <a:pt x="1798908" y="2172281"/>
                    <a:pt x="1748187" y="2172595"/>
                  </a:cubicBezTo>
                  <a:cubicBezTo>
                    <a:pt x="1742605" y="2172634"/>
                    <a:pt x="1738605" y="2175101"/>
                    <a:pt x="1736176" y="2178634"/>
                  </a:cubicBezTo>
                  <a:cubicBezTo>
                    <a:pt x="1735338" y="2174386"/>
                    <a:pt x="1734519" y="2170157"/>
                    <a:pt x="1733700" y="2165985"/>
                  </a:cubicBezTo>
                  <a:cubicBezTo>
                    <a:pt x="1730776" y="2151231"/>
                    <a:pt x="1728070" y="2136429"/>
                    <a:pt x="1725032" y="2121694"/>
                  </a:cubicBezTo>
                  <a:cubicBezTo>
                    <a:pt x="1721993" y="2106959"/>
                    <a:pt x="1719765" y="2090261"/>
                    <a:pt x="1710535" y="2077888"/>
                  </a:cubicBezTo>
                  <a:cubicBezTo>
                    <a:pt x="1707163" y="2073374"/>
                    <a:pt x="1702162" y="2071707"/>
                    <a:pt x="1697705" y="2072488"/>
                  </a:cubicBezTo>
                  <a:cubicBezTo>
                    <a:pt x="1695733" y="2067344"/>
                    <a:pt x="1691180" y="2063306"/>
                    <a:pt x="1684017" y="2063296"/>
                  </a:cubicBezTo>
                  <a:cubicBezTo>
                    <a:pt x="1553639" y="2063124"/>
                    <a:pt x="1422051" y="2041617"/>
                    <a:pt x="1292207" y="2062115"/>
                  </a:cubicBezTo>
                  <a:cubicBezTo>
                    <a:pt x="1276405" y="2064610"/>
                    <a:pt x="1261136" y="2068125"/>
                    <a:pt x="1246096" y="2073631"/>
                  </a:cubicBezTo>
                  <a:cubicBezTo>
                    <a:pt x="1242448" y="2074964"/>
                    <a:pt x="1238133" y="2076402"/>
                    <a:pt x="1233780" y="2078155"/>
                  </a:cubicBezTo>
                  <a:cubicBezTo>
                    <a:pt x="1229884" y="2075212"/>
                    <a:pt x="1223217" y="2076469"/>
                    <a:pt x="1221778" y="2081994"/>
                  </a:cubicBezTo>
                  <a:cubicBezTo>
                    <a:pt x="1221550" y="2082870"/>
                    <a:pt x="1221350" y="2083765"/>
                    <a:pt x="1221141" y="2084651"/>
                  </a:cubicBezTo>
                  <a:cubicBezTo>
                    <a:pt x="1216216" y="2088061"/>
                    <a:pt x="1212359" y="2092357"/>
                    <a:pt x="1211073" y="2098043"/>
                  </a:cubicBezTo>
                  <a:cubicBezTo>
                    <a:pt x="1210091" y="2102387"/>
                    <a:pt x="1212406" y="2105739"/>
                    <a:pt x="1216349" y="2107340"/>
                  </a:cubicBezTo>
                  <a:cubicBezTo>
                    <a:pt x="1216644" y="2107463"/>
                    <a:pt x="1216959" y="2107540"/>
                    <a:pt x="1217254" y="2107645"/>
                  </a:cubicBezTo>
                  <a:cubicBezTo>
                    <a:pt x="1215082" y="2128390"/>
                    <a:pt x="1215921" y="2149888"/>
                    <a:pt x="1217521" y="2170062"/>
                  </a:cubicBezTo>
                  <a:cubicBezTo>
                    <a:pt x="1217730" y="2172738"/>
                    <a:pt x="1217987" y="2175415"/>
                    <a:pt x="1218245" y="2178091"/>
                  </a:cubicBezTo>
                  <a:cubicBezTo>
                    <a:pt x="1216683" y="2177548"/>
                    <a:pt x="1214949" y="2177244"/>
                    <a:pt x="1213006" y="2177234"/>
                  </a:cubicBezTo>
                  <a:cubicBezTo>
                    <a:pt x="1062178" y="2176520"/>
                    <a:pt x="911378" y="2180206"/>
                    <a:pt x="760569" y="2181987"/>
                  </a:cubicBezTo>
                  <a:cubicBezTo>
                    <a:pt x="685493" y="2182873"/>
                    <a:pt x="610407" y="2183273"/>
                    <a:pt x="535331" y="2182406"/>
                  </a:cubicBezTo>
                  <a:cubicBezTo>
                    <a:pt x="498241" y="2181977"/>
                    <a:pt x="461150" y="2181234"/>
                    <a:pt x="424069" y="2180092"/>
                  </a:cubicBezTo>
                  <a:cubicBezTo>
                    <a:pt x="405496" y="2179520"/>
                    <a:pt x="386922" y="2178844"/>
                    <a:pt x="368358" y="2178053"/>
                  </a:cubicBezTo>
                  <a:cubicBezTo>
                    <a:pt x="351860" y="2177358"/>
                    <a:pt x="327543" y="2180673"/>
                    <a:pt x="312522" y="2173548"/>
                  </a:cubicBezTo>
                  <a:cubicBezTo>
                    <a:pt x="299663" y="2167452"/>
                    <a:pt x="290472" y="2153574"/>
                    <a:pt x="282461" y="2142496"/>
                  </a:cubicBezTo>
                  <a:cubicBezTo>
                    <a:pt x="272727" y="2129028"/>
                    <a:pt x="262249" y="2116770"/>
                    <a:pt x="255467" y="2101348"/>
                  </a:cubicBezTo>
                  <a:cubicBezTo>
                    <a:pt x="248628" y="2085804"/>
                    <a:pt x="248762" y="2070211"/>
                    <a:pt x="248238" y="2053533"/>
                  </a:cubicBezTo>
                  <a:cubicBezTo>
                    <a:pt x="247619" y="2033768"/>
                    <a:pt x="247019" y="2013995"/>
                    <a:pt x="246438" y="1994230"/>
                  </a:cubicBezTo>
                  <a:cubicBezTo>
                    <a:pt x="244180" y="1917411"/>
                    <a:pt x="242180" y="1840592"/>
                    <a:pt x="240427" y="1763763"/>
                  </a:cubicBezTo>
                  <a:cubicBezTo>
                    <a:pt x="236970" y="1612478"/>
                    <a:pt x="234455" y="1461173"/>
                    <a:pt x="232693" y="1309859"/>
                  </a:cubicBezTo>
                  <a:cubicBezTo>
                    <a:pt x="229169" y="1007231"/>
                    <a:pt x="228683" y="704574"/>
                    <a:pt x="229750" y="401936"/>
                  </a:cubicBezTo>
                  <a:cubicBezTo>
                    <a:pt x="229817" y="383267"/>
                    <a:pt x="229893" y="364598"/>
                    <a:pt x="229969" y="345929"/>
                  </a:cubicBezTo>
                  <a:cubicBezTo>
                    <a:pt x="230045" y="327431"/>
                    <a:pt x="228654" y="309953"/>
                    <a:pt x="236551" y="292770"/>
                  </a:cubicBezTo>
                  <a:cubicBezTo>
                    <a:pt x="248038" y="267748"/>
                    <a:pt x="268774" y="248650"/>
                    <a:pt x="292253" y="234934"/>
                  </a:cubicBezTo>
                  <a:cubicBezTo>
                    <a:pt x="303092" y="228600"/>
                    <a:pt x="314484" y="223285"/>
                    <a:pt x="326295" y="219046"/>
                  </a:cubicBezTo>
                  <a:cubicBezTo>
                    <a:pt x="343659" y="212808"/>
                    <a:pt x="363176" y="214722"/>
                    <a:pt x="381436" y="214351"/>
                  </a:cubicBezTo>
                  <a:cubicBezTo>
                    <a:pt x="418840" y="213589"/>
                    <a:pt x="456254" y="212874"/>
                    <a:pt x="493659" y="212207"/>
                  </a:cubicBezTo>
                  <a:cubicBezTo>
                    <a:pt x="646478" y="209493"/>
                    <a:pt x="799307" y="207588"/>
                    <a:pt x="952136" y="206169"/>
                  </a:cubicBezTo>
                  <a:cubicBezTo>
                    <a:pt x="1256469" y="203349"/>
                    <a:pt x="1560811" y="202511"/>
                    <a:pt x="1865154" y="201263"/>
                  </a:cubicBezTo>
                  <a:cubicBezTo>
                    <a:pt x="2167745" y="200015"/>
                    <a:pt x="2470316" y="197520"/>
                    <a:pt x="2772906" y="195853"/>
                  </a:cubicBezTo>
                  <a:cubicBezTo>
                    <a:pt x="2923048" y="195024"/>
                    <a:pt x="3073200" y="194015"/>
                    <a:pt x="3223334" y="195910"/>
                  </a:cubicBezTo>
                  <a:cubicBezTo>
                    <a:pt x="3261329" y="196386"/>
                    <a:pt x="3299334" y="197053"/>
                    <a:pt x="3337319" y="197958"/>
                  </a:cubicBezTo>
                  <a:cubicBezTo>
                    <a:pt x="3355693" y="198396"/>
                    <a:pt x="3375324" y="196996"/>
                    <a:pt x="3393479" y="199892"/>
                  </a:cubicBezTo>
                  <a:cubicBezTo>
                    <a:pt x="3409738" y="202482"/>
                    <a:pt x="3425949" y="210569"/>
                    <a:pt x="3439380" y="219828"/>
                  </a:cubicBezTo>
                  <a:cubicBezTo>
                    <a:pt x="3461420" y="235029"/>
                    <a:pt x="3478890" y="257718"/>
                    <a:pt x="3485566" y="283836"/>
                  </a:cubicBezTo>
                  <a:cubicBezTo>
                    <a:pt x="3489434" y="298961"/>
                    <a:pt x="3488595" y="314668"/>
                    <a:pt x="3488815" y="330156"/>
                  </a:cubicBezTo>
                  <a:cubicBezTo>
                    <a:pt x="3489091" y="349996"/>
                    <a:pt x="3489358" y="369837"/>
                    <a:pt x="3489624" y="389677"/>
                  </a:cubicBezTo>
                  <a:cubicBezTo>
                    <a:pt x="3493749" y="695001"/>
                    <a:pt x="3497158" y="1000325"/>
                    <a:pt x="3500254" y="1305659"/>
                  </a:cubicBezTo>
                  <a:cubicBezTo>
                    <a:pt x="3501797" y="1457773"/>
                    <a:pt x="3503254" y="1609887"/>
                    <a:pt x="3504693" y="1762001"/>
                  </a:cubicBezTo>
                  <a:cubicBezTo>
                    <a:pt x="3505407" y="1838058"/>
                    <a:pt x="3506122" y="1914116"/>
                    <a:pt x="3506826" y="1990173"/>
                  </a:cubicBezTo>
                  <a:cubicBezTo>
                    <a:pt x="3507122" y="2022091"/>
                    <a:pt x="3509988" y="2053685"/>
                    <a:pt x="3495358" y="2083146"/>
                  </a:cubicBezTo>
                  <a:cubicBezTo>
                    <a:pt x="3483433" y="2107178"/>
                    <a:pt x="3464192" y="2127228"/>
                    <a:pt x="3441751" y="2141725"/>
                  </a:cubicBezTo>
                  <a:cubicBezTo>
                    <a:pt x="3436417" y="2145173"/>
                    <a:pt x="3430902" y="2148354"/>
                    <a:pt x="3425245" y="2151240"/>
                  </a:cubicBezTo>
                  <a:cubicBezTo>
                    <a:pt x="3420577" y="2151545"/>
                    <a:pt x="3415872" y="2152174"/>
                    <a:pt x="3410929" y="2152774"/>
                  </a:cubicBezTo>
                  <a:cubicBezTo>
                    <a:pt x="3400146" y="2154088"/>
                    <a:pt x="3389335" y="2155250"/>
                    <a:pt x="3378524" y="2156289"/>
                  </a:cubicBezTo>
                  <a:cubicBezTo>
                    <a:pt x="3356226" y="2158422"/>
                    <a:pt x="3333881" y="2160013"/>
                    <a:pt x="3311516" y="2161165"/>
                  </a:cubicBezTo>
                  <a:cubicBezTo>
                    <a:pt x="3267682" y="2163432"/>
                    <a:pt x="3223772" y="2164042"/>
                    <a:pt x="3179880" y="2163880"/>
                  </a:cubicBezTo>
                  <a:cubicBezTo>
                    <a:pt x="3090717" y="2163556"/>
                    <a:pt x="3001582" y="2160670"/>
                    <a:pt x="2912409" y="2161403"/>
                  </a:cubicBezTo>
                  <a:cubicBezTo>
                    <a:pt x="2871585" y="2161737"/>
                    <a:pt x="2829341" y="2161966"/>
                    <a:pt x="2788556" y="2167928"/>
                  </a:cubicBezTo>
                  <a:cubicBezTo>
                    <a:pt x="2715146" y="2168023"/>
                    <a:pt x="2641746" y="2168147"/>
                    <a:pt x="2568338" y="2168319"/>
                  </a:cubicBezTo>
                  <a:cubicBezTo>
                    <a:pt x="2494204" y="2168500"/>
                    <a:pt x="2420062" y="2168719"/>
                    <a:pt x="2345928" y="2169004"/>
                  </a:cubicBezTo>
                  <a:cubicBezTo>
                    <a:pt x="2326174" y="2169081"/>
                    <a:pt x="2326136" y="2199789"/>
                    <a:pt x="2345928" y="2199713"/>
                  </a:cubicBezTo>
                  <a:cubicBezTo>
                    <a:pt x="2658511" y="2198504"/>
                    <a:pt x="2971093" y="2198399"/>
                    <a:pt x="3283675" y="2198389"/>
                  </a:cubicBezTo>
                  <a:cubicBezTo>
                    <a:pt x="3306925" y="2198389"/>
                    <a:pt x="3331785" y="2200437"/>
                    <a:pt x="3355950" y="2199637"/>
                  </a:cubicBezTo>
                  <a:cubicBezTo>
                    <a:pt x="3355350" y="2202590"/>
                    <a:pt x="3354845" y="2205562"/>
                    <a:pt x="3354359" y="2208486"/>
                  </a:cubicBezTo>
                  <a:cubicBezTo>
                    <a:pt x="3352816" y="2217839"/>
                    <a:pt x="3351340" y="2227364"/>
                    <a:pt x="3351131" y="2236851"/>
                  </a:cubicBezTo>
                  <a:cubicBezTo>
                    <a:pt x="3350750" y="2254225"/>
                    <a:pt x="3352702" y="2271903"/>
                    <a:pt x="3358646" y="2288305"/>
                  </a:cubicBezTo>
                  <a:cubicBezTo>
                    <a:pt x="3364656" y="2304917"/>
                    <a:pt x="3373905" y="2320081"/>
                    <a:pt x="3386554" y="2332492"/>
                  </a:cubicBezTo>
                  <a:cubicBezTo>
                    <a:pt x="3389430" y="2335311"/>
                    <a:pt x="3392802" y="2338492"/>
                    <a:pt x="3396507" y="2341617"/>
                  </a:cubicBezTo>
                  <a:cubicBezTo>
                    <a:pt x="3276855" y="2339454"/>
                    <a:pt x="3157202" y="2337616"/>
                    <a:pt x="3037558" y="2337206"/>
                  </a:cubicBezTo>
                  <a:close/>
                </a:path>
              </a:pathLst>
            </a:custGeom>
            <a:solidFill>
              <a:srgbClr val="000000"/>
            </a:solidFill>
            <a:ln w="9525" cap="flat">
              <a:noFill/>
              <a:prstDash val="solid"/>
              <a:miter/>
            </a:ln>
          </p:spPr>
          <p:txBody>
            <a:bodyPr rtlCol="0" anchor="ctr"/>
            <a:lstStyle/>
            <a:p>
              <a:endParaRPr lang="en-GB" noProof="0" dirty="0"/>
            </a:p>
          </p:txBody>
        </p:sp>
        <p:sp>
          <p:nvSpPr>
            <p:cNvPr id="161" name="Arrow: Pentagon 160">
              <a:extLst>
                <a:ext uri="{FF2B5EF4-FFF2-40B4-BE49-F238E27FC236}">
                  <a16:creationId xmlns:a16="http://schemas.microsoft.com/office/drawing/2014/main" id="{646263BA-DA48-8DFB-CFDD-65A515A1187F}"/>
                </a:ext>
              </a:extLst>
            </p:cNvPr>
            <p:cNvSpPr/>
            <p:nvPr/>
          </p:nvSpPr>
          <p:spPr>
            <a:xfrm rot="5400000">
              <a:off x="8165715" y="1670834"/>
              <a:ext cx="522028" cy="1686204"/>
            </a:xfrm>
            <a:prstGeom prst="homePlat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GB" sz="1200" dirty="0"/>
                <a:t>Prediction machine</a:t>
              </a:r>
            </a:p>
          </p:txBody>
        </p:sp>
      </p:grpSp>
      <p:sp>
        <p:nvSpPr>
          <p:cNvPr id="31" name="TextBox 30">
            <a:extLst>
              <a:ext uri="{FF2B5EF4-FFF2-40B4-BE49-F238E27FC236}">
                <a16:creationId xmlns:a16="http://schemas.microsoft.com/office/drawing/2014/main" id="{FDD14559-94EB-9182-9FC8-7A1CF624C9DE}"/>
              </a:ext>
            </a:extLst>
          </p:cNvPr>
          <p:cNvSpPr txBox="1"/>
          <p:nvPr/>
        </p:nvSpPr>
        <p:spPr>
          <a:xfrm>
            <a:off x="2107265" y="3645932"/>
            <a:ext cx="2001405" cy="646331"/>
          </a:xfrm>
          <a:prstGeom prst="rect">
            <a:avLst/>
          </a:prstGeom>
          <a:noFill/>
        </p:spPr>
        <p:txBody>
          <a:bodyPr wrap="square">
            <a:spAutoFit/>
          </a:bodyPr>
          <a:lstStyle/>
          <a:p>
            <a:pPr lvl="0" algn="ctr">
              <a:defRPr/>
            </a:pPr>
            <a:r>
              <a:rPr lang="en-GB" b="1" dirty="0">
                <a:solidFill>
                  <a:srgbClr val="FF0000"/>
                </a:solidFill>
              </a:rPr>
              <a:t>Large Language Models (LLM)</a:t>
            </a:r>
            <a:endParaRPr lang="en-GB" dirty="0">
              <a:solidFill>
                <a:prstClr val="black"/>
              </a:solidFill>
            </a:endParaRPr>
          </a:p>
        </p:txBody>
      </p:sp>
      <p:sp>
        <p:nvSpPr>
          <p:cNvPr id="37" name="TextBox 36">
            <a:extLst>
              <a:ext uri="{FF2B5EF4-FFF2-40B4-BE49-F238E27FC236}">
                <a16:creationId xmlns:a16="http://schemas.microsoft.com/office/drawing/2014/main" id="{7A1797BC-4104-553F-5960-7892616112A9}"/>
              </a:ext>
            </a:extLst>
          </p:cNvPr>
          <p:cNvSpPr txBox="1"/>
          <p:nvPr/>
        </p:nvSpPr>
        <p:spPr>
          <a:xfrm>
            <a:off x="6435138" y="977005"/>
            <a:ext cx="3893136" cy="646331"/>
          </a:xfrm>
          <a:prstGeom prst="rect">
            <a:avLst/>
          </a:prstGeom>
          <a:noFill/>
        </p:spPr>
        <p:txBody>
          <a:bodyPr wrap="square" rtlCol="0">
            <a:spAutoFit/>
          </a:bodyPr>
          <a:lstStyle/>
          <a:p>
            <a:r>
              <a:rPr lang="en-US" sz="1200" b="1" dirty="0">
                <a:highlight>
                  <a:srgbClr val="FFC000"/>
                </a:highlight>
              </a:rPr>
              <a:t>A Large Language Model (LLM) is a sophisticated mathematical </a:t>
            </a:r>
            <a:r>
              <a:rPr lang="en-US" sz="1200" dirty="0">
                <a:highlight>
                  <a:srgbClr val="FFFFFF"/>
                </a:highlight>
              </a:rPr>
              <a:t>function that predicts which word is likely to follow any given piece of text.</a:t>
            </a:r>
            <a:endParaRPr lang="en-GB" sz="1200" noProof="0" dirty="0">
              <a:highlight>
                <a:srgbClr val="FFFFFF"/>
              </a:highlight>
            </a:endParaRPr>
          </a:p>
        </p:txBody>
      </p:sp>
      <p:sp>
        <p:nvSpPr>
          <p:cNvPr id="2" name="TextBox 1">
            <a:extLst>
              <a:ext uri="{FF2B5EF4-FFF2-40B4-BE49-F238E27FC236}">
                <a16:creationId xmlns:a16="http://schemas.microsoft.com/office/drawing/2014/main" id="{C91CB926-F160-C454-292D-14AC27DC8987}"/>
              </a:ext>
            </a:extLst>
          </p:cNvPr>
          <p:cNvSpPr txBox="1"/>
          <p:nvPr/>
        </p:nvSpPr>
        <p:spPr>
          <a:xfrm>
            <a:off x="6435139" y="1681854"/>
            <a:ext cx="3893136" cy="646331"/>
          </a:xfrm>
          <a:prstGeom prst="rect">
            <a:avLst/>
          </a:prstGeom>
          <a:noFill/>
        </p:spPr>
        <p:txBody>
          <a:bodyPr wrap="square" rtlCol="0">
            <a:spAutoFit/>
          </a:bodyPr>
          <a:lstStyle/>
          <a:p>
            <a:r>
              <a:rPr lang="en-US" sz="1200" dirty="0"/>
              <a:t>The LLM </a:t>
            </a:r>
            <a:r>
              <a:rPr lang="en-US" sz="1200" b="1" dirty="0">
                <a:highlight>
                  <a:srgbClr val="FFC000"/>
                </a:highlight>
              </a:rPr>
              <a:t>does not predict the exact word</a:t>
            </a:r>
            <a:r>
              <a:rPr lang="en-US" sz="1200" dirty="0"/>
              <a:t>; instead, it assigns a probability to all the words that could follow in the text sequence.</a:t>
            </a:r>
            <a:endParaRPr lang="en-GB" sz="1200" noProof="0" dirty="0"/>
          </a:p>
        </p:txBody>
      </p:sp>
      <p:sp>
        <p:nvSpPr>
          <p:cNvPr id="8" name="TextBox 7">
            <a:extLst>
              <a:ext uri="{FF2B5EF4-FFF2-40B4-BE49-F238E27FC236}">
                <a16:creationId xmlns:a16="http://schemas.microsoft.com/office/drawing/2014/main" id="{046AAFC3-24F8-68D7-B674-7E0EEA68E8EA}"/>
              </a:ext>
            </a:extLst>
          </p:cNvPr>
          <p:cNvSpPr txBox="1"/>
          <p:nvPr/>
        </p:nvSpPr>
        <p:spPr>
          <a:xfrm>
            <a:off x="1488719" y="2154701"/>
            <a:ext cx="3238500" cy="276999"/>
          </a:xfrm>
          <a:prstGeom prst="rect">
            <a:avLst/>
          </a:prstGeom>
          <a:noFill/>
        </p:spPr>
        <p:txBody>
          <a:bodyPr wrap="square" rtlCol="0">
            <a:spAutoFit/>
          </a:bodyPr>
          <a:lstStyle/>
          <a:p>
            <a:r>
              <a:rPr lang="en-GB" sz="1200" noProof="0" dirty="0" err="1"/>
              <a:t>Camarón</a:t>
            </a:r>
            <a:r>
              <a:rPr lang="en-GB" sz="1200" noProof="0" dirty="0"/>
              <a:t> </a:t>
            </a:r>
            <a:r>
              <a:rPr lang="en-GB" sz="1200" noProof="0" dirty="0" err="1"/>
              <a:t>que</a:t>
            </a:r>
            <a:r>
              <a:rPr lang="en-GB" sz="1200" noProof="0" dirty="0"/>
              <a:t> se </a:t>
            </a:r>
            <a:r>
              <a:rPr lang="en-GB" sz="1200" noProof="0" dirty="0" err="1"/>
              <a:t>duerme</a:t>
            </a:r>
            <a:r>
              <a:rPr lang="en-GB" sz="1200" noProof="0" dirty="0"/>
              <a:t>, se lo </a:t>
            </a:r>
            <a:r>
              <a:rPr lang="en-GB" sz="1200" noProof="0" dirty="0" err="1"/>
              <a:t>lleva</a:t>
            </a:r>
            <a:r>
              <a:rPr lang="en-GB" sz="1200" noProof="0" dirty="0"/>
              <a:t> la_______</a:t>
            </a:r>
          </a:p>
        </p:txBody>
      </p:sp>
      <p:cxnSp>
        <p:nvCxnSpPr>
          <p:cNvPr id="12" name="Straight Arrow Connector 11">
            <a:extLst>
              <a:ext uri="{FF2B5EF4-FFF2-40B4-BE49-F238E27FC236}">
                <a16:creationId xmlns:a16="http://schemas.microsoft.com/office/drawing/2014/main" id="{744A4794-51F8-2FAD-05CF-912246873FEB}"/>
              </a:ext>
            </a:extLst>
          </p:cNvPr>
          <p:cNvCxnSpPr>
            <a:cxnSpLocks/>
            <a:stCxn id="8" idx="2"/>
            <a:endCxn id="161" idx="1"/>
          </p:cNvCxnSpPr>
          <p:nvPr/>
        </p:nvCxnSpPr>
        <p:spPr>
          <a:xfrm>
            <a:off x="3107969" y="2431700"/>
            <a:ext cx="0" cy="2583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7" name="Chart 16">
            <a:extLst>
              <a:ext uri="{FF2B5EF4-FFF2-40B4-BE49-F238E27FC236}">
                <a16:creationId xmlns:a16="http://schemas.microsoft.com/office/drawing/2014/main" id="{9058A395-8517-F2CD-81C8-4AC61935C03B}"/>
              </a:ext>
            </a:extLst>
          </p:cNvPr>
          <p:cNvGraphicFramePr>
            <a:graphicFrameLocks/>
          </p:cNvGraphicFramePr>
          <p:nvPr>
            <p:extLst>
              <p:ext uri="{D42A27DB-BD31-4B8C-83A1-F6EECF244321}">
                <p14:modId xmlns:p14="http://schemas.microsoft.com/office/powerpoint/2010/main" val="287504899"/>
              </p:ext>
            </p:extLst>
          </p:nvPr>
        </p:nvGraphicFramePr>
        <p:xfrm>
          <a:off x="6435138" y="2481780"/>
          <a:ext cx="4062550" cy="2774545"/>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Box 23">
            <a:extLst>
              <a:ext uri="{FF2B5EF4-FFF2-40B4-BE49-F238E27FC236}">
                <a16:creationId xmlns:a16="http://schemas.microsoft.com/office/drawing/2014/main" id="{75D055B7-383F-55B6-D193-8DCA9FDC7672}"/>
              </a:ext>
            </a:extLst>
          </p:cNvPr>
          <p:cNvSpPr txBox="1"/>
          <p:nvPr/>
        </p:nvSpPr>
        <p:spPr>
          <a:xfrm>
            <a:off x="6435138" y="5504210"/>
            <a:ext cx="4124912" cy="830997"/>
          </a:xfrm>
          <a:prstGeom prst="rect">
            <a:avLst/>
          </a:prstGeom>
          <a:noFill/>
        </p:spPr>
        <p:txBody>
          <a:bodyPr wrap="square" rtlCol="0">
            <a:spAutoFit/>
          </a:bodyPr>
          <a:lstStyle/>
          <a:p>
            <a:r>
              <a:rPr lang="en-US" sz="1200" dirty="0"/>
              <a:t>In interaction with the user, the most probable words are presented based on the context of the “conversation”, but less probable words may also be included to give the text a more “natural” feel.</a:t>
            </a:r>
            <a:endParaRPr lang="en-GB" sz="1200" noProof="0" dirty="0"/>
          </a:p>
        </p:txBody>
      </p:sp>
      <p:sp>
        <p:nvSpPr>
          <p:cNvPr id="3" name="Footer Placeholder 4">
            <a:extLst>
              <a:ext uri="{FF2B5EF4-FFF2-40B4-BE49-F238E27FC236}">
                <a16:creationId xmlns:a16="http://schemas.microsoft.com/office/drawing/2014/main" id="{238618EC-7795-B1CF-5606-864E9344CD0B}"/>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a:solidFill>
                  <a:schemeClr val="bg1">
                    <a:lumMod val="85000"/>
                  </a:schemeClr>
                </a:solidFill>
              </a:rPr>
              <a:t>Data analysis</a:t>
            </a:r>
            <a:endParaRPr lang="en-GB" sz="1100" noProof="0" dirty="0">
              <a:solidFill>
                <a:schemeClr val="bg1">
                  <a:lumMod val="85000"/>
                </a:schemeClr>
              </a:solidFill>
            </a:endParaRPr>
          </a:p>
        </p:txBody>
      </p:sp>
    </p:spTree>
    <p:extLst>
      <p:ext uri="{BB962C8B-B14F-4D97-AF65-F5344CB8AC3E}">
        <p14:creationId xmlns:p14="http://schemas.microsoft.com/office/powerpoint/2010/main" val="765011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4E57E-4203-0F31-38ED-31D94E65C33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DB2FBF3-74E5-D096-D897-89240BB0A9D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EBCE16DB-72FC-CCE9-864A-BAB92607A0CD}"/>
              </a:ext>
            </a:extLst>
          </p:cNvPr>
          <p:cNvSpPr txBox="1">
            <a:spLocks/>
          </p:cNvSpPr>
          <p:nvPr/>
        </p:nvSpPr>
        <p:spPr>
          <a:xfrm>
            <a:off x="891589" y="501651"/>
            <a:ext cx="3489911"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dirty="0">
                <a:ln>
                  <a:noFill/>
                </a:ln>
                <a:solidFill>
                  <a:srgbClr val="FF0000"/>
                </a:solidFill>
                <a:effectLst/>
                <a:uLnTx/>
                <a:uFillTx/>
                <a:latin typeface="Aptos SemiBold" panose="020F0502020204030204" pitchFamily="34" charset="0"/>
                <a:ea typeface="+mj-ea"/>
                <a:cs typeface="+mj-cs"/>
              </a:rPr>
              <a:t>LLMs</a:t>
            </a:r>
          </a:p>
        </p:txBody>
      </p:sp>
      <p:sp>
        <p:nvSpPr>
          <p:cNvPr id="5" name="Slide Number Placeholder 2">
            <a:extLst>
              <a:ext uri="{FF2B5EF4-FFF2-40B4-BE49-F238E27FC236}">
                <a16:creationId xmlns:a16="http://schemas.microsoft.com/office/drawing/2014/main" id="{E17E311D-4E63-4B80-285A-07DCB07EE4BF}"/>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A7CD7A8A-96E0-0BF2-44EF-0114C73BF594}"/>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grpSp>
        <p:nvGrpSpPr>
          <p:cNvPr id="163" name="Group 162">
            <a:extLst>
              <a:ext uri="{FF2B5EF4-FFF2-40B4-BE49-F238E27FC236}">
                <a16:creationId xmlns:a16="http://schemas.microsoft.com/office/drawing/2014/main" id="{8D7CF8DB-FA2A-6D34-20E2-95DC949E2CFD}"/>
              </a:ext>
            </a:extLst>
          </p:cNvPr>
          <p:cNvGrpSpPr/>
          <p:nvPr/>
        </p:nvGrpSpPr>
        <p:grpSpPr>
          <a:xfrm>
            <a:off x="3995994" y="2828835"/>
            <a:ext cx="3738370" cy="2378826"/>
            <a:chOff x="6557544" y="2252922"/>
            <a:chExt cx="3738370" cy="2378826"/>
          </a:xfrm>
        </p:grpSpPr>
        <p:sp>
          <p:nvSpPr>
            <p:cNvPr id="140" name="Freeform: Shape 139">
              <a:extLst>
                <a:ext uri="{FF2B5EF4-FFF2-40B4-BE49-F238E27FC236}">
                  <a16:creationId xmlns:a16="http://schemas.microsoft.com/office/drawing/2014/main" id="{997EEFC9-8A5D-BD7A-A8FF-576CE3E9E7CA}"/>
                </a:ext>
              </a:extLst>
            </p:cNvPr>
            <p:cNvSpPr/>
            <p:nvPr/>
          </p:nvSpPr>
          <p:spPr>
            <a:xfrm rot="10800000">
              <a:off x="6557544" y="2252922"/>
              <a:ext cx="3738370" cy="2378826"/>
            </a:xfrm>
            <a:custGeom>
              <a:avLst/>
              <a:gdLst>
                <a:gd name="connsiteX0" fmla="*/ 3736122 w 3738370"/>
                <a:gd name="connsiteY0" fmla="*/ 2036055 h 2378826"/>
                <a:gd name="connsiteX1" fmla="*/ 3734722 w 3738370"/>
                <a:gd name="connsiteY1" fmla="*/ 1901161 h 2378826"/>
                <a:gd name="connsiteX2" fmla="*/ 3727996 w 3738370"/>
                <a:gd name="connsiteY2" fmla="*/ 1224477 h 2378826"/>
                <a:gd name="connsiteX3" fmla="*/ 3723177 w 3738370"/>
                <a:gd name="connsiteY3" fmla="*/ 533743 h 2378826"/>
                <a:gd name="connsiteX4" fmla="*/ 3722949 w 3738370"/>
                <a:gd name="connsiteY4" fmla="*/ 258242 h 2378826"/>
                <a:gd name="connsiteX5" fmla="*/ 3704689 w 3738370"/>
                <a:gd name="connsiteY5" fmla="*/ 116491 h 2378826"/>
                <a:gd name="connsiteX6" fmla="*/ 3580217 w 3738370"/>
                <a:gd name="connsiteY6" fmla="*/ 6248 h 2378826"/>
                <a:gd name="connsiteX7" fmla="*/ 3482509 w 3738370"/>
                <a:gd name="connsiteY7" fmla="*/ 810 h 2378826"/>
                <a:gd name="connsiteX8" fmla="*/ 3388716 w 3738370"/>
                <a:gd name="connsiteY8" fmla="*/ 343 h 2378826"/>
                <a:gd name="connsiteX9" fmla="*/ 3167231 w 3738370"/>
                <a:gd name="connsiteY9" fmla="*/ 0 h 2378826"/>
                <a:gd name="connsiteX10" fmla="*/ 2611609 w 3738370"/>
                <a:gd name="connsiteY10" fmla="*/ 1210 h 2378826"/>
                <a:gd name="connsiteX11" fmla="*/ 1968510 w 3738370"/>
                <a:gd name="connsiteY11" fmla="*/ 4181 h 2378826"/>
                <a:gd name="connsiteX12" fmla="*/ 1310895 w 3738370"/>
                <a:gd name="connsiteY12" fmla="*/ 8039 h 2378826"/>
                <a:gd name="connsiteX13" fmla="*/ 719020 w 3738370"/>
                <a:gd name="connsiteY13" fmla="*/ 11859 h 2378826"/>
                <a:gd name="connsiteX14" fmla="*/ 264449 w 3738370"/>
                <a:gd name="connsiteY14" fmla="*/ 14764 h 2378826"/>
                <a:gd name="connsiteX15" fmla="*/ 178810 w 3738370"/>
                <a:gd name="connsiteY15" fmla="*/ 15497 h 2378826"/>
                <a:gd name="connsiteX16" fmla="*/ 35735 w 3738370"/>
                <a:gd name="connsiteY16" fmla="*/ 84344 h 2378826"/>
                <a:gd name="connsiteX17" fmla="*/ 2312 w 3738370"/>
                <a:gd name="connsiteY17" fmla="*/ 152791 h 2378826"/>
                <a:gd name="connsiteX18" fmla="*/ 388 w 3738370"/>
                <a:gd name="connsiteY18" fmla="*/ 208083 h 2378826"/>
                <a:gd name="connsiteX19" fmla="*/ 16 w 3738370"/>
                <a:gd name="connsiteY19" fmla="*/ 322583 h 2378826"/>
                <a:gd name="connsiteX20" fmla="*/ 2712 w 3738370"/>
                <a:gd name="connsiteY20" fmla="*/ 927316 h 2378826"/>
                <a:gd name="connsiteX21" fmla="*/ 9065 w 3738370"/>
                <a:gd name="connsiteY21" fmla="*/ 1611582 h 2378826"/>
                <a:gd name="connsiteX22" fmla="*/ 14999 w 3738370"/>
                <a:gd name="connsiteY22" fmla="*/ 2155679 h 2378826"/>
                <a:gd name="connsiteX23" fmla="*/ 16485 w 3738370"/>
                <a:gd name="connsiteY23" fmla="*/ 2208076 h 2378826"/>
                <a:gd name="connsiteX24" fmla="*/ 42927 w 3738370"/>
                <a:gd name="connsiteY24" fmla="*/ 2281828 h 2378826"/>
                <a:gd name="connsiteX25" fmla="*/ 156588 w 3738370"/>
                <a:gd name="connsiteY25" fmla="*/ 2377259 h 2378826"/>
                <a:gd name="connsiteX26" fmla="*/ 240303 w 3738370"/>
                <a:gd name="connsiteY26" fmla="*/ 2377478 h 2378826"/>
                <a:gd name="connsiteX27" fmla="*/ 334144 w 3738370"/>
                <a:gd name="connsiteY27" fmla="*/ 2376850 h 2378826"/>
                <a:gd name="connsiteX28" fmla="*/ 825929 w 3738370"/>
                <a:gd name="connsiteY28" fmla="*/ 2373354 h 2378826"/>
                <a:gd name="connsiteX29" fmla="*/ 1447512 w 3738370"/>
                <a:gd name="connsiteY29" fmla="*/ 2368991 h 2378826"/>
                <a:gd name="connsiteX30" fmla="*/ 2115690 w 3738370"/>
                <a:gd name="connsiteY30" fmla="*/ 2363829 h 2378826"/>
                <a:gd name="connsiteX31" fmla="*/ 2754056 w 3738370"/>
                <a:gd name="connsiteY31" fmla="*/ 2359219 h 2378826"/>
                <a:gd name="connsiteX32" fmla="*/ 3284132 w 3738370"/>
                <a:gd name="connsiteY32" fmla="*/ 2354418 h 2378826"/>
                <a:gd name="connsiteX33" fmla="*/ 3413329 w 3738370"/>
                <a:gd name="connsiteY33" fmla="*/ 2353199 h 2378826"/>
                <a:gd name="connsiteX34" fmla="*/ 3435665 w 3738370"/>
                <a:gd name="connsiteY34" fmla="*/ 2357380 h 2378826"/>
                <a:gd name="connsiteX35" fmla="*/ 3620488 w 3738370"/>
                <a:gd name="connsiteY35" fmla="*/ 2317861 h 2378826"/>
                <a:gd name="connsiteX36" fmla="*/ 3647139 w 3738370"/>
                <a:gd name="connsiteY36" fmla="*/ 2298011 h 2378826"/>
                <a:gd name="connsiteX37" fmla="*/ 3734864 w 3738370"/>
                <a:gd name="connsiteY37" fmla="*/ 2160918 h 2378826"/>
                <a:gd name="connsiteX38" fmla="*/ 3736122 w 3738370"/>
                <a:gd name="connsiteY38" fmla="*/ 2036055 h 2378826"/>
                <a:gd name="connsiteX39" fmla="*/ 3683534 w 3738370"/>
                <a:gd name="connsiteY39" fmla="*/ 2075564 h 2378826"/>
                <a:gd name="connsiteX40" fmla="*/ 3627699 w 3738370"/>
                <a:gd name="connsiteY40" fmla="*/ 2037845 h 2378826"/>
                <a:gd name="connsiteX41" fmla="*/ 3566005 w 3738370"/>
                <a:gd name="connsiteY41" fmla="*/ 2021234 h 2378826"/>
                <a:gd name="connsiteX42" fmla="*/ 3537687 w 3738370"/>
                <a:gd name="connsiteY42" fmla="*/ 2025034 h 2378826"/>
                <a:gd name="connsiteX43" fmla="*/ 3537735 w 3738370"/>
                <a:gd name="connsiteY43" fmla="*/ 2013309 h 2378826"/>
                <a:gd name="connsiteX44" fmla="*/ 3533305 w 3738370"/>
                <a:gd name="connsiteY44" fmla="*/ 1543745 h 2378826"/>
                <a:gd name="connsiteX45" fmla="*/ 3523028 w 3738370"/>
                <a:gd name="connsiteY45" fmla="*/ 597998 h 2378826"/>
                <a:gd name="connsiteX46" fmla="*/ 3519914 w 3738370"/>
                <a:gd name="connsiteY46" fmla="*/ 359912 h 2378826"/>
                <a:gd name="connsiteX47" fmla="*/ 3519961 w 3738370"/>
                <a:gd name="connsiteY47" fmla="*/ 338147 h 2378826"/>
                <a:gd name="connsiteX48" fmla="*/ 3561100 w 3738370"/>
                <a:gd name="connsiteY48" fmla="*/ 342738 h 2378826"/>
                <a:gd name="connsiteX49" fmla="*/ 3622621 w 3738370"/>
                <a:gd name="connsiteY49" fmla="*/ 335566 h 2378826"/>
                <a:gd name="connsiteX50" fmla="*/ 3679381 w 3738370"/>
                <a:gd name="connsiteY50" fmla="*/ 312496 h 2378826"/>
                <a:gd name="connsiteX51" fmla="*/ 3690563 w 3738370"/>
                <a:gd name="connsiteY51" fmla="*/ 304152 h 2378826"/>
                <a:gd name="connsiteX52" fmla="*/ 3692649 w 3738370"/>
                <a:gd name="connsiteY52" fmla="*/ 847858 h 2378826"/>
                <a:gd name="connsiteX53" fmla="*/ 3698821 w 3738370"/>
                <a:gd name="connsiteY53" fmla="*/ 1549403 h 2378826"/>
                <a:gd name="connsiteX54" fmla="*/ 3704442 w 3738370"/>
                <a:gd name="connsiteY54" fmla="*/ 2096338 h 2378826"/>
                <a:gd name="connsiteX55" fmla="*/ 3683534 w 3738370"/>
                <a:gd name="connsiteY55" fmla="*/ 2075564 h 2378826"/>
                <a:gd name="connsiteX56" fmla="*/ 995893 w 3738370"/>
                <a:gd name="connsiteY56" fmla="*/ 42367 h 2378826"/>
                <a:gd name="connsiteX57" fmla="*/ 1618619 w 3738370"/>
                <a:gd name="connsiteY57" fmla="*/ 38481 h 2378826"/>
                <a:gd name="connsiteX58" fmla="*/ 2265814 w 3738370"/>
                <a:gd name="connsiteY58" fmla="*/ 34985 h 2378826"/>
                <a:gd name="connsiteX59" fmla="*/ 2868375 w 3738370"/>
                <a:gd name="connsiteY59" fmla="*/ 32728 h 2378826"/>
                <a:gd name="connsiteX60" fmla="*/ 3356541 w 3738370"/>
                <a:gd name="connsiteY60" fmla="*/ 32547 h 2378826"/>
                <a:gd name="connsiteX61" fmla="*/ 3382306 w 3738370"/>
                <a:gd name="connsiteY61" fmla="*/ 32652 h 2378826"/>
                <a:gd name="connsiteX62" fmla="*/ 3363208 w 3738370"/>
                <a:gd name="connsiteY62" fmla="*/ 102213 h 2378826"/>
                <a:gd name="connsiteX63" fmla="*/ 3357664 w 3738370"/>
                <a:gd name="connsiteY63" fmla="*/ 145694 h 2378826"/>
                <a:gd name="connsiteX64" fmla="*/ 3358722 w 3738370"/>
                <a:gd name="connsiteY64" fmla="*/ 167821 h 2378826"/>
                <a:gd name="connsiteX65" fmla="*/ 3259157 w 3738370"/>
                <a:gd name="connsiteY65" fmla="*/ 165706 h 2378826"/>
                <a:gd name="connsiteX66" fmla="*/ 3027519 w 3738370"/>
                <a:gd name="connsiteY66" fmla="*/ 164116 h 2378826"/>
                <a:gd name="connsiteX67" fmla="*/ 2089335 w 3738370"/>
                <a:gd name="connsiteY67" fmla="*/ 169507 h 2378826"/>
                <a:gd name="connsiteX68" fmla="*/ 1146607 w 3738370"/>
                <a:gd name="connsiteY68" fmla="*/ 173898 h 2378826"/>
                <a:gd name="connsiteX69" fmla="*/ 671805 w 3738370"/>
                <a:gd name="connsiteY69" fmla="*/ 178670 h 2378826"/>
                <a:gd name="connsiteX70" fmla="*/ 437528 w 3738370"/>
                <a:gd name="connsiteY70" fmla="*/ 182518 h 2378826"/>
                <a:gd name="connsiteX71" fmla="*/ 381416 w 3738370"/>
                <a:gd name="connsiteY71" fmla="*/ 183623 h 2378826"/>
                <a:gd name="connsiteX72" fmla="*/ 361747 w 3738370"/>
                <a:gd name="connsiteY72" fmla="*/ 183442 h 2378826"/>
                <a:gd name="connsiteX73" fmla="*/ 365272 w 3738370"/>
                <a:gd name="connsiteY73" fmla="*/ 97574 h 2378826"/>
                <a:gd name="connsiteX74" fmla="*/ 347822 w 3738370"/>
                <a:gd name="connsiteY74" fmla="*/ 46549 h 2378826"/>
                <a:gd name="connsiteX75" fmla="*/ 472028 w 3738370"/>
                <a:gd name="connsiteY75" fmla="*/ 45777 h 2378826"/>
                <a:gd name="connsiteX76" fmla="*/ 995893 w 3738370"/>
                <a:gd name="connsiteY76" fmla="*/ 42367 h 2378826"/>
                <a:gd name="connsiteX77" fmla="*/ 44127 w 3738370"/>
                <a:gd name="connsiteY77" fmla="*/ 1922869 h 2378826"/>
                <a:gd name="connsiteX78" fmla="*/ 38164 w 3738370"/>
                <a:gd name="connsiteY78" fmla="*/ 1295829 h 2378826"/>
                <a:gd name="connsiteX79" fmla="*/ 33116 w 3738370"/>
                <a:gd name="connsiteY79" fmla="*/ 630393 h 2378826"/>
                <a:gd name="connsiteX80" fmla="*/ 32363 w 3738370"/>
                <a:gd name="connsiteY80" fmla="*/ 412671 h 2378826"/>
                <a:gd name="connsiteX81" fmla="*/ 60900 w 3738370"/>
                <a:gd name="connsiteY81" fmla="*/ 431216 h 2378826"/>
                <a:gd name="connsiteX82" fmla="*/ 110754 w 3738370"/>
                <a:gd name="connsiteY82" fmla="*/ 433969 h 2378826"/>
                <a:gd name="connsiteX83" fmla="*/ 199003 w 3738370"/>
                <a:gd name="connsiteY83" fmla="*/ 411651 h 2378826"/>
                <a:gd name="connsiteX84" fmla="*/ 198536 w 3738370"/>
                <a:gd name="connsiteY84" fmla="*/ 632365 h 2378826"/>
                <a:gd name="connsiteX85" fmla="*/ 199984 w 3738370"/>
                <a:gd name="connsiteY85" fmla="*/ 1099404 h 2378826"/>
                <a:gd name="connsiteX86" fmla="*/ 216053 w 3738370"/>
                <a:gd name="connsiteY86" fmla="*/ 2004308 h 2378826"/>
                <a:gd name="connsiteX87" fmla="*/ 111364 w 3738370"/>
                <a:gd name="connsiteY87" fmla="*/ 2019786 h 2378826"/>
                <a:gd name="connsiteX88" fmla="*/ 47165 w 3738370"/>
                <a:gd name="connsiteY88" fmla="*/ 2097929 h 2378826"/>
                <a:gd name="connsiteX89" fmla="*/ 45793 w 3738370"/>
                <a:gd name="connsiteY89" fmla="*/ 2099634 h 2378826"/>
                <a:gd name="connsiteX90" fmla="*/ 44127 w 3738370"/>
                <a:gd name="connsiteY90" fmla="*/ 1922869 h 2378826"/>
                <a:gd name="connsiteX91" fmla="*/ 593691 w 3738370"/>
                <a:gd name="connsiteY91" fmla="*/ 2344598 h 2378826"/>
                <a:gd name="connsiteX92" fmla="*/ 371320 w 3738370"/>
                <a:gd name="connsiteY92" fmla="*/ 2345884 h 2378826"/>
                <a:gd name="connsiteX93" fmla="*/ 394589 w 3738370"/>
                <a:gd name="connsiteY93" fmla="*/ 2276580 h 2378826"/>
                <a:gd name="connsiteX94" fmla="*/ 385017 w 3738370"/>
                <a:gd name="connsiteY94" fmla="*/ 2212448 h 2378826"/>
                <a:gd name="connsiteX95" fmla="*/ 383216 w 3738370"/>
                <a:gd name="connsiteY95" fmla="*/ 2209333 h 2378826"/>
                <a:gd name="connsiteX96" fmla="*/ 404400 w 3738370"/>
                <a:gd name="connsiteY96" fmla="*/ 2210143 h 2378826"/>
                <a:gd name="connsiteX97" fmla="*/ 522234 w 3738370"/>
                <a:gd name="connsiteY97" fmla="*/ 2212943 h 2378826"/>
                <a:gd name="connsiteX98" fmla="*/ 985282 w 3738370"/>
                <a:gd name="connsiteY98" fmla="*/ 2209371 h 2378826"/>
                <a:gd name="connsiteX99" fmla="*/ 1212996 w 3738370"/>
                <a:gd name="connsiteY99" fmla="*/ 2207933 h 2378826"/>
                <a:gd name="connsiteX100" fmla="*/ 1221302 w 3738370"/>
                <a:gd name="connsiteY100" fmla="*/ 2205628 h 2378826"/>
                <a:gd name="connsiteX101" fmla="*/ 1222884 w 3738370"/>
                <a:gd name="connsiteY101" fmla="*/ 2217610 h 2378826"/>
                <a:gd name="connsiteX102" fmla="*/ 1226560 w 3738370"/>
                <a:gd name="connsiteY102" fmla="*/ 2242737 h 2378826"/>
                <a:gd name="connsiteX103" fmla="*/ 1234647 w 3738370"/>
                <a:gd name="connsiteY103" fmla="*/ 2265845 h 2378826"/>
                <a:gd name="connsiteX104" fmla="*/ 1234066 w 3738370"/>
                <a:gd name="connsiteY104" fmla="*/ 2265855 h 2378826"/>
                <a:gd name="connsiteX105" fmla="*/ 1163800 w 3738370"/>
                <a:gd name="connsiteY105" fmla="*/ 2268103 h 2378826"/>
                <a:gd name="connsiteX106" fmla="*/ 1125967 w 3738370"/>
                <a:gd name="connsiteY106" fmla="*/ 2279952 h 2378826"/>
                <a:gd name="connsiteX107" fmla="*/ 1107593 w 3738370"/>
                <a:gd name="connsiteY107" fmla="*/ 2315832 h 2378826"/>
                <a:gd name="connsiteX108" fmla="*/ 1106098 w 3738370"/>
                <a:gd name="connsiteY108" fmla="*/ 2341607 h 2378826"/>
                <a:gd name="connsiteX109" fmla="*/ 593691 w 3738370"/>
                <a:gd name="connsiteY109" fmla="*/ 2344598 h 2378826"/>
                <a:gd name="connsiteX110" fmla="*/ 1688056 w 3738370"/>
                <a:gd name="connsiteY110" fmla="*/ 2093500 h 2378826"/>
                <a:gd name="connsiteX111" fmla="*/ 1695409 w 3738370"/>
                <a:gd name="connsiteY111" fmla="*/ 2129847 h 2378826"/>
                <a:gd name="connsiteX112" fmla="*/ 1704658 w 3738370"/>
                <a:gd name="connsiteY112" fmla="*/ 2177053 h 2378826"/>
                <a:gd name="connsiteX113" fmla="*/ 1729518 w 3738370"/>
                <a:gd name="connsiteY113" fmla="*/ 2257463 h 2378826"/>
                <a:gd name="connsiteX114" fmla="*/ 1728775 w 3738370"/>
                <a:gd name="connsiteY114" fmla="*/ 2257473 h 2378826"/>
                <a:gd name="connsiteX115" fmla="*/ 1333545 w 3738370"/>
                <a:gd name="connsiteY115" fmla="*/ 2264236 h 2378826"/>
                <a:gd name="connsiteX116" fmla="*/ 1254764 w 3738370"/>
                <a:gd name="connsiteY116" fmla="*/ 2265502 h 2378826"/>
                <a:gd name="connsiteX117" fmla="*/ 1255887 w 3738370"/>
                <a:gd name="connsiteY117" fmla="*/ 2263616 h 2378826"/>
                <a:gd name="connsiteX118" fmla="*/ 1252964 w 3738370"/>
                <a:gd name="connsiteY118" fmla="*/ 2212991 h 2378826"/>
                <a:gd name="connsiteX119" fmla="*/ 1248058 w 3738370"/>
                <a:gd name="connsiteY119" fmla="*/ 2168347 h 2378826"/>
                <a:gd name="connsiteX120" fmla="*/ 1241124 w 3738370"/>
                <a:gd name="connsiteY120" fmla="*/ 2104949 h 2378826"/>
                <a:gd name="connsiteX121" fmla="*/ 1251696 w 3738370"/>
                <a:gd name="connsiteY121" fmla="*/ 2101520 h 2378826"/>
                <a:gd name="connsiteX122" fmla="*/ 1292473 w 3738370"/>
                <a:gd name="connsiteY122" fmla="*/ 2093014 h 2378826"/>
                <a:gd name="connsiteX123" fmla="*/ 1384142 w 3738370"/>
                <a:gd name="connsiteY123" fmla="*/ 2084899 h 2378826"/>
                <a:gd name="connsiteX124" fmla="*/ 1588139 w 3738370"/>
                <a:gd name="connsiteY124" fmla="*/ 2090557 h 2378826"/>
                <a:gd name="connsiteX125" fmla="*/ 1683998 w 3738370"/>
                <a:gd name="connsiteY125" fmla="*/ 2093976 h 2378826"/>
                <a:gd name="connsiteX126" fmla="*/ 1688056 w 3738370"/>
                <a:gd name="connsiteY126" fmla="*/ 2093500 h 2378826"/>
                <a:gd name="connsiteX127" fmla="*/ 1756141 w 3738370"/>
                <a:gd name="connsiteY127" fmla="*/ 2242166 h 2378826"/>
                <a:gd name="connsiteX128" fmla="*/ 1741196 w 3738370"/>
                <a:gd name="connsiteY128" fmla="*/ 2201752 h 2378826"/>
                <a:gd name="connsiteX129" fmla="*/ 1748178 w 3738370"/>
                <a:gd name="connsiteY129" fmla="*/ 2203285 h 2378826"/>
                <a:gd name="connsiteX130" fmla="*/ 1979635 w 3738370"/>
                <a:gd name="connsiteY130" fmla="*/ 2201913 h 2378826"/>
                <a:gd name="connsiteX131" fmla="*/ 1985264 w 3738370"/>
                <a:gd name="connsiteY131" fmla="*/ 2200894 h 2378826"/>
                <a:gd name="connsiteX132" fmla="*/ 2136903 w 3738370"/>
                <a:gd name="connsiteY132" fmla="*/ 2252291 h 2378826"/>
                <a:gd name="connsiteX133" fmla="*/ 2125806 w 3738370"/>
                <a:gd name="connsiteY133" fmla="*/ 2252405 h 2378826"/>
                <a:gd name="connsiteX134" fmla="*/ 1756064 w 3738370"/>
                <a:gd name="connsiteY134" fmla="*/ 2257101 h 2378826"/>
                <a:gd name="connsiteX135" fmla="*/ 1756141 w 3738370"/>
                <a:gd name="connsiteY135" fmla="*/ 2242166 h 2378826"/>
                <a:gd name="connsiteX136" fmla="*/ 2299866 w 3738370"/>
                <a:gd name="connsiteY136" fmla="*/ 2192750 h 2378826"/>
                <a:gd name="connsiteX137" fmla="*/ 2299180 w 3738370"/>
                <a:gd name="connsiteY137" fmla="*/ 2242509 h 2378826"/>
                <a:gd name="connsiteX138" fmla="*/ 2299513 w 3738370"/>
                <a:gd name="connsiteY138" fmla="*/ 2250681 h 2378826"/>
                <a:gd name="connsiteX139" fmla="*/ 2188976 w 3738370"/>
                <a:gd name="connsiteY139" fmla="*/ 2251758 h 2378826"/>
                <a:gd name="connsiteX140" fmla="*/ 2178965 w 3738370"/>
                <a:gd name="connsiteY140" fmla="*/ 2232346 h 2378826"/>
                <a:gd name="connsiteX141" fmla="*/ 1984721 w 3738370"/>
                <a:gd name="connsiteY141" fmla="*/ 2167814 h 2378826"/>
                <a:gd name="connsiteX142" fmla="*/ 1987217 w 3738370"/>
                <a:gd name="connsiteY142" fmla="*/ 2138953 h 2378826"/>
                <a:gd name="connsiteX143" fmla="*/ 1990170 w 3738370"/>
                <a:gd name="connsiteY143" fmla="*/ 2116931 h 2378826"/>
                <a:gd name="connsiteX144" fmla="*/ 1994361 w 3738370"/>
                <a:gd name="connsiteY144" fmla="*/ 2094424 h 2378826"/>
                <a:gd name="connsiteX145" fmla="*/ 2014087 w 3738370"/>
                <a:gd name="connsiteY145" fmla="*/ 2103377 h 2378826"/>
                <a:gd name="connsiteX146" fmla="*/ 2054073 w 3738370"/>
                <a:gd name="connsiteY146" fmla="*/ 2118312 h 2378826"/>
                <a:gd name="connsiteX147" fmla="*/ 2123348 w 3738370"/>
                <a:gd name="connsiteY147" fmla="*/ 2140972 h 2378826"/>
                <a:gd name="connsiteX148" fmla="*/ 2237611 w 3738370"/>
                <a:gd name="connsiteY148" fmla="*/ 2175653 h 2378826"/>
                <a:gd name="connsiteX149" fmla="*/ 2299866 w 3738370"/>
                <a:gd name="connsiteY149" fmla="*/ 2192750 h 2378826"/>
                <a:gd name="connsiteX150" fmla="*/ 1925962 w 3738370"/>
                <a:gd name="connsiteY150" fmla="*/ 2149202 h 2378826"/>
                <a:gd name="connsiteX151" fmla="*/ 1960500 w 3738370"/>
                <a:gd name="connsiteY151" fmla="*/ 2141068 h 2378826"/>
                <a:gd name="connsiteX152" fmla="*/ 1959966 w 3738370"/>
                <a:gd name="connsiteY152" fmla="*/ 2160137 h 2378826"/>
                <a:gd name="connsiteX153" fmla="*/ 1956289 w 3738370"/>
                <a:gd name="connsiteY153" fmla="*/ 2158013 h 2378826"/>
                <a:gd name="connsiteX154" fmla="*/ 1901349 w 3738370"/>
                <a:gd name="connsiteY154" fmla="*/ 2146030 h 2378826"/>
                <a:gd name="connsiteX155" fmla="*/ 1897673 w 3738370"/>
                <a:gd name="connsiteY155" fmla="*/ 2143944 h 2378826"/>
                <a:gd name="connsiteX156" fmla="*/ 1925962 w 3738370"/>
                <a:gd name="connsiteY156" fmla="*/ 2149202 h 2378826"/>
                <a:gd name="connsiteX157" fmla="*/ 2452818 w 3738370"/>
                <a:gd name="connsiteY157" fmla="*/ 2336406 h 2378826"/>
                <a:gd name="connsiteX158" fmla="*/ 1802346 w 3738370"/>
                <a:gd name="connsiteY158" fmla="*/ 2338273 h 2378826"/>
                <a:gd name="connsiteX159" fmla="*/ 1156218 w 3738370"/>
                <a:gd name="connsiteY159" fmla="*/ 2341302 h 2378826"/>
                <a:gd name="connsiteX160" fmla="*/ 1116594 w 3738370"/>
                <a:gd name="connsiteY160" fmla="*/ 2341531 h 2378826"/>
                <a:gd name="connsiteX161" fmla="*/ 1126967 w 3738370"/>
                <a:gd name="connsiteY161" fmla="*/ 2296916 h 2378826"/>
                <a:gd name="connsiteX162" fmla="*/ 1158418 w 3738370"/>
                <a:gd name="connsiteY162" fmla="*/ 2282143 h 2378826"/>
                <a:gd name="connsiteX163" fmla="*/ 1217168 w 3738370"/>
                <a:gd name="connsiteY163" fmla="*/ 2280419 h 2378826"/>
                <a:gd name="connsiteX164" fmla="*/ 1312895 w 3738370"/>
                <a:gd name="connsiteY164" fmla="*/ 2279723 h 2378826"/>
                <a:gd name="connsiteX165" fmla="*/ 1692923 w 3738370"/>
                <a:gd name="connsiteY165" fmla="*/ 2275094 h 2378826"/>
                <a:gd name="connsiteX166" fmla="*/ 2072866 w 3738370"/>
                <a:gd name="connsiteY166" fmla="*/ 2270065 h 2378826"/>
                <a:gd name="connsiteX167" fmla="*/ 2455476 w 3738370"/>
                <a:gd name="connsiteY167" fmla="*/ 2267484 h 2378826"/>
                <a:gd name="connsiteX168" fmla="*/ 2542363 w 3738370"/>
                <a:gd name="connsiteY168" fmla="*/ 2267207 h 2378826"/>
                <a:gd name="connsiteX169" fmla="*/ 2597017 w 3738370"/>
                <a:gd name="connsiteY169" fmla="*/ 2267350 h 2378826"/>
                <a:gd name="connsiteX170" fmla="*/ 2634793 w 3738370"/>
                <a:gd name="connsiteY170" fmla="*/ 2276875 h 2378826"/>
                <a:gd name="connsiteX171" fmla="*/ 2663521 w 3738370"/>
                <a:gd name="connsiteY171" fmla="*/ 2309317 h 2378826"/>
                <a:gd name="connsiteX172" fmla="*/ 2675513 w 3738370"/>
                <a:gd name="connsiteY172" fmla="*/ 2336340 h 2378826"/>
                <a:gd name="connsiteX173" fmla="*/ 2452818 w 3738370"/>
                <a:gd name="connsiteY173" fmla="*/ 2336406 h 2378826"/>
                <a:gd name="connsiteX174" fmla="*/ 3037558 w 3738370"/>
                <a:gd name="connsiteY174" fmla="*/ 2337206 h 2378826"/>
                <a:gd name="connsiteX175" fmla="*/ 2694182 w 3738370"/>
                <a:gd name="connsiteY175" fmla="*/ 2336359 h 2378826"/>
                <a:gd name="connsiteX176" fmla="*/ 2693667 w 3738370"/>
                <a:gd name="connsiteY176" fmla="*/ 2333149 h 2378826"/>
                <a:gd name="connsiteX177" fmla="*/ 2631545 w 3738370"/>
                <a:gd name="connsiteY177" fmla="*/ 2254853 h 2378826"/>
                <a:gd name="connsiteX178" fmla="*/ 2525684 w 3738370"/>
                <a:gd name="connsiteY178" fmla="*/ 2248910 h 2378826"/>
                <a:gd name="connsiteX179" fmla="*/ 2328860 w 3738370"/>
                <a:gd name="connsiteY179" fmla="*/ 2250405 h 2378826"/>
                <a:gd name="connsiteX180" fmla="*/ 2328222 w 3738370"/>
                <a:gd name="connsiteY180" fmla="*/ 2176367 h 2378826"/>
                <a:gd name="connsiteX181" fmla="*/ 2325564 w 3738370"/>
                <a:gd name="connsiteY181" fmla="*/ 2170786 h 2378826"/>
                <a:gd name="connsiteX182" fmla="*/ 2317497 w 3738370"/>
                <a:gd name="connsiteY182" fmla="*/ 2165652 h 2378826"/>
                <a:gd name="connsiteX183" fmla="*/ 2071409 w 3738370"/>
                <a:gd name="connsiteY183" fmla="*/ 2094033 h 2378826"/>
                <a:gd name="connsiteX184" fmla="*/ 2026412 w 3738370"/>
                <a:gd name="connsiteY184" fmla="*/ 2082622 h 2378826"/>
                <a:gd name="connsiteX185" fmla="*/ 2000114 w 3738370"/>
                <a:gd name="connsiteY185" fmla="*/ 2078250 h 2378826"/>
                <a:gd name="connsiteX186" fmla="*/ 1977873 w 3738370"/>
                <a:gd name="connsiteY186" fmla="*/ 2079098 h 2378826"/>
                <a:gd name="connsiteX187" fmla="*/ 1976997 w 3738370"/>
                <a:gd name="connsiteY187" fmla="*/ 2081717 h 2378826"/>
                <a:gd name="connsiteX188" fmla="*/ 1972168 w 3738370"/>
                <a:gd name="connsiteY188" fmla="*/ 2084851 h 2378826"/>
                <a:gd name="connsiteX189" fmla="*/ 1963748 w 3738370"/>
                <a:gd name="connsiteY189" fmla="*/ 2102577 h 2378826"/>
                <a:gd name="connsiteX190" fmla="*/ 1886157 w 3738370"/>
                <a:gd name="connsiteY190" fmla="*/ 2088261 h 2378826"/>
                <a:gd name="connsiteX191" fmla="*/ 1871555 w 3738370"/>
                <a:gd name="connsiteY191" fmla="*/ 2094205 h 2378826"/>
                <a:gd name="connsiteX192" fmla="*/ 1866393 w 3738370"/>
                <a:gd name="connsiteY192" fmla="*/ 2106054 h 2378826"/>
                <a:gd name="connsiteX193" fmla="*/ 1861716 w 3738370"/>
                <a:gd name="connsiteY193" fmla="*/ 2117188 h 2378826"/>
                <a:gd name="connsiteX194" fmla="*/ 1862725 w 3738370"/>
                <a:gd name="connsiteY194" fmla="*/ 2122865 h 2378826"/>
                <a:gd name="connsiteX195" fmla="*/ 1882851 w 3738370"/>
                <a:gd name="connsiteY195" fmla="*/ 2163661 h 2378826"/>
                <a:gd name="connsiteX196" fmla="*/ 1900330 w 3738370"/>
                <a:gd name="connsiteY196" fmla="*/ 2171691 h 2378826"/>
                <a:gd name="connsiteX197" fmla="*/ 1748187 w 3738370"/>
                <a:gd name="connsiteY197" fmla="*/ 2172595 h 2378826"/>
                <a:gd name="connsiteX198" fmla="*/ 1736176 w 3738370"/>
                <a:gd name="connsiteY198" fmla="*/ 2178634 h 2378826"/>
                <a:gd name="connsiteX199" fmla="*/ 1733700 w 3738370"/>
                <a:gd name="connsiteY199" fmla="*/ 2165985 h 2378826"/>
                <a:gd name="connsiteX200" fmla="*/ 1725032 w 3738370"/>
                <a:gd name="connsiteY200" fmla="*/ 2121694 h 2378826"/>
                <a:gd name="connsiteX201" fmla="*/ 1710535 w 3738370"/>
                <a:gd name="connsiteY201" fmla="*/ 2077888 h 2378826"/>
                <a:gd name="connsiteX202" fmla="*/ 1697705 w 3738370"/>
                <a:gd name="connsiteY202" fmla="*/ 2072488 h 2378826"/>
                <a:gd name="connsiteX203" fmla="*/ 1684017 w 3738370"/>
                <a:gd name="connsiteY203" fmla="*/ 2063296 h 2378826"/>
                <a:gd name="connsiteX204" fmla="*/ 1292207 w 3738370"/>
                <a:gd name="connsiteY204" fmla="*/ 2062115 h 2378826"/>
                <a:gd name="connsiteX205" fmla="*/ 1246096 w 3738370"/>
                <a:gd name="connsiteY205" fmla="*/ 2073631 h 2378826"/>
                <a:gd name="connsiteX206" fmla="*/ 1233780 w 3738370"/>
                <a:gd name="connsiteY206" fmla="*/ 2078155 h 2378826"/>
                <a:gd name="connsiteX207" fmla="*/ 1221778 w 3738370"/>
                <a:gd name="connsiteY207" fmla="*/ 2081994 h 2378826"/>
                <a:gd name="connsiteX208" fmla="*/ 1221141 w 3738370"/>
                <a:gd name="connsiteY208" fmla="*/ 2084651 h 2378826"/>
                <a:gd name="connsiteX209" fmla="*/ 1211073 w 3738370"/>
                <a:gd name="connsiteY209" fmla="*/ 2098043 h 2378826"/>
                <a:gd name="connsiteX210" fmla="*/ 1216349 w 3738370"/>
                <a:gd name="connsiteY210" fmla="*/ 2107340 h 2378826"/>
                <a:gd name="connsiteX211" fmla="*/ 1217254 w 3738370"/>
                <a:gd name="connsiteY211" fmla="*/ 2107645 h 2378826"/>
                <a:gd name="connsiteX212" fmla="*/ 1217521 w 3738370"/>
                <a:gd name="connsiteY212" fmla="*/ 2170062 h 2378826"/>
                <a:gd name="connsiteX213" fmla="*/ 1218245 w 3738370"/>
                <a:gd name="connsiteY213" fmla="*/ 2178091 h 2378826"/>
                <a:gd name="connsiteX214" fmla="*/ 1213006 w 3738370"/>
                <a:gd name="connsiteY214" fmla="*/ 2177234 h 2378826"/>
                <a:gd name="connsiteX215" fmla="*/ 760569 w 3738370"/>
                <a:gd name="connsiteY215" fmla="*/ 2181987 h 2378826"/>
                <a:gd name="connsiteX216" fmla="*/ 535331 w 3738370"/>
                <a:gd name="connsiteY216" fmla="*/ 2182406 h 2378826"/>
                <a:gd name="connsiteX217" fmla="*/ 424069 w 3738370"/>
                <a:gd name="connsiteY217" fmla="*/ 2180092 h 2378826"/>
                <a:gd name="connsiteX218" fmla="*/ 368358 w 3738370"/>
                <a:gd name="connsiteY218" fmla="*/ 2178053 h 2378826"/>
                <a:gd name="connsiteX219" fmla="*/ 312522 w 3738370"/>
                <a:gd name="connsiteY219" fmla="*/ 2173548 h 2378826"/>
                <a:gd name="connsiteX220" fmla="*/ 282461 w 3738370"/>
                <a:gd name="connsiteY220" fmla="*/ 2142496 h 2378826"/>
                <a:gd name="connsiteX221" fmla="*/ 255467 w 3738370"/>
                <a:gd name="connsiteY221" fmla="*/ 2101348 h 2378826"/>
                <a:gd name="connsiteX222" fmla="*/ 248238 w 3738370"/>
                <a:gd name="connsiteY222" fmla="*/ 2053533 h 2378826"/>
                <a:gd name="connsiteX223" fmla="*/ 246438 w 3738370"/>
                <a:gd name="connsiteY223" fmla="*/ 1994230 h 2378826"/>
                <a:gd name="connsiteX224" fmla="*/ 240427 w 3738370"/>
                <a:gd name="connsiteY224" fmla="*/ 1763763 h 2378826"/>
                <a:gd name="connsiteX225" fmla="*/ 232693 w 3738370"/>
                <a:gd name="connsiteY225" fmla="*/ 1309859 h 2378826"/>
                <a:gd name="connsiteX226" fmla="*/ 229750 w 3738370"/>
                <a:gd name="connsiteY226" fmla="*/ 401936 h 2378826"/>
                <a:gd name="connsiteX227" fmla="*/ 229969 w 3738370"/>
                <a:gd name="connsiteY227" fmla="*/ 345929 h 2378826"/>
                <a:gd name="connsiteX228" fmla="*/ 236551 w 3738370"/>
                <a:gd name="connsiteY228" fmla="*/ 292770 h 2378826"/>
                <a:gd name="connsiteX229" fmla="*/ 292253 w 3738370"/>
                <a:gd name="connsiteY229" fmla="*/ 234934 h 2378826"/>
                <a:gd name="connsiteX230" fmla="*/ 326295 w 3738370"/>
                <a:gd name="connsiteY230" fmla="*/ 219046 h 2378826"/>
                <a:gd name="connsiteX231" fmla="*/ 381436 w 3738370"/>
                <a:gd name="connsiteY231" fmla="*/ 214351 h 2378826"/>
                <a:gd name="connsiteX232" fmla="*/ 493659 w 3738370"/>
                <a:gd name="connsiteY232" fmla="*/ 212207 h 2378826"/>
                <a:gd name="connsiteX233" fmla="*/ 952136 w 3738370"/>
                <a:gd name="connsiteY233" fmla="*/ 206169 h 2378826"/>
                <a:gd name="connsiteX234" fmla="*/ 1865154 w 3738370"/>
                <a:gd name="connsiteY234" fmla="*/ 201263 h 2378826"/>
                <a:gd name="connsiteX235" fmla="*/ 2772906 w 3738370"/>
                <a:gd name="connsiteY235" fmla="*/ 195853 h 2378826"/>
                <a:gd name="connsiteX236" fmla="*/ 3223334 w 3738370"/>
                <a:gd name="connsiteY236" fmla="*/ 195910 h 2378826"/>
                <a:gd name="connsiteX237" fmla="*/ 3337319 w 3738370"/>
                <a:gd name="connsiteY237" fmla="*/ 197958 h 2378826"/>
                <a:gd name="connsiteX238" fmla="*/ 3393479 w 3738370"/>
                <a:gd name="connsiteY238" fmla="*/ 199892 h 2378826"/>
                <a:gd name="connsiteX239" fmla="*/ 3439380 w 3738370"/>
                <a:gd name="connsiteY239" fmla="*/ 219828 h 2378826"/>
                <a:gd name="connsiteX240" fmla="*/ 3485566 w 3738370"/>
                <a:gd name="connsiteY240" fmla="*/ 283836 h 2378826"/>
                <a:gd name="connsiteX241" fmla="*/ 3488815 w 3738370"/>
                <a:gd name="connsiteY241" fmla="*/ 330156 h 2378826"/>
                <a:gd name="connsiteX242" fmla="*/ 3489624 w 3738370"/>
                <a:gd name="connsiteY242" fmla="*/ 389677 h 2378826"/>
                <a:gd name="connsiteX243" fmla="*/ 3500254 w 3738370"/>
                <a:gd name="connsiteY243" fmla="*/ 1305659 h 2378826"/>
                <a:gd name="connsiteX244" fmla="*/ 3504693 w 3738370"/>
                <a:gd name="connsiteY244" fmla="*/ 1762001 h 2378826"/>
                <a:gd name="connsiteX245" fmla="*/ 3506826 w 3738370"/>
                <a:gd name="connsiteY245" fmla="*/ 1990173 h 2378826"/>
                <a:gd name="connsiteX246" fmla="*/ 3495358 w 3738370"/>
                <a:gd name="connsiteY246" fmla="*/ 2083146 h 2378826"/>
                <a:gd name="connsiteX247" fmla="*/ 3441751 w 3738370"/>
                <a:gd name="connsiteY247" fmla="*/ 2141725 h 2378826"/>
                <a:gd name="connsiteX248" fmla="*/ 3425245 w 3738370"/>
                <a:gd name="connsiteY248" fmla="*/ 2151240 h 2378826"/>
                <a:gd name="connsiteX249" fmla="*/ 3410929 w 3738370"/>
                <a:gd name="connsiteY249" fmla="*/ 2152774 h 2378826"/>
                <a:gd name="connsiteX250" fmla="*/ 3378524 w 3738370"/>
                <a:gd name="connsiteY250" fmla="*/ 2156289 h 2378826"/>
                <a:gd name="connsiteX251" fmla="*/ 3311516 w 3738370"/>
                <a:gd name="connsiteY251" fmla="*/ 2161165 h 2378826"/>
                <a:gd name="connsiteX252" fmla="*/ 3179880 w 3738370"/>
                <a:gd name="connsiteY252" fmla="*/ 2163880 h 2378826"/>
                <a:gd name="connsiteX253" fmla="*/ 2912409 w 3738370"/>
                <a:gd name="connsiteY253" fmla="*/ 2161403 h 2378826"/>
                <a:gd name="connsiteX254" fmla="*/ 2788556 w 3738370"/>
                <a:gd name="connsiteY254" fmla="*/ 2167928 h 2378826"/>
                <a:gd name="connsiteX255" fmla="*/ 2568338 w 3738370"/>
                <a:gd name="connsiteY255" fmla="*/ 2168319 h 2378826"/>
                <a:gd name="connsiteX256" fmla="*/ 2345928 w 3738370"/>
                <a:gd name="connsiteY256" fmla="*/ 2169004 h 2378826"/>
                <a:gd name="connsiteX257" fmla="*/ 2345928 w 3738370"/>
                <a:gd name="connsiteY257" fmla="*/ 2199713 h 2378826"/>
                <a:gd name="connsiteX258" fmla="*/ 3283675 w 3738370"/>
                <a:gd name="connsiteY258" fmla="*/ 2198389 h 2378826"/>
                <a:gd name="connsiteX259" fmla="*/ 3355950 w 3738370"/>
                <a:gd name="connsiteY259" fmla="*/ 2199637 h 2378826"/>
                <a:gd name="connsiteX260" fmla="*/ 3354359 w 3738370"/>
                <a:gd name="connsiteY260" fmla="*/ 2208486 h 2378826"/>
                <a:gd name="connsiteX261" fmla="*/ 3351131 w 3738370"/>
                <a:gd name="connsiteY261" fmla="*/ 2236851 h 2378826"/>
                <a:gd name="connsiteX262" fmla="*/ 3358646 w 3738370"/>
                <a:gd name="connsiteY262" fmla="*/ 2288305 h 2378826"/>
                <a:gd name="connsiteX263" fmla="*/ 3386554 w 3738370"/>
                <a:gd name="connsiteY263" fmla="*/ 2332492 h 2378826"/>
                <a:gd name="connsiteX264" fmla="*/ 3396507 w 3738370"/>
                <a:gd name="connsiteY264" fmla="*/ 2341617 h 2378826"/>
                <a:gd name="connsiteX265" fmla="*/ 3037558 w 3738370"/>
                <a:gd name="connsiteY265" fmla="*/ 2337206 h 237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Lst>
              <a:rect l="l" t="t" r="r" b="b"/>
              <a:pathLst>
                <a:path w="3738370" h="2378826">
                  <a:moveTo>
                    <a:pt x="3736122" y="2036055"/>
                  </a:moveTo>
                  <a:cubicBezTo>
                    <a:pt x="3735665" y="1991087"/>
                    <a:pt x="3735188" y="1946129"/>
                    <a:pt x="3734722" y="1901161"/>
                  </a:cubicBezTo>
                  <a:cubicBezTo>
                    <a:pt x="3732378" y="1675600"/>
                    <a:pt x="3730035" y="1450038"/>
                    <a:pt x="3727996" y="1224477"/>
                  </a:cubicBezTo>
                  <a:cubicBezTo>
                    <a:pt x="3725920" y="994239"/>
                    <a:pt x="3724044" y="763991"/>
                    <a:pt x="3723177" y="533743"/>
                  </a:cubicBezTo>
                  <a:cubicBezTo>
                    <a:pt x="3722834" y="441912"/>
                    <a:pt x="3722634" y="350082"/>
                    <a:pt x="3722949" y="258242"/>
                  </a:cubicBezTo>
                  <a:cubicBezTo>
                    <a:pt x="3723120" y="209445"/>
                    <a:pt x="3725063" y="162239"/>
                    <a:pt x="3704689" y="116491"/>
                  </a:cubicBezTo>
                  <a:cubicBezTo>
                    <a:pt x="3681600" y="64637"/>
                    <a:pt x="3635966" y="20612"/>
                    <a:pt x="3580217" y="6248"/>
                  </a:cubicBezTo>
                  <a:cubicBezTo>
                    <a:pt x="3548955" y="-1810"/>
                    <a:pt x="3514608" y="1019"/>
                    <a:pt x="3482509" y="810"/>
                  </a:cubicBezTo>
                  <a:cubicBezTo>
                    <a:pt x="3451248" y="610"/>
                    <a:pt x="3419987" y="457"/>
                    <a:pt x="3388716" y="343"/>
                  </a:cubicBezTo>
                  <a:cubicBezTo>
                    <a:pt x="3314888" y="76"/>
                    <a:pt x="3241060" y="0"/>
                    <a:pt x="3167231" y="0"/>
                  </a:cubicBezTo>
                  <a:cubicBezTo>
                    <a:pt x="2982027" y="10"/>
                    <a:pt x="2796814" y="533"/>
                    <a:pt x="2611609" y="1210"/>
                  </a:cubicBezTo>
                  <a:cubicBezTo>
                    <a:pt x="2397240" y="1991"/>
                    <a:pt x="2182880" y="3029"/>
                    <a:pt x="1968510" y="4181"/>
                  </a:cubicBezTo>
                  <a:cubicBezTo>
                    <a:pt x="1749301" y="5363"/>
                    <a:pt x="1530103" y="6667"/>
                    <a:pt x="1310895" y="8039"/>
                  </a:cubicBezTo>
                  <a:cubicBezTo>
                    <a:pt x="1113603" y="9277"/>
                    <a:pt x="916312" y="10563"/>
                    <a:pt x="719020" y="11859"/>
                  </a:cubicBezTo>
                  <a:cubicBezTo>
                    <a:pt x="567497" y="12849"/>
                    <a:pt x="415973" y="13859"/>
                    <a:pt x="264449" y="14764"/>
                  </a:cubicBezTo>
                  <a:cubicBezTo>
                    <a:pt x="236017" y="14935"/>
                    <a:pt x="207185" y="13745"/>
                    <a:pt x="178810" y="15497"/>
                  </a:cubicBezTo>
                  <a:cubicBezTo>
                    <a:pt x="125823" y="18774"/>
                    <a:pt x="70682" y="43929"/>
                    <a:pt x="35735" y="84344"/>
                  </a:cubicBezTo>
                  <a:cubicBezTo>
                    <a:pt x="18838" y="103889"/>
                    <a:pt x="6351" y="127092"/>
                    <a:pt x="2312" y="152791"/>
                  </a:cubicBezTo>
                  <a:cubicBezTo>
                    <a:pt x="-536" y="170926"/>
                    <a:pt x="502" y="189767"/>
                    <a:pt x="388" y="208083"/>
                  </a:cubicBezTo>
                  <a:cubicBezTo>
                    <a:pt x="150" y="246250"/>
                    <a:pt x="54" y="284416"/>
                    <a:pt x="16" y="322583"/>
                  </a:cubicBezTo>
                  <a:cubicBezTo>
                    <a:pt x="-165" y="524161"/>
                    <a:pt x="1188" y="725748"/>
                    <a:pt x="2712" y="927316"/>
                  </a:cubicBezTo>
                  <a:cubicBezTo>
                    <a:pt x="4436" y="1155411"/>
                    <a:pt x="6608" y="1383497"/>
                    <a:pt x="9065" y="1611582"/>
                  </a:cubicBezTo>
                  <a:cubicBezTo>
                    <a:pt x="11018" y="1792948"/>
                    <a:pt x="13132" y="1974313"/>
                    <a:pt x="14999" y="2155679"/>
                  </a:cubicBezTo>
                  <a:cubicBezTo>
                    <a:pt x="15180" y="2173043"/>
                    <a:pt x="14294" y="2190836"/>
                    <a:pt x="16485" y="2208076"/>
                  </a:cubicBezTo>
                  <a:cubicBezTo>
                    <a:pt x="19790" y="2234108"/>
                    <a:pt x="30039" y="2259120"/>
                    <a:pt x="42927" y="2281828"/>
                  </a:cubicBezTo>
                  <a:cubicBezTo>
                    <a:pt x="66358" y="2323100"/>
                    <a:pt x="106230" y="2371163"/>
                    <a:pt x="156588" y="2377259"/>
                  </a:cubicBezTo>
                  <a:cubicBezTo>
                    <a:pt x="183811" y="2380555"/>
                    <a:pt x="212900" y="2377659"/>
                    <a:pt x="240303" y="2377478"/>
                  </a:cubicBezTo>
                  <a:cubicBezTo>
                    <a:pt x="271583" y="2377278"/>
                    <a:pt x="302864" y="2377068"/>
                    <a:pt x="334144" y="2376850"/>
                  </a:cubicBezTo>
                  <a:cubicBezTo>
                    <a:pt x="498069" y="2375735"/>
                    <a:pt x="662004" y="2374535"/>
                    <a:pt x="825929" y="2373354"/>
                  </a:cubicBezTo>
                  <a:cubicBezTo>
                    <a:pt x="1033127" y="2371868"/>
                    <a:pt x="1240315" y="2370392"/>
                    <a:pt x="1447512" y="2368991"/>
                  </a:cubicBezTo>
                  <a:cubicBezTo>
                    <a:pt x="1670244" y="2367487"/>
                    <a:pt x="1892967" y="2365439"/>
                    <a:pt x="2115690" y="2363829"/>
                  </a:cubicBezTo>
                  <a:cubicBezTo>
                    <a:pt x="2328479" y="2362286"/>
                    <a:pt x="2541267" y="2360876"/>
                    <a:pt x="2754056" y="2359219"/>
                  </a:cubicBezTo>
                  <a:cubicBezTo>
                    <a:pt x="2930764" y="2357847"/>
                    <a:pt x="3107443" y="2356342"/>
                    <a:pt x="3284132" y="2354418"/>
                  </a:cubicBezTo>
                  <a:cubicBezTo>
                    <a:pt x="3327194" y="2353952"/>
                    <a:pt x="3370257" y="2353551"/>
                    <a:pt x="3413329" y="2353199"/>
                  </a:cubicBezTo>
                  <a:cubicBezTo>
                    <a:pt x="3420673" y="2356971"/>
                    <a:pt x="3428369" y="2359009"/>
                    <a:pt x="3435665" y="2357380"/>
                  </a:cubicBezTo>
                  <a:cubicBezTo>
                    <a:pt x="3516113" y="2381021"/>
                    <a:pt x="3576492" y="2356961"/>
                    <a:pt x="3620488" y="2317861"/>
                  </a:cubicBezTo>
                  <a:cubicBezTo>
                    <a:pt x="3629699" y="2311708"/>
                    <a:pt x="3638595" y="2305069"/>
                    <a:pt x="3647139" y="2298011"/>
                  </a:cubicBezTo>
                  <a:cubicBezTo>
                    <a:pt x="3688554" y="2263750"/>
                    <a:pt x="3725691" y="2215058"/>
                    <a:pt x="3734864" y="2160918"/>
                  </a:cubicBezTo>
                  <a:cubicBezTo>
                    <a:pt x="3741675" y="2120760"/>
                    <a:pt x="3736541" y="2076688"/>
                    <a:pt x="3736122" y="2036055"/>
                  </a:cubicBezTo>
                  <a:close/>
                  <a:moveTo>
                    <a:pt x="3683534" y="2075564"/>
                  </a:moveTo>
                  <a:cubicBezTo>
                    <a:pt x="3666779" y="2060553"/>
                    <a:pt x="3648034" y="2047513"/>
                    <a:pt x="3627699" y="2037845"/>
                  </a:cubicBezTo>
                  <a:cubicBezTo>
                    <a:pt x="3608553" y="2028749"/>
                    <a:pt x="3587446" y="2021319"/>
                    <a:pt x="3566005" y="2021234"/>
                  </a:cubicBezTo>
                  <a:cubicBezTo>
                    <a:pt x="3556661" y="2021195"/>
                    <a:pt x="3546755" y="2022177"/>
                    <a:pt x="3537687" y="2025034"/>
                  </a:cubicBezTo>
                  <a:cubicBezTo>
                    <a:pt x="3537763" y="2021167"/>
                    <a:pt x="3537773" y="2017262"/>
                    <a:pt x="3537735" y="2013309"/>
                  </a:cubicBezTo>
                  <a:cubicBezTo>
                    <a:pt x="3536277" y="1856784"/>
                    <a:pt x="3534820" y="1700260"/>
                    <a:pt x="3533305" y="1543745"/>
                  </a:cubicBezTo>
                  <a:cubicBezTo>
                    <a:pt x="3530258" y="1228496"/>
                    <a:pt x="3526981" y="913238"/>
                    <a:pt x="3523028" y="597998"/>
                  </a:cubicBezTo>
                  <a:cubicBezTo>
                    <a:pt x="3522038" y="518636"/>
                    <a:pt x="3520999" y="439274"/>
                    <a:pt x="3519914" y="359912"/>
                  </a:cubicBezTo>
                  <a:cubicBezTo>
                    <a:pt x="3519818" y="352739"/>
                    <a:pt x="3519895" y="345462"/>
                    <a:pt x="3519961" y="338147"/>
                  </a:cubicBezTo>
                  <a:cubicBezTo>
                    <a:pt x="3532772" y="342624"/>
                    <a:pt x="3548450" y="342700"/>
                    <a:pt x="3561100" y="342738"/>
                  </a:cubicBezTo>
                  <a:cubicBezTo>
                    <a:pt x="3581636" y="342795"/>
                    <a:pt x="3602629" y="340176"/>
                    <a:pt x="3622621" y="335566"/>
                  </a:cubicBezTo>
                  <a:cubicBezTo>
                    <a:pt x="3642405" y="331003"/>
                    <a:pt x="3662427" y="323840"/>
                    <a:pt x="3679381" y="312496"/>
                  </a:cubicBezTo>
                  <a:cubicBezTo>
                    <a:pt x="3683229" y="309924"/>
                    <a:pt x="3686991" y="307143"/>
                    <a:pt x="3690563" y="304152"/>
                  </a:cubicBezTo>
                  <a:cubicBezTo>
                    <a:pt x="3690202" y="485384"/>
                    <a:pt x="3691373" y="666626"/>
                    <a:pt x="3692649" y="847858"/>
                  </a:cubicBezTo>
                  <a:cubicBezTo>
                    <a:pt x="3694287" y="1081707"/>
                    <a:pt x="3696479" y="1315555"/>
                    <a:pt x="3698821" y="1549403"/>
                  </a:cubicBezTo>
                  <a:cubicBezTo>
                    <a:pt x="3700650" y="1731712"/>
                    <a:pt x="3702613" y="1914020"/>
                    <a:pt x="3704442" y="2096338"/>
                  </a:cubicBezTo>
                  <a:cubicBezTo>
                    <a:pt x="3697907" y="2088747"/>
                    <a:pt x="3690506" y="2081822"/>
                    <a:pt x="3683534" y="2075564"/>
                  </a:cubicBezTo>
                  <a:close/>
                  <a:moveTo>
                    <a:pt x="995893" y="42367"/>
                  </a:moveTo>
                  <a:cubicBezTo>
                    <a:pt x="1203471" y="41024"/>
                    <a:pt x="1411040" y="39710"/>
                    <a:pt x="1618619" y="38481"/>
                  </a:cubicBezTo>
                  <a:cubicBezTo>
                    <a:pt x="1834350" y="37205"/>
                    <a:pt x="2050082" y="36014"/>
                    <a:pt x="2265814" y="34985"/>
                  </a:cubicBezTo>
                  <a:cubicBezTo>
                    <a:pt x="2466668" y="34033"/>
                    <a:pt x="2667521" y="33214"/>
                    <a:pt x="2868375" y="32728"/>
                  </a:cubicBezTo>
                  <a:cubicBezTo>
                    <a:pt x="3031100" y="32328"/>
                    <a:pt x="3193816" y="32090"/>
                    <a:pt x="3356541" y="32547"/>
                  </a:cubicBezTo>
                  <a:cubicBezTo>
                    <a:pt x="3365133" y="32575"/>
                    <a:pt x="3373715" y="32614"/>
                    <a:pt x="3382306" y="32652"/>
                  </a:cubicBezTo>
                  <a:cubicBezTo>
                    <a:pt x="3373352" y="54959"/>
                    <a:pt x="3367599" y="78657"/>
                    <a:pt x="3363208" y="102213"/>
                  </a:cubicBezTo>
                  <a:cubicBezTo>
                    <a:pt x="3360532" y="116548"/>
                    <a:pt x="3358207" y="131102"/>
                    <a:pt x="3357664" y="145694"/>
                  </a:cubicBezTo>
                  <a:cubicBezTo>
                    <a:pt x="3357398" y="152905"/>
                    <a:pt x="3357227" y="160601"/>
                    <a:pt x="3358722" y="167821"/>
                  </a:cubicBezTo>
                  <a:cubicBezTo>
                    <a:pt x="3325537" y="166954"/>
                    <a:pt x="3292352" y="166230"/>
                    <a:pt x="3259157" y="165706"/>
                  </a:cubicBezTo>
                  <a:cubicBezTo>
                    <a:pt x="3181947" y="164487"/>
                    <a:pt x="3104738" y="164097"/>
                    <a:pt x="3027519" y="164116"/>
                  </a:cubicBezTo>
                  <a:cubicBezTo>
                    <a:pt x="2714784" y="164211"/>
                    <a:pt x="2402069" y="167869"/>
                    <a:pt x="2089335" y="169507"/>
                  </a:cubicBezTo>
                  <a:cubicBezTo>
                    <a:pt x="1775095" y="171155"/>
                    <a:pt x="1460846" y="171745"/>
                    <a:pt x="1146607" y="173898"/>
                  </a:cubicBezTo>
                  <a:cubicBezTo>
                    <a:pt x="988330" y="174984"/>
                    <a:pt x="830063" y="176460"/>
                    <a:pt x="671805" y="178670"/>
                  </a:cubicBezTo>
                  <a:cubicBezTo>
                    <a:pt x="593709" y="179765"/>
                    <a:pt x="515624" y="181032"/>
                    <a:pt x="437528" y="182518"/>
                  </a:cubicBezTo>
                  <a:cubicBezTo>
                    <a:pt x="418821" y="182870"/>
                    <a:pt x="400114" y="183242"/>
                    <a:pt x="381416" y="183623"/>
                  </a:cubicBezTo>
                  <a:cubicBezTo>
                    <a:pt x="375063" y="183756"/>
                    <a:pt x="368434" y="183547"/>
                    <a:pt x="361747" y="183442"/>
                  </a:cubicBezTo>
                  <a:cubicBezTo>
                    <a:pt x="367910" y="155572"/>
                    <a:pt x="368891" y="125749"/>
                    <a:pt x="365272" y="97574"/>
                  </a:cubicBezTo>
                  <a:cubicBezTo>
                    <a:pt x="363147" y="81010"/>
                    <a:pt x="358633" y="60608"/>
                    <a:pt x="347822" y="46549"/>
                  </a:cubicBezTo>
                  <a:cubicBezTo>
                    <a:pt x="389227" y="46291"/>
                    <a:pt x="430623" y="46044"/>
                    <a:pt x="472028" y="45777"/>
                  </a:cubicBezTo>
                  <a:cubicBezTo>
                    <a:pt x="646650" y="44663"/>
                    <a:pt x="821271" y="43501"/>
                    <a:pt x="995893" y="42367"/>
                  </a:cubicBezTo>
                  <a:close/>
                  <a:moveTo>
                    <a:pt x="44127" y="1922869"/>
                  </a:moveTo>
                  <a:cubicBezTo>
                    <a:pt x="42088" y="1713852"/>
                    <a:pt x="40107" y="1504845"/>
                    <a:pt x="38164" y="1295829"/>
                  </a:cubicBezTo>
                  <a:cubicBezTo>
                    <a:pt x="36097" y="1074020"/>
                    <a:pt x="34230" y="852211"/>
                    <a:pt x="33116" y="630393"/>
                  </a:cubicBezTo>
                  <a:cubicBezTo>
                    <a:pt x="32754" y="557822"/>
                    <a:pt x="32468" y="485242"/>
                    <a:pt x="32363" y="412671"/>
                  </a:cubicBezTo>
                  <a:cubicBezTo>
                    <a:pt x="36611" y="422367"/>
                    <a:pt x="51756" y="428635"/>
                    <a:pt x="60900" y="431216"/>
                  </a:cubicBezTo>
                  <a:cubicBezTo>
                    <a:pt x="77064" y="435778"/>
                    <a:pt x="94190" y="435683"/>
                    <a:pt x="110754" y="433969"/>
                  </a:cubicBezTo>
                  <a:cubicBezTo>
                    <a:pt x="141310" y="430816"/>
                    <a:pt x="170743" y="423129"/>
                    <a:pt x="199003" y="411651"/>
                  </a:cubicBezTo>
                  <a:cubicBezTo>
                    <a:pt x="198746" y="485223"/>
                    <a:pt x="198584" y="558794"/>
                    <a:pt x="198536" y="632365"/>
                  </a:cubicBezTo>
                  <a:cubicBezTo>
                    <a:pt x="198441" y="788051"/>
                    <a:pt x="198860" y="943728"/>
                    <a:pt x="199984" y="1099404"/>
                  </a:cubicBezTo>
                  <a:cubicBezTo>
                    <a:pt x="202175" y="1401080"/>
                    <a:pt x="207090" y="1702746"/>
                    <a:pt x="216053" y="2004308"/>
                  </a:cubicBezTo>
                  <a:cubicBezTo>
                    <a:pt x="180668" y="2001698"/>
                    <a:pt x="144053" y="2005413"/>
                    <a:pt x="111364" y="2019786"/>
                  </a:cubicBezTo>
                  <a:cubicBezTo>
                    <a:pt x="79645" y="2033740"/>
                    <a:pt x="51832" y="2062543"/>
                    <a:pt x="47165" y="2097929"/>
                  </a:cubicBezTo>
                  <a:cubicBezTo>
                    <a:pt x="46698" y="2098491"/>
                    <a:pt x="46241" y="2099062"/>
                    <a:pt x="45793" y="2099634"/>
                  </a:cubicBezTo>
                  <a:cubicBezTo>
                    <a:pt x="45260" y="2040722"/>
                    <a:pt x="44698" y="1981800"/>
                    <a:pt x="44127" y="1922869"/>
                  </a:cubicBezTo>
                  <a:close/>
                  <a:moveTo>
                    <a:pt x="593691" y="2344598"/>
                  </a:moveTo>
                  <a:cubicBezTo>
                    <a:pt x="519567" y="2345036"/>
                    <a:pt x="445444" y="2345465"/>
                    <a:pt x="371320" y="2345884"/>
                  </a:cubicBezTo>
                  <a:cubicBezTo>
                    <a:pt x="389694" y="2330463"/>
                    <a:pt x="393780" y="2298897"/>
                    <a:pt x="394589" y="2276580"/>
                  </a:cubicBezTo>
                  <a:cubicBezTo>
                    <a:pt x="395361" y="2255063"/>
                    <a:pt x="393294" y="2232451"/>
                    <a:pt x="385017" y="2212448"/>
                  </a:cubicBezTo>
                  <a:cubicBezTo>
                    <a:pt x="384541" y="2211295"/>
                    <a:pt x="383931" y="2210257"/>
                    <a:pt x="383216" y="2209333"/>
                  </a:cubicBezTo>
                  <a:cubicBezTo>
                    <a:pt x="390275" y="2209610"/>
                    <a:pt x="397333" y="2209895"/>
                    <a:pt x="404400" y="2210143"/>
                  </a:cubicBezTo>
                  <a:cubicBezTo>
                    <a:pt x="443662" y="2211515"/>
                    <a:pt x="482943" y="2212400"/>
                    <a:pt x="522234" y="2212943"/>
                  </a:cubicBezTo>
                  <a:cubicBezTo>
                    <a:pt x="676596" y="2215048"/>
                    <a:pt x="830939" y="2211562"/>
                    <a:pt x="985282" y="2209371"/>
                  </a:cubicBezTo>
                  <a:cubicBezTo>
                    <a:pt x="1061187" y="2208295"/>
                    <a:pt x="1137092" y="2207571"/>
                    <a:pt x="1212996" y="2207933"/>
                  </a:cubicBezTo>
                  <a:cubicBezTo>
                    <a:pt x="1216331" y="2207952"/>
                    <a:pt x="1219093" y="2207076"/>
                    <a:pt x="1221302" y="2205628"/>
                  </a:cubicBezTo>
                  <a:cubicBezTo>
                    <a:pt x="1221817" y="2209629"/>
                    <a:pt x="1222341" y="2213620"/>
                    <a:pt x="1222884" y="2217610"/>
                  </a:cubicBezTo>
                  <a:cubicBezTo>
                    <a:pt x="1224017" y="2226002"/>
                    <a:pt x="1225226" y="2234375"/>
                    <a:pt x="1226560" y="2242737"/>
                  </a:cubicBezTo>
                  <a:cubicBezTo>
                    <a:pt x="1227951" y="2251462"/>
                    <a:pt x="1228475" y="2259140"/>
                    <a:pt x="1234647" y="2265845"/>
                  </a:cubicBezTo>
                  <a:cubicBezTo>
                    <a:pt x="1234456" y="2265845"/>
                    <a:pt x="1234256" y="2265855"/>
                    <a:pt x="1234066" y="2265855"/>
                  </a:cubicBezTo>
                  <a:cubicBezTo>
                    <a:pt x="1210730" y="2266274"/>
                    <a:pt x="1187050" y="2265826"/>
                    <a:pt x="1163800" y="2268103"/>
                  </a:cubicBezTo>
                  <a:cubicBezTo>
                    <a:pt x="1150617" y="2269398"/>
                    <a:pt x="1136749" y="2271675"/>
                    <a:pt x="1125967" y="2279952"/>
                  </a:cubicBezTo>
                  <a:cubicBezTo>
                    <a:pt x="1114756" y="2288562"/>
                    <a:pt x="1109555" y="2302202"/>
                    <a:pt x="1107593" y="2315832"/>
                  </a:cubicBezTo>
                  <a:cubicBezTo>
                    <a:pt x="1106364" y="2324386"/>
                    <a:pt x="1106040" y="2332987"/>
                    <a:pt x="1106098" y="2341607"/>
                  </a:cubicBezTo>
                  <a:cubicBezTo>
                    <a:pt x="935295" y="2342588"/>
                    <a:pt x="764493" y="2343598"/>
                    <a:pt x="593691" y="2344598"/>
                  </a:cubicBezTo>
                  <a:close/>
                  <a:moveTo>
                    <a:pt x="1688056" y="2093500"/>
                  </a:moveTo>
                  <a:cubicBezTo>
                    <a:pt x="1689046" y="2105749"/>
                    <a:pt x="1692971" y="2118027"/>
                    <a:pt x="1695409" y="2129847"/>
                  </a:cubicBezTo>
                  <a:cubicBezTo>
                    <a:pt x="1698648" y="2145554"/>
                    <a:pt x="1701515" y="2161337"/>
                    <a:pt x="1704658" y="2177053"/>
                  </a:cubicBezTo>
                  <a:cubicBezTo>
                    <a:pt x="1710125" y="2204380"/>
                    <a:pt x="1715888" y="2232841"/>
                    <a:pt x="1729518" y="2257463"/>
                  </a:cubicBezTo>
                  <a:cubicBezTo>
                    <a:pt x="1729271" y="2257463"/>
                    <a:pt x="1729023" y="2257473"/>
                    <a:pt x="1728775" y="2257473"/>
                  </a:cubicBezTo>
                  <a:cubicBezTo>
                    <a:pt x="1597025" y="2259378"/>
                    <a:pt x="1465285" y="2261873"/>
                    <a:pt x="1333545" y="2264236"/>
                  </a:cubicBezTo>
                  <a:cubicBezTo>
                    <a:pt x="1307284" y="2264712"/>
                    <a:pt x="1281024" y="2265083"/>
                    <a:pt x="1254764" y="2265502"/>
                  </a:cubicBezTo>
                  <a:cubicBezTo>
                    <a:pt x="1255192" y="2264921"/>
                    <a:pt x="1255583" y="2264312"/>
                    <a:pt x="1255887" y="2263616"/>
                  </a:cubicBezTo>
                  <a:cubicBezTo>
                    <a:pt x="1262470" y="2248710"/>
                    <a:pt x="1255097" y="2228783"/>
                    <a:pt x="1252964" y="2212991"/>
                  </a:cubicBezTo>
                  <a:cubicBezTo>
                    <a:pt x="1250954" y="2198142"/>
                    <a:pt x="1249610" y="2183244"/>
                    <a:pt x="1248058" y="2168347"/>
                  </a:cubicBezTo>
                  <a:cubicBezTo>
                    <a:pt x="1245886" y="2147516"/>
                    <a:pt x="1244534" y="2125913"/>
                    <a:pt x="1241124" y="2104949"/>
                  </a:cubicBezTo>
                  <a:cubicBezTo>
                    <a:pt x="1244819" y="2103692"/>
                    <a:pt x="1248401" y="2102387"/>
                    <a:pt x="1251696" y="2101520"/>
                  </a:cubicBezTo>
                  <a:cubicBezTo>
                    <a:pt x="1265079" y="2097996"/>
                    <a:pt x="1278852" y="2095424"/>
                    <a:pt x="1292473" y="2093014"/>
                  </a:cubicBezTo>
                  <a:cubicBezTo>
                    <a:pt x="1322696" y="2087670"/>
                    <a:pt x="1353500" y="2085766"/>
                    <a:pt x="1384142" y="2084899"/>
                  </a:cubicBezTo>
                  <a:cubicBezTo>
                    <a:pt x="1452179" y="2082965"/>
                    <a:pt x="1520225" y="2087032"/>
                    <a:pt x="1588139" y="2090557"/>
                  </a:cubicBezTo>
                  <a:cubicBezTo>
                    <a:pt x="1620066" y="2092214"/>
                    <a:pt x="1652023" y="2093938"/>
                    <a:pt x="1683998" y="2093976"/>
                  </a:cubicBezTo>
                  <a:cubicBezTo>
                    <a:pt x="1685465" y="2093995"/>
                    <a:pt x="1686808" y="2093814"/>
                    <a:pt x="1688056" y="2093500"/>
                  </a:cubicBezTo>
                  <a:close/>
                  <a:moveTo>
                    <a:pt x="1756141" y="2242166"/>
                  </a:moveTo>
                  <a:cubicBezTo>
                    <a:pt x="1749207" y="2229698"/>
                    <a:pt x="1744692" y="2215868"/>
                    <a:pt x="1741196" y="2201752"/>
                  </a:cubicBezTo>
                  <a:cubicBezTo>
                    <a:pt x="1743158" y="2202733"/>
                    <a:pt x="1745482" y="2203304"/>
                    <a:pt x="1748178" y="2203285"/>
                  </a:cubicBezTo>
                  <a:cubicBezTo>
                    <a:pt x="1825330" y="2202809"/>
                    <a:pt x="1902483" y="2202352"/>
                    <a:pt x="1979635" y="2201913"/>
                  </a:cubicBezTo>
                  <a:cubicBezTo>
                    <a:pt x="1981740" y="2201904"/>
                    <a:pt x="1983607" y="2201523"/>
                    <a:pt x="1985264" y="2200894"/>
                  </a:cubicBezTo>
                  <a:cubicBezTo>
                    <a:pt x="2034918" y="2220544"/>
                    <a:pt x="2085648" y="2237299"/>
                    <a:pt x="2136903" y="2252291"/>
                  </a:cubicBezTo>
                  <a:cubicBezTo>
                    <a:pt x="2133207" y="2252329"/>
                    <a:pt x="2129511" y="2252367"/>
                    <a:pt x="2125806" y="2252405"/>
                  </a:cubicBezTo>
                  <a:cubicBezTo>
                    <a:pt x="2002552" y="2253701"/>
                    <a:pt x="1879309" y="2255330"/>
                    <a:pt x="1756064" y="2257101"/>
                  </a:cubicBezTo>
                  <a:cubicBezTo>
                    <a:pt x="1758589" y="2252958"/>
                    <a:pt x="1759189" y="2247662"/>
                    <a:pt x="1756141" y="2242166"/>
                  </a:cubicBezTo>
                  <a:close/>
                  <a:moveTo>
                    <a:pt x="2299866" y="2192750"/>
                  </a:moveTo>
                  <a:cubicBezTo>
                    <a:pt x="2302142" y="2209286"/>
                    <a:pt x="2302657" y="2226097"/>
                    <a:pt x="2299180" y="2242509"/>
                  </a:cubicBezTo>
                  <a:cubicBezTo>
                    <a:pt x="2298542" y="2245528"/>
                    <a:pt x="2298723" y="2248272"/>
                    <a:pt x="2299513" y="2250681"/>
                  </a:cubicBezTo>
                  <a:cubicBezTo>
                    <a:pt x="2262671" y="2251024"/>
                    <a:pt x="2225818" y="2251386"/>
                    <a:pt x="2188976" y="2251758"/>
                  </a:cubicBezTo>
                  <a:cubicBezTo>
                    <a:pt x="2191357" y="2244223"/>
                    <a:pt x="2188766" y="2235070"/>
                    <a:pt x="2178965" y="2232346"/>
                  </a:cubicBezTo>
                  <a:cubicBezTo>
                    <a:pt x="2113185" y="2214086"/>
                    <a:pt x="2048054" y="2193379"/>
                    <a:pt x="1984721" y="2167814"/>
                  </a:cubicBezTo>
                  <a:cubicBezTo>
                    <a:pt x="1985684" y="2158213"/>
                    <a:pt x="1986198" y="2148554"/>
                    <a:pt x="1987217" y="2138953"/>
                  </a:cubicBezTo>
                  <a:cubicBezTo>
                    <a:pt x="1987998" y="2131600"/>
                    <a:pt x="1988922" y="2124228"/>
                    <a:pt x="1990170" y="2116931"/>
                  </a:cubicBezTo>
                  <a:cubicBezTo>
                    <a:pt x="1991370" y="2109912"/>
                    <a:pt x="1994923" y="2101568"/>
                    <a:pt x="1994361" y="2094424"/>
                  </a:cubicBezTo>
                  <a:cubicBezTo>
                    <a:pt x="2000857" y="2097615"/>
                    <a:pt x="2007401" y="2100558"/>
                    <a:pt x="2014087" y="2103377"/>
                  </a:cubicBezTo>
                  <a:cubicBezTo>
                    <a:pt x="2027136" y="2108883"/>
                    <a:pt x="2040643" y="2113798"/>
                    <a:pt x="2054073" y="2118312"/>
                  </a:cubicBezTo>
                  <a:cubicBezTo>
                    <a:pt x="2077095" y="2126056"/>
                    <a:pt x="2100270" y="2133381"/>
                    <a:pt x="2123348" y="2140972"/>
                  </a:cubicBezTo>
                  <a:cubicBezTo>
                    <a:pt x="2161134" y="2153402"/>
                    <a:pt x="2199377" y="2164709"/>
                    <a:pt x="2237611" y="2175653"/>
                  </a:cubicBezTo>
                  <a:cubicBezTo>
                    <a:pt x="2258299" y="2181578"/>
                    <a:pt x="2279063" y="2187245"/>
                    <a:pt x="2299866" y="2192750"/>
                  </a:cubicBezTo>
                  <a:close/>
                  <a:moveTo>
                    <a:pt x="1925962" y="2149202"/>
                  </a:moveTo>
                  <a:cubicBezTo>
                    <a:pt x="1938649" y="2149488"/>
                    <a:pt x="1950051" y="2146487"/>
                    <a:pt x="1960500" y="2141068"/>
                  </a:cubicBezTo>
                  <a:cubicBezTo>
                    <a:pt x="1960185" y="2147411"/>
                    <a:pt x="1959957" y="2153784"/>
                    <a:pt x="1959966" y="2160137"/>
                  </a:cubicBezTo>
                  <a:cubicBezTo>
                    <a:pt x="1959014" y="2159213"/>
                    <a:pt x="1957795" y="2158470"/>
                    <a:pt x="1956289" y="2158013"/>
                  </a:cubicBezTo>
                  <a:cubicBezTo>
                    <a:pt x="1938306" y="2152603"/>
                    <a:pt x="1918685" y="2154612"/>
                    <a:pt x="1901349" y="2146030"/>
                  </a:cubicBezTo>
                  <a:cubicBezTo>
                    <a:pt x="1900006" y="2145363"/>
                    <a:pt x="1898796" y="2144668"/>
                    <a:pt x="1897673" y="2143944"/>
                  </a:cubicBezTo>
                  <a:cubicBezTo>
                    <a:pt x="1906769" y="2147040"/>
                    <a:pt x="1916247" y="2148983"/>
                    <a:pt x="1925962" y="2149202"/>
                  </a:cubicBezTo>
                  <a:close/>
                  <a:moveTo>
                    <a:pt x="2452818" y="2336406"/>
                  </a:moveTo>
                  <a:cubicBezTo>
                    <a:pt x="2235991" y="2336854"/>
                    <a:pt x="2019164" y="2337511"/>
                    <a:pt x="1802346" y="2338273"/>
                  </a:cubicBezTo>
                  <a:cubicBezTo>
                    <a:pt x="1586967" y="2339026"/>
                    <a:pt x="1371588" y="2340064"/>
                    <a:pt x="1156218" y="2341302"/>
                  </a:cubicBezTo>
                  <a:cubicBezTo>
                    <a:pt x="1143007" y="2341379"/>
                    <a:pt x="1129805" y="2341455"/>
                    <a:pt x="1116594" y="2341531"/>
                  </a:cubicBezTo>
                  <a:cubicBezTo>
                    <a:pt x="1117118" y="2326529"/>
                    <a:pt x="1118337" y="2309270"/>
                    <a:pt x="1126967" y="2296916"/>
                  </a:cubicBezTo>
                  <a:cubicBezTo>
                    <a:pt x="1134158" y="2286629"/>
                    <a:pt x="1146588" y="2283486"/>
                    <a:pt x="1158418" y="2282143"/>
                  </a:cubicBezTo>
                  <a:cubicBezTo>
                    <a:pt x="1177801" y="2279942"/>
                    <a:pt x="1197690" y="2280637"/>
                    <a:pt x="1217168" y="2280419"/>
                  </a:cubicBezTo>
                  <a:cubicBezTo>
                    <a:pt x="1249077" y="2280056"/>
                    <a:pt x="1280986" y="2279942"/>
                    <a:pt x="1312895" y="2279723"/>
                  </a:cubicBezTo>
                  <a:cubicBezTo>
                    <a:pt x="1439577" y="2278847"/>
                    <a:pt x="1566250" y="2276951"/>
                    <a:pt x="1692923" y="2275094"/>
                  </a:cubicBezTo>
                  <a:cubicBezTo>
                    <a:pt x="1819568" y="2273237"/>
                    <a:pt x="1946212" y="2271494"/>
                    <a:pt x="2072866" y="2270065"/>
                  </a:cubicBezTo>
                  <a:cubicBezTo>
                    <a:pt x="2200396" y="2268627"/>
                    <a:pt x="2327936" y="2267836"/>
                    <a:pt x="2455476" y="2267484"/>
                  </a:cubicBezTo>
                  <a:cubicBezTo>
                    <a:pt x="2484432" y="2267407"/>
                    <a:pt x="2513407" y="2267598"/>
                    <a:pt x="2542363" y="2267207"/>
                  </a:cubicBezTo>
                  <a:cubicBezTo>
                    <a:pt x="2560556" y="2266959"/>
                    <a:pt x="2578843" y="2266160"/>
                    <a:pt x="2597017" y="2267350"/>
                  </a:cubicBezTo>
                  <a:cubicBezTo>
                    <a:pt x="2610000" y="2268207"/>
                    <a:pt x="2623344" y="2270351"/>
                    <a:pt x="2634793" y="2276875"/>
                  </a:cubicBezTo>
                  <a:cubicBezTo>
                    <a:pt x="2647738" y="2284257"/>
                    <a:pt x="2656605" y="2296392"/>
                    <a:pt x="2663521" y="2309317"/>
                  </a:cubicBezTo>
                  <a:cubicBezTo>
                    <a:pt x="2668179" y="2318014"/>
                    <a:pt x="2671998" y="2327139"/>
                    <a:pt x="2675513" y="2336340"/>
                  </a:cubicBezTo>
                  <a:cubicBezTo>
                    <a:pt x="2601284" y="2336263"/>
                    <a:pt x="2527047" y="2336254"/>
                    <a:pt x="2452818" y="2336406"/>
                  </a:cubicBezTo>
                  <a:close/>
                  <a:moveTo>
                    <a:pt x="3037558" y="2337206"/>
                  </a:moveTo>
                  <a:cubicBezTo>
                    <a:pt x="2923096" y="2336816"/>
                    <a:pt x="2808634" y="2336492"/>
                    <a:pt x="2694182" y="2336359"/>
                  </a:cubicBezTo>
                  <a:cubicBezTo>
                    <a:pt x="2694201" y="2335368"/>
                    <a:pt x="2694049" y="2334292"/>
                    <a:pt x="2693667" y="2333149"/>
                  </a:cubicBezTo>
                  <a:cubicBezTo>
                    <a:pt x="2682781" y="2300383"/>
                    <a:pt x="2665893" y="2267322"/>
                    <a:pt x="2631545" y="2254853"/>
                  </a:cubicBezTo>
                  <a:cubicBezTo>
                    <a:pt x="2598732" y="2242947"/>
                    <a:pt x="2559775" y="2248710"/>
                    <a:pt x="2525684" y="2248910"/>
                  </a:cubicBezTo>
                  <a:cubicBezTo>
                    <a:pt x="2460076" y="2249300"/>
                    <a:pt x="2394468" y="2249815"/>
                    <a:pt x="2328860" y="2250405"/>
                  </a:cubicBezTo>
                  <a:cubicBezTo>
                    <a:pt x="2334061" y="2225640"/>
                    <a:pt x="2332460" y="2201151"/>
                    <a:pt x="2328222" y="2176367"/>
                  </a:cubicBezTo>
                  <a:cubicBezTo>
                    <a:pt x="2327860" y="2174243"/>
                    <a:pt x="2326908" y="2172367"/>
                    <a:pt x="2325564" y="2170786"/>
                  </a:cubicBezTo>
                  <a:cubicBezTo>
                    <a:pt x="2323783" y="2168452"/>
                    <a:pt x="2321135" y="2166604"/>
                    <a:pt x="2317497" y="2165652"/>
                  </a:cubicBezTo>
                  <a:cubicBezTo>
                    <a:pt x="2234810" y="2143992"/>
                    <a:pt x="2153495" y="2117769"/>
                    <a:pt x="2071409" y="2094033"/>
                  </a:cubicBezTo>
                  <a:cubicBezTo>
                    <a:pt x="2056559" y="2089737"/>
                    <a:pt x="2041519" y="2085918"/>
                    <a:pt x="2026412" y="2082622"/>
                  </a:cubicBezTo>
                  <a:cubicBezTo>
                    <a:pt x="2017735" y="2080727"/>
                    <a:pt x="2008934" y="2079279"/>
                    <a:pt x="2000114" y="2078250"/>
                  </a:cubicBezTo>
                  <a:cubicBezTo>
                    <a:pt x="1992808" y="2077402"/>
                    <a:pt x="1984541" y="2075298"/>
                    <a:pt x="1977873" y="2079098"/>
                  </a:cubicBezTo>
                  <a:cubicBezTo>
                    <a:pt x="1976930" y="2079631"/>
                    <a:pt x="1976663" y="2080746"/>
                    <a:pt x="1976997" y="2081717"/>
                  </a:cubicBezTo>
                  <a:cubicBezTo>
                    <a:pt x="1975320" y="2082318"/>
                    <a:pt x="1973673" y="2083327"/>
                    <a:pt x="1972168" y="2084851"/>
                  </a:cubicBezTo>
                  <a:cubicBezTo>
                    <a:pt x="1967824" y="2089232"/>
                    <a:pt x="1965291" y="2095595"/>
                    <a:pt x="1963748" y="2102577"/>
                  </a:cubicBezTo>
                  <a:cubicBezTo>
                    <a:pt x="1937906" y="2097710"/>
                    <a:pt x="1911941" y="2093481"/>
                    <a:pt x="1886157" y="2088261"/>
                  </a:cubicBezTo>
                  <a:cubicBezTo>
                    <a:pt x="1880728" y="2087156"/>
                    <a:pt x="1874308" y="2088928"/>
                    <a:pt x="1871555" y="2094205"/>
                  </a:cubicBezTo>
                  <a:cubicBezTo>
                    <a:pt x="1869526" y="2098081"/>
                    <a:pt x="1867783" y="2102053"/>
                    <a:pt x="1866393" y="2106054"/>
                  </a:cubicBezTo>
                  <a:cubicBezTo>
                    <a:pt x="1863268" y="2108864"/>
                    <a:pt x="1862097" y="2112397"/>
                    <a:pt x="1861716" y="2117188"/>
                  </a:cubicBezTo>
                  <a:cubicBezTo>
                    <a:pt x="1861563" y="2119132"/>
                    <a:pt x="1861963" y="2121065"/>
                    <a:pt x="1862725" y="2122865"/>
                  </a:cubicBezTo>
                  <a:cubicBezTo>
                    <a:pt x="1861506" y="2138515"/>
                    <a:pt x="1866973" y="2153336"/>
                    <a:pt x="1882851" y="2163661"/>
                  </a:cubicBezTo>
                  <a:cubicBezTo>
                    <a:pt x="1888195" y="2167138"/>
                    <a:pt x="1894158" y="2169719"/>
                    <a:pt x="1900330" y="2171691"/>
                  </a:cubicBezTo>
                  <a:cubicBezTo>
                    <a:pt x="1849619" y="2171986"/>
                    <a:pt x="1798908" y="2172281"/>
                    <a:pt x="1748187" y="2172595"/>
                  </a:cubicBezTo>
                  <a:cubicBezTo>
                    <a:pt x="1742605" y="2172634"/>
                    <a:pt x="1738605" y="2175101"/>
                    <a:pt x="1736176" y="2178634"/>
                  </a:cubicBezTo>
                  <a:cubicBezTo>
                    <a:pt x="1735338" y="2174386"/>
                    <a:pt x="1734519" y="2170157"/>
                    <a:pt x="1733700" y="2165985"/>
                  </a:cubicBezTo>
                  <a:cubicBezTo>
                    <a:pt x="1730776" y="2151231"/>
                    <a:pt x="1728070" y="2136429"/>
                    <a:pt x="1725032" y="2121694"/>
                  </a:cubicBezTo>
                  <a:cubicBezTo>
                    <a:pt x="1721993" y="2106959"/>
                    <a:pt x="1719765" y="2090261"/>
                    <a:pt x="1710535" y="2077888"/>
                  </a:cubicBezTo>
                  <a:cubicBezTo>
                    <a:pt x="1707163" y="2073374"/>
                    <a:pt x="1702162" y="2071707"/>
                    <a:pt x="1697705" y="2072488"/>
                  </a:cubicBezTo>
                  <a:cubicBezTo>
                    <a:pt x="1695733" y="2067344"/>
                    <a:pt x="1691180" y="2063306"/>
                    <a:pt x="1684017" y="2063296"/>
                  </a:cubicBezTo>
                  <a:cubicBezTo>
                    <a:pt x="1553639" y="2063124"/>
                    <a:pt x="1422051" y="2041617"/>
                    <a:pt x="1292207" y="2062115"/>
                  </a:cubicBezTo>
                  <a:cubicBezTo>
                    <a:pt x="1276405" y="2064610"/>
                    <a:pt x="1261136" y="2068125"/>
                    <a:pt x="1246096" y="2073631"/>
                  </a:cubicBezTo>
                  <a:cubicBezTo>
                    <a:pt x="1242448" y="2074964"/>
                    <a:pt x="1238133" y="2076402"/>
                    <a:pt x="1233780" y="2078155"/>
                  </a:cubicBezTo>
                  <a:cubicBezTo>
                    <a:pt x="1229884" y="2075212"/>
                    <a:pt x="1223217" y="2076469"/>
                    <a:pt x="1221778" y="2081994"/>
                  </a:cubicBezTo>
                  <a:cubicBezTo>
                    <a:pt x="1221550" y="2082870"/>
                    <a:pt x="1221350" y="2083765"/>
                    <a:pt x="1221141" y="2084651"/>
                  </a:cubicBezTo>
                  <a:cubicBezTo>
                    <a:pt x="1216216" y="2088061"/>
                    <a:pt x="1212359" y="2092357"/>
                    <a:pt x="1211073" y="2098043"/>
                  </a:cubicBezTo>
                  <a:cubicBezTo>
                    <a:pt x="1210091" y="2102387"/>
                    <a:pt x="1212406" y="2105739"/>
                    <a:pt x="1216349" y="2107340"/>
                  </a:cubicBezTo>
                  <a:cubicBezTo>
                    <a:pt x="1216644" y="2107463"/>
                    <a:pt x="1216959" y="2107540"/>
                    <a:pt x="1217254" y="2107645"/>
                  </a:cubicBezTo>
                  <a:cubicBezTo>
                    <a:pt x="1215082" y="2128390"/>
                    <a:pt x="1215921" y="2149888"/>
                    <a:pt x="1217521" y="2170062"/>
                  </a:cubicBezTo>
                  <a:cubicBezTo>
                    <a:pt x="1217730" y="2172738"/>
                    <a:pt x="1217987" y="2175415"/>
                    <a:pt x="1218245" y="2178091"/>
                  </a:cubicBezTo>
                  <a:cubicBezTo>
                    <a:pt x="1216683" y="2177548"/>
                    <a:pt x="1214949" y="2177244"/>
                    <a:pt x="1213006" y="2177234"/>
                  </a:cubicBezTo>
                  <a:cubicBezTo>
                    <a:pt x="1062178" y="2176520"/>
                    <a:pt x="911378" y="2180206"/>
                    <a:pt x="760569" y="2181987"/>
                  </a:cubicBezTo>
                  <a:cubicBezTo>
                    <a:pt x="685493" y="2182873"/>
                    <a:pt x="610407" y="2183273"/>
                    <a:pt x="535331" y="2182406"/>
                  </a:cubicBezTo>
                  <a:cubicBezTo>
                    <a:pt x="498241" y="2181977"/>
                    <a:pt x="461150" y="2181234"/>
                    <a:pt x="424069" y="2180092"/>
                  </a:cubicBezTo>
                  <a:cubicBezTo>
                    <a:pt x="405496" y="2179520"/>
                    <a:pt x="386922" y="2178844"/>
                    <a:pt x="368358" y="2178053"/>
                  </a:cubicBezTo>
                  <a:cubicBezTo>
                    <a:pt x="351860" y="2177358"/>
                    <a:pt x="327543" y="2180673"/>
                    <a:pt x="312522" y="2173548"/>
                  </a:cubicBezTo>
                  <a:cubicBezTo>
                    <a:pt x="299663" y="2167452"/>
                    <a:pt x="290472" y="2153574"/>
                    <a:pt x="282461" y="2142496"/>
                  </a:cubicBezTo>
                  <a:cubicBezTo>
                    <a:pt x="272727" y="2129028"/>
                    <a:pt x="262249" y="2116770"/>
                    <a:pt x="255467" y="2101348"/>
                  </a:cubicBezTo>
                  <a:cubicBezTo>
                    <a:pt x="248628" y="2085804"/>
                    <a:pt x="248762" y="2070211"/>
                    <a:pt x="248238" y="2053533"/>
                  </a:cubicBezTo>
                  <a:cubicBezTo>
                    <a:pt x="247619" y="2033768"/>
                    <a:pt x="247019" y="2013995"/>
                    <a:pt x="246438" y="1994230"/>
                  </a:cubicBezTo>
                  <a:cubicBezTo>
                    <a:pt x="244180" y="1917411"/>
                    <a:pt x="242180" y="1840592"/>
                    <a:pt x="240427" y="1763763"/>
                  </a:cubicBezTo>
                  <a:cubicBezTo>
                    <a:pt x="236970" y="1612478"/>
                    <a:pt x="234455" y="1461173"/>
                    <a:pt x="232693" y="1309859"/>
                  </a:cubicBezTo>
                  <a:cubicBezTo>
                    <a:pt x="229169" y="1007231"/>
                    <a:pt x="228683" y="704574"/>
                    <a:pt x="229750" y="401936"/>
                  </a:cubicBezTo>
                  <a:cubicBezTo>
                    <a:pt x="229817" y="383267"/>
                    <a:pt x="229893" y="364598"/>
                    <a:pt x="229969" y="345929"/>
                  </a:cubicBezTo>
                  <a:cubicBezTo>
                    <a:pt x="230045" y="327431"/>
                    <a:pt x="228654" y="309953"/>
                    <a:pt x="236551" y="292770"/>
                  </a:cubicBezTo>
                  <a:cubicBezTo>
                    <a:pt x="248038" y="267748"/>
                    <a:pt x="268774" y="248650"/>
                    <a:pt x="292253" y="234934"/>
                  </a:cubicBezTo>
                  <a:cubicBezTo>
                    <a:pt x="303092" y="228600"/>
                    <a:pt x="314484" y="223285"/>
                    <a:pt x="326295" y="219046"/>
                  </a:cubicBezTo>
                  <a:cubicBezTo>
                    <a:pt x="343659" y="212808"/>
                    <a:pt x="363176" y="214722"/>
                    <a:pt x="381436" y="214351"/>
                  </a:cubicBezTo>
                  <a:cubicBezTo>
                    <a:pt x="418840" y="213589"/>
                    <a:pt x="456254" y="212874"/>
                    <a:pt x="493659" y="212207"/>
                  </a:cubicBezTo>
                  <a:cubicBezTo>
                    <a:pt x="646478" y="209493"/>
                    <a:pt x="799307" y="207588"/>
                    <a:pt x="952136" y="206169"/>
                  </a:cubicBezTo>
                  <a:cubicBezTo>
                    <a:pt x="1256469" y="203349"/>
                    <a:pt x="1560811" y="202511"/>
                    <a:pt x="1865154" y="201263"/>
                  </a:cubicBezTo>
                  <a:cubicBezTo>
                    <a:pt x="2167745" y="200015"/>
                    <a:pt x="2470316" y="197520"/>
                    <a:pt x="2772906" y="195853"/>
                  </a:cubicBezTo>
                  <a:cubicBezTo>
                    <a:pt x="2923048" y="195024"/>
                    <a:pt x="3073200" y="194015"/>
                    <a:pt x="3223334" y="195910"/>
                  </a:cubicBezTo>
                  <a:cubicBezTo>
                    <a:pt x="3261329" y="196386"/>
                    <a:pt x="3299334" y="197053"/>
                    <a:pt x="3337319" y="197958"/>
                  </a:cubicBezTo>
                  <a:cubicBezTo>
                    <a:pt x="3355693" y="198396"/>
                    <a:pt x="3375324" y="196996"/>
                    <a:pt x="3393479" y="199892"/>
                  </a:cubicBezTo>
                  <a:cubicBezTo>
                    <a:pt x="3409738" y="202482"/>
                    <a:pt x="3425949" y="210569"/>
                    <a:pt x="3439380" y="219828"/>
                  </a:cubicBezTo>
                  <a:cubicBezTo>
                    <a:pt x="3461420" y="235029"/>
                    <a:pt x="3478890" y="257718"/>
                    <a:pt x="3485566" y="283836"/>
                  </a:cubicBezTo>
                  <a:cubicBezTo>
                    <a:pt x="3489434" y="298961"/>
                    <a:pt x="3488595" y="314668"/>
                    <a:pt x="3488815" y="330156"/>
                  </a:cubicBezTo>
                  <a:cubicBezTo>
                    <a:pt x="3489091" y="349996"/>
                    <a:pt x="3489358" y="369837"/>
                    <a:pt x="3489624" y="389677"/>
                  </a:cubicBezTo>
                  <a:cubicBezTo>
                    <a:pt x="3493749" y="695001"/>
                    <a:pt x="3497158" y="1000325"/>
                    <a:pt x="3500254" y="1305659"/>
                  </a:cubicBezTo>
                  <a:cubicBezTo>
                    <a:pt x="3501797" y="1457773"/>
                    <a:pt x="3503254" y="1609887"/>
                    <a:pt x="3504693" y="1762001"/>
                  </a:cubicBezTo>
                  <a:cubicBezTo>
                    <a:pt x="3505407" y="1838058"/>
                    <a:pt x="3506122" y="1914116"/>
                    <a:pt x="3506826" y="1990173"/>
                  </a:cubicBezTo>
                  <a:cubicBezTo>
                    <a:pt x="3507122" y="2022091"/>
                    <a:pt x="3509988" y="2053685"/>
                    <a:pt x="3495358" y="2083146"/>
                  </a:cubicBezTo>
                  <a:cubicBezTo>
                    <a:pt x="3483433" y="2107178"/>
                    <a:pt x="3464192" y="2127228"/>
                    <a:pt x="3441751" y="2141725"/>
                  </a:cubicBezTo>
                  <a:cubicBezTo>
                    <a:pt x="3436417" y="2145173"/>
                    <a:pt x="3430902" y="2148354"/>
                    <a:pt x="3425245" y="2151240"/>
                  </a:cubicBezTo>
                  <a:cubicBezTo>
                    <a:pt x="3420577" y="2151545"/>
                    <a:pt x="3415872" y="2152174"/>
                    <a:pt x="3410929" y="2152774"/>
                  </a:cubicBezTo>
                  <a:cubicBezTo>
                    <a:pt x="3400146" y="2154088"/>
                    <a:pt x="3389335" y="2155250"/>
                    <a:pt x="3378524" y="2156289"/>
                  </a:cubicBezTo>
                  <a:cubicBezTo>
                    <a:pt x="3356226" y="2158422"/>
                    <a:pt x="3333881" y="2160013"/>
                    <a:pt x="3311516" y="2161165"/>
                  </a:cubicBezTo>
                  <a:cubicBezTo>
                    <a:pt x="3267682" y="2163432"/>
                    <a:pt x="3223772" y="2164042"/>
                    <a:pt x="3179880" y="2163880"/>
                  </a:cubicBezTo>
                  <a:cubicBezTo>
                    <a:pt x="3090717" y="2163556"/>
                    <a:pt x="3001582" y="2160670"/>
                    <a:pt x="2912409" y="2161403"/>
                  </a:cubicBezTo>
                  <a:cubicBezTo>
                    <a:pt x="2871585" y="2161737"/>
                    <a:pt x="2829341" y="2161966"/>
                    <a:pt x="2788556" y="2167928"/>
                  </a:cubicBezTo>
                  <a:cubicBezTo>
                    <a:pt x="2715146" y="2168023"/>
                    <a:pt x="2641746" y="2168147"/>
                    <a:pt x="2568338" y="2168319"/>
                  </a:cubicBezTo>
                  <a:cubicBezTo>
                    <a:pt x="2494204" y="2168500"/>
                    <a:pt x="2420062" y="2168719"/>
                    <a:pt x="2345928" y="2169004"/>
                  </a:cubicBezTo>
                  <a:cubicBezTo>
                    <a:pt x="2326174" y="2169081"/>
                    <a:pt x="2326136" y="2199789"/>
                    <a:pt x="2345928" y="2199713"/>
                  </a:cubicBezTo>
                  <a:cubicBezTo>
                    <a:pt x="2658511" y="2198504"/>
                    <a:pt x="2971093" y="2198399"/>
                    <a:pt x="3283675" y="2198389"/>
                  </a:cubicBezTo>
                  <a:cubicBezTo>
                    <a:pt x="3306925" y="2198389"/>
                    <a:pt x="3331785" y="2200437"/>
                    <a:pt x="3355950" y="2199637"/>
                  </a:cubicBezTo>
                  <a:cubicBezTo>
                    <a:pt x="3355350" y="2202590"/>
                    <a:pt x="3354845" y="2205562"/>
                    <a:pt x="3354359" y="2208486"/>
                  </a:cubicBezTo>
                  <a:cubicBezTo>
                    <a:pt x="3352816" y="2217839"/>
                    <a:pt x="3351340" y="2227364"/>
                    <a:pt x="3351131" y="2236851"/>
                  </a:cubicBezTo>
                  <a:cubicBezTo>
                    <a:pt x="3350750" y="2254225"/>
                    <a:pt x="3352702" y="2271903"/>
                    <a:pt x="3358646" y="2288305"/>
                  </a:cubicBezTo>
                  <a:cubicBezTo>
                    <a:pt x="3364656" y="2304917"/>
                    <a:pt x="3373905" y="2320081"/>
                    <a:pt x="3386554" y="2332492"/>
                  </a:cubicBezTo>
                  <a:cubicBezTo>
                    <a:pt x="3389430" y="2335311"/>
                    <a:pt x="3392802" y="2338492"/>
                    <a:pt x="3396507" y="2341617"/>
                  </a:cubicBezTo>
                  <a:cubicBezTo>
                    <a:pt x="3276855" y="2339454"/>
                    <a:pt x="3157202" y="2337616"/>
                    <a:pt x="3037558" y="2337206"/>
                  </a:cubicBezTo>
                  <a:close/>
                </a:path>
              </a:pathLst>
            </a:custGeom>
            <a:solidFill>
              <a:srgbClr val="000000"/>
            </a:solidFill>
            <a:ln w="9525" cap="flat">
              <a:noFill/>
              <a:prstDash val="solid"/>
              <a:miter/>
            </a:ln>
          </p:spPr>
          <p:txBody>
            <a:bodyPr rtlCol="0" anchor="ctr"/>
            <a:lstStyle/>
            <a:p>
              <a:endParaRPr lang="en-GB" noProof="0" dirty="0"/>
            </a:p>
          </p:txBody>
        </p:sp>
        <p:sp>
          <p:nvSpPr>
            <p:cNvPr id="161" name="Arrow: Pentagon 160">
              <a:extLst>
                <a:ext uri="{FF2B5EF4-FFF2-40B4-BE49-F238E27FC236}">
                  <a16:creationId xmlns:a16="http://schemas.microsoft.com/office/drawing/2014/main" id="{4D95B5F5-B923-E134-F4D5-4F0CA5E0F3E5}"/>
                </a:ext>
              </a:extLst>
            </p:cNvPr>
            <p:cNvSpPr/>
            <p:nvPr/>
          </p:nvSpPr>
          <p:spPr>
            <a:xfrm rot="5400000">
              <a:off x="8165715" y="1670834"/>
              <a:ext cx="522028" cy="1686204"/>
            </a:xfrm>
            <a:prstGeom prst="homePlat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GB" sz="1200" dirty="0"/>
                <a:t>Prediction machine</a:t>
              </a:r>
            </a:p>
          </p:txBody>
        </p:sp>
      </p:grpSp>
      <p:sp>
        <p:nvSpPr>
          <p:cNvPr id="31" name="TextBox 30">
            <a:extLst>
              <a:ext uri="{FF2B5EF4-FFF2-40B4-BE49-F238E27FC236}">
                <a16:creationId xmlns:a16="http://schemas.microsoft.com/office/drawing/2014/main" id="{4FC4CB55-F435-5A2D-786C-FD99DF8A95AD}"/>
              </a:ext>
            </a:extLst>
          </p:cNvPr>
          <p:cNvSpPr txBox="1"/>
          <p:nvPr/>
        </p:nvSpPr>
        <p:spPr>
          <a:xfrm>
            <a:off x="4842886" y="3622516"/>
            <a:ext cx="2001405" cy="646331"/>
          </a:xfrm>
          <a:prstGeom prst="rect">
            <a:avLst/>
          </a:prstGeom>
          <a:noFill/>
        </p:spPr>
        <p:txBody>
          <a:bodyPr wrap="square">
            <a:spAutoFit/>
          </a:bodyPr>
          <a:lstStyle/>
          <a:p>
            <a:pPr lvl="0" algn="ctr">
              <a:defRPr/>
            </a:pPr>
            <a:r>
              <a:rPr lang="en-GB" b="1" dirty="0">
                <a:solidFill>
                  <a:srgbClr val="FF0000"/>
                </a:solidFill>
              </a:rPr>
              <a:t>Large Language Models (LLM)</a:t>
            </a:r>
            <a:endParaRPr lang="en-GB" dirty="0">
              <a:solidFill>
                <a:prstClr val="black"/>
              </a:solidFill>
            </a:endParaRPr>
          </a:p>
        </p:txBody>
      </p:sp>
      <p:sp>
        <p:nvSpPr>
          <p:cNvPr id="6" name="TextBox 5">
            <a:extLst>
              <a:ext uri="{FF2B5EF4-FFF2-40B4-BE49-F238E27FC236}">
                <a16:creationId xmlns:a16="http://schemas.microsoft.com/office/drawing/2014/main" id="{9E6B3CA3-BCEA-BEAA-1B77-C3335EFC4FDA}"/>
              </a:ext>
            </a:extLst>
          </p:cNvPr>
          <p:cNvSpPr txBox="1"/>
          <p:nvPr/>
        </p:nvSpPr>
        <p:spPr>
          <a:xfrm>
            <a:off x="1412742" y="3175825"/>
            <a:ext cx="2404061" cy="707886"/>
          </a:xfrm>
          <a:prstGeom prst="rect">
            <a:avLst/>
          </a:prstGeom>
          <a:noFill/>
        </p:spPr>
        <p:txBody>
          <a:bodyPr wrap="square">
            <a:spAutoFit/>
          </a:bodyPr>
          <a:lstStyle/>
          <a:p>
            <a:r>
              <a:rPr lang="en-US" sz="800" dirty="0">
                <a:solidFill>
                  <a:schemeClr val="bg1">
                    <a:lumMod val="65000"/>
                  </a:schemeClr>
                </a:solidFill>
                <a:latin typeface="Aptos Light" panose="020B0004020202020204" pitchFamily="34" charset="0"/>
              </a:rPr>
              <a:t>LLMs assign probabilities to possible next words in a sequence, rather than predicting a single word with certainty.</a:t>
            </a:r>
          </a:p>
          <a:p>
            <a:r>
              <a:rPr lang="en-US" sz="800" dirty="0">
                <a:solidFill>
                  <a:schemeClr val="bg1">
                    <a:lumMod val="65000"/>
                  </a:schemeClr>
                </a:solidFill>
                <a:latin typeface="Aptos Light" panose="020B0004020202020204" pitchFamily="34" charset="0"/>
              </a:rPr>
              <a:t>This probabilistic approach allows for natural, context-sensitive text generation.</a:t>
            </a:r>
          </a:p>
        </p:txBody>
      </p:sp>
      <p:sp>
        <p:nvSpPr>
          <p:cNvPr id="9" name="TextBox 8">
            <a:extLst>
              <a:ext uri="{FF2B5EF4-FFF2-40B4-BE49-F238E27FC236}">
                <a16:creationId xmlns:a16="http://schemas.microsoft.com/office/drawing/2014/main" id="{3D6EDE8C-9B3B-056F-EE81-1D4878B6DB46}"/>
              </a:ext>
            </a:extLst>
          </p:cNvPr>
          <p:cNvSpPr txBox="1"/>
          <p:nvPr/>
        </p:nvSpPr>
        <p:spPr>
          <a:xfrm>
            <a:off x="1408780" y="4216395"/>
            <a:ext cx="2404062" cy="707886"/>
          </a:xfrm>
          <a:prstGeom prst="rect">
            <a:avLst/>
          </a:prstGeom>
          <a:noFill/>
        </p:spPr>
        <p:txBody>
          <a:bodyPr wrap="square">
            <a:spAutoFit/>
          </a:bodyPr>
          <a:lstStyle>
            <a:defPPr>
              <a:defRPr lang="en-US"/>
            </a:defPPr>
            <a:lvl1pPr>
              <a:defRPr sz="1000" b="1"/>
            </a:lvl1pPr>
          </a:lstStyle>
          <a:p>
            <a:r>
              <a:rPr lang="en-US" sz="800" b="0" dirty="0">
                <a:solidFill>
                  <a:schemeClr val="bg1">
                    <a:lumMod val="65000"/>
                  </a:schemeClr>
                </a:solidFill>
                <a:latin typeface="Aptos Light" panose="020B0004020202020204" pitchFamily="34" charset="0"/>
              </a:rPr>
              <a:t>Logistic models are statistical tools used to estimate the probability of a binary event (e.g., success vs. failure).</a:t>
            </a:r>
          </a:p>
          <a:p>
            <a:r>
              <a:rPr lang="en-US" sz="800" b="0" dirty="0">
                <a:solidFill>
                  <a:schemeClr val="bg1">
                    <a:lumMod val="65000"/>
                  </a:schemeClr>
                </a:solidFill>
                <a:latin typeface="Aptos Light" panose="020B0004020202020204" pitchFamily="34" charset="0"/>
              </a:rPr>
              <a:t>They transform a linear combination of predictors into a probability using the logistic function.</a:t>
            </a:r>
          </a:p>
        </p:txBody>
      </p:sp>
      <p:sp>
        <p:nvSpPr>
          <p:cNvPr id="15" name="TextBox 14">
            <a:extLst>
              <a:ext uri="{FF2B5EF4-FFF2-40B4-BE49-F238E27FC236}">
                <a16:creationId xmlns:a16="http://schemas.microsoft.com/office/drawing/2014/main" id="{AFA70563-87B3-E10B-B85F-9CE3BD7A4C16}"/>
              </a:ext>
            </a:extLst>
          </p:cNvPr>
          <p:cNvSpPr txBox="1"/>
          <p:nvPr/>
        </p:nvSpPr>
        <p:spPr>
          <a:xfrm>
            <a:off x="8060354" y="3198167"/>
            <a:ext cx="2396269" cy="461665"/>
          </a:xfrm>
          <a:prstGeom prst="rect">
            <a:avLst/>
          </a:prstGeom>
          <a:noFill/>
        </p:spPr>
        <p:txBody>
          <a:bodyPr wrap="square">
            <a:spAutoFit/>
          </a:bodyPr>
          <a:lstStyle>
            <a:defPPr>
              <a:defRPr lang="en-US"/>
            </a:defPPr>
            <a:lvl1pPr>
              <a:defRPr sz="1000" b="1"/>
            </a:lvl1pPr>
          </a:lstStyle>
          <a:p>
            <a:r>
              <a:rPr lang="en-US" sz="800" b="0" dirty="0">
                <a:solidFill>
                  <a:schemeClr val="bg1">
                    <a:lumMod val="65000"/>
                  </a:schemeClr>
                </a:solidFill>
                <a:latin typeface="Aptos Light" panose="020B0004020202020204" pitchFamily="34" charset="0"/>
              </a:rPr>
              <a:t>Unlike linear models, which produce hard class boundaries, logistic models' smooth transitions, making them more robust to noise and uncertainty.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2151274-A2F9-0622-CF4D-1C584CA2296A}"/>
                  </a:ext>
                </a:extLst>
              </p:cNvPr>
              <p:cNvSpPr txBox="1"/>
              <p:nvPr/>
            </p:nvSpPr>
            <p:spPr>
              <a:xfrm>
                <a:off x="8060354" y="4222672"/>
                <a:ext cx="2125637" cy="584775"/>
              </a:xfrm>
              <a:prstGeom prst="rect">
                <a:avLst/>
              </a:prstGeom>
              <a:noFill/>
            </p:spPr>
            <p:txBody>
              <a:bodyPr wrap="square">
                <a:spAutoFit/>
              </a:bodyPr>
              <a:lstStyle>
                <a:defPPr>
                  <a:defRPr lang="en-US"/>
                </a:defPPr>
                <a:lvl1pPr>
                  <a:defRPr sz="1000" b="1"/>
                </a:lvl1pPr>
              </a:lstStyle>
              <a:p>
                <a:r>
                  <a:rPr lang="en-US" sz="800" b="0" dirty="0">
                    <a:solidFill>
                      <a:schemeClr val="bg1">
                        <a:lumMod val="65000"/>
                      </a:schemeClr>
                    </a:solidFill>
                    <a:latin typeface="Aptos Light" panose="020B0004020202020204" pitchFamily="34" charset="0"/>
                  </a:rPr>
                  <a:t>Each coefficient</a:t>
                </a:r>
                <a14:m>
                  <m:oMath xmlns:m="http://schemas.openxmlformats.org/officeDocument/2006/math">
                    <m:r>
                      <a:rPr lang="en-US" sz="800" b="0" i="1" dirty="0" smtClean="0">
                        <a:solidFill>
                          <a:schemeClr val="bg1">
                            <a:lumMod val="65000"/>
                          </a:schemeClr>
                        </a:solidFill>
                        <a:latin typeface="Cambria Math" panose="02040503050406030204" pitchFamily="18" charset="0"/>
                      </a:rPr>
                      <m:t> </m:t>
                    </m:r>
                    <m:sSub>
                      <m:sSubPr>
                        <m:ctrlPr>
                          <a:rPr lang="en-US" sz="800" b="0" i="1" dirty="0" smtClean="0">
                            <a:solidFill>
                              <a:schemeClr val="bg1">
                                <a:lumMod val="65000"/>
                              </a:schemeClr>
                            </a:solidFill>
                            <a:latin typeface="Cambria Math" panose="02040503050406030204" pitchFamily="18" charset="0"/>
                          </a:rPr>
                        </m:ctrlPr>
                      </m:sSubPr>
                      <m:e>
                        <m:r>
                          <a:rPr lang="en-US" sz="800" b="0" i="1" dirty="0" smtClean="0">
                            <a:solidFill>
                              <a:schemeClr val="bg1">
                                <a:lumMod val="65000"/>
                              </a:schemeClr>
                            </a:solidFill>
                            <a:latin typeface="Cambria Math" panose="02040503050406030204" pitchFamily="18" charset="0"/>
                          </a:rPr>
                          <m:t>𝛽</m:t>
                        </m:r>
                      </m:e>
                      <m:sub>
                        <m:r>
                          <a:rPr lang="en-US" sz="800" b="0" i="1" dirty="0" err="1">
                            <a:solidFill>
                              <a:schemeClr val="bg1">
                                <a:lumMod val="65000"/>
                              </a:schemeClr>
                            </a:solidFill>
                            <a:latin typeface="Cambria Math" panose="02040503050406030204" pitchFamily="18" charset="0"/>
                          </a:rPr>
                          <m:t>𝑖</m:t>
                        </m:r>
                      </m:sub>
                    </m:sSub>
                  </m:oMath>
                </a14:m>
                <a:r>
                  <a:rPr lang="en-US" sz="800" b="0" dirty="0">
                    <a:solidFill>
                      <a:schemeClr val="bg1">
                        <a:lumMod val="65000"/>
                      </a:schemeClr>
                    </a:solidFill>
                    <a:latin typeface="Aptos Light" panose="020B0004020202020204" pitchFamily="34" charset="0"/>
                  </a:rPr>
                  <a:t>represents the change in log-odds of the event occurring, per unit change in </a:t>
                </a:r>
                <a14:m>
                  <m:oMath xmlns:m="http://schemas.openxmlformats.org/officeDocument/2006/math">
                    <m:sSub>
                      <m:sSubPr>
                        <m:ctrlPr>
                          <a:rPr lang="en-US" sz="800" b="0" i="1" dirty="0" smtClean="0">
                            <a:solidFill>
                              <a:schemeClr val="bg1">
                                <a:lumMod val="65000"/>
                              </a:schemeClr>
                            </a:solidFill>
                            <a:latin typeface="Cambria Math" panose="02040503050406030204" pitchFamily="18" charset="0"/>
                          </a:rPr>
                        </m:ctrlPr>
                      </m:sSubPr>
                      <m:e>
                        <m:r>
                          <a:rPr lang="en-US" sz="800" b="0" i="1" dirty="0" smtClean="0">
                            <a:solidFill>
                              <a:schemeClr val="bg1">
                                <a:lumMod val="65000"/>
                              </a:schemeClr>
                            </a:solidFill>
                            <a:latin typeface="Cambria Math" panose="02040503050406030204" pitchFamily="18" charset="0"/>
                          </a:rPr>
                          <m:t>𝑋</m:t>
                        </m:r>
                      </m:e>
                      <m:sub>
                        <m:r>
                          <a:rPr lang="en-US" sz="800" b="0" i="1" dirty="0" smtClean="0">
                            <a:solidFill>
                              <a:schemeClr val="bg1">
                                <a:lumMod val="65000"/>
                              </a:schemeClr>
                            </a:solidFill>
                            <a:latin typeface="Cambria Math" panose="02040503050406030204" pitchFamily="18" charset="0"/>
                          </a:rPr>
                          <m:t>𝑖</m:t>
                        </m:r>
                      </m:sub>
                    </m:sSub>
                  </m:oMath>
                </a14:m>
                <a:r>
                  <a:rPr lang="en-US" sz="800" b="0" dirty="0">
                    <a:solidFill>
                      <a:schemeClr val="bg1">
                        <a:lumMod val="65000"/>
                      </a:schemeClr>
                    </a:solidFill>
                    <a:latin typeface="Aptos Light" panose="020B0004020202020204" pitchFamily="34" charset="0"/>
                  </a:rPr>
                  <a:t>, holding other variables constant.</a:t>
                </a:r>
              </a:p>
            </p:txBody>
          </p:sp>
        </mc:Choice>
        <mc:Fallback xmlns="">
          <p:sp>
            <p:nvSpPr>
              <p:cNvPr id="18" name="TextBox 17">
                <a:extLst>
                  <a:ext uri="{FF2B5EF4-FFF2-40B4-BE49-F238E27FC236}">
                    <a16:creationId xmlns:a16="http://schemas.microsoft.com/office/drawing/2014/main" id="{F2151274-A2F9-0622-CF4D-1C584CA2296A}"/>
                  </a:ext>
                </a:extLst>
              </p:cNvPr>
              <p:cNvSpPr txBox="1">
                <a:spLocks noRot="1" noChangeAspect="1" noMove="1" noResize="1" noEditPoints="1" noAdjustHandles="1" noChangeArrowheads="1" noChangeShapeType="1" noTextEdit="1"/>
              </p:cNvSpPr>
              <p:nvPr/>
            </p:nvSpPr>
            <p:spPr>
              <a:xfrm>
                <a:off x="8060354" y="4222672"/>
                <a:ext cx="2125637" cy="584775"/>
              </a:xfrm>
              <a:prstGeom prst="rect">
                <a:avLst/>
              </a:prstGeom>
              <a:blipFill>
                <a:blip r:embed="rId3"/>
                <a:stretch>
                  <a:fillRect b="-2083"/>
                </a:stretch>
              </a:blipFill>
            </p:spPr>
            <p:txBody>
              <a:bodyPr/>
              <a:lstStyle/>
              <a:p>
                <a:r>
                  <a:rPr lang="en-GB">
                    <a:noFill/>
                  </a:rPr>
                  <a:t> </a:t>
                </a:r>
              </a:p>
            </p:txBody>
          </p:sp>
        </mc:Fallback>
      </mc:AlternateContent>
      <p:sp>
        <p:nvSpPr>
          <p:cNvPr id="22" name="TextBox 21">
            <a:extLst>
              <a:ext uri="{FF2B5EF4-FFF2-40B4-BE49-F238E27FC236}">
                <a16:creationId xmlns:a16="http://schemas.microsoft.com/office/drawing/2014/main" id="{563F871B-5E1D-17DF-8404-C0FF7BBD0DD7}"/>
              </a:ext>
            </a:extLst>
          </p:cNvPr>
          <p:cNvSpPr txBox="1"/>
          <p:nvPr/>
        </p:nvSpPr>
        <p:spPr>
          <a:xfrm>
            <a:off x="4324635" y="5632478"/>
            <a:ext cx="3542730" cy="338554"/>
          </a:xfrm>
          <a:prstGeom prst="rect">
            <a:avLst/>
          </a:prstGeom>
          <a:noFill/>
        </p:spPr>
        <p:txBody>
          <a:bodyPr wrap="square">
            <a:spAutoFit/>
          </a:bodyPr>
          <a:lstStyle>
            <a:defPPr>
              <a:defRPr lang="en-US"/>
            </a:defPPr>
            <a:lvl1pPr>
              <a:defRPr sz="1000" b="1"/>
            </a:lvl1pPr>
          </a:lstStyle>
          <a:p>
            <a:r>
              <a:rPr lang="en-US" sz="800" b="0" dirty="0">
                <a:solidFill>
                  <a:schemeClr val="bg1">
                    <a:lumMod val="65000"/>
                  </a:schemeClr>
                </a:solidFill>
                <a:latin typeface="Aptos Light" panose="020B0004020202020204" pitchFamily="34" charset="0"/>
              </a:rPr>
              <a:t>The ROC curve evaluates model performance by showing the trade-off between sensitivity and specificity across decision thresholds</a:t>
            </a:r>
          </a:p>
        </p:txBody>
      </p:sp>
      <p:grpSp>
        <p:nvGrpSpPr>
          <p:cNvPr id="27" name="Group 26">
            <a:extLst>
              <a:ext uri="{FF2B5EF4-FFF2-40B4-BE49-F238E27FC236}">
                <a16:creationId xmlns:a16="http://schemas.microsoft.com/office/drawing/2014/main" id="{3C02CEFB-B734-8873-4BFE-82260B87A980}"/>
              </a:ext>
            </a:extLst>
          </p:cNvPr>
          <p:cNvGrpSpPr/>
          <p:nvPr/>
        </p:nvGrpSpPr>
        <p:grpSpPr>
          <a:xfrm>
            <a:off x="866126" y="1153534"/>
            <a:ext cx="4457282" cy="1096302"/>
            <a:chOff x="3611974" y="739328"/>
            <a:chExt cx="4457282" cy="1096302"/>
          </a:xfrm>
        </p:grpSpPr>
        <p:sp>
          <p:nvSpPr>
            <p:cNvPr id="37" name="TextBox 36">
              <a:extLst>
                <a:ext uri="{FF2B5EF4-FFF2-40B4-BE49-F238E27FC236}">
                  <a16:creationId xmlns:a16="http://schemas.microsoft.com/office/drawing/2014/main" id="{D5C0FD70-69AD-41E2-FA0F-368E538B9358}"/>
                </a:ext>
              </a:extLst>
            </p:cNvPr>
            <p:cNvSpPr txBox="1"/>
            <p:nvPr/>
          </p:nvSpPr>
          <p:spPr>
            <a:xfrm>
              <a:off x="3611974" y="772372"/>
              <a:ext cx="1881035" cy="830997"/>
            </a:xfrm>
            <a:prstGeom prst="rect">
              <a:avLst/>
            </a:prstGeom>
            <a:noFill/>
          </p:spPr>
          <p:txBody>
            <a:bodyPr wrap="square" rtlCol="0">
              <a:spAutoFit/>
            </a:bodyPr>
            <a:lstStyle/>
            <a:p>
              <a:r>
                <a:rPr lang="en-US" sz="1200" noProof="0" dirty="0"/>
                <a:t>Large Language Models are predictive machines trained on vast amounts of text</a:t>
              </a:r>
            </a:p>
          </p:txBody>
        </p:sp>
        <p:sp>
          <p:nvSpPr>
            <p:cNvPr id="23" name="TextBox 22">
              <a:extLst>
                <a:ext uri="{FF2B5EF4-FFF2-40B4-BE49-F238E27FC236}">
                  <a16:creationId xmlns:a16="http://schemas.microsoft.com/office/drawing/2014/main" id="{926C89CE-3308-A1CD-E94B-5F51D65ACED8}"/>
                </a:ext>
              </a:extLst>
            </p:cNvPr>
            <p:cNvSpPr txBox="1"/>
            <p:nvPr/>
          </p:nvSpPr>
          <p:spPr>
            <a:xfrm>
              <a:off x="5567767" y="759696"/>
              <a:ext cx="2012513" cy="808514"/>
            </a:xfrm>
            <a:prstGeom prst="rect">
              <a:avLst/>
            </a:prstGeom>
            <a:solidFill>
              <a:schemeClr val="bg1"/>
            </a:solidFill>
          </p:spPr>
          <p:txBody>
            <a:bodyPr wrap="square" rtlCol="0">
              <a:noAutofit/>
            </a:bodyPr>
            <a:lstStyle/>
            <a:p>
              <a:r>
                <a:rPr lang="en-US" sz="1200" noProof="0" dirty="0"/>
                <a:t>A person reading all the data used to train GPT-3 nonstop </a:t>
              </a:r>
              <a:r>
                <a:rPr lang="en-US" sz="1200" b="1" noProof="0" dirty="0">
                  <a:highlight>
                    <a:srgbClr val="FFC000"/>
                  </a:highlight>
                </a:rPr>
                <a:t>would take over 2,600 years</a:t>
              </a:r>
            </a:p>
            <a:p>
              <a:endParaRPr lang="en-GB" sz="1200" noProof="0" dirty="0"/>
            </a:p>
          </p:txBody>
        </p:sp>
        <p:pic>
          <p:nvPicPr>
            <p:cNvPr id="26" name="Graphic 25" descr="Old man using cane">
              <a:extLst>
                <a:ext uri="{FF2B5EF4-FFF2-40B4-BE49-F238E27FC236}">
                  <a16:creationId xmlns:a16="http://schemas.microsoft.com/office/drawing/2014/main" id="{AF72A805-86D1-F440-D840-AFE8A6ADB4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7551747" y="739328"/>
              <a:ext cx="517509" cy="1096302"/>
            </a:xfrm>
            <a:prstGeom prst="rect">
              <a:avLst/>
            </a:prstGeom>
          </p:spPr>
        </p:pic>
      </p:grpSp>
      <p:sp>
        <p:nvSpPr>
          <p:cNvPr id="2" name="Footer Placeholder 4">
            <a:extLst>
              <a:ext uri="{FF2B5EF4-FFF2-40B4-BE49-F238E27FC236}">
                <a16:creationId xmlns:a16="http://schemas.microsoft.com/office/drawing/2014/main" id="{8A358650-E59A-AB53-A5A8-45D62BFC4A42}"/>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3843611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37" presetClass="path" presetSubtype="0" accel="50000" decel="50000" fill="hold" grpId="0" nodeType="afterEffect">
                                  <p:stCondLst>
                                    <p:cond delay="0"/>
                                  </p:stCondLst>
                                  <p:childTnLst>
                                    <p:animMotion origin="layout" path="M 0 -0.0037 L 0.00078 0.03936 C 0.00104 0.04885 0.0013 0.05417 0.00156 0.05417 C 0.00195 0.05417 0.00221 0.04885 0.00234 0.03936 C 0.0026 0.025 0.00339 -0.23588 0.00378 -0.24953 " pathEditMode="relative" rAng="0" ptsTypes="AAAAA">
                                      <p:cBhvr>
                                        <p:cTn id="10" dur="500" fill="hold"/>
                                        <p:tgtEl>
                                          <p:spTgt spid="22"/>
                                        </p:tgtEl>
                                        <p:attrNameLst>
                                          <p:attrName>ppt_x</p:attrName>
                                          <p:attrName>ppt_y</p:attrName>
                                        </p:attrNameLst>
                                      </p:cBhvr>
                                      <p:rCtr x="182" y="-9398"/>
                                    </p:animMotion>
                                  </p:childTnLst>
                                </p:cTn>
                              </p:par>
                            </p:childTnLst>
                          </p:cTn>
                        </p:par>
                        <p:par>
                          <p:cTn id="11" fill="hold">
                            <p:stCondLst>
                              <p:cond delay="1000"/>
                            </p:stCondLst>
                            <p:childTnLst>
                              <p:par>
                                <p:cTn id="12" presetID="10" presetClass="exit" presetSubtype="0" fill="hold" grpId="1" nodeType="afterEffect">
                                  <p:stCondLst>
                                    <p:cond delay="0"/>
                                  </p:stCondLst>
                                  <p:childTnLst>
                                    <p:animEffect transition="out" filter="fade">
                                      <p:cBhvr>
                                        <p:cTn id="13" dur="500"/>
                                        <p:tgtEl>
                                          <p:spTgt spid="22"/>
                                        </p:tgtEl>
                                      </p:cBhvr>
                                    </p:animEffect>
                                    <p:set>
                                      <p:cBhvr>
                                        <p:cTn id="14" dur="1" fill="hold">
                                          <p:stCondLst>
                                            <p:cond delay="499"/>
                                          </p:stCondLst>
                                        </p:cTn>
                                        <p:tgtEl>
                                          <p:spTgt spid="22"/>
                                        </p:tgtEl>
                                        <p:attrNameLst>
                                          <p:attrName>style.visibility</p:attrName>
                                        </p:attrNameLst>
                                      </p:cBhvr>
                                      <p:to>
                                        <p:strVal val="hidden"/>
                                      </p:to>
                                    </p:set>
                                  </p:childTnLst>
                                </p:cTn>
                              </p:par>
                            </p:childTnLst>
                          </p:cTn>
                        </p:par>
                        <p:par>
                          <p:cTn id="15" fill="hold">
                            <p:stCondLst>
                              <p:cond delay="1500"/>
                            </p:stCondLst>
                            <p:childTnLst>
                              <p:par>
                                <p:cTn id="16" presetID="37" presetClass="path" presetSubtype="0" accel="50000" decel="50000" fill="hold" grpId="0" nodeType="afterEffect">
                                  <p:stCondLst>
                                    <p:cond delay="0"/>
                                  </p:stCondLst>
                                  <p:childTnLst>
                                    <p:animMotion origin="layout" path="M 2.70833E-6 4.81481E-6 L 0.06705 0.04004 C 0.08099 0.04907 0.10195 0.05393 0.12396 0.05393 C 0.14896 0.05393 0.16901 0.04907 0.18294 0.04004 C 0.20534 0.02662 0.23828 -0.08727 0.26067 -0.10047 " pathEditMode="relative" rAng="0" ptsTypes="AAAAA">
                                      <p:cBhvr>
                                        <p:cTn id="17" dur="500" fill="hold"/>
                                        <p:tgtEl>
                                          <p:spTgt spid="9"/>
                                        </p:tgtEl>
                                        <p:attrNameLst>
                                          <p:attrName>ppt_x</p:attrName>
                                          <p:attrName>ppt_y</p:attrName>
                                        </p:attrNameLst>
                                      </p:cBhvr>
                                      <p:rCtr x="13034" y="-2338"/>
                                    </p:animMotion>
                                  </p:childTnLst>
                                </p:cTn>
                              </p:par>
                            </p:childTnLst>
                          </p:cTn>
                        </p:par>
                        <p:par>
                          <p:cTn id="18" fill="hold">
                            <p:stCondLst>
                              <p:cond delay="2000"/>
                            </p:stCondLst>
                            <p:childTnLst>
                              <p:par>
                                <p:cTn id="19" presetID="10" presetClass="exit" presetSubtype="0" fill="hold" grpId="1" nodeType="afterEffect">
                                  <p:stCondLst>
                                    <p:cond delay="0"/>
                                  </p:stCondLst>
                                  <p:childTnLst>
                                    <p:animEffect transition="out" filter="fade">
                                      <p:cBhvr>
                                        <p:cTn id="20" dur="500"/>
                                        <p:tgtEl>
                                          <p:spTgt spid="9"/>
                                        </p:tgtEl>
                                      </p:cBhvr>
                                    </p:animEffect>
                                    <p:set>
                                      <p:cBhvr>
                                        <p:cTn id="21" dur="1" fill="hold">
                                          <p:stCondLst>
                                            <p:cond delay="499"/>
                                          </p:stCondLst>
                                        </p:cTn>
                                        <p:tgtEl>
                                          <p:spTgt spid="9"/>
                                        </p:tgtEl>
                                        <p:attrNameLst>
                                          <p:attrName>style.visibility</p:attrName>
                                        </p:attrNameLst>
                                      </p:cBhvr>
                                      <p:to>
                                        <p:strVal val="hidden"/>
                                      </p:to>
                                    </p:set>
                                  </p:childTnLst>
                                </p:cTn>
                              </p:par>
                            </p:childTnLst>
                          </p:cTn>
                        </p:par>
                        <p:par>
                          <p:cTn id="22" fill="hold">
                            <p:stCondLst>
                              <p:cond delay="2500"/>
                            </p:stCondLst>
                            <p:childTnLst>
                              <p:par>
                                <p:cTn id="23" presetID="42" presetClass="path" presetSubtype="0" accel="50000" decel="50000" fill="hold" grpId="0" nodeType="afterEffect">
                                  <p:stCondLst>
                                    <p:cond delay="0"/>
                                  </p:stCondLst>
                                  <p:childTnLst>
                                    <p:animMotion origin="layout" path="M -4.79167E-6 -4.07407E-6 L 0.30665 0.06644 " pathEditMode="relative" rAng="0" ptsTypes="AA">
                                      <p:cBhvr>
                                        <p:cTn id="24" dur="500" fill="hold"/>
                                        <p:tgtEl>
                                          <p:spTgt spid="6"/>
                                        </p:tgtEl>
                                        <p:attrNameLst>
                                          <p:attrName>ppt_x</p:attrName>
                                          <p:attrName>ppt_y</p:attrName>
                                        </p:attrNameLst>
                                      </p:cBhvr>
                                      <p:rCtr x="15326" y="3310"/>
                                    </p:animMotion>
                                  </p:childTnLst>
                                </p:cTn>
                              </p:par>
                            </p:childTnLst>
                          </p:cTn>
                        </p:par>
                        <p:par>
                          <p:cTn id="25" fill="hold">
                            <p:stCondLst>
                              <p:cond delay="3000"/>
                            </p:stCondLst>
                            <p:childTnLst>
                              <p:par>
                                <p:cTn id="26" presetID="10" presetClass="exit" presetSubtype="0" fill="hold" grpId="1" nodeType="afterEffect">
                                  <p:stCondLst>
                                    <p:cond delay="0"/>
                                  </p:stCondLst>
                                  <p:childTnLst>
                                    <p:animEffect transition="out" filter="fade">
                                      <p:cBhvr>
                                        <p:cTn id="27" dur="500"/>
                                        <p:tgtEl>
                                          <p:spTgt spid="6"/>
                                        </p:tgtEl>
                                      </p:cBhvr>
                                    </p:animEffect>
                                    <p:set>
                                      <p:cBhvr>
                                        <p:cTn id="28" dur="1" fill="hold">
                                          <p:stCondLst>
                                            <p:cond delay="499"/>
                                          </p:stCondLst>
                                        </p:cTn>
                                        <p:tgtEl>
                                          <p:spTgt spid="6"/>
                                        </p:tgtEl>
                                        <p:attrNameLst>
                                          <p:attrName>style.visibility</p:attrName>
                                        </p:attrNameLst>
                                      </p:cBhvr>
                                      <p:to>
                                        <p:strVal val="hidden"/>
                                      </p:to>
                                    </p:set>
                                  </p:childTnLst>
                                </p:cTn>
                              </p:par>
                            </p:childTnLst>
                          </p:cTn>
                        </p:par>
                        <p:par>
                          <p:cTn id="29" fill="hold">
                            <p:stCondLst>
                              <p:cond delay="3500"/>
                            </p:stCondLst>
                            <p:childTnLst>
                              <p:par>
                                <p:cTn id="30" presetID="42" presetClass="path" presetSubtype="0" accel="50000" decel="50000" fill="hold" grpId="0" nodeType="afterEffect">
                                  <p:stCondLst>
                                    <p:cond delay="0"/>
                                  </p:stCondLst>
                                  <p:childTnLst>
                                    <p:animMotion origin="layout" path="M -3.54167E-6 1.11111E-6 L -0.27708 0.08912 " pathEditMode="relative" rAng="0" ptsTypes="AA">
                                      <p:cBhvr>
                                        <p:cTn id="31" dur="500" fill="hold"/>
                                        <p:tgtEl>
                                          <p:spTgt spid="15"/>
                                        </p:tgtEl>
                                        <p:attrNameLst>
                                          <p:attrName>ppt_x</p:attrName>
                                          <p:attrName>ppt_y</p:attrName>
                                        </p:attrNameLst>
                                      </p:cBhvr>
                                      <p:rCtr x="-13854" y="4444"/>
                                    </p:animMotion>
                                  </p:childTnLst>
                                </p:cTn>
                              </p:par>
                            </p:childTnLst>
                          </p:cTn>
                        </p:par>
                        <p:par>
                          <p:cTn id="32" fill="hold">
                            <p:stCondLst>
                              <p:cond delay="4000"/>
                            </p:stCondLst>
                            <p:childTnLst>
                              <p:par>
                                <p:cTn id="33" presetID="10" presetClass="exit" presetSubtype="0" fill="hold" grpId="1" nodeType="afterEffect">
                                  <p:stCondLst>
                                    <p:cond delay="0"/>
                                  </p:stCondLst>
                                  <p:childTnLst>
                                    <p:animEffect transition="out" filter="fade">
                                      <p:cBhvr>
                                        <p:cTn id="34" dur="500"/>
                                        <p:tgtEl>
                                          <p:spTgt spid="15"/>
                                        </p:tgtEl>
                                      </p:cBhvr>
                                    </p:animEffect>
                                    <p:set>
                                      <p:cBhvr>
                                        <p:cTn id="35" dur="1" fill="hold">
                                          <p:stCondLst>
                                            <p:cond delay="499"/>
                                          </p:stCondLst>
                                        </p:cTn>
                                        <p:tgtEl>
                                          <p:spTgt spid="15"/>
                                        </p:tgtEl>
                                        <p:attrNameLst>
                                          <p:attrName>style.visibility</p:attrName>
                                        </p:attrNameLst>
                                      </p:cBhvr>
                                      <p:to>
                                        <p:strVal val="hidden"/>
                                      </p:to>
                                    </p:set>
                                  </p:childTnLst>
                                </p:cTn>
                              </p:par>
                            </p:childTnLst>
                          </p:cTn>
                        </p:par>
                        <p:par>
                          <p:cTn id="36" fill="hold">
                            <p:stCondLst>
                              <p:cond delay="4500"/>
                            </p:stCondLst>
                            <p:childTnLst>
                              <p:par>
                                <p:cTn id="37" presetID="42" presetClass="path" presetSubtype="0" accel="50000" decel="50000" fill="hold" grpId="0" nodeType="afterEffect">
                                  <p:stCondLst>
                                    <p:cond delay="0"/>
                                  </p:stCondLst>
                                  <p:childTnLst>
                                    <p:animMotion origin="layout" path="M 0.06159 0.01111 L -0.29636 -0.05393 " pathEditMode="relative" rAng="0" ptsTypes="AA">
                                      <p:cBhvr>
                                        <p:cTn id="38" dur="500" fill="hold"/>
                                        <p:tgtEl>
                                          <p:spTgt spid="18"/>
                                        </p:tgtEl>
                                        <p:attrNameLst>
                                          <p:attrName>ppt_x</p:attrName>
                                          <p:attrName>ppt_y</p:attrName>
                                        </p:attrNameLst>
                                      </p:cBhvr>
                                      <p:rCtr x="-17904" y="-3264"/>
                                    </p:animMotion>
                                  </p:childTnLst>
                                </p:cTn>
                              </p:par>
                            </p:childTnLst>
                          </p:cTn>
                        </p:par>
                        <p:par>
                          <p:cTn id="39" fill="hold">
                            <p:stCondLst>
                              <p:cond delay="5000"/>
                            </p:stCondLst>
                            <p:childTnLst>
                              <p:par>
                                <p:cTn id="40" presetID="10" presetClass="exit" presetSubtype="0" fill="hold" grpId="1" nodeType="afterEffect">
                                  <p:stCondLst>
                                    <p:cond delay="0"/>
                                  </p:stCondLst>
                                  <p:childTnLst>
                                    <p:animEffect transition="out" filter="fade">
                                      <p:cBhvr>
                                        <p:cTn id="41" dur="500"/>
                                        <p:tgtEl>
                                          <p:spTgt spid="18"/>
                                        </p:tgtEl>
                                      </p:cBhvr>
                                    </p:animEffect>
                                    <p:set>
                                      <p:cBhvr>
                                        <p:cTn id="42"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9" grpId="0"/>
      <p:bldP spid="9" grpId="1"/>
      <p:bldP spid="15" grpId="0"/>
      <p:bldP spid="15" grpId="1"/>
      <p:bldP spid="18" grpId="0"/>
      <p:bldP spid="18" grpId="1"/>
      <p:bldP spid="22" grpId="0"/>
      <p:bldP spid="22"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2080E-4E2D-3B67-F991-A3B37B66764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F74E86A-2F7C-58AF-7600-D9D5BCBA88C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276AC6F4-1936-1ADB-4269-D51357687740}"/>
              </a:ext>
            </a:extLst>
          </p:cNvPr>
          <p:cNvSpPr txBox="1">
            <a:spLocks/>
          </p:cNvSpPr>
          <p:nvPr/>
        </p:nvSpPr>
        <p:spPr>
          <a:xfrm>
            <a:off x="891589" y="501651"/>
            <a:ext cx="3489911"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dirty="0">
                <a:ln>
                  <a:noFill/>
                </a:ln>
                <a:solidFill>
                  <a:srgbClr val="FF0000"/>
                </a:solidFill>
                <a:effectLst/>
                <a:uLnTx/>
                <a:uFillTx/>
                <a:latin typeface="Aptos SemiBold" panose="020F0502020204030204" pitchFamily="34" charset="0"/>
                <a:ea typeface="+mj-ea"/>
                <a:cs typeface="+mj-cs"/>
              </a:rPr>
              <a:t>LLMs</a:t>
            </a:r>
          </a:p>
        </p:txBody>
      </p:sp>
      <p:sp>
        <p:nvSpPr>
          <p:cNvPr id="5" name="Slide Number Placeholder 2">
            <a:extLst>
              <a:ext uri="{FF2B5EF4-FFF2-40B4-BE49-F238E27FC236}">
                <a16:creationId xmlns:a16="http://schemas.microsoft.com/office/drawing/2014/main" id="{CB16BF66-9E18-96DB-21CB-6006AE9318D7}"/>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E07CE8B9-21E4-B5FA-75F6-974C1ABC9B92}"/>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sp>
        <p:nvSpPr>
          <p:cNvPr id="11" name="Footer Placeholder 1">
            <a:extLst>
              <a:ext uri="{FF2B5EF4-FFF2-40B4-BE49-F238E27FC236}">
                <a16:creationId xmlns:a16="http://schemas.microsoft.com/office/drawing/2014/main" id="{770CF164-EB6C-378B-A0D7-63929C02E112}"/>
              </a:ext>
            </a:extLst>
          </p:cNvPr>
          <p:cNvSpPr>
            <a:spLocks noGrp="1"/>
          </p:cNvSpPr>
          <p:nvPr>
            <p:ph type="ftr" sz="quarter" idx="4294967295"/>
          </p:nvPr>
        </p:nvSpPr>
        <p:spPr>
          <a:xfrm>
            <a:off x="7618484" y="5689598"/>
            <a:ext cx="3181350" cy="365125"/>
          </a:xfrm>
        </p:spPr>
        <p:txBody>
          <a:bodyPr/>
          <a:lstStyle/>
          <a:p>
            <a:pPr algn="l"/>
            <a:r>
              <a:rPr lang="en-GB" sz="700" noProof="0" dirty="0">
                <a:solidFill>
                  <a:srgbClr val="00B0F0"/>
                </a:solidFill>
              </a:rPr>
              <a:t>Calvo Hernández, Danny. “Discovering Language Model </a:t>
            </a:r>
            <a:r>
              <a:rPr lang="en-GB" sz="700" noProof="0" dirty="0" err="1">
                <a:solidFill>
                  <a:srgbClr val="00B0F0"/>
                </a:solidFill>
              </a:rPr>
              <a:t>Behaviors</a:t>
            </a:r>
            <a:r>
              <a:rPr lang="en-GB" sz="700" noProof="0" dirty="0">
                <a:solidFill>
                  <a:srgbClr val="00B0F0"/>
                </a:solidFill>
              </a:rPr>
              <a:t> with Model-Written Evaluations.” Findings of the Association for Computational Linguistics: ACL 2023, Association for Computational Linguistics.</a:t>
            </a:r>
          </a:p>
        </p:txBody>
      </p:sp>
      <p:sp>
        <p:nvSpPr>
          <p:cNvPr id="37" name="TextBox 36">
            <a:extLst>
              <a:ext uri="{FF2B5EF4-FFF2-40B4-BE49-F238E27FC236}">
                <a16:creationId xmlns:a16="http://schemas.microsoft.com/office/drawing/2014/main" id="{DB073E1A-AF07-6D75-CA0F-AA377698640C}"/>
              </a:ext>
            </a:extLst>
          </p:cNvPr>
          <p:cNvSpPr txBox="1"/>
          <p:nvPr/>
        </p:nvSpPr>
        <p:spPr>
          <a:xfrm>
            <a:off x="1033427" y="1322723"/>
            <a:ext cx="3159523" cy="1015663"/>
          </a:xfrm>
          <a:prstGeom prst="rect">
            <a:avLst/>
          </a:prstGeom>
          <a:noFill/>
        </p:spPr>
        <p:txBody>
          <a:bodyPr wrap="square" rtlCol="0">
            <a:spAutoFit/>
          </a:bodyPr>
          <a:lstStyle/>
          <a:p>
            <a:r>
              <a:rPr lang="en-US" sz="1200" b="1" dirty="0">
                <a:highlight>
                  <a:srgbClr val="FFC000"/>
                </a:highlight>
              </a:rPr>
              <a:t>Pretraining</a:t>
            </a:r>
            <a:endParaRPr lang="en-GB" sz="1200" b="1" noProof="0" dirty="0">
              <a:highlight>
                <a:srgbClr val="FFC000"/>
              </a:highlight>
            </a:endParaRPr>
          </a:p>
          <a:p>
            <a:r>
              <a:rPr lang="en-US" sz="1200" noProof="0" dirty="0"/>
              <a:t>The process we’ve just described is only the beginning. Successfully completing a passage of text is not the goal of an AI assistant</a:t>
            </a:r>
          </a:p>
        </p:txBody>
      </p:sp>
      <p:sp>
        <p:nvSpPr>
          <p:cNvPr id="2" name="TextBox 1">
            <a:extLst>
              <a:ext uri="{FF2B5EF4-FFF2-40B4-BE49-F238E27FC236}">
                <a16:creationId xmlns:a16="http://schemas.microsoft.com/office/drawing/2014/main" id="{05C23488-6434-02BC-8258-93DC01AFFCC5}"/>
              </a:ext>
            </a:extLst>
          </p:cNvPr>
          <p:cNvSpPr txBox="1"/>
          <p:nvPr/>
        </p:nvSpPr>
        <p:spPr>
          <a:xfrm>
            <a:off x="1033427" y="2413337"/>
            <a:ext cx="4262473" cy="1384995"/>
          </a:xfrm>
          <a:prstGeom prst="rect">
            <a:avLst/>
          </a:prstGeom>
          <a:noFill/>
        </p:spPr>
        <p:txBody>
          <a:bodyPr wrap="square" rtlCol="0">
            <a:spAutoFit/>
          </a:bodyPr>
          <a:lstStyle/>
          <a:p>
            <a:r>
              <a:rPr lang="en-US" sz="1200" b="1" dirty="0">
                <a:highlight>
                  <a:srgbClr val="FFC000"/>
                </a:highlight>
              </a:rPr>
              <a:t>RLHF – Reinforcement Learning with Human Feedback</a:t>
            </a:r>
            <a:endParaRPr lang="en-GB" sz="1200" b="1" noProof="0" dirty="0">
              <a:highlight>
                <a:srgbClr val="FFC000"/>
              </a:highlight>
            </a:endParaRPr>
          </a:p>
          <a:p>
            <a:r>
              <a:rPr lang="en-US" sz="1200" dirty="0"/>
              <a:t>To move beyond basic text completion, models undergo </a:t>
            </a:r>
            <a:r>
              <a:rPr lang="en-US" sz="1200" b="1" dirty="0"/>
              <a:t>Reinforcement Learning with Human Feedback (RLHF)</a:t>
            </a:r>
            <a:r>
              <a:rPr lang="en-US" sz="1200" dirty="0"/>
              <a:t>.</a:t>
            </a:r>
            <a:br>
              <a:rPr lang="en-US" sz="1200" dirty="0"/>
            </a:br>
            <a:endParaRPr lang="en-US" sz="1200" dirty="0"/>
          </a:p>
          <a:p>
            <a:pPr marL="171450" indent="-171450">
              <a:buFont typeface="Arial" panose="020B0604020202020204" pitchFamily="34" charset="0"/>
              <a:buChar char="•"/>
            </a:pPr>
            <a:r>
              <a:rPr lang="en-US" sz="1200" dirty="0">
                <a:solidFill>
                  <a:schemeClr val="bg1">
                    <a:lumMod val="65000"/>
                  </a:schemeClr>
                </a:solidFill>
              </a:rPr>
              <a:t>Human annotators identify and flag unhelpful or problematic predictions. These corrections are incorporated into the model’s parameters.</a:t>
            </a:r>
          </a:p>
        </p:txBody>
      </p:sp>
      <p:pic>
        <p:nvPicPr>
          <p:cNvPr id="8" name="Picture 7">
            <a:extLst>
              <a:ext uri="{FF2B5EF4-FFF2-40B4-BE49-F238E27FC236}">
                <a16:creationId xmlns:a16="http://schemas.microsoft.com/office/drawing/2014/main" id="{7EFAB116-E1E1-B15A-49DC-B6FC873CD116}"/>
              </a:ext>
            </a:extLst>
          </p:cNvPr>
          <p:cNvPicPr>
            <a:picLocks noChangeAspect="1"/>
          </p:cNvPicPr>
          <p:nvPr/>
        </p:nvPicPr>
        <p:blipFill>
          <a:blip r:embed="rId3"/>
          <a:stretch>
            <a:fillRect/>
          </a:stretch>
        </p:blipFill>
        <p:spPr>
          <a:xfrm>
            <a:off x="7543465" y="1209674"/>
            <a:ext cx="3331388" cy="4349750"/>
          </a:xfrm>
          <a:prstGeom prst="rect">
            <a:avLst/>
          </a:prstGeom>
          <a:effectLst>
            <a:outerShdw blurRad="50800" dist="38100" dir="5400000" algn="t" rotWithShape="0">
              <a:prstClr val="black">
                <a:alpha val="40000"/>
              </a:prstClr>
            </a:outerShdw>
          </a:effectLst>
        </p:spPr>
      </p:pic>
      <p:sp>
        <p:nvSpPr>
          <p:cNvPr id="13" name="TextBox 12">
            <a:extLst>
              <a:ext uri="{FF2B5EF4-FFF2-40B4-BE49-F238E27FC236}">
                <a16:creationId xmlns:a16="http://schemas.microsoft.com/office/drawing/2014/main" id="{F7426A01-4E76-E1C8-B064-67845BBA5EDD}"/>
              </a:ext>
            </a:extLst>
          </p:cNvPr>
          <p:cNvSpPr txBox="1"/>
          <p:nvPr/>
        </p:nvSpPr>
        <p:spPr>
          <a:xfrm>
            <a:off x="1033427" y="4117834"/>
            <a:ext cx="4717134" cy="1754326"/>
          </a:xfrm>
          <a:prstGeom prst="rect">
            <a:avLst/>
          </a:prstGeom>
          <a:noFill/>
        </p:spPr>
        <p:txBody>
          <a:bodyPr wrap="square" rtlCol="0">
            <a:spAutoFit/>
          </a:bodyPr>
          <a:lstStyle>
            <a:defPPr>
              <a:defRPr lang="en-US"/>
            </a:defPPr>
            <a:lvl1pPr>
              <a:defRPr sz="1200"/>
            </a:lvl1pPr>
          </a:lstStyle>
          <a:p>
            <a:r>
              <a:rPr lang="en-US" b="1" dirty="0">
                <a:highlight>
                  <a:srgbClr val="FFC000"/>
                </a:highlight>
              </a:rPr>
              <a:t>Fine-tuning with RLHF encourages the model to generate responses that maximize reward signals, sometimes excessively.</a:t>
            </a:r>
            <a:br>
              <a:rPr lang="en-US" b="1" dirty="0">
                <a:highlight>
                  <a:srgbClr val="FFC000"/>
                </a:highlight>
              </a:rPr>
            </a:br>
            <a:r>
              <a:rPr lang="en-US" dirty="0"/>
              <a:t>A well-known example involves an OpenAI model trained to favor positive sentiment: it concluded that </a:t>
            </a:r>
            <a:r>
              <a:rPr lang="en-US" b="1" dirty="0"/>
              <a:t>weddings</a:t>
            </a:r>
            <a:r>
              <a:rPr lang="en-US" dirty="0"/>
              <a:t> were the most positive topic and began generating wedding-related content regardless of the prompt.</a:t>
            </a:r>
          </a:p>
          <a:p>
            <a:endParaRPr lang="en-US" dirty="0"/>
          </a:p>
          <a:p>
            <a:r>
              <a:rPr lang="en-US" dirty="0"/>
              <a:t>This illustrates how the model may “play the training game”, optimizing for reward rather than coherence or relevance.</a:t>
            </a:r>
          </a:p>
        </p:txBody>
      </p:sp>
      <p:pic>
        <p:nvPicPr>
          <p:cNvPr id="16" name="Graphic 15" descr="Man wearing hat and suit">
            <a:extLst>
              <a:ext uri="{FF2B5EF4-FFF2-40B4-BE49-F238E27FC236}">
                <a16:creationId xmlns:a16="http://schemas.microsoft.com/office/drawing/2014/main" id="{0864017E-FD3B-A336-DB02-313B47F16B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5994795" y="4360860"/>
            <a:ext cx="519913" cy="1511300"/>
          </a:xfrm>
          <a:prstGeom prst="rect">
            <a:avLst/>
          </a:prstGeom>
        </p:spPr>
      </p:pic>
      <p:sp>
        <p:nvSpPr>
          <p:cNvPr id="6" name="Footer Placeholder 4">
            <a:extLst>
              <a:ext uri="{FF2B5EF4-FFF2-40B4-BE49-F238E27FC236}">
                <a16:creationId xmlns:a16="http://schemas.microsoft.com/office/drawing/2014/main" id="{9EB9171F-77B6-187E-388F-2AD31573C6FF}"/>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a:solidFill>
                  <a:schemeClr val="bg1">
                    <a:lumMod val="85000"/>
                  </a:schemeClr>
                </a:solidFill>
              </a:rPr>
              <a:t>Data analysis</a:t>
            </a:r>
            <a:endParaRPr lang="en-GB" sz="1100" noProof="0" dirty="0">
              <a:solidFill>
                <a:schemeClr val="bg1">
                  <a:lumMod val="85000"/>
                </a:schemeClr>
              </a:solidFill>
            </a:endParaRPr>
          </a:p>
        </p:txBody>
      </p:sp>
    </p:spTree>
    <p:extLst>
      <p:ext uri="{BB962C8B-B14F-4D97-AF65-F5344CB8AC3E}">
        <p14:creationId xmlns:p14="http://schemas.microsoft.com/office/powerpoint/2010/main" val="3288213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5BB75-841D-1DA1-E811-A1FD10D6958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E563E5C-E164-59E1-7E64-7A644BBDB9D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s-CO"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s-CO"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25ECC4CD-C33E-DE0E-B264-567EA9EE5F3D}"/>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s-CO"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s-CO"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F44312E8-1933-76AB-C0EB-D25853C18777}"/>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s-CO"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s-CO"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sp>
        <p:nvSpPr>
          <p:cNvPr id="7" name="Título 1">
            <a:extLst>
              <a:ext uri="{FF2B5EF4-FFF2-40B4-BE49-F238E27FC236}">
                <a16:creationId xmlns:a16="http://schemas.microsoft.com/office/drawing/2014/main" id="{89E547CC-309D-9E96-E0F3-A347B3AF2A35}"/>
              </a:ext>
            </a:extLst>
          </p:cNvPr>
          <p:cNvSpPr txBox="1">
            <a:spLocks/>
          </p:cNvSpPr>
          <p:nvPr/>
        </p:nvSpPr>
        <p:spPr>
          <a:xfrm>
            <a:off x="2091472" y="699397"/>
            <a:ext cx="4899878" cy="1338391"/>
          </a:xfrm>
          <a:prstGeom prst="rect">
            <a:avLst/>
          </a:prstGeom>
        </p:spPr>
        <p:txBody>
          <a:bodyPr>
            <a:noAutofit/>
          </a:bodyPr>
          <a:lstStyle>
            <a:defPPr>
              <a:defRPr lang="en-US"/>
            </a:defPPr>
            <a:lvl1pPr marR="0" lvl="0" indent="0" fontAlgn="auto">
              <a:lnSpc>
                <a:spcPct val="80000"/>
              </a:lnSpc>
              <a:spcBef>
                <a:spcPct val="0"/>
              </a:spcBef>
              <a:spcAft>
                <a:spcPts val="0"/>
              </a:spcAft>
              <a:buClrTx/>
              <a:buSzTx/>
              <a:buFontTx/>
              <a:buNone/>
              <a:tabLst/>
              <a:defRPr kumimoji="0" sz="3200" b="1" i="0" u="none" strike="noStrike" cap="none" spc="0" normalizeH="0" baseline="0">
                <a:ln>
                  <a:noFill/>
                </a:ln>
                <a:solidFill>
                  <a:srgbClr val="FF0000"/>
                </a:solidFill>
                <a:effectLst/>
                <a:uLnTx/>
                <a:uFillTx/>
                <a:latin typeface="Aptos SemiBold" panose="020F0502020204030204" pitchFamily="34" charset="0"/>
                <a:ea typeface="+mj-ea"/>
                <a:cs typeface="+mj-cs"/>
              </a:defRPr>
            </a:lvl1pPr>
          </a:lstStyle>
          <a:p>
            <a:r>
              <a:rPr lang="en-US" dirty="0"/>
              <a:t>Replication Crisis and the WEIRD Critique</a:t>
            </a:r>
            <a:endParaRPr lang="es-ES" dirty="0"/>
          </a:p>
        </p:txBody>
      </p:sp>
      <p:sp>
        <p:nvSpPr>
          <p:cNvPr id="9" name="Freeform: Shape 8">
            <a:extLst>
              <a:ext uri="{FF2B5EF4-FFF2-40B4-BE49-F238E27FC236}">
                <a16:creationId xmlns:a16="http://schemas.microsoft.com/office/drawing/2014/main" id="{9F9920B7-5140-358C-B4DB-3142B24C43CF}"/>
              </a:ext>
            </a:extLst>
          </p:cNvPr>
          <p:cNvSpPr/>
          <p:nvPr/>
        </p:nvSpPr>
        <p:spPr>
          <a:xfrm rot="618308">
            <a:off x="1159824" y="1076627"/>
            <a:ext cx="95461" cy="95461"/>
          </a:xfrm>
          <a:custGeom>
            <a:avLst/>
            <a:gdLst>
              <a:gd name="connsiteX0" fmla="*/ 95462 w 95461"/>
              <a:gd name="connsiteY0" fmla="*/ 47731 h 95461"/>
              <a:gd name="connsiteX1" fmla="*/ 47731 w 95461"/>
              <a:gd name="connsiteY1" fmla="*/ 95462 h 95461"/>
              <a:gd name="connsiteX2" fmla="*/ 0 w 95461"/>
              <a:gd name="connsiteY2" fmla="*/ 47731 h 95461"/>
              <a:gd name="connsiteX3" fmla="*/ 47731 w 95461"/>
              <a:gd name="connsiteY3" fmla="*/ 0 h 95461"/>
              <a:gd name="connsiteX4" fmla="*/ 95462 w 95461"/>
              <a:gd name="connsiteY4" fmla="*/ 47731 h 95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61" h="95461">
                <a:moveTo>
                  <a:pt x="95462" y="47731"/>
                </a:moveTo>
                <a:cubicBezTo>
                  <a:pt x="95462" y="74092"/>
                  <a:pt x="74092" y="95462"/>
                  <a:pt x="47731" y="95462"/>
                </a:cubicBezTo>
                <a:cubicBezTo>
                  <a:pt x="21370" y="95462"/>
                  <a:pt x="0" y="74092"/>
                  <a:pt x="0" y="47731"/>
                </a:cubicBezTo>
                <a:cubicBezTo>
                  <a:pt x="0" y="21370"/>
                  <a:pt x="21370" y="0"/>
                  <a:pt x="47731" y="0"/>
                </a:cubicBezTo>
                <a:cubicBezTo>
                  <a:pt x="74092" y="0"/>
                  <a:pt x="95462" y="21370"/>
                  <a:pt x="95462" y="47731"/>
                </a:cubicBezTo>
                <a:close/>
              </a:path>
            </a:pathLst>
          </a:custGeom>
          <a:solidFill>
            <a:srgbClr val="FFFFFF"/>
          </a:solidFill>
          <a:ln w="2163" cap="flat">
            <a:noFill/>
            <a:prstDash val="solid"/>
            <a:miter/>
          </a:ln>
        </p:spPr>
        <p:txBody>
          <a:bodyPr rtlCol="0" anchor="ctr"/>
          <a:lstStyle/>
          <a:p>
            <a:endParaRPr lang="en-GB"/>
          </a:p>
        </p:txBody>
      </p:sp>
      <p:pic>
        <p:nvPicPr>
          <p:cNvPr id="12" name="Graphic 11" descr="Balloon animal dog">
            <a:extLst>
              <a:ext uri="{FF2B5EF4-FFF2-40B4-BE49-F238E27FC236}">
                <a16:creationId xmlns:a16="http://schemas.microsoft.com/office/drawing/2014/main" id="{1102602A-8132-2190-B9A0-434632279D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1504" y="572848"/>
            <a:ext cx="1129968" cy="1129968"/>
          </a:xfrm>
          <a:prstGeom prst="rect">
            <a:avLst/>
          </a:prstGeom>
        </p:spPr>
      </p:pic>
      <p:sp>
        <p:nvSpPr>
          <p:cNvPr id="14" name="TextBox 13">
            <a:extLst>
              <a:ext uri="{FF2B5EF4-FFF2-40B4-BE49-F238E27FC236}">
                <a16:creationId xmlns:a16="http://schemas.microsoft.com/office/drawing/2014/main" id="{BF325D16-595B-8641-F3D3-63692CA73215}"/>
              </a:ext>
            </a:extLst>
          </p:cNvPr>
          <p:cNvSpPr txBox="1"/>
          <p:nvPr/>
        </p:nvSpPr>
        <p:spPr>
          <a:xfrm>
            <a:off x="1953581" y="2281376"/>
            <a:ext cx="5467036" cy="830997"/>
          </a:xfrm>
          <a:prstGeom prst="rect">
            <a:avLst/>
          </a:prstGeom>
          <a:noFill/>
        </p:spPr>
        <p:txBody>
          <a:bodyPr wrap="square">
            <a:spAutoFit/>
          </a:bodyPr>
          <a:lstStyle>
            <a:defPPr>
              <a:defRPr lang="en-US"/>
            </a:defPPr>
            <a:lvl1pPr>
              <a:defRPr b="1">
                <a:solidFill>
                  <a:srgbClr val="FF0066"/>
                </a:solidFill>
                <a:latin typeface="Corbel" panose="020B0503020204020204" pitchFamily="34" charset="0"/>
              </a:defRPr>
            </a:lvl1pPr>
          </a:lstStyle>
          <a:p>
            <a:r>
              <a:rPr lang="en-US" sz="1200" dirty="0">
                <a:solidFill>
                  <a:schemeClr val="tx1"/>
                </a:solidFill>
                <a:latin typeface="Open Sans" panose="020B0606030504020204" pitchFamily="34" charset="0"/>
              </a:rPr>
              <a:t>Over the past decade, the fields of psychology and economics have faced a replication crisis:</a:t>
            </a:r>
          </a:p>
          <a:p>
            <a:r>
              <a:rPr lang="en-US" sz="1200" b="0" dirty="0">
                <a:solidFill>
                  <a:schemeClr val="tx1"/>
                </a:solidFill>
                <a:latin typeface="Open Sans" panose="020B0606030504020204" pitchFamily="34" charset="0"/>
              </a:rPr>
              <a:t>While 62% of experimental studies can be replicated, the effect size is typically half that of the original findings.</a:t>
            </a:r>
          </a:p>
        </p:txBody>
      </p:sp>
      <p:sp>
        <p:nvSpPr>
          <p:cNvPr id="15" name="TextBox 14">
            <a:extLst>
              <a:ext uri="{FF2B5EF4-FFF2-40B4-BE49-F238E27FC236}">
                <a16:creationId xmlns:a16="http://schemas.microsoft.com/office/drawing/2014/main" id="{31023AD9-BB99-4462-C517-4C2F9D9590A0}"/>
              </a:ext>
            </a:extLst>
          </p:cNvPr>
          <p:cNvSpPr txBox="1"/>
          <p:nvPr/>
        </p:nvSpPr>
        <p:spPr>
          <a:xfrm>
            <a:off x="7637301" y="2281376"/>
            <a:ext cx="2892425" cy="646331"/>
          </a:xfrm>
          <a:prstGeom prst="rect">
            <a:avLst/>
          </a:prstGeom>
          <a:noFill/>
        </p:spPr>
        <p:txBody>
          <a:bodyPr wrap="square">
            <a:spAutoFit/>
          </a:bodyPr>
          <a:lstStyle/>
          <a:p>
            <a:pPr marL="285750" indent="-285750">
              <a:buFont typeface="Arial" panose="020B0604020202020204" pitchFamily="34" charset="0"/>
              <a:buChar char="•"/>
            </a:pPr>
            <a:r>
              <a:rPr lang="es-ES" sz="1200" b="1" dirty="0">
                <a:solidFill>
                  <a:srgbClr val="FF0000"/>
                </a:solidFill>
                <a:latin typeface="Open Sans" panose="020B0606030504020204" pitchFamily="34" charset="0"/>
              </a:rPr>
              <a:t>File </a:t>
            </a:r>
            <a:r>
              <a:rPr lang="es-ES" sz="1200" b="1" dirty="0" err="1">
                <a:solidFill>
                  <a:srgbClr val="FF0000"/>
                </a:solidFill>
                <a:latin typeface="Open Sans" panose="020B0606030504020204" pitchFamily="34" charset="0"/>
              </a:rPr>
              <a:t>drawer</a:t>
            </a:r>
            <a:r>
              <a:rPr lang="es-ES" sz="1200" b="1" dirty="0">
                <a:solidFill>
                  <a:srgbClr val="FF0000"/>
                </a:solidFill>
                <a:latin typeface="Open Sans" panose="020B0606030504020204" pitchFamily="34" charset="0"/>
              </a:rPr>
              <a:t> </a:t>
            </a:r>
            <a:r>
              <a:rPr lang="es-ES" sz="1200" b="1" dirty="0" err="1">
                <a:solidFill>
                  <a:srgbClr val="FF0000"/>
                </a:solidFill>
                <a:latin typeface="Open Sans" panose="020B0606030504020204" pitchFamily="34" charset="0"/>
              </a:rPr>
              <a:t>studies</a:t>
            </a:r>
            <a:endParaRPr lang="es-ES" sz="1200" b="1" dirty="0">
              <a:solidFill>
                <a:srgbClr val="FF0000"/>
              </a:solidFill>
              <a:latin typeface="Open Sans" panose="020B0606030504020204" pitchFamily="34" charset="0"/>
            </a:endParaRPr>
          </a:p>
          <a:p>
            <a:pPr marL="285750" indent="-285750">
              <a:buFont typeface="Arial" panose="020B0604020202020204" pitchFamily="34" charset="0"/>
              <a:buChar char="•"/>
            </a:pPr>
            <a:r>
              <a:rPr lang="es-ES" sz="1200" b="1" dirty="0" err="1">
                <a:solidFill>
                  <a:srgbClr val="FF0000"/>
                </a:solidFill>
                <a:latin typeface="Open Sans" panose="020B0606030504020204" pitchFamily="34" charset="0"/>
              </a:rPr>
              <a:t>Dependence</a:t>
            </a:r>
            <a:r>
              <a:rPr lang="es-ES" sz="1200" b="1" dirty="0">
                <a:solidFill>
                  <a:srgbClr val="FF0000"/>
                </a:solidFill>
                <a:latin typeface="Open Sans" panose="020B0606030504020204" pitchFamily="34" charset="0"/>
              </a:rPr>
              <a:t> </a:t>
            </a:r>
            <a:r>
              <a:rPr lang="es-ES" sz="1200" b="1" dirty="0" err="1">
                <a:solidFill>
                  <a:srgbClr val="FF0000"/>
                </a:solidFill>
                <a:latin typeface="Open Sans" panose="020B0606030504020204" pitchFamily="34" charset="0"/>
              </a:rPr>
              <a:t>on</a:t>
            </a:r>
            <a:r>
              <a:rPr lang="es-ES" sz="1200" b="1" dirty="0">
                <a:solidFill>
                  <a:srgbClr val="FF0000"/>
                </a:solidFill>
                <a:latin typeface="Open Sans" panose="020B0606030504020204" pitchFamily="34" charset="0"/>
              </a:rPr>
              <a:t> </a:t>
            </a:r>
            <a:r>
              <a:rPr lang="es-ES" sz="1200" b="1" dirty="0" err="1">
                <a:solidFill>
                  <a:srgbClr val="FF0000"/>
                </a:solidFill>
                <a:latin typeface="Open Sans" panose="020B0606030504020204" pitchFamily="34" charset="0"/>
              </a:rPr>
              <a:t>statistical</a:t>
            </a:r>
            <a:r>
              <a:rPr lang="es-ES" sz="1200" b="1" dirty="0">
                <a:solidFill>
                  <a:srgbClr val="FF0000"/>
                </a:solidFill>
                <a:latin typeface="Open Sans" panose="020B0606030504020204" pitchFamily="34" charset="0"/>
              </a:rPr>
              <a:t> </a:t>
            </a:r>
            <a:r>
              <a:rPr lang="es-ES" sz="1200" b="1" dirty="0" err="1">
                <a:solidFill>
                  <a:srgbClr val="FF0000"/>
                </a:solidFill>
                <a:latin typeface="Open Sans" panose="020B0606030504020204" pitchFamily="34" charset="0"/>
              </a:rPr>
              <a:t>significance</a:t>
            </a:r>
            <a:endParaRPr lang="es-ES" sz="1200" b="1" dirty="0">
              <a:solidFill>
                <a:srgbClr val="FF0000"/>
              </a:solidFill>
              <a:latin typeface="Open Sans" panose="020B0606030504020204" pitchFamily="34" charset="0"/>
            </a:endParaRPr>
          </a:p>
        </p:txBody>
      </p:sp>
      <p:sp>
        <p:nvSpPr>
          <p:cNvPr id="17" name="TextBox 16">
            <a:extLst>
              <a:ext uri="{FF2B5EF4-FFF2-40B4-BE49-F238E27FC236}">
                <a16:creationId xmlns:a16="http://schemas.microsoft.com/office/drawing/2014/main" id="{1AC4E0C2-7CDA-A7B7-208F-AD9C88AEBC4E}"/>
              </a:ext>
            </a:extLst>
          </p:cNvPr>
          <p:cNvSpPr txBox="1"/>
          <p:nvPr/>
        </p:nvSpPr>
        <p:spPr>
          <a:xfrm>
            <a:off x="7637301" y="3020040"/>
            <a:ext cx="3229739" cy="461665"/>
          </a:xfrm>
          <a:prstGeom prst="rect">
            <a:avLst/>
          </a:prstGeom>
          <a:noFill/>
        </p:spPr>
        <p:txBody>
          <a:bodyPr wrap="square">
            <a:spAutoFit/>
          </a:bodyPr>
          <a:lstStyle>
            <a:defPPr>
              <a:defRPr lang="en-US"/>
            </a:defPPr>
            <a:lvl1pPr marL="285750" indent="-285750">
              <a:buFont typeface="Arial" panose="020B0604020202020204" pitchFamily="34" charset="0"/>
              <a:buChar char="•"/>
              <a:defRPr b="1">
                <a:solidFill>
                  <a:srgbClr val="FF0066"/>
                </a:solidFill>
                <a:latin typeface="Corbel" panose="020B0503020204020204" pitchFamily="34" charset="0"/>
              </a:defRPr>
            </a:lvl1pPr>
          </a:lstStyle>
          <a:p>
            <a:r>
              <a:rPr lang="es-CO" sz="1200" dirty="0" err="1">
                <a:solidFill>
                  <a:schemeClr val="tx1"/>
                </a:solidFill>
                <a:latin typeface="Open Sans" panose="020B0606030504020204" pitchFamily="34" charset="0"/>
              </a:rPr>
              <a:t>Pre-registration</a:t>
            </a:r>
            <a:r>
              <a:rPr lang="es-CO" sz="1200" dirty="0">
                <a:solidFill>
                  <a:schemeClr val="tx1"/>
                </a:solidFill>
                <a:latin typeface="Open Sans" panose="020B0606030504020204" pitchFamily="34" charset="0"/>
              </a:rPr>
              <a:t> </a:t>
            </a:r>
            <a:r>
              <a:rPr lang="es-CO" sz="1200" dirty="0" err="1">
                <a:solidFill>
                  <a:schemeClr val="tx1"/>
                </a:solidFill>
                <a:latin typeface="Open Sans" panose="020B0606030504020204" pitchFamily="34" charset="0"/>
              </a:rPr>
              <a:t>of</a:t>
            </a:r>
            <a:r>
              <a:rPr lang="es-CO" sz="1200" dirty="0">
                <a:solidFill>
                  <a:schemeClr val="tx1"/>
                </a:solidFill>
                <a:latin typeface="Open Sans" panose="020B0606030504020204" pitchFamily="34" charset="0"/>
              </a:rPr>
              <a:t> </a:t>
            </a:r>
            <a:r>
              <a:rPr lang="es-CO" sz="1200" dirty="0" err="1">
                <a:solidFill>
                  <a:schemeClr val="tx1"/>
                </a:solidFill>
                <a:latin typeface="Open Sans" panose="020B0606030504020204" pitchFamily="34" charset="0"/>
              </a:rPr>
              <a:t>analyses</a:t>
            </a:r>
            <a:endParaRPr lang="es-CO" sz="1200" dirty="0">
              <a:solidFill>
                <a:schemeClr val="tx1"/>
              </a:solidFill>
              <a:latin typeface="Open Sans" panose="020B0606030504020204" pitchFamily="34" charset="0"/>
            </a:endParaRPr>
          </a:p>
          <a:p>
            <a:r>
              <a:rPr lang="es-CO" sz="1200" dirty="0">
                <a:solidFill>
                  <a:schemeClr val="tx1"/>
                </a:solidFill>
                <a:latin typeface="Open Sans" panose="020B0606030504020204" pitchFamily="34" charset="0"/>
              </a:rPr>
              <a:t>Publishing </a:t>
            </a:r>
            <a:r>
              <a:rPr lang="es-CO" sz="1200" dirty="0" err="1">
                <a:solidFill>
                  <a:schemeClr val="tx1"/>
                </a:solidFill>
                <a:latin typeface="Open Sans" panose="020B0606030504020204" pitchFamily="34" charset="0"/>
              </a:rPr>
              <a:t>all</a:t>
            </a:r>
            <a:r>
              <a:rPr lang="es-CO" sz="1200" dirty="0">
                <a:solidFill>
                  <a:schemeClr val="tx1"/>
                </a:solidFill>
                <a:latin typeface="Open Sans" panose="020B0606030504020204" pitchFamily="34" charset="0"/>
              </a:rPr>
              <a:t> </a:t>
            </a:r>
            <a:r>
              <a:rPr lang="es-CO" sz="1200" dirty="0" err="1">
                <a:solidFill>
                  <a:schemeClr val="tx1"/>
                </a:solidFill>
                <a:latin typeface="Open Sans" panose="020B0606030504020204" pitchFamily="34" charset="0"/>
              </a:rPr>
              <a:t>results</a:t>
            </a:r>
            <a:endParaRPr lang="es-CO" sz="1200" b="0" dirty="0">
              <a:solidFill>
                <a:schemeClr val="tx1"/>
              </a:solidFill>
              <a:latin typeface="Open Sans" panose="020B0606030504020204" pitchFamily="34" charset="0"/>
            </a:endParaRPr>
          </a:p>
        </p:txBody>
      </p:sp>
      <p:pic>
        <p:nvPicPr>
          <p:cNvPr id="18" name="Picture 2" descr="The Weirdest People in the World by Joseph Henrich - Penguin Books ...">
            <a:extLst>
              <a:ext uri="{FF2B5EF4-FFF2-40B4-BE49-F238E27FC236}">
                <a16:creationId xmlns:a16="http://schemas.microsoft.com/office/drawing/2014/main" id="{81E2E394-6B94-F144-9246-9C3EB91F0E0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83718" y="3556787"/>
            <a:ext cx="1147017" cy="17715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A person with his arms crossed&#10;&#10;Description automatically generated">
            <a:extLst>
              <a:ext uri="{FF2B5EF4-FFF2-40B4-BE49-F238E27FC236}">
                <a16:creationId xmlns:a16="http://schemas.microsoft.com/office/drawing/2014/main" id="{9A0DBB93-F92A-496F-C6B0-C983D58E14BA}"/>
              </a:ext>
            </a:extLst>
          </p:cNvPr>
          <p:cNvPicPr>
            <a:picLocks/>
          </p:cNvPicPr>
          <p:nvPr/>
        </p:nvPicPr>
        <p:blipFill rotWithShape="1">
          <a:blip r:embed="rId5" cstate="print">
            <a:extLst>
              <a:ext uri="{28A0092B-C50C-407E-A947-70E740481C1C}">
                <a14:useLocalDpi xmlns:a14="http://schemas.microsoft.com/office/drawing/2010/main" val="0"/>
              </a:ext>
            </a:extLst>
          </a:blip>
          <a:srcRect l="36111" t="-3571" r="13889" b="39285"/>
          <a:stretch/>
        </p:blipFill>
        <p:spPr>
          <a:xfrm>
            <a:off x="2064580" y="3265366"/>
            <a:ext cx="822960" cy="822960"/>
          </a:xfrm>
          <a:prstGeom prst="ellipse">
            <a:avLst/>
          </a:prstGeom>
          <a:solidFill>
            <a:srgbClr val="E5AB26"/>
          </a:solidFill>
        </p:spPr>
      </p:pic>
      <p:sp>
        <p:nvSpPr>
          <p:cNvPr id="20" name="TextBox 19">
            <a:extLst>
              <a:ext uri="{FF2B5EF4-FFF2-40B4-BE49-F238E27FC236}">
                <a16:creationId xmlns:a16="http://schemas.microsoft.com/office/drawing/2014/main" id="{D94385F8-0C2E-8E55-C6EA-8FE7BF076410}"/>
              </a:ext>
            </a:extLst>
          </p:cNvPr>
          <p:cNvSpPr txBox="1"/>
          <p:nvPr/>
        </p:nvSpPr>
        <p:spPr>
          <a:xfrm>
            <a:off x="4049873" y="3765160"/>
            <a:ext cx="5882953" cy="830997"/>
          </a:xfrm>
          <a:prstGeom prst="rect">
            <a:avLst/>
          </a:prstGeom>
          <a:noFill/>
        </p:spPr>
        <p:txBody>
          <a:bodyPr wrap="square">
            <a:spAutoFit/>
          </a:bodyPr>
          <a:lstStyle>
            <a:defPPr>
              <a:defRPr lang="en-US"/>
            </a:defPPr>
            <a:lvl1pPr>
              <a:defRPr b="1">
                <a:solidFill>
                  <a:srgbClr val="FF0066"/>
                </a:solidFill>
                <a:latin typeface="Corbel" panose="020B0503020204020204" pitchFamily="34" charset="0"/>
              </a:defRPr>
            </a:lvl1pPr>
          </a:lstStyle>
          <a:p>
            <a:r>
              <a:rPr lang="en-US" sz="1200" dirty="0">
                <a:solidFill>
                  <a:srgbClr val="FF0000"/>
                </a:solidFill>
                <a:latin typeface="Open Sans" panose="020B0606030504020204" pitchFamily="34" charset="0"/>
              </a:rPr>
              <a:t>WEIRD populations, Western, Educated, </a:t>
            </a:r>
            <a:r>
              <a:rPr lang="en-US" sz="1200" dirty="0" err="1">
                <a:solidFill>
                  <a:srgbClr val="FF0000"/>
                </a:solidFill>
                <a:latin typeface="Open Sans" panose="020B0606030504020204" pitchFamily="34" charset="0"/>
              </a:rPr>
              <a:t>Industrialised</a:t>
            </a:r>
            <a:r>
              <a:rPr lang="en-US" sz="1200" dirty="0">
                <a:solidFill>
                  <a:srgbClr val="FF0000"/>
                </a:solidFill>
                <a:latin typeface="Open Sans" panose="020B0606030504020204" pitchFamily="34" charset="0"/>
              </a:rPr>
              <a:t>, Rich, and Democratic,  have a unique conception of individualism.</a:t>
            </a:r>
          </a:p>
          <a:p>
            <a:r>
              <a:rPr lang="en-US" sz="1200" b="0" dirty="0">
                <a:solidFill>
                  <a:schemeClr val="tx1"/>
                </a:solidFill>
                <a:latin typeface="Open Sans" panose="020B0606030504020204" pitchFamily="34" charset="0"/>
              </a:rPr>
              <a:t>This has significantly shaped Western culture and the systematic evidence surrounding </a:t>
            </a:r>
            <a:r>
              <a:rPr lang="en-US" sz="1200" b="0" dirty="0" err="1">
                <a:solidFill>
                  <a:schemeClr val="tx1"/>
                </a:solidFill>
                <a:latin typeface="Open Sans" panose="020B0606030504020204" pitchFamily="34" charset="0"/>
              </a:rPr>
              <a:t>behavioural</a:t>
            </a:r>
            <a:r>
              <a:rPr lang="en-US" sz="1200" b="0" dirty="0">
                <a:solidFill>
                  <a:schemeClr val="tx1"/>
                </a:solidFill>
                <a:latin typeface="Open Sans" panose="020B0606030504020204" pitchFamily="34" charset="0"/>
              </a:rPr>
              <a:t> change.</a:t>
            </a:r>
          </a:p>
        </p:txBody>
      </p:sp>
      <p:sp>
        <p:nvSpPr>
          <p:cNvPr id="3" name="Footer Placeholder 4">
            <a:extLst>
              <a:ext uri="{FF2B5EF4-FFF2-40B4-BE49-F238E27FC236}">
                <a16:creationId xmlns:a16="http://schemas.microsoft.com/office/drawing/2014/main" id="{40E72A52-0C4B-AE58-396D-AB6056242D41}"/>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a:solidFill>
                  <a:schemeClr val="bg1">
                    <a:lumMod val="85000"/>
                  </a:schemeClr>
                </a:solidFill>
              </a:rPr>
              <a:t>Data analysis</a:t>
            </a:r>
            <a:endParaRPr lang="en-GB" sz="1100" noProof="0" dirty="0">
              <a:solidFill>
                <a:schemeClr val="bg1">
                  <a:lumMod val="85000"/>
                </a:schemeClr>
              </a:solidFill>
            </a:endParaRPr>
          </a:p>
        </p:txBody>
      </p:sp>
    </p:spTree>
    <p:extLst>
      <p:ext uri="{BB962C8B-B14F-4D97-AF65-F5344CB8AC3E}">
        <p14:creationId xmlns:p14="http://schemas.microsoft.com/office/powerpoint/2010/main" val="37747966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5" grpId="0"/>
      <p:bldP spid="17" grpId="0"/>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867D-EDC4-F273-AF23-D2C06DD9D4B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94A59AA-0597-5193-4C4C-BEC6092E2B4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s-CO"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s-CO"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4C9523E7-6AFF-A760-3EF4-2FC0BF5D4D96}"/>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s-CO"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s-CO"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0A5E3D99-2954-3613-5423-B454F5496708}"/>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s-CO"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s-CO" sz="1200" b="0" i="0" u="none" strike="noStrike" kern="1200" cap="none" spc="0" normalizeH="0" baseline="0" noProof="0" dirty="0">
              <a:ln>
                <a:noFill/>
              </a:ln>
              <a:solidFill>
                <a:prstClr val="black">
                  <a:lumMod val="50000"/>
                  <a:lumOff val="50000"/>
                </a:prstClr>
              </a:solidFill>
              <a:effectLst/>
              <a:uLnTx/>
              <a:uFillTx/>
              <a:latin typeface="Aptos" panose="020B0004020202020204"/>
              <a:ea typeface="+mn-ea"/>
              <a:cs typeface="+mn-cs"/>
            </a:endParaRPr>
          </a:p>
        </p:txBody>
      </p:sp>
      <p:sp>
        <p:nvSpPr>
          <p:cNvPr id="7" name="Título 1">
            <a:extLst>
              <a:ext uri="{FF2B5EF4-FFF2-40B4-BE49-F238E27FC236}">
                <a16:creationId xmlns:a16="http://schemas.microsoft.com/office/drawing/2014/main" id="{DDA84401-6BC8-7013-0AFF-01A3B51A7AAA}"/>
              </a:ext>
            </a:extLst>
          </p:cNvPr>
          <p:cNvSpPr txBox="1">
            <a:spLocks/>
          </p:cNvSpPr>
          <p:nvPr/>
        </p:nvSpPr>
        <p:spPr>
          <a:xfrm>
            <a:off x="2091472" y="699397"/>
            <a:ext cx="4899878" cy="1338391"/>
          </a:xfrm>
          <a:prstGeom prst="rect">
            <a:avLst/>
          </a:prstGeom>
        </p:spPr>
        <p:txBody>
          <a:bodyPr>
            <a:noAutofit/>
          </a:bodyPr>
          <a:lstStyle>
            <a:defPPr>
              <a:defRPr lang="en-US"/>
            </a:defPPr>
            <a:lvl1pPr marR="0" lvl="0" indent="0" fontAlgn="auto">
              <a:lnSpc>
                <a:spcPct val="80000"/>
              </a:lnSpc>
              <a:spcBef>
                <a:spcPct val="0"/>
              </a:spcBef>
              <a:spcAft>
                <a:spcPts val="0"/>
              </a:spcAft>
              <a:buClrTx/>
              <a:buSzTx/>
              <a:buFontTx/>
              <a:buNone/>
              <a:tabLst/>
              <a:defRPr kumimoji="0" sz="3200" b="1" i="0" u="none" strike="noStrike" cap="none" spc="0" normalizeH="0" baseline="0">
                <a:ln>
                  <a:noFill/>
                </a:ln>
                <a:solidFill>
                  <a:srgbClr val="FF0000"/>
                </a:solidFill>
                <a:effectLst/>
                <a:uLnTx/>
                <a:uFillTx/>
                <a:latin typeface="Aptos SemiBold" panose="020F0502020204030204" pitchFamily="34" charset="0"/>
                <a:ea typeface="+mj-ea"/>
                <a:cs typeface="+mj-cs"/>
              </a:defRPr>
            </a:lvl1pPr>
          </a:lstStyle>
          <a:p>
            <a:r>
              <a:rPr lang="es-ES" dirty="0"/>
              <a:t>Be. FM</a:t>
            </a:r>
          </a:p>
        </p:txBody>
      </p:sp>
      <p:sp>
        <p:nvSpPr>
          <p:cNvPr id="9" name="Freeform: Shape 8">
            <a:extLst>
              <a:ext uri="{FF2B5EF4-FFF2-40B4-BE49-F238E27FC236}">
                <a16:creationId xmlns:a16="http://schemas.microsoft.com/office/drawing/2014/main" id="{1CBD6357-5937-D15E-BDAC-B055BEE2E235}"/>
              </a:ext>
            </a:extLst>
          </p:cNvPr>
          <p:cNvSpPr/>
          <p:nvPr/>
        </p:nvSpPr>
        <p:spPr>
          <a:xfrm rot="618308">
            <a:off x="1159824" y="1076627"/>
            <a:ext cx="95461" cy="95461"/>
          </a:xfrm>
          <a:custGeom>
            <a:avLst/>
            <a:gdLst>
              <a:gd name="connsiteX0" fmla="*/ 95462 w 95461"/>
              <a:gd name="connsiteY0" fmla="*/ 47731 h 95461"/>
              <a:gd name="connsiteX1" fmla="*/ 47731 w 95461"/>
              <a:gd name="connsiteY1" fmla="*/ 95462 h 95461"/>
              <a:gd name="connsiteX2" fmla="*/ 0 w 95461"/>
              <a:gd name="connsiteY2" fmla="*/ 47731 h 95461"/>
              <a:gd name="connsiteX3" fmla="*/ 47731 w 95461"/>
              <a:gd name="connsiteY3" fmla="*/ 0 h 95461"/>
              <a:gd name="connsiteX4" fmla="*/ 95462 w 95461"/>
              <a:gd name="connsiteY4" fmla="*/ 47731 h 95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61" h="95461">
                <a:moveTo>
                  <a:pt x="95462" y="47731"/>
                </a:moveTo>
                <a:cubicBezTo>
                  <a:pt x="95462" y="74092"/>
                  <a:pt x="74092" y="95462"/>
                  <a:pt x="47731" y="95462"/>
                </a:cubicBezTo>
                <a:cubicBezTo>
                  <a:pt x="21370" y="95462"/>
                  <a:pt x="0" y="74092"/>
                  <a:pt x="0" y="47731"/>
                </a:cubicBezTo>
                <a:cubicBezTo>
                  <a:pt x="0" y="21370"/>
                  <a:pt x="21370" y="0"/>
                  <a:pt x="47731" y="0"/>
                </a:cubicBezTo>
                <a:cubicBezTo>
                  <a:pt x="74092" y="0"/>
                  <a:pt x="95462" y="21370"/>
                  <a:pt x="95462" y="47731"/>
                </a:cubicBezTo>
                <a:close/>
              </a:path>
            </a:pathLst>
          </a:custGeom>
          <a:solidFill>
            <a:srgbClr val="FFFFFF"/>
          </a:solidFill>
          <a:ln w="2163" cap="flat">
            <a:noFill/>
            <a:prstDash val="solid"/>
            <a:miter/>
          </a:ln>
        </p:spPr>
        <p:txBody>
          <a:bodyPr rtlCol="0" anchor="ctr"/>
          <a:lstStyle/>
          <a:p>
            <a:endParaRPr lang="en-GB"/>
          </a:p>
        </p:txBody>
      </p:sp>
      <p:pic>
        <p:nvPicPr>
          <p:cNvPr id="12" name="Graphic 11" descr="Balloon animal dog">
            <a:extLst>
              <a:ext uri="{FF2B5EF4-FFF2-40B4-BE49-F238E27FC236}">
                <a16:creationId xmlns:a16="http://schemas.microsoft.com/office/drawing/2014/main" id="{5BF1647E-36D1-20D2-94F2-BEC82B9A53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1504" y="572848"/>
            <a:ext cx="1129968" cy="1129968"/>
          </a:xfrm>
          <a:prstGeom prst="rect">
            <a:avLst/>
          </a:prstGeom>
        </p:spPr>
      </p:pic>
      <p:pic>
        <p:nvPicPr>
          <p:cNvPr id="3" name="Picture 2">
            <a:extLst>
              <a:ext uri="{FF2B5EF4-FFF2-40B4-BE49-F238E27FC236}">
                <a16:creationId xmlns:a16="http://schemas.microsoft.com/office/drawing/2014/main" id="{64573D34-6239-BABD-3C2B-C67777AD6825}"/>
              </a:ext>
            </a:extLst>
          </p:cNvPr>
          <p:cNvPicPr>
            <a:picLocks noChangeAspect="1"/>
          </p:cNvPicPr>
          <p:nvPr/>
        </p:nvPicPr>
        <p:blipFill>
          <a:blip r:embed="rId4"/>
          <a:stretch>
            <a:fillRect/>
          </a:stretch>
        </p:blipFill>
        <p:spPr>
          <a:xfrm>
            <a:off x="611724" y="3551893"/>
            <a:ext cx="5010769" cy="1586027"/>
          </a:xfrm>
          <a:prstGeom prst="rect">
            <a:avLst/>
          </a:prstGeom>
        </p:spPr>
      </p:pic>
      <p:sp>
        <p:nvSpPr>
          <p:cNvPr id="6" name="Footer Placeholder 1">
            <a:extLst>
              <a:ext uri="{FF2B5EF4-FFF2-40B4-BE49-F238E27FC236}">
                <a16:creationId xmlns:a16="http://schemas.microsoft.com/office/drawing/2014/main" id="{79A33C52-94A5-1084-94F9-AC9181F82814}"/>
              </a:ext>
            </a:extLst>
          </p:cNvPr>
          <p:cNvSpPr txBox="1">
            <a:spLocks/>
          </p:cNvSpPr>
          <p:nvPr/>
        </p:nvSpPr>
        <p:spPr>
          <a:xfrm>
            <a:off x="1218406" y="5279691"/>
            <a:ext cx="318135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700" b="1" dirty="0">
                <a:solidFill>
                  <a:srgbClr val="00B0F0"/>
                </a:solidFill>
              </a:rPr>
              <a:t>Taken from: </a:t>
            </a:r>
            <a:r>
              <a:rPr lang="en-US" sz="700" dirty="0">
                <a:solidFill>
                  <a:srgbClr val="00B0F0"/>
                </a:solidFill>
              </a:rPr>
              <a:t>Using language models to decipher the motivation behind human behaviors</a:t>
            </a:r>
          </a:p>
          <a:p>
            <a:pPr algn="l"/>
            <a:r>
              <a:rPr lang="en-US" sz="700" dirty="0">
                <a:solidFill>
                  <a:srgbClr val="00B0F0"/>
                </a:solidFill>
              </a:rPr>
              <a:t>Y Xie, Q Mei, W Yuan, MO Jackson - </a:t>
            </a:r>
            <a:r>
              <a:rPr lang="en-US" sz="700" dirty="0" err="1">
                <a:solidFill>
                  <a:srgbClr val="00B0F0"/>
                </a:solidFill>
              </a:rPr>
              <a:t>arXiv</a:t>
            </a:r>
            <a:r>
              <a:rPr lang="en-US" sz="700" dirty="0">
                <a:solidFill>
                  <a:srgbClr val="00B0F0"/>
                </a:solidFill>
              </a:rPr>
              <a:t> preprint arXiv:2503.15752, 2025</a:t>
            </a:r>
          </a:p>
          <a:p>
            <a:pPr algn="l"/>
            <a:r>
              <a:rPr lang="en-US" sz="700" dirty="0">
                <a:solidFill>
                  <a:srgbClr val="00B0F0"/>
                </a:solidFill>
              </a:rPr>
              <a:t>Cited by 2 Related articles All 3 versions</a:t>
            </a:r>
          </a:p>
        </p:txBody>
      </p:sp>
      <p:graphicFrame>
        <p:nvGraphicFramePr>
          <p:cNvPr id="8" name="Table 7">
            <a:extLst>
              <a:ext uri="{FF2B5EF4-FFF2-40B4-BE49-F238E27FC236}">
                <a16:creationId xmlns:a16="http://schemas.microsoft.com/office/drawing/2014/main" id="{D1800943-0661-510D-4CD7-C274830BFAC8}"/>
              </a:ext>
            </a:extLst>
          </p:cNvPr>
          <p:cNvGraphicFramePr>
            <a:graphicFrameLocks noGrp="1"/>
          </p:cNvGraphicFramePr>
          <p:nvPr>
            <p:extLst>
              <p:ext uri="{D42A27DB-BD31-4B8C-83A1-F6EECF244321}">
                <p14:modId xmlns:p14="http://schemas.microsoft.com/office/powerpoint/2010/main" val="3233353983"/>
              </p:ext>
            </p:extLst>
          </p:nvPr>
        </p:nvGraphicFramePr>
        <p:xfrm>
          <a:off x="5790337" y="1495486"/>
          <a:ext cx="5435598" cy="4420931"/>
        </p:xfrm>
        <a:graphic>
          <a:graphicData uri="http://schemas.openxmlformats.org/drawingml/2006/table">
            <a:tbl>
              <a:tblPr/>
              <a:tblGrid>
                <a:gridCol w="1327150">
                  <a:extLst>
                    <a:ext uri="{9D8B030D-6E8A-4147-A177-3AD203B41FA5}">
                      <a16:colId xmlns:a16="http://schemas.microsoft.com/office/drawing/2014/main" val="2471935125"/>
                    </a:ext>
                  </a:extLst>
                </a:gridCol>
                <a:gridCol w="2296582">
                  <a:extLst>
                    <a:ext uri="{9D8B030D-6E8A-4147-A177-3AD203B41FA5}">
                      <a16:colId xmlns:a16="http://schemas.microsoft.com/office/drawing/2014/main" val="1244524485"/>
                    </a:ext>
                  </a:extLst>
                </a:gridCol>
                <a:gridCol w="1811866">
                  <a:extLst>
                    <a:ext uri="{9D8B030D-6E8A-4147-A177-3AD203B41FA5}">
                      <a16:colId xmlns:a16="http://schemas.microsoft.com/office/drawing/2014/main" val="4188469776"/>
                    </a:ext>
                  </a:extLst>
                </a:gridCol>
              </a:tblGrid>
              <a:tr h="159682">
                <a:tc>
                  <a:txBody>
                    <a:bodyPr/>
                    <a:lstStyle/>
                    <a:p>
                      <a:pPr>
                        <a:buNone/>
                      </a:pPr>
                      <a:r>
                        <a:rPr lang="es-CO" sz="900" b="1" noProof="0" dirty="0">
                          <a:latin typeface="+mj-lt"/>
                        </a:rPr>
                        <a:t>Capacidad</a:t>
                      </a:r>
                      <a:endParaRPr lang="es-CO" sz="900" noProof="0" dirty="0">
                        <a:latin typeface="+mj-lt"/>
                      </a:endParaRPr>
                    </a:p>
                  </a:txBody>
                  <a:tcPr marL="39921" marR="39921" marT="19960" marB="1996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s-CO" sz="900" b="1" noProof="0" dirty="0" err="1">
                          <a:latin typeface="+mj-lt"/>
                        </a:rPr>
                        <a:t>Task</a:t>
                      </a:r>
                      <a:endParaRPr lang="es-CO" sz="900" noProof="0" dirty="0">
                        <a:latin typeface="+mj-lt"/>
                      </a:endParaRPr>
                    </a:p>
                  </a:txBody>
                  <a:tcPr marL="39921" marR="39921" marT="19960" marB="1996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s-CO" sz="900" b="1" noProof="0" dirty="0" err="1">
                          <a:latin typeface="+mj-lt"/>
                        </a:rPr>
                        <a:t>Evaluation</a:t>
                      </a:r>
                      <a:r>
                        <a:rPr lang="es-CO" sz="900" b="1" noProof="0" dirty="0">
                          <a:latin typeface="+mj-lt"/>
                        </a:rPr>
                        <a:t> Data</a:t>
                      </a:r>
                      <a:endParaRPr lang="es-CO" sz="900" noProof="0" dirty="0">
                        <a:latin typeface="+mj-lt"/>
                      </a:endParaRPr>
                    </a:p>
                  </a:txBody>
                  <a:tcPr marL="39921" marR="39921" marT="19960" marB="1996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3972936"/>
                  </a:ext>
                </a:extLst>
              </a:tr>
              <a:tr h="878252">
                <a:tc>
                  <a:txBody>
                    <a:bodyPr/>
                    <a:lstStyle/>
                    <a:p>
                      <a:pPr>
                        <a:buNone/>
                      </a:pPr>
                      <a:r>
                        <a:rPr lang="en-US" sz="900" dirty="0" err="1"/>
                        <a:t>Capabilitynd</a:t>
                      </a:r>
                      <a:r>
                        <a:rPr lang="en-US" sz="900" dirty="0"/>
                        <a:t> simulate </a:t>
                      </a:r>
                      <a:r>
                        <a:rPr lang="en-US" sz="900" dirty="0" err="1"/>
                        <a:t>behaviour</a:t>
                      </a:r>
                      <a:endParaRPr lang="es-CO" sz="900" noProof="0" dirty="0">
                        <a:latin typeface="+mj-lt"/>
                      </a:endParaRPr>
                    </a:p>
                  </a:txBody>
                  <a:tcPr marL="39921" marR="39921" marT="19960" marB="19960" anchor="ctr">
                    <a:lnL>
                      <a:noFill/>
                    </a:lnL>
                    <a:lnR>
                      <a:noFill/>
                    </a:lnR>
                    <a:lnT w="1270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marL="0" indent="0">
                        <a:buFont typeface="Arial" panose="020B0604020202020204" pitchFamily="34" charset="0"/>
                        <a:buNone/>
                      </a:pPr>
                      <a:r>
                        <a:rPr lang="en-US" sz="800" noProof="0" dirty="0">
                          <a:latin typeface="+mj-lt"/>
                        </a:rPr>
                        <a:t>Predict </a:t>
                      </a:r>
                      <a:r>
                        <a:rPr lang="en-US" sz="800" noProof="0" dirty="0" err="1">
                          <a:latin typeface="+mj-lt"/>
                        </a:rPr>
                        <a:t>behaviour</a:t>
                      </a:r>
                      <a:r>
                        <a:rPr lang="en-US" sz="800" noProof="0" dirty="0">
                          <a:latin typeface="+mj-lt"/>
                        </a:rPr>
                        <a:t> in experiments, given one or more of the following: </a:t>
                      </a:r>
                    </a:p>
                    <a:p>
                      <a:pPr marL="0" indent="0">
                        <a:buFont typeface="Arial" panose="020B0604020202020204" pitchFamily="34" charset="0"/>
                        <a:buNone/>
                      </a:pPr>
                      <a:r>
                        <a:rPr lang="en-US" sz="800" noProof="0" dirty="0">
                          <a:latin typeface="+mj-lt"/>
                        </a:rPr>
                        <a:t>• Subject information such as demographics </a:t>
                      </a:r>
                    </a:p>
                    <a:p>
                      <a:pPr marL="0" indent="0">
                        <a:buFont typeface="Arial" panose="020B0604020202020204" pitchFamily="34" charset="0"/>
                        <a:buNone/>
                      </a:pPr>
                      <a:r>
                        <a:rPr lang="en-US" sz="800" noProof="0" dirty="0">
                          <a:latin typeface="+mj-lt"/>
                        </a:rPr>
                        <a:t>• Contexts like experiment design</a:t>
                      </a:r>
                      <a:endParaRPr lang="es-CO" sz="800" noProof="0" dirty="0">
                        <a:latin typeface="+mj-lt"/>
                      </a:endParaRPr>
                    </a:p>
                  </a:txBody>
                  <a:tcPr marL="39921" marR="39921" marT="19960" marB="19960" anchor="ctr">
                    <a:lnL>
                      <a:noFill/>
                    </a:lnL>
                    <a:lnR>
                      <a:noFill/>
                    </a:lnR>
                    <a:lnT w="1270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buNone/>
                      </a:pPr>
                      <a:r>
                        <a:rPr lang="en-US" sz="900" dirty="0"/>
                        <a:t>Human participant records from multiple </a:t>
                      </a:r>
                      <a:r>
                        <a:rPr lang="en-US" sz="900" dirty="0" err="1"/>
                        <a:t>behavioural</a:t>
                      </a:r>
                      <a:r>
                        <a:rPr lang="en-US" sz="900" dirty="0"/>
                        <a:t> economics games in </a:t>
                      </a:r>
                      <a:r>
                        <a:rPr lang="en-US" sz="900" dirty="0" err="1"/>
                        <a:t>MobLab</a:t>
                      </a:r>
                      <a:endParaRPr lang="es-CO" sz="900" noProof="0" dirty="0">
                        <a:latin typeface="+mj-lt"/>
                      </a:endParaRPr>
                    </a:p>
                  </a:txBody>
                  <a:tcPr marL="39921" marR="39921" marT="19960" marB="19960" anchor="ctr">
                    <a:lnL>
                      <a:noFill/>
                    </a:lnL>
                    <a:lnR>
                      <a:noFill/>
                    </a:lnR>
                    <a:lnT w="12700" cap="flat" cmpd="sng" algn="ctr">
                      <a:solidFill>
                        <a:schemeClr val="tx1"/>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341090879"/>
                  </a:ext>
                </a:extLst>
              </a:tr>
              <a:tr h="878252">
                <a:tc>
                  <a:txBody>
                    <a:bodyPr/>
                    <a:lstStyle/>
                    <a:p>
                      <a:pPr>
                        <a:buNone/>
                      </a:pPr>
                      <a:endParaRPr lang="es-CO" sz="900" noProof="0" dirty="0">
                        <a:latin typeface="+mj-lt"/>
                      </a:endParaRPr>
                    </a:p>
                  </a:txBody>
                  <a:tcPr marL="39921" marR="39921" marT="19960" marB="19960" anchor="ctr">
                    <a:lnL>
                      <a:noFill/>
                    </a:lnL>
                    <a:lnR>
                      <a:noFill/>
                    </a:lnR>
                    <a:lnT>
                      <a:noFill/>
                    </a:lnT>
                    <a:lnB>
                      <a:noFill/>
                    </a:lnB>
                    <a:noFill/>
                  </a:tcPr>
                </a:tc>
                <a:tc>
                  <a:txBody>
                    <a:bodyPr/>
                    <a:lstStyle/>
                    <a:p>
                      <a:pPr marL="0" indent="0">
                        <a:buFont typeface="Arial" panose="020B0604020202020204" pitchFamily="34" charset="0"/>
                        <a:buNone/>
                      </a:pPr>
                      <a:r>
                        <a:rPr lang="en-US" sz="800" dirty="0"/>
                        <a:t>Predict survey responses, given one or more of the following: </a:t>
                      </a:r>
                    </a:p>
                    <a:p>
                      <a:pPr marL="0" indent="0">
                        <a:buFont typeface="Arial" panose="020B0604020202020204" pitchFamily="34" charset="0"/>
                        <a:buNone/>
                      </a:pPr>
                      <a:r>
                        <a:rPr lang="en-US" sz="800" dirty="0"/>
                        <a:t>• Subject information such as demographics</a:t>
                      </a:r>
                    </a:p>
                    <a:p>
                      <a:pPr marL="0" indent="0">
                        <a:buFont typeface="Arial" panose="020B0604020202020204" pitchFamily="34" charset="0"/>
                        <a:buNone/>
                      </a:pPr>
                      <a:r>
                        <a:rPr lang="en-US" sz="800" dirty="0"/>
                        <a:t>• Contexts like survey design</a:t>
                      </a:r>
                      <a:endParaRPr lang="es-CO" sz="800" noProof="0" dirty="0">
                        <a:latin typeface="+mj-lt"/>
                      </a:endParaRPr>
                    </a:p>
                  </a:txBody>
                  <a:tcPr marL="39921" marR="39921" marT="19960" marB="19960" anchor="ctr">
                    <a:lnL>
                      <a:noFill/>
                    </a:lnL>
                    <a:lnR>
                      <a:noFill/>
                    </a:lnR>
                    <a:lnT>
                      <a:noFill/>
                    </a:lnT>
                    <a:lnB>
                      <a:noFill/>
                    </a:lnB>
                    <a:noFill/>
                  </a:tcPr>
                </a:tc>
                <a:tc>
                  <a:txBody>
                    <a:bodyPr/>
                    <a:lstStyle/>
                    <a:p>
                      <a:pPr>
                        <a:buNone/>
                      </a:pPr>
                      <a:r>
                        <a:rPr lang="en-US" sz="900" dirty="0"/>
                        <a:t>Responses to the Big Five personality test</a:t>
                      </a:r>
                      <a:endParaRPr lang="es-CO" sz="900" noProof="0" dirty="0">
                        <a:latin typeface="+mj-lt"/>
                      </a:endParaRPr>
                    </a:p>
                  </a:txBody>
                  <a:tcPr marL="39921" marR="39921" marT="19960" marB="19960" anchor="ctr">
                    <a:lnL>
                      <a:noFill/>
                    </a:lnL>
                    <a:lnR>
                      <a:noFill/>
                    </a:lnR>
                    <a:lnT>
                      <a:noFill/>
                    </a:lnT>
                    <a:lnB>
                      <a:noFill/>
                    </a:lnB>
                    <a:noFill/>
                  </a:tcPr>
                </a:tc>
                <a:extLst>
                  <a:ext uri="{0D108BD9-81ED-4DB2-BD59-A6C34878D82A}">
                    <a16:rowId xmlns:a16="http://schemas.microsoft.com/office/drawing/2014/main" val="2861602988"/>
                  </a:ext>
                </a:extLst>
              </a:tr>
              <a:tr h="758490">
                <a:tc>
                  <a:txBody>
                    <a:bodyPr/>
                    <a:lstStyle/>
                    <a:p>
                      <a:pPr>
                        <a:buNone/>
                      </a:pPr>
                      <a:r>
                        <a:rPr lang="en-US" sz="900" dirty="0"/>
                        <a:t>Infer subject characteristics</a:t>
                      </a:r>
                      <a:endParaRPr lang="es-CO" sz="900" noProof="0" dirty="0">
                        <a:latin typeface="+mj-lt"/>
                      </a:endParaRPr>
                    </a:p>
                  </a:txBody>
                  <a:tcPr marL="39921" marR="39921" marT="19960" marB="19960" anchor="ctr">
                    <a:lnL>
                      <a:noFill/>
                    </a:lnL>
                    <a:lnR>
                      <a:noFill/>
                    </a:lnR>
                    <a:lnT>
                      <a:noFill/>
                    </a:lnT>
                    <a:lnB>
                      <a:noFill/>
                    </a:lnB>
                    <a:solidFill>
                      <a:schemeClr val="bg1">
                        <a:lumMod val="95000"/>
                      </a:schemeClr>
                    </a:solidFill>
                  </a:tcPr>
                </a:tc>
                <a:tc>
                  <a:txBody>
                    <a:bodyPr/>
                    <a:lstStyle/>
                    <a:p>
                      <a:pPr marL="0" indent="0">
                        <a:buFont typeface="Arial" panose="020B0604020202020204" pitchFamily="34" charset="0"/>
                        <a:buNone/>
                      </a:pPr>
                      <a:r>
                        <a:rPr lang="en-US" sz="800" dirty="0"/>
                        <a:t>Predict subject demographics, given one or more of the following:</a:t>
                      </a:r>
                    </a:p>
                    <a:p>
                      <a:pPr marL="0" indent="0">
                        <a:buFont typeface="Arial" panose="020B0604020202020204" pitchFamily="34" charset="0"/>
                        <a:buNone/>
                      </a:pPr>
                      <a:r>
                        <a:rPr lang="en-US" sz="800" dirty="0"/>
                        <a:t>• </a:t>
                      </a:r>
                      <a:r>
                        <a:rPr lang="en-US" sz="800" dirty="0" err="1"/>
                        <a:t>Behaviour</a:t>
                      </a:r>
                      <a:r>
                        <a:rPr lang="en-US" sz="800" dirty="0"/>
                        <a:t> in experiments </a:t>
                      </a:r>
                    </a:p>
                    <a:p>
                      <a:pPr marL="0" indent="0">
                        <a:buFont typeface="Arial" panose="020B0604020202020204" pitchFamily="34" charset="0"/>
                        <a:buNone/>
                      </a:pPr>
                      <a:r>
                        <a:rPr lang="en-US" sz="800" dirty="0"/>
                        <a:t>• Survey responses</a:t>
                      </a:r>
                      <a:endParaRPr lang="es-CO" sz="800" noProof="0" dirty="0">
                        <a:latin typeface="+mj-lt"/>
                      </a:endParaRPr>
                    </a:p>
                  </a:txBody>
                  <a:tcPr marL="39921" marR="39921" marT="19960" marB="19960" anchor="ctr">
                    <a:lnL>
                      <a:noFill/>
                    </a:lnL>
                    <a:lnR>
                      <a:noFill/>
                    </a:lnR>
                    <a:lnT>
                      <a:noFill/>
                    </a:lnT>
                    <a:lnB>
                      <a:noFill/>
                    </a:lnB>
                    <a:solidFill>
                      <a:schemeClr val="bg1">
                        <a:lumMod val="95000"/>
                      </a:schemeClr>
                    </a:solidFill>
                  </a:tcPr>
                </a:tc>
                <a:tc>
                  <a:txBody>
                    <a:bodyPr/>
                    <a:lstStyle/>
                    <a:p>
                      <a:pPr>
                        <a:buNone/>
                      </a:pPr>
                      <a:r>
                        <a:rPr lang="en-US" sz="900" dirty="0"/>
                        <a:t>Responses to the Big Five personality test</a:t>
                      </a:r>
                      <a:endParaRPr lang="es-CO" sz="900" noProof="0" dirty="0">
                        <a:latin typeface="+mj-lt"/>
                      </a:endParaRPr>
                    </a:p>
                  </a:txBody>
                  <a:tcPr marL="39921" marR="39921" marT="19960" marB="19960" anchor="ctr">
                    <a:lnL>
                      <a:noFill/>
                    </a:lnL>
                    <a:lnR>
                      <a:noFill/>
                    </a:lnR>
                    <a:lnT>
                      <a:noFill/>
                    </a:lnT>
                    <a:lnB>
                      <a:noFill/>
                    </a:lnB>
                    <a:solidFill>
                      <a:schemeClr val="bg1">
                        <a:lumMod val="95000"/>
                      </a:schemeClr>
                    </a:solidFill>
                  </a:tcPr>
                </a:tc>
                <a:extLst>
                  <a:ext uri="{0D108BD9-81ED-4DB2-BD59-A6C34878D82A}">
                    <a16:rowId xmlns:a16="http://schemas.microsoft.com/office/drawing/2014/main" val="2660452592"/>
                  </a:ext>
                </a:extLst>
              </a:tr>
              <a:tr h="878252">
                <a:tc>
                  <a:txBody>
                    <a:bodyPr/>
                    <a:lstStyle/>
                    <a:p>
                      <a:pPr>
                        <a:buNone/>
                      </a:pPr>
                      <a:r>
                        <a:rPr lang="en-US" sz="900" dirty="0"/>
                        <a:t>Infer contextual factors</a:t>
                      </a:r>
                      <a:endParaRPr lang="es-CO" sz="900" noProof="0" dirty="0">
                        <a:latin typeface="+mj-lt"/>
                      </a:endParaRPr>
                    </a:p>
                  </a:txBody>
                  <a:tcPr marL="39921" marR="39921" marT="19960" marB="19960" anchor="ctr">
                    <a:lnL>
                      <a:noFill/>
                    </a:lnL>
                    <a:lnR>
                      <a:noFill/>
                    </a:lnR>
                    <a:lnT>
                      <a:noFill/>
                    </a:lnT>
                    <a:lnB>
                      <a:noFill/>
                    </a:lnB>
                    <a:noFill/>
                  </a:tcPr>
                </a:tc>
                <a:tc>
                  <a:txBody>
                    <a:bodyPr/>
                    <a:lstStyle/>
                    <a:p>
                      <a:pPr marL="0" indent="0">
                        <a:buFont typeface="Arial" panose="020B0604020202020204" pitchFamily="34" charset="0"/>
                        <a:buNone/>
                      </a:pPr>
                      <a:r>
                        <a:rPr lang="en-US" sz="800" dirty="0"/>
                        <a:t>Predict interventions in experiments, given one or more of the following: </a:t>
                      </a:r>
                    </a:p>
                    <a:p>
                      <a:pPr marL="0" indent="0">
                        <a:buFont typeface="Arial" panose="020B0604020202020204" pitchFamily="34" charset="0"/>
                        <a:buNone/>
                      </a:pPr>
                      <a:r>
                        <a:rPr lang="en-US" sz="800" dirty="0"/>
                        <a:t>• Observed </a:t>
                      </a:r>
                      <a:r>
                        <a:rPr lang="en-US" sz="800" dirty="0" err="1"/>
                        <a:t>behavioural</a:t>
                      </a:r>
                      <a:r>
                        <a:rPr lang="en-US" sz="800" dirty="0"/>
                        <a:t> changes </a:t>
                      </a:r>
                    </a:p>
                    <a:p>
                      <a:pPr marL="0" indent="0">
                        <a:buFont typeface="Arial" panose="020B0604020202020204" pitchFamily="34" charset="0"/>
                        <a:buNone/>
                      </a:pPr>
                      <a:r>
                        <a:rPr lang="en-US" sz="800" dirty="0"/>
                        <a:t>• Subject or population information</a:t>
                      </a:r>
                      <a:endParaRPr lang="es-CO" sz="800" noProof="0" dirty="0">
                        <a:latin typeface="+mj-lt"/>
                      </a:endParaRPr>
                    </a:p>
                  </a:txBody>
                  <a:tcPr marL="39921" marR="39921" marT="19960" marB="19960" anchor="ctr">
                    <a:lnL>
                      <a:noFill/>
                    </a:lnL>
                    <a:lnR>
                      <a:noFill/>
                    </a:lnR>
                    <a:lnT>
                      <a:noFill/>
                    </a:lnT>
                    <a:lnB>
                      <a:noFill/>
                    </a:lnB>
                    <a:noFill/>
                  </a:tcPr>
                </a:tc>
                <a:tc>
                  <a:txBody>
                    <a:bodyPr/>
                    <a:lstStyle/>
                    <a:p>
                      <a:pPr>
                        <a:buNone/>
                      </a:pPr>
                      <a:r>
                        <a:rPr lang="en-US" sz="900" dirty="0"/>
                        <a:t>Meta-analysis of dictator game studies</a:t>
                      </a:r>
                      <a:endParaRPr lang="es-CO" sz="900" noProof="0" dirty="0">
                        <a:latin typeface="+mj-lt"/>
                      </a:endParaRPr>
                    </a:p>
                  </a:txBody>
                  <a:tcPr marL="39921" marR="39921" marT="19960" marB="19960" anchor="ctr">
                    <a:lnL>
                      <a:noFill/>
                    </a:lnL>
                    <a:lnR>
                      <a:noFill/>
                    </a:lnR>
                    <a:lnT>
                      <a:noFill/>
                    </a:lnT>
                    <a:lnB>
                      <a:noFill/>
                    </a:lnB>
                    <a:noFill/>
                  </a:tcPr>
                </a:tc>
                <a:extLst>
                  <a:ext uri="{0D108BD9-81ED-4DB2-BD59-A6C34878D82A}">
                    <a16:rowId xmlns:a16="http://schemas.microsoft.com/office/drawing/2014/main" val="861016004"/>
                  </a:ext>
                </a:extLst>
              </a:tr>
              <a:tr h="399205">
                <a:tc>
                  <a:txBody>
                    <a:bodyPr/>
                    <a:lstStyle/>
                    <a:p>
                      <a:pPr>
                        <a:buNone/>
                      </a:pPr>
                      <a:r>
                        <a:rPr lang="en-US" sz="900" dirty="0"/>
                        <a:t>Apply knowledge in reasoning and problem-solving</a:t>
                      </a:r>
                      <a:endParaRPr lang="es-CO" sz="900" noProof="0" dirty="0">
                        <a:latin typeface="+mj-lt"/>
                      </a:endParaRPr>
                    </a:p>
                  </a:txBody>
                  <a:tcPr marL="39921" marR="39921" marT="19960" marB="19960" anchor="ctr">
                    <a:lnL>
                      <a:noFill/>
                    </a:lnL>
                    <a:lnR>
                      <a:noFill/>
                    </a:lnR>
                    <a:lnT>
                      <a:noFill/>
                    </a:lnT>
                    <a:lnB>
                      <a:noFill/>
                    </a:lnB>
                    <a:solidFill>
                      <a:schemeClr val="bg1">
                        <a:lumMod val="95000"/>
                      </a:schemeClr>
                    </a:solidFill>
                  </a:tcPr>
                </a:tc>
                <a:tc>
                  <a:txBody>
                    <a:bodyPr/>
                    <a:lstStyle/>
                    <a:p>
                      <a:r>
                        <a:rPr lang="en-US" sz="900" dirty="0"/>
                        <a:t>Reasoning within research workflows</a:t>
                      </a:r>
                    </a:p>
                  </a:txBody>
                  <a:tcPr marL="39921" marR="39921" marT="19960" marB="19960" anchor="ctr">
                    <a:lnL>
                      <a:noFill/>
                    </a:lnL>
                    <a:lnR>
                      <a:noFill/>
                    </a:lnR>
                    <a:lnT>
                      <a:noFill/>
                    </a:lnT>
                    <a:lnB>
                      <a:noFill/>
                    </a:lnB>
                    <a:solidFill>
                      <a:schemeClr val="bg1">
                        <a:lumMod val="95000"/>
                      </a:schemeClr>
                    </a:solidFill>
                  </a:tcPr>
                </a:tc>
                <a:tc>
                  <a:txBody>
                    <a:bodyPr/>
                    <a:lstStyle/>
                    <a:p>
                      <a:r>
                        <a:rPr lang="en-US" sz="900" dirty="0"/>
                        <a:t>Publications from the </a:t>
                      </a:r>
                      <a:r>
                        <a:rPr lang="en-US" sz="900" i="1" dirty="0"/>
                        <a:t>American Economic Review</a:t>
                      </a:r>
                      <a:endParaRPr lang="en-US" sz="900" dirty="0"/>
                    </a:p>
                  </a:txBody>
                  <a:tcPr marL="39921" marR="39921" marT="19960" marB="19960" anchor="ctr">
                    <a:lnL>
                      <a:noFill/>
                    </a:lnL>
                    <a:lnR>
                      <a:noFill/>
                    </a:lnR>
                    <a:lnT>
                      <a:noFill/>
                    </a:lnT>
                    <a:lnB>
                      <a:noFill/>
                    </a:lnB>
                    <a:solidFill>
                      <a:schemeClr val="bg1">
                        <a:lumMod val="95000"/>
                      </a:schemeClr>
                    </a:solidFill>
                  </a:tcPr>
                </a:tc>
                <a:extLst>
                  <a:ext uri="{0D108BD9-81ED-4DB2-BD59-A6C34878D82A}">
                    <a16:rowId xmlns:a16="http://schemas.microsoft.com/office/drawing/2014/main" val="3910876018"/>
                  </a:ext>
                </a:extLst>
              </a:tr>
              <a:tr h="399205">
                <a:tc>
                  <a:txBody>
                    <a:bodyPr/>
                    <a:lstStyle/>
                    <a:p>
                      <a:pPr>
                        <a:buNone/>
                      </a:pPr>
                      <a:endParaRPr lang="es-CO" sz="900" noProof="0" dirty="0">
                        <a:latin typeface="+mj-lt"/>
                      </a:endParaRPr>
                    </a:p>
                  </a:txBody>
                  <a:tcPr marL="39921" marR="39921" marT="19960" marB="1996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US" sz="900" dirty="0"/>
                        <a:t>Solving complex problems</a:t>
                      </a:r>
                      <a:endParaRPr lang="es-CO" sz="900" noProof="0" dirty="0">
                        <a:latin typeface="+mj-lt"/>
                      </a:endParaRPr>
                    </a:p>
                  </a:txBody>
                  <a:tcPr marL="39921" marR="39921" marT="19960" marB="1996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buNone/>
                      </a:pPr>
                      <a:r>
                        <a:rPr lang="en-US" sz="900" dirty="0"/>
                        <a:t>Problems from the International Economics Olympiad (IEO)</a:t>
                      </a:r>
                      <a:endParaRPr lang="es-CO" sz="900" noProof="0" dirty="0">
                        <a:latin typeface="+mj-lt"/>
                      </a:endParaRPr>
                    </a:p>
                  </a:txBody>
                  <a:tcPr marL="39921" marR="39921" marT="19960" marB="1996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895189"/>
                  </a:ext>
                </a:extLst>
              </a:tr>
            </a:tbl>
          </a:graphicData>
        </a:graphic>
      </p:graphicFrame>
      <p:sp>
        <p:nvSpPr>
          <p:cNvPr id="22" name="TextBox 21">
            <a:extLst>
              <a:ext uri="{FF2B5EF4-FFF2-40B4-BE49-F238E27FC236}">
                <a16:creationId xmlns:a16="http://schemas.microsoft.com/office/drawing/2014/main" id="{2A92AC4C-1D92-258F-969D-251F028C8E1A}"/>
              </a:ext>
            </a:extLst>
          </p:cNvPr>
          <p:cNvSpPr txBox="1"/>
          <p:nvPr/>
        </p:nvSpPr>
        <p:spPr>
          <a:xfrm>
            <a:off x="1152055" y="2198826"/>
            <a:ext cx="3966045" cy="938719"/>
          </a:xfrm>
          <a:prstGeom prst="rect">
            <a:avLst/>
          </a:prstGeom>
          <a:noFill/>
        </p:spPr>
        <p:txBody>
          <a:bodyPr wrap="square">
            <a:spAutoFit/>
          </a:bodyPr>
          <a:lstStyle/>
          <a:p>
            <a:r>
              <a:rPr lang="en-US" sz="1100" b="1" dirty="0"/>
              <a:t>Be.FM (</a:t>
            </a:r>
            <a:r>
              <a:rPr lang="en-US" sz="1100" b="1" dirty="0" err="1"/>
              <a:t>Behaviour</a:t>
            </a:r>
            <a:r>
              <a:rPr lang="en-US" sz="1100" b="1" dirty="0"/>
              <a:t> Foundation Model) </a:t>
            </a:r>
            <a:r>
              <a:rPr lang="en-US" sz="1100" dirty="0"/>
              <a:t>is a pioneering open-source foundation model developed to understand and simulate human decision-making. It was introduced by researchers from the University of Michigan, Stanford, </a:t>
            </a:r>
            <a:r>
              <a:rPr lang="en-US" sz="1100" dirty="0" err="1"/>
              <a:t>MobLab</a:t>
            </a:r>
            <a:r>
              <a:rPr lang="en-US" sz="1100" dirty="0"/>
              <a:t>, and the Santa Fe Institute.</a:t>
            </a:r>
          </a:p>
        </p:txBody>
      </p:sp>
      <p:sp>
        <p:nvSpPr>
          <p:cNvPr id="24" name="TextBox 23">
            <a:extLst>
              <a:ext uri="{FF2B5EF4-FFF2-40B4-BE49-F238E27FC236}">
                <a16:creationId xmlns:a16="http://schemas.microsoft.com/office/drawing/2014/main" id="{08E97968-389C-B000-7B21-AF41141BCD01}"/>
              </a:ext>
            </a:extLst>
          </p:cNvPr>
          <p:cNvSpPr txBox="1"/>
          <p:nvPr/>
        </p:nvSpPr>
        <p:spPr>
          <a:xfrm>
            <a:off x="5691389" y="1113073"/>
            <a:ext cx="5534546" cy="276999"/>
          </a:xfrm>
          <a:prstGeom prst="rect">
            <a:avLst/>
          </a:prstGeom>
          <a:noFill/>
        </p:spPr>
        <p:txBody>
          <a:bodyPr wrap="square">
            <a:spAutoFit/>
          </a:bodyPr>
          <a:lstStyle/>
          <a:p>
            <a:r>
              <a:rPr lang="es-ES" sz="1200" b="1" dirty="0" err="1"/>
              <a:t>Benchmarks</a:t>
            </a:r>
            <a:r>
              <a:rPr lang="es-ES" sz="1200" b="1" dirty="0"/>
              <a:t>  Be.FM</a:t>
            </a:r>
            <a:endParaRPr lang="en-US" sz="1200" b="1" dirty="0"/>
          </a:p>
        </p:txBody>
      </p:sp>
      <p:sp>
        <p:nvSpPr>
          <p:cNvPr id="2" name="Footer Placeholder 4">
            <a:extLst>
              <a:ext uri="{FF2B5EF4-FFF2-40B4-BE49-F238E27FC236}">
                <a16:creationId xmlns:a16="http://schemas.microsoft.com/office/drawing/2014/main" id="{0D362487-EA3F-10B7-58E5-5FBAFF2546C7}"/>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a:solidFill>
                  <a:schemeClr val="bg1">
                    <a:lumMod val="85000"/>
                  </a:schemeClr>
                </a:solidFill>
              </a:rPr>
              <a:t>Data analysis</a:t>
            </a:r>
            <a:endParaRPr lang="en-GB" sz="1100" noProof="0" dirty="0">
              <a:solidFill>
                <a:schemeClr val="bg1">
                  <a:lumMod val="85000"/>
                </a:schemeClr>
              </a:solidFill>
            </a:endParaRPr>
          </a:p>
        </p:txBody>
      </p:sp>
    </p:spTree>
    <p:extLst>
      <p:ext uri="{BB962C8B-B14F-4D97-AF65-F5344CB8AC3E}">
        <p14:creationId xmlns:p14="http://schemas.microsoft.com/office/powerpoint/2010/main" val="911797571"/>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C31CF-2495-8AA2-A211-A422F2FA597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30D75F-6F3F-92D0-7EC0-6D62188825A9}"/>
              </a:ext>
            </a:extLst>
          </p:cNvPr>
          <p:cNvSpPr>
            <a:spLocks noGrp="1"/>
          </p:cNvSpPr>
          <p:nvPr>
            <p:ph type="sldNum" sz="quarter" idx="12"/>
          </p:nvPr>
        </p:nvSpPr>
        <p:spPr/>
        <p:txBody>
          <a:bodyPr/>
          <a:lstStyle/>
          <a:p>
            <a:fld id="{330EA680-D336-4FF7-8B7A-9848BB0A1C32}" type="slidenum">
              <a:rPr lang="en-GB" noProof="0" smtClean="0"/>
              <a:t>20</a:t>
            </a:fld>
            <a:endParaRPr lang="en-GB" noProof="0" dirty="0"/>
          </a:p>
        </p:txBody>
      </p:sp>
      <p:sp>
        <p:nvSpPr>
          <p:cNvPr id="4" name="Date Placeholder 3">
            <a:extLst>
              <a:ext uri="{FF2B5EF4-FFF2-40B4-BE49-F238E27FC236}">
                <a16:creationId xmlns:a16="http://schemas.microsoft.com/office/drawing/2014/main" id="{64866EB5-013A-4022-B534-14F7C4BC130A}"/>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8" name="Título 1">
            <a:extLst>
              <a:ext uri="{FF2B5EF4-FFF2-40B4-BE49-F238E27FC236}">
                <a16:creationId xmlns:a16="http://schemas.microsoft.com/office/drawing/2014/main" id="{6E9D30B9-5289-6C70-7C11-3DD85AE541B0}"/>
              </a:ext>
            </a:extLst>
          </p:cNvPr>
          <p:cNvSpPr txBox="1">
            <a:spLocks/>
          </p:cNvSpPr>
          <p:nvPr/>
        </p:nvSpPr>
        <p:spPr>
          <a:xfrm>
            <a:off x="891591" y="501650"/>
            <a:ext cx="2994610"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endParaRPr lang="en-GB" sz="3200" b="1" noProof="0" dirty="0">
              <a:solidFill>
                <a:srgbClr val="C01C1B"/>
              </a:solidFill>
              <a:latin typeface="Aptos SemiBold" panose="020F0502020204030204" pitchFamily="34" charset="0"/>
            </a:endParaRPr>
          </a:p>
        </p:txBody>
      </p:sp>
      <p:sp>
        <p:nvSpPr>
          <p:cNvPr id="13" name="TextBox 12">
            <a:extLst>
              <a:ext uri="{FF2B5EF4-FFF2-40B4-BE49-F238E27FC236}">
                <a16:creationId xmlns:a16="http://schemas.microsoft.com/office/drawing/2014/main" id="{18D9149F-47F7-EAAA-E1C9-CABE6CBDA8B7}"/>
              </a:ext>
            </a:extLst>
          </p:cNvPr>
          <p:cNvSpPr txBox="1"/>
          <p:nvPr/>
        </p:nvSpPr>
        <p:spPr>
          <a:xfrm>
            <a:off x="2453939" y="1592620"/>
            <a:ext cx="2966122" cy="328680"/>
          </a:xfrm>
          <a:prstGeom prst="rect">
            <a:avLst/>
          </a:prstGeom>
          <a:noFill/>
        </p:spPr>
        <p:txBody>
          <a:bodyPr wrap="square">
            <a:spAutoFit/>
          </a:bodyPr>
          <a:lstStyle/>
          <a:p>
            <a:pPr>
              <a:lnSpc>
                <a:spcPts val="1800"/>
              </a:lnSpc>
            </a:pPr>
            <a:r>
              <a:rPr lang="en-GB" b="1" dirty="0"/>
              <a:t>And other </a:t>
            </a:r>
            <a:r>
              <a:rPr lang="en-GB" b="1" noProof="0" dirty="0"/>
              <a:t>LLMs</a:t>
            </a:r>
            <a:endParaRPr lang="en-GB" b="1" noProof="0" dirty="0">
              <a:solidFill>
                <a:schemeClr val="accent5"/>
              </a:solidFill>
              <a:latin typeface="Corbel" panose="020B0503020204020204" pitchFamily="34" charset="0"/>
            </a:endParaRPr>
          </a:p>
        </p:txBody>
      </p:sp>
      <p:pic>
        <p:nvPicPr>
          <p:cNvPr id="7" name="Picture 2" descr="Chats genéricos - Inteligencia Artificial - LibGuides at Universidad  Panamericana">
            <a:extLst>
              <a:ext uri="{FF2B5EF4-FFF2-40B4-BE49-F238E27FC236}">
                <a16:creationId xmlns:a16="http://schemas.microsoft.com/office/drawing/2014/main" id="{1E0DFF6E-DD2E-CC3D-C441-D3DF226EA8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1591" y="1464158"/>
            <a:ext cx="1670050" cy="58560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8CF5EE9B-3A8E-A03B-48AB-C9DFBFEBDD4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58402" y="1170845"/>
            <a:ext cx="3397536" cy="4738263"/>
          </a:xfrm>
          <a:prstGeom prst="rect">
            <a:avLst/>
          </a:prstGeom>
          <a:noFill/>
          <a:ln>
            <a:noFill/>
          </a:ln>
        </p:spPr>
      </p:pic>
      <p:sp>
        <p:nvSpPr>
          <p:cNvPr id="12" name="TextBox 11">
            <a:extLst>
              <a:ext uri="{FF2B5EF4-FFF2-40B4-BE49-F238E27FC236}">
                <a16:creationId xmlns:a16="http://schemas.microsoft.com/office/drawing/2014/main" id="{4D822A15-372F-67F6-8368-58545D47280C}"/>
              </a:ext>
            </a:extLst>
          </p:cNvPr>
          <p:cNvSpPr txBox="1"/>
          <p:nvPr/>
        </p:nvSpPr>
        <p:spPr>
          <a:xfrm>
            <a:off x="1036062" y="2469965"/>
            <a:ext cx="6229519" cy="2708434"/>
          </a:xfrm>
          <a:prstGeom prst="rect">
            <a:avLst/>
          </a:prstGeom>
          <a:noFill/>
        </p:spPr>
        <p:txBody>
          <a:bodyPr wrap="square">
            <a:spAutoFit/>
          </a:bodyPr>
          <a:lstStyle/>
          <a:p>
            <a:r>
              <a:rPr lang="en-US" b="1" dirty="0"/>
              <a:t>ChatGPT is a chat-based artificial intelligence system developed by OpenAI that uses Large Language Models (LLMs).</a:t>
            </a:r>
          </a:p>
          <a:p>
            <a:endParaRPr lang="en-US" b="1" dirty="0"/>
          </a:p>
          <a:p>
            <a:pPr marL="285750" indent="-285750">
              <a:buFont typeface="Arial" panose="020B0604020202020204" pitchFamily="34" charset="0"/>
              <a:buChar char="•"/>
            </a:pPr>
            <a:r>
              <a:rPr lang="en-US" sz="1400" dirty="0">
                <a:solidFill>
                  <a:schemeClr val="bg1">
                    <a:lumMod val="65000"/>
                  </a:schemeClr>
                </a:solidFill>
              </a:rPr>
              <a:t>These models are trained on vast amounts of textual data and can generate human-like text, answer questions, and perform other language-related tasks with high accuracy.</a:t>
            </a:r>
          </a:p>
          <a:p>
            <a:pPr marL="285750" indent="-285750">
              <a:buFont typeface="Arial" panose="020B0604020202020204" pitchFamily="34" charset="0"/>
              <a:buChar char="•"/>
            </a:pPr>
            <a:endParaRPr lang="en-US" sz="1400" dirty="0">
              <a:solidFill>
                <a:schemeClr val="bg1">
                  <a:lumMod val="65000"/>
                </a:schemeClr>
              </a:solidFill>
            </a:endParaRPr>
          </a:p>
          <a:p>
            <a:pPr marL="285750" indent="-285750">
              <a:buFont typeface="Arial" panose="020B0604020202020204" pitchFamily="34" charset="0"/>
              <a:buChar char="•"/>
            </a:pPr>
            <a:r>
              <a:rPr lang="en-US" sz="1400" dirty="0">
                <a:solidFill>
                  <a:schemeClr val="bg1">
                    <a:lumMod val="65000"/>
                  </a:schemeClr>
                </a:solidFill>
              </a:rPr>
              <a:t>Although LLMs can articulate coherent responses, they often struggle with factual precision. Moreover, they may lack the ability to provide innovative or creative solutions, or to incorporate situational context effectively</a:t>
            </a:r>
          </a:p>
        </p:txBody>
      </p:sp>
      <p:sp>
        <p:nvSpPr>
          <p:cNvPr id="5" name="Título 1">
            <a:extLst>
              <a:ext uri="{FF2B5EF4-FFF2-40B4-BE49-F238E27FC236}">
                <a16:creationId xmlns:a16="http://schemas.microsoft.com/office/drawing/2014/main" id="{DA741F20-E357-18E4-6909-7CBCAEAB529A}"/>
              </a:ext>
            </a:extLst>
          </p:cNvPr>
          <p:cNvSpPr txBox="1">
            <a:spLocks/>
          </p:cNvSpPr>
          <p:nvPr/>
        </p:nvSpPr>
        <p:spPr>
          <a:xfrm>
            <a:off x="891589" y="501651"/>
            <a:ext cx="3489911"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dirty="0">
                <a:ln>
                  <a:noFill/>
                </a:ln>
                <a:solidFill>
                  <a:srgbClr val="FF0000"/>
                </a:solidFill>
                <a:effectLst/>
                <a:uLnTx/>
                <a:uFillTx/>
                <a:latin typeface="Aptos SemiBold" panose="020F0502020204030204" pitchFamily="34" charset="0"/>
                <a:ea typeface="+mj-ea"/>
                <a:cs typeface="+mj-cs"/>
              </a:rPr>
              <a:t>LLMs</a:t>
            </a:r>
          </a:p>
        </p:txBody>
      </p:sp>
      <p:sp>
        <p:nvSpPr>
          <p:cNvPr id="2" name="Footer Placeholder 4">
            <a:extLst>
              <a:ext uri="{FF2B5EF4-FFF2-40B4-BE49-F238E27FC236}">
                <a16:creationId xmlns:a16="http://schemas.microsoft.com/office/drawing/2014/main" id="{A8416F8D-3571-B8F0-C286-A1ECFA3A60DC}"/>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a:solidFill>
                  <a:schemeClr val="bg1">
                    <a:lumMod val="85000"/>
                  </a:schemeClr>
                </a:solidFill>
              </a:rPr>
              <a:t>Data analysis</a:t>
            </a:r>
            <a:endParaRPr lang="en-GB" sz="1100" noProof="0" dirty="0">
              <a:solidFill>
                <a:schemeClr val="bg1">
                  <a:lumMod val="85000"/>
                </a:schemeClr>
              </a:solidFill>
            </a:endParaRPr>
          </a:p>
        </p:txBody>
      </p:sp>
    </p:spTree>
    <p:extLst>
      <p:ext uri="{BB962C8B-B14F-4D97-AF65-F5344CB8AC3E}">
        <p14:creationId xmlns:p14="http://schemas.microsoft.com/office/powerpoint/2010/main" val="3235386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EAB93-44E2-B612-8C70-947F7B3D093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940A695-B084-5B48-A2C9-441321BDD385}"/>
              </a:ext>
            </a:extLst>
          </p:cNvPr>
          <p:cNvSpPr>
            <a:spLocks noGrp="1"/>
          </p:cNvSpPr>
          <p:nvPr>
            <p:ph type="sldNum" sz="quarter" idx="12"/>
          </p:nvPr>
        </p:nvSpPr>
        <p:spPr/>
        <p:txBody>
          <a:bodyPr/>
          <a:lstStyle/>
          <a:p>
            <a:fld id="{330EA680-D336-4FF7-8B7A-9848BB0A1C32}" type="slidenum">
              <a:rPr lang="en-GB" noProof="0" smtClean="0"/>
              <a:t>21</a:t>
            </a:fld>
            <a:endParaRPr lang="en-GB" noProof="0" dirty="0"/>
          </a:p>
        </p:txBody>
      </p:sp>
      <p:sp>
        <p:nvSpPr>
          <p:cNvPr id="4" name="Date Placeholder 3">
            <a:extLst>
              <a:ext uri="{FF2B5EF4-FFF2-40B4-BE49-F238E27FC236}">
                <a16:creationId xmlns:a16="http://schemas.microsoft.com/office/drawing/2014/main" id="{772569A6-6B5F-64D5-B2A1-09D63594F4E6}"/>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8" name="Título 1">
            <a:extLst>
              <a:ext uri="{FF2B5EF4-FFF2-40B4-BE49-F238E27FC236}">
                <a16:creationId xmlns:a16="http://schemas.microsoft.com/office/drawing/2014/main" id="{27FEC083-118A-0BF5-E8FD-43B6B03497CF}"/>
              </a:ext>
            </a:extLst>
          </p:cNvPr>
          <p:cNvSpPr txBox="1">
            <a:spLocks/>
          </p:cNvSpPr>
          <p:nvPr/>
        </p:nvSpPr>
        <p:spPr>
          <a:xfrm>
            <a:off x="891591" y="501650"/>
            <a:ext cx="2994610"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endParaRPr lang="en-GB" sz="3200" b="1" noProof="0" dirty="0">
              <a:solidFill>
                <a:srgbClr val="C01C1B"/>
              </a:solidFill>
              <a:latin typeface="Aptos SemiBold" panose="020F0502020204030204" pitchFamily="34" charset="0"/>
            </a:endParaRPr>
          </a:p>
        </p:txBody>
      </p:sp>
      <p:sp>
        <p:nvSpPr>
          <p:cNvPr id="5" name="Título 1">
            <a:extLst>
              <a:ext uri="{FF2B5EF4-FFF2-40B4-BE49-F238E27FC236}">
                <a16:creationId xmlns:a16="http://schemas.microsoft.com/office/drawing/2014/main" id="{C14206A4-F774-02AC-99AF-A381D1290A0B}"/>
              </a:ext>
            </a:extLst>
          </p:cNvPr>
          <p:cNvSpPr txBox="1">
            <a:spLocks/>
          </p:cNvSpPr>
          <p:nvPr/>
        </p:nvSpPr>
        <p:spPr>
          <a:xfrm>
            <a:off x="891589" y="501651"/>
            <a:ext cx="3489911"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dirty="0">
                <a:ln>
                  <a:noFill/>
                </a:ln>
                <a:solidFill>
                  <a:srgbClr val="FF0000"/>
                </a:solidFill>
                <a:effectLst/>
                <a:uLnTx/>
                <a:uFillTx/>
                <a:latin typeface="Aptos SemiBold" panose="020F0502020204030204" pitchFamily="34" charset="0"/>
                <a:ea typeface="+mj-ea"/>
                <a:cs typeface="+mj-cs"/>
              </a:rPr>
              <a:t>LLMs</a:t>
            </a:r>
          </a:p>
        </p:txBody>
      </p:sp>
      <p:graphicFrame>
        <p:nvGraphicFramePr>
          <p:cNvPr id="9" name="Table 8">
            <a:extLst>
              <a:ext uri="{FF2B5EF4-FFF2-40B4-BE49-F238E27FC236}">
                <a16:creationId xmlns:a16="http://schemas.microsoft.com/office/drawing/2014/main" id="{2856B1C1-9D85-D13B-7750-B283DB564C7C}"/>
              </a:ext>
            </a:extLst>
          </p:cNvPr>
          <p:cNvGraphicFramePr>
            <a:graphicFrameLocks noGrp="1"/>
          </p:cNvGraphicFramePr>
          <p:nvPr>
            <p:extLst>
              <p:ext uri="{D42A27DB-BD31-4B8C-83A1-F6EECF244321}">
                <p14:modId xmlns:p14="http://schemas.microsoft.com/office/powerpoint/2010/main" val="1466520362"/>
              </p:ext>
            </p:extLst>
          </p:nvPr>
        </p:nvGraphicFramePr>
        <p:xfrm>
          <a:off x="1073150" y="1465545"/>
          <a:ext cx="9836150" cy="3926909"/>
        </p:xfrm>
        <a:graphic>
          <a:graphicData uri="http://schemas.openxmlformats.org/drawingml/2006/table">
            <a:tbl>
              <a:tblPr firstRow="1" firstCol="1" bandRow="1"/>
              <a:tblGrid>
                <a:gridCol w="2004607">
                  <a:extLst>
                    <a:ext uri="{9D8B030D-6E8A-4147-A177-3AD203B41FA5}">
                      <a16:colId xmlns:a16="http://schemas.microsoft.com/office/drawing/2014/main" val="1857281211"/>
                    </a:ext>
                  </a:extLst>
                </a:gridCol>
                <a:gridCol w="5104962">
                  <a:extLst>
                    <a:ext uri="{9D8B030D-6E8A-4147-A177-3AD203B41FA5}">
                      <a16:colId xmlns:a16="http://schemas.microsoft.com/office/drawing/2014/main" val="2669838827"/>
                    </a:ext>
                  </a:extLst>
                </a:gridCol>
                <a:gridCol w="2726581">
                  <a:extLst>
                    <a:ext uri="{9D8B030D-6E8A-4147-A177-3AD203B41FA5}">
                      <a16:colId xmlns:a16="http://schemas.microsoft.com/office/drawing/2014/main" val="3167226911"/>
                    </a:ext>
                  </a:extLst>
                </a:gridCol>
              </a:tblGrid>
              <a:tr h="125438">
                <a:tc>
                  <a:txBody>
                    <a:bodyPr/>
                    <a:lstStyle/>
                    <a:p>
                      <a:pPr marL="0" marR="0">
                        <a:lnSpc>
                          <a:spcPct val="150000"/>
                        </a:lnSpc>
                        <a:buNone/>
                      </a:pPr>
                      <a:r>
                        <a:rPr lang="en-GB" sz="1000" b="1" kern="100" noProof="0" dirty="0">
                          <a:effectLst/>
                          <a:latin typeface="+mj-lt"/>
                          <a:ea typeface="Calibri" panose="020F0502020204030204" pitchFamily="34" charset="0"/>
                          <a:cs typeface="Times New Roman" panose="02020603050405020304" pitchFamily="18" charset="0"/>
                        </a:rPr>
                        <a:t>Need</a:t>
                      </a:r>
                      <a:endParaRPr lang="en-GB" sz="1000" kern="100" noProof="0" dirty="0">
                        <a:effectLst/>
                        <a:latin typeface="+mj-lt"/>
                        <a:ea typeface="Calibri" panose="020F0502020204030204" pitchFamily="34" charset="0"/>
                        <a:cs typeface="Times New Roman" panose="02020603050405020304" pitchFamily="18" charset="0"/>
                      </a:endParaRPr>
                    </a:p>
                  </a:txBody>
                  <a:tcPr marL="40008" marR="4000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
                        <a:lnSpc>
                          <a:spcPct val="150000"/>
                        </a:lnSpc>
                        <a:buNone/>
                      </a:pPr>
                      <a:r>
                        <a:rPr lang="en-GB" sz="1000" b="1" kern="100" noProof="0" dirty="0">
                          <a:effectLst/>
                          <a:latin typeface="+mj-lt"/>
                          <a:ea typeface="Calibri" panose="020F0502020204030204" pitchFamily="34" charset="0"/>
                          <a:cs typeface="Times New Roman" panose="02020603050405020304" pitchFamily="18" charset="0"/>
                        </a:rPr>
                        <a:t>Use </a:t>
                      </a:r>
                      <a:r>
                        <a:rPr lang="en-GB" sz="1000" b="1" kern="100" noProof="0" dirty="0">
                          <a:effectLst/>
                          <a:latin typeface="+mj-lt"/>
                          <a:ea typeface="Calibri" panose="020F0502020204030204" pitchFamily="34" charset="0"/>
                          <a:cs typeface="Segoe UI Emoji" panose="020B0502040204020203" pitchFamily="34" charset="0"/>
                        </a:rPr>
                        <a:t>✅</a:t>
                      </a:r>
                      <a:endParaRPr lang="en-GB" sz="1000" kern="100" noProof="0" dirty="0">
                        <a:effectLst/>
                        <a:latin typeface="+mj-lt"/>
                        <a:ea typeface="Calibri" panose="020F0502020204030204" pitchFamily="34" charset="0"/>
                        <a:cs typeface="Times New Roman" panose="02020603050405020304" pitchFamily="18" charset="0"/>
                      </a:endParaRPr>
                    </a:p>
                  </a:txBody>
                  <a:tcPr marL="40008" marR="40008"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
                        <a:lnSpc>
                          <a:spcPct val="150000"/>
                        </a:lnSpc>
                        <a:buNone/>
                      </a:pPr>
                      <a:r>
                        <a:rPr lang="en-GB" sz="1000" b="1" kern="100" noProof="0" dirty="0">
                          <a:effectLst/>
                          <a:latin typeface="+mj-lt"/>
                          <a:ea typeface="Calibri" panose="020F0502020204030204" pitchFamily="34" charset="0"/>
                          <a:cs typeface="Times New Roman" panose="02020603050405020304" pitchFamily="18" charset="0"/>
                        </a:rPr>
                        <a:t>Misuse </a:t>
                      </a:r>
                      <a:r>
                        <a:rPr lang="en-GB" sz="1000" b="1" kern="100" noProof="0" dirty="0">
                          <a:effectLst/>
                          <a:latin typeface="+mj-lt"/>
                          <a:ea typeface="Calibri" panose="020F0502020204030204" pitchFamily="34" charset="0"/>
                          <a:cs typeface="Segoe UI Emoji" panose="020B0502040204020203" pitchFamily="34" charset="0"/>
                        </a:rPr>
                        <a:t>❌</a:t>
                      </a:r>
                      <a:endParaRPr lang="en-GB" sz="1000" kern="100" noProof="0" dirty="0">
                        <a:effectLst/>
                        <a:latin typeface="+mj-lt"/>
                        <a:ea typeface="Calibri" panose="020F0502020204030204" pitchFamily="34" charset="0"/>
                        <a:cs typeface="Times New Roman" panose="02020603050405020304" pitchFamily="18" charset="0"/>
                      </a:endParaRPr>
                    </a:p>
                  </a:txBody>
                  <a:tcPr marL="40008" marR="40008"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3822032"/>
                  </a:ext>
                </a:extLst>
              </a:tr>
              <a:tr h="1096871">
                <a:tc>
                  <a:txBody>
                    <a:bodyPr/>
                    <a:lstStyle/>
                    <a:p>
                      <a:pPr marL="0" marR="0">
                        <a:lnSpc>
                          <a:spcPct val="150000"/>
                        </a:lnSpc>
                        <a:spcAft>
                          <a:spcPts val="600"/>
                        </a:spcAft>
                        <a:buNone/>
                      </a:pPr>
                      <a:r>
                        <a:rPr lang="en-GB" sz="1000" kern="100" noProof="0" dirty="0">
                          <a:effectLst/>
                          <a:latin typeface="+mj-lt"/>
                          <a:ea typeface="Calibri" panose="020F0502020204030204" pitchFamily="34" charset="0"/>
                          <a:cs typeface="Times New Roman" panose="02020603050405020304" pitchFamily="18" charset="0"/>
                        </a:rPr>
                        <a:t>Set a research question for a paper / writing your research.</a:t>
                      </a:r>
                    </a:p>
                  </a:txBody>
                  <a:tcPr marL="40008" marR="40008"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nSpc>
                          <a:spcPct val="100000"/>
                        </a:lnSpc>
                        <a:buNone/>
                      </a:pPr>
                      <a:r>
                        <a:rPr lang="en-GB" sz="1000" b="1" kern="100" noProof="0" dirty="0">
                          <a:effectLst/>
                          <a:latin typeface="+mj-lt"/>
                          <a:ea typeface="Calibri" panose="020F0502020204030204" pitchFamily="34" charset="0"/>
                          <a:cs typeface="Times New Roman" panose="02020603050405020304" pitchFamily="18" charset="0"/>
                        </a:rPr>
                        <a:t>Sum-up your ideas. </a:t>
                      </a:r>
                      <a:r>
                        <a:rPr lang="en-GB" sz="1000" kern="100" noProof="0" dirty="0">
                          <a:effectLst/>
                          <a:latin typeface="+mj-lt"/>
                          <a:ea typeface="Calibri" panose="020F0502020204030204" pitchFamily="34" charset="0"/>
                          <a:cs typeface="Times New Roman" panose="02020603050405020304" pitchFamily="18" charset="0"/>
                        </a:rPr>
                        <a:t>Ask the chat to generate summaries and outlines of texts you have already written on ideas over your research interest.</a:t>
                      </a:r>
                    </a:p>
                    <a:p>
                      <a:pPr marL="0" marR="0">
                        <a:lnSpc>
                          <a:spcPct val="100000"/>
                        </a:lnSpc>
                        <a:buNone/>
                      </a:pPr>
                      <a:r>
                        <a:rPr lang="en-GB" sz="1000" b="1" kern="100" noProof="0" dirty="0">
                          <a:effectLst/>
                          <a:latin typeface="+mj-lt"/>
                          <a:ea typeface="Calibri" panose="020F0502020204030204" pitchFamily="34" charset="0"/>
                          <a:cs typeface="Times New Roman" panose="02020603050405020304" pitchFamily="18" charset="0"/>
                        </a:rPr>
                        <a:t>Make your writing clearer</a:t>
                      </a:r>
                      <a:r>
                        <a:rPr lang="en-GB" sz="1000" kern="100" noProof="0" dirty="0">
                          <a:effectLst/>
                          <a:latin typeface="+mj-lt"/>
                          <a:ea typeface="Calibri" panose="020F0502020204030204" pitchFamily="34" charset="0"/>
                          <a:cs typeface="Times New Roman" panose="02020603050405020304" pitchFamily="18" charset="0"/>
                        </a:rPr>
                        <a:t>. Ask the chat to identify the main points of these ideas and to organize your thoughts for writing. Given your own writing use prompts like: “</a:t>
                      </a:r>
                      <a:r>
                        <a:rPr lang="en-GB" sz="1000" i="1" kern="100" noProof="0" dirty="0">
                          <a:effectLst/>
                          <a:latin typeface="+mj-lt"/>
                          <a:ea typeface="Calibri" panose="020F0502020204030204" pitchFamily="34" charset="0"/>
                          <a:cs typeface="Times New Roman" panose="02020603050405020304" pitchFamily="18" charset="0"/>
                        </a:rPr>
                        <a:t>Only using the text I am providing, identify the topic sentence for each paragraph, highlight redundancies and grammar mistakes</a:t>
                      </a:r>
                      <a:r>
                        <a:rPr lang="en-GB" sz="1000" kern="100" noProof="0" dirty="0">
                          <a:effectLst/>
                          <a:latin typeface="+mj-lt"/>
                          <a:ea typeface="Calibri" panose="020F0502020204030204" pitchFamily="34" charset="0"/>
                          <a:cs typeface="Times New Roman" panose="02020603050405020304" pitchFamily="18" charset="0"/>
                        </a:rPr>
                        <a:t>.”</a:t>
                      </a:r>
                    </a:p>
                  </a:txBody>
                  <a:tcPr marL="40008" marR="40008"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nSpc>
                          <a:spcPct val="100000"/>
                        </a:lnSpc>
                        <a:buNone/>
                      </a:pPr>
                      <a:r>
                        <a:rPr lang="en-GB" sz="1000" kern="100" noProof="0" dirty="0">
                          <a:effectLst/>
                          <a:latin typeface="+mj-lt"/>
                          <a:ea typeface="Calibri" panose="020F0502020204030204" pitchFamily="34" charset="0"/>
                          <a:cs typeface="Times New Roman" panose="02020603050405020304" pitchFamily="18" charset="0"/>
                        </a:rPr>
                        <a:t>Ask the chat to write a research question or problematization on your interest topic.</a:t>
                      </a:r>
                    </a:p>
                    <a:p>
                      <a:pPr marL="0" marR="0">
                        <a:lnSpc>
                          <a:spcPct val="100000"/>
                        </a:lnSpc>
                        <a:buNone/>
                      </a:pPr>
                      <a:r>
                        <a:rPr lang="en-GB" sz="1000" kern="100" noProof="0" dirty="0">
                          <a:effectLst/>
                          <a:latin typeface="+mj-lt"/>
                          <a:ea typeface="Calibri" panose="020F0502020204030204" pitchFamily="34" charset="0"/>
                          <a:cs typeface="Times New Roman" panose="02020603050405020304" pitchFamily="18" charset="0"/>
                        </a:rPr>
                        <a:t> </a:t>
                      </a:r>
                    </a:p>
                    <a:p>
                      <a:pPr marL="0" marR="0">
                        <a:lnSpc>
                          <a:spcPct val="100000"/>
                        </a:lnSpc>
                        <a:buNone/>
                      </a:pPr>
                      <a:r>
                        <a:rPr lang="en-GB" sz="1000" kern="100" noProof="0" dirty="0">
                          <a:effectLst/>
                          <a:latin typeface="+mj-lt"/>
                          <a:ea typeface="Calibri" panose="020F0502020204030204" pitchFamily="34" charset="0"/>
                          <a:cs typeface="Times New Roman" panose="02020603050405020304" pitchFamily="18" charset="0"/>
                        </a:rPr>
                        <a:t>Ask the chat to write about your topic.</a:t>
                      </a:r>
                    </a:p>
                  </a:txBody>
                  <a:tcPr marL="40008" marR="40008"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176202984"/>
                  </a:ext>
                </a:extLst>
              </a:tr>
              <a:tr h="2623409">
                <a:tc>
                  <a:txBody>
                    <a:bodyPr/>
                    <a:lstStyle/>
                    <a:p>
                      <a:pPr marL="0" marR="0">
                        <a:lnSpc>
                          <a:spcPct val="150000"/>
                        </a:lnSpc>
                        <a:buNone/>
                      </a:pPr>
                      <a:r>
                        <a:rPr lang="en-GB" sz="1000" kern="100" noProof="0" dirty="0">
                          <a:solidFill>
                            <a:srgbClr val="000000"/>
                          </a:solidFill>
                          <a:effectLst/>
                          <a:latin typeface="+mj-lt"/>
                          <a:ea typeface="Calibri" panose="020F0502020204030204" pitchFamily="34" charset="0"/>
                          <a:cs typeface="Times New Roman" panose="02020603050405020304" pitchFamily="18" charset="0"/>
                        </a:rPr>
                        <a:t>Literature review.</a:t>
                      </a:r>
                      <a:endParaRPr lang="en-GB" sz="1000" kern="100" noProof="0" dirty="0">
                        <a:effectLst/>
                        <a:latin typeface="+mj-lt"/>
                        <a:ea typeface="Calibri" panose="020F0502020204030204" pitchFamily="34" charset="0"/>
                        <a:cs typeface="Times New Roman" panose="02020603050405020304" pitchFamily="18" charset="0"/>
                      </a:endParaRPr>
                    </a:p>
                  </a:txBody>
                  <a:tcPr marL="40008" marR="40008" marT="0" marB="0" anchor="ctr">
                    <a:lnL>
                      <a:noFill/>
                    </a:lnL>
                    <a:lnR>
                      <a:noFill/>
                    </a:lnR>
                    <a:lnT>
                      <a:noFill/>
                    </a:lnT>
                    <a:lnB w="12700" cap="flat" cmpd="sng" algn="ctr">
                      <a:solidFill>
                        <a:srgbClr val="000000"/>
                      </a:solidFill>
                      <a:prstDash val="solid"/>
                      <a:round/>
                      <a:headEnd type="none" w="med" len="med"/>
                      <a:tailEnd type="none" w="med" len="med"/>
                    </a:lnB>
                    <a:solidFill>
                      <a:srgbClr val="F2F2F2"/>
                    </a:solidFill>
                  </a:tcPr>
                </a:tc>
                <a:tc>
                  <a:txBody>
                    <a:bodyPr/>
                    <a:lstStyle/>
                    <a:p>
                      <a:pPr marL="0" marR="0">
                        <a:lnSpc>
                          <a:spcPct val="100000"/>
                        </a:lnSpc>
                        <a:buNone/>
                      </a:pPr>
                      <a:r>
                        <a:rPr lang="en-GB" sz="1000" b="1" kern="100" noProof="0" dirty="0">
                          <a:solidFill>
                            <a:srgbClr val="000000"/>
                          </a:solidFill>
                          <a:effectLst/>
                          <a:latin typeface="+mj-lt"/>
                          <a:ea typeface="Calibri" panose="020F0502020204030204" pitchFamily="34" charset="0"/>
                          <a:cs typeface="Times New Roman" panose="02020603050405020304" pitchFamily="18" charset="0"/>
                        </a:rPr>
                        <a:t>Set the seed for your search</a:t>
                      </a:r>
                      <a:r>
                        <a:rPr lang="en-GB" sz="1000" kern="100" noProof="0" dirty="0">
                          <a:solidFill>
                            <a:srgbClr val="000000"/>
                          </a:solidFill>
                          <a:effectLst/>
                          <a:latin typeface="+mj-lt"/>
                          <a:ea typeface="Calibri" panose="020F0502020204030204" pitchFamily="34" charset="0"/>
                          <a:cs typeface="Times New Roman" panose="02020603050405020304" pitchFamily="18" charset="0"/>
                        </a:rPr>
                        <a:t>. Ask the chat, clearly, about relevant work in your area. You can use prompts like </a:t>
                      </a:r>
                      <a:br>
                        <a:rPr lang="en-GB" sz="1000" kern="100" noProof="0" dirty="0">
                          <a:solidFill>
                            <a:srgbClr val="000000"/>
                          </a:solidFill>
                          <a:effectLst/>
                          <a:latin typeface="+mj-lt"/>
                          <a:ea typeface="Calibri" panose="020F0502020204030204" pitchFamily="34" charset="0"/>
                          <a:cs typeface="Times New Roman" panose="02020603050405020304" pitchFamily="18" charset="0"/>
                        </a:rPr>
                      </a:br>
                      <a:r>
                        <a:rPr lang="en-GB" sz="1000" kern="100" noProof="0" dirty="0">
                          <a:solidFill>
                            <a:srgbClr val="000000"/>
                          </a:solidFill>
                          <a:effectLst/>
                          <a:latin typeface="+mj-lt"/>
                          <a:ea typeface="Calibri" panose="020F0502020204030204" pitchFamily="34" charset="0"/>
                          <a:cs typeface="Times New Roman" panose="02020603050405020304" pitchFamily="18" charset="0"/>
                        </a:rPr>
                        <a:t>“</a:t>
                      </a:r>
                      <a:r>
                        <a:rPr lang="en-GB" sz="1000" i="1" kern="100" noProof="0" dirty="0">
                          <a:solidFill>
                            <a:srgbClr val="000000"/>
                          </a:solidFill>
                          <a:effectLst/>
                          <a:latin typeface="+mj-lt"/>
                          <a:ea typeface="Calibri" panose="020F0502020204030204" pitchFamily="34" charset="0"/>
                          <a:cs typeface="Times New Roman" panose="02020603050405020304" pitchFamily="18" charset="0"/>
                        </a:rPr>
                        <a:t>give me a list of five relevant peer reviewed papers studying loss aversion, provide links and DOIs</a:t>
                      </a:r>
                      <a:r>
                        <a:rPr lang="en-GB" sz="1000" kern="100" noProof="0" dirty="0">
                          <a:solidFill>
                            <a:srgbClr val="000000"/>
                          </a:solidFill>
                          <a:effectLst/>
                          <a:latin typeface="+mj-lt"/>
                          <a:ea typeface="Calibri" panose="020F0502020204030204" pitchFamily="34" charset="0"/>
                          <a:cs typeface="Times New Roman" panose="02020603050405020304" pitchFamily="18" charset="0"/>
                        </a:rPr>
                        <a:t>”</a:t>
                      </a:r>
                      <a:br>
                        <a:rPr lang="en-GB" sz="1000" kern="100" noProof="0" dirty="0">
                          <a:solidFill>
                            <a:srgbClr val="000000"/>
                          </a:solidFill>
                          <a:effectLst/>
                          <a:latin typeface="+mj-lt"/>
                          <a:ea typeface="Calibri" panose="020F0502020204030204" pitchFamily="34" charset="0"/>
                          <a:cs typeface="Times New Roman" panose="02020603050405020304" pitchFamily="18" charset="0"/>
                        </a:rPr>
                      </a:br>
                      <a:r>
                        <a:rPr lang="en-GB" sz="1000" kern="100" noProof="0" dirty="0">
                          <a:solidFill>
                            <a:srgbClr val="000000"/>
                          </a:solidFill>
                          <a:effectLst/>
                          <a:latin typeface="+mj-lt"/>
                          <a:ea typeface="Calibri" panose="020F0502020204030204" pitchFamily="34" charset="0"/>
                          <a:cs typeface="Times New Roman" panose="02020603050405020304" pitchFamily="18" charset="0"/>
                        </a:rPr>
                        <a:t>Remember that the chat can give non-existent papers. In that case be sure to doble check your sources. </a:t>
                      </a:r>
                      <a:endParaRPr lang="en-GB" sz="1000" kern="100" noProof="0" dirty="0">
                        <a:effectLst/>
                        <a:latin typeface="+mj-lt"/>
                        <a:ea typeface="Calibri" panose="020F0502020204030204" pitchFamily="34" charset="0"/>
                        <a:cs typeface="Times New Roman" panose="02020603050405020304" pitchFamily="18" charset="0"/>
                      </a:endParaRPr>
                    </a:p>
                    <a:p>
                      <a:pPr marL="0" marR="0">
                        <a:lnSpc>
                          <a:spcPct val="100000"/>
                        </a:lnSpc>
                        <a:buNone/>
                      </a:pPr>
                      <a:r>
                        <a:rPr lang="en-GB" sz="1000" kern="100" noProof="0" dirty="0">
                          <a:solidFill>
                            <a:srgbClr val="000000"/>
                          </a:solidFill>
                          <a:effectLst/>
                          <a:latin typeface="+mj-lt"/>
                          <a:ea typeface="Calibri" panose="020F0502020204030204" pitchFamily="34" charset="0"/>
                          <a:cs typeface="Times New Roman" panose="02020603050405020304" pitchFamily="18" charset="0"/>
                        </a:rPr>
                        <a:t>Another relevant way to use the chat is to integrate its capabilities into a research pipeline. For instance:</a:t>
                      </a:r>
                      <a:endParaRPr lang="en-GB" sz="1000" kern="100" noProof="0" dirty="0">
                        <a:effectLst/>
                        <a:latin typeface="+mj-lt"/>
                        <a:ea typeface="Calibri" panose="020F0502020204030204" pitchFamily="34" charset="0"/>
                        <a:cs typeface="Times New Roman" panose="02020603050405020304" pitchFamily="18" charset="0"/>
                      </a:endParaRPr>
                    </a:p>
                    <a:p>
                      <a:pPr marL="0" marR="0" lvl="0" indent="-342900">
                        <a:lnSpc>
                          <a:spcPct val="100000"/>
                        </a:lnSpc>
                        <a:buFont typeface="+mj-lt"/>
                        <a:buAutoNum type="arabicPeriod"/>
                      </a:pPr>
                      <a:r>
                        <a:rPr lang="en-GB" sz="1000" kern="100" noProof="0" dirty="0">
                          <a:solidFill>
                            <a:srgbClr val="000000"/>
                          </a:solidFill>
                          <a:effectLst/>
                          <a:latin typeface="+mj-lt"/>
                          <a:ea typeface="Calibri" panose="020F0502020204030204" pitchFamily="34" charset="0"/>
                          <a:cs typeface="Times New Roman" panose="02020603050405020304" pitchFamily="18" charset="0"/>
                        </a:rPr>
                        <a:t>Ask the chat about relevant keywords or research topics on your research area, using prompts like: “</a:t>
                      </a:r>
                      <a:r>
                        <a:rPr lang="en-GB" sz="1000" i="1" kern="100" noProof="0" dirty="0">
                          <a:solidFill>
                            <a:srgbClr val="000000"/>
                          </a:solidFill>
                          <a:effectLst/>
                          <a:latin typeface="+mj-lt"/>
                          <a:ea typeface="Calibri" panose="020F0502020204030204" pitchFamily="34" charset="0"/>
                          <a:cs typeface="Times New Roman" panose="02020603050405020304" pitchFamily="18" charset="0"/>
                        </a:rPr>
                        <a:t>outline the most relevant causal mechanism used in the study of loss aversion</a:t>
                      </a:r>
                      <a:r>
                        <a:rPr lang="en-GB" sz="1000" kern="100" noProof="0" dirty="0">
                          <a:solidFill>
                            <a:srgbClr val="000000"/>
                          </a:solidFill>
                          <a:effectLst/>
                          <a:latin typeface="+mj-lt"/>
                          <a:ea typeface="Calibri" panose="020F0502020204030204" pitchFamily="34" charset="0"/>
                          <a:cs typeface="Times New Roman" panose="02020603050405020304" pitchFamily="18" charset="0"/>
                        </a:rPr>
                        <a:t>.”</a:t>
                      </a:r>
                      <a:endParaRPr lang="en-GB" sz="1000" kern="100" noProof="0" dirty="0">
                        <a:effectLst/>
                        <a:latin typeface="+mj-lt"/>
                        <a:ea typeface="Calibri" panose="020F0502020204030204" pitchFamily="34" charset="0"/>
                        <a:cs typeface="Times New Roman" panose="02020603050405020304" pitchFamily="18" charset="0"/>
                      </a:endParaRPr>
                    </a:p>
                    <a:p>
                      <a:pPr marL="0" marR="0" lvl="0" indent="-342900">
                        <a:lnSpc>
                          <a:spcPct val="100000"/>
                        </a:lnSpc>
                        <a:buFont typeface="+mj-lt"/>
                        <a:buAutoNum type="arabicPeriod"/>
                      </a:pPr>
                      <a:r>
                        <a:rPr lang="en-GB" sz="1000" kern="100" noProof="0" dirty="0">
                          <a:solidFill>
                            <a:srgbClr val="000000"/>
                          </a:solidFill>
                          <a:effectLst/>
                          <a:latin typeface="+mj-lt"/>
                          <a:ea typeface="Calibri" panose="020F0502020204030204" pitchFamily="34" charset="0"/>
                          <a:cs typeface="Times New Roman" panose="02020603050405020304" pitchFamily="18" charset="0"/>
                        </a:rPr>
                        <a:t>Look for those topics in academic search engines </a:t>
                      </a:r>
                      <a:r>
                        <a:rPr lang="en-GB" sz="1000" kern="100" noProof="0" dirty="0">
                          <a:solidFill>
                            <a:srgbClr val="00B0F0"/>
                          </a:solidFill>
                          <a:effectLst/>
                          <a:latin typeface="+mj-lt"/>
                          <a:ea typeface="Calibri" panose="020F0502020204030204" pitchFamily="34" charset="0"/>
                          <a:cs typeface="Times New Roman" panose="02020603050405020304" pitchFamily="18" charset="0"/>
                        </a:rPr>
                        <a:t>like </a:t>
                      </a:r>
                      <a:r>
                        <a:rPr lang="en-GB" sz="1000" u="sng" kern="100" noProof="0" dirty="0">
                          <a:solidFill>
                            <a:srgbClr val="00B0F0"/>
                          </a:solidFill>
                          <a:effectLst/>
                          <a:latin typeface="+mj-lt"/>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google scholar</a:t>
                      </a:r>
                      <a:r>
                        <a:rPr lang="en-GB" sz="1000" kern="100" noProof="0" dirty="0">
                          <a:solidFill>
                            <a:srgbClr val="00B0F0"/>
                          </a:solidFill>
                          <a:effectLst/>
                          <a:latin typeface="+mj-lt"/>
                          <a:ea typeface="Calibri" panose="020F0502020204030204" pitchFamily="34" charset="0"/>
                          <a:cs typeface="Times New Roman" panose="02020603050405020304" pitchFamily="18" charset="0"/>
                        </a:rPr>
                        <a:t> or </a:t>
                      </a:r>
                      <a:r>
                        <a:rPr lang="en-GB" sz="1000" u="sng" kern="100" noProof="0" dirty="0" err="1">
                          <a:solidFill>
                            <a:srgbClr val="00B0F0"/>
                          </a:solidFill>
                          <a:effectLst/>
                          <a:latin typeface="+mj-lt"/>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Jstore</a:t>
                      </a:r>
                      <a:r>
                        <a:rPr lang="en-GB" sz="1000" kern="100" noProof="0" dirty="0">
                          <a:solidFill>
                            <a:srgbClr val="000000"/>
                          </a:solidFill>
                          <a:effectLst/>
                          <a:latin typeface="+mj-lt"/>
                          <a:ea typeface="Calibri" panose="020F0502020204030204" pitchFamily="34" charset="0"/>
                          <a:cs typeface="Times New Roman" panose="02020603050405020304" pitchFamily="18" charset="0"/>
                        </a:rPr>
                        <a:t>.</a:t>
                      </a:r>
                      <a:endParaRPr lang="en-GB" sz="1000" kern="100" noProof="0" dirty="0">
                        <a:effectLst/>
                        <a:latin typeface="+mj-lt"/>
                        <a:ea typeface="Calibri" panose="020F0502020204030204" pitchFamily="34" charset="0"/>
                        <a:cs typeface="Times New Roman" panose="02020603050405020304" pitchFamily="18" charset="0"/>
                      </a:endParaRPr>
                    </a:p>
                    <a:p>
                      <a:pPr marL="0" marR="0" lvl="0" indent="-342900">
                        <a:lnSpc>
                          <a:spcPct val="100000"/>
                        </a:lnSpc>
                        <a:buFont typeface="+mj-lt"/>
                        <a:buAutoNum type="arabicPeriod"/>
                      </a:pPr>
                      <a:r>
                        <a:rPr lang="en-GB" sz="1000" kern="100" noProof="0" dirty="0">
                          <a:solidFill>
                            <a:srgbClr val="000000"/>
                          </a:solidFill>
                          <a:effectLst/>
                          <a:latin typeface="+mj-lt"/>
                          <a:ea typeface="Calibri" panose="020F0502020204030204" pitchFamily="34" charset="0"/>
                          <a:cs typeface="Times New Roman" panose="02020603050405020304" pitchFamily="18" charset="0"/>
                        </a:rPr>
                        <a:t>Identify  relevant papers and star a cross-reference search using tools </a:t>
                      </a:r>
                      <a:r>
                        <a:rPr lang="en-GB" sz="1000" kern="100" noProof="0" dirty="0">
                          <a:solidFill>
                            <a:srgbClr val="00B0F0"/>
                          </a:solidFill>
                          <a:effectLst/>
                          <a:latin typeface="+mj-lt"/>
                          <a:ea typeface="Calibri" panose="020F0502020204030204" pitchFamily="34" charset="0"/>
                          <a:cs typeface="Times New Roman" panose="02020603050405020304" pitchFamily="18" charset="0"/>
                        </a:rPr>
                        <a:t>like </a:t>
                      </a:r>
                      <a:r>
                        <a:rPr lang="en-GB" sz="1000" u="sng" kern="100" noProof="0" dirty="0">
                          <a:solidFill>
                            <a:srgbClr val="00B0F0"/>
                          </a:solidFill>
                          <a:effectLst/>
                          <a:latin typeface="+mj-l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research rabbit</a:t>
                      </a:r>
                      <a:r>
                        <a:rPr lang="en-GB" sz="1000" kern="100" noProof="0" dirty="0">
                          <a:solidFill>
                            <a:srgbClr val="00B0F0"/>
                          </a:solidFill>
                          <a:effectLst/>
                          <a:latin typeface="+mj-lt"/>
                          <a:ea typeface="Calibri" panose="020F0502020204030204" pitchFamily="34" charset="0"/>
                          <a:cs typeface="Times New Roman" panose="02020603050405020304" pitchFamily="18" charset="0"/>
                        </a:rPr>
                        <a:t> </a:t>
                      </a:r>
                      <a:r>
                        <a:rPr lang="en-GB" sz="1000" kern="100" noProof="0" dirty="0">
                          <a:solidFill>
                            <a:srgbClr val="000000"/>
                          </a:solidFill>
                          <a:effectLst/>
                          <a:latin typeface="+mj-lt"/>
                          <a:ea typeface="Calibri" panose="020F0502020204030204" pitchFamily="34" charset="0"/>
                          <a:cs typeface="Times New Roman" panose="02020603050405020304" pitchFamily="18" charset="0"/>
                        </a:rPr>
                        <a:t>or </a:t>
                      </a:r>
                      <a:r>
                        <a:rPr lang="en-GB" sz="1000" u="sng" kern="100" noProof="0" dirty="0">
                          <a:solidFill>
                            <a:srgbClr val="00B0F0"/>
                          </a:solidFill>
                          <a:effectLst/>
                          <a:latin typeface="+mj-lt"/>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connect papers</a:t>
                      </a:r>
                      <a:r>
                        <a:rPr lang="en-GB" sz="1000" kern="100" noProof="0" dirty="0">
                          <a:solidFill>
                            <a:srgbClr val="00B0F0"/>
                          </a:solidFill>
                          <a:effectLst/>
                          <a:latin typeface="+mj-lt"/>
                          <a:ea typeface="Calibri" panose="020F0502020204030204" pitchFamily="34" charset="0"/>
                          <a:cs typeface="Times New Roman" panose="02020603050405020304" pitchFamily="18" charset="0"/>
                        </a:rPr>
                        <a:t>.</a:t>
                      </a:r>
                    </a:p>
                    <a:p>
                      <a:pPr marL="0" marR="0">
                        <a:lnSpc>
                          <a:spcPct val="100000"/>
                        </a:lnSpc>
                        <a:buNone/>
                      </a:pPr>
                      <a:r>
                        <a:rPr lang="en-GB" sz="1000" kern="100" noProof="0" dirty="0">
                          <a:solidFill>
                            <a:srgbClr val="000000"/>
                          </a:solidFill>
                          <a:effectLst/>
                          <a:latin typeface="+mj-lt"/>
                          <a:ea typeface="Calibri" panose="020F0502020204030204" pitchFamily="34" charset="0"/>
                          <a:cs typeface="Times New Roman" panose="02020603050405020304" pitchFamily="18" charset="0"/>
                        </a:rPr>
                        <a:t>In this process you can use more specialized tools like </a:t>
                      </a:r>
                      <a:r>
                        <a:rPr lang="en-GB" sz="1000" u="sng" kern="100" noProof="0" dirty="0">
                          <a:solidFill>
                            <a:srgbClr val="00B0F0"/>
                          </a:solidFill>
                          <a:effectLst/>
                          <a:latin typeface="+mj-lt"/>
                          <a:ea typeface="Calibri" panose="020F050202020403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Scite</a:t>
                      </a:r>
                      <a:r>
                        <a:rPr lang="en-GB" sz="1000" kern="100" noProof="0" dirty="0">
                          <a:solidFill>
                            <a:srgbClr val="00B0F0"/>
                          </a:solidFill>
                          <a:effectLst/>
                          <a:latin typeface="+mj-lt"/>
                          <a:ea typeface="Calibri" panose="020F0502020204030204" pitchFamily="34" charset="0"/>
                          <a:cs typeface="Times New Roman" panose="02020603050405020304" pitchFamily="18" charset="0"/>
                        </a:rPr>
                        <a:t>.</a:t>
                      </a:r>
                    </a:p>
                  </a:txBody>
                  <a:tcPr marL="40008" marR="40008" marT="0" marB="0" anchor="ctr">
                    <a:lnL>
                      <a:noFill/>
                    </a:lnL>
                    <a:lnR>
                      <a:noFill/>
                    </a:lnR>
                    <a:lnT>
                      <a:noFill/>
                    </a:lnT>
                    <a:lnB w="12700" cap="flat" cmpd="sng" algn="ctr">
                      <a:solidFill>
                        <a:srgbClr val="000000"/>
                      </a:solidFill>
                      <a:prstDash val="solid"/>
                      <a:round/>
                      <a:headEnd type="none" w="med" len="med"/>
                      <a:tailEnd type="none" w="med" len="med"/>
                    </a:lnB>
                    <a:solidFill>
                      <a:srgbClr val="F2F2F2"/>
                    </a:solidFill>
                  </a:tcPr>
                </a:tc>
                <a:tc>
                  <a:txBody>
                    <a:bodyPr/>
                    <a:lstStyle/>
                    <a:p>
                      <a:pPr marL="0" marR="0">
                        <a:lnSpc>
                          <a:spcPct val="100000"/>
                        </a:lnSpc>
                        <a:buNone/>
                      </a:pPr>
                      <a:r>
                        <a:rPr lang="en-GB" sz="1000" kern="100" noProof="0" dirty="0">
                          <a:solidFill>
                            <a:srgbClr val="000000"/>
                          </a:solidFill>
                          <a:effectLst/>
                          <a:latin typeface="+mj-lt"/>
                          <a:ea typeface="Calibri" panose="020F0502020204030204" pitchFamily="34" charset="0"/>
                          <a:cs typeface="Times New Roman" panose="02020603050405020304" pitchFamily="18" charset="0"/>
                        </a:rPr>
                        <a:t>Ask the chat for references to directly include them on your paper.</a:t>
                      </a:r>
                      <a:endParaRPr lang="en-GB" sz="1000" kern="100" noProof="0" dirty="0">
                        <a:effectLst/>
                        <a:latin typeface="+mj-lt"/>
                        <a:ea typeface="Calibri" panose="020F0502020204030204" pitchFamily="34" charset="0"/>
                        <a:cs typeface="Times New Roman" panose="02020603050405020304" pitchFamily="18" charset="0"/>
                      </a:endParaRPr>
                    </a:p>
                  </a:txBody>
                  <a:tcPr marL="40008" marR="40008" marT="0" marB="0" anchor="ctr">
                    <a:lnL>
                      <a:noFill/>
                    </a:lnL>
                    <a:lnR>
                      <a:noFill/>
                    </a:lnR>
                    <a:lnT>
                      <a:noFill/>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028002268"/>
                  </a:ext>
                </a:extLst>
              </a:tr>
            </a:tbl>
          </a:graphicData>
        </a:graphic>
      </p:graphicFrame>
    </p:spTree>
    <p:extLst>
      <p:ext uri="{BB962C8B-B14F-4D97-AF65-F5344CB8AC3E}">
        <p14:creationId xmlns:p14="http://schemas.microsoft.com/office/powerpoint/2010/main" val="1726779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27EC0-1C3E-6C10-9588-35B7DDF23D6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95A2DFF-BB21-F083-D6AE-F05AD590BA7D}"/>
              </a:ext>
            </a:extLst>
          </p:cNvPr>
          <p:cNvSpPr/>
          <p:nvPr/>
        </p:nvSpPr>
        <p:spPr>
          <a:xfrm>
            <a:off x="0" y="-2750"/>
            <a:ext cx="12192000" cy="6858000"/>
          </a:xfrm>
          <a:prstGeom prst="rect">
            <a:avLst/>
          </a:prstGeom>
          <a:gradFill flip="none" rotWithShape="1">
            <a:gsLst>
              <a:gs pos="0">
                <a:srgbClr val="F22D1C"/>
              </a:gs>
              <a:gs pos="47000">
                <a:srgbClr val="FF5050">
                  <a:alpha val="94902"/>
                </a:srgbClr>
              </a:gs>
              <a:gs pos="100000">
                <a:srgbClr val="FF7C80"/>
              </a:gs>
            </a:gsLst>
            <a:lin ang="12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Date Placeholder 3">
            <a:extLst>
              <a:ext uri="{FF2B5EF4-FFF2-40B4-BE49-F238E27FC236}">
                <a16:creationId xmlns:a16="http://schemas.microsoft.com/office/drawing/2014/main" id="{CE725DEA-3050-58F4-C617-6BA94F8F02B4}"/>
              </a:ext>
            </a:extLst>
          </p:cNvPr>
          <p:cNvSpPr>
            <a:spLocks noGrp="1"/>
          </p:cNvSpPr>
          <p:nvPr>
            <p:ph type="dt" sz="half" idx="10"/>
          </p:nvPr>
        </p:nvSpPr>
        <p:spPr>
          <a:xfrm>
            <a:off x="11003616" y="136525"/>
            <a:ext cx="1117563" cy="365125"/>
          </a:xfrm>
        </p:spPr>
        <p:txBody>
          <a:bodyPr/>
          <a:lstStyle/>
          <a:p>
            <a:fld id="{27AB8C26-330F-4C13-A9D7-A5B1D2394DAC}" type="datetime1">
              <a:rPr lang="en-GB" noProof="0" smtClean="0">
                <a:solidFill>
                  <a:schemeClr val="bg1"/>
                </a:solidFill>
              </a:rPr>
              <a:t>27/03/2026</a:t>
            </a:fld>
            <a:endParaRPr lang="en-GB" noProof="0" dirty="0">
              <a:solidFill>
                <a:schemeClr val="bg1"/>
              </a:solidFill>
            </a:endParaRPr>
          </a:p>
        </p:txBody>
      </p:sp>
      <p:sp>
        <p:nvSpPr>
          <p:cNvPr id="9" name="Slide Number Placeholder 2">
            <a:extLst>
              <a:ext uri="{FF2B5EF4-FFF2-40B4-BE49-F238E27FC236}">
                <a16:creationId xmlns:a16="http://schemas.microsoft.com/office/drawing/2014/main" id="{5F0E1387-4612-5082-AB3A-9C21D8A958EF}"/>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bg1"/>
                </a:solidFill>
              </a:rPr>
              <a:t>22</a:t>
            </a:fld>
            <a:endParaRPr lang="en-GB" noProof="0" dirty="0">
              <a:solidFill>
                <a:schemeClr val="bg1"/>
              </a:solidFill>
            </a:endParaRPr>
          </a:p>
        </p:txBody>
      </p:sp>
      <p:pic>
        <p:nvPicPr>
          <p:cNvPr id="3" name="Picture 2">
            <a:hlinkClick r:id="rId3"/>
            <a:extLst>
              <a:ext uri="{FF2B5EF4-FFF2-40B4-BE49-F238E27FC236}">
                <a16:creationId xmlns:a16="http://schemas.microsoft.com/office/drawing/2014/main" id="{8F4F97EC-4169-3A55-B274-EDCDBA5B80D3}"/>
              </a:ext>
            </a:extLst>
          </p:cNvPr>
          <p:cNvPicPr>
            <a:picLocks noChangeAspect="1"/>
          </p:cNvPicPr>
          <p:nvPr/>
        </p:nvPicPr>
        <p:blipFill>
          <a:blip r:embed="rId4"/>
          <a:stretch>
            <a:fillRect/>
          </a:stretch>
        </p:blipFill>
        <p:spPr>
          <a:xfrm>
            <a:off x="595562" y="2084589"/>
            <a:ext cx="5776780" cy="3080646"/>
          </a:xfrm>
          <a:prstGeom prst="rect">
            <a:avLst/>
          </a:prstGeom>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7A8F62DE-B5A9-639F-C77E-FFE136E5FCAC}"/>
              </a:ext>
            </a:extLst>
          </p:cNvPr>
          <p:cNvSpPr txBox="1"/>
          <p:nvPr/>
        </p:nvSpPr>
        <p:spPr>
          <a:xfrm>
            <a:off x="435952" y="494284"/>
            <a:ext cx="6096000" cy="830997"/>
          </a:xfrm>
          <a:prstGeom prst="rect">
            <a:avLst/>
          </a:prstGeom>
          <a:noFill/>
        </p:spPr>
        <p:txBody>
          <a:bodyPr wrap="square">
            <a:spAutoFit/>
          </a:bodyPr>
          <a:lstStyle/>
          <a:p>
            <a:br>
              <a:rPr lang="en-US" sz="2400" dirty="0"/>
            </a:br>
            <a:r>
              <a:rPr lang="en-US" sz="2400" b="1" i="0" dirty="0">
                <a:solidFill>
                  <a:srgbClr val="F1F1F1"/>
                </a:solidFill>
                <a:effectLst/>
                <a:latin typeface="Roboto" panose="02000000000000000000" pitchFamily="2" charset="0"/>
              </a:rPr>
              <a:t>Large Language Models explained briefly</a:t>
            </a:r>
            <a:endParaRPr lang="en-US" sz="2400" dirty="0"/>
          </a:p>
        </p:txBody>
      </p:sp>
      <p:sp>
        <p:nvSpPr>
          <p:cNvPr id="6" name="Footer Placeholder 1">
            <a:extLst>
              <a:ext uri="{FF2B5EF4-FFF2-40B4-BE49-F238E27FC236}">
                <a16:creationId xmlns:a16="http://schemas.microsoft.com/office/drawing/2014/main" id="{51E41AE1-4669-4907-2F07-D43F1507D0E3}"/>
              </a:ext>
            </a:extLst>
          </p:cNvPr>
          <p:cNvSpPr txBox="1">
            <a:spLocks/>
          </p:cNvSpPr>
          <p:nvPr/>
        </p:nvSpPr>
        <p:spPr>
          <a:xfrm>
            <a:off x="595562" y="5233272"/>
            <a:ext cx="5776780" cy="253916"/>
          </a:xfrm>
          <a:prstGeom prst="rect">
            <a:avLst/>
          </a:prstGeom>
          <a:noFill/>
        </p:spPr>
        <p:txBody>
          <a:bodyPr wrap="square">
            <a:spAutoFit/>
          </a:bodyPr>
          <a:lstStyle>
            <a:defPPr>
              <a:defRPr lang="en-US"/>
            </a:defPPr>
            <a:lvl1pPr>
              <a:defRPr sz="1050">
                <a:solidFill>
                  <a:schemeClr val="bg1"/>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u="sng" dirty="0"/>
              <a:t>Taken from:  3Blue1Brown</a:t>
            </a:r>
          </a:p>
        </p:txBody>
      </p:sp>
      <p:sp>
        <p:nvSpPr>
          <p:cNvPr id="12" name="TextBox 11">
            <a:extLst>
              <a:ext uri="{FF2B5EF4-FFF2-40B4-BE49-F238E27FC236}">
                <a16:creationId xmlns:a16="http://schemas.microsoft.com/office/drawing/2014/main" id="{786E5D45-CFB4-3AF1-99C4-F5FE399F3F3A}"/>
              </a:ext>
            </a:extLst>
          </p:cNvPr>
          <p:cNvSpPr txBox="1"/>
          <p:nvPr/>
        </p:nvSpPr>
        <p:spPr>
          <a:xfrm>
            <a:off x="6698836" y="2162973"/>
            <a:ext cx="4638998" cy="2923877"/>
          </a:xfrm>
          <a:prstGeom prst="rect">
            <a:avLst/>
          </a:prstGeom>
          <a:noFill/>
        </p:spPr>
        <p:txBody>
          <a:bodyPr wrap="square">
            <a:spAutoFit/>
          </a:bodyPr>
          <a:lstStyle/>
          <a:p>
            <a:pPr marL="285750" indent="-285750" algn="l">
              <a:spcBef>
                <a:spcPts val="600"/>
              </a:spcBef>
              <a:spcAft>
                <a:spcPts val="600"/>
              </a:spcAft>
              <a:buFont typeface="Arial" panose="020B0604020202020204" pitchFamily="34" charset="0"/>
              <a:buChar char="•"/>
            </a:pPr>
            <a:r>
              <a:rPr lang="en-US" sz="1400" b="0" i="0" dirty="0">
                <a:solidFill>
                  <a:srgbClr val="F1F1F1"/>
                </a:solidFill>
                <a:effectLst/>
                <a:latin typeface="+mj-lt"/>
              </a:rPr>
              <a:t>According to the video, what is the primary function of a large language model (LLM)? </a:t>
            </a:r>
            <a:r>
              <a:rPr lang="en-US" sz="1400" b="0" i="0" dirty="0">
                <a:solidFill>
                  <a:schemeClr val="bg1"/>
                </a:solidFill>
                <a:effectLst/>
                <a:highlight>
                  <a:srgbClr val="000000"/>
                </a:highlight>
                <a:latin typeface="+mj-lt"/>
              </a:rPr>
              <a:t>(0:36-0:43)</a:t>
            </a:r>
          </a:p>
          <a:p>
            <a:pPr marL="285750" indent="-285750" algn="l">
              <a:spcBef>
                <a:spcPts val="600"/>
              </a:spcBef>
              <a:spcAft>
                <a:spcPts val="600"/>
              </a:spcAft>
              <a:buFont typeface="Arial" panose="020B0604020202020204" pitchFamily="34" charset="0"/>
              <a:buChar char="•"/>
            </a:pPr>
            <a:r>
              <a:rPr lang="en-US" sz="1400" b="0" i="0" dirty="0">
                <a:solidFill>
                  <a:srgbClr val="F1F1F1"/>
                </a:solidFill>
                <a:effectLst/>
                <a:latin typeface="+mj-lt"/>
              </a:rPr>
              <a:t>How does a chatbot use an LLM to generate its responses, and why might you get a different answer each time you ask the same question? </a:t>
            </a:r>
            <a:r>
              <a:rPr lang="en-US" sz="1400" b="0" i="0" dirty="0">
                <a:solidFill>
                  <a:schemeClr val="bg1"/>
                </a:solidFill>
                <a:effectLst/>
                <a:highlight>
                  <a:srgbClr val="000000"/>
                </a:highlight>
                <a:latin typeface="+mj-lt"/>
              </a:rPr>
              <a:t>(0:53-1:27)</a:t>
            </a:r>
          </a:p>
          <a:p>
            <a:pPr marL="285750" indent="-285750" algn="l">
              <a:spcBef>
                <a:spcPts val="600"/>
              </a:spcBef>
              <a:spcAft>
                <a:spcPts val="600"/>
              </a:spcAft>
              <a:buFont typeface="Arial" panose="020B0604020202020204" pitchFamily="34" charset="0"/>
              <a:buChar char="•"/>
            </a:pPr>
            <a:r>
              <a:rPr lang="en-US" sz="1400" b="0" i="0" dirty="0">
                <a:solidFill>
                  <a:srgbClr val="F1F1F1"/>
                </a:solidFill>
                <a:effectLst/>
                <a:latin typeface="+mj-lt"/>
              </a:rPr>
              <a:t>Briefly describe the "pre-training" process for an LLM, including what kind of data is used and what "parameters" are. </a:t>
            </a:r>
            <a:r>
              <a:rPr lang="en-US" sz="1400" b="0" i="0" dirty="0">
                <a:solidFill>
                  <a:schemeClr val="bg1"/>
                </a:solidFill>
                <a:effectLst/>
                <a:highlight>
                  <a:srgbClr val="000000"/>
                </a:highlight>
                <a:latin typeface="+mj-lt"/>
              </a:rPr>
              <a:t>(1:29-2:12)</a:t>
            </a:r>
          </a:p>
          <a:p>
            <a:pPr marL="285750" indent="-285750" algn="l">
              <a:spcBef>
                <a:spcPts val="600"/>
              </a:spcBef>
              <a:spcAft>
                <a:spcPts val="600"/>
              </a:spcAft>
              <a:buFont typeface="Arial" panose="020B0604020202020204" pitchFamily="34" charset="0"/>
              <a:buChar char="•"/>
            </a:pPr>
            <a:r>
              <a:rPr lang="en-US" sz="1400" b="0" i="0" dirty="0">
                <a:solidFill>
                  <a:srgbClr val="F1F1F1"/>
                </a:solidFill>
                <a:effectLst/>
                <a:latin typeface="+mj-lt"/>
              </a:rPr>
              <a:t>Besides pre-training, what is another crucial type of training mentioned for chatbots, and how does human feedback play a role in it?</a:t>
            </a:r>
          </a:p>
        </p:txBody>
      </p:sp>
    </p:spTree>
    <p:extLst>
      <p:ext uri="{BB962C8B-B14F-4D97-AF65-F5344CB8AC3E}">
        <p14:creationId xmlns:p14="http://schemas.microsoft.com/office/powerpoint/2010/main" val="3252028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76EA3-C132-B5CA-4067-EE9343219DD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59ACF9A-9150-2FE5-1794-185EA6F86D30}"/>
              </a:ext>
            </a:extLst>
          </p:cNvPr>
          <p:cNvSpPr/>
          <p:nvPr/>
        </p:nvSpPr>
        <p:spPr>
          <a:xfrm>
            <a:off x="0" y="-2750"/>
            <a:ext cx="12192000" cy="6858000"/>
          </a:xfrm>
          <a:prstGeom prst="rect">
            <a:avLst/>
          </a:prstGeom>
          <a:gradFill flip="none" rotWithShape="1">
            <a:gsLst>
              <a:gs pos="100000">
                <a:srgbClr val="F22D1C"/>
              </a:gs>
              <a:gs pos="47000">
                <a:srgbClr val="FF5050">
                  <a:alpha val="94902"/>
                </a:srgbClr>
              </a:gs>
              <a:gs pos="0">
                <a:srgbClr val="FF7C80"/>
              </a:gs>
            </a:gsLst>
            <a:lin ang="12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Date Placeholder 3">
            <a:extLst>
              <a:ext uri="{FF2B5EF4-FFF2-40B4-BE49-F238E27FC236}">
                <a16:creationId xmlns:a16="http://schemas.microsoft.com/office/drawing/2014/main" id="{D02D0CA2-F6F4-3E89-4611-13A7D368FC26}"/>
              </a:ext>
            </a:extLst>
          </p:cNvPr>
          <p:cNvSpPr>
            <a:spLocks noGrp="1"/>
          </p:cNvSpPr>
          <p:nvPr>
            <p:ph type="dt" sz="half" idx="10"/>
          </p:nvPr>
        </p:nvSpPr>
        <p:spPr>
          <a:xfrm>
            <a:off x="11003616" y="136525"/>
            <a:ext cx="1117563" cy="365125"/>
          </a:xfrm>
        </p:spPr>
        <p:txBody>
          <a:bodyPr/>
          <a:lstStyle/>
          <a:p>
            <a:fld id="{27AB8C26-330F-4C13-A9D7-A5B1D2394DAC}" type="datetime1">
              <a:rPr lang="en-GB" noProof="0" smtClean="0">
                <a:solidFill>
                  <a:schemeClr val="bg1"/>
                </a:solidFill>
              </a:rPr>
              <a:t>27/03/2026</a:t>
            </a:fld>
            <a:endParaRPr lang="en-GB" noProof="0" dirty="0">
              <a:solidFill>
                <a:schemeClr val="bg1"/>
              </a:solidFill>
            </a:endParaRPr>
          </a:p>
        </p:txBody>
      </p:sp>
      <p:sp>
        <p:nvSpPr>
          <p:cNvPr id="29" name="TextBox 28">
            <a:extLst>
              <a:ext uri="{FF2B5EF4-FFF2-40B4-BE49-F238E27FC236}">
                <a16:creationId xmlns:a16="http://schemas.microsoft.com/office/drawing/2014/main" id="{A2A519B4-FE15-0213-C662-2436D75BF2D7}"/>
              </a:ext>
            </a:extLst>
          </p:cNvPr>
          <p:cNvSpPr txBox="1"/>
          <p:nvPr/>
        </p:nvSpPr>
        <p:spPr>
          <a:xfrm>
            <a:off x="1700676" y="1887367"/>
            <a:ext cx="5460993" cy="3077766"/>
          </a:xfrm>
          <a:prstGeom prst="rect">
            <a:avLst/>
          </a:prstGeom>
          <a:noFill/>
        </p:spPr>
        <p:txBody>
          <a:bodyPr wrap="square">
            <a:spAutoFit/>
          </a:bodyPr>
          <a:lstStyle/>
          <a:p>
            <a:r>
              <a:rPr lang="en-GB" noProof="0" dirty="0">
                <a:solidFill>
                  <a:schemeClr val="bg1"/>
                </a:solidFill>
              </a:rPr>
              <a:t>⚠️</a:t>
            </a:r>
            <a:r>
              <a:rPr lang="en-US" b="1" noProof="0" dirty="0">
                <a:solidFill>
                  <a:schemeClr val="bg1"/>
                </a:solidFill>
              </a:rPr>
              <a:t>Inappropriate use of this technology in academic work can lead to serious consequences. Among them</a:t>
            </a:r>
            <a:r>
              <a:rPr lang="en-US" noProof="0" dirty="0">
                <a:solidFill>
                  <a:schemeClr val="bg1"/>
                </a:solidFill>
              </a:rPr>
              <a:t>:</a:t>
            </a:r>
          </a:p>
          <a:p>
            <a:endParaRPr lang="en-US" sz="1400" dirty="0">
              <a:solidFill>
                <a:schemeClr val="bg1"/>
              </a:solidFill>
            </a:endParaRPr>
          </a:p>
          <a:p>
            <a:r>
              <a:rPr lang="en-US" sz="1400" noProof="0" dirty="0">
                <a:solidFill>
                  <a:schemeClr val="bg1"/>
                </a:solidFill>
                <a:highlight>
                  <a:srgbClr val="000000"/>
                </a:highlight>
              </a:rPr>
              <a:t>No grade awarded for your work</a:t>
            </a:r>
            <a:r>
              <a:rPr lang="en-US" sz="1400" noProof="0" dirty="0">
                <a:solidFill>
                  <a:schemeClr val="bg1"/>
                </a:solidFill>
              </a:rPr>
              <a:t>. Using AI‑generated responses without proper review or citation may be considered plagiarism.</a:t>
            </a:r>
          </a:p>
          <a:p>
            <a:endParaRPr lang="en-GB" sz="1400" noProof="0" dirty="0">
              <a:solidFill>
                <a:schemeClr val="bg1"/>
              </a:solidFill>
            </a:endParaRPr>
          </a:p>
          <a:p>
            <a:r>
              <a:rPr lang="en-US" sz="1400" noProof="0" dirty="0">
                <a:solidFill>
                  <a:schemeClr val="bg1"/>
                </a:solidFill>
                <a:highlight>
                  <a:srgbClr val="000000"/>
                </a:highlight>
              </a:rPr>
              <a:t>Lack of learning</a:t>
            </a:r>
            <a:r>
              <a:rPr lang="en-US" sz="1400" noProof="0" dirty="0">
                <a:solidFill>
                  <a:schemeClr val="bg1"/>
                </a:solidFill>
              </a:rPr>
              <a:t>. Relying exclusively on AI to complete tasks can prevent you from developing critical thinking and analytical skills.</a:t>
            </a:r>
          </a:p>
          <a:p>
            <a:endParaRPr lang="en-GB" sz="1400" b="1" noProof="0" dirty="0">
              <a:solidFill>
                <a:schemeClr val="bg1"/>
              </a:solidFill>
            </a:endParaRPr>
          </a:p>
          <a:p>
            <a:r>
              <a:rPr lang="en-US" sz="1400" noProof="0" dirty="0">
                <a:solidFill>
                  <a:schemeClr val="bg1"/>
                </a:solidFill>
                <a:highlight>
                  <a:srgbClr val="000000"/>
                </a:highlight>
              </a:rPr>
              <a:t>Academic sanctions</a:t>
            </a:r>
            <a:r>
              <a:rPr lang="en-US" sz="1400" noProof="0" dirty="0">
                <a:solidFill>
                  <a:schemeClr val="bg1"/>
                </a:solidFill>
              </a:rPr>
              <a:t>. In some cases, the improper use of digital tools may result in disciplinary measures under university policies.</a:t>
            </a:r>
          </a:p>
          <a:p>
            <a:endParaRPr lang="en-GB" sz="1400" b="1" noProof="0" dirty="0">
              <a:solidFill>
                <a:schemeClr val="bg1"/>
              </a:solidFill>
            </a:endParaRPr>
          </a:p>
        </p:txBody>
      </p:sp>
      <p:sp>
        <p:nvSpPr>
          <p:cNvPr id="9" name="Slide Number Placeholder 2">
            <a:extLst>
              <a:ext uri="{FF2B5EF4-FFF2-40B4-BE49-F238E27FC236}">
                <a16:creationId xmlns:a16="http://schemas.microsoft.com/office/drawing/2014/main" id="{5A822C82-7424-7ED8-3D39-F3FE807522EC}"/>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bg1"/>
                </a:solidFill>
              </a:rPr>
              <a:t>23</a:t>
            </a:fld>
            <a:endParaRPr lang="en-GB" noProof="0" dirty="0">
              <a:solidFill>
                <a:schemeClr val="bg1"/>
              </a:solidFill>
            </a:endParaRPr>
          </a:p>
        </p:txBody>
      </p:sp>
    </p:spTree>
    <p:extLst>
      <p:ext uri="{BB962C8B-B14F-4D97-AF65-F5344CB8AC3E}">
        <p14:creationId xmlns:p14="http://schemas.microsoft.com/office/powerpoint/2010/main" val="3093704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7451B-DA1C-1076-AF6F-8047414B963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EB5D7C1-978C-F1AD-4E2F-62B62207E142}"/>
              </a:ext>
            </a:extLst>
          </p:cNvPr>
          <p:cNvSpPr/>
          <p:nvPr/>
        </p:nvSpPr>
        <p:spPr>
          <a:xfrm>
            <a:off x="0" y="-2750"/>
            <a:ext cx="12192000" cy="6858000"/>
          </a:xfrm>
          <a:prstGeom prst="rect">
            <a:avLst/>
          </a:prstGeom>
          <a:gradFill flip="none" rotWithShape="1">
            <a:gsLst>
              <a:gs pos="100000">
                <a:srgbClr val="F22D1C"/>
              </a:gs>
              <a:gs pos="47000">
                <a:srgbClr val="FF5050">
                  <a:alpha val="94902"/>
                </a:srgbClr>
              </a:gs>
              <a:gs pos="0">
                <a:srgbClr val="FF7C80"/>
              </a:gs>
            </a:gsLst>
            <a:lin ang="12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 name="Slide Number Placeholder 2">
            <a:extLst>
              <a:ext uri="{FF2B5EF4-FFF2-40B4-BE49-F238E27FC236}">
                <a16:creationId xmlns:a16="http://schemas.microsoft.com/office/drawing/2014/main" id="{21DEB6D7-49D1-BDB3-EF3F-75E6FDB9E662}"/>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bg1"/>
                </a:solidFill>
              </a:rPr>
              <a:t>24</a:t>
            </a:fld>
            <a:endParaRPr lang="en-GB" noProof="0" dirty="0">
              <a:solidFill>
                <a:schemeClr val="bg1"/>
              </a:solidFill>
            </a:endParaRPr>
          </a:p>
        </p:txBody>
      </p:sp>
      <p:sp>
        <p:nvSpPr>
          <p:cNvPr id="4" name="Date Placeholder 3">
            <a:extLst>
              <a:ext uri="{FF2B5EF4-FFF2-40B4-BE49-F238E27FC236}">
                <a16:creationId xmlns:a16="http://schemas.microsoft.com/office/drawing/2014/main" id="{0FF13D02-5B66-0E15-7E48-6B1ECDB2BC40}"/>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pic>
        <p:nvPicPr>
          <p:cNvPr id="2050" name="Picture 2" descr="Foro Enseñanza e Investigación de las Políticas Públicas en Colombia – En  homenaje a Luis Fernando Aguilar Villanueva">
            <a:extLst>
              <a:ext uri="{FF2B5EF4-FFF2-40B4-BE49-F238E27FC236}">
                <a16:creationId xmlns:a16="http://schemas.microsoft.com/office/drawing/2014/main" id="{4F5DB7D1-3AEF-E6AB-BD3A-5A282211FDA9}"/>
              </a:ext>
            </a:extLst>
          </p:cNvPr>
          <p:cNvPicPr>
            <a:picLocks noChangeAspect="1" noChangeArrowheads="1"/>
          </p:cNvPicPr>
          <p:nvPr/>
        </p:nvPicPr>
        <p:blipFill rotWithShape="1">
          <a:blip r:embed="rId2" cstate="print">
            <a:lum bright="70000" contrast="-70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t="1" b="39588"/>
          <a:stretch/>
        </p:blipFill>
        <p:spPr bwMode="auto">
          <a:xfrm>
            <a:off x="1071562" y="357805"/>
            <a:ext cx="1843086" cy="60199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3357949-F062-CEA0-079E-93DC517724B8}"/>
              </a:ext>
            </a:extLst>
          </p:cNvPr>
          <p:cNvSpPr txBox="1"/>
          <p:nvPr/>
        </p:nvSpPr>
        <p:spPr>
          <a:xfrm>
            <a:off x="1071561" y="1839366"/>
            <a:ext cx="7472364" cy="1295163"/>
          </a:xfrm>
          <a:prstGeom prst="rect">
            <a:avLst/>
          </a:prstGeom>
          <a:noFill/>
        </p:spPr>
        <p:txBody>
          <a:bodyPr wrap="square" rtlCol="0">
            <a:spAutoFit/>
          </a:bodyPr>
          <a:lstStyle/>
          <a:p>
            <a:pPr>
              <a:lnSpc>
                <a:spcPts val="4600"/>
              </a:lnSpc>
            </a:pPr>
            <a:r>
              <a:rPr lang="en-GB" sz="4800" noProof="0" dirty="0">
                <a:solidFill>
                  <a:schemeClr val="bg1"/>
                </a:solidFill>
                <a:latin typeface="Aptos Black" panose="020F0502020204030204" pitchFamily="34" charset="0"/>
              </a:rPr>
              <a:t>Philosophical Foundations of Science</a:t>
            </a:r>
          </a:p>
        </p:txBody>
      </p:sp>
      <p:sp>
        <p:nvSpPr>
          <p:cNvPr id="7" name="Freeform: Shape 6">
            <a:extLst>
              <a:ext uri="{FF2B5EF4-FFF2-40B4-BE49-F238E27FC236}">
                <a16:creationId xmlns:a16="http://schemas.microsoft.com/office/drawing/2014/main" id="{FA008D75-DF4A-99BB-DA4F-AEA8FA079D94}"/>
              </a:ext>
            </a:extLst>
          </p:cNvPr>
          <p:cNvSpPr/>
          <p:nvPr/>
        </p:nvSpPr>
        <p:spPr>
          <a:xfrm>
            <a:off x="1274717" y="3429075"/>
            <a:ext cx="373322" cy="369830"/>
          </a:xfrm>
          <a:custGeom>
            <a:avLst/>
            <a:gdLst>
              <a:gd name="connsiteX0" fmla="*/ 273786 w 672354"/>
              <a:gd name="connsiteY0" fmla="*/ 560045 h 666065"/>
              <a:gd name="connsiteX1" fmla="*/ 273786 w 672354"/>
              <a:gd name="connsiteY1" fmla="*/ 666065 h 666065"/>
              <a:gd name="connsiteX2" fmla="*/ 268426 w 672354"/>
              <a:gd name="connsiteY2" fmla="*/ 665524 h 666065"/>
              <a:gd name="connsiteX3" fmla="*/ 205322 w 672354"/>
              <a:gd name="connsiteY3" fmla="*/ 645936 h 666065"/>
              <a:gd name="connsiteX4" fmla="*/ 199831 w 672354"/>
              <a:gd name="connsiteY4" fmla="*/ 642955 h 666065"/>
              <a:gd name="connsiteX5" fmla="*/ 218437 w 672354"/>
              <a:gd name="connsiteY5" fmla="*/ 612031 h 666065"/>
              <a:gd name="connsiteX6" fmla="*/ 273786 w 672354"/>
              <a:gd name="connsiteY6" fmla="*/ 560045 h 666065"/>
              <a:gd name="connsiteX7" fmla="*/ 305515 w 672354"/>
              <a:gd name="connsiteY7" fmla="*/ 339627 h 666065"/>
              <a:gd name="connsiteX8" fmla="*/ 248365 w 672354"/>
              <a:gd name="connsiteY8" fmla="*/ 396777 h 666065"/>
              <a:gd name="connsiteX9" fmla="*/ 305515 w 672354"/>
              <a:gd name="connsiteY9" fmla="*/ 453927 h 666065"/>
              <a:gd name="connsiteX10" fmla="*/ 362665 w 672354"/>
              <a:gd name="connsiteY10" fmla="*/ 396777 h 666065"/>
              <a:gd name="connsiteX11" fmla="*/ 305515 w 672354"/>
              <a:gd name="connsiteY11" fmla="*/ 339627 h 666065"/>
              <a:gd name="connsiteX12" fmla="*/ 358807 w 672354"/>
              <a:gd name="connsiteY12" fmla="*/ 218335 h 666065"/>
              <a:gd name="connsiteX13" fmla="*/ 356635 w 672354"/>
              <a:gd name="connsiteY13" fmla="*/ 220517 h 666065"/>
              <a:gd name="connsiteX14" fmla="*/ 355445 w 672354"/>
              <a:gd name="connsiteY14" fmla="*/ 229441 h 666065"/>
              <a:gd name="connsiteX15" fmla="*/ 353425 w 672354"/>
              <a:gd name="connsiteY15" fmla="*/ 231594 h 666065"/>
              <a:gd name="connsiteX16" fmla="*/ 344805 w 672354"/>
              <a:gd name="connsiteY16" fmla="*/ 233242 h 666065"/>
              <a:gd name="connsiteX17" fmla="*/ 342786 w 672354"/>
              <a:gd name="connsiteY17" fmla="*/ 235395 h 666065"/>
              <a:gd name="connsiteX18" fmla="*/ 344110 w 672354"/>
              <a:gd name="connsiteY18" fmla="*/ 238043 h 666065"/>
              <a:gd name="connsiteX19" fmla="*/ 347606 w 672354"/>
              <a:gd name="connsiteY19" fmla="*/ 240100 h 666065"/>
              <a:gd name="connsiteX20" fmla="*/ 352035 w 672354"/>
              <a:gd name="connsiteY20" fmla="*/ 242796 h 666065"/>
              <a:gd name="connsiteX21" fmla="*/ 353063 w 672354"/>
              <a:gd name="connsiteY21" fmla="*/ 243881 h 666065"/>
              <a:gd name="connsiteX22" fmla="*/ 353330 w 672354"/>
              <a:gd name="connsiteY22" fmla="*/ 245282 h 666065"/>
              <a:gd name="connsiteX23" fmla="*/ 352378 w 672354"/>
              <a:gd name="connsiteY23" fmla="*/ 254635 h 666065"/>
              <a:gd name="connsiteX24" fmla="*/ 353863 w 672354"/>
              <a:gd name="connsiteY24" fmla="*/ 257254 h 666065"/>
              <a:gd name="connsiteX25" fmla="*/ 356845 w 672354"/>
              <a:gd name="connsiteY25" fmla="*/ 256683 h 666065"/>
              <a:gd name="connsiteX26" fmla="*/ 363341 w 672354"/>
              <a:gd name="connsiteY26" fmla="*/ 250015 h 666065"/>
              <a:gd name="connsiteX27" fmla="*/ 366322 w 672354"/>
              <a:gd name="connsiteY27" fmla="*/ 249454 h 666065"/>
              <a:gd name="connsiteX28" fmla="*/ 374895 w 672354"/>
              <a:gd name="connsiteY28" fmla="*/ 253264 h 666065"/>
              <a:gd name="connsiteX29" fmla="*/ 377866 w 672354"/>
              <a:gd name="connsiteY29" fmla="*/ 252692 h 666065"/>
              <a:gd name="connsiteX30" fmla="*/ 378266 w 672354"/>
              <a:gd name="connsiteY30" fmla="*/ 249720 h 666065"/>
              <a:gd name="connsiteX31" fmla="*/ 373875 w 672354"/>
              <a:gd name="connsiteY31" fmla="*/ 241376 h 666065"/>
              <a:gd name="connsiteX32" fmla="*/ 374152 w 672354"/>
              <a:gd name="connsiteY32" fmla="*/ 238585 h 666065"/>
              <a:gd name="connsiteX33" fmla="*/ 379867 w 672354"/>
              <a:gd name="connsiteY33" fmla="*/ 231375 h 666065"/>
              <a:gd name="connsiteX34" fmla="*/ 379514 w 672354"/>
              <a:gd name="connsiteY34" fmla="*/ 227728 h 666065"/>
              <a:gd name="connsiteX35" fmla="*/ 377428 w 672354"/>
              <a:gd name="connsiteY35" fmla="*/ 227175 h 666065"/>
              <a:gd name="connsiteX36" fmla="*/ 368799 w 672354"/>
              <a:gd name="connsiteY36" fmla="*/ 228822 h 666065"/>
              <a:gd name="connsiteX37" fmla="*/ 366122 w 672354"/>
              <a:gd name="connsiteY37" fmla="*/ 227556 h 666065"/>
              <a:gd name="connsiteX38" fmla="*/ 361664 w 672354"/>
              <a:gd name="connsiteY38" fmla="*/ 219716 h 666065"/>
              <a:gd name="connsiteX39" fmla="*/ 358807 w 672354"/>
              <a:gd name="connsiteY39" fmla="*/ 218335 h 666065"/>
              <a:gd name="connsiteX40" fmla="*/ 536362 w 672354"/>
              <a:gd name="connsiteY40" fmla="*/ 199590 h 666065"/>
              <a:gd name="connsiteX41" fmla="*/ 533266 w 672354"/>
              <a:gd name="connsiteY41" fmla="*/ 199819 h 666065"/>
              <a:gd name="connsiteX42" fmla="*/ 526437 w 672354"/>
              <a:gd name="connsiteY42" fmla="*/ 205753 h 666065"/>
              <a:gd name="connsiteX43" fmla="*/ 523484 w 672354"/>
              <a:gd name="connsiteY43" fmla="*/ 206067 h 666065"/>
              <a:gd name="connsiteX44" fmla="*/ 515864 w 672354"/>
              <a:gd name="connsiteY44" fmla="*/ 201676 h 666065"/>
              <a:gd name="connsiteX45" fmla="*/ 512911 w 672354"/>
              <a:gd name="connsiteY45" fmla="*/ 201990 h 666065"/>
              <a:gd name="connsiteX46" fmla="*/ 512149 w 672354"/>
              <a:gd name="connsiteY46" fmla="*/ 204848 h 666065"/>
              <a:gd name="connsiteX47" fmla="*/ 513407 w 672354"/>
              <a:gd name="connsiteY47" fmla="*/ 208658 h 666065"/>
              <a:gd name="connsiteX48" fmla="*/ 514940 w 672354"/>
              <a:gd name="connsiteY48" fmla="*/ 213573 h 666065"/>
              <a:gd name="connsiteX49" fmla="*/ 514940 w 672354"/>
              <a:gd name="connsiteY49" fmla="*/ 215068 h 666065"/>
              <a:gd name="connsiteX50" fmla="*/ 514216 w 672354"/>
              <a:gd name="connsiteY50" fmla="*/ 216297 h 666065"/>
              <a:gd name="connsiteX51" fmla="*/ 507292 w 672354"/>
              <a:gd name="connsiteY51" fmla="*/ 222726 h 666065"/>
              <a:gd name="connsiteX52" fmla="*/ 506663 w 672354"/>
              <a:gd name="connsiteY52" fmla="*/ 225660 h 666065"/>
              <a:gd name="connsiteX53" fmla="*/ 509292 w 672354"/>
              <a:gd name="connsiteY53" fmla="*/ 227175 h 666065"/>
              <a:gd name="connsiteX54" fmla="*/ 518645 w 672354"/>
              <a:gd name="connsiteY54" fmla="*/ 226355 h 666065"/>
              <a:gd name="connsiteX55" fmla="*/ 521265 w 672354"/>
              <a:gd name="connsiteY55" fmla="*/ 227870 h 666065"/>
              <a:gd name="connsiteX56" fmla="*/ 525151 w 672354"/>
              <a:gd name="connsiteY56" fmla="*/ 236338 h 666065"/>
              <a:gd name="connsiteX57" fmla="*/ 527770 w 672354"/>
              <a:gd name="connsiteY57" fmla="*/ 237852 h 666065"/>
              <a:gd name="connsiteX58" fmla="*/ 530047 w 672354"/>
              <a:gd name="connsiteY58" fmla="*/ 235871 h 666065"/>
              <a:gd name="connsiteX59" fmla="*/ 532285 w 672354"/>
              <a:gd name="connsiteY59" fmla="*/ 226736 h 666065"/>
              <a:gd name="connsiteX60" fmla="*/ 534343 w 672354"/>
              <a:gd name="connsiteY60" fmla="*/ 224831 h 666065"/>
              <a:gd name="connsiteX61" fmla="*/ 543468 w 672354"/>
              <a:gd name="connsiteY61" fmla="*/ 223146 h 666065"/>
              <a:gd name="connsiteX62" fmla="*/ 545725 w 672354"/>
              <a:gd name="connsiteY62" fmla="*/ 221088 h 666065"/>
              <a:gd name="connsiteX63" fmla="*/ 544496 w 672354"/>
              <a:gd name="connsiteY63" fmla="*/ 218393 h 666065"/>
              <a:gd name="connsiteX64" fmla="*/ 536876 w 672354"/>
              <a:gd name="connsiteY64" fmla="*/ 214011 h 666065"/>
              <a:gd name="connsiteX65" fmla="*/ 535695 w 672354"/>
              <a:gd name="connsiteY65" fmla="*/ 211306 h 666065"/>
              <a:gd name="connsiteX66" fmla="*/ 537600 w 672354"/>
              <a:gd name="connsiteY66" fmla="*/ 202505 h 666065"/>
              <a:gd name="connsiteX67" fmla="*/ 536362 w 672354"/>
              <a:gd name="connsiteY67" fmla="*/ 199590 h 666065"/>
              <a:gd name="connsiteX68" fmla="*/ 443465 w 672354"/>
              <a:gd name="connsiteY68" fmla="*/ 139907 h 666065"/>
              <a:gd name="connsiteX69" fmla="*/ 437598 w 672354"/>
              <a:gd name="connsiteY69" fmla="*/ 143898 h 666065"/>
              <a:gd name="connsiteX70" fmla="*/ 430987 w 672354"/>
              <a:gd name="connsiteY70" fmla="*/ 163519 h 666065"/>
              <a:gd name="connsiteX71" fmla="*/ 425491 w 672354"/>
              <a:gd name="connsiteY71" fmla="*/ 167520 h 666065"/>
              <a:gd name="connsiteX72" fmla="*/ 405308 w 672354"/>
              <a:gd name="connsiteY72" fmla="*/ 167520 h 666065"/>
              <a:gd name="connsiteX73" fmla="*/ 399802 w 672354"/>
              <a:gd name="connsiteY73" fmla="*/ 171520 h 666065"/>
              <a:gd name="connsiteX74" fmla="*/ 401631 w 672354"/>
              <a:gd name="connsiteY74" fmla="*/ 178055 h 666065"/>
              <a:gd name="connsiteX75" fmla="*/ 408603 w 672354"/>
              <a:gd name="connsiteY75" fmla="*/ 184236 h 666065"/>
              <a:gd name="connsiteX76" fmla="*/ 417414 w 672354"/>
              <a:gd name="connsiteY76" fmla="*/ 192228 h 666065"/>
              <a:gd name="connsiteX77" fmla="*/ 419252 w 672354"/>
              <a:gd name="connsiteY77" fmla="*/ 195085 h 666065"/>
              <a:gd name="connsiteX78" fmla="*/ 419252 w 672354"/>
              <a:gd name="connsiteY78" fmla="*/ 198352 h 666065"/>
              <a:gd name="connsiteX79" fmla="*/ 413014 w 672354"/>
              <a:gd name="connsiteY79" fmla="*/ 219069 h 666065"/>
              <a:gd name="connsiteX80" fmla="*/ 415233 w 672354"/>
              <a:gd name="connsiteY80" fmla="*/ 225632 h 666065"/>
              <a:gd name="connsiteX81" fmla="*/ 422205 w 672354"/>
              <a:gd name="connsiteY81" fmla="*/ 225632 h 666065"/>
              <a:gd name="connsiteX82" fmla="*/ 439817 w 672354"/>
              <a:gd name="connsiteY82" fmla="*/ 213250 h 666065"/>
              <a:gd name="connsiteX83" fmla="*/ 446789 w 672354"/>
              <a:gd name="connsiteY83" fmla="*/ 213250 h 666065"/>
              <a:gd name="connsiteX84" fmla="*/ 464382 w 672354"/>
              <a:gd name="connsiteY84" fmla="*/ 225632 h 666065"/>
              <a:gd name="connsiteX85" fmla="*/ 471354 w 672354"/>
              <a:gd name="connsiteY85" fmla="*/ 225632 h 666065"/>
              <a:gd name="connsiteX86" fmla="*/ 473554 w 672354"/>
              <a:gd name="connsiteY86" fmla="*/ 219098 h 666065"/>
              <a:gd name="connsiteX87" fmla="*/ 467316 w 672354"/>
              <a:gd name="connsiteY87" fmla="*/ 198381 h 666065"/>
              <a:gd name="connsiteX88" fmla="*/ 469154 w 672354"/>
              <a:gd name="connsiteY88" fmla="*/ 192209 h 666065"/>
              <a:gd name="connsiteX89" fmla="*/ 485346 w 672354"/>
              <a:gd name="connsiteY89" fmla="*/ 178398 h 666065"/>
              <a:gd name="connsiteX90" fmla="*/ 487185 w 672354"/>
              <a:gd name="connsiteY90" fmla="*/ 171863 h 666065"/>
              <a:gd name="connsiteX91" fmla="*/ 481632 w 672354"/>
              <a:gd name="connsiteY91" fmla="*/ 167882 h 666065"/>
              <a:gd name="connsiteX92" fmla="*/ 461448 w 672354"/>
              <a:gd name="connsiteY92" fmla="*/ 167882 h 666065"/>
              <a:gd name="connsiteX93" fmla="*/ 455943 w 672354"/>
              <a:gd name="connsiteY93" fmla="*/ 163891 h 666065"/>
              <a:gd name="connsiteX94" fmla="*/ 449342 w 672354"/>
              <a:gd name="connsiteY94" fmla="*/ 144269 h 666065"/>
              <a:gd name="connsiteX95" fmla="*/ 443465 w 672354"/>
              <a:gd name="connsiteY95" fmla="*/ 139907 h 666065"/>
              <a:gd name="connsiteX96" fmla="*/ 336177 w 672354"/>
              <a:gd name="connsiteY96" fmla="*/ 0 h 666065"/>
              <a:gd name="connsiteX97" fmla="*/ 672354 w 672354"/>
              <a:gd name="connsiteY97" fmla="*/ 336177 h 666065"/>
              <a:gd name="connsiteX98" fmla="*/ 467032 w 672354"/>
              <a:gd name="connsiteY98" fmla="*/ 645936 h 666065"/>
              <a:gd name="connsiteX99" fmla="*/ 407327 w 672354"/>
              <a:gd name="connsiteY99" fmla="*/ 664469 h 666065"/>
              <a:gd name="connsiteX100" fmla="*/ 407327 w 672354"/>
              <a:gd name="connsiteY100" fmla="*/ 503962 h 666065"/>
              <a:gd name="connsiteX101" fmla="*/ 471354 w 672354"/>
              <a:gd name="connsiteY101" fmla="*/ 280953 h 666065"/>
              <a:gd name="connsiteX102" fmla="*/ 441126 w 672354"/>
              <a:gd name="connsiteY102" fmla="*/ 254126 h 666065"/>
              <a:gd name="connsiteX103" fmla="*/ 414299 w 672354"/>
              <a:gd name="connsiteY103" fmla="*/ 284353 h 666065"/>
              <a:gd name="connsiteX104" fmla="*/ 362274 w 672354"/>
              <a:gd name="connsiteY104" fmla="*/ 468519 h 666065"/>
              <a:gd name="connsiteX105" fmla="*/ 349891 w 672354"/>
              <a:gd name="connsiteY105" fmla="*/ 468519 h 666065"/>
              <a:gd name="connsiteX106" fmla="*/ 322564 w 672354"/>
              <a:gd name="connsiteY106" fmla="*/ 472900 h 666065"/>
              <a:gd name="connsiteX107" fmla="*/ 315763 w 672354"/>
              <a:gd name="connsiteY107" fmla="*/ 474967 h 666065"/>
              <a:gd name="connsiteX108" fmla="*/ 159205 w 672354"/>
              <a:gd name="connsiteY108" fmla="*/ 595804 h 666065"/>
              <a:gd name="connsiteX109" fmla="*/ 148435 w 672354"/>
              <a:gd name="connsiteY109" fmla="*/ 615058 h 666065"/>
              <a:gd name="connsiteX110" fmla="*/ 148218 w 672354"/>
              <a:gd name="connsiteY110" fmla="*/ 614940 h 666065"/>
              <a:gd name="connsiteX111" fmla="*/ 0 w 672354"/>
              <a:gd name="connsiteY111" fmla="*/ 336177 h 666065"/>
              <a:gd name="connsiteX112" fmla="*/ 336177 w 672354"/>
              <a:gd name="connsiteY112" fmla="*/ 0 h 66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72354" h="666065">
                <a:moveTo>
                  <a:pt x="273786" y="560045"/>
                </a:moveTo>
                <a:lnTo>
                  <a:pt x="273786" y="666065"/>
                </a:lnTo>
                <a:lnTo>
                  <a:pt x="268426" y="665524"/>
                </a:lnTo>
                <a:cubicBezTo>
                  <a:pt x="246542" y="661046"/>
                  <a:pt x="225432" y="654441"/>
                  <a:pt x="205322" y="645936"/>
                </a:cubicBezTo>
                <a:lnTo>
                  <a:pt x="199831" y="642955"/>
                </a:lnTo>
                <a:lnTo>
                  <a:pt x="218437" y="612031"/>
                </a:lnTo>
                <a:cubicBezTo>
                  <a:pt x="234746" y="591523"/>
                  <a:pt x="253093" y="574295"/>
                  <a:pt x="273786" y="560045"/>
                </a:cubicBezTo>
                <a:close/>
                <a:moveTo>
                  <a:pt x="305515" y="339627"/>
                </a:moveTo>
                <a:cubicBezTo>
                  <a:pt x="273952" y="339627"/>
                  <a:pt x="248365" y="365214"/>
                  <a:pt x="248365" y="396777"/>
                </a:cubicBezTo>
                <a:cubicBezTo>
                  <a:pt x="248365" y="428340"/>
                  <a:pt x="273952" y="453927"/>
                  <a:pt x="305515" y="453927"/>
                </a:cubicBezTo>
                <a:cubicBezTo>
                  <a:pt x="337078" y="453927"/>
                  <a:pt x="362665" y="428340"/>
                  <a:pt x="362665" y="396777"/>
                </a:cubicBezTo>
                <a:cubicBezTo>
                  <a:pt x="362665" y="365214"/>
                  <a:pt x="337078" y="339627"/>
                  <a:pt x="305515" y="339627"/>
                </a:cubicBezTo>
                <a:close/>
                <a:moveTo>
                  <a:pt x="358807" y="218335"/>
                </a:moveTo>
                <a:cubicBezTo>
                  <a:pt x="357733" y="218602"/>
                  <a:pt x="356897" y="219442"/>
                  <a:pt x="356635" y="220517"/>
                </a:cubicBezTo>
                <a:lnTo>
                  <a:pt x="355445" y="229441"/>
                </a:lnTo>
                <a:cubicBezTo>
                  <a:pt x="355347" y="230539"/>
                  <a:pt x="354514" y="231427"/>
                  <a:pt x="353425" y="231594"/>
                </a:cubicBezTo>
                <a:lnTo>
                  <a:pt x="344805" y="233242"/>
                </a:lnTo>
                <a:cubicBezTo>
                  <a:pt x="343716" y="233409"/>
                  <a:pt x="342883" y="234297"/>
                  <a:pt x="342786" y="235395"/>
                </a:cubicBezTo>
                <a:cubicBezTo>
                  <a:pt x="342667" y="236461"/>
                  <a:pt x="343186" y="237498"/>
                  <a:pt x="344110" y="238043"/>
                </a:cubicBezTo>
                <a:lnTo>
                  <a:pt x="347606" y="240100"/>
                </a:lnTo>
                <a:lnTo>
                  <a:pt x="352035" y="242796"/>
                </a:lnTo>
                <a:cubicBezTo>
                  <a:pt x="352452" y="243079"/>
                  <a:pt x="352802" y="243450"/>
                  <a:pt x="353063" y="243881"/>
                </a:cubicBezTo>
                <a:cubicBezTo>
                  <a:pt x="353306" y="244305"/>
                  <a:pt x="353401" y="244798"/>
                  <a:pt x="353330" y="245282"/>
                </a:cubicBezTo>
                <a:lnTo>
                  <a:pt x="352378" y="254635"/>
                </a:lnTo>
                <a:cubicBezTo>
                  <a:pt x="352231" y="255742"/>
                  <a:pt x="352838" y="256813"/>
                  <a:pt x="353863" y="257254"/>
                </a:cubicBezTo>
                <a:cubicBezTo>
                  <a:pt x="354879" y="257703"/>
                  <a:pt x="356067" y="257475"/>
                  <a:pt x="356845" y="256683"/>
                </a:cubicBezTo>
                <a:lnTo>
                  <a:pt x="363341" y="250015"/>
                </a:lnTo>
                <a:cubicBezTo>
                  <a:pt x="364118" y="249221"/>
                  <a:pt x="365309" y="248996"/>
                  <a:pt x="366322" y="249454"/>
                </a:cubicBezTo>
                <a:lnTo>
                  <a:pt x="374895" y="253264"/>
                </a:lnTo>
                <a:cubicBezTo>
                  <a:pt x="375907" y="253711"/>
                  <a:pt x="377092" y="253483"/>
                  <a:pt x="377866" y="252692"/>
                </a:cubicBezTo>
                <a:cubicBezTo>
                  <a:pt x="378641" y="251898"/>
                  <a:pt x="378803" y="250691"/>
                  <a:pt x="378266" y="249720"/>
                </a:cubicBezTo>
                <a:lnTo>
                  <a:pt x="373875" y="241376"/>
                </a:lnTo>
                <a:cubicBezTo>
                  <a:pt x="373384" y="240478"/>
                  <a:pt x="373494" y="239370"/>
                  <a:pt x="374152" y="238585"/>
                </a:cubicBezTo>
                <a:lnTo>
                  <a:pt x="379867" y="231375"/>
                </a:lnTo>
                <a:cubicBezTo>
                  <a:pt x="380776" y="230270"/>
                  <a:pt x="380618" y="228638"/>
                  <a:pt x="379514" y="227728"/>
                </a:cubicBezTo>
                <a:cubicBezTo>
                  <a:pt x="378932" y="227249"/>
                  <a:pt x="378171" y="227047"/>
                  <a:pt x="377428" y="227175"/>
                </a:cubicBezTo>
                <a:lnTo>
                  <a:pt x="368799" y="228822"/>
                </a:lnTo>
                <a:cubicBezTo>
                  <a:pt x="367730" y="228996"/>
                  <a:pt x="366665" y="228492"/>
                  <a:pt x="366122" y="227556"/>
                </a:cubicBezTo>
                <a:lnTo>
                  <a:pt x="361664" y="219716"/>
                </a:lnTo>
                <a:cubicBezTo>
                  <a:pt x="361079" y="218721"/>
                  <a:pt x="359951" y="218176"/>
                  <a:pt x="358807" y="218335"/>
                </a:cubicBezTo>
                <a:close/>
                <a:moveTo>
                  <a:pt x="536362" y="199590"/>
                </a:moveTo>
                <a:cubicBezTo>
                  <a:pt x="535367" y="199090"/>
                  <a:pt x="534177" y="199177"/>
                  <a:pt x="533266" y="199819"/>
                </a:cubicBezTo>
                <a:lnTo>
                  <a:pt x="526437" y="205753"/>
                </a:lnTo>
                <a:cubicBezTo>
                  <a:pt x="525641" y="206520"/>
                  <a:pt x="524424" y="206650"/>
                  <a:pt x="523484" y="206067"/>
                </a:cubicBezTo>
                <a:lnTo>
                  <a:pt x="515864" y="201676"/>
                </a:lnTo>
                <a:cubicBezTo>
                  <a:pt x="514924" y="201094"/>
                  <a:pt x="513708" y="201223"/>
                  <a:pt x="512911" y="201990"/>
                </a:cubicBezTo>
                <a:cubicBezTo>
                  <a:pt x="512120" y="202712"/>
                  <a:pt x="511822" y="203828"/>
                  <a:pt x="512149" y="204848"/>
                </a:cubicBezTo>
                <a:lnTo>
                  <a:pt x="513407" y="208658"/>
                </a:lnTo>
                <a:lnTo>
                  <a:pt x="514940" y="213573"/>
                </a:lnTo>
                <a:cubicBezTo>
                  <a:pt x="515050" y="214065"/>
                  <a:pt x="515050" y="214576"/>
                  <a:pt x="514940" y="215068"/>
                </a:cubicBezTo>
                <a:cubicBezTo>
                  <a:pt x="514841" y="215546"/>
                  <a:pt x="514587" y="215979"/>
                  <a:pt x="514216" y="216297"/>
                </a:cubicBezTo>
                <a:lnTo>
                  <a:pt x="507292" y="222726"/>
                </a:lnTo>
                <a:cubicBezTo>
                  <a:pt x="506440" y="223448"/>
                  <a:pt x="506182" y="224653"/>
                  <a:pt x="506663" y="225660"/>
                </a:cubicBezTo>
                <a:cubicBezTo>
                  <a:pt x="507136" y="226665"/>
                  <a:pt x="508185" y="227269"/>
                  <a:pt x="509292" y="227175"/>
                </a:cubicBezTo>
                <a:lnTo>
                  <a:pt x="518645" y="226355"/>
                </a:lnTo>
                <a:cubicBezTo>
                  <a:pt x="519749" y="226263"/>
                  <a:pt x="520794" y="226867"/>
                  <a:pt x="521265" y="227870"/>
                </a:cubicBezTo>
                <a:lnTo>
                  <a:pt x="525151" y="236338"/>
                </a:lnTo>
                <a:cubicBezTo>
                  <a:pt x="525622" y="237341"/>
                  <a:pt x="526666" y="237944"/>
                  <a:pt x="527770" y="237852"/>
                </a:cubicBezTo>
                <a:cubicBezTo>
                  <a:pt x="528879" y="237756"/>
                  <a:pt x="529798" y="236956"/>
                  <a:pt x="530047" y="235871"/>
                </a:cubicBezTo>
                <a:lnTo>
                  <a:pt x="532285" y="226736"/>
                </a:lnTo>
                <a:cubicBezTo>
                  <a:pt x="532516" y="225740"/>
                  <a:pt x="533331" y="224985"/>
                  <a:pt x="534343" y="224831"/>
                </a:cubicBezTo>
                <a:lnTo>
                  <a:pt x="543468" y="223146"/>
                </a:lnTo>
                <a:cubicBezTo>
                  <a:pt x="544554" y="222953"/>
                  <a:pt x="545433" y="222152"/>
                  <a:pt x="545725" y="221088"/>
                </a:cubicBezTo>
                <a:cubicBezTo>
                  <a:pt x="545885" y="220026"/>
                  <a:pt x="545403" y="218969"/>
                  <a:pt x="544496" y="218393"/>
                </a:cubicBezTo>
                <a:lnTo>
                  <a:pt x="536876" y="214011"/>
                </a:lnTo>
                <a:cubicBezTo>
                  <a:pt x="535949" y="213451"/>
                  <a:pt x="535475" y="212367"/>
                  <a:pt x="535695" y="211306"/>
                </a:cubicBezTo>
                <a:lnTo>
                  <a:pt x="537600" y="202505"/>
                </a:lnTo>
                <a:cubicBezTo>
                  <a:pt x="537813" y="201372"/>
                  <a:pt x="537325" y="200223"/>
                  <a:pt x="536362" y="199590"/>
                </a:cubicBezTo>
                <a:close/>
                <a:moveTo>
                  <a:pt x="443465" y="139907"/>
                </a:moveTo>
                <a:cubicBezTo>
                  <a:pt x="440922" y="140052"/>
                  <a:pt x="438666" y="141586"/>
                  <a:pt x="437598" y="143898"/>
                </a:cubicBezTo>
                <a:lnTo>
                  <a:pt x="430987" y="163519"/>
                </a:lnTo>
                <a:cubicBezTo>
                  <a:pt x="430296" y="165960"/>
                  <a:pt x="428026" y="167612"/>
                  <a:pt x="425491" y="167520"/>
                </a:cubicBezTo>
                <a:lnTo>
                  <a:pt x="405308" y="167520"/>
                </a:lnTo>
                <a:cubicBezTo>
                  <a:pt x="402769" y="167424"/>
                  <a:pt x="400495" y="169077"/>
                  <a:pt x="399802" y="171520"/>
                </a:cubicBezTo>
                <a:cubicBezTo>
                  <a:pt x="399078" y="173869"/>
                  <a:pt x="399794" y="176423"/>
                  <a:pt x="401631" y="178055"/>
                </a:cubicBezTo>
                <a:lnTo>
                  <a:pt x="408603" y="184236"/>
                </a:lnTo>
                <a:lnTo>
                  <a:pt x="417414" y="192228"/>
                </a:lnTo>
                <a:cubicBezTo>
                  <a:pt x="418225" y="193037"/>
                  <a:pt x="418851" y="194012"/>
                  <a:pt x="419252" y="195085"/>
                </a:cubicBezTo>
                <a:cubicBezTo>
                  <a:pt x="419614" y="196144"/>
                  <a:pt x="419614" y="197294"/>
                  <a:pt x="419252" y="198352"/>
                </a:cubicBezTo>
                <a:lnTo>
                  <a:pt x="413014" y="219069"/>
                </a:lnTo>
                <a:cubicBezTo>
                  <a:pt x="412168" y="221507"/>
                  <a:pt x="413081" y="224208"/>
                  <a:pt x="415233" y="225632"/>
                </a:cubicBezTo>
                <a:cubicBezTo>
                  <a:pt x="417328" y="227089"/>
                  <a:pt x="420110" y="227089"/>
                  <a:pt x="422205" y="225632"/>
                </a:cubicBezTo>
                <a:lnTo>
                  <a:pt x="439817" y="213250"/>
                </a:lnTo>
                <a:cubicBezTo>
                  <a:pt x="441916" y="211803"/>
                  <a:pt x="444690" y="211803"/>
                  <a:pt x="446789" y="213250"/>
                </a:cubicBezTo>
                <a:lnTo>
                  <a:pt x="464382" y="225632"/>
                </a:lnTo>
                <a:cubicBezTo>
                  <a:pt x="466477" y="227089"/>
                  <a:pt x="469259" y="227089"/>
                  <a:pt x="471354" y="225632"/>
                </a:cubicBezTo>
                <a:cubicBezTo>
                  <a:pt x="473437" y="224170"/>
                  <a:pt x="474329" y="221523"/>
                  <a:pt x="473554" y="219098"/>
                </a:cubicBezTo>
                <a:lnTo>
                  <a:pt x="467316" y="198381"/>
                </a:lnTo>
                <a:cubicBezTo>
                  <a:pt x="466600" y="196141"/>
                  <a:pt x="467330" y="193692"/>
                  <a:pt x="469154" y="192209"/>
                </a:cubicBezTo>
                <a:lnTo>
                  <a:pt x="485346" y="178398"/>
                </a:lnTo>
                <a:cubicBezTo>
                  <a:pt x="487150" y="176746"/>
                  <a:pt x="487863" y="174214"/>
                  <a:pt x="487185" y="171863"/>
                </a:cubicBezTo>
                <a:cubicBezTo>
                  <a:pt x="486262" y="169572"/>
                  <a:pt x="484098" y="168021"/>
                  <a:pt x="481632" y="167882"/>
                </a:cubicBezTo>
                <a:lnTo>
                  <a:pt x="461448" y="167882"/>
                </a:lnTo>
                <a:cubicBezTo>
                  <a:pt x="458960" y="167831"/>
                  <a:pt x="456765" y="166240"/>
                  <a:pt x="455943" y="163891"/>
                </a:cubicBezTo>
                <a:lnTo>
                  <a:pt x="449342" y="144269"/>
                </a:lnTo>
                <a:cubicBezTo>
                  <a:pt x="448427" y="141774"/>
                  <a:pt x="446119" y="140060"/>
                  <a:pt x="443465" y="139907"/>
                </a:cubicBezTo>
                <a:close/>
                <a:moveTo>
                  <a:pt x="336177" y="0"/>
                </a:moveTo>
                <a:cubicBezTo>
                  <a:pt x="521842" y="0"/>
                  <a:pt x="672354" y="150512"/>
                  <a:pt x="672354" y="336177"/>
                </a:cubicBezTo>
                <a:cubicBezTo>
                  <a:pt x="672354" y="475426"/>
                  <a:pt x="587691" y="594901"/>
                  <a:pt x="467032" y="645936"/>
                </a:cubicBezTo>
                <a:lnTo>
                  <a:pt x="407327" y="664469"/>
                </a:lnTo>
                <a:lnTo>
                  <a:pt x="407327" y="503962"/>
                </a:lnTo>
                <a:cubicBezTo>
                  <a:pt x="454013" y="439362"/>
                  <a:pt x="476660" y="360480"/>
                  <a:pt x="471354" y="280953"/>
                </a:cubicBezTo>
                <a:cubicBezTo>
                  <a:pt x="470415" y="265197"/>
                  <a:pt x="456882" y="253186"/>
                  <a:pt x="441126" y="254126"/>
                </a:cubicBezTo>
                <a:cubicBezTo>
                  <a:pt x="425371" y="255065"/>
                  <a:pt x="413360" y="268598"/>
                  <a:pt x="414299" y="284353"/>
                </a:cubicBezTo>
                <a:cubicBezTo>
                  <a:pt x="418917" y="349925"/>
                  <a:pt x="400518" y="415055"/>
                  <a:pt x="362274" y="468519"/>
                </a:cubicBezTo>
                <a:lnTo>
                  <a:pt x="349891" y="468519"/>
                </a:lnTo>
                <a:cubicBezTo>
                  <a:pt x="340633" y="468815"/>
                  <a:pt x="331451" y="470288"/>
                  <a:pt x="322564" y="472900"/>
                </a:cubicBezTo>
                <a:cubicBezTo>
                  <a:pt x="319840" y="473624"/>
                  <a:pt x="318144" y="474101"/>
                  <a:pt x="315763" y="474967"/>
                </a:cubicBezTo>
                <a:cubicBezTo>
                  <a:pt x="249634" y="499014"/>
                  <a:pt x="198715" y="538077"/>
                  <a:pt x="159205" y="595804"/>
                </a:cubicBezTo>
                <a:lnTo>
                  <a:pt x="148435" y="615058"/>
                </a:lnTo>
                <a:lnTo>
                  <a:pt x="148218" y="614940"/>
                </a:lnTo>
                <a:cubicBezTo>
                  <a:pt x="58794" y="554527"/>
                  <a:pt x="0" y="452218"/>
                  <a:pt x="0" y="336177"/>
                </a:cubicBezTo>
                <a:cubicBezTo>
                  <a:pt x="0" y="150512"/>
                  <a:pt x="150512" y="0"/>
                  <a:pt x="336177" y="0"/>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en-GB" sz="2400" noProof="0" dirty="0">
              <a:solidFill>
                <a:schemeClr val="tx1">
                  <a:lumMod val="95000"/>
                  <a:lumOff val="5000"/>
                </a:schemeClr>
              </a:solidFill>
              <a:latin typeface="Aptos Black" panose="020B0004020202020204" pitchFamily="34" charset="0"/>
            </a:endParaRPr>
          </a:p>
        </p:txBody>
      </p:sp>
      <p:sp>
        <p:nvSpPr>
          <p:cNvPr id="11" name="TextBox 10">
            <a:extLst>
              <a:ext uri="{FF2B5EF4-FFF2-40B4-BE49-F238E27FC236}">
                <a16:creationId xmlns:a16="http://schemas.microsoft.com/office/drawing/2014/main" id="{30CFA38B-13BD-7427-FF62-784633F67E91}"/>
              </a:ext>
            </a:extLst>
          </p:cNvPr>
          <p:cNvSpPr txBox="1"/>
          <p:nvPr/>
        </p:nvSpPr>
        <p:spPr>
          <a:xfrm>
            <a:off x="1993105" y="3423905"/>
            <a:ext cx="5907884" cy="2031325"/>
          </a:xfrm>
          <a:prstGeom prst="rect">
            <a:avLst/>
          </a:prstGeom>
          <a:noFill/>
        </p:spPr>
        <p:txBody>
          <a:bodyPr wrap="square">
            <a:spAutoFit/>
          </a:bodyPr>
          <a:lstStyle/>
          <a:p>
            <a:pPr marL="285750" indent="-285750">
              <a:buFont typeface="Arial" panose="020B0604020202020204" pitchFamily="34" charset="0"/>
              <a:buChar char="•"/>
            </a:pPr>
            <a:r>
              <a:rPr lang="en-US" b="1" noProof="0" dirty="0">
                <a:solidFill>
                  <a:schemeClr val="bg1"/>
                </a:solidFill>
                <a:highlight>
                  <a:srgbClr val="000000"/>
                </a:highlight>
              </a:rPr>
              <a:t>Describe the three main research methodologies </a:t>
            </a:r>
            <a:r>
              <a:rPr lang="en-US" noProof="0" dirty="0">
                <a:solidFill>
                  <a:schemeClr val="bg1"/>
                </a:solidFill>
              </a:rPr>
              <a:t>and their differences to select an approach appropriate for your study.</a:t>
            </a:r>
            <a:br>
              <a:rPr lang="en-US" noProof="0" dirty="0">
                <a:solidFill>
                  <a:schemeClr val="bg1"/>
                </a:solidFill>
              </a:rPr>
            </a:br>
            <a:endParaRPr lang="en-US" noProof="0" dirty="0">
              <a:solidFill>
                <a:schemeClr val="bg1"/>
              </a:solidFill>
            </a:endParaRPr>
          </a:p>
          <a:p>
            <a:pPr marL="285750" indent="-285750">
              <a:buFont typeface="Arial" panose="020B0604020202020204" pitchFamily="34" charset="0"/>
              <a:buChar char="•"/>
            </a:pPr>
            <a:r>
              <a:rPr lang="en-US" noProof="0" dirty="0">
                <a:solidFill>
                  <a:schemeClr val="bg1"/>
                </a:solidFill>
              </a:rPr>
              <a:t>Explain the relationship between </a:t>
            </a:r>
            <a:r>
              <a:rPr lang="en-US" b="1" noProof="0" dirty="0">
                <a:solidFill>
                  <a:schemeClr val="bg1"/>
                </a:solidFill>
                <a:highlight>
                  <a:srgbClr val="000000"/>
                </a:highlight>
              </a:rPr>
              <a:t>philosophical worldviews, underlying assumptions, research designs and methods</a:t>
            </a:r>
            <a:r>
              <a:rPr lang="en-US" noProof="0" dirty="0">
                <a:solidFill>
                  <a:schemeClr val="bg1"/>
                </a:solidFill>
              </a:rPr>
              <a:t>.</a:t>
            </a:r>
          </a:p>
        </p:txBody>
      </p:sp>
    </p:spTree>
    <p:extLst>
      <p:ext uri="{BB962C8B-B14F-4D97-AF65-F5344CB8AC3E}">
        <p14:creationId xmlns:p14="http://schemas.microsoft.com/office/powerpoint/2010/main" val="544555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4505F-02F5-5837-28BB-FB54337D0D6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AC35912-3665-1D6A-C85E-7676D5D84FFA}"/>
              </a:ext>
            </a:extLst>
          </p:cNvPr>
          <p:cNvSpPr/>
          <p:nvPr/>
        </p:nvSpPr>
        <p:spPr>
          <a:xfrm>
            <a:off x="0" y="-2750"/>
            <a:ext cx="12192000" cy="6858000"/>
          </a:xfrm>
          <a:prstGeom prst="rect">
            <a:avLst/>
          </a:prstGeom>
          <a:gradFill flip="none" rotWithShape="1">
            <a:gsLst>
              <a:gs pos="100000">
                <a:srgbClr val="F22D1C"/>
              </a:gs>
              <a:gs pos="47000">
                <a:srgbClr val="FF5050">
                  <a:alpha val="94902"/>
                </a:srgbClr>
              </a:gs>
              <a:gs pos="0">
                <a:srgbClr val="FF7C80"/>
              </a:gs>
            </a:gsLst>
            <a:lin ang="12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 name="Slide Number Placeholder 2">
            <a:extLst>
              <a:ext uri="{FF2B5EF4-FFF2-40B4-BE49-F238E27FC236}">
                <a16:creationId xmlns:a16="http://schemas.microsoft.com/office/drawing/2014/main" id="{69E17E17-ABEA-35BC-FA97-6EFB430B5019}"/>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bg1"/>
                </a:solidFill>
              </a:rPr>
              <a:t>25</a:t>
            </a:fld>
            <a:endParaRPr lang="en-GB" noProof="0" dirty="0">
              <a:solidFill>
                <a:schemeClr val="bg1"/>
              </a:solidFill>
            </a:endParaRPr>
          </a:p>
        </p:txBody>
      </p:sp>
      <p:sp>
        <p:nvSpPr>
          <p:cNvPr id="4" name="Date Placeholder 3">
            <a:extLst>
              <a:ext uri="{FF2B5EF4-FFF2-40B4-BE49-F238E27FC236}">
                <a16:creationId xmlns:a16="http://schemas.microsoft.com/office/drawing/2014/main" id="{A96A5D59-93EF-CB0D-17E0-C890E9674D16}"/>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sp>
        <p:nvSpPr>
          <p:cNvPr id="9" name="TextBox 8">
            <a:extLst>
              <a:ext uri="{FF2B5EF4-FFF2-40B4-BE49-F238E27FC236}">
                <a16:creationId xmlns:a16="http://schemas.microsoft.com/office/drawing/2014/main" id="{9D9D112C-042B-8227-5951-742210CE780F}"/>
              </a:ext>
            </a:extLst>
          </p:cNvPr>
          <p:cNvSpPr txBox="1"/>
          <p:nvPr/>
        </p:nvSpPr>
        <p:spPr>
          <a:xfrm>
            <a:off x="1297780" y="3082590"/>
            <a:ext cx="9596439" cy="692818"/>
          </a:xfrm>
          <a:prstGeom prst="rect">
            <a:avLst/>
          </a:prstGeom>
          <a:noFill/>
        </p:spPr>
        <p:txBody>
          <a:bodyPr wrap="square" rtlCol="0">
            <a:spAutoFit/>
          </a:bodyPr>
          <a:lstStyle/>
          <a:p>
            <a:pPr>
              <a:lnSpc>
                <a:spcPts val="4600"/>
              </a:lnSpc>
            </a:pPr>
            <a:r>
              <a:rPr lang="en-GB" sz="4800" noProof="0" dirty="0">
                <a:solidFill>
                  <a:schemeClr val="bg1"/>
                </a:solidFill>
                <a:latin typeface="Aptos Black" panose="020F0502020204030204" pitchFamily="34" charset="0"/>
              </a:rPr>
              <a:t>How do you </a:t>
            </a:r>
            <a:r>
              <a:rPr lang="en-GB" sz="4800" noProof="0" dirty="0">
                <a:highlight>
                  <a:srgbClr val="FFC000"/>
                </a:highlight>
                <a:latin typeface="Aptos Black" panose="020F0502020204030204" pitchFamily="34" charset="0"/>
              </a:rPr>
              <a:t>approach</a:t>
            </a:r>
            <a:r>
              <a:rPr lang="en-GB" sz="4800" noProof="0" dirty="0">
                <a:solidFill>
                  <a:schemeClr val="bg1"/>
                </a:solidFill>
                <a:latin typeface="Aptos Black" panose="020F0502020204030204" pitchFamily="34" charset="0"/>
              </a:rPr>
              <a:t> research?</a:t>
            </a:r>
          </a:p>
        </p:txBody>
      </p:sp>
    </p:spTree>
    <p:extLst>
      <p:ext uri="{BB962C8B-B14F-4D97-AF65-F5344CB8AC3E}">
        <p14:creationId xmlns:p14="http://schemas.microsoft.com/office/powerpoint/2010/main" val="1195619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F2B14-C920-991B-EB66-C02F37162A4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98E0E5-1750-1BBA-FB18-F89E3057E855}"/>
              </a:ext>
            </a:extLst>
          </p:cNvPr>
          <p:cNvSpPr>
            <a:spLocks noGrp="1"/>
          </p:cNvSpPr>
          <p:nvPr>
            <p:ph type="sldNum" sz="quarter" idx="12"/>
          </p:nvPr>
        </p:nvSpPr>
        <p:spPr/>
        <p:txBody>
          <a:bodyPr/>
          <a:lstStyle/>
          <a:p>
            <a:fld id="{330EA680-D336-4FF7-8B7A-9848BB0A1C32}" type="slidenum">
              <a:rPr lang="en-GB" noProof="0" smtClean="0"/>
              <a:t>26</a:t>
            </a:fld>
            <a:endParaRPr lang="en-GB" noProof="0" dirty="0"/>
          </a:p>
        </p:txBody>
      </p:sp>
      <p:sp>
        <p:nvSpPr>
          <p:cNvPr id="4" name="Date Placeholder 3">
            <a:extLst>
              <a:ext uri="{FF2B5EF4-FFF2-40B4-BE49-F238E27FC236}">
                <a16:creationId xmlns:a16="http://schemas.microsoft.com/office/drawing/2014/main" id="{B1E4F268-DE62-B807-CDDE-D6243951168B}"/>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6" name="TextBox 5">
            <a:extLst>
              <a:ext uri="{FF2B5EF4-FFF2-40B4-BE49-F238E27FC236}">
                <a16:creationId xmlns:a16="http://schemas.microsoft.com/office/drawing/2014/main" id="{864AB1A1-5379-7660-D6BC-9F62023F00F1}"/>
              </a:ext>
            </a:extLst>
          </p:cNvPr>
          <p:cNvSpPr txBox="1"/>
          <p:nvPr/>
        </p:nvSpPr>
        <p:spPr>
          <a:xfrm>
            <a:off x="891590" y="2096926"/>
            <a:ext cx="9961232" cy="646331"/>
          </a:xfrm>
          <a:prstGeom prst="rect">
            <a:avLst/>
          </a:prstGeom>
          <a:noFill/>
        </p:spPr>
        <p:txBody>
          <a:bodyPr wrap="square">
            <a:spAutoFit/>
          </a:bodyPr>
          <a:lstStyle/>
          <a:p>
            <a:r>
              <a:rPr lang="en-US" altLang="en-US" dirty="0">
                <a:latin typeface="Segoe UI" panose="020B0502040204020203" pitchFamily="34" charset="0"/>
                <a:cs typeface="Segoe UI" panose="020B0502040204020203" pitchFamily="34" charset="0"/>
              </a:rPr>
              <a:t>Research approaches are processes that encompass several stages: </a:t>
            </a:r>
            <a:r>
              <a:rPr lang="en-US" altLang="en-US" b="1" dirty="0">
                <a:latin typeface="Segoe UI" panose="020B0502040204020203" pitchFamily="34" charset="0"/>
                <a:cs typeface="Segoe UI" panose="020B0502040204020203" pitchFamily="34" charset="0"/>
              </a:rPr>
              <a:t>from the definition of assumptions to the collection and interpretation of data.</a:t>
            </a:r>
            <a:endParaRPr lang="en-GB" b="1" noProof="0" dirty="0"/>
          </a:p>
        </p:txBody>
      </p:sp>
      <p:sp>
        <p:nvSpPr>
          <p:cNvPr id="8" name="Título 1">
            <a:extLst>
              <a:ext uri="{FF2B5EF4-FFF2-40B4-BE49-F238E27FC236}">
                <a16:creationId xmlns:a16="http://schemas.microsoft.com/office/drawing/2014/main" id="{20BF4BE6-B772-D45B-44CF-C5F49868C71C}"/>
              </a:ext>
            </a:extLst>
          </p:cNvPr>
          <p:cNvSpPr txBox="1">
            <a:spLocks/>
          </p:cNvSpPr>
          <p:nvPr/>
        </p:nvSpPr>
        <p:spPr>
          <a:xfrm>
            <a:off x="891590" y="501650"/>
            <a:ext cx="5297731" cy="53483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Research approaches</a:t>
            </a:r>
          </a:p>
        </p:txBody>
      </p:sp>
      <p:sp>
        <p:nvSpPr>
          <p:cNvPr id="14" name="TextBox 13">
            <a:extLst>
              <a:ext uri="{FF2B5EF4-FFF2-40B4-BE49-F238E27FC236}">
                <a16:creationId xmlns:a16="http://schemas.microsoft.com/office/drawing/2014/main" id="{403B05BA-3999-0E0D-235A-70A9F994262B}"/>
              </a:ext>
            </a:extLst>
          </p:cNvPr>
          <p:cNvSpPr txBox="1"/>
          <p:nvPr/>
        </p:nvSpPr>
        <p:spPr>
          <a:xfrm>
            <a:off x="891590" y="2971538"/>
            <a:ext cx="4066173" cy="798167"/>
          </a:xfrm>
          <a:prstGeom prst="rect">
            <a:avLst/>
          </a:prstGeom>
          <a:noFill/>
        </p:spPr>
        <p:txBody>
          <a:bodyPr wrap="square">
            <a:spAutoFit/>
          </a:bodyPr>
          <a:lstStyle/>
          <a:p>
            <a:pPr>
              <a:lnSpc>
                <a:spcPts val="1800"/>
              </a:lnSpc>
            </a:pPr>
            <a:r>
              <a:rPr lang="en-US" sz="2000" b="1" dirty="0">
                <a:solidFill>
                  <a:srgbClr val="FF0000"/>
                </a:solidFill>
              </a:rPr>
              <a:t>This process involves making multiple decisions across its various components.</a:t>
            </a:r>
          </a:p>
        </p:txBody>
      </p:sp>
      <p:sp>
        <p:nvSpPr>
          <p:cNvPr id="2" name="TextBox 1">
            <a:extLst>
              <a:ext uri="{FF2B5EF4-FFF2-40B4-BE49-F238E27FC236}">
                <a16:creationId xmlns:a16="http://schemas.microsoft.com/office/drawing/2014/main" id="{D831E49F-BE5D-C0A7-0C0A-77D496265C64}"/>
              </a:ext>
            </a:extLst>
          </p:cNvPr>
          <p:cNvSpPr txBox="1"/>
          <p:nvPr/>
        </p:nvSpPr>
        <p:spPr>
          <a:xfrm>
            <a:off x="891590" y="4011088"/>
            <a:ext cx="7130841" cy="646331"/>
          </a:xfrm>
          <a:prstGeom prst="rect">
            <a:avLst/>
          </a:prstGeom>
          <a:noFill/>
        </p:spPr>
        <p:txBody>
          <a:bodyPr wrap="square">
            <a:spAutoFit/>
          </a:bodyPr>
          <a:lstStyle/>
          <a:p>
            <a:r>
              <a:rPr lang="en-US" altLang="en-US" dirty="0">
                <a:latin typeface="Segoe UI" panose="020B0502040204020203" pitchFamily="34" charset="0"/>
                <a:cs typeface="Segoe UI" panose="020B0502040204020203" pitchFamily="34" charset="0"/>
              </a:rPr>
              <a:t>The most general decision within such processes concerns </a:t>
            </a:r>
            <a:r>
              <a:rPr lang="en-US" altLang="en-US" b="1" dirty="0">
                <a:highlight>
                  <a:srgbClr val="FFC000"/>
                </a:highlight>
                <a:latin typeface="Segoe UI" panose="020B0502040204020203" pitchFamily="34" charset="0"/>
                <a:cs typeface="Segoe UI" panose="020B0502040204020203" pitchFamily="34" charset="0"/>
              </a:rPr>
              <a:t>selecting the approach </a:t>
            </a:r>
            <a:r>
              <a:rPr lang="en-US" altLang="en-US" dirty="0">
                <a:latin typeface="Segoe UI" panose="020B0502040204020203" pitchFamily="34" charset="0"/>
                <a:cs typeface="Segoe UI" panose="020B0502040204020203" pitchFamily="34" charset="0"/>
              </a:rPr>
              <a:t>to be used to study a topic of interest</a:t>
            </a:r>
            <a:endParaRPr lang="en-GB" noProof="0" dirty="0"/>
          </a:p>
        </p:txBody>
      </p:sp>
      <p:sp>
        <p:nvSpPr>
          <p:cNvPr id="9" name="Footer Placeholder 4">
            <a:extLst>
              <a:ext uri="{FF2B5EF4-FFF2-40B4-BE49-F238E27FC236}">
                <a16:creationId xmlns:a16="http://schemas.microsoft.com/office/drawing/2014/main" id="{758B56AD-D2D1-0301-72C9-1290722839CD}"/>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a:solidFill>
                  <a:schemeClr val="bg1">
                    <a:lumMod val="85000"/>
                  </a:schemeClr>
                </a:solidFill>
              </a:rPr>
              <a:t>Data analysis</a:t>
            </a:r>
            <a:endParaRPr lang="en-GB" sz="1100" noProof="0" dirty="0">
              <a:solidFill>
                <a:schemeClr val="bg1">
                  <a:lumMod val="85000"/>
                </a:schemeClr>
              </a:solidFill>
            </a:endParaRPr>
          </a:p>
        </p:txBody>
      </p:sp>
    </p:spTree>
    <p:extLst>
      <p:ext uri="{BB962C8B-B14F-4D97-AF65-F5344CB8AC3E}">
        <p14:creationId xmlns:p14="http://schemas.microsoft.com/office/powerpoint/2010/main" val="3681488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5B51D-1700-5756-D174-E126C3F188E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005782-85A2-0C9D-B0C4-E2B62AA6A873}"/>
              </a:ext>
            </a:extLst>
          </p:cNvPr>
          <p:cNvSpPr>
            <a:spLocks noGrp="1"/>
          </p:cNvSpPr>
          <p:nvPr>
            <p:ph type="sldNum" sz="quarter" idx="12"/>
          </p:nvPr>
        </p:nvSpPr>
        <p:spPr/>
        <p:txBody>
          <a:bodyPr/>
          <a:lstStyle/>
          <a:p>
            <a:fld id="{330EA680-D336-4FF7-8B7A-9848BB0A1C32}" type="slidenum">
              <a:rPr lang="en-GB" noProof="0" smtClean="0"/>
              <a:t>27</a:t>
            </a:fld>
            <a:endParaRPr lang="en-GB" noProof="0" dirty="0"/>
          </a:p>
        </p:txBody>
      </p:sp>
      <p:sp>
        <p:nvSpPr>
          <p:cNvPr id="4" name="Date Placeholder 3">
            <a:extLst>
              <a:ext uri="{FF2B5EF4-FFF2-40B4-BE49-F238E27FC236}">
                <a16:creationId xmlns:a16="http://schemas.microsoft.com/office/drawing/2014/main" id="{A3ECFD7E-C43F-F676-F5BB-11960F57A9A3}"/>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8" name="Título 1">
            <a:extLst>
              <a:ext uri="{FF2B5EF4-FFF2-40B4-BE49-F238E27FC236}">
                <a16:creationId xmlns:a16="http://schemas.microsoft.com/office/drawing/2014/main" id="{5ACDC052-8755-5F13-6B5F-5DEC931CD958}"/>
              </a:ext>
            </a:extLst>
          </p:cNvPr>
          <p:cNvSpPr txBox="1">
            <a:spLocks/>
          </p:cNvSpPr>
          <p:nvPr/>
        </p:nvSpPr>
        <p:spPr>
          <a:xfrm>
            <a:off x="891590" y="501650"/>
            <a:ext cx="5297731" cy="5595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dirty="0">
                <a:solidFill>
                  <a:srgbClr val="FF0000"/>
                </a:solidFill>
                <a:latin typeface="Aptos SemiBold" panose="020F0502020204030204" pitchFamily="34" charset="0"/>
              </a:rPr>
              <a:t>Research approaches</a:t>
            </a:r>
          </a:p>
        </p:txBody>
      </p:sp>
      <p:sp>
        <p:nvSpPr>
          <p:cNvPr id="15" name="TextBox 14">
            <a:extLst>
              <a:ext uri="{FF2B5EF4-FFF2-40B4-BE49-F238E27FC236}">
                <a16:creationId xmlns:a16="http://schemas.microsoft.com/office/drawing/2014/main" id="{54A89EEF-5BDC-46CD-7EE4-0442C9513038}"/>
              </a:ext>
            </a:extLst>
          </p:cNvPr>
          <p:cNvSpPr txBox="1"/>
          <p:nvPr/>
        </p:nvSpPr>
        <p:spPr>
          <a:xfrm>
            <a:off x="1289722" y="2816627"/>
            <a:ext cx="3180678" cy="559512"/>
          </a:xfrm>
          <a:prstGeom prst="rect">
            <a:avLst/>
          </a:prstGeom>
          <a:noFill/>
        </p:spPr>
        <p:txBody>
          <a:bodyPr wrap="square">
            <a:spAutoFit/>
          </a:bodyPr>
          <a:lstStyle/>
          <a:p>
            <a:pPr>
              <a:lnSpc>
                <a:spcPts val="1800"/>
              </a:lnSpc>
            </a:pPr>
            <a:r>
              <a:rPr lang="en-GB" b="1" dirty="0">
                <a:solidFill>
                  <a:srgbClr val="FF0000"/>
                </a:solidFill>
              </a:rPr>
              <a:t>Research approaches or methodologies </a:t>
            </a:r>
            <a:endParaRPr lang="en-GB" b="1" noProof="0" dirty="0">
              <a:solidFill>
                <a:srgbClr val="FF0000"/>
              </a:solidFill>
              <a:latin typeface="Corbel" panose="020B0503020204020204" pitchFamily="34" charset="0"/>
            </a:endParaRPr>
          </a:p>
        </p:txBody>
      </p:sp>
      <p:sp>
        <p:nvSpPr>
          <p:cNvPr id="20" name="TextBox 19">
            <a:extLst>
              <a:ext uri="{FF2B5EF4-FFF2-40B4-BE49-F238E27FC236}">
                <a16:creationId xmlns:a16="http://schemas.microsoft.com/office/drawing/2014/main" id="{D0206BCC-243A-17EE-CDF9-520C5121910C}"/>
              </a:ext>
            </a:extLst>
          </p:cNvPr>
          <p:cNvSpPr txBox="1"/>
          <p:nvPr/>
        </p:nvSpPr>
        <p:spPr>
          <a:xfrm>
            <a:off x="5902324" y="3048370"/>
            <a:ext cx="3740822" cy="338554"/>
          </a:xfrm>
          <a:prstGeom prst="rect">
            <a:avLst/>
          </a:prstGeom>
          <a:noFill/>
        </p:spPr>
        <p:txBody>
          <a:bodyPr wrap="square">
            <a:spAutoFit/>
          </a:bodyPr>
          <a:lstStyle/>
          <a:p>
            <a:pPr lvl="0" eaLnBrk="0" fontAlgn="base" hangingPunct="0">
              <a:spcBef>
                <a:spcPct val="0"/>
              </a:spcBef>
              <a:spcAft>
                <a:spcPct val="0"/>
              </a:spcAft>
            </a:pPr>
            <a:r>
              <a:rPr lang="en-US" altLang="en-US" sz="1600" b="1" dirty="0">
                <a:cs typeface="Segoe UI" panose="020B0502040204020203" pitchFamily="34" charset="0"/>
              </a:rPr>
              <a:t>Research Designs</a:t>
            </a:r>
          </a:p>
        </p:txBody>
      </p:sp>
      <p:sp>
        <p:nvSpPr>
          <p:cNvPr id="24" name="TextBox 23">
            <a:extLst>
              <a:ext uri="{FF2B5EF4-FFF2-40B4-BE49-F238E27FC236}">
                <a16:creationId xmlns:a16="http://schemas.microsoft.com/office/drawing/2014/main" id="{2605F903-82B9-3935-BF96-EBE871EEBB1E}"/>
              </a:ext>
            </a:extLst>
          </p:cNvPr>
          <p:cNvSpPr txBox="1"/>
          <p:nvPr/>
        </p:nvSpPr>
        <p:spPr>
          <a:xfrm>
            <a:off x="1289722" y="3351285"/>
            <a:ext cx="3495588" cy="954107"/>
          </a:xfrm>
          <a:prstGeom prst="rect">
            <a:avLst/>
          </a:prstGeom>
          <a:noFill/>
        </p:spPr>
        <p:txBody>
          <a:bodyPr wrap="square">
            <a:spAutoFit/>
          </a:bodyPr>
          <a:lstStyle/>
          <a:p>
            <a:r>
              <a:rPr lang="en-US" sz="1400" dirty="0">
                <a:solidFill>
                  <a:schemeClr val="bg1">
                    <a:lumMod val="65000"/>
                  </a:schemeClr>
                </a:solidFill>
                <a:latin typeface="Aptos Light" panose="020B0004020202020204" pitchFamily="34" charset="0"/>
              </a:rPr>
              <a:t>Encompass the major traditions that have emerged historically in the development of research. </a:t>
            </a:r>
            <a:r>
              <a:rPr lang="en-US" sz="1400" b="1" dirty="0">
                <a:highlight>
                  <a:srgbClr val="FFC000"/>
                </a:highlight>
                <a:latin typeface="Aptos Light" panose="020B0004020202020204" pitchFamily="34" charset="0"/>
              </a:rPr>
              <a:t>They guide how knowledge is generated and understood</a:t>
            </a:r>
            <a:r>
              <a:rPr lang="en-US" sz="1400" dirty="0">
                <a:solidFill>
                  <a:schemeClr val="bg1">
                    <a:lumMod val="65000"/>
                  </a:schemeClr>
                </a:solidFill>
                <a:latin typeface="Aptos Light" panose="020B0004020202020204" pitchFamily="34" charset="0"/>
              </a:rPr>
              <a:t>.</a:t>
            </a:r>
          </a:p>
        </p:txBody>
      </p:sp>
      <p:sp>
        <p:nvSpPr>
          <p:cNvPr id="25" name="TextBox 24">
            <a:extLst>
              <a:ext uri="{FF2B5EF4-FFF2-40B4-BE49-F238E27FC236}">
                <a16:creationId xmlns:a16="http://schemas.microsoft.com/office/drawing/2014/main" id="{3A421F61-562A-E19F-D8E0-F05A116CC950}"/>
              </a:ext>
            </a:extLst>
          </p:cNvPr>
          <p:cNvSpPr txBox="1"/>
          <p:nvPr/>
        </p:nvSpPr>
        <p:spPr>
          <a:xfrm>
            <a:off x="5902324" y="1660684"/>
            <a:ext cx="3216275" cy="338554"/>
          </a:xfrm>
          <a:prstGeom prst="rect">
            <a:avLst/>
          </a:prstGeom>
          <a:noFill/>
        </p:spPr>
        <p:txBody>
          <a:bodyPr wrap="square">
            <a:spAutoFit/>
          </a:bodyPr>
          <a:lstStyle/>
          <a:p>
            <a:pPr lvl="0" eaLnBrk="0" fontAlgn="base" hangingPunct="0">
              <a:spcBef>
                <a:spcPct val="0"/>
              </a:spcBef>
              <a:spcAft>
                <a:spcPct val="0"/>
              </a:spcAft>
            </a:pPr>
            <a:r>
              <a:rPr lang="en-US" altLang="en-US" sz="1600" b="1" dirty="0">
                <a:cs typeface="Segoe UI" panose="020B0502040204020203" pitchFamily="34" charset="0"/>
              </a:rPr>
              <a:t>Philosophical Assumptions</a:t>
            </a:r>
          </a:p>
        </p:txBody>
      </p:sp>
      <p:sp>
        <p:nvSpPr>
          <p:cNvPr id="27" name="TextBox 26">
            <a:extLst>
              <a:ext uri="{FF2B5EF4-FFF2-40B4-BE49-F238E27FC236}">
                <a16:creationId xmlns:a16="http://schemas.microsoft.com/office/drawing/2014/main" id="{9DA008D4-20CD-9F3E-71A9-9EA0919D2798}"/>
              </a:ext>
            </a:extLst>
          </p:cNvPr>
          <p:cNvSpPr txBox="1"/>
          <p:nvPr/>
        </p:nvSpPr>
        <p:spPr>
          <a:xfrm>
            <a:off x="5902324" y="1937131"/>
            <a:ext cx="5012392" cy="954107"/>
          </a:xfrm>
          <a:prstGeom prst="rect">
            <a:avLst/>
          </a:prstGeom>
          <a:noFill/>
        </p:spPr>
        <p:txBody>
          <a:bodyPr wrap="square">
            <a:spAutoFit/>
          </a:bodyPr>
          <a:lstStyle>
            <a:defPPr>
              <a:defRPr lang="en-US"/>
            </a:defPPr>
            <a:lvl1pPr>
              <a:defRPr>
                <a:solidFill>
                  <a:schemeClr val="bg1">
                    <a:lumMod val="65000"/>
                  </a:schemeClr>
                </a:solidFill>
              </a:defRPr>
            </a:lvl1pPr>
          </a:lstStyle>
          <a:p>
            <a:pPr lvl="0" eaLnBrk="0" fontAlgn="base" hangingPunct="0">
              <a:spcBef>
                <a:spcPct val="0"/>
              </a:spcBef>
              <a:spcAft>
                <a:spcPct val="0"/>
              </a:spcAft>
            </a:pPr>
            <a:r>
              <a:rPr lang="en-US" altLang="en-US" sz="1400" dirty="0">
                <a:latin typeface="Aptos Light" panose="020B0004020202020204" pitchFamily="34" charset="0"/>
              </a:rPr>
              <a:t>These are the researcher’s </a:t>
            </a:r>
            <a:r>
              <a:rPr lang="en-US" altLang="en-US" sz="1400" b="1" dirty="0">
                <a:solidFill>
                  <a:schemeClr val="tx1"/>
                </a:solidFill>
                <a:highlight>
                  <a:srgbClr val="FFC000"/>
                </a:highlight>
                <a:latin typeface="Aptos Light" panose="020B0004020202020204" pitchFamily="34" charset="0"/>
              </a:rPr>
              <a:t>subjective viewpoints and sets of beliefs that inform the overall approach taken in a study</a:t>
            </a:r>
            <a:r>
              <a:rPr lang="en-US" altLang="en-US" sz="1400" dirty="0">
                <a:latin typeface="Aptos Light" panose="020B0004020202020204" pitchFamily="34" charset="0"/>
              </a:rPr>
              <a:t>. They shape how the researcher understands reality and what counts as valid knowledge.</a:t>
            </a:r>
          </a:p>
        </p:txBody>
      </p:sp>
      <p:sp>
        <p:nvSpPr>
          <p:cNvPr id="29" name="TextBox 28">
            <a:extLst>
              <a:ext uri="{FF2B5EF4-FFF2-40B4-BE49-F238E27FC236}">
                <a16:creationId xmlns:a16="http://schemas.microsoft.com/office/drawing/2014/main" id="{38E46C6E-67B9-BBCF-5CF4-AEEFB60CDB6B}"/>
              </a:ext>
            </a:extLst>
          </p:cNvPr>
          <p:cNvSpPr txBox="1"/>
          <p:nvPr/>
        </p:nvSpPr>
        <p:spPr>
          <a:xfrm>
            <a:off x="5902324" y="3308862"/>
            <a:ext cx="5012392" cy="738664"/>
          </a:xfrm>
          <a:prstGeom prst="rect">
            <a:avLst/>
          </a:prstGeom>
          <a:noFill/>
        </p:spPr>
        <p:txBody>
          <a:bodyPr wrap="square">
            <a:spAutoFit/>
          </a:bodyPr>
          <a:lstStyle>
            <a:defPPr>
              <a:defRPr lang="en-US"/>
            </a:defPPr>
            <a:lvl1pPr>
              <a:defRPr>
                <a:solidFill>
                  <a:schemeClr val="bg1">
                    <a:lumMod val="65000"/>
                  </a:schemeClr>
                </a:solidFill>
              </a:defRPr>
            </a:lvl1pPr>
          </a:lstStyle>
          <a:p>
            <a:pPr lvl="0" eaLnBrk="0" fontAlgn="base" hangingPunct="0">
              <a:spcBef>
                <a:spcPct val="0"/>
              </a:spcBef>
              <a:spcAft>
                <a:spcPct val="0"/>
              </a:spcAft>
            </a:pPr>
            <a:r>
              <a:rPr lang="en-US" altLang="en-US" sz="1400" dirty="0">
                <a:latin typeface="Aptos Light" panose="020B0004020202020204" pitchFamily="34" charset="0"/>
              </a:rPr>
              <a:t>These are the specific ways in which research is conducted within a broader methodology. Each design has its own </a:t>
            </a:r>
            <a:r>
              <a:rPr lang="en-US" altLang="en-US" sz="1400" b="1" dirty="0">
                <a:solidFill>
                  <a:schemeClr val="tx1"/>
                </a:solidFill>
                <a:highlight>
                  <a:srgbClr val="FFC000"/>
                </a:highlight>
                <a:latin typeface="Aptos Light" panose="020B0004020202020204" pitchFamily="34" charset="0"/>
              </a:rPr>
              <a:t>procedures, strategies, and logic </a:t>
            </a:r>
            <a:r>
              <a:rPr lang="en-US" altLang="en-US" sz="1400" dirty="0">
                <a:latin typeface="Aptos Light" panose="020B0004020202020204" pitchFamily="34" charset="0"/>
              </a:rPr>
              <a:t>for carrying out a study.</a:t>
            </a:r>
          </a:p>
        </p:txBody>
      </p:sp>
      <p:sp>
        <p:nvSpPr>
          <p:cNvPr id="30" name="TextBox 29">
            <a:extLst>
              <a:ext uri="{FF2B5EF4-FFF2-40B4-BE49-F238E27FC236}">
                <a16:creationId xmlns:a16="http://schemas.microsoft.com/office/drawing/2014/main" id="{D449405B-6443-B00C-E750-214BA0E60FBA}"/>
              </a:ext>
            </a:extLst>
          </p:cNvPr>
          <p:cNvSpPr txBox="1"/>
          <p:nvPr/>
        </p:nvSpPr>
        <p:spPr>
          <a:xfrm>
            <a:off x="5991224" y="4305392"/>
            <a:ext cx="3740822" cy="338554"/>
          </a:xfrm>
          <a:prstGeom prst="rect">
            <a:avLst/>
          </a:prstGeom>
          <a:noFill/>
        </p:spPr>
        <p:txBody>
          <a:bodyPr wrap="square">
            <a:spAutoFit/>
          </a:bodyPr>
          <a:lstStyle/>
          <a:p>
            <a:pPr lvl="0" eaLnBrk="0" fontAlgn="base" hangingPunct="0">
              <a:spcBef>
                <a:spcPct val="0"/>
              </a:spcBef>
              <a:spcAft>
                <a:spcPct val="0"/>
              </a:spcAft>
            </a:pPr>
            <a:r>
              <a:rPr lang="en-US" altLang="en-US" sz="1600" b="1" dirty="0">
                <a:cs typeface="Segoe UI" panose="020B0502040204020203" pitchFamily="34" charset="0"/>
              </a:rPr>
              <a:t>Research Methods</a:t>
            </a:r>
          </a:p>
        </p:txBody>
      </p:sp>
      <p:sp>
        <p:nvSpPr>
          <p:cNvPr id="31" name="TextBox 30">
            <a:extLst>
              <a:ext uri="{FF2B5EF4-FFF2-40B4-BE49-F238E27FC236}">
                <a16:creationId xmlns:a16="http://schemas.microsoft.com/office/drawing/2014/main" id="{8C13F21B-CE66-8C38-BF03-B456A8A5E4CA}"/>
              </a:ext>
            </a:extLst>
          </p:cNvPr>
          <p:cNvSpPr txBox="1"/>
          <p:nvPr/>
        </p:nvSpPr>
        <p:spPr>
          <a:xfrm>
            <a:off x="5991224" y="4565884"/>
            <a:ext cx="5012392" cy="738664"/>
          </a:xfrm>
          <a:prstGeom prst="rect">
            <a:avLst/>
          </a:prstGeom>
          <a:noFill/>
        </p:spPr>
        <p:txBody>
          <a:bodyPr wrap="square">
            <a:spAutoFit/>
          </a:bodyPr>
          <a:lstStyle>
            <a:defPPr>
              <a:defRPr lang="en-US"/>
            </a:defPPr>
            <a:lvl1pPr>
              <a:defRPr>
                <a:solidFill>
                  <a:schemeClr val="bg1">
                    <a:lumMod val="65000"/>
                  </a:schemeClr>
                </a:solidFill>
              </a:defRPr>
            </a:lvl1pPr>
          </a:lstStyle>
          <a:p>
            <a:pPr eaLnBrk="0" fontAlgn="base" hangingPunct="0">
              <a:spcBef>
                <a:spcPct val="0"/>
              </a:spcBef>
              <a:spcAft>
                <a:spcPct val="0"/>
              </a:spcAft>
            </a:pPr>
            <a:r>
              <a:rPr lang="en-US" altLang="en-US" sz="1400" dirty="0">
                <a:latin typeface="Aptos Light" panose="020B0004020202020204" pitchFamily="34" charset="0"/>
              </a:rPr>
              <a:t>Within a particular design, the researcher collects data, analyses them, and interprets their meaning. These are </a:t>
            </a:r>
            <a:r>
              <a:rPr lang="en-US" altLang="en-US" sz="1400" b="1" dirty="0">
                <a:solidFill>
                  <a:schemeClr val="tx1"/>
                </a:solidFill>
                <a:highlight>
                  <a:srgbClr val="FFC000"/>
                </a:highlight>
                <a:latin typeface="Aptos Light" panose="020B0004020202020204" pitchFamily="34" charset="0"/>
              </a:rPr>
              <a:t>the concrete techniques and procedures applied in a study</a:t>
            </a:r>
            <a:r>
              <a:rPr lang="en-US" altLang="en-US" sz="1400" dirty="0">
                <a:latin typeface="Aptos Light" panose="020B0004020202020204" pitchFamily="34" charset="0"/>
              </a:rPr>
              <a:t>.</a:t>
            </a:r>
          </a:p>
        </p:txBody>
      </p:sp>
      <p:sp>
        <p:nvSpPr>
          <p:cNvPr id="66" name="Left Brace 65">
            <a:extLst>
              <a:ext uri="{FF2B5EF4-FFF2-40B4-BE49-F238E27FC236}">
                <a16:creationId xmlns:a16="http://schemas.microsoft.com/office/drawing/2014/main" id="{9A828604-2B48-DA00-15B2-E164CFCFCB50}"/>
              </a:ext>
            </a:extLst>
          </p:cNvPr>
          <p:cNvSpPr/>
          <p:nvPr/>
        </p:nvSpPr>
        <p:spPr>
          <a:xfrm>
            <a:off x="5045367" y="1660684"/>
            <a:ext cx="508000" cy="3643864"/>
          </a:xfrm>
          <a:prstGeom prst="leftBrace">
            <a:avLst>
              <a:gd name="adj1" fmla="val 58333"/>
              <a:gd name="adj2" fmla="val 48817"/>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dirty="0"/>
          </a:p>
        </p:txBody>
      </p:sp>
      <p:sp>
        <p:nvSpPr>
          <p:cNvPr id="10" name="Footer Placeholder 4">
            <a:extLst>
              <a:ext uri="{FF2B5EF4-FFF2-40B4-BE49-F238E27FC236}">
                <a16:creationId xmlns:a16="http://schemas.microsoft.com/office/drawing/2014/main" id="{0C5F5840-9FB8-4E97-E2C9-6AD21B46C914}"/>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a:solidFill>
                  <a:schemeClr val="bg1">
                    <a:lumMod val="85000"/>
                  </a:schemeClr>
                </a:solidFill>
              </a:rPr>
              <a:t>Data analysis</a:t>
            </a:r>
            <a:endParaRPr lang="en-GB" sz="1100" noProof="0" dirty="0">
              <a:solidFill>
                <a:schemeClr val="bg1">
                  <a:lumMod val="85000"/>
                </a:schemeClr>
              </a:solidFill>
            </a:endParaRPr>
          </a:p>
        </p:txBody>
      </p:sp>
    </p:spTree>
    <p:extLst>
      <p:ext uri="{BB962C8B-B14F-4D97-AF65-F5344CB8AC3E}">
        <p14:creationId xmlns:p14="http://schemas.microsoft.com/office/powerpoint/2010/main" val="820582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0" grpId="0"/>
      <p:bldP spid="24" grpId="0"/>
      <p:bldP spid="25" grpId="0"/>
      <p:bldP spid="27" grpId="0"/>
      <p:bldP spid="29" grpId="0"/>
      <p:bldP spid="30" grpId="0"/>
      <p:bldP spid="31" grpId="0"/>
      <p:bldP spid="6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C36D2-D6E5-B912-1BE7-7A503D3164E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2439922-5F48-2996-4CAE-43F2E52FD22A}"/>
              </a:ext>
            </a:extLst>
          </p:cNvPr>
          <p:cNvSpPr>
            <a:spLocks noGrp="1"/>
          </p:cNvSpPr>
          <p:nvPr>
            <p:ph type="sldNum" sz="quarter" idx="12"/>
          </p:nvPr>
        </p:nvSpPr>
        <p:spPr/>
        <p:txBody>
          <a:bodyPr/>
          <a:lstStyle/>
          <a:p>
            <a:fld id="{330EA680-D336-4FF7-8B7A-9848BB0A1C32}" type="slidenum">
              <a:rPr lang="en-GB" noProof="0" smtClean="0"/>
              <a:t>28</a:t>
            </a:fld>
            <a:endParaRPr lang="en-GB" noProof="0" dirty="0"/>
          </a:p>
        </p:txBody>
      </p:sp>
      <p:sp>
        <p:nvSpPr>
          <p:cNvPr id="4" name="Date Placeholder 3">
            <a:extLst>
              <a:ext uri="{FF2B5EF4-FFF2-40B4-BE49-F238E27FC236}">
                <a16:creationId xmlns:a16="http://schemas.microsoft.com/office/drawing/2014/main" id="{E7F86B06-D6C6-39C5-D9F3-637BA2D03C1D}"/>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8" name="Título 1">
            <a:extLst>
              <a:ext uri="{FF2B5EF4-FFF2-40B4-BE49-F238E27FC236}">
                <a16:creationId xmlns:a16="http://schemas.microsoft.com/office/drawing/2014/main" id="{5A524E13-B3B9-8DE9-F2A8-00BEA57221C2}"/>
              </a:ext>
            </a:extLst>
          </p:cNvPr>
          <p:cNvSpPr txBox="1">
            <a:spLocks/>
          </p:cNvSpPr>
          <p:nvPr/>
        </p:nvSpPr>
        <p:spPr>
          <a:xfrm>
            <a:off x="891590" y="501651"/>
            <a:ext cx="5297731" cy="48658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dirty="0">
                <a:solidFill>
                  <a:srgbClr val="FF0000"/>
                </a:solidFill>
                <a:latin typeface="Aptos SemiBold" panose="020F0502020204030204" pitchFamily="34" charset="0"/>
              </a:rPr>
              <a:t>Research approaches</a:t>
            </a:r>
          </a:p>
        </p:txBody>
      </p:sp>
      <p:cxnSp>
        <p:nvCxnSpPr>
          <p:cNvPr id="7" name="Straight Connector 6">
            <a:extLst>
              <a:ext uri="{FF2B5EF4-FFF2-40B4-BE49-F238E27FC236}">
                <a16:creationId xmlns:a16="http://schemas.microsoft.com/office/drawing/2014/main" id="{0DECE9DD-AD74-7AB5-3A62-42C454B7938A}"/>
              </a:ext>
            </a:extLst>
          </p:cNvPr>
          <p:cNvCxnSpPr>
            <a:cxnSpLocks/>
          </p:cNvCxnSpPr>
          <p:nvPr/>
        </p:nvCxnSpPr>
        <p:spPr>
          <a:xfrm flipH="1">
            <a:off x="2971488" y="3428794"/>
            <a:ext cx="6412314" cy="405"/>
          </a:xfrm>
          <a:prstGeom prst="line">
            <a:avLst/>
          </a:prstGeom>
          <a:ln w="9525">
            <a:solidFill>
              <a:srgbClr val="F26665"/>
            </a:solidFill>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DA11A5E8-2BF0-52C0-1512-82F4A1F5D10E}"/>
              </a:ext>
            </a:extLst>
          </p:cNvPr>
          <p:cNvSpPr/>
          <p:nvPr/>
        </p:nvSpPr>
        <p:spPr>
          <a:xfrm>
            <a:off x="2513090" y="3213080"/>
            <a:ext cx="458398" cy="458398"/>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 name="Oval 13">
            <a:extLst>
              <a:ext uri="{FF2B5EF4-FFF2-40B4-BE49-F238E27FC236}">
                <a16:creationId xmlns:a16="http://schemas.microsoft.com/office/drawing/2014/main" id="{19F2FF8F-D87B-6C54-5A2E-6E0FA50E2B6C}"/>
              </a:ext>
            </a:extLst>
          </p:cNvPr>
          <p:cNvSpPr/>
          <p:nvPr/>
        </p:nvSpPr>
        <p:spPr>
          <a:xfrm>
            <a:off x="5866801" y="3199597"/>
            <a:ext cx="458398" cy="45839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TextBox 15">
            <a:extLst>
              <a:ext uri="{FF2B5EF4-FFF2-40B4-BE49-F238E27FC236}">
                <a16:creationId xmlns:a16="http://schemas.microsoft.com/office/drawing/2014/main" id="{D54222A9-ACF2-8936-3260-1BF02EE5CFE9}"/>
              </a:ext>
            </a:extLst>
          </p:cNvPr>
          <p:cNvSpPr txBox="1"/>
          <p:nvPr/>
        </p:nvSpPr>
        <p:spPr>
          <a:xfrm>
            <a:off x="8810376" y="2614086"/>
            <a:ext cx="1593604" cy="555345"/>
          </a:xfrm>
          <a:prstGeom prst="rect">
            <a:avLst/>
          </a:prstGeom>
          <a:noFill/>
        </p:spPr>
        <p:txBody>
          <a:bodyPr wrap="square">
            <a:spAutoFit/>
          </a:bodyPr>
          <a:lstStyle/>
          <a:p>
            <a:pPr algn="ctr">
              <a:lnSpc>
                <a:spcPts val="1800"/>
              </a:lnSpc>
            </a:pPr>
            <a:r>
              <a:rPr lang="en-US" altLang="en-US" b="1" dirty="0">
                <a:latin typeface="Segoe UI" panose="020B0502040204020203" pitchFamily="34" charset="0"/>
                <a:cs typeface="Segoe UI" panose="020B0502040204020203" pitchFamily="34" charset="0"/>
              </a:rPr>
              <a:t>Quantitative Methods</a:t>
            </a:r>
            <a:endParaRPr lang="en-GB" b="1" noProof="0" dirty="0">
              <a:solidFill>
                <a:schemeClr val="accent5"/>
              </a:solidFill>
              <a:latin typeface="Corbel" panose="020B0503020204020204" pitchFamily="34" charset="0"/>
            </a:endParaRPr>
          </a:p>
        </p:txBody>
      </p:sp>
      <p:sp>
        <p:nvSpPr>
          <p:cNvPr id="17" name="TextBox 16">
            <a:extLst>
              <a:ext uri="{FF2B5EF4-FFF2-40B4-BE49-F238E27FC236}">
                <a16:creationId xmlns:a16="http://schemas.microsoft.com/office/drawing/2014/main" id="{633FE92D-6AFD-0621-614F-15B35AFAE382}"/>
              </a:ext>
            </a:extLst>
          </p:cNvPr>
          <p:cNvSpPr txBox="1"/>
          <p:nvPr/>
        </p:nvSpPr>
        <p:spPr>
          <a:xfrm>
            <a:off x="1992240" y="2614085"/>
            <a:ext cx="1593604" cy="555345"/>
          </a:xfrm>
          <a:prstGeom prst="rect">
            <a:avLst/>
          </a:prstGeom>
          <a:noFill/>
        </p:spPr>
        <p:txBody>
          <a:bodyPr wrap="square">
            <a:spAutoFit/>
          </a:bodyPr>
          <a:lstStyle/>
          <a:p>
            <a:pPr algn="ctr">
              <a:lnSpc>
                <a:spcPts val="1800"/>
              </a:lnSpc>
            </a:pPr>
            <a:r>
              <a:rPr lang="en-US" altLang="en-US" b="1" dirty="0">
                <a:latin typeface="Segoe UI" panose="020B0502040204020203" pitchFamily="34" charset="0"/>
                <a:cs typeface="Segoe UI" panose="020B0502040204020203" pitchFamily="34" charset="0"/>
              </a:rPr>
              <a:t>Qualitative Methods</a:t>
            </a:r>
            <a:endParaRPr lang="en-GB" b="1" noProof="0" dirty="0">
              <a:solidFill>
                <a:schemeClr val="accent5"/>
              </a:solidFill>
              <a:latin typeface="Corbel" panose="020B0503020204020204" pitchFamily="34" charset="0"/>
            </a:endParaRPr>
          </a:p>
        </p:txBody>
      </p:sp>
      <p:sp>
        <p:nvSpPr>
          <p:cNvPr id="18" name="TextBox 17">
            <a:extLst>
              <a:ext uri="{FF2B5EF4-FFF2-40B4-BE49-F238E27FC236}">
                <a16:creationId xmlns:a16="http://schemas.microsoft.com/office/drawing/2014/main" id="{C6396F87-C09F-7257-6406-EB760E58251C}"/>
              </a:ext>
            </a:extLst>
          </p:cNvPr>
          <p:cNvSpPr txBox="1"/>
          <p:nvPr/>
        </p:nvSpPr>
        <p:spPr>
          <a:xfrm>
            <a:off x="5340824" y="2638334"/>
            <a:ext cx="1593604" cy="555345"/>
          </a:xfrm>
          <a:prstGeom prst="rect">
            <a:avLst/>
          </a:prstGeom>
          <a:noFill/>
        </p:spPr>
        <p:txBody>
          <a:bodyPr wrap="square">
            <a:spAutoFit/>
          </a:bodyPr>
          <a:lstStyle/>
          <a:p>
            <a:pPr algn="ctr">
              <a:lnSpc>
                <a:spcPts val="1800"/>
              </a:lnSpc>
            </a:pPr>
            <a:r>
              <a:rPr lang="en-US" altLang="en-US" b="1" dirty="0">
                <a:latin typeface="Segoe UI" panose="020B0502040204020203" pitchFamily="34" charset="0"/>
                <a:cs typeface="Segoe UI" panose="020B0502040204020203" pitchFamily="34" charset="0"/>
              </a:rPr>
              <a:t>Mixed Methods</a:t>
            </a:r>
            <a:endParaRPr lang="en-GB" b="1" noProof="0" dirty="0">
              <a:solidFill>
                <a:schemeClr val="accent5"/>
              </a:solidFill>
              <a:latin typeface="Corbel" panose="020B0503020204020204" pitchFamily="34" charset="0"/>
            </a:endParaRPr>
          </a:p>
        </p:txBody>
      </p:sp>
      <p:sp>
        <p:nvSpPr>
          <p:cNvPr id="19" name="TextBox 18">
            <a:extLst>
              <a:ext uri="{FF2B5EF4-FFF2-40B4-BE49-F238E27FC236}">
                <a16:creationId xmlns:a16="http://schemas.microsoft.com/office/drawing/2014/main" id="{2D508BB8-63A7-A90D-79A3-5B8DBD57D0F4}"/>
              </a:ext>
            </a:extLst>
          </p:cNvPr>
          <p:cNvSpPr txBox="1"/>
          <p:nvPr/>
        </p:nvSpPr>
        <p:spPr>
          <a:xfrm>
            <a:off x="4399402" y="3657991"/>
            <a:ext cx="3393196" cy="830997"/>
          </a:xfrm>
          <a:prstGeom prst="rect">
            <a:avLst/>
          </a:prstGeom>
          <a:noFill/>
        </p:spPr>
        <p:txBody>
          <a:bodyPr wrap="square">
            <a:spAutoFit/>
          </a:bodyPr>
          <a:lstStyle>
            <a:defPPr>
              <a:defRPr lang="en-US"/>
            </a:defPPr>
            <a:lvl1pPr>
              <a:defRPr>
                <a:solidFill>
                  <a:schemeClr val="bg1">
                    <a:lumMod val="65000"/>
                  </a:schemeClr>
                </a:solidFill>
              </a:defRPr>
            </a:lvl1pPr>
          </a:lstStyle>
          <a:p>
            <a:pPr algn="ctr"/>
            <a:r>
              <a:rPr lang="en-US" sz="1600" dirty="0">
                <a:latin typeface="Aptos Light" panose="020B0004020202020204" pitchFamily="34" charset="0"/>
              </a:rPr>
              <a:t>These incorporate elements from both qualitative and quantitative approaches.</a:t>
            </a:r>
          </a:p>
        </p:txBody>
      </p:sp>
      <p:sp>
        <p:nvSpPr>
          <p:cNvPr id="21" name="TextBox 20">
            <a:extLst>
              <a:ext uri="{FF2B5EF4-FFF2-40B4-BE49-F238E27FC236}">
                <a16:creationId xmlns:a16="http://schemas.microsoft.com/office/drawing/2014/main" id="{28524F00-4868-F504-50C6-D4DC73BC0F63}"/>
              </a:ext>
            </a:extLst>
          </p:cNvPr>
          <p:cNvSpPr txBox="1"/>
          <p:nvPr/>
        </p:nvSpPr>
        <p:spPr>
          <a:xfrm>
            <a:off x="3176295" y="4879029"/>
            <a:ext cx="5839410" cy="707886"/>
          </a:xfrm>
          <a:prstGeom prst="rect">
            <a:avLst/>
          </a:prstGeom>
          <a:noFill/>
        </p:spPr>
        <p:txBody>
          <a:bodyPr wrap="square">
            <a:spAutoFit/>
          </a:bodyPr>
          <a:lstStyle/>
          <a:p>
            <a:pPr algn="ctr"/>
            <a:r>
              <a:rPr lang="en-US" sz="2000" b="1" dirty="0">
                <a:solidFill>
                  <a:srgbClr val="FF0000"/>
                </a:solidFill>
              </a:rPr>
              <a:t>What is the difference between quantitative and qualitative methods?</a:t>
            </a:r>
          </a:p>
        </p:txBody>
      </p:sp>
      <p:sp>
        <p:nvSpPr>
          <p:cNvPr id="11" name="Oval 10">
            <a:extLst>
              <a:ext uri="{FF2B5EF4-FFF2-40B4-BE49-F238E27FC236}">
                <a16:creationId xmlns:a16="http://schemas.microsoft.com/office/drawing/2014/main" id="{1851E74A-03C2-FDA7-A880-F57452777AE8}"/>
              </a:ext>
            </a:extLst>
          </p:cNvPr>
          <p:cNvSpPr/>
          <p:nvPr/>
        </p:nvSpPr>
        <p:spPr>
          <a:xfrm>
            <a:off x="9377979" y="3199595"/>
            <a:ext cx="458398" cy="45839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Tree>
    <p:extLst>
      <p:ext uri="{BB962C8B-B14F-4D97-AF65-F5344CB8AC3E}">
        <p14:creationId xmlns:p14="http://schemas.microsoft.com/office/powerpoint/2010/main" val="1685430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6" grpId="0"/>
      <p:bldP spid="17" grpId="0"/>
      <p:bldP spid="18" grpId="0"/>
      <p:bldP spid="19" grpId="0"/>
      <p:bldP spid="21" grpId="0"/>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A0DBB-1CA2-A4DB-7047-34DA98B95BE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323974-91FF-938B-AC3B-4F017FD848BF}"/>
              </a:ext>
            </a:extLst>
          </p:cNvPr>
          <p:cNvSpPr>
            <a:spLocks noGrp="1"/>
          </p:cNvSpPr>
          <p:nvPr>
            <p:ph type="sldNum" sz="quarter" idx="12"/>
          </p:nvPr>
        </p:nvSpPr>
        <p:spPr/>
        <p:txBody>
          <a:bodyPr/>
          <a:lstStyle/>
          <a:p>
            <a:fld id="{330EA680-D336-4FF7-8B7A-9848BB0A1C32}" type="slidenum">
              <a:rPr lang="en-GB" noProof="0" smtClean="0"/>
              <a:t>29</a:t>
            </a:fld>
            <a:endParaRPr lang="en-GB" noProof="0" dirty="0"/>
          </a:p>
        </p:txBody>
      </p:sp>
      <p:sp>
        <p:nvSpPr>
          <p:cNvPr id="4" name="Date Placeholder 3">
            <a:extLst>
              <a:ext uri="{FF2B5EF4-FFF2-40B4-BE49-F238E27FC236}">
                <a16:creationId xmlns:a16="http://schemas.microsoft.com/office/drawing/2014/main" id="{F25FB943-0BD6-57C6-16B1-D75112CEB8FC}"/>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8" name="Título 1">
            <a:extLst>
              <a:ext uri="{FF2B5EF4-FFF2-40B4-BE49-F238E27FC236}">
                <a16:creationId xmlns:a16="http://schemas.microsoft.com/office/drawing/2014/main" id="{C4ECA22E-0B86-FEA0-3720-8904FFEFB9D8}"/>
              </a:ext>
            </a:extLst>
          </p:cNvPr>
          <p:cNvSpPr txBox="1">
            <a:spLocks/>
          </p:cNvSpPr>
          <p:nvPr/>
        </p:nvSpPr>
        <p:spPr>
          <a:xfrm>
            <a:off x="891590" y="501650"/>
            <a:ext cx="5297731" cy="5230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dirty="0">
                <a:solidFill>
                  <a:srgbClr val="FF0000"/>
                </a:solidFill>
                <a:latin typeface="Aptos SemiBold" panose="020F0502020204030204" pitchFamily="34" charset="0"/>
              </a:rPr>
              <a:t>Research approaches</a:t>
            </a:r>
          </a:p>
        </p:txBody>
      </p:sp>
      <p:sp>
        <p:nvSpPr>
          <p:cNvPr id="21" name="TextBox 20">
            <a:extLst>
              <a:ext uri="{FF2B5EF4-FFF2-40B4-BE49-F238E27FC236}">
                <a16:creationId xmlns:a16="http://schemas.microsoft.com/office/drawing/2014/main" id="{C8346A12-6A0D-BA99-0AF6-B43694B2A2FB}"/>
              </a:ext>
            </a:extLst>
          </p:cNvPr>
          <p:cNvSpPr txBox="1"/>
          <p:nvPr/>
        </p:nvSpPr>
        <p:spPr>
          <a:xfrm>
            <a:off x="891590" y="1018680"/>
            <a:ext cx="5839410" cy="707886"/>
          </a:xfrm>
          <a:prstGeom prst="rect">
            <a:avLst/>
          </a:prstGeom>
          <a:noFill/>
        </p:spPr>
        <p:txBody>
          <a:bodyPr wrap="square">
            <a:spAutoFit/>
          </a:bodyPr>
          <a:lstStyle/>
          <a:p>
            <a:pPr lvl="0" eaLnBrk="0" fontAlgn="base" hangingPunct="0">
              <a:spcBef>
                <a:spcPct val="0"/>
              </a:spcBef>
              <a:spcAft>
                <a:spcPct val="0"/>
              </a:spcAft>
            </a:pPr>
            <a:r>
              <a:rPr lang="en-US" altLang="en-US" sz="2000" b="1" dirty="0">
                <a:latin typeface="Segoe UI" panose="020B0502040204020203" pitchFamily="34" charset="0"/>
                <a:cs typeface="Segoe UI" panose="020B0502040204020203" pitchFamily="34" charset="0"/>
              </a:rPr>
              <a:t>What is the difference between quantitative and qualitative methods?</a:t>
            </a:r>
          </a:p>
        </p:txBody>
      </p:sp>
      <p:sp>
        <p:nvSpPr>
          <p:cNvPr id="6" name="TextBox 5">
            <a:extLst>
              <a:ext uri="{FF2B5EF4-FFF2-40B4-BE49-F238E27FC236}">
                <a16:creationId xmlns:a16="http://schemas.microsoft.com/office/drawing/2014/main" id="{50783290-2772-9FAF-7370-3E975D3E8E6B}"/>
              </a:ext>
            </a:extLst>
          </p:cNvPr>
          <p:cNvSpPr txBox="1"/>
          <p:nvPr/>
        </p:nvSpPr>
        <p:spPr>
          <a:xfrm>
            <a:off x="1846089" y="2169947"/>
            <a:ext cx="2403595" cy="369332"/>
          </a:xfrm>
          <a:prstGeom prst="rect">
            <a:avLst/>
          </a:prstGeom>
          <a:noFill/>
        </p:spPr>
        <p:txBody>
          <a:bodyPr wrap="square" lIns="91440" tIns="45720" rIns="91440" bIns="45720" anchor="t">
            <a:spAutoFit/>
          </a:bodyPr>
          <a:lstStyle/>
          <a:p>
            <a:pPr lvl="0" algn="ctr" eaLnBrk="0" fontAlgn="base" hangingPunct="0">
              <a:spcBef>
                <a:spcPct val="0"/>
              </a:spcBef>
              <a:spcAft>
                <a:spcPct val="0"/>
              </a:spcAft>
            </a:pPr>
            <a:r>
              <a:rPr lang="en-US" altLang="en-US" b="1" dirty="0">
                <a:highlight>
                  <a:srgbClr val="FFC000"/>
                </a:highlight>
                <a:latin typeface="Segoe UI" panose="020B0502040204020203" pitchFamily="34" charset="0"/>
                <a:cs typeface="Segoe UI" panose="020B0502040204020203" pitchFamily="34" charset="0"/>
              </a:rPr>
              <a:t>Qualitative Methods</a:t>
            </a:r>
          </a:p>
        </p:txBody>
      </p:sp>
      <p:sp>
        <p:nvSpPr>
          <p:cNvPr id="10" name="TextBox 9">
            <a:extLst>
              <a:ext uri="{FF2B5EF4-FFF2-40B4-BE49-F238E27FC236}">
                <a16:creationId xmlns:a16="http://schemas.microsoft.com/office/drawing/2014/main" id="{8EF6DC10-94C5-34C8-4084-6D45729B545F}"/>
              </a:ext>
            </a:extLst>
          </p:cNvPr>
          <p:cNvSpPr txBox="1"/>
          <p:nvPr/>
        </p:nvSpPr>
        <p:spPr>
          <a:xfrm>
            <a:off x="6931820" y="2194557"/>
            <a:ext cx="2743201" cy="329386"/>
          </a:xfrm>
          <a:prstGeom prst="rect">
            <a:avLst/>
          </a:prstGeom>
          <a:noFill/>
        </p:spPr>
        <p:txBody>
          <a:bodyPr wrap="square" lIns="91440" tIns="45720" rIns="91440" bIns="45720" anchor="t">
            <a:spAutoFit/>
          </a:bodyPr>
          <a:lstStyle/>
          <a:p>
            <a:pPr algn="ctr">
              <a:lnSpc>
                <a:spcPts val="1800"/>
              </a:lnSpc>
            </a:pPr>
            <a:r>
              <a:rPr lang="en-GB" b="1" dirty="0">
                <a:solidFill>
                  <a:schemeClr val="bg1"/>
                </a:solidFill>
                <a:highlight>
                  <a:srgbClr val="F22D1C"/>
                </a:highlight>
              </a:rPr>
              <a:t>Quantitative Methods</a:t>
            </a:r>
          </a:p>
        </p:txBody>
      </p:sp>
      <p:sp>
        <p:nvSpPr>
          <p:cNvPr id="15" name="TextBox 14">
            <a:extLst>
              <a:ext uri="{FF2B5EF4-FFF2-40B4-BE49-F238E27FC236}">
                <a16:creationId xmlns:a16="http://schemas.microsoft.com/office/drawing/2014/main" id="{B96241BB-FD83-98BF-2285-E1FB3ECAE195}"/>
              </a:ext>
            </a:extLst>
          </p:cNvPr>
          <p:cNvSpPr txBox="1"/>
          <p:nvPr/>
        </p:nvSpPr>
        <p:spPr>
          <a:xfrm>
            <a:off x="2251086" y="2717777"/>
            <a:ext cx="1593603" cy="307777"/>
          </a:xfrm>
          <a:prstGeom prst="rect">
            <a:avLst/>
          </a:prstGeom>
          <a:noFill/>
        </p:spPr>
        <p:txBody>
          <a:bodyPr wrap="square">
            <a:spAutoFit/>
          </a:bodyPr>
          <a:lstStyle>
            <a:defPPr>
              <a:defRPr lang="en-US"/>
            </a:defPPr>
            <a:lvl1pPr>
              <a:defRPr sz="1400"/>
            </a:lvl1pPr>
          </a:lstStyle>
          <a:p>
            <a:pPr algn="ctr"/>
            <a:r>
              <a:rPr lang="en-US" altLang="en-US" dirty="0"/>
              <a:t>Use of words</a:t>
            </a:r>
          </a:p>
        </p:txBody>
      </p:sp>
      <p:sp>
        <p:nvSpPr>
          <p:cNvPr id="20" name="TextBox 19">
            <a:extLst>
              <a:ext uri="{FF2B5EF4-FFF2-40B4-BE49-F238E27FC236}">
                <a16:creationId xmlns:a16="http://schemas.microsoft.com/office/drawing/2014/main" id="{EB12210D-3DF2-912D-95ED-8F2ACBA333B6}"/>
              </a:ext>
            </a:extLst>
          </p:cNvPr>
          <p:cNvSpPr txBox="1"/>
          <p:nvPr/>
        </p:nvSpPr>
        <p:spPr>
          <a:xfrm>
            <a:off x="7506620" y="2717776"/>
            <a:ext cx="1593603" cy="307777"/>
          </a:xfrm>
          <a:prstGeom prst="rect">
            <a:avLst/>
          </a:prstGeom>
          <a:noFill/>
        </p:spPr>
        <p:txBody>
          <a:bodyPr wrap="square">
            <a:spAutoFit/>
          </a:bodyPr>
          <a:lstStyle/>
          <a:p>
            <a:pPr lvl="0" eaLnBrk="0" fontAlgn="base" hangingPunct="0">
              <a:spcBef>
                <a:spcPct val="0"/>
              </a:spcBef>
              <a:spcAft>
                <a:spcPct val="0"/>
              </a:spcAft>
            </a:pPr>
            <a:r>
              <a:rPr lang="en-US" altLang="en-US" sz="1400" dirty="0">
                <a:latin typeface="Segoe UI" panose="020B0502040204020203" pitchFamily="34" charset="0"/>
                <a:cs typeface="Segoe UI" panose="020B0502040204020203" pitchFamily="34" charset="0"/>
              </a:rPr>
              <a:t>Use of numbers</a:t>
            </a:r>
          </a:p>
        </p:txBody>
      </p:sp>
      <p:sp>
        <p:nvSpPr>
          <p:cNvPr id="22" name="TextBox 21">
            <a:extLst>
              <a:ext uri="{FF2B5EF4-FFF2-40B4-BE49-F238E27FC236}">
                <a16:creationId xmlns:a16="http://schemas.microsoft.com/office/drawing/2014/main" id="{0E375B3C-7E23-F23F-8EAD-0E6CC5CC675A}"/>
              </a:ext>
            </a:extLst>
          </p:cNvPr>
          <p:cNvSpPr txBox="1"/>
          <p:nvPr/>
        </p:nvSpPr>
        <p:spPr>
          <a:xfrm>
            <a:off x="6931820" y="3025552"/>
            <a:ext cx="2743201" cy="523220"/>
          </a:xfrm>
          <a:prstGeom prst="rect">
            <a:avLst/>
          </a:prstGeom>
          <a:noFill/>
        </p:spPr>
        <p:txBody>
          <a:bodyPr wrap="square">
            <a:spAutoFit/>
          </a:bodyPr>
          <a:lstStyle/>
          <a:p>
            <a:pPr algn="ctr"/>
            <a:r>
              <a:rPr lang="en-US" sz="1400" dirty="0"/>
              <a:t>Closed‑ended questions and answers</a:t>
            </a:r>
            <a:endParaRPr lang="en-GB" sz="1400" b="1" u="sng" noProof="0" dirty="0">
              <a:solidFill>
                <a:srgbClr val="F22D1C"/>
              </a:solidFill>
            </a:endParaRPr>
          </a:p>
        </p:txBody>
      </p:sp>
      <p:sp>
        <p:nvSpPr>
          <p:cNvPr id="23" name="TextBox 22">
            <a:extLst>
              <a:ext uri="{FF2B5EF4-FFF2-40B4-BE49-F238E27FC236}">
                <a16:creationId xmlns:a16="http://schemas.microsoft.com/office/drawing/2014/main" id="{4312F112-C6E4-24A0-9BD2-D5D78C690948}"/>
              </a:ext>
            </a:extLst>
          </p:cNvPr>
          <p:cNvSpPr txBox="1"/>
          <p:nvPr/>
        </p:nvSpPr>
        <p:spPr>
          <a:xfrm>
            <a:off x="1683591" y="3025552"/>
            <a:ext cx="2728592" cy="523220"/>
          </a:xfrm>
          <a:prstGeom prst="rect">
            <a:avLst/>
          </a:prstGeom>
          <a:noFill/>
        </p:spPr>
        <p:txBody>
          <a:bodyPr wrap="square">
            <a:spAutoFit/>
          </a:bodyPr>
          <a:lstStyle/>
          <a:p>
            <a:pPr algn="ctr"/>
            <a:r>
              <a:rPr lang="en-US" sz="1400" dirty="0"/>
              <a:t>Open‑ended questions and answers</a:t>
            </a:r>
            <a:endParaRPr lang="en-GB" sz="1400" b="1" u="sng" noProof="0" dirty="0">
              <a:solidFill>
                <a:srgbClr val="F22D1C"/>
              </a:solidFill>
            </a:endParaRPr>
          </a:p>
        </p:txBody>
      </p:sp>
      <p:sp>
        <p:nvSpPr>
          <p:cNvPr id="27" name="TextBox 26">
            <a:extLst>
              <a:ext uri="{FF2B5EF4-FFF2-40B4-BE49-F238E27FC236}">
                <a16:creationId xmlns:a16="http://schemas.microsoft.com/office/drawing/2014/main" id="{05C1A35F-CE49-5A6C-0156-D73FF700FB83}"/>
              </a:ext>
            </a:extLst>
          </p:cNvPr>
          <p:cNvSpPr txBox="1"/>
          <p:nvPr/>
        </p:nvSpPr>
        <p:spPr>
          <a:xfrm>
            <a:off x="891590" y="3955820"/>
            <a:ext cx="6679642" cy="646331"/>
          </a:xfrm>
          <a:prstGeom prst="rect">
            <a:avLst/>
          </a:prstGeom>
          <a:noFill/>
        </p:spPr>
        <p:txBody>
          <a:bodyPr wrap="square">
            <a:spAutoFit/>
          </a:bodyPr>
          <a:lstStyle/>
          <a:p>
            <a:r>
              <a:rPr lang="en-US" b="1" dirty="0"/>
              <a:t>A more rigorous way to study/define the differences </a:t>
            </a:r>
            <a:r>
              <a:rPr lang="en-US" dirty="0"/>
              <a:t>between qualitative and quantitative methods can be found in</a:t>
            </a:r>
            <a:r>
              <a:rPr lang="en-US" b="1" dirty="0"/>
              <a:t>:</a:t>
            </a:r>
            <a:endParaRPr lang="en-GB" b="1" u="sng" noProof="0" dirty="0"/>
          </a:p>
        </p:txBody>
      </p:sp>
      <p:sp>
        <p:nvSpPr>
          <p:cNvPr id="2" name="Footer Placeholder 4">
            <a:extLst>
              <a:ext uri="{FF2B5EF4-FFF2-40B4-BE49-F238E27FC236}">
                <a16:creationId xmlns:a16="http://schemas.microsoft.com/office/drawing/2014/main" id="{0797FE2A-7F7C-4010-00C8-BACD32BB43F1}"/>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
        <p:nvSpPr>
          <p:cNvPr id="17" name="TextBox 16">
            <a:extLst>
              <a:ext uri="{FF2B5EF4-FFF2-40B4-BE49-F238E27FC236}">
                <a16:creationId xmlns:a16="http://schemas.microsoft.com/office/drawing/2014/main" id="{B16FDE98-0600-34FB-18F8-24F499FE2E25}"/>
              </a:ext>
            </a:extLst>
          </p:cNvPr>
          <p:cNvSpPr txBox="1"/>
          <p:nvPr/>
        </p:nvSpPr>
        <p:spPr>
          <a:xfrm>
            <a:off x="1598407" y="4917509"/>
            <a:ext cx="828588" cy="923330"/>
          </a:xfrm>
          <a:prstGeom prst="rect">
            <a:avLst/>
          </a:prstGeom>
          <a:noFill/>
        </p:spPr>
        <p:txBody>
          <a:bodyPr wrap="square">
            <a:spAutoFit/>
          </a:bodyPr>
          <a:lstStyle/>
          <a:p>
            <a:r>
              <a:rPr lang="en-GB" sz="5400" noProof="0" dirty="0">
                <a:solidFill>
                  <a:srgbClr val="FF0000"/>
                </a:solidFill>
                <a:latin typeface="Aptos Black" panose="020B0004020202020204" pitchFamily="34" charset="0"/>
              </a:rPr>
              <a:t>1.</a:t>
            </a:r>
            <a:endParaRPr lang="en-GB" sz="5400" b="1" noProof="0" dirty="0">
              <a:solidFill>
                <a:srgbClr val="FF0000"/>
              </a:solidFill>
              <a:latin typeface="Aptos Black" panose="020B0004020202020204" pitchFamily="34" charset="0"/>
            </a:endParaRPr>
          </a:p>
        </p:txBody>
      </p:sp>
      <p:sp>
        <p:nvSpPr>
          <p:cNvPr id="18" name="TextBox 17">
            <a:extLst>
              <a:ext uri="{FF2B5EF4-FFF2-40B4-BE49-F238E27FC236}">
                <a16:creationId xmlns:a16="http://schemas.microsoft.com/office/drawing/2014/main" id="{26DECDFE-F033-E400-3D51-F67841A28465}"/>
              </a:ext>
            </a:extLst>
          </p:cNvPr>
          <p:cNvSpPr txBox="1"/>
          <p:nvPr/>
        </p:nvSpPr>
        <p:spPr>
          <a:xfrm>
            <a:off x="2426995" y="5145790"/>
            <a:ext cx="1670722" cy="646331"/>
          </a:xfrm>
          <a:prstGeom prst="rect">
            <a:avLst/>
          </a:prstGeom>
          <a:noFill/>
        </p:spPr>
        <p:txBody>
          <a:bodyPr wrap="square">
            <a:spAutoFit/>
          </a:bodyPr>
          <a:lstStyle/>
          <a:p>
            <a:pPr lvl="0" eaLnBrk="0" fontAlgn="base" hangingPunct="0">
              <a:spcBef>
                <a:spcPct val="0"/>
              </a:spcBef>
              <a:spcAft>
                <a:spcPct val="0"/>
              </a:spcAft>
            </a:pPr>
            <a:r>
              <a:rPr lang="en-US" altLang="en-US" b="1" dirty="0">
                <a:latin typeface="Segoe UI" panose="020B0502040204020203" pitchFamily="34" charset="0"/>
                <a:cs typeface="Segoe UI" panose="020B0502040204020203" pitchFamily="34" charset="0"/>
              </a:rPr>
              <a:t>Philosophical assumptions</a:t>
            </a:r>
            <a:r>
              <a:rPr lang="en-US" altLang="en-US" dirty="0">
                <a:latin typeface="Segoe UI" panose="020B0502040204020203" pitchFamily="34" charset="0"/>
                <a:cs typeface="Segoe UI" panose="020B0502040204020203" pitchFamily="34" charset="0"/>
              </a:rPr>
              <a:t> </a:t>
            </a:r>
          </a:p>
        </p:txBody>
      </p:sp>
      <p:sp>
        <p:nvSpPr>
          <p:cNvPr id="25" name="TextBox 24">
            <a:extLst>
              <a:ext uri="{FF2B5EF4-FFF2-40B4-BE49-F238E27FC236}">
                <a16:creationId xmlns:a16="http://schemas.microsoft.com/office/drawing/2014/main" id="{93DE9D96-63A3-A02B-4321-EB4F0F28A951}"/>
              </a:ext>
            </a:extLst>
          </p:cNvPr>
          <p:cNvSpPr txBox="1"/>
          <p:nvPr/>
        </p:nvSpPr>
        <p:spPr>
          <a:xfrm>
            <a:off x="4377326" y="4917509"/>
            <a:ext cx="828588" cy="923330"/>
          </a:xfrm>
          <a:prstGeom prst="rect">
            <a:avLst/>
          </a:prstGeom>
          <a:noFill/>
        </p:spPr>
        <p:txBody>
          <a:bodyPr wrap="square">
            <a:spAutoFit/>
          </a:bodyPr>
          <a:lstStyle/>
          <a:p>
            <a:r>
              <a:rPr lang="en-GB" sz="5400" noProof="0" dirty="0">
                <a:solidFill>
                  <a:srgbClr val="FF0000"/>
                </a:solidFill>
                <a:latin typeface="Aptos Black" panose="020B0004020202020204" pitchFamily="34" charset="0"/>
              </a:rPr>
              <a:t>2.</a:t>
            </a:r>
            <a:endParaRPr lang="en-GB" sz="5400" b="1" noProof="0" dirty="0">
              <a:solidFill>
                <a:srgbClr val="FF0000"/>
              </a:solidFill>
              <a:latin typeface="Aptos Black" panose="020B0004020202020204" pitchFamily="34" charset="0"/>
            </a:endParaRPr>
          </a:p>
        </p:txBody>
      </p:sp>
      <p:sp>
        <p:nvSpPr>
          <p:cNvPr id="26" name="TextBox 25">
            <a:extLst>
              <a:ext uri="{FF2B5EF4-FFF2-40B4-BE49-F238E27FC236}">
                <a16:creationId xmlns:a16="http://schemas.microsoft.com/office/drawing/2014/main" id="{F740D8C7-E862-7F2F-FD86-018C6A0863DB}"/>
              </a:ext>
            </a:extLst>
          </p:cNvPr>
          <p:cNvSpPr txBox="1"/>
          <p:nvPr/>
        </p:nvSpPr>
        <p:spPr>
          <a:xfrm>
            <a:off x="5205914" y="5145790"/>
            <a:ext cx="1915446" cy="646331"/>
          </a:xfrm>
          <a:prstGeom prst="rect">
            <a:avLst/>
          </a:prstGeom>
          <a:noFill/>
        </p:spPr>
        <p:txBody>
          <a:bodyPr wrap="square">
            <a:spAutoFit/>
          </a:bodyPr>
          <a:lstStyle/>
          <a:p>
            <a:pPr lvl="0" eaLnBrk="0" fontAlgn="base" hangingPunct="0">
              <a:spcBef>
                <a:spcPct val="0"/>
              </a:spcBef>
              <a:spcAft>
                <a:spcPct val="0"/>
              </a:spcAft>
            </a:pPr>
            <a:r>
              <a:rPr lang="en-US" altLang="en-US" b="1" dirty="0">
                <a:latin typeface="Segoe UI" panose="020B0502040204020203" pitchFamily="34" charset="0"/>
                <a:cs typeface="Segoe UI" panose="020B0502040204020203" pitchFamily="34" charset="0"/>
              </a:rPr>
              <a:t>Research designs</a:t>
            </a:r>
            <a:r>
              <a:rPr lang="en-US" altLang="en-US" dirty="0">
                <a:latin typeface="Segoe UI" panose="020B0502040204020203" pitchFamily="34" charset="0"/>
                <a:cs typeface="Segoe UI" panose="020B0502040204020203" pitchFamily="34" charset="0"/>
              </a:rPr>
              <a:t> </a:t>
            </a:r>
          </a:p>
        </p:txBody>
      </p:sp>
      <p:sp>
        <p:nvSpPr>
          <p:cNvPr id="34" name="TextBox 33">
            <a:extLst>
              <a:ext uri="{FF2B5EF4-FFF2-40B4-BE49-F238E27FC236}">
                <a16:creationId xmlns:a16="http://schemas.microsoft.com/office/drawing/2014/main" id="{44D52065-6D42-2BF2-6795-58B9AE62300D}"/>
              </a:ext>
            </a:extLst>
          </p:cNvPr>
          <p:cNvSpPr txBox="1"/>
          <p:nvPr/>
        </p:nvSpPr>
        <p:spPr>
          <a:xfrm>
            <a:off x="6609229" y="4918690"/>
            <a:ext cx="828588" cy="923330"/>
          </a:xfrm>
          <a:prstGeom prst="rect">
            <a:avLst/>
          </a:prstGeom>
          <a:noFill/>
        </p:spPr>
        <p:txBody>
          <a:bodyPr wrap="square">
            <a:spAutoFit/>
          </a:bodyPr>
          <a:lstStyle/>
          <a:p>
            <a:r>
              <a:rPr lang="en-GB" sz="5400" noProof="0" dirty="0">
                <a:solidFill>
                  <a:srgbClr val="FF0000"/>
                </a:solidFill>
                <a:latin typeface="Aptos Black" panose="020B0004020202020204" pitchFamily="34" charset="0"/>
              </a:rPr>
              <a:t>3.</a:t>
            </a:r>
            <a:endParaRPr lang="en-GB" sz="5400" b="1" noProof="0" dirty="0">
              <a:solidFill>
                <a:srgbClr val="FF0000"/>
              </a:solidFill>
              <a:latin typeface="Aptos Black" panose="020B0004020202020204" pitchFamily="34" charset="0"/>
            </a:endParaRPr>
          </a:p>
        </p:txBody>
      </p:sp>
      <p:sp>
        <p:nvSpPr>
          <p:cNvPr id="35" name="TextBox 34">
            <a:extLst>
              <a:ext uri="{FF2B5EF4-FFF2-40B4-BE49-F238E27FC236}">
                <a16:creationId xmlns:a16="http://schemas.microsoft.com/office/drawing/2014/main" id="{EB96CD88-4CDC-A6EA-588D-B17719A510E2}"/>
              </a:ext>
            </a:extLst>
          </p:cNvPr>
          <p:cNvSpPr txBox="1"/>
          <p:nvPr/>
        </p:nvSpPr>
        <p:spPr>
          <a:xfrm>
            <a:off x="7437817" y="5146971"/>
            <a:ext cx="3740822" cy="559512"/>
          </a:xfrm>
          <a:prstGeom prst="rect">
            <a:avLst/>
          </a:prstGeom>
          <a:noFill/>
        </p:spPr>
        <p:txBody>
          <a:bodyPr wrap="square">
            <a:spAutoFit/>
          </a:bodyPr>
          <a:lstStyle/>
          <a:p>
            <a:pPr>
              <a:lnSpc>
                <a:spcPts val="1800"/>
              </a:lnSpc>
            </a:pPr>
            <a:r>
              <a:rPr lang="en-US" b="1" dirty="0"/>
              <a:t>Methods for data collection, analysis, and interpretation </a:t>
            </a:r>
          </a:p>
        </p:txBody>
      </p:sp>
    </p:spTree>
    <p:extLst>
      <p:ext uri="{BB962C8B-B14F-4D97-AF65-F5344CB8AC3E}">
        <p14:creationId xmlns:p14="http://schemas.microsoft.com/office/powerpoint/2010/main" val="3061018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500"/>
                                        <p:tgtEl>
                                          <p:spTgt spid="3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5" grpId="0"/>
      <p:bldP spid="20" grpId="0"/>
      <p:bldP spid="22" grpId="0"/>
      <p:bldP spid="23" grpId="0"/>
      <p:bldP spid="27" grpId="0"/>
      <p:bldP spid="17" grpId="0"/>
      <p:bldP spid="18" grpId="0"/>
      <p:bldP spid="25" grpId="0"/>
      <p:bldP spid="26" grpId="0"/>
      <p:bldP spid="34" grpId="0"/>
      <p:bldP spid="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28FF-413E-7854-963A-83D02D137FD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D15EBEE-60BF-4F26-BAF2-47CF0E35C678}"/>
              </a:ext>
            </a:extLst>
          </p:cNvPr>
          <p:cNvSpPr>
            <a:spLocks noGrp="1"/>
          </p:cNvSpPr>
          <p:nvPr>
            <p:ph type="sldNum" sz="quarter" idx="12"/>
          </p:nvPr>
        </p:nvSpPr>
        <p:spPr/>
        <p:txBody>
          <a:bodyPr/>
          <a:lstStyle/>
          <a:p>
            <a:fld id="{330EA680-D336-4FF7-8B7A-9848BB0A1C32}" type="slidenum">
              <a:rPr lang="en-GB" noProof="0" smtClean="0"/>
              <a:t>30</a:t>
            </a:fld>
            <a:endParaRPr lang="en-GB" noProof="0" dirty="0"/>
          </a:p>
        </p:txBody>
      </p:sp>
      <p:sp>
        <p:nvSpPr>
          <p:cNvPr id="4" name="Date Placeholder 3">
            <a:extLst>
              <a:ext uri="{FF2B5EF4-FFF2-40B4-BE49-F238E27FC236}">
                <a16:creationId xmlns:a16="http://schemas.microsoft.com/office/drawing/2014/main" id="{5AFDF2BF-86EA-D1DC-14BC-823022E9B308}"/>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8" name="Título 1">
            <a:extLst>
              <a:ext uri="{FF2B5EF4-FFF2-40B4-BE49-F238E27FC236}">
                <a16:creationId xmlns:a16="http://schemas.microsoft.com/office/drawing/2014/main" id="{36E1B5FB-95BD-5BC8-490B-37AE2E45F489}"/>
              </a:ext>
            </a:extLst>
          </p:cNvPr>
          <p:cNvSpPr txBox="1">
            <a:spLocks/>
          </p:cNvSpPr>
          <p:nvPr/>
        </p:nvSpPr>
        <p:spPr>
          <a:xfrm>
            <a:off x="891590" y="501650"/>
            <a:ext cx="5297731"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dirty="0">
                <a:solidFill>
                  <a:srgbClr val="FF0000"/>
                </a:solidFill>
                <a:latin typeface="Aptos SemiBold" panose="020F0502020204030204" pitchFamily="34" charset="0"/>
              </a:rPr>
              <a:t>Research approaches</a:t>
            </a:r>
          </a:p>
        </p:txBody>
      </p:sp>
      <p:sp>
        <p:nvSpPr>
          <p:cNvPr id="26" name="TextBox 25">
            <a:extLst>
              <a:ext uri="{FF2B5EF4-FFF2-40B4-BE49-F238E27FC236}">
                <a16:creationId xmlns:a16="http://schemas.microsoft.com/office/drawing/2014/main" id="{A680FB0B-D369-7C8B-426F-A346BF8DF223}"/>
              </a:ext>
            </a:extLst>
          </p:cNvPr>
          <p:cNvSpPr txBox="1"/>
          <p:nvPr/>
        </p:nvSpPr>
        <p:spPr>
          <a:xfrm>
            <a:off x="893519" y="2483955"/>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1.</a:t>
            </a:r>
            <a:endParaRPr lang="en-GB" sz="3200" b="1" noProof="0" dirty="0">
              <a:solidFill>
                <a:srgbClr val="FF0000"/>
              </a:solidFill>
              <a:latin typeface="Aptos Black" panose="020B0004020202020204" pitchFamily="34" charset="0"/>
            </a:endParaRPr>
          </a:p>
        </p:txBody>
      </p:sp>
      <p:sp>
        <p:nvSpPr>
          <p:cNvPr id="34" name="TextBox 33">
            <a:extLst>
              <a:ext uri="{FF2B5EF4-FFF2-40B4-BE49-F238E27FC236}">
                <a16:creationId xmlns:a16="http://schemas.microsoft.com/office/drawing/2014/main" id="{6F704005-5AC1-79F2-4E31-5C7E8EC11494}"/>
              </a:ext>
            </a:extLst>
          </p:cNvPr>
          <p:cNvSpPr txBox="1"/>
          <p:nvPr/>
        </p:nvSpPr>
        <p:spPr>
          <a:xfrm>
            <a:off x="1487193" y="2607950"/>
            <a:ext cx="1593605" cy="409407"/>
          </a:xfrm>
          <a:prstGeom prst="rect">
            <a:avLst/>
          </a:prstGeom>
          <a:noFill/>
        </p:spPr>
        <p:txBody>
          <a:bodyPr wrap="square">
            <a:spAutoFit/>
          </a:bodyPr>
          <a:lstStyle>
            <a:defPPr>
              <a:defRPr lang="en-US"/>
            </a:defPPr>
            <a:lvl1pPr>
              <a:lnSpc>
                <a:spcPts val="1200"/>
              </a:lnSpc>
              <a:defRPr sz="1400" b="1"/>
            </a:lvl1pPr>
          </a:lstStyle>
          <a:p>
            <a:r>
              <a:rPr lang="en-US" altLang="en-US" dirty="0"/>
              <a:t>Philosophical assumptions </a:t>
            </a:r>
          </a:p>
        </p:txBody>
      </p:sp>
      <p:sp>
        <p:nvSpPr>
          <p:cNvPr id="35" name="TextBox 34">
            <a:extLst>
              <a:ext uri="{FF2B5EF4-FFF2-40B4-BE49-F238E27FC236}">
                <a16:creationId xmlns:a16="http://schemas.microsoft.com/office/drawing/2014/main" id="{8617FD91-038A-8B91-D415-5764627EA888}"/>
              </a:ext>
            </a:extLst>
          </p:cNvPr>
          <p:cNvSpPr txBox="1"/>
          <p:nvPr/>
        </p:nvSpPr>
        <p:spPr>
          <a:xfrm>
            <a:off x="893519" y="3536405"/>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2.</a:t>
            </a:r>
            <a:endParaRPr lang="en-GB" sz="3200" b="1" noProof="0" dirty="0">
              <a:solidFill>
                <a:srgbClr val="FF0000"/>
              </a:solidFill>
              <a:latin typeface="Aptos Black" panose="020B0004020202020204" pitchFamily="34" charset="0"/>
            </a:endParaRPr>
          </a:p>
        </p:txBody>
      </p:sp>
      <p:sp>
        <p:nvSpPr>
          <p:cNvPr id="36" name="TextBox 35">
            <a:extLst>
              <a:ext uri="{FF2B5EF4-FFF2-40B4-BE49-F238E27FC236}">
                <a16:creationId xmlns:a16="http://schemas.microsoft.com/office/drawing/2014/main" id="{84F51FCE-FD92-0B89-A20D-8675D157B385}"/>
              </a:ext>
            </a:extLst>
          </p:cNvPr>
          <p:cNvSpPr txBox="1"/>
          <p:nvPr/>
        </p:nvSpPr>
        <p:spPr>
          <a:xfrm>
            <a:off x="1487193" y="3660400"/>
            <a:ext cx="1593605" cy="409407"/>
          </a:xfrm>
          <a:prstGeom prst="rect">
            <a:avLst/>
          </a:prstGeom>
          <a:noFill/>
        </p:spPr>
        <p:txBody>
          <a:bodyPr wrap="square">
            <a:spAutoFit/>
          </a:bodyPr>
          <a:lstStyle>
            <a:defPPr>
              <a:defRPr lang="en-US"/>
            </a:defPPr>
            <a:lvl1pPr>
              <a:lnSpc>
                <a:spcPts val="1200"/>
              </a:lnSpc>
              <a:defRPr sz="1400" b="1"/>
            </a:lvl1pPr>
          </a:lstStyle>
          <a:p>
            <a:r>
              <a:rPr lang="en-US" altLang="en-US" dirty="0"/>
              <a:t>Research designs </a:t>
            </a:r>
          </a:p>
        </p:txBody>
      </p:sp>
      <p:sp>
        <p:nvSpPr>
          <p:cNvPr id="37" name="TextBox 36">
            <a:extLst>
              <a:ext uri="{FF2B5EF4-FFF2-40B4-BE49-F238E27FC236}">
                <a16:creationId xmlns:a16="http://schemas.microsoft.com/office/drawing/2014/main" id="{7D348323-4C8B-BAA7-CDCB-1DE7A13D588B}"/>
              </a:ext>
            </a:extLst>
          </p:cNvPr>
          <p:cNvSpPr txBox="1"/>
          <p:nvPr/>
        </p:nvSpPr>
        <p:spPr>
          <a:xfrm>
            <a:off x="891590" y="4746065"/>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3.</a:t>
            </a:r>
            <a:endParaRPr lang="en-GB" sz="3200" b="1" noProof="0" dirty="0">
              <a:solidFill>
                <a:srgbClr val="FF0000"/>
              </a:solidFill>
              <a:latin typeface="Aptos Black" panose="020B0004020202020204" pitchFamily="34" charset="0"/>
            </a:endParaRPr>
          </a:p>
        </p:txBody>
      </p:sp>
      <p:sp>
        <p:nvSpPr>
          <p:cNvPr id="38" name="TextBox 37">
            <a:extLst>
              <a:ext uri="{FF2B5EF4-FFF2-40B4-BE49-F238E27FC236}">
                <a16:creationId xmlns:a16="http://schemas.microsoft.com/office/drawing/2014/main" id="{8BC41833-7858-17A4-9F3B-E6D509AA82CE}"/>
              </a:ext>
            </a:extLst>
          </p:cNvPr>
          <p:cNvSpPr txBox="1"/>
          <p:nvPr/>
        </p:nvSpPr>
        <p:spPr>
          <a:xfrm>
            <a:off x="1485264" y="4870060"/>
            <a:ext cx="3043874" cy="411395"/>
          </a:xfrm>
          <a:prstGeom prst="rect">
            <a:avLst/>
          </a:prstGeom>
          <a:noFill/>
        </p:spPr>
        <p:txBody>
          <a:bodyPr wrap="square">
            <a:spAutoFit/>
          </a:bodyPr>
          <a:lstStyle/>
          <a:p>
            <a:pPr>
              <a:lnSpc>
                <a:spcPts val="1200"/>
              </a:lnSpc>
            </a:pPr>
            <a:r>
              <a:rPr lang="en-US" sz="1400" b="1" dirty="0"/>
              <a:t>Methods for data collection, analysis, and interpretation </a:t>
            </a:r>
          </a:p>
        </p:txBody>
      </p:sp>
      <p:sp>
        <p:nvSpPr>
          <p:cNvPr id="47" name="TextBox 46">
            <a:extLst>
              <a:ext uri="{FF2B5EF4-FFF2-40B4-BE49-F238E27FC236}">
                <a16:creationId xmlns:a16="http://schemas.microsoft.com/office/drawing/2014/main" id="{2EB5E043-983C-63AA-7C9D-659B3EE555C7}"/>
              </a:ext>
            </a:extLst>
          </p:cNvPr>
          <p:cNvSpPr txBox="1"/>
          <p:nvPr/>
        </p:nvSpPr>
        <p:spPr>
          <a:xfrm>
            <a:off x="7427122" y="2021891"/>
            <a:ext cx="3238198" cy="329386"/>
          </a:xfrm>
          <a:prstGeom prst="rect">
            <a:avLst/>
          </a:prstGeom>
          <a:noFill/>
        </p:spPr>
        <p:txBody>
          <a:bodyPr wrap="square">
            <a:spAutoFit/>
          </a:bodyPr>
          <a:lstStyle/>
          <a:p>
            <a:pPr algn="ctr">
              <a:lnSpc>
                <a:spcPts val="1800"/>
              </a:lnSpc>
            </a:pPr>
            <a:r>
              <a:rPr lang="en-GB" b="1" dirty="0">
                <a:solidFill>
                  <a:schemeClr val="bg1"/>
                </a:solidFill>
                <a:highlight>
                  <a:srgbClr val="F22D1C"/>
                </a:highlight>
              </a:rPr>
              <a:t>Quantitative Methods</a:t>
            </a:r>
          </a:p>
        </p:txBody>
      </p:sp>
      <p:sp>
        <p:nvSpPr>
          <p:cNvPr id="48" name="TextBox 47">
            <a:extLst>
              <a:ext uri="{FF2B5EF4-FFF2-40B4-BE49-F238E27FC236}">
                <a16:creationId xmlns:a16="http://schemas.microsoft.com/office/drawing/2014/main" id="{1CC97A27-5B5F-153E-ED16-D104CA7CB724}"/>
              </a:ext>
            </a:extLst>
          </p:cNvPr>
          <p:cNvSpPr txBox="1"/>
          <p:nvPr/>
        </p:nvSpPr>
        <p:spPr>
          <a:xfrm>
            <a:off x="1880152" y="2001918"/>
            <a:ext cx="2878931" cy="369332"/>
          </a:xfrm>
          <a:prstGeom prst="rect">
            <a:avLst/>
          </a:prstGeom>
          <a:noFill/>
        </p:spPr>
        <p:txBody>
          <a:bodyPr wrap="square">
            <a:spAutoFit/>
          </a:bodyPr>
          <a:lstStyle/>
          <a:p>
            <a:pPr lvl="0" algn="ctr" eaLnBrk="0" fontAlgn="base" hangingPunct="0">
              <a:spcBef>
                <a:spcPct val="0"/>
              </a:spcBef>
              <a:spcAft>
                <a:spcPct val="0"/>
              </a:spcAft>
            </a:pPr>
            <a:r>
              <a:rPr lang="en-US" altLang="en-US" b="1" dirty="0">
                <a:highlight>
                  <a:srgbClr val="FFC000"/>
                </a:highlight>
                <a:latin typeface="Segoe UI" panose="020B0502040204020203" pitchFamily="34" charset="0"/>
                <a:cs typeface="Segoe UI" panose="020B0502040204020203" pitchFamily="34" charset="0"/>
              </a:rPr>
              <a:t>Qualitative Methods</a:t>
            </a:r>
          </a:p>
        </p:txBody>
      </p:sp>
      <p:cxnSp>
        <p:nvCxnSpPr>
          <p:cNvPr id="49" name="Straight Connector 48">
            <a:extLst>
              <a:ext uri="{FF2B5EF4-FFF2-40B4-BE49-F238E27FC236}">
                <a16:creationId xmlns:a16="http://schemas.microsoft.com/office/drawing/2014/main" id="{C34DF256-2C03-E323-86D9-DF59F5FD9FD6}"/>
              </a:ext>
            </a:extLst>
          </p:cNvPr>
          <p:cNvCxnSpPr>
            <a:cxnSpLocks/>
          </p:cNvCxnSpPr>
          <p:nvPr/>
        </p:nvCxnSpPr>
        <p:spPr>
          <a:xfrm flipV="1">
            <a:off x="6076256" y="2031413"/>
            <a:ext cx="0" cy="4026487"/>
          </a:xfrm>
          <a:prstGeom prst="line">
            <a:avLst/>
          </a:prstGeom>
          <a:ln w="12700">
            <a:solidFill>
              <a:srgbClr val="B5AEBE"/>
            </a:solidFill>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86FEEE84-E45D-FEF5-A985-963A46FE07CA}"/>
              </a:ext>
            </a:extLst>
          </p:cNvPr>
          <p:cNvSpPr txBox="1"/>
          <p:nvPr/>
        </p:nvSpPr>
        <p:spPr>
          <a:xfrm>
            <a:off x="1009600" y="3039205"/>
            <a:ext cx="4957828" cy="461665"/>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dirty="0">
                <a:latin typeface="Aptos Light" panose="020B0004020202020204" pitchFamily="34" charset="0"/>
              </a:rPr>
              <a:t>An approach aimed at </a:t>
            </a:r>
            <a:r>
              <a:rPr lang="en-US" sz="1200" dirty="0">
                <a:solidFill>
                  <a:schemeClr val="tx1"/>
                </a:solidFill>
                <a:highlight>
                  <a:srgbClr val="FFC000"/>
                </a:highlight>
                <a:latin typeface="Aptos Light" panose="020B0004020202020204" pitchFamily="34" charset="0"/>
              </a:rPr>
              <a:t>exploring and understanding the meanings </a:t>
            </a:r>
            <a:r>
              <a:rPr lang="en-US" sz="1200" dirty="0">
                <a:latin typeface="Aptos Light" panose="020B0004020202020204" pitchFamily="34" charset="0"/>
              </a:rPr>
              <a:t>that individuals or groups attribute to a social or human problem</a:t>
            </a:r>
            <a:endParaRPr lang="en-GB" sz="1200" noProof="0" dirty="0">
              <a:latin typeface="Aptos Light" panose="020B0004020202020204" pitchFamily="34" charset="0"/>
            </a:endParaRPr>
          </a:p>
        </p:txBody>
      </p:sp>
      <p:sp>
        <p:nvSpPr>
          <p:cNvPr id="54" name="TextBox 53">
            <a:extLst>
              <a:ext uri="{FF2B5EF4-FFF2-40B4-BE49-F238E27FC236}">
                <a16:creationId xmlns:a16="http://schemas.microsoft.com/office/drawing/2014/main" id="{6264A360-1942-7AF2-A128-72D3F052B215}"/>
              </a:ext>
            </a:extLst>
          </p:cNvPr>
          <p:cNvSpPr txBox="1"/>
          <p:nvPr/>
        </p:nvSpPr>
        <p:spPr>
          <a:xfrm>
            <a:off x="1009600" y="4104883"/>
            <a:ext cx="4991174" cy="646331"/>
          </a:xfrm>
          <a:prstGeom prst="rect">
            <a:avLst/>
          </a:prstGeom>
          <a:noFill/>
        </p:spPr>
        <p:txBody>
          <a:bodyPr wrap="square">
            <a:spAutoFit/>
          </a:bodyPr>
          <a:lstStyle>
            <a:defPPr>
              <a:defRPr lang="en-US"/>
            </a:defPPr>
            <a:lvl1pPr>
              <a:defRPr sz="1200">
                <a:solidFill>
                  <a:schemeClr val="bg1">
                    <a:lumMod val="65000"/>
                  </a:schemeClr>
                </a:solidFill>
              </a:defRPr>
            </a:lvl1pPr>
          </a:lstStyle>
          <a:p>
            <a:r>
              <a:rPr lang="en-US" dirty="0">
                <a:solidFill>
                  <a:schemeClr val="tx1"/>
                </a:solidFill>
                <a:highlight>
                  <a:srgbClr val="FFC000"/>
                </a:highlight>
                <a:latin typeface="Aptos Light" panose="020B0004020202020204" pitchFamily="34" charset="0"/>
              </a:rPr>
              <a:t>It follows an inductive style that moves from data towards themes</a:t>
            </a:r>
            <a:r>
              <a:rPr lang="en-US" dirty="0">
                <a:latin typeface="Aptos Light" panose="020B0004020202020204" pitchFamily="34" charset="0"/>
              </a:rPr>
              <a:t>, focusing on individual meaning and emphasizing the importance of reporting the complexity of a situation.</a:t>
            </a:r>
            <a:endParaRPr lang="en-GB" noProof="0" dirty="0">
              <a:latin typeface="Aptos Light" panose="020B0004020202020204" pitchFamily="34" charset="0"/>
            </a:endParaRPr>
          </a:p>
        </p:txBody>
      </p:sp>
      <p:sp>
        <p:nvSpPr>
          <p:cNvPr id="55" name="TextBox 54">
            <a:extLst>
              <a:ext uri="{FF2B5EF4-FFF2-40B4-BE49-F238E27FC236}">
                <a16:creationId xmlns:a16="http://schemas.microsoft.com/office/drawing/2014/main" id="{F01B50E4-B5BD-6CFB-C642-1B186679CA9A}"/>
              </a:ext>
            </a:extLst>
          </p:cNvPr>
          <p:cNvSpPr txBox="1"/>
          <p:nvPr/>
        </p:nvSpPr>
        <p:spPr>
          <a:xfrm>
            <a:off x="1009600" y="5337588"/>
            <a:ext cx="4991174" cy="830997"/>
          </a:xfrm>
          <a:prstGeom prst="rect">
            <a:avLst/>
          </a:prstGeom>
          <a:noFill/>
        </p:spPr>
        <p:txBody>
          <a:bodyPr wrap="square">
            <a:spAutoFit/>
          </a:bodyPr>
          <a:lstStyle>
            <a:defPPr>
              <a:defRPr lang="en-US"/>
            </a:defPPr>
            <a:lvl1pPr>
              <a:defRPr sz="1200">
                <a:solidFill>
                  <a:schemeClr val="bg1">
                    <a:lumMod val="65000"/>
                  </a:schemeClr>
                </a:solidFill>
              </a:defRPr>
            </a:lvl1pPr>
          </a:lstStyle>
          <a:p>
            <a:r>
              <a:rPr lang="en-US" dirty="0">
                <a:latin typeface="Aptos Light" panose="020B0004020202020204" pitchFamily="34" charset="0"/>
              </a:rPr>
              <a:t>It involves emergent questions and procedures; data are typically collected in the participants’ setting, and </a:t>
            </a:r>
            <a:r>
              <a:rPr lang="en-US" dirty="0">
                <a:solidFill>
                  <a:schemeClr val="tx1"/>
                </a:solidFill>
                <a:highlight>
                  <a:srgbClr val="FFC000"/>
                </a:highlight>
                <a:latin typeface="Aptos Light" panose="020B0004020202020204" pitchFamily="34" charset="0"/>
              </a:rPr>
              <a:t>the analysis is built inductively from the details to broader themes</a:t>
            </a:r>
            <a:r>
              <a:rPr lang="en-US" dirty="0">
                <a:latin typeface="Aptos Light" panose="020B0004020202020204" pitchFamily="34" charset="0"/>
              </a:rPr>
              <a:t>, with the researcher interpreting the meaning of the data.</a:t>
            </a:r>
            <a:endParaRPr lang="en-GB" noProof="0" dirty="0">
              <a:latin typeface="Aptos Light" panose="020B0004020202020204" pitchFamily="34" charset="0"/>
            </a:endParaRPr>
          </a:p>
        </p:txBody>
      </p:sp>
      <p:sp>
        <p:nvSpPr>
          <p:cNvPr id="2" name="TextBox 1">
            <a:extLst>
              <a:ext uri="{FF2B5EF4-FFF2-40B4-BE49-F238E27FC236}">
                <a16:creationId xmlns:a16="http://schemas.microsoft.com/office/drawing/2014/main" id="{57D98DC2-1C5A-A27A-1C46-DD9AC65FE69D}"/>
              </a:ext>
            </a:extLst>
          </p:cNvPr>
          <p:cNvSpPr txBox="1"/>
          <p:nvPr/>
        </p:nvSpPr>
        <p:spPr>
          <a:xfrm>
            <a:off x="891590" y="1018680"/>
            <a:ext cx="5839410" cy="707886"/>
          </a:xfrm>
          <a:prstGeom prst="rect">
            <a:avLst/>
          </a:prstGeom>
          <a:noFill/>
        </p:spPr>
        <p:txBody>
          <a:bodyPr wrap="square">
            <a:spAutoFit/>
          </a:bodyPr>
          <a:lstStyle/>
          <a:p>
            <a:pPr lvl="0" eaLnBrk="0" fontAlgn="base" hangingPunct="0">
              <a:spcBef>
                <a:spcPct val="0"/>
              </a:spcBef>
              <a:spcAft>
                <a:spcPct val="0"/>
              </a:spcAft>
            </a:pPr>
            <a:r>
              <a:rPr lang="en-US" altLang="en-US" sz="2000" b="1" dirty="0">
                <a:latin typeface="Segoe UI" panose="020B0502040204020203" pitchFamily="34" charset="0"/>
                <a:cs typeface="Segoe UI" panose="020B0502040204020203" pitchFamily="34" charset="0"/>
              </a:rPr>
              <a:t>What is the difference between quantitative and qualitative methods?</a:t>
            </a:r>
          </a:p>
        </p:txBody>
      </p:sp>
      <p:sp>
        <p:nvSpPr>
          <p:cNvPr id="6" name="TextBox 5">
            <a:extLst>
              <a:ext uri="{FF2B5EF4-FFF2-40B4-BE49-F238E27FC236}">
                <a16:creationId xmlns:a16="http://schemas.microsoft.com/office/drawing/2014/main" id="{2AAD2AF0-4EA0-49B1-8E03-503F7A8DDBDD}"/>
              </a:ext>
            </a:extLst>
          </p:cNvPr>
          <p:cNvSpPr txBox="1"/>
          <p:nvPr/>
        </p:nvSpPr>
        <p:spPr>
          <a:xfrm>
            <a:off x="6322769" y="2443446"/>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1.</a:t>
            </a:r>
            <a:endParaRPr lang="en-GB" sz="3200" b="1" noProof="0" dirty="0">
              <a:solidFill>
                <a:srgbClr val="FF0000"/>
              </a:solidFill>
              <a:latin typeface="Aptos Black" panose="020B0004020202020204" pitchFamily="34" charset="0"/>
            </a:endParaRPr>
          </a:p>
        </p:txBody>
      </p:sp>
      <p:sp>
        <p:nvSpPr>
          <p:cNvPr id="10" name="TextBox 9">
            <a:extLst>
              <a:ext uri="{FF2B5EF4-FFF2-40B4-BE49-F238E27FC236}">
                <a16:creationId xmlns:a16="http://schemas.microsoft.com/office/drawing/2014/main" id="{C7F560AD-4FA3-7983-7A1C-715395113AD0}"/>
              </a:ext>
            </a:extLst>
          </p:cNvPr>
          <p:cNvSpPr txBox="1"/>
          <p:nvPr/>
        </p:nvSpPr>
        <p:spPr>
          <a:xfrm>
            <a:off x="6916443" y="2567441"/>
            <a:ext cx="1593605" cy="409407"/>
          </a:xfrm>
          <a:prstGeom prst="rect">
            <a:avLst/>
          </a:prstGeom>
          <a:noFill/>
        </p:spPr>
        <p:txBody>
          <a:bodyPr wrap="square">
            <a:spAutoFit/>
          </a:bodyPr>
          <a:lstStyle>
            <a:defPPr>
              <a:defRPr lang="en-US"/>
            </a:defPPr>
            <a:lvl1pPr>
              <a:lnSpc>
                <a:spcPts val="1200"/>
              </a:lnSpc>
              <a:defRPr sz="1400" b="1"/>
            </a:lvl1pPr>
          </a:lstStyle>
          <a:p>
            <a:r>
              <a:rPr lang="en-US" altLang="en-US" dirty="0"/>
              <a:t>Philosophical assumptions </a:t>
            </a:r>
          </a:p>
        </p:txBody>
      </p:sp>
      <p:sp>
        <p:nvSpPr>
          <p:cNvPr id="11" name="TextBox 10">
            <a:extLst>
              <a:ext uri="{FF2B5EF4-FFF2-40B4-BE49-F238E27FC236}">
                <a16:creationId xmlns:a16="http://schemas.microsoft.com/office/drawing/2014/main" id="{7291718E-C6CC-410C-97E5-02A174EB12F3}"/>
              </a:ext>
            </a:extLst>
          </p:cNvPr>
          <p:cNvSpPr txBox="1"/>
          <p:nvPr/>
        </p:nvSpPr>
        <p:spPr>
          <a:xfrm>
            <a:off x="6322769" y="3495896"/>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2.</a:t>
            </a:r>
            <a:endParaRPr lang="en-GB" sz="3200" b="1" noProof="0" dirty="0">
              <a:solidFill>
                <a:srgbClr val="FF0000"/>
              </a:solidFill>
              <a:latin typeface="Aptos Black" panose="020B0004020202020204" pitchFamily="34" charset="0"/>
            </a:endParaRPr>
          </a:p>
        </p:txBody>
      </p:sp>
      <p:sp>
        <p:nvSpPr>
          <p:cNvPr id="12" name="TextBox 11">
            <a:extLst>
              <a:ext uri="{FF2B5EF4-FFF2-40B4-BE49-F238E27FC236}">
                <a16:creationId xmlns:a16="http://schemas.microsoft.com/office/drawing/2014/main" id="{6AA94CFD-353D-DE77-540A-4F940892BD36}"/>
              </a:ext>
            </a:extLst>
          </p:cNvPr>
          <p:cNvSpPr txBox="1"/>
          <p:nvPr/>
        </p:nvSpPr>
        <p:spPr>
          <a:xfrm>
            <a:off x="6916443" y="3619891"/>
            <a:ext cx="1593605" cy="409407"/>
          </a:xfrm>
          <a:prstGeom prst="rect">
            <a:avLst/>
          </a:prstGeom>
          <a:noFill/>
        </p:spPr>
        <p:txBody>
          <a:bodyPr wrap="square">
            <a:spAutoFit/>
          </a:bodyPr>
          <a:lstStyle>
            <a:defPPr>
              <a:defRPr lang="en-US"/>
            </a:defPPr>
            <a:lvl1pPr>
              <a:lnSpc>
                <a:spcPts val="1200"/>
              </a:lnSpc>
              <a:defRPr sz="1400" b="1"/>
            </a:lvl1pPr>
          </a:lstStyle>
          <a:p>
            <a:r>
              <a:rPr lang="en-US" altLang="en-US" dirty="0"/>
              <a:t>Research designs </a:t>
            </a:r>
          </a:p>
        </p:txBody>
      </p:sp>
      <p:sp>
        <p:nvSpPr>
          <p:cNvPr id="13" name="TextBox 12">
            <a:extLst>
              <a:ext uri="{FF2B5EF4-FFF2-40B4-BE49-F238E27FC236}">
                <a16:creationId xmlns:a16="http://schemas.microsoft.com/office/drawing/2014/main" id="{934C7BDC-B344-A8DF-093F-73B979B28C3F}"/>
              </a:ext>
            </a:extLst>
          </p:cNvPr>
          <p:cNvSpPr txBox="1"/>
          <p:nvPr/>
        </p:nvSpPr>
        <p:spPr>
          <a:xfrm>
            <a:off x="6320840" y="4705556"/>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3.</a:t>
            </a:r>
            <a:endParaRPr lang="en-GB" sz="3200" b="1" noProof="0" dirty="0">
              <a:solidFill>
                <a:srgbClr val="FF0000"/>
              </a:solidFill>
              <a:latin typeface="Aptos Black" panose="020B0004020202020204" pitchFamily="34" charset="0"/>
            </a:endParaRPr>
          </a:p>
        </p:txBody>
      </p:sp>
      <p:sp>
        <p:nvSpPr>
          <p:cNvPr id="14" name="TextBox 13">
            <a:extLst>
              <a:ext uri="{FF2B5EF4-FFF2-40B4-BE49-F238E27FC236}">
                <a16:creationId xmlns:a16="http://schemas.microsoft.com/office/drawing/2014/main" id="{6A1282CF-1B26-C6CC-A4E6-50F9D866E693}"/>
              </a:ext>
            </a:extLst>
          </p:cNvPr>
          <p:cNvSpPr txBox="1"/>
          <p:nvPr/>
        </p:nvSpPr>
        <p:spPr>
          <a:xfrm>
            <a:off x="6914514" y="4829551"/>
            <a:ext cx="3043874" cy="411395"/>
          </a:xfrm>
          <a:prstGeom prst="rect">
            <a:avLst/>
          </a:prstGeom>
          <a:noFill/>
        </p:spPr>
        <p:txBody>
          <a:bodyPr wrap="square">
            <a:spAutoFit/>
          </a:bodyPr>
          <a:lstStyle/>
          <a:p>
            <a:pPr>
              <a:lnSpc>
                <a:spcPts val="1200"/>
              </a:lnSpc>
            </a:pPr>
            <a:r>
              <a:rPr lang="en-US" sz="1400" b="1" dirty="0"/>
              <a:t>Methods for data collection, analysis, and interpretation </a:t>
            </a:r>
          </a:p>
        </p:txBody>
      </p:sp>
      <p:sp>
        <p:nvSpPr>
          <p:cNvPr id="15" name="TextBox 14">
            <a:extLst>
              <a:ext uri="{FF2B5EF4-FFF2-40B4-BE49-F238E27FC236}">
                <a16:creationId xmlns:a16="http://schemas.microsoft.com/office/drawing/2014/main" id="{3697FA8D-E919-71CF-CDDB-1A6064982141}"/>
              </a:ext>
            </a:extLst>
          </p:cNvPr>
          <p:cNvSpPr txBox="1"/>
          <p:nvPr/>
        </p:nvSpPr>
        <p:spPr>
          <a:xfrm>
            <a:off x="6322832" y="3003294"/>
            <a:ext cx="5034420" cy="461665"/>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dirty="0">
                <a:latin typeface="Aptos Light" panose="020B0004020202020204" pitchFamily="34" charset="0"/>
              </a:rPr>
              <a:t>An approach used to </a:t>
            </a:r>
            <a:r>
              <a:rPr lang="en-US" sz="1200" dirty="0">
                <a:solidFill>
                  <a:schemeClr val="bg1"/>
                </a:solidFill>
                <a:highlight>
                  <a:srgbClr val="F22D1C"/>
                </a:highlight>
                <a:latin typeface="Aptos Light" panose="020B0004020202020204" pitchFamily="34" charset="0"/>
              </a:rPr>
              <a:t>test objective theories </a:t>
            </a:r>
            <a:r>
              <a:rPr lang="en-US" sz="1200" dirty="0">
                <a:latin typeface="Aptos Light" panose="020B0004020202020204" pitchFamily="34" charset="0"/>
              </a:rPr>
              <a:t>by examining the relationship between variables or comparing groups.</a:t>
            </a:r>
          </a:p>
        </p:txBody>
      </p:sp>
      <p:sp>
        <p:nvSpPr>
          <p:cNvPr id="16" name="TextBox 15">
            <a:extLst>
              <a:ext uri="{FF2B5EF4-FFF2-40B4-BE49-F238E27FC236}">
                <a16:creationId xmlns:a16="http://schemas.microsoft.com/office/drawing/2014/main" id="{01574FFA-188E-3BAA-B82E-453680CEAA72}"/>
              </a:ext>
            </a:extLst>
          </p:cNvPr>
          <p:cNvSpPr txBox="1"/>
          <p:nvPr/>
        </p:nvSpPr>
        <p:spPr>
          <a:xfrm>
            <a:off x="6258303" y="4080609"/>
            <a:ext cx="4991174" cy="646331"/>
          </a:xfrm>
          <a:prstGeom prst="rect">
            <a:avLst/>
          </a:prstGeom>
          <a:noFill/>
        </p:spPr>
        <p:txBody>
          <a:bodyPr wrap="square">
            <a:spAutoFit/>
          </a:bodyPr>
          <a:lstStyle>
            <a:defPPr>
              <a:defRPr lang="en-US"/>
            </a:defPPr>
            <a:lvl1pPr>
              <a:defRPr sz="1200">
                <a:solidFill>
                  <a:schemeClr val="bg1">
                    <a:lumMod val="65000"/>
                  </a:schemeClr>
                </a:solidFill>
              </a:defRPr>
            </a:lvl1pPr>
          </a:lstStyle>
          <a:p>
            <a:r>
              <a:rPr lang="en-US" dirty="0">
                <a:solidFill>
                  <a:schemeClr val="bg1"/>
                </a:solidFill>
                <a:highlight>
                  <a:srgbClr val="F22D1C"/>
                </a:highlight>
                <a:latin typeface="Aptos Light" panose="020B0004020202020204" pitchFamily="34" charset="0"/>
              </a:rPr>
              <a:t>It tests theories deductively</a:t>
            </a:r>
            <a:r>
              <a:rPr lang="en-US" dirty="0">
                <a:latin typeface="Aptos Light" panose="020B0004020202020204" pitchFamily="34" charset="0"/>
              </a:rPr>
              <a:t>, incorporates safeguards against bias, controls for alternative or counterfactual explanations, and seeks to generalize and replicate findings.</a:t>
            </a:r>
            <a:endParaRPr lang="en-GB" noProof="0" dirty="0">
              <a:latin typeface="Aptos Light" panose="020B0004020202020204" pitchFamily="34" charset="0"/>
            </a:endParaRPr>
          </a:p>
        </p:txBody>
      </p:sp>
      <p:sp>
        <p:nvSpPr>
          <p:cNvPr id="20" name="TextBox 19">
            <a:extLst>
              <a:ext uri="{FF2B5EF4-FFF2-40B4-BE49-F238E27FC236}">
                <a16:creationId xmlns:a16="http://schemas.microsoft.com/office/drawing/2014/main" id="{AE562759-A7B5-AFC8-8D0E-4407AC9D39CE}"/>
              </a:ext>
            </a:extLst>
          </p:cNvPr>
          <p:cNvSpPr txBox="1"/>
          <p:nvPr/>
        </p:nvSpPr>
        <p:spPr>
          <a:xfrm>
            <a:off x="6320840" y="5337588"/>
            <a:ext cx="4991174" cy="461665"/>
          </a:xfrm>
          <a:prstGeom prst="rect">
            <a:avLst/>
          </a:prstGeom>
          <a:noFill/>
        </p:spPr>
        <p:txBody>
          <a:bodyPr wrap="square">
            <a:spAutoFit/>
          </a:bodyPr>
          <a:lstStyle>
            <a:defPPr>
              <a:defRPr lang="en-US"/>
            </a:defPPr>
            <a:lvl1pPr>
              <a:defRPr sz="1200">
                <a:solidFill>
                  <a:schemeClr val="bg1">
                    <a:lumMod val="65000"/>
                  </a:schemeClr>
                </a:solidFill>
              </a:defRPr>
            </a:lvl1pPr>
          </a:lstStyle>
          <a:p>
            <a:r>
              <a:rPr lang="en-US" dirty="0">
                <a:latin typeface="Aptos Light" panose="020B0004020202020204" pitchFamily="34" charset="0"/>
              </a:rPr>
              <a:t>Variables can be measured, typically through instruments, so that </a:t>
            </a:r>
            <a:r>
              <a:rPr lang="en-US" dirty="0">
                <a:solidFill>
                  <a:schemeClr val="bg1"/>
                </a:solidFill>
                <a:highlight>
                  <a:srgbClr val="F22D1C"/>
                </a:highlight>
                <a:latin typeface="Aptos Light" panose="020B0004020202020204" pitchFamily="34" charset="0"/>
              </a:rPr>
              <a:t>numerical data may be analyzed using statistical procedures.</a:t>
            </a:r>
            <a:endParaRPr lang="en-GB" noProof="0" dirty="0">
              <a:solidFill>
                <a:schemeClr val="bg1"/>
              </a:solidFill>
              <a:highlight>
                <a:srgbClr val="F22D1C"/>
              </a:highlight>
              <a:latin typeface="Aptos Light" panose="020B0004020202020204" pitchFamily="34" charset="0"/>
            </a:endParaRPr>
          </a:p>
        </p:txBody>
      </p:sp>
      <p:sp>
        <p:nvSpPr>
          <p:cNvPr id="28" name="Footer Placeholder 4">
            <a:extLst>
              <a:ext uri="{FF2B5EF4-FFF2-40B4-BE49-F238E27FC236}">
                <a16:creationId xmlns:a16="http://schemas.microsoft.com/office/drawing/2014/main" id="{82E4AF7B-7550-7F34-C393-1270837ED72F}"/>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2339193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10" presetClass="entr" presetSubtype="0" fill="hold" nodeType="with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500"/>
                                        <p:tgtEl>
                                          <p:spTgt spid="4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fade">
                                      <p:cBhvr>
                                        <p:cTn id="21" dur="500"/>
                                        <p:tgtEl>
                                          <p:spTgt spid="5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500"/>
                                        <p:tgtEl>
                                          <p:spTgt spid="3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500"/>
                                        <p:tgtEl>
                                          <p:spTgt spid="3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500"/>
                                        <p:tgtEl>
                                          <p:spTgt spid="5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500"/>
                                        <p:tgtEl>
                                          <p:spTgt spid="3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fade">
                                      <p:cBhvr>
                                        <p:cTn id="46" dur="500"/>
                                        <p:tgtEl>
                                          <p:spTgt spid="5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500"/>
                                        <p:tgtEl>
                                          <p:spTgt spid="1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fade">
                                      <p:cBhvr>
                                        <p:cTn id="65" dur="500"/>
                                        <p:tgtEl>
                                          <p:spTgt spid="1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fade">
                                      <p:cBhvr>
                                        <p:cTn id="73" dur="500"/>
                                        <p:tgtEl>
                                          <p:spTgt spid="1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6" grpId="0"/>
      <p:bldP spid="37" grpId="0"/>
      <p:bldP spid="38" grpId="0"/>
      <p:bldP spid="47" grpId="0"/>
      <p:bldP spid="48" grpId="0"/>
      <p:bldP spid="51" grpId="0"/>
      <p:bldP spid="54" grpId="0"/>
      <p:bldP spid="55" grpId="0"/>
      <p:bldP spid="6" grpId="0"/>
      <p:bldP spid="10" grpId="0"/>
      <p:bldP spid="11" grpId="0"/>
      <p:bldP spid="12" grpId="0"/>
      <p:bldP spid="13" grpId="0"/>
      <p:bldP spid="14" grpId="0"/>
      <p:bldP spid="15" grpId="0"/>
      <p:bldP spid="16" grpId="0"/>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98C2C0BE-6017-108C-3450-0FE250727B2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6A4C54-EA8D-FDF4-A9FF-20B4B004E197}"/>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bg1"/>
                </a:solidFill>
              </a:rPr>
              <a:t>31</a:t>
            </a:fld>
            <a:endParaRPr lang="en-GB" noProof="0" dirty="0">
              <a:solidFill>
                <a:schemeClr val="bg1"/>
              </a:solidFill>
            </a:endParaRPr>
          </a:p>
        </p:txBody>
      </p:sp>
      <p:sp>
        <p:nvSpPr>
          <p:cNvPr id="4" name="Date Placeholder 3">
            <a:extLst>
              <a:ext uri="{FF2B5EF4-FFF2-40B4-BE49-F238E27FC236}">
                <a16:creationId xmlns:a16="http://schemas.microsoft.com/office/drawing/2014/main" id="{CE4EF9E3-53CD-2789-E7FA-2EA7E142BA9C}"/>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sp>
        <p:nvSpPr>
          <p:cNvPr id="7" name="TextBox 6">
            <a:extLst>
              <a:ext uri="{FF2B5EF4-FFF2-40B4-BE49-F238E27FC236}">
                <a16:creationId xmlns:a16="http://schemas.microsoft.com/office/drawing/2014/main" id="{2492EB9D-6B5C-37A9-A802-41BBCB7F4847}"/>
              </a:ext>
            </a:extLst>
          </p:cNvPr>
          <p:cNvSpPr txBox="1"/>
          <p:nvPr/>
        </p:nvSpPr>
        <p:spPr>
          <a:xfrm>
            <a:off x="2274530" y="2092562"/>
            <a:ext cx="1817868" cy="502702"/>
          </a:xfrm>
          <a:prstGeom prst="rect">
            <a:avLst/>
          </a:prstGeom>
          <a:noFill/>
        </p:spPr>
        <p:txBody>
          <a:bodyPr wrap="square">
            <a:spAutoFit/>
          </a:bodyPr>
          <a:lstStyle/>
          <a:p>
            <a:pPr algn="ctr">
              <a:lnSpc>
                <a:spcPts val="1600"/>
              </a:lnSpc>
            </a:pPr>
            <a:r>
              <a:rPr lang="en-GB" sz="1400" b="1" dirty="0">
                <a:solidFill>
                  <a:schemeClr val="bg1"/>
                </a:solidFill>
                <a:latin typeface="Corbel" panose="020B0503020204020204" pitchFamily="34" charset="0"/>
              </a:rPr>
              <a:t>Philosophical assumptions </a:t>
            </a:r>
          </a:p>
        </p:txBody>
      </p:sp>
      <p:sp>
        <p:nvSpPr>
          <p:cNvPr id="8" name="TextBox 7">
            <a:extLst>
              <a:ext uri="{FF2B5EF4-FFF2-40B4-BE49-F238E27FC236}">
                <a16:creationId xmlns:a16="http://schemas.microsoft.com/office/drawing/2014/main" id="{3B8DDDF7-0055-51AB-BCEB-5F7323B44835}"/>
              </a:ext>
            </a:extLst>
          </p:cNvPr>
          <p:cNvSpPr txBox="1"/>
          <p:nvPr/>
        </p:nvSpPr>
        <p:spPr>
          <a:xfrm>
            <a:off x="7584829" y="2071146"/>
            <a:ext cx="1593605" cy="545534"/>
          </a:xfrm>
          <a:prstGeom prst="rect">
            <a:avLst/>
          </a:prstGeom>
          <a:noFill/>
        </p:spPr>
        <p:txBody>
          <a:bodyPr wrap="square">
            <a:spAutoFit/>
          </a:bodyPr>
          <a:lstStyle/>
          <a:p>
            <a:pPr algn="ctr">
              <a:lnSpc>
                <a:spcPts val="1800"/>
              </a:lnSpc>
            </a:pPr>
            <a:r>
              <a:rPr lang="en-GB" sz="1400" b="1" dirty="0">
                <a:solidFill>
                  <a:schemeClr val="bg1"/>
                </a:solidFill>
              </a:rPr>
              <a:t>Research designs </a:t>
            </a:r>
          </a:p>
        </p:txBody>
      </p:sp>
      <p:sp>
        <p:nvSpPr>
          <p:cNvPr id="10" name="TextBox 9">
            <a:extLst>
              <a:ext uri="{FF2B5EF4-FFF2-40B4-BE49-F238E27FC236}">
                <a16:creationId xmlns:a16="http://schemas.microsoft.com/office/drawing/2014/main" id="{7D525014-C452-5FC2-02C0-CABE5FB30E0B}"/>
              </a:ext>
            </a:extLst>
          </p:cNvPr>
          <p:cNvSpPr txBox="1"/>
          <p:nvPr/>
        </p:nvSpPr>
        <p:spPr>
          <a:xfrm>
            <a:off x="4764881" y="4397686"/>
            <a:ext cx="1935004" cy="776879"/>
          </a:xfrm>
          <a:prstGeom prst="rect">
            <a:avLst/>
          </a:prstGeom>
          <a:noFill/>
        </p:spPr>
        <p:txBody>
          <a:bodyPr wrap="square">
            <a:spAutoFit/>
          </a:bodyPr>
          <a:lstStyle/>
          <a:p>
            <a:pPr algn="ctr">
              <a:lnSpc>
                <a:spcPts val="1800"/>
              </a:lnSpc>
            </a:pPr>
            <a:r>
              <a:rPr lang="en-US" sz="1400" b="1" dirty="0">
                <a:solidFill>
                  <a:schemeClr val="bg1"/>
                </a:solidFill>
              </a:rPr>
              <a:t>Methods for data collection, analysis, and interpretation </a:t>
            </a:r>
          </a:p>
        </p:txBody>
      </p:sp>
      <p:cxnSp>
        <p:nvCxnSpPr>
          <p:cNvPr id="12" name="Straight Arrow Connector 11">
            <a:extLst>
              <a:ext uri="{FF2B5EF4-FFF2-40B4-BE49-F238E27FC236}">
                <a16:creationId xmlns:a16="http://schemas.microsoft.com/office/drawing/2014/main" id="{0D53E72E-CA90-19D5-4BE7-6E1B076057BF}"/>
              </a:ext>
            </a:extLst>
          </p:cNvPr>
          <p:cNvCxnSpPr>
            <a:cxnSpLocks/>
            <a:stCxn id="7" idx="2"/>
            <a:endCxn id="10" idx="1"/>
          </p:cNvCxnSpPr>
          <p:nvPr/>
        </p:nvCxnSpPr>
        <p:spPr>
          <a:xfrm>
            <a:off x="3183464" y="2595264"/>
            <a:ext cx="1581417" cy="2190862"/>
          </a:xfrm>
          <a:prstGeom prst="straightConnector1">
            <a:avLst/>
          </a:prstGeom>
          <a:ln>
            <a:solidFill>
              <a:schemeClr val="bg1">
                <a:lumMod val="95000"/>
              </a:schemeClr>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752727C9-8091-5F0D-692D-72ED4450676F}"/>
              </a:ext>
            </a:extLst>
          </p:cNvPr>
          <p:cNvSpPr txBox="1"/>
          <p:nvPr/>
        </p:nvSpPr>
        <p:spPr>
          <a:xfrm>
            <a:off x="2329205" y="2699428"/>
            <a:ext cx="1198955" cy="769441"/>
          </a:xfrm>
          <a:prstGeom prst="rect">
            <a:avLst/>
          </a:prstGeom>
          <a:noFill/>
        </p:spPr>
        <p:txBody>
          <a:bodyPr wrap="square">
            <a:spAutoFit/>
          </a:bodyPr>
          <a:lstStyle>
            <a:defPPr>
              <a:defRPr lang="en-US"/>
            </a:defPPr>
            <a:lvl1pPr>
              <a:defRPr>
                <a:solidFill>
                  <a:schemeClr val="bg1">
                    <a:lumMod val="65000"/>
                  </a:schemeClr>
                </a:solidFill>
              </a:defRPr>
            </a:lvl1pPr>
          </a:lstStyle>
          <a:p>
            <a:r>
              <a:rPr lang="en-GB" sz="1100" dirty="0">
                <a:solidFill>
                  <a:srgbClr val="FFFF00"/>
                </a:solidFill>
              </a:rPr>
              <a:t>Positivist</a:t>
            </a:r>
          </a:p>
          <a:p>
            <a:r>
              <a:rPr lang="en-GB" sz="1100" dirty="0">
                <a:solidFill>
                  <a:srgbClr val="FFFF00"/>
                </a:solidFill>
              </a:rPr>
              <a:t>Constructivist</a:t>
            </a:r>
          </a:p>
          <a:p>
            <a:r>
              <a:rPr lang="en-GB" sz="1100" dirty="0">
                <a:solidFill>
                  <a:srgbClr val="FFFF00"/>
                </a:solidFill>
              </a:rPr>
              <a:t>Transformative</a:t>
            </a:r>
          </a:p>
          <a:p>
            <a:r>
              <a:rPr lang="en-GB" sz="1100" dirty="0">
                <a:solidFill>
                  <a:srgbClr val="FFFF00"/>
                </a:solidFill>
              </a:rPr>
              <a:t>Pragmatic</a:t>
            </a:r>
            <a:endParaRPr lang="en-GB" sz="1100" noProof="0" dirty="0">
              <a:solidFill>
                <a:srgbClr val="FFFF00"/>
              </a:solidFill>
            </a:endParaRPr>
          </a:p>
        </p:txBody>
      </p:sp>
      <p:sp>
        <p:nvSpPr>
          <p:cNvPr id="18" name="TextBox 17">
            <a:extLst>
              <a:ext uri="{FF2B5EF4-FFF2-40B4-BE49-F238E27FC236}">
                <a16:creationId xmlns:a16="http://schemas.microsoft.com/office/drawing/2014/main" id="{6CDE48C9-2531-C55F-CB71-EFF14ACFCCCC}"/>
              </a:ext>
            </a:extLst>
          </p:cNvPr>
          <p:cNvSpPr txBox="1"/>
          <p:nvPr/>
        </p:nvSpPr>
        <p:spPr>
          <a:xfrm>
            <a:off x="4891725" y="5186523"/>
            <a:ext cx="1823400" cy="938719"/>
          </a:xfrm>
          <a:prstGeom prst="rect">
            <a:avLst/>
          </a:prstGeom>
          <a:noFill/>
        </p:spPr>
        <p:txBody>
          <a:bodyPr wrap="square">
            <a:spAutoFit/>
          </a:bodyPr>
          <a:lstStyle>
            <a:defPPr>
              <a:defRPr lang="en-US"/>
            </a:defPPr>
            <a:lvl1pPr>
              <a:defRPr>
                <a:solidFill>
                  <a:schemeClr val="bg1">
                    <a:lumMod val="65000"/>
                  </a:schemeClr>
                </a:solidFill>
              </a:defRPr>
            </a:lvl1pPr>
          </a:lstStyle>
          <a:p>
            <a:r>
              <a:rPr lang="en-GB" sz="1100" dirty="0">
                <a:solidFill>
                  <a:srgbClr val="FFFF00"/>
                </a:solidFill>
              </a:rPr>
              <a:t>Questions</a:t>
            </a:r>
          </a:p>
          <a:p>
            <a:r>
              <a:rPr lang="en-GB" sz="1100" dirty="0">
                <a:solidFill>
                  <a:srgbClr val="FFFF00"/>
                </a:solidFill>
              </a:rPr>
              <a:t>Data Collection</a:t>
            </a:r>
          </a:p>
          <a:p>
            <a:r>
              <a:rPr lang="en-GB" sz="1100" dirty="0">
                <a:solidFill>
                  <a:srgbClr val="FFFF00"/>
                </a:solidFill>
              </a:rPr>
              <a:t>Data Analysis</a:t>
            </a:r>
          </a:p>
          <a:p>
            <a:r>
              <a:rPr lang="en-GB" sz="1100" dirty="0">
                <a:solidFill>
                  <a:srgbClr val="FFFF00"/>
                </a:solidFill>
              </a:rPr>
              <a:t>Interpretation</a:t>
            </a:r>
          </a:p>
          <a:p>
            <a:r>
              <a:rPr lang="en-GB" sz="1100" dirty="0">
                <a:solidFill>
                  <a:srgbClr val="FFFF00"/>
                </a:solidFill>
              </a:rPr>
              <a:t>Validation</a:t>
            </a:r>
            <a:endParaRPr lang="en-GB" sz="1100" noProof="0" dirty="0">
              <a:solidFill>
                <a:srgbClr val="FFFF00"/>
              </a:solidFill>
            </a:endParaRPr>
          </a:p>
        </p:txBody>
      </p:sp>
      <p:cxnSp>
        <p:nvCxnSpPr>
          <p:cNvPr id="19" name="Straight Arrow Connector 18">
            <a:extLst>
              <a:ext uri="{FF2B5EF4-FFF2-40B4-BE49-F238E27FC236}">
                <a16:creationId xmlns:a16="http://schemas.microsoft.com/office/drawing/2014/main" id="{D5997741-8732-572C-A6A1-B262EE4EDDA5}"/>
              </a:ext>
            </a:extLst>
          </p:cNvPr>
          <p:cNvCxnSpPr>
            <a:cxnSpLocks/>
            <a:stCxn id="10" idx="3"/>
            <a:endCxn id="8" idx="2"/>
          </p:cNvCxnSpPr>
          <p:nvPr/>
        </p:nvCxnSpPr>
        <p:spPr>
          <a:xfrm flipV="1">
            <a:off x="6699885" y="2616680"/>
            <a:ext cx="1681747" cy="2169446"/>
          </a:xfrm>
          <a:prstGeom prst="straightConnector1">
            <a:avLst/>
          </a:prstGeom>
          <a:ln>
            <a:solidFill>
              <a:schemeClr val="bg1">
                <a:lumMod val="9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445FF568-732F-E9E0-1290-7BCBBB43884A}"/>
              </a:ext>
            </a:extLst>
          </p:cNvPr>
          <p:cNvCxnSpPr>
            <a:cxnSpLocks/>
            <a:stCxn id="8" idx="1"/>
            <a:endCxn id="7" idx="3"/>
          </p:cNvCxnSpPr>
          <p:nvPr/>
        </p:nvCxnSpPr>
        <p:spPr>
          <a:xfrm flipH="1">
            <a:off x="4092398" y="2343913"/>
            <a:ext cx="3492431" cy="0"/>
          </a:xfrm>
          <a:prstGeom prst="straightConnector1">
            <a:avLst/>
          </a:prstGeom>
          <a:ln>
            <a:solidFill>
              <a:schemeClr val="bg1">
                <a:lumMod val="9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2FB8CE0F-51FA-F40C-EA1E-85B8AC5030B5}"/>
              </a:ext>
            </a:extLst>
          </p:cNvPr>
          <p:cNvSpPr txBox="1"/>
          <p:nvPr/>
        </p:nvSpPr>
        <p:spPr>
          <a:xfrm>
            <a:off x="8241363" y="2784066"/>
            <a:ext cx="1724903" cy="600164"/>
          </a:xfrm>
          <a:prstGeom prst="rect">
            <a:avLst/>
          </a:prstGeom>
          <a:noFill/>
        </p:spPr>
        <p:txBody>
          <a:bodyPr wrap="square">
            <a:spAutoFit/>
          </a:bodyPr>
          <a:lstStyle>
            <a:defPPr>
              <a:defRPr lang="en-US"/>
            </a:defPPr>
            <a:lvl1pPr>
              <a:defRPr>
                <a:solidFill>
                  <a:schemeClr val="bg1">
                    <a:lumMod val="65000"/>
                  </a:schemeClr>
                </a:solidFill>
              </a:defRPr>
            </a:lvl1pPr>
          </a:lstStyle>
          <a:p>
            <a:r>
              <a:rPr lang="en-GB" sz="1100" dirty="0">
                <a:solidFill>
                  <a:srgbClr val="FFFF00"/>
                </a:solidFill>
              </a:rPr>
              <a:t>Quantitative</a:t>
            </a:r>
          </a:p>
          <a:p>
            <a:r>
              <a:rPr lang="en-GB" sz="1100" dirty="0">
                <a:solidFill>
                  <a:srgbClr val="FFFF00"/>
                </a:solidFill>
              </a:rPr>
              <a:t>Qualitative</a:t>
            </a:r>
          </a:p>
          <a:p>
            <a:r>
              <a:rPr lang="en-GB" sz="1100" dirty="0">
                <a:solidFill>
                  <a:srgbClr val="FFFF00"/>
                </a:solidFill>
              </a:rPr>
              <a:t>Mixed Methods</a:t>
            </a:r>
            <a:endParaRPr lang="en-GB" sz="1100" noProof="0" dirty="0">
              <a:solidFill>
                <a:srgbClr val="FFFF00"/>
              </a:solidFill>
            </a:endParaRPr>
          </a:p>
        </p:txBody>
      </p:sp>
      <p:sp>
        <p:nvSpPr>
          <p:cNvPr id="31" name="TextBox 30">
            <a:extLst>
              <a:ext uri="{FF2B5EF4-FFF2-40B4-BE49-F238E27FC236}">
                <a16:creationId xmlns:a16="http://schemas.microsoft.com/office/drawing/2014/main" id="{7BA7A1D0-58F8-61EA-CBD4-D09C95F19631}"/>
              </a:ext>
            </a:extLst>
          </p:cNvPr>
          <p:cNvSpPr txBox="1"/>
          <p:nvPr/>
        </p:nvSpPr>
        <p:spPr>
          <a:xfrm>
            <a:off x="4619173" y="3022337"/>
            <a:ext cx="2223141" cy="566565"/>
          </a:xfrm>
          <a:prstGeom prst="rect">
            <a:avLst/>
          </a:prstGeom>
          <a:noFill/>
        </p:spPr>
        <p:txBody>
          <a:bodyPr wrap="square">
            <a:spAutoFit/>
          </a:bodyPr>
          <a:lstStyle/>
          <a:p>
            <a:pPr algn="ctr">
              <a:lnSpc>
                <a:spcPts val="1800"/>
              </a:lnSpc>
            </a:pPr>
            <a:r>
              <a:rPr lang="en-GB" sz="2000" b="1" noProof="0" dirty="0">
                <a:solidFill>
                  <a:srgbClr val="FFFF00"/>
                </a:solidFill>
              </a:rPr>
              <a:t>Approaches to research</a:t>
            </a:r>
            <a:endParaRPr lang="en-GB" sz="2000" b="1" noProof="0" dirty="0">
              <a:solidFill>
                <a:srgbClr val="FFFF00"/>
              </a:solidFill>
              <a:latin typeface="Corbel" panose="020B0503020204020204" pitchFamily="34" charset="0"/>
            </a:endParaRPr>
          </a:p>
        </p:txBody>
      </p:sp>
      <p:sp>
        <p:nvSpPr>
          <p:cNvPr id="36" name="Título 1">
            <a:extLst>
              <a:ext uri="{FF2B5EF4-FFF2-40B4-BE49-F238E27FC236}">
                <a16:creationId xmlns:a16="http://schemas.microsoft.com/office/drawing/2014/main" id="{F1F7C982-FA13-77BD-077A-9C67A20376CB}"/>
              </a:ext>
            </a:extLst>
          </p:cNvPr>
          <p:cNvSpPr txBox="1">
            <a:spLocks/>
          </p:cNvSpPr>
          <p:nvPr/>
        </p:nvSpPr>
        <p:spPr>
          <a:xfrm>
            <a:off x="891589" y="501650"/>
            <a:ext cx="4480511"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dirty="0">
                <a:solidFill>
                  <a:schemeClr val="bg1">
                    <a:lumMod val="95000"/>
                  </a:schemeClr>
                </a:solidFill>
                <a:latin typeface="Aptos SemiBold" panose="020F0502020204030204" pitchFamily="34" charset="0"/>
              </a:rPr>
              <a:t>A Framework for Research</a:t>
            </a:r>
          </a:p>
        </p:txBody>
      </p:sp>
      <p:sp>
        <p:nvSpPr>
          <p:cNvPr id="5" name="Footer Placeholder 4">
            <a:extLst>
              <a:ext uri="{FF2B5EF4-FFF2-40B4-BE49-F238E27FC236}">
                <a16:creationId xmlns:a16="http://schemas.microsoft.com/office/drawing/2014/main" id="{0AA51AD4-42F9-7538-2840-8E7512415CB2}"/>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solidFill>
              </a:rPr>
              <a:t>Data analysis</a:t>
            </a:r>
          </a:p>
        </p:txBody>
      </p:sp>
      <p:sp>
        <p:nvSpPr>
          <p:cNvPr id="26" name="Rectangle 25">
            <a:extLst>
              <a:ext uri="{FF2B5EF4-FFF2-40B4-BE49-F238E27FC236}">
                <a16:creationId xmlns:a16="http://schemas.microsoft.com/office/drawing/2014/main" id="{2877D710-6AD0-55F7-2B33-AD23DBA7C2E5}"/>
              </a:ext>
            </a:extLst>
          </p:cNvPr>
          <p:cNvSpPr/>
          <p:nvPr/>
        </p:nvSpPr>
        <p:spPr>
          <a:xfrm>
            <a:off x="176554" y="6172200"/>
            <a:ext cx="3474695" cy="596900"/>
          </a:xfrm>
          <a:prstGeom prst="rect">
            <a:avLst/>
          </a:prstGeom>
          <a:solidFill>
            <a:srgbClr val="EA21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5053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3" grpId="0"/>
      <p:bldP spid="18" grpId="0"/>
      <p:bldP spid="28" grpId="0"/>
      <p:bldP spid="3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77A09-7680-0E03-8770-6C3640E5EB12}"/>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5DFBA5CD-FE3A-6A05-AA6E-81206F695C87}"/>
              </a:ext>
            </a:extLst>
          </p:cNvPr>
          <p:cNvSpPr txBox="1"/>
          <p:nvPr/>
        </p:nvSpPr>
        <p:spPr>
          <a:xfrm>
            <a:off x="891590" y="1750873"/>
            <a:ext cx="6609984" cy="3508653"/>
          </a:xfrm>
          <a:prstGeom prst="rect">
            <a:avLst/>
          </a:prstGeom>
          <a:noFill/>
        </p:spPr>
        <p:txBody>
          <a:bodyPr wrap="square">
            <a:spAutoFit/>
          </a:bodyPr>
          <a:lstStyle/>
          <a:p>
            <a:r>
              <a:rPr lang="en-US" dirty="0"/>
              <a:t>The philosophical ideas held by researchers </a:t>
            </a:r>
            <a:r>
              <a:rPr lang="en-US" dirty="0">
                <a:highlight>
                  <a:srgbClr val="FFC000"/>
                </a:highlight>
              </a:rPr>
              <a:t>i</a:t>
            </a:r>
            <a:r>
              <a:rPr lang="en-US" b="1" dirty="0">
                <a:highlight>
                  <a:srgbClr val="FFC000"/>
                </a:highlight>
              </a:rPr>
              <a:t>nfluence their research practice</a:t>
            </a:r>
            <a:r>
              <a:rPr lang="en-US" b="1" dirty="0"/>
              <a:t> </a:t>
            </a:r>
            <a:r>
              <a:rPr lang="en-US" dirty="0"/>
              <a:t>and therefore need to be explicitly identified.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sz="1600" dirty="0">
                <a:solidFill>
                  <a:schemeClr val="bg1">
                    <a:lumMod val="65000"/>
                  </a:schemeClr>
                </a:solidFill>
                <a:latin typeface="Aptos Light" panose="020B0004020202020204" pitchFamily="34" charset="0"/>
              </a:rPr>
              <a:t>When preparing a research proposal, these assumptions should be clearly presented.</a:t>
            </a:r>
          </a:p>
          <a:p>
            <a:pPr marL="285750" indent="-285750">
              <a:buFont typeface="Arial" panose="020B0604020202020204" pitchFamily="34" charset="0"/>
              <a:buChar char="•"/>
            </a:pPr>
            <a:endParaRPr lang="en-US" dirty="0"/>
          </a:p>
          <a:p>
            <a:r>
              <a:rPr lang="en-US" dirty="0"/>
              <a:t>Philosophical assumptions or viewpoints are the </a:t>
            </a:r>
            <a:r>
              <a:rPr lang="en-US" b="1" dirty="0">
                <a:highlight>
                  <a:srgbClr val="FFC000"/>
                </a:highlight>
              </a:rPr>
              <a:t>beliefs and values that highlight the elements the researcher considers most important when conducting a study</a:t>
            </a:r>
            <a:r>
              <a:rPr lang="en-US" dirty="0"/>
              <a:t>.</a:t>
            </a:r>
          </a:p>
          <a:p>
            <a:endParaRPr lang="en-US" sz="1600" dirty="0"/>
          </a:p>
          <a:p>
            <a:pPr marL="285750" indent="-285750">
              <a:buFont typeface="Arial" panose="020B0604020202020204" pitchFamily="34" charset="0"/>
              <a:buChar char="•"/>
            </a:pPr>
            <a:r>
              <a:rPr lang="en-US" sz="1600" dirty="0">
                <a:solidFill>
                  <a:schemeClr val="bg1">
                    <a:lumMod val="65000"/>
                  </a:schemeClr>
                </a:solidFill>
                <a:latin typeface="Aptos Light" panose="020B0004020202020204" pitchFamily="34" charset="0"/>
              </a:rPr>
              <a:t>These beliefs and values develop from the researcher’s experiences and academic training.</a:t>
            </a:r>
          </a:p>
          <a:p>
            <a:pPr marL="285750" indent="-285750">
              <a:buFont typeface="Arial" panose="020B0604020202020204" pitchFamily="34" charset="0"/>
              <a:buChar char="•"/>
            </a:pPr>
            <a:endParaRPr lang="en-US" sz="1600" dirty="0">
              <a:solidFill>
                <a:schemeClr val="bg1">
                  <a:lumMod val="65000"/>
                </a:schemeClr>
              </a:solidFill>
              <a:latin typeface="Aptos Light" panose="020B0004020202020204" pitchFamily="34" charset="0"/>
            </a:endParaRPr>
          </a:p>
        </p:txBody>
      </p:sp>
      <p:sp>
        <p:nvSpPr>
          <p:cNvPr id="5" name="Título 1">
            <a:extLst>
              <a:ext uri="{FF2B5EF4-FFF2-40B4-BE49-F238E27FC236}">
                <a16:creationId xmlns:a16="http://schemas.microsoft.com/office/drawing/2014/main" id="{645EEDC7-3E5C-1A3E-CD58-C02526BE5E76}"/>
              </a:ext>
            </a:extLst>
          </p:cNvPr>
          <p:cNvSpPr txBox="1">
            <a:spLocks/>
          </p:cNvSpPr>
          <p:nvPr/>
        </p:nvSpPr>
        <p:spPr>
          <a:xfrm>
            <a:off x="891590" y="501651"/>
            <a:ext cx="5297731" cy="57277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Philosophical assumptions </a:t>
            </a:r>
          </a:p>
        </p:txBody>
      </p:sp>
      <p:sp>
        <p:nvSpPr>
          <p:cNvPr id="4" name="Date Placeholder 3">
            <a:extLst>
              <a:ext uri="{FF2B5EF4-FFF2-40B4-BE49-F238E27FC236}">
                <a16:creationId xmlns:a16="http://schemas.microsoft.com/office/drawing/2014/main" id="{D030E36C-1C62-41BF-0FBD-F7B2DF1BA31A}"/>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sp>
        <p:nvSpPr>
          <p:cNvPr id="9" name="Slide Number Placeholder 2">
            <a:extLst>
              <a:ext uri="{FF2B5EF4-FFF2-40B4-BE49-F238E27FC236}">
                <a16:creationId xmlns:a16="http://schemas.microsoft.com/office/drawing/2014/main" id="{19C9603E-C33D-09D9-5EF7-3E9B6FB1F08D}"/>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tx1">
                    <a:lumMod val="50000"/>
                    <a:lumOff val="50000"/>
                  </a:schemeClr>
                </a:solidFill>
              </a:rPr>
              <a:t>32</a:t>
            </a:fld>
            <a:endParaRPr lang="en-GB" noProof="0" dirty="0">
              <a:solidFill>
                <a:schemeClr val="tx1">
                  <a:lumMod val="50000"/>
                  <a:lumOff val="50000"/>
                </a:schemeClr>
              </a:solidFill>
            </a:endParaRPr>
          </a:p>
        </p:txBody>
      </p:sp>
      <p:sp>
        <p:nvSpPr>
          <p:cNvPr id="11" name="Date Placeholder 3">
            <a:extLst>
              <a:ext uri="{FF2B5EF4-FFF2-40B4-BE49-F238E27FC236}">
                <a16:creationId xmlns:a16="http://schemas.microsoft.com/office/drawing/2014/main" id="{305007DF-578E-3D68-BB90-058AF5FCFB32}"/>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6E845D0-70B0-405D-A6BF-798C9CBE9027}" type="datetime1">
              <a:rPr lang="en-GB" noProof="0" smtClean="0">
                <a:solidFill>
                  <a:schemeClr val="tx1">
                    <a:lumMod val="50000"/>
                    <a:lumOff val="50000"/>
                  </a:schemeClr>
                </a:solidFill>
              </a:rPr>
              <a:pPr/>
              <a:t>27/03/2026</a:t>
            </a:fld>
            <a:endParaRPr lang="en-GB" noProof="0" dirty="0">
              <a:solidFill>
                <a:schemeClr val="tx1">
                  <a:lumMod val="50000"/>
                  <a:lumOff val="50000"/>
                </a:schemeClr>
              </a:solidFill>
            </a:endParaRPr>
          </a:p>
        </p:txBody>
      </p:sp>
      <p:sp>
        <p:nvSpPr>
          <p:cNvPr id="2" name="Footer Placeholder 4">
            <a:extLst>
              <a:ext uri="{FF2B5EF4-FFF2-40B4-BE49-F238E27FC236}">
                <a16:creationId xmlns:a16="http://schemas.microsoft.com/office/drawing/2014/main" id="{7ECCAB4C-2783-56E5-DC49-40347EA63ABF}"/>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2067768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12D4DF95-B210-4C6B-83DF-2A420392BA2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21CA4AA-2960-C10E-3621-5C335B21AA35}"/>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07AF225D-8C01-6E86-AF92-2F1F1274EED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2CC118D9-C319-9116-2EC9-A77D877E2C05}"/>
              </a:ext>
            </a:extLst>
          </p:cNvPr>
          <p:cNvSpPr txBox="1"/>
          <p:nvPr/>
        </p:nvSpPr>
        <p:spPr>
          <a:xfrm>
            <a:off x="1990405" y="2644170"/>
            <a:ext cx="8211190" cy="1569660"/>
          </a:xfrm>
          <a:prstGeom prst="rect">
            <a:avLst/>
          </a:prstGeom>
          <a:noFill/>
        </p:spPr>
        <p:txBody>
          <a:bodyPr wrap="square">
            <a:spAutoFit/>
          </a:bodyPr>
          <a:lstStyle/>
          <a:p>
            <a:pPr algn="ctr"/>
            <a:r>
              <a:rPr lang="en-US" sz="3200" b="1" dirty="0">
                <a:solidFill>
                  <a:schemeClr val="bg1"/>
                </a:solidFill>
              </a:rPr>
              <a:t>Our beliefs and viewpoints </a:t>
            </a:r>
            <a:r>
              <a:rPr lang="en-US" sz="3200" b="1" dirty="0">
                <a:solidFill>
                  <a:schemeClr val="bg1"/>
                </a:solidFill>
                <a:highlight>
                  <a:srgbClr val="000000"/>
                </a:highlight>
              </a:rPr>
              <a:t>shape</a:t>
            </a:r>
            <a:r>
              <a:rPr lang="en-US" sz="3200" b="1" dirty="0">
                <a:solidFill>
                  <a:schemeClr val="bg1"/>
                </a:solidFill>
              </a:rPr>
              <a:t> the approach we adopt when carrying out research.</a:t>
            </a:r>
          </a:p>
        </p:txBody>
      </p:sp>
      <p:sp>
        <p:nvSpPr>
          <p:cNvPr id="2" name="TextBox 1">
            <a:extLst>
              <a:ext uri="{FF2B5EF4-FFF2-40B4-BE49-F238E27FC236}">
                <a16:creationId xmlns:a16="http://schemas.microsoft.com/office/drawing/2014/main" id="{BE40AF34-553C-7904-B110-8E87E16FAB50}"/>
              </a:ext>
            </a:extLst>
          </p:cNvPr>
          <p:cNvSpPr txBox="1"/>
          <p:nvPr/>
        </p:nvSpPr>
        <p:spPr>
          <a:xfrm>
            <a:off x="5563748" y="1536174"/>
            <a:ext cx="1064503" cy="1107996"/>
          </a:xfrm>
          <a:prstGeom prst="rect">
            <a:avLst/>
          </a:prstGeom>
          <a:noFill/>
        </p:spPr>
        <p:txBody>
          <a:bodyPr wrap="square">
            <a:spAutoFit/>
          </a:bodyPr>
          <a:lstStyle/>
          <a:p>
            <a:pPr algn="ctr"/>
            <a:r>
              <a:rPr lang="en-GB" sz="6600" noProof="0" dirty="0"/>
              <a:t>⚠️</a:t>
            </a:r>
            <a:endParaRPr lang="en-GB" sz="5400" noProof="0" dirty="0">
              <a:solidFill>
                <a:srgbClr val="DF102C"/>
              </a:solidFill>
            </a:endParaRPr>
          </a:p>
        </p:txBody>
      </p:sp>
      <p:sp>
        <p:nvSpPr>
          <p:cNvPr id="9" name="Rectangle 8">
            <a:extLst>
              <a:ext uri="{FF2B5EF4-FFF2-40B4-BE49-F238E27FC236}">
                <a16:creationId xmlns:a16="http://schemas.microsoft.com/office/drawing/2014/main" id="{06CD14BA-2A2A-555C-C164-651E9FCB77BB}"/>
              </a:ext>
            </a:extLst>
          </p:cNvPr>
          <p:cNvSpPr/>
          <p:nvPr/>
        </p:nvSpPr>
        <p:spPr>
          <a:xfrm>
            <a:off x="176554" y="6355744"/>
            <a:ext cx="2531135" cy="413355"/>
          </a:xfrm>
          <a:prstGeom prst="rect">
            <a:avLst/>
          </a:prstGeom>
          <a:solidFill>
            <a:srgbClr val="EA21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826732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FAC19-EB1D-A81B-0634-6CEFF8F879A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58CDB94-9904-3964-C9C3-38D0C6DEE92E}"/>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sp>
        <p:nvSpPr>
          <p:cNvPr id="9" name="Slide Number Placeholder 2">
            <a:extLst>
              <a:ext uri="{FF2B5EF4-FFF2-40B4-BE49-F238E27FC236}">
                <a16:creationId xmlns:a16="http://schemas.microsoft.com/office/drawing/2014/main" id="{1F16A04A-922E-CB1D-309E-3E5AF45AF4A2}"/>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tx1">
                    <a:lumMod val="50000"/>
                    <a:lumOff val="50000"/>
                  </a:schemeClr>
                </a:solidFill>
              </a:rPr>
              <a:t>34</a:t>
            </a:fld>
            <a:endParaRPr lang="en-GB" noProof="0" dirty="0">
              <a:solidFill>
                <a:schemeClr val="tx1">
                  <a:lumMod val="50000"/>
                  <a:lumOff val="50000"/>
                </a:schemeClr>
              </a:solidFill>
            </a:endParaRPr>
          </a:p>
        </p:txBody>
      </p:sp>
      <p:sp>
        <p:nvSpPr>
          <p:cNvPr id="11" name="Date Placeholder 3">
            <a:extLst>
              <a:ext uri="{FF2B5EF4-FFF2-40B4-BE49-F238E27FC236}">
                <a16:creationId xmlns:a16="http://schemas.microsoft.com/office/drawing/2014/main" id="{46DAB5E3-C9A5-B23B-D0CB-30CFF6FF2372}"/>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6E845D0-70B0-405D-A6BF-798C9CBE9027}" type="datetime1">
              <a:rPr lang="en-GB" noProof="0" smtClean="0">
                <a:solidFill>
                  <a:schemeClr val="tx1">
                    <a:lumMod val="50000"/>
                    <a:lumOff val="50000"/>
                  </a:schemeClr>
                </a:solidFill>
              </a:rPr>
              <a:pPr/>
              <a:t>27/03/2026</a:t>
            </a:fld>
            <a:endParaRPr lang="en-GB" noProof="0" dirty="0">
              <a:solidFill>
                <a:schemeClr val="tx1">
                  <a:lumMod val="50000"/>
                  <a:lumOff val="50000"/>
                </a:schemeClr>
              </a:solidFill>
            </a:endParaRPr>
          </a:p>
        </p:txBody>
      </p:sp>
      <p:sp>
        <p:nvSpPr>
          <p:cNvPr id="15" name="TextBox 14">
            <a:extLst>
              <a:ext uri="{FF2B5EF4-FFF2-40B4-BE49-F238E27FC236}">
                <a16:creationId xmlns:a16="http://schemas.microsoft.com/office/drawing/2014/main" id="{6BA62BCA-C2C5-6D66-2B1A-C6F7D6031176}"/>
              </a:ext>
            </a:extLst>
          </p:cNvPr>
          <p:cNvSpPr txBox="1"/>
          <p:nvPr/>
        </p:nvSpPr>
        <p:spPr>
          <a:xfrm>
            <a:off x="891590" y="1517663"/>
            <a:ext cx="5204410" cy="646331"/>
          </a:xfrm>
          <a:prstGeom prst="rect">
            <a:avLst/>
          </a:prstGeom>
          <a:noFill/>
        </p:spPr>
        <p:txBody>
          <a:bodyPr wrap="square">
            <a:spAutoFit/>
          </a:bodyPr>
          <a:lstStyle/>
          <a:p>
            <a:r>
              <a:rPr lang="en-US" b="1" noProof="0" dirty="0"/>
              <a:t>How to present philosophical ideas, worldviews, and assumptions explicitly?</a:t>
            </a:r>
            <a:endParaRPr lang="en-GB" b="1" noProof="0" dirty="0">
              <a:latin typeface="Corbel" panose="020B0503020204020204" pitchFamily="34" charset="0"/>
            </a:endParaRPr>
          </a:p>
        </p:txBody>
      </p:sp>
      <p:sp>
        <p:nvSpPr>
          <p:cNvPr id="21" name="TextBox 20">
            <a:extLst>
              <a:ext uri="{FF2B5EF4-FFF2-40B4-BE49-F238E27FC236}">
                <a16:creationId xmlns:a16="http://schemas.microsoft.com/office/drawing/2014/main" id="{DA0846BC-3AB0-0B42-C6AE-80CDE6C548E5}"/>
              </a:ext>
            </a:extLst>
          </p:cNvPr>
          <p:cNvSpPr txBox="1"/>
          <p:nvPr/>
        </p:nvSpPr>
        <p:spPr>
          <a:xfrm>
            <a:off x="1374696" y="2635244"/>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1.</a:t>
            </a:r>
            <a:endParaRPr lang="en-GB" sz="3200" b="1" noProof="0" dirty="0">
              <a:solidFill>
                <a:srgbClr val="FF0000"/>
              </a:solidFill>
              <a:latin typeface="Aptos Black" panose="020B0004020202020204" pitchFamily="34" charset="0"/>
            </a:endParaRPr>
          </a:p>
        </p:txBody>
      </p:sp>
      <p:sp>
        <p:nvSpPr>
          <p:cNvPr id="22" name="TextBox 21">
            <a:extLst>
              <a:ext uri="{FF2B5EF4-FFF2-40B4-BE49-F238E27FC236}">
                <a16:creationId xmlns:a16="http://schemas.microsoft.com/office/drawing/2014/main" id="{D219AE64-6D6F-8ABE-4725-2629453C910B}"/>
              </a:ext>
            </a:extLst>
          </p:cNvPr>
          <p:cNvSpPr txBox="1"/>
          <p:nvPr/>
        </p:nvSpPr>
        <p:spPr>
          <a:xfrm>
            <a:off x="1902813" y="2739065"/>
            <a:ext cx="3462946" cy="410882"/>
          </a:xfrm>
          <a:prstGeom prst="rect">
            <a:avLst/>
          </a:prstGeom>
          <a:noFill/>
        </p:spPr>
        <p:txBody>
          <a:bodyPr wrap="square">
            <a:spAutoFit/>
          </a:bodyPr>
          <a:lstStyle>
            <a:defPPr>
              <a:defRPr lang="en-US"/>
            </a:defPPr>
            <a:lvl1pPr>
              <a:lnSpc>
                <a:spcPts val="1200"/>
              </a:lnSpc>
              <a:defRPr sz="1400" b="1"/>
            </a:lvl1pPr>
          </a:lstStyle>
          <a:p>
            <a:r>
              <a:rPr lang="en-US" dirty="0"/>
              <a:t>Present the philosophical worldview adopted by the researcher.</a:t>
            </a:r>
            <a:endParaRPr lang="en-GB" dirty="0"/>
          </a:p>
        </p:txBody>
      </p:sp>
      <p:sp>
        <p:nvSpPr>
          <p:cNvPr id="24" name="TextBox 23">
            <a:extLst>
              <a:ext uri="{FF2B5EF4-FFF2-40B4-BE49-F238E27FC236}">
                <a16:creationId xmlns:a16="http://schemas.microsoft.com/office/drawing/2014/main" id="{E16461B2-11E6-18DC-27E9-EAC143E57ADB}"/>
              </a:ext>
            </a:extLst>
          </p:cNvPr>
          <p:cNvSpPr txBox="1"/>
          <p:nvPr/>
        </p:nvSpPr>
        <p:spPr>
          <a:xfrm>
            <a:off x="1374696" y="3687694"/>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2.</a:t>
            </a:r>
            <a:endParaRPr lang="en-GB" sz="3200" b="1" noProof="0" dirty="0">
              <a:solidFill>
                <a:srgbClr val="FF0000"/>
              </a:solidFill>
              <a:latin typeface="Aptos Black" panose="020B0004020202020204" pitchFamily="34" charset="0"/>
            </a:endParaRPr>
          </a:p>
        </p:txBody>
      </p:sp>
      <p:sp>
        <p:nvSpPr>
          <p:cNvPr id="25" name="TextBox 24">
            <a:extLst>
              <a:ext uri="{FF2B5EF4-FFF2-40B4-BE49-F238E27FC236}">
                <a16:creationId xmlns:a16="http://schemas.microsoft.com/office/drawing/2014/main" id="{2EAE135D-CAED-22C4-5A1E-547D8901264D}"/>
              </a:ext>
            </a:extLst>
          </p:cNvPr>
          <p:cNvSpPr txBox="1"/>
          <p:nvPr/>
        </p:nvSpPr>
        <p:spPr>
          <a:xfrm>
            <a:off x="1968370" y="3831250"/>
            <a:ext cx="3331833" cy="410882"/>
          </a:xfrm>
          <a:prstGeom prst="rect">
            <a:avLst/>
          </a:prstGeom>
          <a:noFill/>
        </p:spPr>
        <p:txBody>
          <a:bodyPr wrap="square">
            <a:spAutoFit/>
          </a:bodyPr>
          <a:lstStyle>
            <a:defPPr>
              <a:defRPr lang="en-US"/>
            </a:defPPr>
            <a:lvl1pPr>
              <a:lnSpc>
                <a:spcPts val="1200"/>
              </a:lnSpc>
              <a:defRPr sz="1400" b="1"/>
            </a:lvl1pPr>
          </a:lstStyle>
          <a:p>
            <a:r>
              <a:rPr lang="en-US" dirty="0"/>
              <a:t>Provide a definition of this worldview and explain its origins.</a:t>
            </a:r>
            <a:endParaRPr lang="en-GB" dirty="0"/>
          </a:p>
        </p:txBody>
      </p:sp>
      <p:sp>
        <p:nvSpPr>
          <p:cNvPr id="26" name="TextBox 25">
            <a:extLst>
              <a:ext uri="{FF2B5EF4-FFF2-40B4-BE49-F238E27FC236}">
                <a16:creationId xmlns:a16="http://schemas.microsoft.com/office/drawing/2014/main" id="{9CF28AF1-4649-4B2B-0331-9F702E3EB9CC}"/>
              </a:ext>
            </a:extLst>
          </p:cNvPr>
          <p:cNvSpPr txBox="1"/>
          <p:nvPr/>
        </p:nvSpPr>
        <p:spPr>
          <a:xfrm>
            <a:off x="5652742" y="2659558"/>
            <a:ext cx="5551411" cy="1538883"/>
          </a:xfrm>
          <a:prstGeom prst="rect">
            <a:avLst/>
          </a:prstGeom>
          <a:noFill/>
        </p:spPr>
        <p:txBody>
          <a:bodyPr wrap="square">
            <a:spAutoFit/>
          </a:bodyPr>
          <a:lstStyle>
            <a:defPPr>
              <a:defRPr lang="en-US"/>
            </a:defPPr>
            <a:lvl1pPr>
              <a:defRPr sz="1200">
                <a:solidFill>
                  <a:schemeClr val="bg1">
                    <a:lumMod val="65000"/>
                  </a:schemeClr>
                </a:solidFill>
              </a:defRPr>
            </a:lvl1pPr>
          </a:lstStyle>
          <a:p>
            <a:r>
              <a:rPr lang="en-US" sz="2400" dirty="0">
                <a:latin typeface="Aptos Light" panose="020B0004020202020204" pitchFamily="34" charset="0"/>
              </a:rPr>
              <a:t>🌍</a:t>
            </a:r>
            <a:r>
              <a:rPr lang="en-US" sz="1400" dirty="0">
                <a:latin typeface="Aptos Light" panose="020B0004020202020204" pitchFamily="34" charset="0"/>
              </a:rPr>
              <a:t> </a:t>
            </a:r>
            <a:r>
              <a:rPr lang="en-US" sz="1400" dirty="0">
                <a:solidFill>
                  <a:schemeClr val="tx1"/>
                </a:solidFill>
                <a:latin typeface="Aptos Light" panose="020B0004020202020204" pitchFamily="34" charset="0"/>
              </a:rPr>
              <a:t>The term worldview offers a global perspective for research within a context of international and global interconnections.</a:t>
            </a:r>
          </a:p>
          <a:p>
            <a:endParaRPr lang="en-US" sz="1400" dirty="0">
              <a:latin typeface="Aptos Light" panose="020B0004020202020204" pitchFamily="34" charset="0"/>
            </a:endParaRPr>
          </a:p>
          <a:p>
            <a:r>
              <a:rPr lang="en-US" sz="1400" dirty="0">
                <a:latin typeface="Aptos Light" panose="020B0004020202020204" pitchFamily="34" charset="0"/>
              </a:rPr>
              <a:t>Worldviews are defined as a </a:t>
            </a:r>
            <a:r>
              <a:rPr lang="en-US" sz="1400" b="1" dirty="0">
                <a:solidFill>
                  <a:schemeClr val="tx1"/>
                </a:solidFill>
                <a:highlight>
                  <a:srgbClr val="FFC000"/>
                </a:highlight>
                <a:latin typeface="Aptos Light" panose="020B0004020202020204" pitchFamily="34" charset="0"/>
              </a:rPr>
              <a:t>general philosophical orientation regarding the world and the nature of research that a researcher develops</a:t>
            </a:r>
            <a:r>
              <a:rPr lang="en-US" sz="1400" b="1" dirty="0">
                <a:latin typeface="Aptos Light" panose="020B0004020202020204" pitchFamily="34" charset="0"/>
              </a:rPr>
              <a:t> </a:t>
            </a:r>
            <a:r>
              <a:rPr lang="en-US" sz="1400" dirty="0">
                <a:latin typeface="Aptos Light" panose="020B0004020202020204" pitchFamily="34" charset="0"/>
              </a:rPr>
              <a:t>, a basic set of beliefs that guide action.</a:t>
            </a:r>
            <a:endParaRPr lang="en-GB" sz="1400" b="1" u="sng" noProof="0" dirty="0">
              <a:solidFill>
                <a:srgbClr val="DF102C"/>
              </a:solidFill>
              <a:latin typeface="Aptos Light" panose="020B0004020202020204" pitchFamily="34" charset="0"/>
            </a:endParaRPr>
          </a:p>
        </p:txBody>
      </p:sp>
      <p:sp>
        <p:nvSpPr>
          <p:cNvPr id="27" name="TextBox 26">
            <a:extLst>
              <a:ext uri="{FF2B5EF4-FFF2-40B4-BE49-F238E27FC236}">
                <a16:creationId xmlns:a16="http://schemas.microsoft.com/office/drawing/2014/main" id="{24EE6658-5A38-9B11-686E-E6A91FF56C11}"/>
              </a:ext>
            </a:extLst>
          </p:cNvPr>
          <p:cNvSpPr txBox="1"/>
          <p:nvPr/>
        </p:nvSpPr>
        <p:spPr>
          <a:xfrm>
            <a:off x="1374696" y="4745157"/>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3.</a:t>
            </a:r>
            <a:endParaRPr lang="en-GB" sz="3200" b="1" noProof="0" dirty="0">
              <a:solidFill>
                <a:srgbClr val="FF0000"/>
              </a:solidFill>
              <a:latin typeface="Aptos Black" panose="020B0004020202020204" pitchFamily="34" charset="0"/>
            </a:endParaRPr>
          </a:p>
        </p:txBody>
      </p:sp>
      <p:sp>
        <p:nvSpPr>
          <p:cNvPr id="28" name="TextBox 27">
            <a:extLst>
              <a:ext uri="{FF2B5EF4-FFF2-40B4-BE49-F238E27FC236}">
                <a16:creationId xmlns:a16="http://schemas.microsoft.com/office/drawing/2014/main" id="{77DA8FC6-B055-6729-03D7-73B0ABB01C80}"/>
              </a:ext>
            </a:extLst>
          </p:cNvPr>
          <p:cNvSpPr txBox="1"/>
          <p:nvPr/>
        </p:nvSpPr>
        <p:spPr>
          <a:xfrm>
            <a:off x="1968370" y="4853363"/>
            <a:ext cx="3331833" cy="410882"/>
          </a:xfrm>
          <a:prstGeom prst="rect">
            <a:avLst/>
          </a:prstGeom>
          <a:noFill/>
        </p:spPr>
        <p:txBody>
          <a:bodyPr wrap="square">
            <a:spAutoFit/>
          </a:bodyPr>
          <a:lstStyle>
            <a:defPPr>
              <a:defRPr lang="en-US"/>
            </a:defPPr>
            <a:lvl1pPr>
              <a:lnSpc>
                <a:spcPts val="1200"/>
              </a:lnSpc>
              <a:defRPr sz="1400" b="1"/>
            </a:lvl1pPr>
          </a:lstStyle>
          <a:p>
            <a:r>
              <a:rPr lang="en-US" dirty="0"/>
              <a:t>Explain how this worldview shapes the research approach.</a:t>
            </a:r>
            <a:endParaRPr lang="en-GB" dirty="0"/>
          </a:p>
        </p:txBody>
      </p:sp>
      <p:sp>
        <p:nvSpPr>
          <p:cNvPr id="30" name="TextBox 29">
            <a:extLst>
              <a:ext uri="{FF2B5EF4-FFF2-40B4-BE49-F238E27FC236}">
                <a16:creationId xmlns:a16="http://schemas.microsoft.com/office/drawing/2014/main" id="{87ED531A-EF7C-5636-E9D9-405453C37724}"/>
              </a:ext>
            </a:extLst>
          </p:cNvPr>
          <p:cNvSpPr txBox="1"/>
          <p:nvPr/>
        </p:nvSpPr>
        <p:spPr>
          <a:xfrm>
            <a:off x="5652741" y="4573011"/>
            <a:ext cx="5551407" cy="954107"/>
          </a:xfrm>
          <a:prstGeom prst="rect">
            <a:avLst/>
          </a:prstGeom>
          <a:noFill/>
        </p:spPr>
        <p:txBody>
          <a:bodyPr wrap="square">
            <a:spAutoFit/>
          </a:bodyPr>
          <a:lstStyle>
            <a:defPPr>
              <a:defRPr lang="en-US"/>
            </a:defPPr>
            <a:lvl1pPr>
              <a:defRPr sz="1400">
                <a:solidFill>
                  <a:schemeClr val="bg1">
                    <a:lumMod val="65000"/>
                  </a:schemeClr>
                </a:solidFill>
              </a:defRPr>
            </a:lvl1pPr>
          </a:lstStyle>
          <a:p>
            <a:r>
              <a:rPr lang="en-US" dirty="0">
                <a:latin typeface="Aptos Light" panose="020B0004020202020204" pitchFamily="34" charset="0"/>
              </a:rPr>
              <a:t>Worldviews are grounded in disciplinary orientations, research communities, supervisors and mentors, previous research experiences, and cultural experiences. </a:t>
            </a:r>
            <a:r>
              <a:rPr lang="en-US" b="1" dirty="0">
                <a:solidFill>
                  <a:schemeClr val="tx1"/>
                </a:solidFill>
                <a:highlight>
                  <a:srgbClr val="FFC000"/>
                </a:highlight>
                <a:latin typeface="Aptos Light" panose="020B0004020202020204" pitchFamily="34" charset="0"/>
              </a:rPr>
              <a:t>These factors lead researchers to adopt a qualitative, quantitative, or mixed methods approach in their work</a:t>
            </a:r>
            <a:r>
              <a:rPr lang="en-US" b="1" dirty="0">
                <a:latin typeface="Aptos Light" panose="020B0004020202020204" pitchFamily="34" charset="0"/>
              </a:rPr>
              <a:t>.</a:t>
            </a:r>
            <a:endParaRPr lang="en-GB" b="1" dirty="0">
              <a:latin typeface="Aptos Light" panose="020B0004020202020204" pitchFamily="34" charset="0"/>
            </a:endParaRPr>
          </a:p>
        </p:txBody>
      </p:sp>
      <p:cxnSp>
        <p:nvCxnSpPr>
          <p:cNvPr id="33" name="Straight Connector 32">
            <a:extLst>
              <a:ext uri="{FF2B5EF4-FFF2-40B4-BE49-F238E27FC236}">
                <a16:creationId xmlns:a16="http://schemas.microsoft.com/office/drawing/2014/main" id="{64086957-CEF6-D4D7-85F9-2B0DB44E4DB5}"/>
              </a:ext>
            </a:extLst>
          </p:cNvPr>
          <p:cNvCxnSpPr>
            <a:cxnSpLocks/>
          </p:cNvCxnSpPr>
          <p:nvPr/>
        </p:nvCxnSpPr>
        <p:spPr>
          <a:xfrm flipV="1">
            <a:off x="5431316" y="2635244"/>
            <a:ext cx="0" cy="3147317"/>
          </a:xfrm>
          <a:prstGeom prst="line">
            <a:avLst/>
          </a:prstGeom>
          <a:ln w="12700">
            <a:solidFill>
              <a:srgbClr val="D2D2D2"/>
            </a:solidFill>
          </a:ln>
        </p:spPr>
        <p:style>
          <a:lnRef idx="2">
            <a:schemeClr val="accent1"/>
          </a:lnRef>
          <a:fillRef idx="0">
            <a:schemeClr val="accent1"/>
          </a:fillRef>
          <a:effectRef idx="1">
            <a:schemeClr val="accent1"/>
          </a:effectRef>
          <a:fontRef idx="minor">
            <a:schemeClr val="tx1"/>
          </a:fontRef>
        </p:style>
      </p:cxnSp>
      <p:sp>
        <p:nvSpPr>
          <p:cNvPr id="2" name="Título 1">
            <a:extLst>
              <a:ext uri="{FF2B5EF4-FFF2-40B4-BE49-F238E27FC236}">
                <a16:creationId xmlns:a16="http://schemas.microsoft.com/office/drawing/2014/main" id="{5576D080-2EAA-0E4F-1AAD-E62216638D09}"/>
              </a:ext>
            </a:extLst>
          </p:cNvPr>
          <p:cNvSpPr txBox="1">
            <a:spLocks/>
          </p:cNvSpPr>
          <p:nvPr/>
        </p:nvSpPr>
        <p:spPr>
          <a:xfrm>
            <a:off x="891590" y="501651"/>
            <a:ext cx="5297731" cy="57277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Philosophical assumptions </a:t>
            </a:r>
          </a:p>
        </p:txBody>
      </p:sp>
      <p:sp>
        <p:nvSpPr>
          <p:cNvPr id="7" name="Footer Placeholder 4">
            <a:extLst>
              <a:ext uri="{FF2B5EF4-FFF2-40B4-BE49-F238E27FC236}">
                <a16:creationId xmlns:a16="http://schemas.microsoft.com/office/drawing/2014/main" id="{A1060F31-E40E-BF2B-5F8F-6D482A95048B}"/>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4064712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4" grpId="0"/>
      <p:bldP spid="25" grpId="0"/>
      <p:bldP spid="26" grpId="0"/>
      <p:bldP spid="27" grpId="0"/>
      <p:bldP spid="28" grpId="0"/>
      <p:bldP spid="30"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BEA4D8BE-3A94-C867-4C2B-8BC9B297527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EC897B-1F01-5782-4433-2C1987D43706}"/>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DD28C3DA-6D9A-EB6C-0D8C-21D86B04E33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6EC18CA7-67E4-7051-88BC-BA87DB5C64FC}"/>
              </a:ext>
            </a:extLst>
          </p:cNvPr>
          <p:cNvSpPr txBox="1">
            <a:spLocks/>
          </p:cNvSpPr>
          <p:nvPr/>
        </p:nvSpPr>
        <p:spPr>
          <a:xfrm>
            <a:off x="891589" y="501650"/>
            <a:ext cx="4480511"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en-GB" sz="3200" b="1" noProof="0" dirty="0">
                <a:solidFill>
                  <a:prstClr val="white">
                    <a:lumMod val="95000"/>
                  </a:prstClr>
                </a:solidFill>
                <a:latin typeface="Aptos SemiBold" panose="020F0502020204030204" pitchFamily="34" charset="0"/>
              </a:rPr>
              <a:t>4 World views</a:t>
            </a:r>
            <a:endParaRPr kumimoji="0" lang="en-GB" sz="3200" b="1" i="0" u="none" strike="noStrike" kern="1200" cap="none" spc="0" normalizeH="0" baseline="0" noProof="0" dirty="0">
              <a:ln>
                <a:noFill/>
              </a:ln>
              <a:solidFill>
                <a:prstClr val="white">
                  <a:lumMod val="95000"/>
                </a:prstClr>
              </a:solidFill>
              <a:effectLst/>
              <a:uLnTx/>
              <a:uFillTx/>
              <a:latin typeface="Aptos SemiBold" panose="020F0502020204030204" pitchFamily="34" charset="0"/>
              <a:ea typeface="+mj-ea"/>
              <a:cs typeface="+mj-cs"/>
            </a:endParaRPr>
          </a:p>
        </p:txBody>
      </p:sp>
      <p:sp>
        <p:nvSpPr>
          <p:cNvPr id="39" name="Freeform: Shape 38">
            <a:extLst>
              <a:ext uri="{FF2B5EF4-FFF2-40B4-BE49-F238E27FC236}">
                <a16:creationId xmlns:a16="http://schemas.microsoft.com/office/drawing/2014/main" id="{B045E488-576F-0BD7-BF58-072B0F4BE52D}"/>
              </a:ext>
            </a:extLst>
          </p:cNvPr>
          <p:cNvSpPr/>
          <p:nvPr/>
        </p:nvSpPr>
        <p:spPr>
          <a:xfrm>
            <a:off x="8536308" y="842507"/>
            <a:ext cx="2543145" cy="2525106"/>
          </a:xfrm>
          <a:custGeom>
            <a:avLst/>
            <a:gdLst>
              <a:gd name="connsiteX0" fmla="*/ 0 w 2966679"/>
              <a:gd name="connsiteY0" fmla="*/ 0 h 2945635"/>
              <a:gd name="connsiteX1" fmla="*/ 105312 w 2966679"/>
              <a:gd name="connsiteY1" fmla="*/ 2663 h 2945635"/>
              <a:gd name="connsiteX2" fmla="*/ 2964562 w 2966679"/>
              <a:gd name="connsiteY2" fmla="*/ 2861913 h 2945635"/>
              <a:gd name="connsiteX3" fmla="*/ 2966679 w 2966679"/>
              <a:gd name="connsiteY3" fmla="*/ 2945635 h 2945635"/>
              <a:gd name="connsiteX4" fmla="*/ 2381032 w 2966679"/>
              <a:gd name="connsiteY4" fmla="*/ 2945635 h 2945635"/>
              <a:gd name="connsiteX5" fmla="*/ 2372078 w 2966679"/>
              <a:gd name="connsiteY5" fmla="*/ 2768314 h 2945635"/>
              <a:gd name="connsiteX6" fmla="*/ 198910 w 2966679"/>
              <a:gd name="connsiteY6" fmla="*/ 595146 h 2945635"/>
              <a:gd name="connsiteX7" fmla="*/ 0 w 2966679"/>
              <a:gd name="connsiteY7" fmla="*/ 585102 h 2945635"/>
              <a:gd name="connsiteX8" fmla="*/ 0 w 2966679"/>
              <a:gd name="connsiteY8" fmla="*/ 0 h 294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66679" h="2945635">
                <a:moveTo>
                  <a:pt x="0" y="0"/>
                </a:moveTo>
                <a:lnTo>
                  <a:pt x="105312" y="2663"/>
                </a:lnTo>
                <a:cubicBezTo>
                  <a:pt x="1648754" y="80900"/>
                  <a:pt x="2886325" y="1318471"/>
                  <a:pt x="2964562" y="2861913"/>
                </a:cubicBezTo>
                <a:lnTo>
                  <a:pt x="2966679" y="2945635"/>
                </a:lnTo>
                <a:lnTo>
                  <a:pt x="2381032" y="2945635"/>
                </a:lnTo>
                <a:lnTo>
                  <a:pt x="2372078" y="2768314"/>
                </a:lnTo>
                <a:cubicBezTo>
                  <a:pt x="2255711" y="1622464"/>
                  <a:pt x="1344760" y="711513"/>
                  <a:pt x="198910" y="595146"/>
                </a:cubicBezTo>
                <a:lnTo>
                  <a:pt x="0" y="585102"/>
                </a:lnTo>
                <a:lnTo>
                  <a:pt x="0" y="0"/>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400" noProof="0" dirty="0">
              <a:solidFill>
                <a:schemeClr val="tx1"/>
              </a:solidFill>
            </a:endParaRPr>
          </a:p>
        </p:txBody>
      </p:sp>
      <p:sp>
        <p:nvSpPr>
          <p:cNvPr id="38" name="Freeform: Shape 37">
            <a:extLst>
              <a:ext uri="{FF2B5EF4-FFF2-40B4-BE49-F238E27FC236}">
                <a16:creationId xmlns:a16="http://schemas.microsoft.com/office/drawing/2014/main" id="{041E0AF4-B527-80D7-B8C3-C2450D11BBD1}"/>
              </a:ext>
            </a:extLst>
          </p:cNvPr>
          <p:cNvSpPr/>
          <p:nvPr/>
        </p:nvSpPr>
        <p:spPr>
          <a:xfrm>
            <a:off x="5907405" y="843443"/>
            <a:ext cx="2506130" cy="2524170"/>
          </a:xfrm>
          <a:custGeom>
            <a:avLst/>
            <a:gdLst>
              <a:gd name="connsiteX0" fmla="*/ 2923500 w 2923500"/>
              <a:gd name="connsiteY0" fmla="*/ 0 h 2944543"/>
              <a:gd name="connsiteX1" fmla="*/ 2923500 w 2923500"/>
              <a:gd name="connsiteY1" fmla="*/ 586190 h 2944543"/>
              <a:gd name="connsiteX2" fmla="*/ 2767767 w 2923500"/>
              <a:gd name="connsiteY2" fmla="*/ 594054 h 2944543"/>
              <a:gd name="connsiteX3" fmla="*/ 594599 w 2923500"/>
              <a:gd name="connsiteY3" fmla="*/ 2767222 h 2944543"/>
              <a:gd name="connsiteX4" fmla="*/ 585645 w 2923500"/>
              <a:gd name="connsiteY4" fmla="*/ 2944543 h 2944543"/>
              <a:gd name="connsiteX5" fmla="*/ 0 w 2923500"/>
              <a:gd name="connsiteY5" fmla="*/ 2944543 h 2944543"/>
              <a:gd name="connsiteX6" fmla="*/ 2117 w 2923500"/>
              <a:gd name="connsiteY6" fmla="*/ 2860821 h 2944543"/>
              <a:gd name="connsiteX7" fmla="*/ 2861367 w 2923500"/>
              <a:gd name="connsiteY7" fmla="*/ 1571 h 2944543"/>
              <a:gd name="connsiteX8" fmla="*/ 2923500 w 2923500"/>
              <a:gd name="connsiteY8" fmla="*/ 0 h 2944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3500" h="2944543">
                <a:moveTo>
                  <a:pt x="2923500" y="0"/>
                </a:moveTo>
                <a:lnTo>
                  <a:pt x="2923500" y="586190"/>
                </a:lnTo>
                <a:lnTo>
                  <a:pt x="2767767" y="594054"/>
                </a:lnTo>
                <a:cubicBezTo>
                  <a:pt x="1621917" y="710421"/>
                  <a:pt x="710967" y="1621372"/>
                  <a:pt x="594599" y="2767222"/>
                </a:cubicBezTo>
                <a:lnTo>
                  <a:pt x="585645" y="2944543"/>
                </a:lnTo>
                <a:lnTo>
                  <a:pt x="0" y="2944543"/>
                </a:lnTo>
                <a:lnTo>
                  <a:pt x="2117" y="2860821"/>
                </a:lnTo>
                <a:cubicBezTo>
                  <a:pt x="80354" y="1317379"/>
                  <a:pt x="1317926" y="79808"/>
                  <a:pt x="2861367" y="1571"/>
                </a:cubicBezTo>
                <a:lnTo>
                  <a:pt x="2923500" y="0"/>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400" noProof="0" dirty="0">
              <a:solidFill>
                <a:schemeClr val="tx1"/>
              </a:solidFill>
            </a:endParaRPr>
          </a:p>
        </p:txBody>
      </p:sp>
      <p:sp>
        <p:nvSpPr>
          <p:cNvPr id="35" name="Freeform: Shape 34">
            <a:extLst>
              <a:ext uri="{FF2B5EF4-FFF2-40B4-BE49-F238E27FC236}">
                <a16:creationId xmlns:a16="http://schemas.microsoft.com/office/drawing/2014/main" id="{5AE51FA6-2922-2748-169E-E0DD5656194E}"/>
              </a:ext>
            </a:extLst>
          </p:cNvPr>
          <p:cNvSpPr/>
          <p:nvPr/>
        </p:nvSpPr>
        <p:spPr>
          <a:xfrm>
            <a:off x="8536308" y="1612819"/>
            <a:ext cx="1772366" cy="1754794"/>
          </a:xfrm>
          <a:custGeom>
            <a:avLst/>
            <a:gdLst>
              <a:gd name="connsiteX0" fmla="*/ 0 w 2067535"/>
              <a:gd name="connsiteY0" fmla="*/ 0 h 2047036"/>
              <a:gd name="connsiteX1" fmla="*/ 166857 w 2067535"/>
              <a:gd name="connsiteY1" fmla="*/ 8425 h 2047036"/>
              <a:gd name="connsiteX2" fmla="*/ 2060200 w 2067535"/>
              <a:gd name="connsiteY2" fmla="*/ 1901768 h 2047036"/>
              <a:gd name="connsiteX3" fmla="*/ 2067535 w 2067535"/>
              <a:gd name="connsiteY3" fmla="*/ 2047036 h 2047036"/>
              <a:gd name="connsiteX4" fmla="*/ 0 w 2067535"/>
              <a:gd name="connsiteY4" fmla="*/ 2047036 h 2047036"/>
              <a:gd name="connsiteX5" fmla="*/ 0 w 2067535"/>
              <a:gd name="connsiteY5" fmla="*/ 0 h 204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7535" h="2047036">
                <a:moveTo>
                  <a:pt x="0" y="0"/>
                </a:moveTo>
                <a:lnTo>
                  <a:pt x="166857" y="8425"/>
                </a:lnTo>
                <a:cubicBezTo>
                  <a:pt x="1165163" y="109809"/>
                  <a:pt x="1958816" y="903462"/>
                  <a:pt x="2060200" y="1901768"/>
                </a:cubicBezTo>
                <a:lnTo>
                  <a:pt x="2067535" y="2047036"/>
                </a:lnTo>
                <a:lnTo>
                  <a:pt x="0" y="2047036"/>
                </a:lnTo>
                <a:lnTo>
                  <a:pt x="0" y="0"/>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548640" rIns="365760" bIns="91440" rtlCol="0" anchor="ctr">
            <a:noAutofit/>
          </a:bodyPr>
          <a:lstStyle/>
          <a:p>
            <a:pPr marL="171450" indent="-171450">
              <a:buFont typeface="Arial" panose="020B0604020202020204" pitchFamily="34" charset="0"/>
              <a:buChar char="•"/>
            </a:pPr>
            <a:r>
              <a:rPr lang="en-US" sz="800" dirty="0">
                <a:solidFill>
                  <a:schemeClr val="tx1"/>
                </a:solidFill>
              </a:rPr>
              <a:t>Understanding</a:t>
            </a:r>
          </a:p>
          <a:p>
            <a:pPr marL="171450" indent="-171450">
              <a:buFont typeface="Arial" panose="020B0604020202020204" pitchFamily="34" charset="0"/>
              <a:buChar char="•"/>
            </a:pPr>
            <a:r>
              <a:rPr lang="en-US" sz="800" dirty="0">
                <a:solidFill>
                  <a:schemeClr val="tx1"/>
                </a:solidFill>
              </a:rPr>
              <a:t>Meanings derived from multiple participants</a:t>
            </a:r>
          </a:p>
          <a:p>
            <a:pPr marL="171450" indent="-171450">
              <a:buFont typeface="Arial" panose="020B0604020202020204" pitchFamily="34" charset="0"/>
              <a:buChar char="•"/>
            </a:pPr>
            <a:r>
              <a:rPr lang="en-US" sz="800" dirty="0">
                <a:solidFill>
                  <a:schemeClr val="tx1"/>
                </a:solidFill>
              </a:rPr>
              <a:t>Social and historical construction</a:t>
            </a:r>
          </a:p>
          <a:p>
            <a:pPr marL="171450" indent="-171450">
              <a:buFont typeface="Arial" panose="020B0604020202020204" pitchFamily="34" charset="0"/>
              <a:buChar char="•"/>
            </a:pPr>
            <a:r>
              <a:rPr lang="en-US" sz="800" dirty="0">
                <a:solidFill>
                  <a:schemeClr val="tx1"/>
                </a:solidFill>
              </a:rPr>
              <a:t>Generation of theories</a:t>
            </a:r>
            <a:endParaRPr lang="en-GB" sz="800" noProof="0" dirty="0">
              <a:solidFill>
                <a:schemeClr val="tx1"/>
              </a:solidFill>
            </a:endParaRPr>
          </a:p>
        </p:txBody>
      </p:sp>
      <p:sp>
        <p:nvSpPr>
          <p:cNvPr id="34" name="Freeform: Shape 33">
            <a:extLst>
              <a:ext uri="{FF2B5EF4-FFF2-40B4-BE49-F238E27FC236}">
                <a16:creationId xmlns:a16="http://schemas.microsoft.com/office/drawing/2014/main" id="{D28CF6DF-4721-4F8D-E7EF-3E9A4A319A04}"/>
              </a:ext>
            </a:extLst>
          </p:cNvPr>
          <p:cNvSpPr/>
          <p:nvPr/>
        </p:nvSpPr>
        <p:spPr>
          <a:xfrm>
            <a:off x="6678182" y="1614688"/>
            <a:ext cx="1735353" cy="1752925"/>
          </a:xfrm>
          <a:custGeom>
            <a:avLst/>
            <a:gdLst>
              <a:gd name="connsiteX0" fmla="*/ 2024358 w 2024358"/>
              <a:gd name="connsiteY0" fmla="*/ 0 h 2044856"/>
              <a:gd name="connsiteX1" fmla="*/ 2024358 w 2024358"/>
              <a:gd name="connsiteY1" fmla="*/ 2044856 h 2044856"/>
              <a:gd name="connsiteX2" fmla="*/ 0 w 2024358"/>
              <a:gd name="connsiteY2" fmla="*/ 2044856 h 2044856"/>
              <a:gd name="connsiteX3" fmla="*/ 7335 w 2024358"/>
              <a:gd name="connsiteY3" fmla="*/ 1899588 h 2044856"/>
              <a:gd name="connsiteX4" fmla="*/ 1900678 w 2024358"/>
              <a:gd name="connsiteY4" fmla="*/ 6245 h 2044856"/>
              <a:gd name="connsiteX5" fmla="*/ 2024358 w 2024358"/>
              <a:gd name="connsiteY5" fmla="*/ 0 h 2044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4358" h="2044856">
                <a:moveTo>
                  <a:pt x="2024358" y="0"/>
                </a:moveTo>
                <a:lnTo>
                  <a:pt x="2024358" y="2044856"/>
                </a:lnTo>
                <a:lnTo>
                  <a:pt x="0" y="2044856"/>
                </a:lnTo>
                <a:lnTo>
                  <a:pt x="7335" y="1899588"/>
                </a:lnTo>
                <a:cubicBezTo>
                  <a:pt x="108719" y="901282"/>
                  <a:pt x="902372" y="107629"/>
                  <a:pt x="1900678" y="6245"/>
                </a:cubicBezTo>
                <a:lnTo>
                  <a:pt x="2024358" y="0"/>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8640" tIns="640080" rIns="91440" bIns="0" rtlCol="0" anchor="ctr">
            <a:noAutofit/>
          </a:bodyPr>
          <a:lstStyle/>
          <a:p>
            <a:pPr marL="171450" indent="-171450">
              <a:buFont typeface="Arial" panose="020B0604020202020204" pitchFamily="34" charset="0"/>
              <a:buChar char="•"/>
            </a:pPr>
            <a:r>
              <a:rPr lang="en-US" sz="800" dirty="0">
                <a:solidFill>
                  <a:schemeClr val="tx1"/>
                </a:solidFill>
              </a:rPr>
              <a:t>Determinism</a:t>
            </a:r>
          </a:p>
          <a:p>
            <a:pPr marL="171450" indent="-171450">
              <a:buFont typeface="Arial" panose="020B0604020202020204" pitchFamily="34" charset="0"/>
              <a:buChar char="•"/>
            </a:pPr>
            <a:r>
              <a:rPr lang="en-US" sz="800" dirty="0">
                <a:solidFill>
                  <a:schemeClr val="tx1"/>
                </a:solidFill>
              </a:rPr>
              <a:t>Reductionism</a:t>
            </a:r>
          </a:p>
          <a:p>
            <a:pPr marL="171450" indent="-171450">
              <a:buFont typeface="Arial" panose="020B0604020202020204" pitchFamily="34" charset="0"/>
              <a:buChar char="•"/>
            </a:pPr>
            <a:r>
              <a:rPr lang="en-US" sz="800" dirty="0">
                <a:solidFill>
                  <a:schemeClr val="tx1"/>
                </a:solidFill>
              </a:rPr>
              <a:t>Empirical observation and measurement</a:t>
            </a:r>
          </a:p>
          <a:p>
            <a:pPr marL="171450" indent="-171450">
              <a:buFont typeface="Arial" panose="020B0604020202020204" pitchFamily="34" charset="0"/>
              <a:buChar char="•"/>
            </a:pPr>
            <a:r>
              <a:rPr lang="en-US" sz="800" dirty="0">
                <a:solidFill>
                  <a:schemeClr val="tx1"/>
                </a:solidFill>
              </a:rPr>
              <a:t>Verification of theories</a:t>
            </a:r>
            <a:endParaRPr lang="en-GB" sz="800" noProof="0" dirty="0">
              <a:solidFill>
                <a:schemeClr val="tx1"/>
              </a:solidFill>
            </a:endParaRPr>
          </a:p>
        </p:txBody>
      </p:sp>
      <p:sp>
        <p:nvSpPr>
          <p:cNvPr id="26" name="Freeform: Shape 25">
            <a:extLst>
              <a:ext uri="{FF2B5EF4-FFF2-40B4-BE49-F238E27FC236}">
                <a16:creationId xmlns:a16="http://schemas.microsoft.com/office/drawing/2014/main" id="{FDFE94BD-70C0-D9CD-EE7A-089B74065D62}"/>
              </a:ext>
            </a:extLst>
          </p:cNvPr>
          <p:cNvSpPr/>
          <p:nvPr/>
        </p:nvSpPr>
        <p:spPr>
          <a:xfrm>
            <a:off x="5907405" y="3490385"/>
            <a:ext cx="2506130" cy="2524171"/>
          </a:xfrm>
          <a:custGeom>
            <a:avLst/>
            <a:gdLst>
              <a:gd name="connsiteX0" fmla="*/ 0 w 2923500"/>
              <a:gd name="connsiteY0" fmla="*/ 0 h 2944544"/>
              <a:gd name="connsiteX1" fmla="*/ 585645 w 2923500"/>
              <a:gd name="connsiteY1" fmla="*/ 0 h 2944544"/>
              <a:gd name="connsiteX2" fmla="*/ 594599 w 2923500"/>
              <a:gd name="connsiteY2" fmla="*/ 177322 h 2944544"/>
              <a:gd name="connsiteX3" fmla="*/ 2767767 w 2923500"/>
              <a:gd name="connsiteY3" fmla="*/ 2350490 h 2944544"/>
              <a:gd name="connsiteX4" fmla="*/ 2923500 w 2923500"/>
              <a:gd name="connsiteY4" fmla="*/ 2358354 h 2944544"/>
              <a:gd name="connsiteX5" fmla="*/ 2923500 w 2923500"/>
              <a:gd name="connsiteY5" fmla="*/ 2944544 h 2944544"/>
              <a:gd name="connsiteX6" fmla="*/ 2861367 w 2923500"/>
              <a:gd name="connsiteY6" fmla="*/ 2942973 h 2944544"/>
              <a:gd name="connsiteX7" fmla="*/ 2117 w 2923500"/>
              <a:gd name="connsiteY7" fmla="*/ 83723 h 2944544"/>
              <a:gd name="connsiteX8" fmla="*/ 0 w 2923500"/>
              <a:gd name="connsiteY8" fmla="*/ 0 h 294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3500" h="2944544">
                <a:moveTo>
                  <a:pt x="0" y="0"/>
                </a:moveTo>
                <a:lnTo>
                  <a:pt x="585645" y="0"/>
                </a:lnTo>
                <a:lnTo>
                  <a:pt x="594599" y="177322"/>
                </a:lnTo>
                <a:cubicBezTo>
                  <a:pt x="710967" y="1323173"/>
                  <a:pt x="1621917" y="2234123"/>
                  <a:pt x="2767767" y="2350490"/>
                </a:cubicBezTo>
                <a:lnTo>
                  <a:pt x="2923500" y="2358354"/>
                </a:lnTo>
                <a:lnTo>
                  <a:pt x="2923500" y="2944544"/>
                </a:lnTo>
                <a:lnTo>
                  <a:pt x="2861367" y="2942973"/>
                </a:lnTo>
                <a:cubicBezTo>
                  <a:pt x="1317926" y="2864736"/>
                  <a:pt x="80354" y="1627165"/>
                  <a:pt x="2117" y="83723"/>
                </a:cubicBezTo>
                <a:lnTo>
                  <a:pt x="0" y="0"/>
                </a:lnTo>
                <a:close/>
              </a:path>
            </a:pathLst>
          </a:custGeom>
          <a:solidFill>
            <a:srgbClr val="F2666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100" noProof="0" dirty="0">
              <a:solidFill>
                <a:schemeClr val="bg1"/>
              </a:solidFill>
            </a:endParaRPr>
          </a:p>
        </p:txBody>
      </p:sp>
      <p:sp>
        <p:nvSpPr>
          <p:cNvPr id="25" name="Freeform: Shape 24">
            <a:extLst>
              <a:ext uri="{FF2B5EF4-FFF2-40B4-BE49-F238E27FC236}">
                <a16:creationId xmlns:a16="http://schemas.microsoft.com/office/drawing/2014/main" id="{61D47E49-C1AD-1965-C497-252BBCF73592}"/>
              </a:ext>
            </a:extLst>
          </p:cNvPr>
          <p:cNvSpPr/>
          <p:nvPr/>
        </p:nvSpPr>
        <p:spPr>
          <a:xfrm>
            <a:off x="6678182" y="3490385"/>
            <a:ext cx="1735353" cy="1752926"/>
          </a:xfrm>
          <a:custGeom>
            <a:avLst/>
            <a:gdLst>
              <a:gd name="connsiteX0" fmla="*/ 0 w 2024358"/>
              <a:gd name="connsiteY0" fmla="*/ 0 h 2044857"/>
              <a:gd name="connsiteX1" fmla="*/ 2024358 w 2024358"/>
              <a:gd name="connsiteY1" fmla="*/ 0 h 2044857"/>
              <a:gd name="connsiteX2" fmla="*/ 2024358 w 2024358"/>
              <a:gd name="connsiteY2" fmla="*/ 2044857 h 2044857"/>
              <a:gd name="connsiteX3" fmla="*/ 1900678 w 2024358"/>
              <a:gd name="connsiteY3" fmla="*/ 2038612 h 2044857"/>
              <a:gd name="connsiteX4" fmla="*/ 7335 w 2024358"/>
              <a:gd name="connsiteY4" fmla="*/ 145269 h 2044857"/>
              <a:gd name="connsiteX5" fmla="*/ 0 w 2024358"/>
              <a:gd name="connsiteY5" fmla="*/ 0 h 2044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4358" h="2044857">
                <a:moveTo>
                  <a:pt x="0" y="0"/>
                </a:moveTo>
                <a:lnTo>
                  <a:pt x="2024358" y="0"/>
                </a:lnTo>
                <a:lnTo>
                  <a:pt x="2024358" y="2044857"/>
                </a:lnTo>
                <a:lnTo>
                  <a:pt x="1900678" y="2038612"/>
                </a:lnTo>
                <a:cubicBezTo>
                  <a:pt x="902372" y="1937228"/>
                  <a:pt x="108719" y="1143575"/>
                  <a:pt x="7335" y="145269"/>
                </a:cubicBezTo>
                <a:lnTo>
                  <a:pt x="0" y="0"/>
                </a:lnTo>
                <a:close/>
              </a:path>
            </a:pathLst>
          </a:custGeom>
          <a:solidFill>
            <a:srgbClr val="F2666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8640" tIns="548640" rIns="91440" bIns="1188720" rtlCol="0" anchor="ctr">
            <a:noAutofit/>
          </a:bodyPr>
          <a:lstStyle/>
          <a:p>
            <a:pPr marL="171450" indent="-171450">
              <a:buFont typeface="Arial" panose="020B0604020202020204" pitchFamily="34" charset="0"/>
              <a:buChar char="•"/>
            </a:pPr>
            <a:r>
              <a:rPr lang="en-US" sz="800" dirty="0">
                <a:solidFill>
                  <a:schemeClr val="bg1"/>
                </a:solidFill>
              </a:rPr>
              <a:t>Political</a:t>
            </a:r>
          </a:p>
          <a:p>
            <a:pPr marL="171450" indent="-171450">
              <a:buFont typeface="Arial" panose="020B0604020202020204" pitchFamily="34" charset="0"/>
              <a:buChar char="•"/>
            </a:pPr>
            <a:r>
              <a:rPr lang="en-US" sz="800" dirty="0">
                <a:solidFill>
                  <a:schemeClr val="bg1"/>
                </a:solidFill>
              </a:rPr>
              <a:t>Oriented towards power and justice</a:t>
            </a:r>
          </a:p>
          <a:p>
            <a:pPr marL="171450" indent="-171450">
              <a:buFont typeface="Arial" panose="020B0604020202020204" pitchFamily="34" charset="0"/>
              <a:buChar char="•"/>
            </a:pPr>
            <a:r>
              <a:rPr lang="en-US" sz="800" dirty="0">
                <a:solidFill>
                  <a:schemeClr val="bg1"/>
                </a:solidFill>
              </a:rPr>
              <a:t>Collaborative</a:t>
            </a:r>
          </a:p>
          <a:p>
            <a:pPr marL="171450" indent="-171450">
              <a:buFont typeface="Arial" panose="020B0604020202020204" pitchFamily="34" charset="0"/>
              <a:buChar char="•"/>
            </a:pPr>
            <a:r>
              <a:rPr lang="en-US" sz="800" dirty="0">
                <a:solidFill>
                  <a:schemeClr val="bg1"/>
                </a:solidFill>
              </a:rPr>
              <a:t>Change‑oriented</a:t>
            </a:r>
            <a:endParaRPr lang="en-GB" sz="800" noProof="0" dirty="0">
              <a:solidFill>
                <a:schemeClr val="bg1"/>
              </a:solidFill>
            </a:endParaRPr>
          </a:p>
        </p:txBody>
      </p:sp>
      <p:sp>
        <p:nvSpPr>
          <p:cNvPr id="24" name="Freeform: Shape 23">
            <a:extLst>
              <a:ext uri="{FF2B5EF4-FFF2-40B4-BE49-F238E27FC236}">
                <a16:creationId xmlns:a16="http://schemas.microsoft.com/office/drawing/2014/main" id="{24FC74BD-763F-B637-F243-AC448297551C}"/>
              </a:ext>
            </a:extLst>
          </p:cNvPr>
          <p:cNvSpPr/>
          <p:nvPr/>
        </p:nvSpPr>
        <p:spPr>
          <a:xfrm>
            <a:off x="8536308" y="3490385"/>
            <a:ext cx="1772366" cy="1754795"/>
          </a:xfrm>
          <a:custGeom>
            <a:avLst/>
            <a:gdLst>
              <a:gd name="connsiteX0" fmla="*/ 0 w 2067535"/>
              <a:gd name="connsiteY0" fmla="*/ 0 h 2047037"/>
              <a:gd name="connsiteX1" fmla="*/ 2067535 w 2067535"/>
              <a:gd name="connsiteY1" fmla="*/ 0 h 2047037"/>
              <a:gd name="connsiteX2" fmla="*/ 2060200 w 2067535"/>
              <a:gd name="connsiteY2" fmla="*/ 145269 h 2047037"/>
              <a:gd name="connsiteX3" fmla="*/ 166857 w 2067535"/>
              <a:gd name="connsiteY3" fmla="*/ 2038612 h 2047037"/>
              <a:gd name="connsiteX4" fmla="*/ 0 w 2067535"/>
              <a:gd name="connsiteY4" fmla="*/ 2047037 h 2047037"/>
              <a:gd name="connsiteX5" fmla="*/ 0 w 2067535"/>
              <a:gd name="connsiteY5" fmla="*/ 0 h 2047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7535" h="2047037">
                <a:moveTo>
                  <a:pt x="0" y="0"/>
                </a:moveTo>
                <a:lnTo>
                  <a:pt x="2067535" y="0"/>
                </a:lnTo>
                <a:lnTo>
                  <a:pt x="2060200" y="145269"/>
                </a:lnTo>
                <a:cubicBezTo>
                  <a:pt x="1958816" y="1143575"/>
                  <a:pt x="1165163" y="1937228"/>
                  <a:pt x="166857" y="2038612"/>
                </a:cubicBezTo>
                <a:lnTo>
                  <a:pt x="0" y="2047037"/>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548640" rIns="365760" bIns="914400" rtlCol="0" anchor="ctr">
            <a:noAutofit/>
          </a:bodyPr>
          <a:lstStyle/>
          <a:p>
            <a:pPr marL="171450" indent="-171450">
              <a:buFont typeface="Arial" panose="020B0604020202020204" pitchFamily="34" charset="0"/>
              <a:buChar char="•"/>
            </a:pPr>
            <a:r>
              <a:rPr lang="en-US" sz="800" dirty="0">
                <a:solidFill>
                  <a:schemeClr val="tx1"/>
                </a:solidFill>
              </a:rPr>
              <a:t>Consequences of actions</a:t>
            </a:r>
          </a:p>
          <a:p>
            <a:pPr marL="171450" indent="-171450">
              <a:buFont typeface="Arial" panose="020B0604020202020204" pitchFamily="34" charset="0"/>
              <a:buChar char="•"/>
            </a:pPr>
            <a:r>
              <a:rPr lang="en-US" sz="800" dirty="0">
                <a:solidFill>
                  <a:schemeClr val="tx1"/>
                </a:solidFill>
              </a:rPr>
              <a:t>Problem‑centered</a:t>
            </a:r>
          </a:p>
          <a:p>
            <a:pPr marL="171450" indent="-171450">
              <a:buFont typeface="Arial" panose="020B0604020202020204" pitchFamily="34" charset="0"/>
              <a:buChar char="•"/>
            </a:pPr>
            <a:r>
              <a:rPr lang="en-US" sz="800" dirty="0">
                <a:solidFill>
                  <a:schemeClr val="tx1"/>
                </a:solidFill>
              </a:rPr>
              <a:t>Pluralistic</a:t>
            </a:r>
          </a:p>
          <a:p>
            <a:pPr marL="171450" indent="-171450">
              <a:buFont typeface="Arial" panose="020B0604020202020204" pitchFamily="34" charset="0"/>
              <a:buChar char="•"/>
            </a:pPr>
            <a:r>
              <a:rPr lang="en-US" sz="800" dirty="0">
                <a:solidFill>
                  <a:schemeClr val="tx1"/>
                </a:solidFill>
              </a:rPr>
              <a:t>Practice‑oriented</a:t>
            </a:r>
            <a:endParaRPr lang="en-GB" sz="800" noProof="0" dirty="0">
              <a:solidFill>
                <a:schemeClr val="tx1"/>
              </a:solidFill>
            </a:endParaRPr>
          </a:p>
        </p:txBody>
      </p:sp>
      <p:sp>
        <p:nvSpPr>
          <p:cNvPr id="22" name="Freeform: Shape 21">
            <a:extLst>
              <a:ext uri="{FF2B5EF4-FFF2-40B4-BE49-F238E27FC236}">
                <a16:creationId xmlns:a16="http://schemas.microsoft.com/office/drawing/2014/main" id="{38D25EFA-FDBB-FA05-85CB-AD33A3F17197}"/>
              </a:ext>
            </a:extLst>
          </p:cNvPr>
          <p:cNvSpPr/>
          <p:nvPr/>
        </p:nvSpPr>
        <p:spPr>
          <a:xfrm>
            <a:off x="8536308" y="3490385"/>
            <a:ext cx="2543145" cy="2525107"/>
          </a:xfrm>
          <a:custGeom>
            <a:avLst/>
            <a:gdLst>
              <a:gd name="connsiteX0" fmla="*/ 2381032 w 2966679"/>
              <a:gd name="connsiteY0" fmla="*/ 0 h 2945636"/>
              <a:gd name="connsiteX1" fmla="*/ 2966679 w 2966679"/>
              <a:gd name="connsiteY1" fmla="*/ 0 h 2945636"/>
              <a:gd name="connsiteX2" fmla="*/ 2964562 w 2966679"/>
              <a:gd name="connsiteY2" fmla="*/ 83723 h 2945636"/>
              <a:gd name="connsiteX3" fmla="*/ 105312 w 2966679"/>
              <a:gd name="connsiteY3" fmla="*/ 2942973 h 2945636"/>
              <a:gd name="connsiteX4" fmla="*/ 0 w 2966679"/>
              <a:gd name="connsiteY4" fmla="*/ 2945636 h 2945636"/>
              <a:gd name="connsiteX5" fmla="*/ 0 w 2966679"/>
              <a:gd name="connsiteY5" fmla="*/ 2360534 h 2945636"/>
              <a:gd name="connsiteX6" fmla="*/ 198910 w 2966679"/>
              <a:gd name="connsiteY6" fmla="*/ 2350490 h 2945636"/>
              <a:gd name="connsiteX7" fmla="*/ 2372078 w 2966679"/>
              <a:gd name="connsiteY7" fmla="*/ 177322 h 2945636"/>
              <a:gd name="connsiteX8" fmla="*/ 2381032 w 2966679"/>
              <a:gd name="connsiteY8" fmla="*/ 0 h 2945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66679" h="2945636">
                <a:moveTo>
                  <a:pt x="2381032" y="0"/>
                </a:moveTo>
                <a:lnTo>
                  <a:pt x="2966679" y="0"/>
                </a:lnTo>
                <a:lnTo>
                  <a:pt x="2964562" y="83723"/>
                </a:lnTo>
                <a:cubicBezTo>
                  <a:pt x="2886325" y="1627165"/>
                  <a:pt x="1648754" y="2864736"/>
                  <a:pt x="105312" y="2942973"/>
                </a:cubicBezTo>
                <a:lnTo>
                  <a:pt x="0" y="2945636"/>
                </a:lnTo>
                <a:lnTo>
                  <a:pt x="0" y="2360534"/>
                </a:lnTo>
                <a:lnTo>
                  <a:pt x="198910" y="2350490"/>
                </a:lnTo>
                <a:cubicBezTo>
                  <a:pt x="1344760" y="2234123"/>
                  <a:pt x="2255711" y="1323173"/>
                  <a:pt x="2372078" y="177322"/>
                </a:cubicBezTo>
                <a:lnTo>
                  <a:pt x="2381032" y="0"/>
                </a:lnTo>
                <a:close/>
              </a:path>
            </a:pathLst>
          </a:custGeom>
          <a:solidFill>
            <a:srgbClr val="DFE2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400" noProof="0" dirty="0">
              <a:solidFill>
                <a:schemeClr val="tx1"/>
              </a:solidFill>
            </a:endParaRPr>
          </a:p>
        </p:txBody>
      </p:sp>
      <p:sp>
        <p:nvSpPr>
          <p:cNvPr id="54" name="TextBox 53">
            <a:extLst>
              <a:ext uri="{FF2B5EF4-FFF2-40B4-BE49-F238E27FC236}">
                <a16:creationId xmlns:a16="http://schemas.microsoft.com/office/drawing/2014/main" id="{F1DD4014-771B-A7DF-44B2-E1690B150F22}"/>
              </a:ext>
            </a:extLst>
          </p:cNvPr>
          <p:cNvSpPr txBox="1"/>
          <p:nvPr/>
        </p:nvSpPr>
        <p:spPr>
          <a:xfrm rot="13260906">
            <a:off x="6275833" y="4715379"/>
            <a:ext cx="1618799" cy="435875"/>
          </a:xfrm>
          <a:prstGeom prst="rect">
            <a:avLst/>
          </a:prstGeom>
          <a:noFill/>
        </p:spPr>
        <p:txBody>
          <a:bodyPr wrap="square" rtlCol="0">
            <a:prstTxWarp prst="textArchUp">
              <a:avLst>
                <a:gd name="adj" fmla="val 10887417"/>
              </a:avLst>
            </a:prstTxWarp>
            <a:spAutoFit/>
          </a:bodyPr>
          <a:lstStyle/>
          <a:p>
            <a:pPr algn="ctr"/>
            <a:r>
              <a:rPr lang="en-GB" sz="1400" b="1" noProof="0" dirty="0">
                <a:solidFill>
                  <a:schemeClr val="bg1"/>
                </a:solidFill>
              </a:rPr>
              <a:t>Transformative</a:t>
            </a:r>
          </a:p>
        </p:txBody>
      </p:sp>
      <p:sp>
        <p:nvSpPr>
          <p:cNvPr id="55" name="TextBox 54">
            <a:extLst>
              <a:ext uri="{FF2B5EF4-FFF2-40B4-BE49-F238E27FC236}">
                <a16:creationId xmlns:a16="http://schemas.microsoft.com/office/drawing/2014/main" id="{BB2DD068-9D32-08BA-46EE-110F768B221E}"/>
              </a:ext>
            </a:extLst>
          </p:cNvPr>
          <p:cNvSpPr txBox="1"/>
          <p:nvPr/>
        </p:nvSpPr>
        <p:spPr>
          <a:xfrm rot="7947375">
            <a:off x="9202006" y="4650830"/>
            <a:ext cx="1618799" cy="435875"/>
          </a:xfrm>
          <a:prstGeom prst="rect">
            <a:avLst/>
          </a:prstGeom>
          <a:noFill/>
        </p:spPr>
        <p:txBody>
          <a:bodyPr wrap="square" rtlCol="0">
            <a:prstTxWarp prst="textArchUp">
              <a:avLst>
                <a:gd name="adj" fmla="val 10887417"/>
              </a:avLst>
            </a:prstTxWarp>
            <a:spAutoFit/>
          </a:bodyPr>
          <a:lstStyle/>
          <a:p>
            <a:pPr algn="ctr"/>
            <a:r>
              <a:rPr lang="en-GB" sz="1400" b="1" noProof="0" dirty="0"/>
              <a:t>Pragmatic</a:t>
            </a:r>
          </a:p>
        </p:txBody>
      </p:sp>
      <p:sp>
        <p:nvSpPr>
          <p:cNvPr id="56" name="TextBox 55">
            <a:extLst>
              <a:ext uri="{FF2B5EF4-FFF2-40B4-BE49-F238E27FC236}">
                <a16:creationId xmlns:a16="http://schemas.microsoft.com/office/drawing/2014/main" id="{594F0507-885E-1E8E-7D78-6BE5C8BBEE01}"/>
              </a:ext>
            </a:extLst>
          </p:cNvPr>
          <p:cNvSpPr txBox="1"/>
          <p:nvPr/>
        </p:nvSpPr>
        <p:spPr>
          <a:xfrm rot="2925974">
            <a:off x="9211027" y="1801260"/>
            <a:ext cx="1618799" cy="435875"/>
          </a:xfrm>
          <a:prstGeom prst="rect">
            <a:avLst/>
          </a:prstGeom>
          <a:noFill/>
        </p:spPr>
        <p:txBody>
          <a:bodyPr wrap="square" rtlCol="0">
            <a:prstTxWarp prst="textArchUp">
              <a:avLst>
                <a:gd name="adj" fmla="val 10887417"/>
              </a:avLst>
            </a:prstTxWarp>
            <a:spAutoFit/>
          </a:bodyPr>
          <a:lstStyle/>
          <a:p>
            <a:pPr algn="ctr"/>
            <a:r>
              <a:rPr lang="en-GB" sz="1400" b="1" noProof="0" dirty="0"/>
              <a:t>Constructivist</a:t>
            </a:r>
          </a:p>
        </p:txBody>
      </p:sp>
      <p:sp>
        <p:nvSpPr>
          <p:cNvPr id="57" name="TextBox 56">
            <a:extLst>
              <a:ext uri="{FF2B5EF4-FFF2-40B4-BE49-F238E27FC236}">
                <a16:creationId xmlns:a16="http://schemas.microsoft.com/office/drawing/2014/main" id="{7BCFEDB2-D0AA-4498-855E-E8ECE62EFCF6}"/>
              </a:ext>
            </a:extLst>
          </p:cNvPr>
          <p:cNvSpPr txBox="1"/>
          <p:nvPr/>
        </p:nvSpPr>
        <p:spPr>
          <a:xfrm rot="18560975">
            <a:off x="6214237" y="1738356"/>
            <a:ext cx="1618799" cy="435875"/>
          </a:xfrm>
          <a:prstGeom prst="rect">
            <a:avLst/>
          </a:prstGeom>
          <a:noFill/>
        </p:spPr>
        <p:txBody>
          <a:bodyPr wrap="square" rtlCol="0">
            <a:prstTxWarp prst="textArchUp">
              <a:avLst>
                <a:gd name="adj" fmla="val 10887417"/>
              </a:avLst>
            </a:prstTxWarp>
            <a:spAutoFit/>
          </a:bodyPr>
          <a:lstStyle/>
          <a:p>
            <a:pPr algn="ctr"/>
            <a:r>
              <a:rPr lang="en-GB" sz="1400" b="1" noProof="0" dirty="0"/>
              <a:t>Positivist</a:t>
            </a:r>
          </a:p>
        </p:txBody>
      </p:sp>
      <p:sp>
        <p:nvSpPr>
          <p:cNvPr id="59" name="TextBox 58">
            <a:extLst>
              <a:ext uri="{FF2B5EF4-FFF2-40B4-BE49-F238E27FC236}">
                <a16:creationId xmlns:a16="http://schemas.microsoft.com/office/drawing/2014/main" id="{393A4BE3-24DC-DA40-11EF-8B54BCDF942C}"/>
              </a:ext>
            </a:extLst>
          </p:cNvPr>
          <p:cNvSpPr txBox="1"/>
          <p:nvPr/>
        </p:nvSpPr>
        <p:spPr>
          <a:xfrm>
            <a:off x="888789" y="2648737"/>
            <a:ext cx="4321389" cy="2031325"/>
          </a:xfrm>
          <a:prstGeom prst="rect">
            <a:avLst/>
          </a:prstGeom>
          <a:noFill/>
        </p:spPr>
        <p:txBody>
          <a:bodyPr wrap="square">
            <a:spAutoFit/>
          </a:bodyPr>
          <a:lstStyle/>
          <a:p>
            <a:r>
              <a:rPr lang="en-US" sz="1800" noProof="0" dirty="0">
                <a:solidFill>
                  <a:schemeClr val="bg1"/>
                </a:solidFill>
              </a:rPr>
              <a:t>Worldviews are defined as a general philosophical orientation regarding the world and the nature of research that a researcher develops.</a:t>
            </a:r>
          </a:p>
          <a:p>
            <a:endParaRPr lang="en-US" dirty="0">
              <a:solidFill>
                <a:schemeClr val="bg1"/>
              </a:solidFill>
            </a:endParaRPr>
          </a:p>
          <a:p>
            <a:r>
              <a:rPr lang="en-US" sz="1800" noProof="0" dirty="0">
                <a:solidFill>
                  <a:schemeClr val="bg1"/>
                </a:solidFill>
                <a:highlight>
                  <a:srgbClr val="000000"/>
                </a:highlight>
              </a:rPr>
              <a:t>They are a basic set of beliefs that guide action</a:t>
            </a:r>
            <a:r>
              <a:rPr lang="en-US" sz="1800" noProof="0" dirty="0">
                <a:solidFill>
                  <a:schemeClr val="bg1"/>
                </a:solidFill>
              </a:rPr>
              <a:t>.</a:t>
            </a:r>
            <a:endParaRPr lang="en-GB" sz="1800" b="1" noProof="0" dirty="0">
              <a:solidFill>
                <a:schemeClr val="bg1"/>
              </a:solidFill>
            </a:endParaRPr>
          </a:p>
        </p:txBody>
      </p:sp>
      <p:sp>
        <p:nvSpPr>
          <p:cNvPr id="7" name="Rectangle 6">
            <a:extLst>
              <a:ext uri="{FF2B5EF4-FFF2-40B4-BE49-F238E27FC236}">
                <a16:creationId xmlns:a16="http://schemas.microsoft.com/office/drawing/2014/main" id="{FA0AD910-BF20-F028-811B-1C6F0A3D8707}"/>
              </a:ext>
            </a:extLst>
          </p:cNvPr>
          <p:cNvSpPr/>
          <p:nvPr/>
        </p:nvSpPr>
        <p:spPr>
          <a:xfrm>
            <a:off x="176554" y="6355744"/>
            <a:ext cx="2531135" cy="413355"/>
          </a:xfrm>
          <a:prstGeom prst="rect">
            <a:avLst/>
          </a:prstGeom>
          <a:solidFill>
            <a:srgbClr val="EA21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188771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500"/>
                                        <p:tgtEl>
                                          <p:spTgt spid="3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500"/>
                                        <p:tgtEl>
                                          <p:spTgt spid="3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6"/>
                                        </p:tgtEl>
                                        <p:attrNameLst>
                                          <p:attrName>style.visibility</p:attrName>
                                        </p:attrNameLst>
                                      </p:cBhvr>
                                      <p:to>
                                        <p:strVal val="visible"/>
                                      </p:to>
                                    </p:set>
                                    <p:animEffect transition="in" filter="fade">
                                      <p:cBhvr>
                                        <p:cTn id="24" dur="500"/>
                                        <p:tgtEl>
                                          <p:spTgt spid="5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fade">
                                      <p:cBhvr>
                                        <p:cTn id="32" dur="500"/>
                                        <p:tgtEl>
                                          <p:spTgt spid="5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fade">
                                      <p:cBhvr>
                                        <p:cTn id="4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38" grpId="0" animBg="1"/>
      <p:bldP spid="35" grpId="0" animBg="1"/>
      <p:bldP spid="34" grpId="0" animBg="1"/>
      <p:bldP spid="26" grpId="0" animBg="1"/>
      <p:bldP spid="25" grpId="0" animBg="1"/>
      <p:bldP spid="24" grpId="0" animBg="1"/>
      <p:bldP spid="22" grpId="0" animBg="1"/>
      <p:bldP spid="54" grpId="0"/>
      <p:bldP spid="55" grpId="0"/>
      <p:bldP spid="56" grpId="0"/>
      <p:bldP spid="5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92FDE-C812-DEA9-59B7-AA2C91091C04}"/>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656D0F3D-6AF5-2087-899D-874AA8E409E8}"/>
              </a:ext>
            </a:extLst>
          </p:cNvPr>
          <p:cNvSpPr txBox="1">
            <a:spLocks/>
          </p:cNvSpPr>
          <p:nvPr/>
        </p:nvSpPr>
        <p:spPr>
          <a:xfrm>
            <a:off x="891591" y="501650"/>
            <a:ext cx="4082192"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4 World views</a:t>
            </a:r>
          </a:p>
        </p:txBody>
      </p:sp>
      <p:sp>
        <p:nvSpPr>
          <p:cNvPr id="4" name="Date Placeholder 3">
            <a:extLst>
              <a:ext uri="{FF2B5EF4-FFF2-40B4-BE49-F238E27FC236}">
                <a16:creationId xmlns:a16="http://schemas.microsoft.com/office/drawing/2014/main" id="{2B402D18-C038-909D-CD39-87A1C0F3FF4F}"/>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sp>
        <p:nvSpPr>
          <p:cNvPr id="9" name="Slide Number Placeholder 2">
            <a:extLst>
              <a:ext uri="{FF2B5EF4-FFF2-40B4-BE49-F238E27FC236}">
                <a16:creationId xmlns:a16="http://schemas.microsoft.com/office/drawing/2014/main" id="{3FD71E63-2052-CA4E-72D0-CCBF59CEF582}"/>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tx1">
                    <a:lumMod val="50000"/>
                    <a:lumOff val="50000"/>
                  </a:schemeClr>
                </a:solidFill>
              </a:rPr>
              <a:t>36</a:t>
            </a:fld>
            <a:endParaRPr lang="en-GB" noProof="0" dirty="0">
              <a:solidFill>
                <a:schemeClr val="tx1">
                  <a:lumMod val="50000"/>
                  <a:lumOff val="50000"/>
                </a:schemeClr>
              </a:solidFill>
            </a:endParaRPr>
          </a:p>
        </p:txBody>
      </p:sp>
      <p:sp>
        <p:nvSpPr>
          <p:cNvPr id="11" name="Date Placeholder 3">
            <a:extLst>
              <a:ext uri="{FF2B5EF4-FFF2-40B4-BE49-F238E27FC236}">
                <a16:creationId xmlns:a16="http://schemas.microsoft.com/office/drawing/2014/main" id="{22F48C54-62EF-0FB0-68E1-14B83BF8A579}"/>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6E845D0-70B0-405D-A6BF-798C9CBE9027}" type="datetime1">
              <a:rPr lang="en-GB" noProof="0" smtClean="0">
                <a:solidFill>
                  <a:schemeClr val="tx1">
                    <a:lumMod val="50000"/>
                    <a:lumOff val="50000"/>
                  </a:schemeClr>
                </a:solidFill>
              </a:rPr>
              <a:pPr/>
              <a:t>27/03/2026</a:t>
            </a:fld>
            <a:endParaRPr lang="en-GB" noProof="0" dirty="0">
              <a:solidFill>
                <a:schemeClr val="tx1">
                  <a:lumMod val="50000"/>
                  <a:lumOff val="50000"/>
                </a:schemeClr>
              </a:solidFill>
            </a:endParaRPr>
          </a:p>
        </p:txBody>
      </p:sp>
      <p:sp>
        <p:nvSpPr>
          <p:cNvPr id="15" name="TextBox 14">
            <a:extLst>
              <a:ext uri="{FF2B5EF4-FFF2-40B4-BE49-F238E27FC236}">
                <a16:creationId xmlns:a16="http://schemas.microsoft.com/office/drawing/2014/main" id="{A4CA88DC-5E3F-2152-BEDB-48D9E8DEFD93}"/>
              </a:ext>
            </a:extLst>
          </p:cNvPr>
          <p:cNvSpPr txBox="1"/>
          <p:nvPr/>
        </p:nvSpPr>
        <p:spPr>
          <a:xfrm>
            <a:off x="974716" y="1470709"/>
            <a:ext cx="5845185" cy="461665"/>
          </a:xfrm>
          <a:prstGeom prst="rect">
            <a:avLst/>
          </a:prstGeom>
          <a:noFill/>
        </p:spPr>
        <p:txBody>
          <a:bodyPr wrap="square">
            <a:spAutoFit/>
          </a:bodyPr>
          <a:lstStyle/>
          <a:p>
            <a:r>
              <a:rPr lang="en-GB" sz="2400" b="1" noProof="0" dirty="0"/>
              <a:t>Constructivism (Interpretivism)</a:t>
            </a:r>
            <a:endParaRPr lang="en-GB" sz="2400" b="1" noProof="0" dirty="0">
              <a:latin typeface="Corbel" panose="020B0503020204020204" pitchFamily="34" charset="0"/>
            </a:endParaRPr>
          </a:p>
        </p:txBody>
      </p:sp>
      <p:sp>
        <p:nvSpPr>
          <p:cNvPr id="2" name="TextBox 1">
            <a:extLst>
              <a:ext uri="{FF2B5EF4-FFF2-40B4-BE49-F238E27FC236}">
                <a16:creationId xmlns:a16="http://schemas.microsoft.com/office/drawing/2014/main" id="{08E80095-310C-2E8A-3549-A7F36903BD5A}"/>
              </a:ext>
            </a:extLst>
          </p:cNvPr>
          <p:cNvSpPr txBox="1"/>
          <p:nvPr/>
        </p:nvSpPr>
        <p:spPr>
          <a:xfrm>
            <a:off x="974717" y="1974536"/>
            <a:ext cx="7849782" cy="923330"/>
          </a:xfrm>
          <a:prstGeom prst="rect">
            <a:avLst/>
          </a:prstGeom>
          <a:noFill/>
        </p:spPr>
        <p:txBody>
          <a:bodyPr wrap="square">
            <a:spAutoFit/>
          </a:bodyPr>
          <a:lstStyle/>
          <a:p>
            <a:r>
              <a:rPr lang="en-US" noProof="0" dirty="0"/>
              <a:t>Frequently used in qualitative </a:t>
            </a:r>
            <a:r>
              <a:rPr lang="en-US" dirty="0"/>
              <a:t>approaches.</a:t>
            </a:r>
          </a:p>
          <a:p>
            <a:r>
              <a:rPr lang="en-US" b="1" noProof="0" dirty="0">
                <a:highlight>
                  <a:srgbClr val="FFC000"/>
                </a:highlight>
              </a:rPr>
              <a:t>It seeks to study perspectives, meanings, interpretations, and subjective experiences</a:t>
            </a:r>
            <a:r>
              <a:rPr lang="en-US" dirty="0"/>
              <a:t> rather </a:t>
            </a:r>
            <a:r>
              <a:rPr lang="en-US" noProof="0" dirty="0"/>
              <a:t>than reducing them to categories or predefined ideas.</a:t>
            </a:r>
            <a:endParaRPr lang="en-GB" noProof="0" dirty="0"/>
          </a:p>
        </p:txBody>
      </p:sp>
      <p:sp>
        <p:nvSpPr>
          <p:cNvPr id="13" name="TextBox 12">
            <a:extLst>
              <a:ext uri="{FF2B5EF4-FFF2-40B4-BE49-F238E27FC236}">
                <a16:creationId xmlns:a16="http://schemas.microsoft.com/office/drawing/2014/main" id="{0F1A9E7B-3DD5-2362-F65D-AC5F5A1C3855}"/>
              </a:ext>
            </a:extLst>
          </p:cNvPr>
          <p:cNvSpPr txBox="1"/>
          <p:nvPr/>
        </p:nvSpPr>
        <p:spPr>
          <a:xfrm>
            <a:off x="1525564" y="3429000"/>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1.</a:t>
            </a:r>
            <a:endParaRPr lang="en-GB" sz="3200" b="1" noProof="0" dirty="0">
              <a:solidFill>
                <a:srgbClr val="FF0000"/>
              </a:solidFill>
              <a:latin typeface="Aptos Black" panose="020B0004020202020204" pitchFamily="34" charset="0"/>
            </a:endParaRPr>
          </a:p>
        </p:txBody>
      </p:sp>
      <p:sp>
        <p:nvSpPr>
          <p:cNvPr id="16" name="TextBox 15">
            <a:extLst>
              <a:ext uri="{FF2B5EF4-FFF2-40B4-BE49-F238E27FC236}">
                <a16:creationId xmlns:a16="http://schemas.microsoft.com/office/drawing/2014/main" id="{1ED2618F-081A-B1AA-161D-07BE1F6216CF}"/>
              </a:ext>
            </a:extLst>
          </p:cNvPr>
          <p:cNvSpPr txBox="1"/>
          <p:nvPr/>
        </p:nvSpPr>
        <p:spPr>
          <a:xfrm>
            <a:off x="2089086" y="3560166"/>
            <a:ext cx="1593605" cy="297517"/>
          </a:xfrm>
          <a:prstGeom prst="rect">
            <a:avLst/>
          </a:prstGeom>
          <a:noFill/>
        </p:spPr>
        <p:txBody>
          <a:bodyPr wrap="square">
            <a:spAutoFit/>
          </a:bodyPr>
          <a:lstStyle/>
          <a:p>
            <a:pPr>
              <a:lnSpc>
                <a:spcPts val="1600"/>
              </a:lnSpc>
            </a:pPr>
            <a:r>
              <a:rPr lang="en-GB" sz="1400" b="1" noProof="0" dirty="0"/>
              <a:t>Understanding</a:t>
            </a:r>
            <a:endParaRPr lang="en-GB" sz="1400" b="1" noProof="0" dirty="0">
              <a:solidFill>
                <a:schemeClr val="accent5"/>
              </a:solidFill>
              <a:latin typeface="Corbel" panose="020B0503020204020204" pitchFamily="34" charset="0"/>
            </a:endParaRPr>
          </a:p>
        </p:txBody>
      </p:sp>
      <p:sp>
        <p:nvSpPr>
          <p:cNvPr id="17" name="TextBox 16">
            <a:extLst>
              <a:ext uri="{FF2B5EF4-FFF2-40B4-BE49-F238E27FC236}">
                <a16:creationId xmlns:a16="http://schemas.microsoft.com/office/drawing/2014/main" id="{3C490165-F42F-57D4-6A1B-3E212652B7BD}"/>
              </a:ext>
            </a:extLst>
          </p:cNvPr>
          <p:cNvSpPr txBox="1"/>
          <p:nvPr/>
        </p:nvSpPr>
        <p:spPr>
          <a:xfrm>
            <a:off x="1525627" y="3988848"/>
            <a:ext cx="3999003" cy="461665"/>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b="1" dirty="0">
                <a:solidFill>
                  <a:schemeClr val="tx1"/>
                </a:solidFill>
                <a:highlight>
                  <a:srgbClr val="FFC000"/>
                </a:highlight>
                <a:latin typeface="Aptos Light" panose="020B0004020202020204" pitchFamily="34" charset="0"/>
              </a:rPr>
              <a:t>Individuals construct the meaning </a:t>
            </a:r>
            <a:r>
              <a:rPr lang="en-US" sz="1200" dirty="0">
                <a:latin typeface="Aptos Light" panose="020B0004020202020204" pitchFamily="34" charset="0"/>
              </a:rPr>
              <a:t>of a situation within a specific temporal and spatial context.</a:t>
            </a:r>
            <a:endParaRPr lang="en-GB" sz="1200" dirty="0">
              <a:latin typeface="Aptos Light" panose="020B0004020202020204" pitchFamily="34" charset="0"/>
            </a:endParaRPr>
          </a:p>
        </p:txBody>
      </p:sp>
      <p:sp>
        <p:nvSpPr>
          <p:cNvPr id="20" name="TextBox 19">
            <a:extLst>
              <a:ext uri="{FF2B5EF4-FFF2-40B4-BE49-F238E27FC236}">
                <a16:creationId xmlns:a16="http://schemas.microsoft.com/office/drawing/2014/main" id="{5F76629A-650D-F40A-8224-E7DC6F1DA12E}"/>
              </a:ext>
            </a:extLst>
          </p:cNvPr>
          <p:cNvSpPr txBox="1"/>
          <p:nvPr/>
        </p:nvSpPr>
        <p:spPr>
          <a:xfrm>
            <a:off x="1525564" y="4500739"/>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2.</a:t>
            </a:r>
            <a:endParaRPr lang="en-GB" sz="3200" b="1" noProof="0" dirty="0">
              <a:solidFill>
                <a:srgbClr val="FF0000"/>
              </a:solidFill>
              <a:latin typeface="Aptos Black" panose="020B0004020202020204" pitchFamily="34" charset="0"/>
            </a:endParaRPr>
          </a:p>
        </p:txBody>
      </p:sp>
      <p:sp>
        <p:nvSpPr>
          <p:cNvPr id="23" name="TextBox 22">
            <a:extLst>
              <a:ext uri="{FF2B5EF4-FFF2-40B4-BE49-F238E27FC236}">
                <a16:creationId xmlns:a16="http://schemas.microsoft.com/office/drawing/2014/main" id="{AFC3AE57-7459-39B7-C455-92AE7604A596}"/>
              </a:ext>
            </a:extLst>
          </p:cNvPr>
          <p:cNvSpPr txBox="1"/>
          <p:nvPr/>
        </p:nvSpPr>
        <p:spPr>
          <a:xfrm>
            <a:off x="2089086" y="4565803"/>
            <a:ext cx="1593605" cy="502702"/>
          </a:xfrm>
          <a:prstGeom prst="rect">
            <a:avLst/>
          </a:prstGeom>
          <a:noFill/>
        </p:spPr>
        <p:txBody>
          <a:bodyPr wrap="square">
            <a:spAutoFit/>
          </a:bodyPr>
          <a:lstStyle/>
          <a:p>
            <a:pPr>
              <a:lnSpc>
                <a:spcPts val="1600"/>
              </a:lnSpc>
            </a:pPr>
            <a:r>
              <a:rPr lang="en-GB" sz="1400" b="1" noProof="0" dirty="0"/>
              <a:t>Multiple participants</a:t>
            </a:r>
            <a:endParaRPr lang="en-GB" sz="1400" b="1" noProof="0" dirty="0">
              <a:solidFill>
                <a:schemeClr val="accent5"/>
              </a:solidFill>
              <a:latin typeface="Corbel" panose="020B0503020204020204" pitchFamily="34" charset="0"/>
            </a:endParaRPr>
          </a:p>
        </p:txBody>
      </p:sp>
      <p:sp>
        <p:nvSpPr>
          <p:cNvPr id="29" name="TextBox 28">
            <a:extLst>
              <a:ext uri="{FF2B5EF4-FFF2-40B4-BE49-F238E27FC236}">
                <a16:creationId xmlns:a16="http://schemas.microsoft.com/office/drawing/2014/main" id="{FBBB1E28-5812-CE2B-68D6-9C48CF08B542}"/>
              </a:ext>
            </a:extLst>
          </p:cNvPr>
          <p:cNvSpPr txBox="1"/>
          <p:nvPr/>
        </p:nvSpPr>
        <p:spPr>
          <a:xfrm>
            <a:off x="1525627" y="5060587"/>
            <a:ext cx="3999003" cy="830997"/>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b="1" dirty="0">
                <a:solidFill>
                  <a:schemeClr val="tx1"/>
                </a:solidFill>
                <a:highlight>
                  <a:srgbClr val="FFC000"/>
                </a:highlight>
                <a:latin typeface="Aptos Light" panose="020B0004020202020204" pitchFamily="34" charset="0"/>
              </a:rPr>
              <a:t>Meanings are constructed socially and historically, shaped by social and cultural norms</a:t>
            </a:r>
            <a:r>
              <a:rPr lang="en-US" sz="1200" dirty="0">
                <a:latin typeface="Aptos Light" panose="020B0004020202020204" pitchFamily="34" charset="0"/>
              </a:rPr>
              <a:t>. Therefore, the processes through which individuals interact and integrate become highly significant.</a:t>
            </a:r>
            <a:endParaRPr lang="en-GB" sz="1200" b="1" noProof="0" dirty="0">
              <a:latin typeface="Aptos Light" panose="020B0004020202020204" pitchFamily="34" charset="0"/>
            </a:endParaRPr>
          </a:p>
        </p:txBody>
      </p:sp>
      <p:sp>
        <p:nvSpPr>
          <p:cNvPr id="31" name="TextBox 30">
            <a:extLst>
              <a:ext uri="{FF2B5EF4-FFF2-40B4-BE49-F238E27FC236}">
                <a16:creationId xmlns:a16="http://schemas.microsoft.com/office/drawing/2014/main" id="{09B7A7F7-F521-C929-0F70-EF9443D17805}"/>
              </a:ext>
            </a:extLst>
          </p:cNvPr>
          <p:cNvSpPr txBox="1"/>
          <p:nvPr/>
        </p:nvSpPr>
        <p:spPr>
          <a:xfrm>
            <a:off x="6667372" y="3429000"/>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3.</a:t>
            </a:r>
            <a:endParaRPr lang="en-GB" sz="3200" b="1" noProof="0" dirty="0">
              <a:solidFill>
                <a:srgbClr val="FF0000"/>
              </a:solidFill>
              <a:latin typeface="Aptos Black" panose="020B0004020202020204" pitchFamily="34" charset="0"/>
            </a:endParaRPr>
          </a:p>
        </p:txBody>
      </p:sp>
      <p:sp>
        <p:nvSpPr>
          <p:cNvPr id="32" name="TextBox 31">
            <a:extLst>
              <a:ext uri="{FF2B5EF4-FFF2-40B4-BE49-F238E27FC236}">
                <a16:creationId xmlns:a16="http://schemas.microsoft.com/office/drawing/2014/main" id="{3CB8955D-1790-9464-C394-0AE0C7963BCF}"/>
              </a:ext>
            </a:extLst>
          </p:cNvPr>
          <p:cNvSpPr txBox="1"/>
          <p:nvPr/>
        </p:nvSpPr>
        <p:spPr>
          <a:xfrm>
            <a:off x="7230894" y="3461013"/>
            <a:ext cx="1593605" cy="502702"/>
          </a:xfrm>
          <a:prstGeom prst="rect">
            <a:avLst/>
          </a:prstGeom>
          <a:noFill/>
        </p:spPr>
        <p:txBody>
          <a:bodyPr wrap="square">
            <a:spAutoFit/>
          </a:bodyPr>
          <a:lstStyle/>
          <a:p>
            <a:pPr>
              <a:lnSpc>
                <a:spcPts val="1600"/>
              </a:lnSpc>
            </a:pPr>
            <a:r>
              <a:rPr lang="en-GB" sz="1400" b="1" noProof="0" dirty="0"/>
              <a:t>Theory generation</a:t>
            </a:r>
            <a:endParaRPr lang="en-GB" sz="1400" b="1" noProof="0" dirty="0">
              <a:solidFill>
                <a:schemeClr val="accent5"/>
              </a:solidFill>
              <a:latin typeface="Corbel" panose="020B0503020204020204" pitchFamily="34" charset="0"/>
            </a:endParaRPr>
          </a:p>
        </p:txBody>
      </p:sp>
      <p:sp>
        <p:nvSpPr>
          <p:cNvPr id="34" name="TextBox 33">
            <a:extLst>
              <a:ext uri="{FF2B5EF4-FFF2-40B4-BE49-F238E27FC236}">
                <a16:creationId xmlns:a16="http://schemas.microsoft.com/office/drawing/2014/main" id="{5C60582F-632B-8F2E-20C8-912F311E846C}"/>
              </a:ext>
            </a:extLst>
          </p:cNvPr>
          <p:cNvSpPr txBox="1"/>
          <p:nvPr/>
        </p:nvSpPr>
        <p:spPr>
          <a:xfrm>
            <a:off x="6667435" y="3988848"/>
            <a:ext cx="3650045" cy="1569660"/>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dirty="0">
                <a:latin typeface="Aptos Light" panose="020B0004020202020204" pitchFamily="34" charset="0"/>
              </a:rPr>
              <a:t>The researcher’s intention is to make sense of, or interpret, the meanings that others hold about the world.</a:t>
            </a:r>
          </a:p>
          <a:p>
            <a:endParaRPr lang="en-US" sz="1200" dirty="0">
              <a:latin typeface="Aptos Light" panose="020B0004020202020204" pitchFamily="34" charset="0"/>
            </a:endParaRPr>
          </a:p>
          <a:p>
            <a:r>
              <a:rPr lang="en-US" sz="1200" b="1" dirty="0">
                <a:solidFill>
                  <a:schemeClr val="tx1"/>
                </a:solidFill>
                <a:highlight>
                  <a:srgbClr val="FFC000"/>
                </a:highlight>
                <a:latin typeface="Aptos Light" panose="020B0004020202020204" pitchFamily="34" charset="0"/>
              </a:rPr>
              <a:t>Rather than beginning with a theory (as in post‑positivism), researchers generate or develop theories inductively</a:t>
            </a:r>
            <a:r>
              <a:rPr lang="en-US" sz="1200" dirty="0">
                <a:latin typeface="Aptos Light" panose="020B0004020202020204" pitchFamily="34" charset="0"/>
              </a:rPr>
              <a:t>, deriving patterns of meaning from participants’ accounts.</a:t>
            </a:r>
            <a:endParaRPr lang="en-GB" sz="1200" noProof="0" dirty="0">
              <a:latin typeface="Aptos Light" panose="020B0004020202020204" pitchFamily="34" charset="0"/>
            </a:endParaRPr>
          </a:p>
        </p:txBody>
      </p:sp>
      <p:sp>
        <p:nvSpPr>
          <p:cNvPr id="3" name="Footer Placeholder 4">
            <a:extLst>
              <a:ext uri="{FF2B5EF4-FFF2-40B4-BE49-F238E27FC236}">
                <a16:creationId xmlns:a16="http://schemas.microsoft.com/office/drawing/2014/main" id="{29EA5736-2A43-E882-E890-3E73B7265BC2}"/>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3297162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20" grpId="0"/>
      <p:bldP spid="23" grpId="0"/>
      <p:bldP spid="29" grpId="0"/>
      <p:bldP spid="31" grpId="0"/>
      <p:bldP spid="32" grpId="0"/>
      <p:bldP spid="3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99983-4505-ACAA-4043-0125468E823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600D242-674B-D8F7-A666-6A4819343E59}"/>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sp>
        <p:nvSpPr>
          <p:cNvPr id="9" name="Slide Number Placeholder 2">
            <a:extLst>
              <a:ext uri="{FF2B5EF4-FFF2-40B4-BE49-F238E27FC236}">
                <a16:creationId xmlns:a16="http://schemas.microsoft.com/office/drawing/2014/main" id="{738EE5DB-D995-7DB6-E1B5-82C868B5C1AC}"/>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tx1">
                    <a:lumMod val="50000"/>
                    <a:lumOff val="50000"/>
                  </a:schemeClr>
                </a:solidFill>
              </a:rPr>
              <a:t>37</a:t>
            </a:fld>
            <a:endParaRPr lang="en-GB" noProof="0" dirty="0">
              <a:solidFill>
                <a:schemeClr val="tx1">
                  <a:lumMod val="50000"/>
                  <a:lumOff val="50000"/>
                </a:schemeClr>
              </a:solidFill>
            </a:endParaRPr>
          </a:p>
        </p:txBody>
      </p:sp>
      <p:sp>
        <p:nvSpPr>
          <p:cNvPr id="11" name="Date Placeholder 3">
            <a:extLst>
              <a:ext uri="{FF2B5EF4-FFF2-40B4-BE49-F238E27FC236}">
                <a16:creationId xmlns:a16="http://schemas.microsoft.com/office/drawing/2014/main" id="{E9629719-239D-D67B-018E-468F81D28BB1}"/>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6E845D0-70B0-405D-A6BF-798C9CBE9027}" type="datetime1">
              <a:rPr lang="en-GB" noProof="0" smtClean="0">
                <a:solidFill>
                  <a:schemeClr val="tx1">
                    <a:lumMod val="50000"/>
                    <a:lumOff val="50000"/>
                  </a:schemeClr>
                </a:solidFill>
              </a:rPr>
              <a:pPr/>
              <a:t>27/03/2026</a:t>
            </a:fld>
            <a:endParaRPr lang="en-GB" noProof="0" dirty="0">
              <a:solidFill>
                <a:schemeClr val="tx1">
                  <a:lumMod val="50000"/>
                  <a:lumOff val="50000"/>
                </a:schemeClr>
              </a:solidFill>
            </a:endParaRPr>
          </a:p>
        </p:txBody>
      </p:sp>
      <p:sp>
        <p:nvSpPr>
          <p:cNvPr id="15" name="TextBox 14">
            <a:extLst>
              <a:ext uri="{FF2B5EF4-FFF2-40B4-BE49-F238E27FC236}">
                <a16:creationId xmlns:a16="http://schemas.microsoft.com/office/drawing/2014/main" id="{9D34B9CD-10B8-EA77-8616-2372572449C4}"/>
              </a:ext>
            </a:extLst>
          </p:cNvPr>
          <p:cNvSpPr txBox="1"/>
          <p:nvPr/>
        </p:nvSpPr>
        <p:spPr>
          <a:xfrm>
            <a:off x="974717" y="1470709"/>
            <a:ext cx="5787760" cy="461665"/>
          </a:xfrm>
          <a:prstGeom prst="rect">
            <a:avLst/>
          </a:prstGeom>
          <a:noFill/>
        </p:spPr>
        <p:txBody>
          <a:bodyPr wrap="square">
            <a:spAutoFit/>
          </a:bodyPr>
          <a:lstStyle/>
          <a:p>
            <a:r>
              <a:rPr lang="en-GB" sz="2400" b="1" noProof="0" dirty="0"/>
              <a:t>Positivism (the Scientific Method)</a:t>
            </a:r>
            <a:endParaRPr lang="en-GB" sz="2400" b="1" noProof="0" dirty="0">
              <a:latin typeface="Corbel" panose="020B0503020204020204" pitchFamily="34" charset="0"/>
            </a:endParaRPr>
          </a:p>
        </p:txBody>
      </p:sp>
      <p:sp>
        <p:nvSpPr>
          <p:cNvPr id="2" name="TextBox 1">
            <a:extLst>
              <a:ext uri="{FF2B5EF4-FFF2-40B4-BE49-F238E27FC236}">
                <a16:creationId xmlns:a16="http://schemas.microsoft.com/office/drawing/2014/main" id="{3739E826-3E3E-98EE-F11F-5C116A03E535}"/>
              </a:ext>
            </a:extLst>
          </p:cNvPr>
          <p:cNvSpPr txBox="1"/>
          <p:nvPr/>
        </p:nvSpPr>
        <p:spPr>
          <a:xfrm>
            <a:off x="974717" y="1974536"/>
            <a:ext cx="7944887" cy="646331"/>
          </a:xfrm>
          <a:prstGeom prst="rect">
            <a:avLst/>
          </a:prstGeom>
          <a:noFill/>
        </p:spPr>
        <p:txBody>
          <a:bodyPr wrap="square">
            <a:spAutoFit/>
          </a:bodyPr>
          <a:lstStyle/>
          <a:p>
            <a:r>
              <a:rPr lang="en-US" noProof="0" dirty="0"/>
              <a:t>Positivism represents the traditional form of research, and its assumptions remain relevant for both quantitative and qualitative approaches.</a:t>
            </a:r>
            <a:endParaRPr lang="en-GB" noProof="0" dirty="0"/>
          </a:p>
        </p:txBody>
      </p:sp>
      <p:sp>
        <p:nvSpPr>
          <p:cNvPr id="13" name="TextBox 12">
            <a:extLst>
              <a:ext uri="{FF2B5EF4-FFF2-40B4-BE49-F238E27FC236}">
                <a16:creationId xmlns:a16="http://schemas.microsoft.com/office/drawing/2014/main" id="{90144A2B-4C76-EFE5-98E2-2F17F6EF311B}"/>
              </a:ext>
            </a:extLst>
          </p:cNvPr>
          <p:cNvSpPr txBox="1"/>
          <p:nvPr/>
        </p:nvSpPr>
        <p:spPr>
          <a:xfrm>
            <a:off x="1525564" y="2938622"/>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1.</a:t>
            </a:r>
            <a:endParaRPr lang="en-GB" sz="3200" b="1" noProof="0" dirty="0">
              <a:solidFill>
                <a:srgbClr val="FF0000"/>
              </a:solidFill>
              <a:latin typeface="Aptos Black" panose="020B0004020202020204" pitchFamily="34" charset="0"/>
            </a:endParaRPr>
          </a:p>
        </p:txBody>
      </p:sp>
      <p:sp>
        <p:nvSpPr>
          <p:cNvPr id="16" name="TextBox 15">
            <a:extLst>
              <a:ext uri="{FF2B5EF4-FFF2-40B4-BE49-F238E27FC236}">
                <a16:creationId xmlns:a16="http://schemas.microsoft.com/office/drawing/2014/main" id="{A3E162DD-FC5F-F327-5EEE-EA4A402B45AF}"/>
              </a:ext>
            </a:extLst>
          </p:cNvPr>
          <p:cNvSpPr txBox="1"/>
          <p:nvPr/>
        </p:nvSpPr>
        <p:spPr>
          <a:xfrm>
            <a:off x="2089086" y="3069788"/>
            <a:ext cx="1593605" cy="297517"/>
          </a:xfrm>
          <a:prstGeom prst="rect">
            <a:avLst/>
          </a:prstGeom>
          <a:noFill/>
        </p:spPr>
        <p:txBody>
          <a:bodyPr wrap="square">
            <a:spAutoFit/>
          </a:bodyPr>
          <a:lstStyle/>
          <a:p>
            <a:pPr>
              <a:lnSpc>
                <a:spcPts val="1600"/>
              </a:lnSpc>
            </a:pPr>
            <a:r>
              <a:rPr lang="en-GB" sz="1400" b="1" noProof="0" dirty="0"/>
              <a:t>Determinism</a:t>
            </a:r>
            <a:endParaRPr lang="en-GB" sz="1400" b="1" noProof="0" dirty="0">
              <a:solidFill>
                <a:schemeClr val="accent5"/>
              </a:solidFill>
              <a:latin typeface="Corbel" panose="020B0503020204020204" pitchFamily="34" charset="0"/>
            </a:endParaRPr>
          </a:p>
        </p:txBody>
      </p:sp>
      <p:sp>
        <p:nvSpPr>
          <p:cNvPr id="17" name="TextBox 16">
            <a:extLst>
              <a:ext uri="{FF2B5EF4-FFF2-40B4-BE49-F238E27FC236}">
                <a16:creationId xmlns:a16="http://schemas.microsoft.com/office/drawing/2014/main" id="{C37671D6-21E6-3E2D-CA71-AB4426CA3A5F}"/>
              </a:ext>
            </a:extLst>
          </p:cNvPr>
          <p:cNvSpPr txBox="1"/>
          <p:nvPr/>
        </p:nvSpPr>
        <p:spPr>
          <a:xfrm>
            <a:off x="1525627" y="3498470"/>
            <a:ext cx="3999003" cy="646331"/>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dirty="0">
                <a:latin typeface="Aptos Light" panose="020B0004020202020204" pitchFamily="34" charset="0"/>
              </a:rPr>
              <a:t>It maintains a deterministic philosophy in which </a:t>
            </a:r>
            <a:r>
              <a:rPr lang="en-US" sz="1200" b="1" dirty="0">
                <a:solidFill>
                  <a:schemeClr val="tx1"/>
                </a:solidFill>
                <a:highlight>
                  <a:srgbClr val="FFC000"/>
                </a:highlight>
                <a:latin typeface="Aptos Light" panose="020B0004020202020204" pitchFamily="34" charset="0"/>
              </a:rPr>
              <a:t>causes determine effects</a:t>
            </a:r>
            <a:r>
              <a:rPr lang="en-US" sz="1200" dirty="0">
                <a:latin typeface="Aptos Light" panose="020B0004020202020204" pitchFamily="34" charset="0"/>
              </a:rPr>
              <a:t>. There is a need to identify and assess the causes that influence outcomes.</a:t>
            </a:r>
            <a:endParaRPr lang="en-GB" sz="1200" dirty="0">
              <a:latin typeface="Aptos Light" panose="020B0004020202020204" pitchFamily="34" charset="0"/>
            </a:endParaRPr>
          </a:p>
        </p:txBody>
      </p:sp>
      <p:sp>
        <p:nvSpPr>
          <p:cNvPr id="20" name="TextBox 19">
            <a:extLst>
              <a:ext uri="{FF2B5EF4-FFF2-40B4-BE49-F238E27FC236}">
                <a16:creationId xmlns:a16="http://schemas.microsoft.com/office/drawing/2014/main" id="{B7DEB195-FF16-DB46-A8A4-2425AE08ACE5}"/>
              </a:ext>
            </a:extLst>
          </p:cNvPr>
          <p:cNvSpPr txBox="1"/>
          <p:nvPr/>
        </p:nvSpPr>
        <p:spPr>
          <a:xfrm>
            <a:off x="1525564" y="4500739"/>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2.</a:t>
            </a:r>
            <a:endParaRPr lang="en-GB" sz="3200" b="1" noProof="0" dirty="0">
              <a:solidFill>
                <a:srgbClr val="FF0000"/>
              </a:solidFill>
              <a:latin typeface="Aptos Black" panose="020B0004020202020204" pitchFamily="34" charset="0"/>
            </a:endParaRPr>
          </a:p>
        </p:txBody>
      </p:sp>
      <p:sp>
        <p:nvSpPr>
          <p:cNvPr id="23" name="TextBox 22">
            <a:extLst>
              <a:ext uri="{FF2B5EF4-FFF2-40B4-BE49-F238E27FC236}">
                <a16:creationId xmlns:a16="http://schemas.microsoft.com/office/drawing/2014/main" id="{5F814B3F-CA4B-3B23-87F5-A2981C3A870B}"/>
              </a:ext>
            </a:extLst>
          </p:cNvPr>
          <p:cNvSpPr txBox="1"/>
          <p:nvPr/>
        </p:nvSpPr>
        <p:spPr>
          <a:xfrm>
            <a:off x="2089086" y="4631905"/>
            <a:ext cx="1593605" cy="297517"/>
          </a:xfrm>
          <a:prstGeom prst="rect">
            <a:avLst/>
          </a:prstGeom>
          <a:noFill/>
        </p:spPr>
        <p:txBody>
          <a:bodyPr wrap="square">
            <a:spAutoFit/>
          </a:bodyPr>
          <a:lstStyle/>
          <a:p>
            <a:pPr>
              <a:lnSpc>
                <a:spcPts val="1600"/>
              </a:lnSpc>
            </a:pPr>
            <a:r>
              <a:rPr lang="en-GB" sz="1400" b="1" noProof="0" dirty="0"/>
              <a:t>Reductionism</a:t>
            </a:r>
            <a:endParaRPr lang="en-GB" sz="1400" b="1" noProof="0" dirty="0">
              <a:solidFill>
                <a:schemeClr val="accent5"/>
              </a:solidFill>
              <a:latin typeface="Corbel" panose="020B0503020204020204" pitchFamily="34" charset="0"/>
            </a:endParaRPr>
          </a:p>
        </p:txBody>
      </p:sp>
      <p:sp>
        <p:nvSpPr>
          <p:cNvPr id="29" name="TextBox 28">
            <a:extLst>
              <a:ext uri="{FF2B5EF4-FFF2-40B4-BE49-F238E27FC236}">
                <a16:creationId xmlns:a16="http://schemas.microsoft.com/office/drawing/2014/main" id="{3D4F82AE-23C0-949E-DBF4-0580B0F1DA7C}"/>
              </a:ext>
            </a:extLst>
          </p:cNvPr>
          <p:cNvSpPr txBox="1"/>
          <p:nvPr/>
        </p:nvSpPr>
        <p:spPr>
          <a:xfrm>
            <a:off x="1525627" y="5060587"/>
            <a:ext cx="3999003" cy="646331"/>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dirty="0">
                <a:latin typeface="Aptos Light" panose="020B0004020202020204" pitchFamily="34" charset="0"/>
              </a:rPr>
              <a:t>This perspective aims to </a:t>
            </a:r>
            <a:r>
              <a:rPr lang="en-US" sz="1200" b="1" dirty="0">
                <a:solidFill>
                  <a:schemeClr val="tx1"/>
                </a:solidFill>
                <a:highlight>
                  <a:srgbClr val="FFC000"/>
                </a:highlight>
                <a:latin typeface="Aptos Light" panose="020B0004020202020204" pitchFamily="34" charset="0"/>
              </a:rPr>
              <a:t>reduce ideas to a small, discrete set to be teste</a:t>
            </a:r>
            <a:r>
              <a:rPr lang="en-US" sz="1200" dirty="0">
                <a:latin typeface="Aptos Light" panose="020B0004020202020204" pitchFamily="34" charset="0"/>
              </a:rPr>
              <a:t>d, such as the variables that constitute hypotheses and research questions.</a:t>
            </a:r>
            <a:endParaRPr lang="en-GB" sz="1200" b="1" noProof="0" dirty="0">
              <a:latin typeface="Aptos Light" panose="020B0004020202020204" pitchFamily="34" charset="0"/>
            </a:endParaRPr>
          </a:p>
        </p:txBody>
      </p:sp>
      <p:sp>
        <p:nvSpPr>
          <p:cNvPr id="31" name="TextBox 30">
            <a:extLst>
              <a:ext uri="{FF2B5EF4-FFF2-40B4-BE49-F238E27FC236}">
                <a16:creationId xmlns:a16="http://schemas.microsoft.com/office/drawing/2014/main" id="{85563DDE-431B-916E-614F-E594703BD556}"/>
              </a:ext>
            </a:extLst>
          </p:cNvPr>
          <p:cNvSpPr txBox="1"/>
          <p:nvPr/>
        </p:nvSpPr>
        <p:spPr>
          <a:xfrm>
            <a:off x="6646847" y="2936271"/>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3.</a:t>
            </a:r>
            <a:endParaRPr lang="en-GB" sz="3200" b="1" noProof="0" dirty="0">
              <a:solidFill>
                <a:srgbClr val="FF0000"/>
              </a:solidFill>
              <a:latin typeface="Aptos Black" panose="020B0004020202020204" pitchFamily="34" charset="0"/>
            </a:endParaRPr>
          </a:p>
        </p:txBody>
      </p:sp>
      <p:sp>
        <p:nvSpPr>
          <p:cNvPr id="32" name="TextBox 31">
            <a:extLst>
              <a:ext uri="{FF2B5EF4-FFF2-40B4-BE49-F238E27FC236}">
                <a16:creationId xmlns:a16="http://schemas.microsoft.com/office/drawing/2014/main" id="{2A946918-722E-B244-2EB5-6DC011F8DE4A}"/>
              </a:ext>
            </a:extLst>
          </p:cNvPr>
          <p:cNvSpPr txBox="1"/>
          <p:nvPr/>
        </p:nvSpPr>
        <p:spPr>
          <a:xfrm>
            <a:off x="7210369" y="2968284"/>
            <a:ext cx="1593605" cy="502702"/>
          </a:xfrm>
          <a:prstGeom prst="rect">
            <a:avLst/>
          </a:prstGeom>
          <a:noFill/>
        </p:spPr>
        <p:txBody>
          <a:bodyPr wrap="square">
            <a:spAutoFit/>
          </a:bodyPr>
          <a:lstStyle/>
          <a:p>
            <a:pPr>
              <a:lnSpc>
                <a:spcPts val="1600"/>
              </a:lnSpc>
            </a:pPr>
            <a:r>
              <a:rPr lang="en-GB" sz="1400" b="1" noProof="0" dirty="0"/>
              <a:t>Observation and measurement</a:t>
            </a:r>
            <a:endParaRPr lang="en-GB" sz="1400" b="1" noProof="0" dirty="0">
              <a:solidFill>
                <a:schemeClr val="accent5"/>
              </a:solidFill>
              <a:latin typeface="Corbel" panose="020B0503020204020204" pitchFamily="34" charset="0"/>
            </a:endParaRPr>
          </a:p>
        </p:txBody>
      </p:sp>
      <p:sp>
        <p:nvSpPr>
          <p:cNvPr id="34" name="TextBox 33">
            <a:extLst>
              <a:ext uri="{FF2B5EF4-FFF2-40B4-BE49-F238E27FC236}">
                <a16:creationId xmlns:a16="http://schemas.microsoft.com/office/drawing/2014/main" id="{AC672849-6FB2-61F9-4D53-F21E38730552}"/>
              </a:ext>
            </a:extLst>
          </p:cNvPr>
          <p:cNvSpPr txBox="1"/>
          <p:nvPr/>
        </p:nvSpPr>
        <p:spPr>
          <a:xfrm>
            <a:off x="6646910" y="3496119"/>
            <a:ext cx="4458096" cy="646331"/>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b="1" dirty="0">
                <a:solidFill>
                  <a:schemeClr val="tx1"/>
                </a:solidFill>
                <a:highlight>
                  <a:srgbClr val="FFC000"/>
                </a:highlight>
                <a:latin typeface="Aptos Light" panose="020B0004020202020204" pitchFamily="34" charset="0"/>
              </a:rPr>
              <a:t>It focuses on the careful observation and measurement of objective reality</a:t>
            </a:r>
            <a:r>
              <a:rPr lang="en-US" sz="1200" dirty="0">
                <a:latin typeface="Aptos Light" panose="020B0004020202020204" pitchFamily="34" charset="0"/>
              </a:rPr>
              <a:t>, using numerical measures of observations. The study of individual behavior becomes essential to this approach.</a:t>
            </a:r>
            <a:endParaRPr lang="en-GB" sz="1200" noProof="0" dirty="0">
              <a:latin typeface="Aptos Light" panose="020B0004020202020204" pitchFamily="34" charset="0"/>
            </a:endParaRPr>
          </a:p>
        </p:txBody>
      </p:sp>
      <p:sp>
        <p:nvSpPr>
          <p:cNvPr id="35" name="TextBox 34">
            <a:extLst>
              <a:ext uri="{FF2B5EF4-FFF2-40B4-BE49-F238E27FC236}">
                <a16:creationId xmlns:a16="http://schemas.microsoft.com/office/drawing/2014/main" id="{06DDA9B3-0F2B-080D-9E08-3B5264A98C0E}"/>
              </a:ext>
            </a:extLst>
          </p:cNvPr>
          <p:cNvSpPr txBox="1"/>
          <p:nvPr/>
        </p:nvSpPr>
        <p:spPr>
          <a:xfrm>
            <a:off x="6762477" y="4500155"/>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4.</a:t>
            </a:r>
            <a:endParaRPr lang="en-GB" sz="3200" b="1" noProof="0" dirty="0">
              <a:solidFill>
                <a:srgbClr val="FF0000"/>
              </a:solidFill>
              <a:latin typeface="Aptos Black" panose="020B0004020202020204" pitchFamily="34" charset="0"/>
            </a:endParaRPr>
          </a:p>
        </p:txBody>
      </p:sp>
      <p:sp>
        <p:nvSpPr>
          <p:cNvPr id="37" name="TextBox 36">
            <a:extLst>
              <a:ext uri="{FF2B5EF4-FFF2-40B4-BE49-F238E27FC236}">
                <a16:creationId xmlns:a16="http://schemas.microsoft.com/office/drawing/2014/main" id="{6A74F95D-70D6-DAC5-E1B9-3FBBE3AE4F91}"/>
              </a:ext>
            </a:extLst>
          </p:cNvPr>
          <p:cNvSpPr txBox="1"/>
          <p:nvPr/>
        </p:nvSpPr>
        <p:spPr>
          <a:xfrm>
            <a:off x="7325999" y="4532168"/>
            <a:ext cx="1593605" cy="502702"/>
          </a:xfrm>
          <a:prstGeom prst="rect">
            <a:avLst/>
          </a:prstGeom>
          <a:noFill/>
        </p:spPr>
        <p:txBody>
          <a:bodyPr wrap="square">
            <a:spAutoFit/>
          </a:bodyPr>
          <a:lstStyle/>
          <a:p>
            <a:pPr>
              <a:lnSpc>
                <a:spcPts val="1600"/>
              </a:lnSpc>
            </a:pPr>
            <a:r>
              <a:rPr lang="en-GB" sz="1400" b="1" noProof="0" dirty="0"/>
              <a:t>Theory verification</a:t>
            </a:r>
            <a:endParaRPr lang="en-GB" sz="1400" b="1" noProof="0" dirty="0">
              <a:solidFill>
                <a:schemeClr val="accent5"/>
              </a:solidFill>
              <a:latin typeface="Corbel" panose="020B0503020204020204" pitchFamily="34" charset="0"/>
            </a:endParaRPr>
          </a:p>
        </p:txBody>
      </p:sp>
      <p:sp>
        <p:nvSpPr>
          <p:cNvPr id="38" name="TextBox 37">
            <a:extLst>
              <a:ext uri="{FF2B5EF4-FFF2-40B4-BE49-F238E27FC236}">
                <a16:creationId xmlns:a16="http://schemas.microsoft.com/office/drawing/2014/main" id="{CD1EAE12-FFBE-C5C0-6FE2-70CD3F25D083}"/>
              </a:ext>
            </a:extLst>
          </p:cNvPr>
          <p:cNvSpPr txBox="1"/>
          <p:nvPr/>
        </p:nvSpPr>
        <p:spPr>
          <a:xfrm>
            <a:off x="6762540" y="5060003"/>
            <a:ext cx="4458096" cy="646331"/>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dirty="0">
                <a:latin typeface="Aptos Light" panose="020B0004020202020204" pitchFamily="34" charset="0"/>
              </a:rPr>
              <a:t>Within the scientific method, </a:t>
            </a:r>
            <a:r>
              <a:rPr lang="en-US" sz="1200" b="1" dirty="0">
                <a:solidFill>
                  <a:schemeClr val="tx1"/>
                </a:solidFill>
                <a:highlight>
                  <a:srgbClr val="FFC000"/>
                </a:highlight>
                <a:latin typeface="Aptos Light" panose="020B0004020202020204" pitchFamily="34" charset="0"/>
              </a:rPr>
              <a:t>research begins with a theory that is evaluated through data collection and evidence</a:t>
            </a:r>
            <a:r>
              <a:rPr lang="en-US" sz="1200" dirty="0">
                <a:latin typeface="Aptos Light" panose="020B0004020202020204" pitchFamily="34" charset="0"/>
              </a:rPr>
              <a:t>. Revisions are then made, followed by additional testing.</a:t>
            </a:r>
            <a:endParaRPr lang="en-GB" sz="1200" noProof="0" dirty="0">
              <a:solidFill>
                <a:srgbClr val="DF102C"/>
              </a:solidFill>
              <a:latin typeface="Aptos Light" panose="020B0004020202020204" pitchFamily="34" charset="0"/>
            </a:endParaRPr>
          </a:p>
        </p:txBody>
      </p:sp>
      <p:sp>
        <p:nvSpPr>
          <p:cNvPr id="3" name="Título 1">
            <a:extLst>
              <a:ext uri="{FF2B5EF4-FFF2-40B4-BE49-F238E27FC236}">
                <a16:creationId xmlns:a16="http://schemas.microsoft.com/office/drawing/2014/main" id="{3B4EBBE4-C767-B26E-74F6-7957F3BB86EE}"/>
              </a:ext>
            </a:extLst>
          </p:cNvPr>
          <p:cNvSpPr txBox="1">
            <a:spLocks/>
          </p:cNvSpPr>
          <p:nvPr/>
        </p:nvSpPr>
        <p:spPr>
          <a:xfrm>
            <a:off x="891591" y="501650"/>
            <a:ext cx="4082192" cy="61312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4 World views</a:t>
            </a:r>
          </a:p>
        </p:txBody>
      </p:sp>
      <p:sp>
        <p:nvSpPr>
          <p:cNvPr id="5" name="Footer Placeholder 4">
            <a:extLst>
              <a:ext uri="{FF2B5EF4-FFF2-40B4-BE49-F238E27FC236}">
                <a16:creationId xmlns:a16="http://schemas.microsoft.com/office/drawing/2014/main" id="{58A7A7DA-43D4-2DAD-0594-926146F57BC5}"/>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2892554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500"/>
                                        <p:tgtEl>
                                          <p:spTgt spid="3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20" grpId="0"/>
      <p:bldP spid="23" grpId="0"/>
      <p:bldP spid="29" grpId="0"/>
      <p:bldP spid="31" grpId="0"/>
      <p:bldP spid="32" grpId="0"/>
      <p:bldP spid="34" grpId="0"/>
      <p:bldP spid="35" grpId="0"/>
      <p:bldP spid="37" grpId="0"/>
      <p:bldP spid="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95A7A-164E-66BB-188A-C75DB8FACDE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755FBD7-1BE3-7C0C-06A5-F326892DE1D6}"/>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sp>
        <p:nvSpPr>
          <p:cNvPr id="9" name="Slide Number Placeholder 2">
            <a:extLst>
              <a:ext uri="{FF2B5EF4-FFF2-40B4-BE49-F238E27FC236}">
                <a16:creationId xmlns:a16="http://schemas.microsoft.com/office/drawing/2014/main" id="{0D0FC500-1481-5562-58AE-A9EB87B5C402}"/>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tx1">
                    <a:lumMod val="50000"/>
                    <a:lumOff val="50000"/>
                  </a:schemeClr>
                </a:solidFill>
              </a:rPr>
              <a:t>38</a:t>
            </a:fld>
            <a:endParaRPr lang="en-GB" noProof="0" dirty="0">
              <a:solidFill>
                <a:schemeClr val="tx1">
                  <a:lumMod val="50000"/>
                  <a:lumOff val="50000"/>
                </a:schemeClr>
              </a:solidFill>
            </a:endParaRPr>
          </a:p>
        </p:txBody>
      </p:sp>
      <p:sp>
        <p:nvSpPr>
          <p:cNvPr id="11" name="Date Placeholder 3">
            <a:extLst>
              <a:ext uri="{FF2B5EF4-FFF2-40B4-BE49-F238E27FC236}">
                <a16:creationId xmlns:a16="http://schemas.microsoft.com/office/drawing/2014/main" id="{5BB282A2-8EEC-C705-F0D8-7F100C2CCB02}"/>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6E845D0-70B0-405D-A6BF-798C9CBE9027}" type="datetime1">
              <a:rPr lang="en-GB" noProof="0" smtClean="0">
                <a:solidFill>
                  <a:schemeClr val="tx1">
                    <a:lumMod val="50000"/>
                    <a:lumOff val="50000"/>
                  </a:schemeClr>
                </a:solidFill>
              </a:rPr>
              <a:pPr/>
              <a:t>27/03/2026</a:t>
            </a:fld>
            <a:endParaRPr lang="en-GB" noProof="0" dirty="0">
              <a:solidFill>
                <a:schemeClr val="tx1">
                  <a:lumMod val="50000"/>
                  <a:lumOff val="50000"/>
                </a:schemeClr>
              </a:solidFill>
            </a:endParaRPr>
          </a:p>
        </p:txBody>
      </p:sp>
      <p:sp>
        <p:nvSpPr>
          <p:cNvPr id="15" name="TextBox 14">
            <a:extLst>
              <a:ext uri="{FF2B5EF4-FFF2-40B4-BE49-F238E27FC236}">
                <a16:creationId xmlns:a16="http://schemas.microsoft.com/office/drawing/2014/main" id="{27545F0C-B58C-9F74-1823-51B77BBED5E8}"/>
              </a:ext>
            </a:extLst>
          </p:cNvPr>
          <p:cNvSpPr txBox="1"/>
          <p:nvPr/>
        </p:nvSpPr>
        <p:spPr>
          <a:xfrm>
            <a:off x="974716" y="1470709"/>
            <a:ext cx="5845185" cy="461665"/>
          </a:xfrm>
          <a:prstGeom prst="rect">
            <a:avLst/>
          </a:prstGeom>
          <a:noFill/>
        </p:spPr>
        <p:txBody>
          <a:bodyPr wrap="square">
            <a:spAutoFit/>
          </a:bodyPr>
          <a:lstStyle/>
          <a:p>
            <a:r>
              <a:rPr lang="en-GB" sz="2400" b="1" noProof="0" dirty="0"/>
              <a:t>Transformative</a:t>
            </a:r>
            <a:endParaRPr lang="en-GB" sz="2400" b="1" noProof="0" dirty="0">
              <a:latin typeface="Corbel" panose="020B0503020204020204" pitchFamily="34" charset="0"/>
            </a:endParaRPr>
          </a:p>
        </p:txBody>
      </p:sp>
      <p:sp>
        <p:nvSpPr>
          <p:cNvPr id="2" name="TextBox 1">
            <a:extLst>
              <a:ext uri="{FF2B5EF4-FFF2-40B4-BE49-F238E27FC236}">
                <a16:creationId xmlns:a16="http://schemas.microsoft.com/office/drawing/2014/main" id="{EC14B976-7BFF-8196-9933-3229E16A1D4F}"/>
              </a:ext>
            </a:extLst>
          </p:cNvPr>
          <p:cNvSpPr txBox="1"/>
          <p:nvPr/>
        </p:nvSpPr>
        <p:spPr>
          <a:xfrm>
            <a:off x="974717" y="1974536"/>
            <a:ext cx="10339606" cy="923330"/>
          </a:xfrm>
          <a:prstGeom prst="rect">
            <a:avLst/>
          </a:prstGeom>
          <a:noFill/>
        </p:spPr>
        <p:txBody>
          <a:bodyPr wrap="square">
            <a:spAutoFit/>
          </a:bodyPr>
          <a:lstStyle/>
          <a:p>
            <a:r>
              <a:rPr lang="en-US" noProof="0" dirty="0"/>
              <a:t>Emerges as a response to the structural laws and theories of </a:t>
            </a:r>
            <a:r>
              <a:rPr lang="en-US" noProof="0" dirty="0">
                <a:highlight>
                  <a:srgbClr val="FFFFFF"/>
                </a:highlight>
              </a:rPr>
              <a:t>positivism, which often fail to reflect the reality of </a:t>
            </a:r>
            <a:r>
              <a:rPr lang="en-US" noProof="0" dirty="0" err="1">
                <a:highlight>
                  <a:srgbClr val="FFFFFF"/>
                </a:highlight>
              </a:rPr>
              <a:t>marginalised</a:t>
            </a:r>
            <a:r>
              <a:rPr lang="en-US" noProof="0" dirty="0">
                <a:highlight>
                  <a:srgbClr val="FFFFFF"/>
                </a:highlight>
              </a:rPr>
              <a:t> social groups affected by issues of power, social justice, discrimination, and oppression.</a:t>
            </a:r>
            <a:endParaRPr lang="en-GB" noProof="0" dirty="0">
              <a:highlight>
                <a:srgbClr val="FFFFFF"/>
              </a:highlight>
            </a:endParaRPr>
          </a:p>
        </p:txBody>
      </p:sp>
      <p:sp>
        <p:nvSpPr>
          <p:cNvPr id="13" name="TextBox 12">
            <a:extLst>
              <a:ext uri="{FF2B5EF4-FFF2-40B4-BE49-F238E27FC236}">
                <a16:creationId xmlns:a16="http://schemas.microsoft.com/office/drawing/2014/main" id="{08BC6B33-10D0-5A99-540A-5E04BAE20138}"/>
              </a:ext>
            </a:extLst>
          </p:cNvPr>
          <p:cNvSpPr txBox="1"/>
          <p:nvPr/>
        </p:nvSpPr>
        <p:spPr>
          <a:xfrm>
            <a:off x="1525564" y="2938622"/>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1.</a:t>
            </a:r>
            <a:endParaRPr lang="en-GB" sz="3200" b="1" noProof="0" dirty="0">
              <a:solidFill>
                <a:srgbClr val="FF0000"/>
              </a:solidFill>
              <a:latin typeface="Aptos Black" panose="020B0004020202020204" pitchFamily="34" charset="0"/>
            </a:endParaRPr>
          </a:p>
        </p:txBody>
      </p:sp>
      <p:sp>
        <p:nvSpPr>
          <p:cNvPr id="16" name="TextBox 15">
            <a:extLst>
              <a:ext uri="{FF2B5EF4-FFF2-40B4-BE49-F238E27FC236}">
                <a16:creationId xmlns:a16="http://schemas.microsoft.com/office/drawing/2014/main" id="{681577F8-7B1E-6779-56CA-77808C98433B}"/>
              </a:ext>
            </a:extLst>
          </p:cNvPr>
          <p:cNvSpPr txBox="1"/>
          <p:nvPr/>
        </p:nvSpPr>
        <p:spPr>
          <a:xfrm>
            <a:off x="2089086" y="3069788"/>
            <a:ext cx="1593605" cy="297517"/>
          </a:xfrm>
          <a:prstGeom prst="rect">
            <a:avLst/>
          </a:prstGeom>
          <a:noFill/>
        </p:spPr>
        <p:txBody>
          <a:bodyPr wrap="square">
            <a:spAutoFit/>
          </a:bodyPr>
          <a:lstStyle/>
          <a:p>
            <a:pPr>
              <a:lnSpc>
                <a:spcPts val="1600"/>
              </a:lnSpc>
            </a:pPr>
            <a:r>
              <a:rPr lang="en-GB" sz="1400" b="1" noProof="0" dirty="0"/>
              <a:t>Political</a:t>
            </a:r>
            <a:endParaRPr lang="en-GB" sz="1400" b="1" noProof="0" dirty="0">
              <a:solidFill>
                <a:schemeClr val="accent5"/>
              </a:solidFill>
              <a:latin typeface="Corbel" panose="020B0503020204020204" pitchFamily="34" charset="0"/>
            </a:endParaRPr>
          </a:p>
        </p:txBody>
      </p:sp>
      <p:sp>
        <p:nvSpPr>
          <p:cNvPr id="17" name="TextBox 16">
            <a:extLst>
              <a:ext uri="{FF2B5EF4-FFF2-40B4-BE49-F238E27FC236}">
                <a16:creationId xmlns:a16="http://schemas.microsoft.com/office/drawing/2014/main" id="{B4E1229F-996E-7491-AAA2-ABEEF5AD9C65}"/>
              </a:ext>
            </a:extLst>
          </p:cNvPr>
          <p:cNvSpPr txBox="1"/>
          <p:nvPr/>
        </p:nvSpPr>
        <p:spPr>
          <a:xfrm>
            <a:off x="1525627" y="3498470"/>
            <a:ext cx="3999003" cy="646331"/>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dirty="0">
                <a:latin typeface="Aptos Light" panose="020B0004020202020204" pitchFamily="34" charset="0"/>
              </a:rPr>
              <a:t>This worldview holds </a:t>
            </a:r>
            <a:r>
              <a:rPr lang="en-US" sz="1200" b="1" dirty="0">
                <a:solidFill>
                  <a:schemeClr val="tx1"/>
                </a:solidFill>
                <a:highlight>
                  <a:srgbClr val="FFC000"/>
                </a:highlight>
                <a:latin typeface="Aptos Light" panose="020B0004020202020204" pitchFamily="34" charset="0"/>
              </a:rPr>
              <a:t>that research must be intertwined with politics and a political agenda </a:t>
            </a:r>
            <a:r>
              <a:rPr lang="en-US" sz="1200" dirty="0">
                <a:latin typeface="Aptos Light" panose="020B0004020202020204" pitchFamily="34" charset="0"/>
              </a:rPr>
              <a:t>aimed at confronting social oppression wherever it occurs.</a:t>
            </a:r>
            <a:endParaRPr lang="en-GB" sz="1200" dirty="0">
              <a:latin typeface="Aptos Light" panose="020B0004020202020204" pitchFamily="34" charset="0"/>
            </a:endParaRPr>
          </a:p>
        </p:txBody>
      </p:sp>
      <p:sp>
        <p:nvSpPr>
          <p:cNvPr id="20" name="TextBox 19">
            <a:extLst>
              <a:ext uri="{FF2B5EF4-FFF2-40B4-BE49-F238E27FC236}">
                <a16:creationId xmlns:a16="http://schemas.microsoft.com/office/drawing/2014/main" id="{2868E804-AF95-FACA-CB12-205EDA452A4A}"/>
              </a:ext>
            </a:extLst>
          </p:cNvPr>
          <p:cNvSpPr txBox="1"/>
          <p:nvPr/>
        </p:nvSpPr>
        <p:spPr>
          <a:xfrm>
            <a:off x="1525564" y="4500739"/>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2.</a:t>
            </a:r>
            <a:endParaRPr lang="en-GB" sz="3200" b="1" noProof="0" dirty="0">
              <a:solidFill>
                <a:srgbClr val="FF0000"/>
              </a:solidFill>
              <a:latin typeface="Aptos Black" panose="020B0004020202020204" pitchFamily="34" charset="0"/>
            </a:endParaRPr>
          </a:p>
        </p:txBody>
      </p:sp>
      <p:sp>
        <p:nvSpPr>
          <p:cNvPr id="23" name="TextBox 22">
            <a:extLst>
              <a:ext uri="{FF2B5EF4-FFF2-40B4-BE49-F238E27FC236}">
                <a16:creationId xmlns:a16="http://schemas.microsoft.com/office/drawing/2014/main" id="{F523515C-8759-0468-1F2F-09CA2FF93D92}"/>
              </a:ext>
            </a:extLst>
          </p:cNvPr>
          <p:cNvSpPr txBox="1"/>
          <p:nvPr/>
        </p:nvSpPr>
        <p:spPr>
          <a:xfrm>
            <a:off x="2089086" y="4565803"/>
            <a:ext cx="2042239" cy="502702"/>
          </a:xfrm>
          <a:prstGeom prst="rect">
            <a:avLst/>
          </a:prstGeom>
          <a:noFill/>
        </p:spPr>
        <p:txBody>
          <a:bodyPr wrap="square">
            <a:spAutoFit/>
          </a:bodyPr>
          <a:lstStyle/>
          <a:p>
            <a:pPr>
              <a:lnSpc>
                <a:spcPts val="1600"/>
              </a:lnSpc>
            </a:pPr>
            <a:r>
              <a:rPr lang="en-GB" sz="1400" b="1" noProof="0" dirty="0"/>
              <a:t>Oriented towards power and justice</a:t>
            </a:r>
          </a:p>
        </p:txBody>
      </p:sp>
      <p:sp>
        <p:nvSpPr>
          <p:cNvPr id="29" name="TextBox 28">
            <a:extLst>
              <a:ext uri="{FF2B5EF4-FFF2-40B4-BE49-F238E27FC236}">
                <a16:creationId xmlns:a16="http://schemas.microsoft.com/office/drawing/2014/main" id="{D04AFB56-9EE3-4FC8-B9F4-AEA3D12BAFA9}"/>
              </a:ext>
            </a:extLst>
          </p:cNvPr>
          <p:cNvSpPr txBox="1"/>
          <p:nvPr/>
        </p:nvSpPr>
        <p:spPr>
          <a:xfrm>
            <a:off x="1525627" y="5060587"/>
            <a:ext cx="3999003" cy="646331"/>
          </a:xfrm>
          <a:prstGeom prst="rect">
            <a:avLst/>
          </a:prstGeom>
          <a:noFill/>
        </p:spPr>
        <p:txBody>
          <a:bodyPr wrap="square">
            <a:spAutoFit/>
          </a:bodyPr>
          <a:lstStyle>
            <a:defPPr>
              <a:defRPr lang="en-US"/>
            </a:defPPr>
            <a:lvl1pPr>
              <a:defRPr sz="1200">
                <a:solidFill>
                  <a:schemeClr val="bg1">
                    <a:lumMod val="65000"/>
                  </a:schemeClr>
                </a:solidFill>
                <a:latin typeface="Aptos Light" panose="020B0004020202020204" pitchFamily="34" charset="0"/>
              </a:defRPr>
            </a:lvl1pPr>
          </a:lstStyle>
          <a:p>
            <a:r>
              <a:rPr lang="en-US" b="1" dirty="0">
                <a:solidFill>
                  <a:schemeClr val="tx1"/>
                </a:solidFill>
                <a:highlight>
                  <a:srgbClr val="FFC000"/>
                </a:highlight>
              </a:rPr>
              <a:t>Researchers must address important social issues </a:t>
            </a:r>
            <a:r>
              <a:rPr lang="en-US" dirty="0"/>
              <a:t>such as empowerment, inequality, oppression, domination, suppression, and alienation.</a:t>
            </a:r>
            <a:endParaRPr lang="en-GB" dirty="0"/>
          </a:p>
        </p:txBody>
      </p:sp>
      <p:sp>
        <p:nvSpPr>
          <p:cNvPr id="31" name="TextBox 30">
            <a:extLst>
              <a:ext uri="{FF2B5EF4-FFF2-40B4-BE49-F238E27FC236}">
                <a16:creationId xmlns:a16="http://schemas.microsoft.com/office/drawing/2014/main" id="{10EB26AD-8BC3-28AA-36B7-AAE29779F527}"/>
              </a:ext>
            </a:extLst>
          </p:cNvPr>
          <p:cNvSpPr txBox="1"/>
          <p:nvPr/>
        </p:nvSpPr>
        <p:spPr>
          <a:xfrm>
            <a:off x="6646847" y="2936271"/>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3.</a:t>
            </a:r>
            <a:endParaRPr lang="en-GB" sz="3200" b="1" noProof="0" dirty="0">
              <a:solidFill>
                <a:srgbClr val="FF0000"/>
              </a:solidFill>
              <a:latin typeface="Aptos Black" panose="020B0004020202020204" pitchFamily="34" charset="0"/>
            </a:endParaRPr>
          </a:p>
        </p:txBody>
      </p:sp>
      <p:sp>
        <p:nvSpPr>
          <p:cNvPr id="32" name="TextBox 31">
            <a:extLst>
              <a:ext uri="{FF2B5EF4-FFF2-40B4-BE49-F238E27FC236}">
                <a16:creationId xmlns:a16="http://schemas.microsoft.com/office/drawing/2014/main" id="{18D0B565-82CB-B672-17D6-21FD6531E5EB}"/>
              </a:ext>
            </a:extLst>
          </p:cNvPr>
          <p:cNvSpPr txBox="1"/>
          <p:nvPr/>
        </p:nvSpPr>
        <p:spPr>
          <a:xfrm>
            <a:off x="7210369" y="2968284"/>
            <a:ext cx="1593605" cy="297517"/>
          </a:xfrm>
          <a:prstGeom prst="rect">
            <a:avLst/>
          </a:prstGeom>
          <a:noFill/>
        </p:spPr>
        <p:txBody>
          <a:bodyPr wrap="square">
            <a:spAutoFit/>
          </a:bodyPr>
          <a:lstStyle/>
          <a:p>
            <a:pPr>
              <a:lnSpc>
                <a:spcPts val="1600"/>
              </a:lnSpc>
            </a:pPr>
            <a:r>
              <a:rPr lang="en-GB" sz="1400" b="1" noProof="0" dirty="0"/>
              <a:t>Change oriented</a:t>
            </a:r>
            <a:endParaRPr lang="en-GB" sz="1400" b="1" noProof="0" dirty="0">
              <a:solidFill>
                <a:schemeClr val="accent5"/>
              </a:solidFill>
              <a:latin typeface="Corbel" panose="020B0503020204020204" pitchFamily="34" charset="0"/>
            </a:endParaRPr>
          </a:p>
        </p:txBody>
      </p:sp>
      <p:sp>
        <p:nvSpPr>
          <p:cNvPr id="34" name="TextBox 33">
            <a:extLst>
              <a:ext uri="{FF2B5EF4-FFF2-40B4-BE49-F238E27FC236}">
                <a16:creationId xmlns:a16="http://schemas.microsoft.com/office/drawing/2014/main" id="{8C846597-18DC-F390-A71A-52B064111CFF}"/>
              </a:ext>
            </a:extLst>
          </p:cNvPr>
          <p:cNvSpPr txBox="1"/>
          <p:nvPr/>
        </p:nvSpPr>
        <p:spPr>
          <a:xfrm>
            <a:off x="6646910" y="3496119"/>
            <a:ext cx="4458096" cy="646331"/>
          </a:xfrm>
          <a:prstGeom prst="rect">
            <a:avLst/>
          </a:prstGeom>
          <a:noFill/>
        </p:spPr>
        <p:txBody>
          <a:bodyPr wrap="square">
            <a:spAutoFit/>
          </a:bodyPr>
          <a:lstStyle>
            <a:defPPr>
              <a:defRPr lang="en-US"/>
            </a:defPPr>
            <a:lvl1pPr>
              <a:defRPr sz="1200">
                <a:solidFill>
                  <a:schemeClr val="bg1">
                    <a:lumMod val="65000"/>
                  </a:schemeClr>
                </a:solidFill>
                <a:latin typeface="Aptos Light" panose="020B0004020202020204" pitchFamily="34" charset="0"/>
              </a:defRPr>
            </a:lvl1pPr>
          </a:lstStyle>
          <a:p>
            <a:r>
              <a:rPr lang="en-US" b="1" dirty="0">
                <a:solidFill>
                  <a:schemeClr val="tx1"/>
                </a:solidFill>
                <a:highlight>
                  <a:srgbClr val="FFC000"/>
                </a:highlight>
              </a:rPr>
              <a:t>Research includes an action agenda for reform that can transform the lives of participants</a:t>
            </a:r>
            <a:r>
              <a:rPr lang="en-US" dirty="0"/>
              <a:t>, the institutions in which they work or live, and the researcher’s own life.</a:t>
            </a:r>
            <a:endParaRPr lang="en-GB" dirty="0"/>
          </a:p>
        </p:txBody>
      </p:sp>
      <p:sp>
        <p:nvSpPr>
          <p:cNvPr id="6" name="TextBox 5">
            <a:extLst>
              <a:ext uri="{FF2B5EF4-FFF2-40B4-BE49-F238E27FC236}">
                <a16:creationId xmlns:a16="http://schemas.microsoft.com/office/drawing/2014/main" id="{80BEB8EF-EBD3-8ADC-9817-5FC96F41713B}"/>
              </a:ext>
            </a:extLst>
          </p:cNvPr>
          <p:cNvSpPr txBox="1"/>
          <p:nvPr/>
        </p:nvSpPr>
        <p:spPr>
          <a:xfrm>
            <a:off x="6762477" y="4500155"/>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4.</a:t>
            </a:r>
            <a:endParaRPr lang="en-GB" sz="3200" b="1" noProof="0" dirty="0">
              <a:solidFill>
                <a:srgbClr val="FF0000"/>
              </a:solidFill>
              <a:latin typeface="Aptos Black" panose="020B0004020202020204" pitchFamily="34" charset="0"/>
            </a:endParaRPr>
          </a:p>
        </p:txBody>
      </p:sp>
      <p:sp>
        <p:nvSpPr>
          <p:cNvPr id="7" name="TextBox 6">
            <a:extLst>
              <a:ext uri="{FF2B5EF4-FFF2-40B4-BE49-F238E27FC236}">
                <a16:creationId xmlns:a16="http://schemas.microsoft.com/office/drawing/2014/main" id="{80CFB160-F821-1BBE-A6C3-89674201C530}"/>
              </a:ext>
            </a:extLst>
          </p:cNvPr>
          <p:cNvSpPr txBox="1"/>
          <p:nvPr/>
        </p:nvSpPr>
        <p:spPr>
          <a:xfrm>
            <a:off x="7325999" y="4646468"/>
            <a:ext cx="1593605" cy="297517"/>
          </a:xfrm>
          <a:prstGeom prst="rect">
            <a:avLst/>
          </a:prstGeom>
          <a:noFill/>
        </p:spPr>
        <p:txBody>
          <a:bodyPr wrap="square">
            <a:spAutoFit/>
          </a:bodyPr>
          <a:lstStyle/>
          <a:p>
            <a:pPr>
              <a:lnSpc>
                <a:spcPts val="1600"/>
              </a:lnSpc>
            </a:pPr>
            <a:r>
              <a:rPr lang="en-GB" sz="1400" b="1" noProof="0" dirty="0"/>
              <a:t>Collaborative</a:t>
            </a:r>
            <a:endParaRPr lang="en-GB" sz="1400" b="1" noProof="0" dirty="0">
              <a:solidFill>
                <a:schemeClr val="accent5"/>
              </a:solidFill>
              <a:latin typeface="Corbel" panose="020B0503020204020204" pitchFamily="34" charset="0"/>
            </a:endParaRPr>
          </a:p>
        </p:txBody>
      </p:sp>
      <p:sp>
        <p:nvSpPr>
          <p:cNvPr id="8" name="TextBox 7">
            <a:extLst>
              <a:ext uri="{FF2B5EF4-FFF2-40B4-BE49-F238E27FC236}">
                <a16:creationId xmlns:a16="http://schemas.microsoft.com/office/drawing/2014/main" id="{892994FE-7C20-B93C-9D6D-12B07720AD02}"/>
              </a:ext>
            </a:extLst>
          </p:cNvPr>
          <p:cNvSpPr txBox="1"/>
          <p:nvPr/>
        </p:nvSpPr>
        <p:spPr>
          <a:xfrm>
            <a:off x="6762540" y="5060003"/>
            <a:ext cx="4458096" cy="830997"/>
          </a:xfrm>
          <a:prstGeom prst="rect">
            <a:avLst/>
          </a:prstGeom>
          <a:noFill/>
        </p:spPr>
        <p:txBody>
          <a:bodyPr wrap="square">
            <a:spAutoFit/>
          </a:bodyPr>
          <a:lstStyle>
            <a:defPPr>
              <a:defRPr lang="en-US"/>
            </a:defPPr>
            <a:lvl1pPr>
              <a:defRPr sz="1200">
                <a:solidFill>
                  <a:schemeClr val="bg1">
                    <a:lumMod val="65000"/>
                  </a:schemeClr>
                </a:solidFill>
                <a:latin typeface="Aptos Light" panose="020B0004020202020204" pitchFamily="34" charset="0"/>
              </a:defRPr>
            </a:lvl1pPr>
          </a:lstStyle>
          <a:p>
            <a:r>
              <a:rPr lang="en-US" b="1" dirty="0">
                <a:solidFill>
                  <a:schemeClr val="tx1"/>
                </a:solidFill>
                <a:highlight>
                  <a:srgbClr val="FFC000"/>
                </a:highlight>
              </a:rPr>
              <a:t>It assumes that the researcher will work collaboratively so as not to further </a:t>
            </a:r>
            <a:r>
              <a:rPr lang="en-US" b="1" dirty="0" err="1">
                <a:solidFill>
                  <a:schemeClr val="tx1"/>
                </a:solidFill>
                <a:highlight>
                  <a:srgbClr val="FFC000"/>
                </a:highlight>
              </a:rPr>
              <a:t>marginalise</a:t>
            </a:r>
            <a:r>
              <a:rPr lang="en-US" b="1" dirty="0">
                <a:solidFill>
                  <a:schemeClr val="tx1"/>
                </a:solidFill>
                <a:highlight>
                  <a:srgbClr val="FFC000"/>
                </a:highlight>
              </a:rPr>
              <a:t> participants</a:t>
            </a:r>
            <a:r>
              <a:rPr lang="en-US" dirty="0"/>
              <a:t>. Participants may help design questions, collect data, </a:t>
            </a:r>
            <a:r>
              <a:rPr lang="en-US" dirty="0" err="1"/>
              <a:t>analyse</a:t>
            </a:r>
            <a:r>
              <a:rPr lang="en-US" dirty="0"/>
              <a:t> information, or share in the benefits of the research.</a:t>
            </a:r>
            <a:endParaRPr lang="en-GB" dirty="0"/>
          </a:p>
        </p:txBody>
      </p:sp>
      <p:sp>
        <p:nvSpPr>
          <p:cNvPr id="3" name="Título 1">
            <a:extLst>
              <a:ext uri="{FF2B5EF4-FFF2-40B4-BE49-F238E27FC236}">
                <a16:creationId xmlns:a16="http://schemas.microsoft.com/office/drawing/2014/main" id="{90C65145-D720-D9C2-0587-95BB7E603AC7}"/>
              </a:ext>
            </a:extLst>
          </p:cNvPr>
          <p:cNvSpPr txBox="1">
            <a:spLocks/>
          </p:cNvSpPr>
          <p:nvPr/>
        </p:nvSpPr>
        <p:spPr>
          <a:xfrm>
            <a:off x="891591" y="501650"/>
            <a:ext cx="4082192" cy="61312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4 World views</a:t>
            </a:r>
          </a:p>
        </p:txBody>
      </p:sp>
      <p:sp>
        <p:nvSpPr>
          <p:cNvPr id="5" name="Footer Placeholder 4">
            <a:extLst>
              <a:ext uri="{FF2B5EF4-FFF2-40B4-BE49-F238E27FC236}">
                <a16:creationId xmlns:a16="http://schemas.microsoft.com/office/drawing/2014/main" id="{04EC64F1-56DB-A1AB-D53E-B081921F69CD}"/>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1486209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p:tgtEl>
                                          <p:spTgt spid="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20" grpId="0"/>
      <p:bldP spid="23" grpId="0"/>
      <p:bldP spid="29" grpId="0"/>
      <p:bldP spid="31" grpId="0"/>
      <p:bldP spid="32" grpId="0"/>
      <p:bldP spid="34" grpId="0"/>
      <p:bldP spid="6" grpId="0"/>
      <p:bldP spid="7"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A4700-AA04-0340-5F58-41EE584E0F9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A1D1B76-C296-CD29-7FAA-3D003765D0C9}"/>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sp>
        <p:nvSpPr>
          <p:cNvPr id="9" name="Slide Number Placeholder 2">
            <a:extLst>
              <a:ext uri="{FF2B5EF4-FFF2-40B4-BE49-F238E27FC236}">
                <a16:creationId xmlns:a16="http://schemas.microsoft.com/office/drawing/2014/main" id="{EDFFA9BF-142F-8405-7DB4-7957240B6887}"/>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tx1">
                    <a:lumMod val="50000"/>
                    <a:lumOff val="50000"/>
                  </a:schemeClr>
                </a:solidFill>
              </a:rPr>
              <a:t>39</a:t>
            </a:fld>
            <a:endParaRPr lang="en-GB" noProof="0" dirty="0">
              <a:solidFill>
                <a:schemeClr val="tx1">
                  <a:lumMod val="50000"/>
                  <a:lumOff val="50000"/>
                </a:schemeClr>
              </a:solidFill>
            </a:endParaRPr>
          </a:p>
        </p:txBody>
      </p:sp>
      <p:sp>
        <p:nvSpPr>
          <p:cNvPr id="11" name="Date Placeholder 3">
            <a:extLst>
              <a:ext uri="{FF2B5EF4-FFF2-40B4-BE49-F238E27FC236}">
                <a16:creationId xmlns:a16="http://schemas.microsoft.com/office/drawing/2014/main" id="{5A6A1469-6A9A-0EB2-8B76-D060D998E435}"/>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6E845D0-70B0-405D-A6BF-798C9CBE9027}" type="datetime1">
              <a:rPr lang="en-GB" noProof="0" smtClean="0">
                <a:solidFill>
                  <a:schemeClr val="tx1">
                    <a:lumMod val="50000"/>
                    <a:lumOff val="50000"/>
                  </a:schemeClr>
                </a:solidFill>
              </a:rPr>
              <a:pPr/>
              <a:t>27/03/2026</a:t>
            </a:fld>
            <a:endParaRPr lang="en-GB" noProof="0" dirty="0">
              <a:solidFill>
                <a:schemeClr val="tx1">
                  <a:lumMod val="50000"/>
                  <a:lumOff val="50000"/>
                </a:schemeClr>
              </a:solidFill>
            </a:endParaRPr>
          </a:p>
        </p:txBody>
      </p:sp>
      <p:sp>
        <p:nvSpPr>
          <p:cNvPr id="15" name="TextBox 14">
            <a:extLst>
              <a:ext uri="{FF2B5EF4-FFF2-40B4-BE49-F238E27FC236}">
                <a16:creationId xmlns:a16="http://schemas.microsoft.com/office/drawing/2014/main" id="{5959A7D9-247D-D3E5-5A62-DF9F2BE13731}"/>
              </a:ext>
            </a:extLst>
          </p:cNvPr>
          <p:cNvSpPr txBox="1"/>
          <p:nvPr/>
        </p:nvSpPr>
        <p:spPr>
          <a:xfrm>
            <a:off x="974716" y="1470709"/>
            <a:ext cx="5845185" cy="461665"/>
          </a:xfrm>
          <a:prstGeom prst="rect">
            <a:avLst/>
          </a:prstGeom>
          <a:noFill/>
        </p:spPr>
        <p:txBody>
          <a:bodyPr wrap="square">
            <a:spAutoFit/>
          </a:bodyPr>
          <a:lstStyle/>
          <a:p>
            <a:r>
              <a:rPr lang="en-GB" sz="2400" b="1" noProof="0" dirty="0"/>
              <a:t>Pragmatism</a:t>
            </a:r>
            <a:endParaRPr lang="en-GB" sz="2400" b="1" noProof="0" dirty="0">
              <a:latin typeface="Corbel" panose="020B0503020204020204" pitchFamily="34" charset="0"/>
            </a:endParaRPr>
          </a:p>
        </p:txBody>
      </p:sp>
      <p:sp>
        <p:nvSpPr>
          <p:cNvPr id="2" name="TextBox 1">
            <a:extLst>
              <a:ext uri="{FF2B5EF4-FFF2-40B4-BE49-F238E27FC236}">
                <a16:creationId xmlns:a16="http://schemas.microsoft.com/office/drawing/2014/main" id="{4E880A0D-5FFA-56D7-4E34-245D527E5652}"/>
              </a:ext>
            </a:extLst>
          </p:cNvPr>
          <p:cNvSpPr txBox="1"/>
          <p:nvPr/>
        </p:nvSpPr>
        <p:spPr>
          <a:xfrm>
            <a:off x="974717" y="1974536"/>
            <a:ext cx="10339606" cy="646331"/>
          </a:xfrm>
          <a:prstGeom prst="rect">
            <a:avLst/>
          </a:prstGeom>
          <a:noFill/>
        </p:spPr>
        <p:txBody>
          <a:bodyPr wrap="square">
            <a:spAutoFit/>
          </a:bodyPr>
          <a:lstStyle/>
          <a:p>
            <a:r>
              <a:rPr lang="en-US" dirty="0"/>
              <a:t>Pragmatism emerges from actions, situations, and consequences rather than from antecedent conditions (or theories).</a:t>
            </a:r>
            <a:endParaRPr lang="en-GB" noProof="0" dirty="0"/>
          </a:p>
        </p:txBody>
      </p:sp>
      <p:sp>
        <p:nvSpPr>
          <p:cNvPr id="12" name="TextBox 11">
            <a:extLst>
              <a:ext uri="{FF2B5EF4-FFF2-40B4-BE49-F238E27FC236}">
                <a16:creationId xmlns:a16="http://schemas.microsoft.com/office/drawing/2014/main" id="{ABD3ACC7-56EE-A024-EFE9-F0AB7F755871}"/>
              </a:ext>
            </a:extLst>
          </p:cNvPr>
          <p:cNvSpPr txBox="1"/>
          <p:nvPr/>
        </p:nvSpPr>
        <p:spPr>
          <a:xfrm>
            <a:off x="1525564" y="2938622"/>
            <a:ext cx="593674" cy="584775"/>
          </a:xfrm>
          <a:prstGeom prst="rect">
            <a:avLst/>
          </a:prstGeom>
          <a:noFill/>
        </p:spPr>
        <p:txBody>
          <a:bodyPr wrap="square">
            <a:spAutoFit/>
          </a:bodyPr>
          <a:lstStyle/>
          <a:p>
            <a:r>
              <a:rPr lang="en-GB" sz="3200" noProof="0" dirty="0">
                <a:solidFill>
                  <a:srgbClr val="FF0000"/>
                </a:solidFill>
                <a:latin typeface="Aptos Black" panose="020B0004020202020204" pitchFamily="34" charset="0"/>
              </a:rPr>
              <a:t>1.</a:t>
            </a:r>
            <a:endParaRPr lang="en-GB" sz="3200" b="1" noProof="0" dirty="0">
              <a:solidFill>
                <a:srgbClr val="FF0000"/>
              </a:solidFill>
              <a:latin typeface="Aptos Black" panose="020B0004020202020204" pitchFamily="34" charset="0"/>
            </a:endParaRPr>
          </a:p>
        </p:txBody>
      </p:sp>
      <p:sp>
        <p:nvSpPr>
          <p:cNvPr id="18" name="TextBox 17">
            <a:extLst>
              <a:ext uri="{FF2B5EF4-FFF2-40B4-BE49-F238E27FC236}">
                <a16:creationId xmlns:a16="http://schemas.microsoft.com/office/drawing/2014/main" id="{844DF8D7-FA82-7F0E-5B35-559207241D3F}"/>
              </a:ext>
            </a:extLst>
          </p:cNvPr>
          <p:cNvSpPr txBox="1"/>
          <p:nvPr/>
        </p:nvSpPr>
        <p:spPr>
          <a:xfrm>
            <a:off x="2089085" y="3069788"/>
            <a:ext cx="4829508" cy="297517"/>
          </a:xfrm>
          <a:prstGeom prst="rect">
            <a:avLst/>
          </a:prstGeom>
          <a:noFill/>
        </p:spPr>
        <p:txBody>
          <a:bodyPr wrap="square">
            <a:spAutoFit/>
          </a:bodyPr>
          <a:lstStyle/>
          <a:p>
            <a:pPr>
              <a:lnSpc>
                <a:spcPts val="1600"/>
              </a:lnSpc>
            </a:pPr>
            <a:r>
              <a:rPr lang="en-US" sz="1400" b="1" dirty="0"/>
              <a:t>Focus on problems and methodological pluralism</a:t>
            </a:r>
            <a:endParaRPr lang="en-GB" sz="1400" b="1" noProof="0" dirty="0">
              <a:solidFill>
                <a:schemeClr val="accent5"/>
              </a:solidFill>
              <a:latin typeface="Corbel" panose="020B0503020204020204" pitchFamily="34" charset="0"/>
            </a:endParaRPr>
          </a:p>
        </p:txBody>
      </p:sp>
      <p:sp>
        <p:nvSpPr>
          <p:cNvPr id="19" name="TextBox 18">
            <a:extLst>
              <a:ext uri="{FF2B5EF4-FFF2-40B4-BE49-F238E27FC236}">
                <a16:creationId xmlns:a16="http://schemas.microsoft.com/office/drawing/2014/main" id="{BFC4FC2C-B873-7DAD-37E8-F1219E8C12C2}"/>
              </a:ext>
            </a:extLst>
          </p:cNvPr>
          <p:cNvSpPr txBox="1"/>
          <p:nvPr/>
        </p:nvSpPr>
        <p:spPr>
          <a:xfrm>
            <a:off x="1525627" y="3498470"/>
            <a:ext cx="6383933" cy="1754326"/>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b="1" dirty="0">
                <a:solidFill>
                  <a:schemeClr val="tx1"/>
                </a:solidFill>
                <a:highlight>
                  <a:srgbClr val="FFC000"/>
                </a:highlight>
                <a:latin typeface="Aptos Light" panose="020B0004020202020204" pitchFamily="34" charset="0"/>
              </a:rPr>
              <a:t>There is an emphasis on applications, on what works,  and on finding solutions to practical problems</a:t>
            </a:r>
            <a:endParaRPr lang="en-US" sz="1200" dirty="0">
              <a:highlight>
                <a:srgbClr val="FFC000"/>
              </a:highlight>
              <a:latin typeface="Aptos Light" panose="020B0004020202020204" pitchFamily="34" charset="0"/>
            </a:endParaRPr>
          </a:p>
          <a:p>
            <a:endParaRPr lang="en-US" sz="1200" dirty="0">
              <a:latin typeface="Aptos Light" panose="020B0004020202020204" pitchFamily="34" charset="0"/>
            </a:endParaRPr>
          </a:p>
          <a:p>
            <a:r>
              <a:rPr lang="en-US" sz="1200" dirty="0">
                <a:latin typeface="Aptos Light" panose="020B0004020202020204" pitchFamily="34" charset="0"/>
              </a:rPr>
              <a:t>Instead of prioritizing specific methods, researchers place the research problem and questions at the </a:t>
            </a:r>
            <a:r>
              <a:rPr lang="en-US" sz="1200" dirty="0" err="1">
                <a:latin typeface="Aptos Light" panose="020B0004020202020204" pitchFamily="34" charset="0"/>
              </a:rPr>
              <a:t>centre</a:t>
            </a:r>
            <a:r>
              <a:rPr lang="en-US" sz="1200" dirty="0">
                <a:latin typeface="Aptos Light" panose="020B0004020202020204" pitchFamily="34" charset="0"/>
              </a:rPr>
              <a:t> and use any available approaches to understand that problem.</a:t>
            </a:r>
          </a:p>
          <a:p>
            <a:endParaRPr lang="en-GB" sz="1200" b="1" noProof="0" dirty="0">
              <a:solidFill>
                <a:srgbClr val="DF102C"/>
              </a:solidFill>
              <a:latin typeface="Aptos Light" panose="020B0004020202020204" pitchFamily="34" charset="0"/>
            </a:endParaRPr>
          </a:p>
          <a:p>
            <a:pPr marL="171450" indent="-171450">
              <a:buFont typeface="Arial" panose="020B0604020202020204" pitchFamily="34" charset="0"/>
              <a:buChar char="•"/>
            </a:pPr>
            <a:r>
              <a:rPr lang="en-US" sz="1200" dirty="0">
                <a:latin typeface="Aptos Light" panose="020B0004020202020204" pitchFamily="34" charset="0"/>
              </a:rPr>
              <a:t>In other words, this worldview </a:t>
            </a:r>
            <a:r>
              <a:rPr lang="en-US" sz="1200" b="1" dirty="0">
                <a:solidFill>
                  <a:schemeClr val="tx1"/>
                </a:solidFill>
                <a:highlight>
                  <a:srgbClr val="FFC000"/>
                </a:highlight>
                <a:latin typeface="Aptos Light" panose="020B0004020202020204" pitchFamily="34" charset="0"/>
              </a:rPr>
              <a:t>directs attention to the research problem itself within social science research, and then encourages the use of pluralistic approaches</a:t>
            </a:r>
            <a:r>
              <a:rPr lang="en-US" sz="1200" dirty="0">
                <a:latin typeface="Aptos Light" panose="020B0004020202020204" pitchFamily="34" charset="0"/>
              </a:rPr>
              <a:t> to collect data that best illuminate it</a:t>
            </a:r>
            <a:endParaRPr lang="en-GB" sz="1200" dirty="0">
              <a:latin typeface="Aptos Light" panose="020B0004020202020204" pitchFamily="34" charset="0"/>
            </a:endParaRPr>
          </a:p>
        </p:txBody>
      </p:sp>
      <p:sp>
        <p:nvSpPr>
          <p:cNvPr id="3" name="Título 1">
            <a:extLst>
              <a:ext uri="{FF2B5EF4-FFF2-40B4-BE49-F238E27FC236}">
                <a16:creationId xmlns:a16="http://schemas.microsoft.com/office/drawing/2014/main" id="{5748ABE9-08D3-E32D-214A-FB54C94EF8DD}"/>
              </a:ext>
            </a:extLst>
          </p:cNvPr>
          <p:cNvSpPr txBox="1">
            <a:spLocks/>
          </p:cNvSpPr>
          <p:nvPr/>
        </p:nvSpPr>
        <p:spPr>
          <a:xfrm>
            <a:off x="891591" y="501650"/>
            <a:ext cx="4082192" cy="61312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noProof="0" dirty="0">
                <a:solidFill>
                  <a:srgbClr val="FF0000"/>
                </a:solidFill>
                <a:latin typeface="Aptos SemiBold" panose="020F0502020204030204" pitchFamily="34" charset="0"/>
              </a:rPr>
              <a:t>4 World views</a:t>
            </a:r>
          </a:p>
        </p:txBody>
      </p:sp>
    </p:spTree>
    <p:extLst>
      <p:ext uri="{BB962C8B-B14F-4D97-AF65-F5344CB8AC3E}">
        <p14:creationId xmlns:p14="http://schemas.microsoft.com/office/powerpoint/2010/main" val="1492562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p:bldP spid="19"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4581D494-4CE4-CF03-B7A5-FDF054378FC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D311F70-F655-644D-E97C-2416BFCE8405}"/>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F66B9AC5-157A-28C5-1711-1A2285B7A07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7" name="TextBox 6">
            <a:extLst>
              <a:ext uri="{FF2B5EF4-FFF2-40B4-BE49-F238E27FC236}">
                <a16:creationId xmlns:a16="http://schemas.microsoft.com/office/drawing/2014/main" id="{00F5C820-AD99-C036-5095-BFA70DAB2CB2}"/>
              </a:ext>
            </a:extLst>
          </p:cNvPr>
          <p:cNvSpPr txBox="1"/>
          <p:nvPr/>
        </p:nvSpPr>
        <p:spPr>
          <a:xfrm>
            <a:off x="2274530" y="2092562"/>
            <a:ext cx="1817868" cy="502702"/>
          </a:xfrm>
          <a:prstGeom prst="rect">
            <a:avLst/>
          </a:prstGeom>
          <a:noFill/>
        </p:spPr>
        <p:txBody>
          <a:bodyPr wrap="square">
            <a:spAutoFit/>
          </a:bodyPr>
          <a:lstStyle/>
          <a:p>
            <a:pPr marL="0" marR="0" lvl="0" indent="0" algn="ctr" defTabSz="914400" rtl="0" eaLnBrk="1" fontAlgn="auto" latinLnBrk="0" hangingPunct="1">
              <a:lnSpc>
                <a:spcPts val="16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Corbel" panose="020B0503020204020204" pitchFamily="34" charset="0"/>
                <a:ea typeface="+mn-ea"/>
                <a:cs typeface="+mn-cs"/>
              </a:rPr>
              <a:t>Philosophical assumptions </a:t>
            </a:r>
          </a:p>
        </p:txBody>
      </p:sp>
      <p:sp>
        <p:nvSpPr>
          <p:cNvPr id="8" name="TextBox 7">
            <a:extLst>
              <a:ext uri="{FF2B5EF4-FFF2-40B4-BE49-F238E27FC236}">
                <a16:creationId xmlns:a16="http://schemas.microsoft.com/office/drawing/2014/main" id="{43333854-6BD9-940F-6BCE-47E4DDDEAABC}"/>
              </a:ext>
            </a:extLst>
          </p:cNvPr>
          <p:cNvSpPr txBox="1"/>
          <p:nvPr/>
        </p:nvSpPr>
        <p:spPr>
          <a:xfrm>
            <a:off x="7584829" y="2071146"/>
            <a:ext cx="1593605" cy="545534"/>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Aptos" panose="020B0004020202020204"/>
                <a:ea typeface="+mn-ea"/>
                <a:cs typeface="+mn-cs"/>
              </a:rPr>
              <a:t>Research designs </a:t>
            </a:r>
          </a:p>
        </p:txBody>
      </p:sp>
      <p:sp>
        <p:nvSpPr>
          <p:cNvPr id="10" name="TextBox 9">
            <a:extLst>
              <a:ext uri="{FF2B5EF4-FFF2-40B4-BE49-F238E27FC236}">
                <a16:creationId xmlns:a16="http://schemas.microsoft.com/office/drawing/2014/main" id="{503EA17C-C66F-E1BB-41EA-3E8FA6CEF684}"/>
              </a:ext>
            </a:extLst>
          </p:cNvPr>
          <p:cNvSpPr txBox="1"/>
          <p:nvPr/>
        </p:nvSpPr>
        <p:spPr>
          <a:xfrm>
            <a:off x="4764881" y="4397686"/>
            <a:ext cx="1935004" cy="776879"/>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ptos" panose="020B0004020202020204"/>
                <a:ea typeface="+mn-ea"/>
                <a:cs typeface="+mn-cs"/>
              </a:rPr>
              <a:t>Methods for data collection, analysis, and interpretation </a:t>
            </a:r>
          </a:p>
        </p:txBody>
      </p:sp>
      <p:cxnSp>
        <p:nvCxnSpPr>
          <p:cNvPr id="12" name="Straight Arrow Connector 11">
            <a:extLst>
              <a:ext uri="{FF2B5EF4-FFF2-40B4-BE49-F238E27FC236}">
                <a16:creationId xmlns:a16="http://schemas.microsoft.com/office/drawing/2014/main" id="{A90B052B-88A2-FF8C-CB13-21159582FFA8}"/>
              </a:ext>
            </a:extLst>
          </p:cNvPr>
          <p:cNvCxnSpPr>
            <a:cxnSpLocks/>
            <a:stCxn id="7" idx="2"/>
            <a:endCxn id="10" idx="1"/>
          </p:cNvCxnSpPr>
          <p:nvPr/>
        </p:nvCxnSpPr>
        <p:spPr>
          <a:xfrm>
            <a:off x="3183464" y="2595264"/>
            <a:ext cx="1581417" cy="2190862"/>
          </a:xfrm>
          <a:prstGeom prst="straightConnector1">
            <a:avLst/>
          </a:prstGeom>
          <a:ln>
            <a:solidFill>
              <a:schemeClr val="bg1">
                <a:lumMod val="95000"/>
              </a:schemeClr>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02D7A8C-246B-8074-6848-C9B63A6AD20F}"/>
              </a:ext>
            </a:extLst>
          </p:cNvPr>
          <p:cNvSpPr txBox="1"/>
          <p:nvPr/>
        </p:nvSpPr>
        <p:spPr>
          <a:xfrm>
            <a:off x="2329205" y="2699428"/>
            <a:ext cx="1198955" cy="769441"/>
          </a:xfrm>
          <a:prstGeom prst="rect">
            <a:avLst/>
          </a:prstGeom>
          <a:noFill/>
        </p:spPr>
        <p:txBody>
          <a:bodyPr wrap="square">
            <a:spAutoFit/>
          </a:bodyPr>
          <a:lstStyle>
            <a:defPPr>
              <a:defRPr lang="en-US"/>
            </a:defPPr>
            <a:lvl1pPr>
              <a:defRPr>
                <a:solidFill>
                  <a:schemeClr val="bg1">
                    <a:lumMod val="6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00"/>
                </a:solidFill>
                <a:effectLst/>
                <a:uLnTx/>
                <a:uFillTx/>
                <a:latin typeface="Aptos" panose="020B0004020202020204"/>
                <a:ea typeface="+mn-ea"/>
                <a:cs typeface="+mn-cs"/>
              </a:rPr>
              <a:t>Positivist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00"/>
                </a:solidFill>
                <a:effectLst/>
                <a:uLnTx/>
                <a:uFillTx/>
                <a:latin typeface="Aptos" panose="020B0004020202020204"/>
                <a:ea typeface="+mn-ea"/>
                <a:cs typeface="+mn-cs"/>
              </a:rPr>
              <a:t>Constructivist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00"/>
                </a:solidFill>
                <a:effectLst/>
                <a:uLnTx/>
                <a:uFillTx/>
                <a:latin typeface="Aptos" panose="020B0004020202020204"/>
                <a:ea typeface="+mn-ea"/>
                <a:cs typeface="+mn-cs"/>
              </a:rPr>
              <a:t>Transformative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00"/>
                </a:solidFill>
                <a:effectLst/>
                <a:uLnTx/>
                <a:uFillTx/>
                <a:latin typeface="Aptos" panose="020B0004020202020204"/>
                <a:ea typeface="+mn-ea"/>
                <a:cs typeface="+mn-cs"/>
              </a:rPr>
              <a:t>Pragmatic</a:t>
            </a:r>
          </a:p>
        </p:txBody>
      </p:sp>
      <p:sp>
        <p:nvSpPr>
          <p:cNvPr id="18" name="TextBox 17">
            <a:extLst>
              <a:ext uri="{FF2B5EF4-FFF2-40B4-BE49-F238E27FC236}">
                <a16:creationId xmlns:a16="http://schemas.microsoft.com/office/drawing/2014/main" id="{E7C8F992-126A-935A-6981-AED65A46CC19}"/>
              </a:ext>
            </a:extLst>
          </p:cNvPr>
          <p:cNvSpPr txBox="1"/>
          <p:nvPr/>
        </p:nvSpPr>
        <p:spPr>
          <a:xfrm>
            <a:off x="4891725" y="5186523"/>
            <a:ext cx="1823400" cy="938719"/>
          </a:xfrm>
          <a:prstGeom prst="rect">
            <a:avLst/>
          </a:prstGeom>
          <a:noFill/>
        </p:spPr>
        <p:txBody>
          <a:bodyPr wrap="square">
            <a:spAutoFit/>
          </a:bodyPr>
          <a:lstStyle>
            <a:defPPr>
              <a:defRPr lang="en-US"/>
            </a:defPPr>
            <a:lvl1pPr>
              <a:defRPr>
                <a:solidFill>
                  <a:schemeClr val="bg1">
                    <a:lumMod val="6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00"/>
                </a:solidFill>
                <a:effectLst/>
                <a:uLnTx/>
                <a:uFillTx/>
                <a:latin typeface="Aptos" panose="020B0004020202020204"/>
                <a:ea typeface="+mn-ea"/>
                <a:cs typeface="+mn-cs"/>
              </a:rPr>
              <a:t>Questions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00"/>
                </a:solidFill>
                <a:effectLst/>
                <a:uLnTx/>
                <a:uFillTx/>
                <a:latin typeface="Aptos" panose="020B0004020202020204"/>
                <a:ea typeface="+mn-ea"/>
                <a:cs typeface="+mn-cs"/>
              </a:rPr>
              <a:t>Data Collection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00"/>
                </a:solidFill>
                <a:effectLst/>
                <a:uLnTx/>
                <a:uFillTx/>
                <a:latin typeface="Aptos" panose="020B0004020202020204"/>
                <a:ea typeface="+mn-ea"/>
                <a:cs typeface="+mn-cs"/>
              </a:rPr>
              <a:t>Data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00"/>
                </a:solidFill>
                <a:effectLst/>
                <a:uLnTx/>
                <a:uFillTx/>
                <a:latin typeface="Aptos" panose="020B0004020202020204"/>
                <a:ea typeface="+mn-ea"/>
                <a:cs typeface="+mn-cs"/>
              </a:rPr>
              <a:t>Interpretation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00"/>
                </a:solidFill>
                <a:effectLst/>
                <a:uLnTx/>
                <a:uFillTx/>
                <a:latin typeface="Aptos" panose="020B0004020202020204"/>
                <a:ea typeface="+mn-ea"/>
                <a:cs typeface="+mn-cs"/>
              </a:rPr>
              <a:t>Validation</a:t>
            </a:r>
          </a:p>
        </p:txBody>
      </p:sp>
      <p:cxnSp>
        <p:nvCxnSpPr>
          <p:cNvPr id="19" name="Straight Arrow Connector 18">
            <a:extLst>
              <a:ext uri="{FF2B5EF4-FFF2-40B4-BE49-F238E27FC236}">
                <a16:creationId xmlns:a16="http://schemas.microsoft.com/office/drawing/2014/main" id="{5388BC29-CACE-2478-6402-8CEE1A0B1792}"/>
              </a:ext>
            </a:extLst>
          </p:cNvPr>
          <p:cNvCxnSpPr>
            <a:cxnSpLocks/>
            <a:stCxn id="10" idx="3"/>
            <a:endCxn id="8" idx="2"/>
          </p:cNvCxnSpPr>
          <p:nvPr/>
        </p:nvCxnSpPr>
        <p:spPr>
          <a:xfrm flipV="1">
            <a:off x="6699885" y="2616680"/>
            <a:ext cx="1681747" cy="2169446"/>
          </a:xfrm>
          <a:prstGeom prst="straightConnector1">
            <a:avLst/>
          </a:prstGeom>
          <a:ln>
            <a:solidFill>
              <a:schemeClr val="bg1">
                <a:lumMod val="9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4BB4ADC-FC3B-BE03-DA7F-186B6B3CE980}"/>
              </a:ext>
            </a:extLst>
          </p:cNvPr>
          <p:cNvCxnSpPr>
            <a:cxnSpLocks/>
            <a:stCxn id="8" idx="1"/>
            <a:endCxn id="7" idx="3"/>
          </p:cNvCxnSpPr>
          <p:nvPr/>
        </p:nvCxnSpPr>
        <p:spPr>
          <a:xfrm flipH="1">
            <a:off x="4092398" y="2343913"/>
            <a:ext cx="3492431" cy="0"/>
          </a:xfrm>
          <a:prstGeom prst="straightConnector1">
            <a:avLst/>
          </a:prstGeom>
          <a:ln>
            <a:solidFill>
              <a:schemeClr val="bg1">
                <a:lumMod val="9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0B106E5B-420D-7F05-6BCB-67FA6A49CB5F}"/>
              </a:ext>
            </a:extLst>
          </p:cNvPr>
          <p:cNvSpPr txBox="1"/>
          <p:nvPr/>
        </p:nvSpPr>
        <p:spPr>
          <a:xfrm>
            <a:off x="8241363" y="2784066"/>
            <a:ext cx="1724903" cy="600164"/>
          </a:xfrm>
          <a:prstGeom prst="rect">
            <a:avLst/>
          </a:prstGeom>
          <a:noFill/>
        </p:spPr>
        <p:txBody>
          <a:bodyPr wrap="square">
            <a:spAutoFit/>
          </a:bodyPr>
          <a:lstStyle>
            <a:defPPr>
              <a:defRPr lang="en-US"/>
            </a:defPPr>
            <a:lvl1pPr>
              <a:defRPr>
                <a:solidFill>
                  <a:schemeClr val="bg1">
                    <a:lumMod val="6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00"/>
                </a:solidFill>
                <a:effectLst/>
                <a:uLnTx/>
                <a:uFillTx/>
                <a:latin typeface="Aptos" panose="020B0004020202020204"/>
                <a:ea typeface="+mn-ea"/>
                <a:cs typeface="+mn-cs"/>
              </a:rPr>
              <a:t>Quantitative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00"/>
                </a:solidFill>
                <a:effectLst/>
                <a:uLnTx/>
                <a:uFillTx/>
                <a:latin typeface="Aptos" panose="020B0004020202020204"/>
                <a:ea typeface="+mn-ea"/>
                <a:cs typeface="+mn-cs"/>
              </a:rPr>
              <a:t>Qualitative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00"/>
                </a:solidFill>
                <a:effectLst/>
                <a:uLnTx/>
                <a:uFillTx/>
                <a:latin typeface="Aptos" panose="020B0004020202020204"/>
                <a:ea typeface="+mn-ea"/>
                <a:cs typeface="+mn-cs"/>
              </a:rPr>
              <a:t>Mixed Methods</a:t>
            </a:r>
          </a:p>
        </p:txBody>
      </p:sp>
      <p:sp>
        <p:nvSpPr>
          <p:cNvPr id="31" name="TextBox 30">
            <a:extLst>
              <a:ext uri="{FF2B5EF4-FFF2-40B4-BE49-F238E27FC236}">
                <a16:creationId xmlns:a16="http://schemas.microsoft.com/office/drawing/2014/main" id="{5A8E210F-84AE-A3F7-107B-A35AA7A74E0A}"/>
              </a:ext>
            </a:extLst>
          </p:cNvPr>
          <p:cNvSpPr txBox="1"/>
          <p:nvPr/>
        </p:nvSpPr>
        <p:spPr>
          <a:xfrm>
            <a:off x="4619173" y="3022337"/>
            <a:ext cx="2223141" cy="566565"/>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FFFF00"/>
                </a:solidFill>
                <a:effectLst/>
                <a:uLnTx/>
                <a:uFillTx/>
                <a:latin typeface="Aptos" panose="020B0004020202020204"/>
                <a:ea typeface="+mn-ea"/>
                <a:cs typeface="+mn-cs"/>
              </a:rPr>
              <a:t>Approaches to research</a:t>
            </a:r>
            <a:endParaRPr kumimoji="0" lang="en-GB" sz="2000" b="1" i="0" u="none" strike="noStrike" kern="1200" cap="none" spc="0" normalizeH="0" baseline="0" noProof="0" dirty="0">
              <a:ln>
                <a:noFill/>
              </a:ln>
              <a:solidFill>
                <a:srgbClr val="FFFF00"/>
              </a:solidFill>
              <a:effectLst/>
              <a:uLnTx/>
              <a:uFillTx/>
              <a:latin typeface="Corbel" panose="020B0503020204020204" pitchFamily="34" charset="0"/>
              <a:ea typeface="+mn-ea"/>
              <a:cs typeface="+mn-cs"/>
            </a:endParaRPr>
          </a:p>
        </p:txBody>
      </p:sp>
      <p:sp>
        <p:nvSpPr>
          <p:cNvPr id="36" name="Título 1">
            <a:extLst>
              <a:ext uri="{FF2B5EF4-FFF2-40B4-BE49-F238E27FC236}">
                <a16:creationId xmlns:a16="http://schemas.microsoft.com/office/drawing/2014/main" id="{4F03EB23-7505-8B2F-AAA5-7CE0478634F9}"/>
              </a:ext>
            </a:extLst>
          </p:cNvPr>
          <p:cNvSpPr txBox="1">
            <a:spLocks/>
          </p:cNvSpPr>
          <p:nvPr/>
        </p:nvSpPr>
        <p:spPr>
          <a:xfrm>
            <a:off x="891589" y="501650"/>
            <a:ext cx="4480511"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dirty="0">
                <a:ln>
                  <a:noFill/>
                </a:ln>
                <a:solidFill>
                  <a:prstClr val="white">
                    <a:lumMod val="95000"/>
                  </a:prstClr>
                </a:solidFill>
                <a:effectLst/>
                <a:uLnTx/>
                <a:uFillTx/>
                <a:latin typeface="Aptos SemiBold" panose="020F0502020204030204" pitchFamily="34" charset="0"/>
                <a:ea typeface="+mj-ea"/>
                <a:cs typeface="+mj-cs"/>
              </a:rPr>
              <a:t>A Framework for Research</a:t>
            </a:r>
          </a:p>
        </p:txBody>
      </p:sp>
      <p:sp>
        <p:nvSpPr>
          <p:cNvPr id="2" name="Rectangle 1">
            <a:extLst>
              <a:ext uri="{FF2B5EF4-FFF2-40B4-BE49-F238E27FC236}">
                <a16:creationId xmlns:a16="http://schemas.microsoft.com/office/drawing/2014/main" id="{29F3E2C9-2FC0-399A-9E5A-6E5154B6A2F6}"/>
              </a:ext>
            </a:extLst>
          </p:cNvPr>
          <p:cNvSpPr/>
          <p:nvPr/>
        </p:nvSpPr>
        <p:spPr>
          <a:xfrm>
            <a:off x="176554" y="6355744"/>
            <a:ext cx="2531135" cy="413355"/>
          </a:xfrm>
          <a:prstGeom prst="rect">
            <a:avLst/>
          </a:prstGeom>
          <a:solidFill>
            <a:srgbClr val="EA21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142956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3" grpId="0"/>
      <p:bldP spid="18" grpId="0"/>
      <p:bldP spid="28" grpId="0"/>
      <p:bldP spid="31"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18A2D68E-B146-9221-26E9-7C5D3C66657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415040-7B46-09E8-CC75-C3BCF49E1A69}"/>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7E1E75CB-9871-65A7-AE34-4B16ABA618F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8384AE58-00BF-0D0D-B95A-649A1A279EE3}"/>
              </a:ext>
            </a:extLst>
          </p:cNvPr>
          <p:cNvSpPr txBox="1">
            <a:spLocks/>
          </p:cNvSpPr>
          <p:nvPr/>
        </p:nvSpPr>
        <p:spPr>
          <a:xfrm>
            <a:off x="891589" y="501650"/>
            <a:ext cx="4480511"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dirty="0">
                <a:ln>
                  <a:noFill/>
                </a:ln>
                <a:solidFill>
                  <a:prstClr val="white">
                    <a:lumMod val="95000"/>
                  </a:prstClr>
                </a:solidFill>
                <a:effectLst/>
                <a:uLnTx/>
                <a:uFillTx/>
                <a:latin typeface="Aptos SemiBold" panose="020F0502020204030204" pitchFamily="34" charset="0"/>
                <a:ea typeface="+mj-ea"/>
                <a:cs typeface="+mj-cs"/>
              </a:rPr>
              <a:t>Research designs </a:t>
            </a:r>
          </a:p>
        </p:txBody>
      </p:sp>
      <p:sp>
        <p:nvSpPr>
          <p:cNvPr id="23" name="Freeform: Shape 22">
            <a:extLst>
              <a:ext uri="{FF2B5EF4-FFF2-40B4-BE49-F238E27FC236}">
                <a16:creationId xmlns:a16="http://schemas.microsoft.com/office/drawing/2014/main" id="{4F6FFDD4-05B1-6843-FFEB-6A70CF7859E7}"/>
              </a:ext>
            </a:extLst>
          </p:cNvPr>
          <p:cNvSpPr/>
          <p:nvPr/>
        </p:nvSpPr>
        <p:spPr>
          <a:xfrm rot="5400000">
            <a:off x="8409892" y="1167226"/>
            <a:ext cx="2197350" cy="2203321"/>
          </a:xfrm>
          <a:custGeom>
            <a:avLst/>
            <a:gdLst>
              <a:gd name="connsiteX0" fmla="*/ 0 w 2536641"/>
              <a:gd name="connsiteY0" fmla="*/ 2543534 h 2543534"/>
              <a:gd name="connsiteX1" fmla="*/ 10335 w 2536641"/>
              <a:gd name="connsiteY1" fmla="*/ 2338864 h 2543534"/>
              <a:gd name="connsiteX2" fmla="*/ 2339230 w 2536641"/>
              <a:gd name="connsiteY2" fmla="*/ 9969 h 2543534"/>
              <a:gd name="connsiteX3" fmla="*/ 2536641 w 2536641"/>
              <a:gd name="connsiteY3" fmla="*/ 0 h 2543534"/>
              <a:gd name="connsiteX4" fmla="*/ 2536641 w 2536641"/>
              <a:gd name="connsiteY4" fmla="*/ 536908 h 2543534"/>
              <a:gd name="connsiteX5" fmla="*/ 2394126 w 2536641"/>
              <a:gd name="connsiteY5" fmla="*/ 544105 h 2543534"/>
              <a:gd name="connsiteX6" fmla="*/ 544471 w 2536641"/>
              <a:gd name="connsiteY6" fmla="*/ 2393760 h 2543534"/>
              <a:gd name="connsiteX7" fmla="*/ 536908 w 2536641"/>
              <a:gd name="connsiteY7" fmla="*/ 2543534 h 2543534"/>
              <a:gd name="connsiteX8" fmla="*/ 0 w 2536641"/>
              <a:gd name="connsiteY8" fmla="*/ 2543534 h 25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36641" h="2543534">
                <a:moveTo>
                  <a:pt x="0" y="2543534"/>
                </a:moveTo>
                <a:lnTo>
                  <a:pt x="10335" y="2338864"/>
                </a:lnTo>
                <a:cubicBezTo>
                  <a:pt x="135041" y="1110904"/>
                  <a:pt x="1111270" y="134675"/>
                  <a:pt x="2339230" y="9969"/>
                </a:cubicBezTo>
                <a:lnTo>
                  <a:pt x="2536641" y="0"/>
                </a:lnTo>
                <a:lnTo>
                  <a:pt x="2536641" y="536908"/>
                </a:lnTo>
                <a:lnTo>
                  <a:pt x="2394126" y="544105"/>
                </a:lnTo>
                <a:cubicBezTo>
                  <a:pt x="1418855" y="643149"/>
                  <a:pt x="643515" y="1418489"/>
                  <a:pt x="544471" y="2393760"/>
                </a:cubicBezTo>
                <a:lnTo>
                  <a:pt x="536908" y="2543534"/>
                </a:lnTo>
                <a:lnTo>
                  <a:pt x="0" y="2543534"/>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1" name="Freeform: Shape 20">
            <a:extLst>
              <a:ext uri="{FF2B5EF4-FFF2-40B4-BE49-F238E27FC236}">
                <a16:creationId xmlns:a16="http://schemas.microsoft.com/office/drawing/2014/main" id="{469B6F2F-C38A-155D-B7DF-FF9DF164F0C5}"/>
              </a:ext>
            </a:extLst>
          </p:cNvPr>
          <p:cNvSpPr/>
          <p:nvPr/>
        </p:nvSpPr>
        <p:spPr>
          <a:xfrm rot="5400000">
            <a:off x="6093016" y="1173831"/>
            <a:ext cx="2196715" cy="2190745"/>
          </a:xfrm>
          <a:custGeom>
            <a:avLst/>
            <a:gdLst>
              <a:gd name="connsiteX0" fmla="*/ 0 w 2535908"/>
              <a:gd name="connsiteY0" fmla="*/ 0 h 2529017"/>
              <a:gd name="connsiteX1" fmla="*/ 536908 w 2535908"/>
              <a:gd name="connsiteY1" fmla="*/ 0 h 2529017"/>
              <a:gd name="connsiteX2" fmla="*/ 543738 w 2535908"/>
              <a:gd name="connsiteY2" fmla="*/ 135257 h 2529017"/>
              <a:gd name="connsiteX3" fmla="*/ 2393393 w 2535908"/>
              <a:gd name="connsiteY3" fmla="*/ 1984912 h 2529017"/>
              <a:gd name="connsiteX4" fmla="*/ 2535908 w 2535908"/>
              <a:gd name="connsiteY4" fmla="*/ 1992109 h 2529017"/>
              <a:gd name="connsiteX5" fmla="*/ 2535908 w 2535908"/>
              <a:gd name="connsiteY5" fmla="*/ 2529017 h 2529017"/>
              <a:gd name="connsiteX6" fmla="*/ 2338497 w 2535908"/>
              <a:gd name="connsiteY6" fmla="*/ 2519048 h 2529017"/>
              <a:gd name="connsiteX7" fmla="*/ 9602 w 2535908"/>
              <a:gd name="connsiteY7" fmla="*/ 190153 h 2529017"/>
              <a:gd name="connsiteX8" fmla="*/ 0 w 2535908"/>
              <a:gd name="connsiteY8" fmla="*/ 0 h 2529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35908" h="2529017">
                <a:moveTo>
                  <a:pt x="0" y="0"/>
                </a:moveTo>
                <a:lnTo>
                  <a:pt x="536908" y="0"/>
                </a:lnTo>
                <a:lnTo>
                  <a:pt x="543738" y="135257"/>
                </a:lnTo>
                <a:cubicBezTo>
                  <a:pt x="642782" y="1110528"/>
                  <a:pt x="1418122" y="1885868"/>
                  <a:pt x="2393393" y="1984912"/>
                </a:cubicBezTo>
                <a:lnTo>
                  <a:pt x="2535908" y="1992109"/>
                </a:lnTo>
                <a:lnTo>
                  <a:pt x="2535908" y="2529017"/>
                </a:lnTo>
                <a:lnTo>
                  <a:pt x="2338497" y="2519048"/>
                </a:lnTo>
                <a:cubicBezTo>
                  <a:pt x="1110537" y="2394342"/>
                  <a:pt x="134308" y="1418113"/>
                  <a:pt x="9602" y="190153"/>
                </a:cubicBezTo>
                <a:lnTo>
                  <a:pt x="0" y="0"/>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19" name="Freeform: Shape 18">
            <a:extLst>
              <a:ext uri="{FF2B5EF4-FFF2-40B4-BE49-F238E27FC236}">
                <a16:creationId xmlns:a16="http://schemas.microsoft.com/office/drawing/2014/main" id="{45840127-E04A-90EB-C974-7F2DC8E59539}"/>
              </a:ext>
            </a:extLst>
          </p:cNvPr>
          <p:cNvSpPr/>
          <p:nvPr/>
        </p:nvSpPr>
        <p:spPr>
          <a:xfrm rot="5400000">
            <a:off x="8409892" y="1904024"/>
            <a:ext cx="1460551" cy="1466522"/>
          </a:xfrm>
          <a:custGeom>
            <a:avLst/>
            <a:gdLst>
              <a:gd name="connsiteX0" fmla="*/ 0 w 1686074"/>
              <a:gd name="connsiteY0" fmla="*/ 1692967 h 1692967"/>
              <a:gd name="connsiteX1" fmla="*/ 5943 w 1686074"/>
              <a:gd name="connsiteY1" fmla="*/ 1575263 h 1692967"/>
              <a:gd name="connsiteX2" fmla="*/ 1575629 w 1686074"/>
              <a:gd name="connsiteY2" fmla="*/ 5577 h 1692967"/>
              <a:gd name="connsiteX3" fmla="*/ 1686074 w 1686074"/>
              <a:gd name="connsiteY3" fmla="*/ 0 h 1692967"/>
              <a:gd name="connsiteX4" fmla="*/ 1686074 w 1686074"/>
              <a:gd name="connsiteY4" fmla="*/ 1692967 h 1692967"/>
              <a:gd name="connsiteX5" fmla="*/ 0 w 1686074"/>
              <a:gd name="connsiteY5" fmla="*/ 1692967 h 1692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6074" h="1692967">
                <a:moveTo>
                  <a:pt x="0" y="1692967"/>
                </a:moveTo>
                <a:lnTo>
                  <a:pt x="5943" y="1575263"/>
                </a:lnTo>
                <a:cubicBezTo>
                  <a:pt x="89996" y="747612"/>
                  <a:pt x="747978" y="89630"/>
                  <a:pt x="1575629" y="5577"/>
                </a:cubicBezTo>
                <a:lnTo>
                  <a:pt x="1686074" y="0"/>
                </a:lnTo>
                <a:lnTo>
                  <a:pt x="1686074" y="1692967"/>
                </a:lnTo>
                <a:lnTo>
                  <a:pt x="0" y="1692967"/>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wrap="square" lIns="457200" tIns="0" rIns="0" bIns="91440" rtlCol="0" anchor="ctr">
            <a:noAutofit/>
          </a:bodyPr>
          <a:lstStyle/>
          <a:p>
            <a:pPr marL="117475" indent="-117475">
              <a:buFont typeface="Arial" panose="020B0604020202020204" pitchFamily="34" charset="0"/>
              <a:buChar char="•"/>
            </a:pPr>
            <a:r>
              <a:rPr lang="en-US" sz="800" dirty="0">
                <a:solidFill>
                  <a:schemeClr val="tx1"/>
                </a:solidFill>
              </a:rPr>
              <a:t>Convergent design</a:t>
            </a:r>
          </a:p>
          <a:p>
            <a:pPr marL="117475" indent="-117475">
              <a:buFont typeface="Arial" panose="020B0604020202020204" pitchFamily="34" charset="0"/>
              <a:buChar char="•"/>
            </a:pPr>
            <a:r>
              <a:rPr lang="en-US" sz="800" dirty="0">
                <a:solidFill>
                  <a:schemeClr val="tx1"/>
                </a:solidFill>
              </a:rPr>
              <a:t>Sequential explanatory design</a:t>
            </a:r>
          </a:p>
          <a:p>
            <a:pPr marL="117475" indent="-117475">
              <a:buFont typeface="Arial" panose="020B0604020202020204" pitchFamily="34" charset="0"/>
              <a:buChar char="•"/>
            </a:pPr>
            <a:r>
              <a:rPr lang="en-US" sz="800" dirty="0">
                <a:solidFill>
                  <a:schemeClr val="tx1"/>
                </a:solidFill>
              </a:rPr>
              <a:t>Sequential exploratory design</a:t>
            </a:r>
          </a:p>
          <a:p>
            <a:pPr marL="117475" indent="-117475">
              <a:buFont typeface="Arial" panose="020B0604020202020204" pitchFamily="34" charset="0"/>
              <a:buChar char="•"/>
            </a:pPr>
            <a:r>
              <a:rPr lang="en-US" sz="800" dirty="0">
                <a:solidFill>
                  <a:schemeClr val="tx1"/>
                </a:solidFill>
              </a:rPr>
              <a:t>Embedded (nested) design</a:t>
            </a:r>
            <a:endParaRPr lang="en-GB" sz="800" noProof="0" dirty="0">
              <a:solidFill>
                <a:schemeClr val="tx1"/>
              </a:solidFill>
            </a:endParaRPr>
          </a:p>
        </p:txBody>
      </p:sp>
      <p:sp>
        <p:nvSpPr>
          <p:cNvPr id="18" name="Freeform: Shape 17">
            <a:extLst>
              <a:ext uri="{FF2B5EF4-FFF2-40B4-BE49-F238E27FC236}">
                <a16:creationId xmlns:a16="http://schemas.microsoft.com/office/drawing/2014/main" id="{54A76213-5B30-7823-35EE-A93D40F51B88}"/>
              </a:ext>
            </a:extLst>
          </p:cNvPr>
          <p:cNvSpPr/>
          <p:nvPr/>
        </p:nvSpPr>
        <p:spPr>
          <a:xfrm rot="5400000">
            <a:off x="6829814" y="1910630"/>
            <a:ext cx="1459916" cy="1453947"/>
          </a:xfrm>
          <a:custGeom>
            <a:avLst/>
            <a:gdLst>
              <a:gd name="connsiteX0" fmla="*/ 0 w 1685341"/>
              <a:gd name="connsiteY0" fmla="*/ 0 h 1678450"/>
              <a:gd name="connsiteX1" fmla="*/ 1685341 w 1685341"/>
              <a:gd name="connsiteY1" fmla="*/ 0 h 1678450"/>
              <a:gd name="connsiteX2" fmla="*/ 1685341 w 1685341"/>
              <a:gd name="connsiteY2" fmla="*/ 1678450 h 1678450"/>
              <a:gd name="connsiteX3" fmla="*/ 1574896 w 1685341"/>
              <a:gd name="connsiteY3" fmla="*/ 1672873 h 1678450"/>
              <a:gd name="connsiteX4" fmla="*/ 5210 w 1685341"/>
              <a:gd name="connsiteY4" fmla="*/ 103187 h 1678450"/>
              <a:gd name="connsiteX5" fmla="*/ 0 w 1685341"/>
              <a:gd name="connsiteY5" fmla="*/ 0 h 167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5341" h="1678450">
                <a:moveTo>
                  <a:pt x="0" y="0"/>
                </a:moveTo>
                <a:lnTo>
                  <a:pt x="1685341" y="0"/>
                </a:lnTo>
                <a:lnTo>
                  <a:pt x="1685341" y="1678450"/>
                </a:lnTo>
                <a:lnTo>
                  <a:pt x="1574896" y="1672873"/>
                </a:lnTo>
                <a:cubicBezTo>
                  <a:pt x="747245" y="1588820"/>
                  <a:pt x="89263" y="930838"/>
                  <a:pt x="5210" y="103187"/>
                </a:cubicBezTo>
                <a:lnTo>
                  <a:pt x="0" y="0"/>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wrap="square" lIns="0" tIns="0" rIns="0" bIns="457200" rtlCol="0" anchor="ctr">
            <a:noAutofit/>
          </a:bodyPr>
          <a:lstStyle/>
          <a:p>
            <a:pPr marL="57150" indent="-57150">
              <a:buFont typeface="Arial" panose="020B0604020202020204" pitchFamily="34" charset="0"/>
              <a:buChar char="•"/>
            </a:pPr>
            <a:endParaRPr lang="en-US" sz="800" dirty="0">
              <a:solidFill>
                <a:schemeClr val="tx1"/>
              </a:solidFill>
            </a:endParaRPr>
          </a:p>
          <a:p>
            <a:pPr marL="57150" indent="-57150">
              <a:buFont typeface="Arial" panose="020B0604020202020204" pitchFamily="34" charset="0"/>
              <a:buChar char="•"/>
            </a:pPr>
            <a:endParaRPr lang="en-US" sz="800" dirty="0">
              <a:solidFill>
                <a:schemeClr val="tx1"/>
              </a:solidFill>
            </a:endParaRPr>
          </a:p>
          <a:p>
            <a:pPr marL="57150" indent="-57150">
              <a:buFont typeface="Arial" panose="020B0604020202020204" pitchFamily="34" charset="0"/>
              <a:buChar char="•"/>
            </a:pPr>
            <a:r>
              <a:rPr lang="en-US" sz="800" dirty="0">
                <a:solidFill>
                  <a:schemeClr val="tx1"/>
                </a:solidFill>
              </a:rPr>
              <a:t>Experiments</a:t>
            </a:r>
          </a:p>
          <a:p>
            <a:pPr marL="57150" indent="-57150">
              <a:buFont typeface="Arial" panose="020B0604020202020204" pitchFamily="34" charset="0"/>
              <a:buChar char="•"/>
            </a:pPr>
            <a:r>
              <a:rPr lang="en-US" sz="800" dirty="0">
                <a:solidFill>
                  <a:schemeClr val="tx1"/>
                </a:solidFill>
              </a:rPr>
              <a:t>Surveys</a:t>
            </a:r>
          </a:p>
          <a:p>
            <a:pPr marL="57150" indent="-57150">
              <a:buFont typeface="Arial" panose="020B0604020202020204" pitchFamily="34" charset="0"/>
              <a:buChar char="•"/>
            </a:pPr>
            <a:r>
              <a:rPr lang="en-US" sz="800" dirty="0">
                <a:solidFill>
                  <a:schemeClr val="tx1"/>
                </a:solidFill>
              </a:rPr>
              <a:t>Single‑subject designs</a:t>
            </a:r>
          </a:p>
          <a:p>
            <a:pPr marL="57150" indent="-57150">
              <a:buFont typeface="Arial" panose="020B0604020202020204" pitchFamily="34" charset="0"/>
              <a:buChar char="•"/>
            </a:pPr>
            <a:r>
              <a:rPr lang="en-US" sz="800" dirty="0">
                <a:solidFill>
                  <a:schemeClr val="tx1"/>
                </a:solidFill>
              </a:rPr>
              <a:t>Longitudinal designs</a:t>
            </a:r>
          </a:p>
          <a:p>
            <a:pPr marL="57150" indent="-57150">
              <a:buFont typeface="Arial" panose="020B0604020202020204" pitchFamily="34" charset="0"/>
              <a:buChar char="•"/>
            </a:pPr>
            <a:r>
              <a:rPr lang="en-US" sz="800" dirty="0">
                <a:solidFill>
                  <a:schemeClr val="tx1"/>
                </a:solidFill>
              </a:rPr>
              <a:t>Descriptive methods</a:t>
            </a:r>
            <a:endParaRPr lang="en-GB" sz="800" noProof="0" dirty="0">
              <a:solidFill>
                <a:schemeClr val="tx1"/>
              </a:solidFill>
            </a:endParaRPr>
          </a:p>
        </p:txBody>
      </p:sp>
      <p:sp>
        <p:nvSpPr>
          <p:cNvPr id="12" name="Freeform: Shape 11">
            <a:extLst>
              <a:ext uri="{FF2B5EF4-FFF2-40B4-BE49-F238E27FC236}">
                <a16:creationId xmlns:a16="http://schemas.microsoft.com/office/drawing/2014/main" id="{08FAC42E-5C8A-BAA6-65AB-AA1A8CBBCB14}"/>
              </a:ext>
            </a:extLst>
          </p:cNvPr>
          <p:cNvSpPr/>
          <p:nvPr/>
        </p:nvSpPr>
        <p:spPr>
          <a:xfrm rot="5400000">
            <a:off x="7253080" y="2330642"/>
            <a:ext cx="2200067" cy="4514227"/>
          </a:xfrm>
          <a:custGeom>
            <a:avLst/>
            <a:gdLst>
              <a:gd name="connsiteX0" fmla="*/ 0 w 2539778"/>
              <a:gd name="connsiteY0" fmla="*/ 5211266 h 5211266"/>
              <a:gd name="connsiteX1" fmla="*/ 0 w 2539778"/>
              <a:gd name="connsiteY1" fmla="*/ 4674358 h 5211266"/>
              <a:gd name="connsiteX2" fmla="*/ 142516 w 2539778"/>
              <a:gd name="connsiteY2" fmla="*/ 4667161 h 5211266"/>
              <a:gd name="connsiteX3" fmla="*/ 2002870 w 2539778"/>
              <a:gd name="connsiteY3" fmla="*/ 2605633 h 5211266"/>
              <a:gd name="connsiteX4" fmla="*/ 142516 w 2539778"/>
              <a:gd name="connsiteY4" fmla="*/ 544105 h 5211266"/>
              <a:gd name="connsiteX5" fmla="*/ 0 w 2539778"/>
              <a:gd name="connsiteY5" fmla="*/ 536908 h 5211266"/>
              <a:gd name="connsiteX6" fmla="*/ 0 w 2539778"/>
              <a:gd name="connsiteY6" fmla="*/ 0 h 5211266"/>
              <a:gd name="connsiteX7" fmla="*/ 197412 w 2539778"/>
              <a:gd name="connsiteY7" fmla="*/ 9969 h 5211266"/>
              <a:gd name="connsiteX8" fmla="*/ 2539778 w 2539778"/>
              <a:gd name="connsiteY8" fmla="*/ 2605633 h 5211266"/>
              <a:gd name="connsiteX9" fmla="*/ 197412 w 2539778"/>
              <a:gd name="connsiteY9" fmla="*/ 5201297 h 5211266"/>
              <a:gd name="connsiteX10" fmla="*/ 0 w 2539778"/>
              <a:gd name="connsiteY10" fmla="*/ 5211266 h 5211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39778" h="5211266">
                <a:moveTo>
                  <a:pt x="0" y="5211266"/>
                </a:moveTo>
                <a:lnTo>
                  <a:pt x="0" y="4674358"/>
                </a:lnTo>
                <a:lnTo>
                  <a:pt x="142516" y="4667161"/>
                </a:lnTo>
                <a:cubicBezTo>
                  <a:pt x="1187449" y="4561043"/>
                  <a:pt x="2002870" y="3678564"/>
                  <a:pt x="2002870" y="2605633"/>
                </a:cubicBezTo>
                <a:cubicBezTo>
                  <a:pt x="2002870" y="1532703"/>
                  <a:pt x="1187449" y="650223"/>
                  <a:pt x="142516" y="544105"/>
                </a:cubicBezTo>
                <a:lnTo>
                  <a:pt x="0" y="536908"/>
                </a:lnTo>
                <a:lnTo>
                  <a:pt x="0" y="0"/>
                </a:lnTo>
                <a:lnTo>
                  <a:pt x="197412" y="9969"/>
                </a:lnTo>
                <a:cubicBezTo>
                  <a:pt x="1513084" y="143583"/>
                  <a:pt x="2539778" y="1254710"/>
                  <a:pt x="2539778" y="2605633"/>
                </a:cubicBezTo>
                <a:cubicBezTo>
                  <a:pt x="2539778" y="3956557"/>
                  <a:pt x="1513083" y="5067684"/>
                  <a:pt x="197412" y="5201297"/>
                </a:cubicBezTo>
                <a:lnTo>
                  <a:pt x="0" y="5211266"/>
                </a:lnTo>
                <a:close/>
              </a:path>
            </a:pathLst>
          </a:custGeom>
          <a:solidFill>
            <a:srgbClr val="F2666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11" name="Freeform: Shape 10">
            <a:extLst>
              <a:ext uri="{FF2B5EF4-FFF2-40B4-BE49-F238E27FC236}">
                <a16:creationId xmlns:a16="http://schemas.microsoft.com/office/drawing/2014/main" id="{177223FD-11C3-0EDD-F41F-89190D059FC0}"/>
              </a:ext>
            </a:extLst>
          </p:cNvPr>
          <p:cNvSpPr/>
          <p:nvPr/>
        </p:nvSpPr>
        <p:spPr>
          <a:xfrm rot="5400000">
            <a:off x="7621480" y="2699041"/>
            <a:ext cx="1463269" cy="3040630"/>
          </a:xfrm>
          <a:custGeom>
            <a:avLst/>
            <a:gdLst>
              <a:gd name="connsiteX0" fmla="*/ 0 w 1689211"/>
              <a:gd name="connsiteY0" fmla="*/ 3510132 h 3510132"/>
              <a:gd name="connsiteX1" fmla="*/ 0 w 1689211"/>
              <a:gd name="connsiteY1" fmla="*/ 0 h 3510132"/>
              <a:gd name="connsiteX2" fmla="*/ 110446 w 1689211"/>
              <a:gd name="connsiteY2" fmla="*/ 5577 h 3510132"/>
              <a:gd name="connsiteX3" fmla="*/ 1689211 w 1689211"/>
              <a:gd name="connsiteY3" fmla="*/ 1755066 h 3510132"/>
              <a:gd name="connsiteX4" fmla="*/ 110446 w 1689211"/>
              <a:gd name="connsiteY4" fmla="*/ 3504555 h 3510132"/>
              <a:gd name="connsiteX5" fmla="*/ 0 w 1689211"/>
              <a:gd name="connsiteY5" fmla="*/ 3510132 h 3510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9211" h="3510132">
                <a:moveTo>
                  <a:pt x="0" y="3510132"/>
                </a:moveTo>
                <a:lnTo>
                  <a:pt x="0" y="0"/>
                </a:lnTo>
                <a:lnTo>
                  <a:pt x="110446" y="5577"/>
                </a:lnTo>
                <a:cubicBezTo>
                  <a:pt x="997215" y="95634"/>
                  <a:pt x="1689211" y="844538"/>
                  <a:pt x="1689211" y="1755066"/>
                </a:cubicBezTo>
                <a:cubicBezTo>
                  <a:pt x="1689211" y="2665594"/>
                  <a:pt x="997214" y="3414499"/>
                  <a:pt x="110446" y="3504555"/>
                </a:cubicBezTo>
                <a:lnTo>
                  <a:pt x="0" y="3510132"/>
                </a:lnTo>
                <a:close/>
              </a:path>
            </a:pathLst>
          </a:custGeom>
          <a:solidFill>
            <a:srgbClr val="F26665"/>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wrap="square" lIns="274320" tIns="91440" rIns="548640" bIns="1097280" rtlCol="0" anchor="ctr">
            <a:noAutofit/>
          </a:bodyPr>
          <a:lstStyle/>
          <a:p>
            <a:pPr marL="117475" indent="-117475">
              <a:buFont typeface="Arial" panose="020B0604020202020204" pitchFamily="34" charset="0"/>
              <a:buChar char="•"/>
            </a:pPr>
            <a:r>
              <a:rPr lang="en-US" sz="800" dirty="0">
                <a:solidFill>
                  <a:schemeClr val="bg1"/>
                </a:solidFill>
              </a:rPr>
              <a:t>Narratives</a:t>
            </a:r>
          </a:p>
          <a:p>
            <a:pPr marL="117475" indent="-117475">
              <a:buFont typeface="Arial" panose="020B0604020202020204" pitchFamily="34" charset="0"/>
              <a:buChar char="•"/>
            </a:pPr>
            <a:r>
              <a:rPr lang="en-US" sz="800" dirty="0">
                <a:solidFill>
                  <a:schemeClr val="bg1"/>
                </a:solidFill>
              </a:rPr>
              <a:t>Phenomenology</a:t>
            </a:r>
          </a:p>
          <a:p>
            <a:pPr marL="117475" indent="-117475">
              <a:buFont typeface="Arial" panose="020B0604020202020204" pitchFamily="34" charset="0"/>
              <a:buChar char="•"/>
            </a:pPr>
            <a:r>
              <a:rPr lang="en-US" sz="800" dirty="0">
                <a:solidFill>
                  <a:schemeClr val="bg1"/>
                </a:solidFill>
              </a:rPr>
              <a:t>Ethnography</a:t>
            </a:r>
          </a:p>
          <a:p>
            <a:pPr marL="117475" indent="-117475">
              <a:buFont typeface="Arial" panose="020B0604020202020204" pitchFamily="34" charset="0"/>
              <a:buChar char="•"/>
            </a:pPr>
            <a:r>
              <a:rPr lang="en-US" sz="800" dirty="0">
                <a:solidFill>
                  <a:schemeClr val="bg1"/>
                </a:solidFill>
              </a:rPr>
              <a:t>Case studies</a:t>
            </a:r>
          </a:p>
          <a:p>
            <a:pPr marL="117475" indent="-117475">
              <a:buFont typeface="Arial" panose="020B0604020202020204" pitchFamily="34" charset="0"/>
              <a:buChar char="•"/>
            </a:pPr>
            <a:r>
              <a:rPr lang="en-US" sz="800" dirty="0">
                <a:solidFill>
                  <a:schemeClr val="bg1"/>
                </a:solidFill>
              </a:rPr>
              <a:t>Grounded theory</a:t>
            </a:r>
            <a:endParaRPr lang="en-GB" sz="800" noProof="0" dirty="0">
              <a:solidFill>
                <a:schemeClr val="bg1"/>
              </a:solidFill>
            </a:endParaRPr>
          </a:p>
        </p:txBody>
      </p:sp>
      <p:sp>
        <p:nvSpPr>
          <p:cNvPr id="41" name="TextBox 40">
            <a:extLst>
              <a:ext uri="{FF2B5EF4-FFF2-40B4-BE49-F238E27FC236}">
                <a16:creationId xmlns:a16="http://schemas.microsoft.com/office/drawing/2014/main" id="{91689CF2-06F3-DE74-B887-C22F62A8F587}"/>
              </a:ext>
            </a:extLst>
          </p:cNvPr>
          <p:cNvSpPr txBox="1"/>
          <p:nvPr/>
        </p:nvSpPr>
        <p:spPr>
          <a:xfrm rot="10800000">
            <a:off x="7585609" y="5071152"/>
            <a:ext cx="1402275" cy="377574"/>
          </a:xfrm>
          <a:prstGeom prst="rect">
            <a:avLst/>
          </a:prstGeom>
          <a:noFill/>
        </p:spPr>
        <p:txBody>
          <a:bodyPr wrap="square" rtlCol="0">
            <a:prstTxWarp prst="textArchUp">
              <a:avLst>
                <a:gd name="adj" fmla="val 10887417"/>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Aptos" panose="020B0004020202020204"/>
                <a:ea typeface="+mn-ea"/>
                <a:cs typeface="+mn-cs"/>
              </a:rPr>
              <a:t>Qualitative</a:t>
            </a:r>
          </a:p>
        </p:txBody>
      </p:sp>
      <p:sp>
        <p:nvSpPr>
          <p:cNvPr id="42" name="TextBox 41">
            <a:extLst>
              <a:ext uri="{FF2B5EF4-FFF2-40B4-BE49-F238E27FC236}">
                <a16:creationId xmlns:a16="http://schemas.microsoft.com/office/drawing/2014/main" id="{8EE9E766-24FA-105C-5C15-2CD260381FF2}"/>
              </a:ext>
            </a:extLst>
          </p:cNvPr>
          <p:cNvSpPr txBox="1"/>
          <p:nvPr/>
        </p:nvSpPr>
        <p:spPr>
          <a:xfrm rot="18576765">
            <a:off x="6323787" y="1999329"/>
            <a:ext cx="1402275" cy="377574"/>
          </a:xfrm>
          <a:prstGeom prst="rect">
            <a:avLst/>
          </a:prstGeom>
          <a:noFill/>
        </p:spPr>
        <p:txBody>
          <a:bodyPr wrap="square" rtlCol="0">
            <a:prstTxWarp prst="textArchUp">
              <a:avLst>
                <a:gd name="adj" fmla="val 10887417"/>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ptos" panose="020B0004020202020204"/>
                <a:ea typeface="+mn-ea"/>
                <a:cs typeface="+mn-cs"/>
              </a:rPr>
              <a:t>Quantitative</a:t>
            </a:r>
          </a:p>
        </p:txBody>
      </p:sp>
      <p:sp>
        <p:nvSpPr>
          <p:cNvPr id="43" name="TextBox 42">
            <a:extLst>
              <a:ext uri="{FF2B5EF4-FFF2-40B4-BE49-F238E27FC236}">
                <a16:creationId xmlns:a16="http://schemas.microsoft.com/office/drawing/2014/main" id="{31715291-A6D5-7ED5-9996-7F0C7EF3F144}"/>
              </a:ext>
            </a:extLst>
          </p:cNvPr>
          <p:cNvSpPr txBox="1"/>
          <p:nvPr/>
        </p:nvSpPr>
        <p:spPr>
          <a:xfrm rot="2739026">
            <a:off x="8947525" y="1972167"/>
            <a:ext cx="1402275" cy="377574"/>
          </a:xfrm>
          <a:prstGeom prst="rect">
            <a:avLst/>
          </a:prstGeom>
          <a:noFill/>
        </p:spPr>
        <p:txBody>
          <a:bodyPr wrap="square" rtlCol="0">
            <a:prstTxWarp prst="textArchUp">
              <a:avLst>
                <a:gd name="adj" fmla="val 10887417"/>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ptos" panose="020B0004020202020204"/>
                <a:ea typeface="+mn-ea"/>
                <a:cs typeface="+mn-cs"/>
              </a:rPr>
              <a:t>Mixed</a:t>
            </a:r>
          </a:p>
        </p:txBody>
      </p:sp>
      <p:sp>
        <p:nvSpPr>
          <p:cNvPr id="46" name="TextBox 45">
            <a:extLst>
              <a:ext uri="{FF2B5EF4-FFF2-40B4-BE49-F238E27FC236}">
                <a16:creationId xmlns:a16="http://schemas.microsoft.com/office/drawing/2014/main" id="{0B804405-1341-89B8-2427-1450250866C6}"/>
              </a:ext>
            </a:extLst>
          </p:cNvPr>
          <p:cNvSpPr txBox="1"/>
          <p:nvPr/>
        </p:nvSpPr>
        <p:spPr>
          <a:xfrm>
            <a:off x="891589" y="2083634"/>
            <a:ext cx="4319267" cy="2862322"/>
          </a:xfrm>
          <a:prstGeom prst="rect">
            <a:avLst/>
          </a:prstGeom>
          <a:noFill/>
        </p:spPr>
        <p:txBody>
          <a:bodyPr wrap="square">
            <a:spAutoFit/>
          </a:bodyPr>
          <a:lstStyle/>
          <a:p>
            <a:r>
              <a:rPr lang="en-US" noProof="0" dirty="0">
                <a:solidFill>
                  <a:schemeClr val="bg1"/>
                </a:solidFill>
              </a:rPr>
              <a:t>Within the available methods (quantitative, qualitative, and mixed methods), </a:t>
            </a:r>
            <a:r>
              <a:rPr lang="en-US" b="1" noProof="0" dirty="0">
                <a:solidFill>
                  <a:schemeClr val="bg1"/>
                </a:solidFill>
                <a:highlight>
                  <a:srgbClr val="000000"/>
                </a:highlight>
              </a:rPr>
              <a:t>YOU, as a researcher, must select the specific designs used to develop the project</a:t>
            </a:r>
            <a:r>
              <a:rPr lang="en-US" noProof="0" dirty="0">
                <a:solidFill>
                  <a:schemeClr val="bg1"/>
                </a:solidFill>
              </a:rPr>
              <a:t>.</a:t>
            </a:r>
          </a:p>
          <a:p>
            <a:endParaRPr lang="en-US" dirty="0">
              <a:solidFill>
                <a:schemeClr val="bg1"/>
              </a:solidFill>
            </a:endParaRPr>
          </a:p>
          <a:p>
            <a:r>
              <a:rPr lang="en-US" noProof="0" dirty="0">
                <a:solidFill>
                  <a:schemeClr val="bg1"/>
                </a:solidFill>
              </a:rPr>
              <a:t>Research designs are types of inquiry within methodological approaches that provide a specific direction for the procedures to be carried out in a study.</a:t>
            </a:r>
            <a:endParaRPr lang="en-GB" noProof="0" dirty="0">
              <a:solidFill>
                <a:schemeClr val="bg1"/>
              </a:solidFill>
            </a:endParaRPr>
          </a:p>
        </p:txBody>
      </p:sp>
      <p:sp>
        <p:nvSpPr>
          <p:cNvPr id="7" name="Rectangle 6">
            <a:extLst>
              <a:ext uri="{FF2B5EF4-FFF2-40B4-BE49-F238E27FC236}">
                <a16:creationId xmlns:a16="http://schemas.microsoft.com/office/drawing/2014/main" id="{4F633BFA-68CE-BD1C-CD1E-0B510A6E71A5}"/>
              </a:ext>
            </a:extLst>
          </p:cNvPr>
          <p:cNvSpPr/>
          <p:nvPr/>
        </p:nvSpPr>
        <p:spPr>
          <a:xfrm>
            <a:off x="176555" y="6356348"/>
            <a:ext cx="2574266" cy="412752"/>
          </a:xfrm>
          <a:prstGeom prst="rect">
            <a:avLst/>
          </a:prstGeom>
          <a:solidFill>
            <a:srgbClr val="EA21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3423181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5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5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1" grpId="0" animBg="1"/>
      <p:bldP spid="19" grpId="0" animBg="1"/>
      <p:bldP spid="18" grpId="0" animBg="1"/>
      <p:bldP spid="12" grpId="0" animBg="1"/>
      <p:bldP spid="11" grpId="0" animBg="1"/>
      <p:bldP spid="41" grpId="0"/>
      <p:bldP spid="42" grpId="0"/>
      <p:bldP spid="4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C80CC-B1C4-4A54-2F8F-CA4BB661EC7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42E3176-703F-2008-EC39-C880B5F62857}"/>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sp>
        <p:nvSpPr>
          <p:cNvPr id="5" name="Título 1">
            <a:extLst>
              <a:ext uri="{FF2B5EF4-FFF2-40B4-BE49-F238E27FC236}">
                <a16:creationId xmlns:a16="http://schemas.microsoft.com/office/drawing/2014/main" id="{BB72E6D8-8510-5036-4E39-4B195445A16E}"/>
              </a:ext>
            </a:extLst>
          </p:cNvPr>
          <p:cNvSpPr txBox="1">
            <a:spLocks/>
          </p:cNvSpPr>
          <p:nvPr/>
        </p:nvSpPr>
        <p:spPr>
          <a:xfrm>
            <a:off x="891591" y="501651"/>
            <a:ext cx="4082192" cy="5341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dirty="0">
                <a:solidFill>
                  <a:srgbClr val="FF0000"/>
                </a:solidFill>
                <a:latin typeface="Aptos SemiBold" panose="020F0502020204030204" pitchFamily="34" charset="0"/>
              </a:rPr>
              <a:t>Research designs </a:t>
            </a:r>
          </a:p>
        </p:txBody>
      </p:sp>
      <p:sp>
        <p:nvSpPr>
          <p:cNvPr id="9" name="Slide Number Placeholder 2">
            <a:extLst>
              <a:ext uri="{FF2B5EF4-FFF2-40B4-BE49-F238E27FC236}">
                <a16:creationId xmlns:a16="http://schemas.microsoft.com/office/drawing/2014/main" id="{2BA77873-7CED-938D-63E7-58251C2BCED1}"/>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tx1">
                    <a:lumMod val="50000"/>
                    <a:lumOff val="50000"/>
                  </a:schemeClr>
                </a:solidFill>
              </a:rPr>
              <a:t>42</a:t>
            </a:fld>
            <a:endParaRPr lang="en-GB" noProof="0" dirty="0">
              <a:solidFill>
                <a:schemeClr val="tx1">
                  <a:lumMod val="50000"/>
                  <a:lumOff val="50000"/>
                </a:schemeClr>
              </a:solidFill>
            </a:endParaRPr>
          </a:p>
        </p:txBody>
      </p:sp>
      <p:sp>
        <p:nvSpPr>
          <p:cNvPr id="11" name="Date Placeholder 3">
            <a:extLst>
              <a:ext uri="{FF2B5EF4-FFF2-40B4-BE49-F238E27FC236}">
                <a16:creationId xmlns:a16="http://schemas.microsoft.com/office/drawing/2014/main" id="{F0A923F0-A0F0-CACD-42A4-DCFA2E3F7FA4}"/>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6E845D0-70B0-405D-A6BF-798C9CBE9027}" type="datetime1">
              <a:rPr lang="en-GB" noProof="0" smtClean="0">
                <a:solidFill>
                  <a:schemeClr val="tx1">
                    <a:lumMod val="50000"/>
                    <a:lumOff val="50000"/>
                  </a:schemeClr>
                </a:solidFill>
              </a:rPr>
              <a:pPr/>
              <a:t>27/03/2026</a:t>
            </a:fld>
            <a:endParaRPr lang="en-GB" noProof="0" dirty="0">
              <a:solidFill>
                <a:schemeClr val="tx1">
                  <a:lumMod val="50000"/>
                  <a:lumOff val="50000"/>
                </a:schemeClr>
              </a:solidFill>
            </a:endParaRPr>
          </a:p>
        </p:txBody>
      </p:sp>
      <p:sp>
        <p:nvSpPr>
          <p:cNvPr id="15" name="TextBox 14">
            <a:extLst>
              <a:ext uri="{FF2B5EF4-FFF2-40B4-BE49-F238E27FC236}">
                <a16:creationId xmlns:a16="http://schemas.microsoft.com/office/drawing/2014/main" id="{B2CE39E6-EF47-45E0-4205-4FB3B1008BDF}"/>
              </a:ext>
            </a:extLst>
          </p:cNvPr>
          <p:cNvSpPr txBox="1"/>
          <p:nvPr/>
        </p:nvSpPr>
        <p:spPr>
          <a:xfrm>
            <a:off x="974716" y="1470709"/>
            <a:ext cx="5845185" cy="461665"/>
          </a:xfrm>
          <a:prstGeom prst="rect">
            <a:avLst/>
          </a:prstGeom>
          <a:noFill/>
        </p:spPr>
        <p:txBody>
          <a:bodyPr wrap="square">
            <a:spAutoFit/>
          </a:bodyPr>
          <a:lstStyle/>
          <a:p>
            <a:r>
              <a:rPr lang="en-GB" sz="2400" b="1" noProof="0" dirty="0"/>
              <a:t>Qualitative</a:t>
            </a:r>
            <a:endParaRPr lang="en-GB" sz="2400" b="1" noProof="0" dirty="0">
              <a:latin typeface="Corbel" panose="020B0503020204020204" pitchFamily="34" charset="0"/>
            </a:endParaRPr>
          </a:p>
        </p:txBody>
      </p:sp>
      <p:sp>
        <p:nvSpPr>
          <p:cNvPr id="2" name="TextBox 1">
            <a:extLst>
              <a:ext uri="{FF2B5EF4-FFF2-40B4-BE49-F238E27FC236}">
                <a16:creationId xmlns:a16="http://schemas.microsoft.com/office/drawing/2014/main" id="{0C4EB932-D512-DA10-977B-903EA9172B81}"/>
              </a:ext>
            </a:extLst>
          </p:cNvPr>
          <p:cNvSpPr txBox="1"/>
          <p:nvPr/>
        </p:nvSpPr>
        <p:spPr>
          <a:xfrm>
            <a:off x="974716" y="2082870"/>
            <a:ext cx="5016509" cy="2954655"/>
          </a:xfrm>
          <a:prstGeom prst="rect">
            <a:avLst/>
          </a:prstGeom>
          <a:noFill/>
        </p:spPr>
        <p:txBody>
          <a:bodyPr wrap="square">
            <a:spAutoFit/>
          </a:bodyPr>
          <a:lstStyle/>
          <a:p>
            <a:r>
              <a:rPr lang="en-GB" b="1" dirty="0">
                <a:solidFill>
                  <a:srgbClr val="FF0000"/>
                </a:solidFill>
              </a:rPr>
              <a:t>Descriptive Method</a:t>
            </a:r>
          </a:p>
          <a:p>
            <a:r>
              <a:rPr lang="en-US" sz="1200" b="1" dirty="0">
                <a:latin typeface="Aptos Light" panose="020B0004020202020204" pitchFamily="34" charset="0"/>
              </a:rPr>
              <a:t>Focus</a:t>
            </a:r>
            <a:r>
              <a:rPr lang="en-US" sz="1200" dirty="0">
                <a:solidFill>
                  <a:schemeClr val="bg1">
                    <a:lumMod val="65000"/>
                  </a:schemeClr>
                </a:solidFill>
                <a:latin typeface="Aptos Light" panose="020B0004020202020204" pitchFamily="34" charset="0"/>
              </a:rPr>
              <a:t>: Close analysis of data with limited frameworks or interpretations.</a:t>
            </a:r>
          </a:p>
          <a:p>
            <a:r>
              <a:rPr lang="en-US" sz="1200" b="1" dirty="0">
                <a:latin typeface="Aptos Light" panose="020B0004020202020204" pitchFamily="34" charset="0"/>
              </a:rPr>
              <a:t>Purpose</a:t>
            </a:r>
            <a:r>
              <a:rPr lang="en-US" sz="1200" dirty="0">
                <a:solidFill>
                  <a:schemeClr val="bg1">
                    <a:lumMod val="65000"/>
                  </a:schemeClr>
                </a:solidFill>
                <a:latin typeface="Aptos Light" panose="020B0004020202020204" pitchFamily="34" charset="0"/>
              </a:rPr>
              <a:t>: To </a:t>
            </a:r>
            <a:r>
              <a:rPr lang="en-US" sz="1200" b="1" dirty="0" err="1">
                <a:highlight>
                  <a:srgbClr val="FFC000"/>
                </a:highlight>
                <a:latin typeface="Aptos Light" panose="020B0004020202020204" pitchFamily="34" charset="0"/>
              </a:rPr>
              <a:t>categorise</a:t>
            </a:r>
            <a:r>
              <a:rPr lang="en-US" sz="1200" b="1" dirty="0">
                <a:highlight>
                  <a:srgbClr val="FFC000"/>
                </a:highlight>
                <a:latin typeface="Aptos Light" panose="020B0004020202020204" pitchFamily="34" charset="0"/>
              </a:rPr>
              <a:t> information into themes</a:t>
            </a:r>
            <a:r>
              <a:rPr lang="en-US" sz="1200" dirty="0">
                <a:solidFill>
                  <a:schemeClr val="bg1">
                    <a:lumMod val="65000"/>
                  </a:schemeClr>
                </a:solidFill>
                <a:latin typeface="Aptos Light" panose="020B0004020202020204" pitchFamily="34" charset="0"/>
              </a:rPr>
              <a:t>.</a:t>
            </a:r>
          </a:p>
          <a:p>
            <a:endParaRPr lang="en-GB" noProof="0" dirty="0"/>
          </a:p>
          <a:p>
            <a:r>
              <a:rPr lang="en-GB" b="1" dirty="0">
                <a:solidFill>
                  <a:srgbClr val="FF0000"/>
                </a:solidFill>
              </a:rPr>
              <a:t>Narrative Research</a:t>
            </a:r>
          </a:p>
          <a:p>
            <a:r>
              <a:rPr lang="en-US" sz="1200" b="1" dirty="0">
                <a:latin typeface="Aptos Light" panose="020B0004020202020204" pitchFamily="34" charset="0"/>
              </a:rPr>
              <a:t>Focus: </a:t>
            </a:r>
            <a:r>
              <a:rPr lang="en-US" sz="1200" dirty="0">
                <a:solidFill>
                  <a:schemeClr val="bg1">
                    <a:lumMod val="65000"/>
                  </a:schemeClr>
                </a:solidFill>
                <a:latin typeface="Aptos Light" panose="020B0004020202020204" pitchFamily="34" charset="0"/>
              </a:rPr>
              <a:t>The study of individuals’ lives through their stories.</a:t>
            </a:r>
          </a:p>
          <a:p>
            <a:r>
              <a:rPr lang="en-US" sz="1200" b="1" dirty="0">
                <a:latin typeface="Aptos Light" panose="020B0004020202020204" pitchFamily="34" charset="0"/>
              </a:rPr>
              <a:t>Purpose: </a:t>
            </a:r>
            <a:r>
              <a:rPr lang="en-US" sz="1200" dirty="0">
                <a:solidFill>
                  <a:schemeClr val="bg1">
                    <a:lumMod val="65000"/>
                  </a:schemeClr>
                </a:solidFill>
                <a:latin typeface="Aptos Light" panose="020B0004020202020204" pitchFamily="34" charset="0"/>
              </a:rPr>
              <a:t>To </a:t>
            </a:r>
            <a:r>
              <a:rPr lang="en-US" sz="1200" b="1" dirty="0">
                <a:highlight>
                  <a:srgbClr val="FFC000"/>
                </a:highlight>
                <a:latin typeface="Aptos Light" panose="020B0004020202020204" pitchFamily="34" charset="0"/>
              </a:rPr>
              <a:t>create a narrative chronology </a:t>
            </a:r>
            <a:r>
              <a:rPr lang="en-US" sz="1200" dirty="0">
                <a:solidFill>
                  <a:schemeClr val="bg1">
                    <a:lumMod val="65000"/>
                  </a:schemeClr>
                </a:solidFill>
                <a:latin typeface="Aptos Light" panose="020B0004020202020204" pitchFamily="34" charset="0"/>
              </a:rPr>
              <a:t>and to integrate both participant and researcher perspectives.</a:t>
            </a:r>
            <a:endParaRPr lang="en-GB" sz="1200" dirty="0">
              <a:solidFill>
                <a:schemeClr val="bg1">
                  <a:lumMod val="65000"/>
                </a:schemeClr>
              </a:solidFill>
              <a:latin typeface="Aptos Light" panose="020B0004020202020204" pitchFamily="34" charset="0"/>
            </a:endParaRPr>
          </a:p>
          <a:p>
            <a:endParaRPr lang="en-GB" b="1" noProof="0" dirty="0">
              <a:solidFill>
                <a:srgbClr val="DF102C"/>
              </a:solidFill>
            </a:endParaRPr>
          </a:p>
          <a:p>
            <a:r>
              <a:rPr lang="en-GB" b="1" dirty="0">
                <a:solidFill>
                  <a:srgbClr val="FF0000"/>
                </a:solidFill>
              </a:rPr>
              <a:t>Phenomenological Research</a:t>
            </a:r>
          </a:p>
          <a:p>
            <a:r>
              <a:rPr lang="en-US" sz="1200" b="1" dirty="0">
                <a:latin typeface="Aptos Light" panose="020B0004020202020204" pitchFamily="34" charset="0"/>
              </a:rPr>
              <a:t>Focus: </a:t>
            </a:r>
            <a:r>
              <a:rPr lang="en-US" sz="1200" dirty="0">
                <a:solidFill>
                  <a:schemeClr val="bg1">
                    <a:lumMod val="65000"/>
                  </a:schemeClr>
                </a:solidFill>
                <a:latin typeface="Aptos Light" panose="020B0004020202020204" pitchFamily="34" charset="0"/>
              </a:rPr>
              <a:t>The description of individuals’ lived experiences of a phenomenon.</a:t>
            </a:r>
          </a:p>
          <a:p>
            <a:r>
              <a:rPr lang="en-US" sz="1200" b="1" dirty="0">
                <a:latin typeface="Aptos Light" panose="020B0004020202020204" pitchFamily="34" charset="0"/>
              </a:rPr>
              <a:t>Purpose: </a:t>
            </a:r>
            <a:r>
              <a:rPr lang="en-US" sz="1200" dirty="0">
                <a:solidFill>
                  <a:schemeClr val="bg1">
                    <a:lumMod val="65000"/>
                  </a:schemeClr>
                </a:solidFill>
                <a:latin typeface="Aptos Light" panose="020B0004020202020204" pitchFamily="34" charset="0"/>
              </a:rPr>
              <a:t>To </a:t>
            </a:r>
            <a:r>
              <a:rPr lang="en-US" sz="1200" b="1" dirty="0">
                <a:highlight>
                  <a:srgbClr val="FFC000"/>
                </a:highlight>
                <a:latin typeface="Aptos Light" panose="020B0004020202020204" pitchFamily="34" charset="0"/>
              </a:rPr>
              <a:t>capture the shared perspectives among several people who have experienced the phenomenon</a:t>
            </a:r>
            <a:r>
              <a:rPr lang="en-US" sz="1200" dirty="0">
                <a:solidFill>
                  <a:schemeClr val="bg1">
                    <a:lumMod val="65000"/>
                  </a:schemeClr>
                </a:solidFill>
                <a:latin typeface="Aptos Light" panose="020B0004020202020204" pitchFamily="34" charset="0"/>
              </a:rPr>
              <a:t>.</a:t>
            </a:r>
            <a:endParaRPr lang="en-GB" sz="1200" dirty="0">
              <a:solidFill>
                <a:schemeClr val="bg1">
                  <a:lumMod val="65000"/>
                </a:schemeClr>
              </a:solidFill>
              <a:latin typeface="Aptos Light" panose="020B0004020202020204" pitchFamily="34" charset="0"/>
            </a:endParaRPr>
          </a:p>
        </p:txBody>
      </p:sp>
      <p:sp>
        <p:nvSpPr>
          <p:cNvPr id="3" name="TextBox 2">
            <a:extLst>
              <a:ext uri="{FF2B5EF4-FFF2-40B4-BE49-F238E27FC236}">
                <a16:creationId xmlns:a16="http://schemas.microsoft.com/office/drawing/2014/main" id="{2A94803F-F41F-1118-3365-C37F672E8142}"/>
              </a:ext>
            </a:extLst>
          </p:cNvPr>
          <p:cNvSpPr txBox="1"/>
          <p:nvPr/>
        </p:nvSpPr>
        <p:spPr>
          <a:xfrm>
            <a:off x="6372208" y="2082870"/>
            <a:ext cx="4845076" cy="3508653"/>
          </a:xfrm>
          <a:prstGeom prst="rect">
            <a:avLst/>
          </a:prstGeom>
          <a:noFill/>
        </p:spPr>
        <p:txBody>
          <a:bodyPr wrap="square">
            <a:spAutoFit/>
          </a:bodyPr>
          <a:lstStyle/>
          <a:p>
            <a:r>
              <a:rPr lang="en-GB" b="1" dirty="0">
                <a:solidFill>
                  <a:srgbClr val="FF0000"/>
                </a:solidFill>
              </a:rPr>
              <a:t>Grounded Theory</a:t>
            </a:r>
          </a:p>
          <a:p>
            <a:r>
              <a:rPr lang="en-US" sz="1200" b="1" dirty="0">
                <a:latin typeface="Aptos Light" panose="020B0004020202020204" pitchFamily="34" charset="0"/>
              </a:rPr>
              <a:t>Focus</a:t>
            </a:r>
            <a:r>
              <a:rPr lang="en-US" sz="1200" dirty="0">
                <a:solidFill>
                  <a:schemeClr val="bg1">
                    <a:lumMod val="65000"/>
                  </a:schemeClr>
                </a:solidFill>
                <a:latin typeface="Aptos Light" panose="020B0004020202020204" pitchFamily="34" charset="0"/>
              </a:rPr>
              <a:t>: The derivation of an abstract theory grounded in participants’ views.</a:t>
            </a:r>
          </a:p>
          <a:p>
            <a:r>
              <a:rPr lang="en-US" sz="1200" b="1" dirty="0">
                <a:latin typeface="Aptos Light" panose="020B0004020202020204" pitchFamily="34" charset="0"/>
              </a:rPr>
              <a:t>Purpose</a:t>
            </a:r>
            <a:r>
              <a:rPr lang="en-US" sz="1200" dirty="0">
                <a:solidFill>
                  <a:schemeClr val="bg1">
                    <a:lumMod val="65000"/>
                  </a:schemeClr>
                </a:solidFill>
                <a:latin typeface="Aptos Light" panose="020B0004020202020204" pitchFamily="34" charset="0"/>
              </a:rPr>
              <a:t>: To </a:t>
            </a:r>
            <a:r>
              <a:rPr lang="en-US" sz="1200" b="1" dirty="0">
                <a:highlight>
                  <a:srgbClr val="FFC000"/>
                </a:highlight>
                <a:latin typeface="Aptos Light" panose="020B0004020202020204" pitchFamily="34" charset="0"/>
              </a:rPr>
              <a:t>refine and interrelate categories of information </a:t>
            </a:r>
            <a:r>
              <a:rPr lang="en-US" sz="1200" dirty="0">
                <a:solidFill>
                  <a:schemeClr val="bg1">
                    <a:lumMod val="65000"/>
                  </a:schemeClr>
                </a:solidFill>
                <a:latin typeface="Aptos Light" panose="020B0004020202020204" pitchFamily="34" charset="0"/>
              </a:rPr>
              <a:t>in order to construct a theory.</a:t>
            </a:r>
          </a:p>
          <a:p>
            <a:endParaRPr lang="en-GB" sz="1200" dirty="0">
              <a:solidFill>
                <a:schemeClr val="bg1">
                  <a:lumMod val="65000"/>
                </a:schemeClr>
              </a:solidFill>
              <a:latin typeface="Aptos Light" panose="020B0004020202020204" pitchFamily="34" charset="0"/>
            </a:endParaRPr>
          </a:p>
          <a:p>
            <a:r>
              <a:rPr lang="en-GB" b="1" dirty="0">
                <a:solidFill>
                  <a:srgbClr val="FF0000"/>
                </a:solidFill>
              </a:rPr>
              <a:t>Ethnography</a:t>
            </a:r>
            <a:endParaRPr lang="en-GB" noProof="0" dirty="0">
              <a:solidFill>
                <a:srgbClr val="FF0000"/>
              </a:solidFill>
            </a:endParaRPr>
          </a:p>
          <a:p>
            <a:r>
              <a:rPr lang="en-US" sz="1200" b="1" dirty="0">
                <a:latin typeface="Aptos Light" panose="020B0004020202020204" pitchFamily="34" charset="0"/>
              </a:rPr>
              <a:t>Focus</a:t>
            </a:r>
            <a:r>
              <a:rPr lang="en-US" sz="1200" dirty="0">
                <a:solidFill>
                  <a:schemeClr val="bg1">
                    <a:lumMod val="65000"/>
                  </a:schemeClr>
                </a:solidFill>
                <a:latin typeface="Aptos Light" panose="020B0004020202020204" pitchFamily="34" charset="0"/>
              </a:rPr>
              <a:t>: The study of shared </a:t>
            </a:r>
            <a:r>
              <a:rPr lang="en-US" sz="1200" dirty="0" err="1">
                <a:solidFill>
                  <a:schemeClr val="bg1">
                    <a:lumMod val="65000"/>
                  </a:schemeClr>
                </a:solidFill>
                <a:latin typeface="Aptos Light" panose="020B0004020202020204" pitchFamily="34" charset="0"/>
              </a:rPr>
              <a:t>behavioural</a:t>
            </a:r>
            <a:r>
              <a:rPr lang="en-US" sz="1200" dirty="0">
                <a:solidFill>
                  <a:schemeClr val="bg1">
                    <a:lumMod val="65000"/>
                  </a:schemeClr>
                </a:solidFill>
                <a:latin typeface="Aptos Light" panose="020B0004020202020204" pitchFamily="34" charset="0"/>
              </a:rPr>
              <a:t> patterns, language, and actions within a cultural group in its natural environment.</a:t>
            </a:r>
          </a:p>
          <a:p>
            <a:r>
              <a:rPr lang="en-US" sz="1200" b="1" dirty="0">
                <a:latin typeface="Aptos Light" panose="020B0004020202020204" pitchFamily="34" charset="0"/>
              </a:rPr>
              <a:t>Purpose</a:t>
            </a:r>
            <a:r>
              <a:rPr lang="en-US" sz="1200" dirty="0">
                <a:solidFill>
                  <a:schemeClr val="bg1">
                    <a:lumMod val="65000"/>
                  </a:schemeClr>
                </a:solidFill>
                <a:latin typeface="Aptos Light" panose="020B0004020202020204" pitchFamily="34" charset="0"/>
              </a:rPr>
              <a:t>: </a:t>
            </a:r>
            <a:r>
              <a:rPr lang="en-US" sz="1200" b="1" dirty="0">
                <a:highlight>
                  <a:srgbClr val="FFC000"/>
                </a:highlight>
                <a:latin typeface="Aptos Light" panose="020B0004020202020204" pitchFamily="34" charset="0"/>
              </a:rPr>
              <a:t>Long‑term observations and interviews </a:t>
            </a:r>
            <a:r>
              <a:rPr lang="en-US" sz="1200" dirty="0">
                <a:solidFill>
                  <a:schemeClr val="bg1">
                    <a:lumMod val="65000"/>
                  </a:schemeClr>
                </a:solidFill>
                <a:latin typeface="Aptos Light" panose="020B0004020202020204" pitchFamily="34" charset="0"/>
              </a:rPr>
              <a:t>to understand the group's culture.</a:t>
            </a:r>
          </a:p>
          <a:p>
            <a:endParaRPr lang="en-GB" sz="1200" dirty="0">
              <a:solidFill>
                <a:schemeClr val="bg1">
                  <a:lumMod val="65000"/>
                </a:schemeClr>
              </a:solidFill>
              <a:latin typeface="Aptos Light" panose="020B0004020202020204" pitchFamily="34" charset="0"/>
            </a:endParaRPr>
          </a:p>
          <a:p>
            <a:r>
              <a:rPr lang="en-GB" b="1" dirty="0">
                <a:solidFill>
                  <a:srgbClr val="FF0000"/>
                </a:solidFill>
              </a:rPr>
              <a:t>Case Studies</a:t>
            </a:r>
          </a:p>
          <a:p>
            <a:r>
              <a:rPr lang="en-US" sz="1200" b="1" dirty="0">
                <a:latin typeface="Aptos Light" panose="020B0004020202020204" pitchFamily="34" charset="0"/>
              </a:rPr>
              <a:t>Focus</a:t>
            </a:r>
            <a:r>
              <a:rPr lang="en-US" sz="1200" dirty="0">
                <a:solidFill>
                  <a:schemeClr val="bg1">
                    <a:lumMod val="65000"/>
                  </a:schemeClr>
                </a:solidFill>
                <a:latin typeface="Aptos Light" panose="020B0004020202020204" pitchFamily="34" charset="0"/>
              </a:rPr>
              <a:t>: An in‑depth analysis of a specific case such as a </a:t>
            </a:r>
            <a:r>
              <a:rPr lang="en-US" sz="1200" dirty="0" err="1">
                <a:solidFill>
                  <a:schemeClr val="bg1">
                    <a:lumMod val="65000"/>
                  </a:schemeClr>
                </a:solidFill>
                <a:latin typeface="Aptos Light" panose="020B0004020202020204" pitchFamily="34" charset="0"/>
              </a:rPr>
              <a:t>programme</a:t>
            </a:r>
            <a:r>
              <a:rPr lang="en-US" sz="1200" dirty="0">
                <a:solidFill>
                  <a:schemeClr val="bg1">
                    <a:lumMod val="65000"/>
                  </a:schemeClr>
                </a:solidFill>
                <a:latin typeface="Aptos Light" panose="020B0004020202020204" pitchFamily="34" charset="0"/>
              </a:rPr>
              <a:t>, event, activity, or individual.</a:t>
            </a:r>
          </a:p>
          <a:p>
            <a:r>
              <a:rPr lang="en-US" sz="1200" b="1" dirty="0">
                <a:latin typeface="Aptos Light" panose="020B0004020202020204" pitchFamily="34" charset="0"/>
              </a:rPr>
              <a:t>Purpose</a:t>
            </a:r>
            <a:r>
              <a:rPr lang="en-US" sz="1200" dirty="0">
                <a:solidFill>
                  <a:schemeClr val="bg1">
                    <a:lumMod val="65000"/>
                  </a:schemeClr>
                </a:solidFill>
                <a:latin typeface="Aptos Light" panose="020B0004020202020204" pitchFamily="34" charset="0"/>
              </a:rPr>
              <a:t>: </a:t>
            </a:r>
            <a:r>
              <a:rPr lang="en-US" sz="1200" b="1" dirty="0">
                <a:highlight>
                  <a:srgbClr val="FFC000"/>
                </a:highlight>
                <a:latin typeface="Aptos Light" panose="020B0004020202020204" pitchFamily="34" charset="0"/>
              </a:rPr>
              <a:t>To collect rich, detailed information </a:t>
            </a:r>
            <a:r>
              <a:rPr lang="en-US" sz="1200" dirty="0">
                <a:solidFill>
                  <a:schemeClr val="bg1">
                    <a:lumMod val="65000"/>
                  </a:schemeClr>
                </a:solidFill>
                <a:latin typeface="Aptos Light" panose="020B0004020202020204" pitchFamily="34" charset="0"/>
              </a:rPr>
              <a:t>using multiple data‑gathering procedures.</a:t>
            </a:r>
            <a:endParaRPr lang="en-GB" sz="1200" dirty="0">
              <a:solidFill>
                <a:schemeClr val="bg1">
                  <a:lumMod val="65000"/>
                </a:schemeClr>
              </a:solidFill>
              <a:latin typeface="Aptos Light" panose="020B0004020202020204" pitchFamily="34" charset="0"/>
            </a:endParaRPr>
          </a:p>
        </p:txBody>
      </p:sp>
      <p:sp>
        <p:nvSpPr>
          <p:cNvPr id="6" name="Footer Placeholder 4">
            <a:extLst>
              <a:ext uri="{FF2B5EF4-FFF2-40B4-BE49-F238E27FC236}">
                <a16:creationId xmlns:a16="http://schemas.microsoft.com/office/drawing/2014/main" id="{0D02C997-95DE-F2FB-3053-AA1B849C0F55}"/>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2085883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500"/>
                                        <p:tgtEl>
                                          <p:spTgt spid="2">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500"/>
                                        <p:tgtEl>
                                          <p:spTgt spid="2">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animEffect transition="in" filter="fade">
                                      <p:cBhvr>
                                        <p:cTn id="29" dur="500"/>
                                        <p:tgtEl>
                                          <p:spTgt spid="2">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
                                            <p:txEl>
                                              <p:pRg st="9" end="9"/>
                                            </p:txEl>
                                          </p:spTgt>
                                        </p:tgtEl>
                                        <p:attrNameLst>
                                          <p:attrName>style.visibility</p:attrName>
                                        </p:attrNameLst>
                                      </p:cBhvr>
                                      <p:to>
                                        <p:strVal val="visible"/>
                                      </p:to>
                                    </p:set>
                                    <p:animEffect transition="in" filter="fade">
                                      <p:cBhvr>
                                        <p:cTn id="32" dur="500"/>
                                        <p:tgtEl>
                                          <p:spTgt spid="2">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animEffect transition="in" filter="fade">
                                      <p:cBhvr>
                                        <p:cTn id="35" dur="500"/>
                                        <p:tgtEl>
                                          <p:spTgt spid="2">
                                            <p:txEl>
                                              <p:pRg st="10" end="1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0" end="0"/>
                                            </p:txEl>
                                          </p:spTgt>
                                        </p:tgtEl>
                                        <p:attrNameLst>
                                          <p:attrName>style.visibility</p:attrName>
                                        </p:attrNameLst>
                                      </p:cBhvr>
                                      <p:to>
                                        <p:strVal val="visible"/>
                                      </p:to>
                                    </p:set>
                                    <p:animEffect transition="in" filter="fade">
                                      <p:cBhvr>
                                        <p:cTn id="40" dur="500"/>
                                        <p:tgtEl>
                                          <p:spTgt spid="3">
                                            <p:txEl>
                                              <p:pRg st="0" end="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animEffect transition="in" filter="fade">
                                      <p:cBhvr>
                                        <p:cTn id="43" dur="500"/>
                                        <p:tgtEl>
                                          <p:spTgt spid="3">
                                            <p:txEl>
                                              <p:pRg st="1" end="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fade">
                                      <p:cBhvr>
                                        <p:cTn id="46" dur="500"/>
                                        <p:tgtEl>
                                          <p:spTgt spid="3">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4" end="4"/>
                                            </p:txEl>
                                          </p:spTgt>
                                        </p:tgtEl>
                                        <p:attrNameLst>
                                          <p:attrName>style.visibility</p:attrName>
                                        </p:attrNameLst>
                                      </p:cBhvr>
                                      <p:to>
                                        <p:strVal val="visible"/>
                                      </p:to>
                                    </p:set>
                                    <p:animEffect transition="in" filter="fade">
                                      <p:cBhvr>
                                        <p:cTn id="51" dur="500"/>
                                        <p:tgtEl>
                                          <p:spTgt spid="3">
                                            <p:txEl>
                                              <p:pRg st="4" end="4"/>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
                                            <p:txEl>
                                              <p:pRg st="5" end="5"/>
                                            </p:txEl>
                                          </p:spTgt>
                                        </p:tgtEl>
                                        <p:attrNameLst>
                                          <p:attrName>style.visibility</p:attrName>
                                        </p:attrNameLst>
                                      </p:cBhvr>
                                      <p:to>
                                        <p:strVal val="visible"/>
                                      </p:to>
                                    </p:set>
                                    <p:animEffect transition="in" filter="fade">
                                      <p:cBhvr>
                                        <p:cTn id="54" dur="500"/>
                                        <p:tgtEl>
                                          <p:spTgt spid="3">
                                            <p:txEl>
                                              <p:pRg st="5" end="5"/>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animEffect transition="in" filter="fade">
                                      <p:cBhvr>
                                        <p:cTn id="57" dur="500"/>
                                        <p:tgtEl>
                                          <p:spTgt spid="3">
                                            <p:txEl>
                                              <p:pRg st="6" end="6"/>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8" end="8"/>
                                            </p:txEl>
                                          </p:spTgt>
                                        </p:tgtEl>
                                        <p:attrNameLst>
                                          <p:attrName>style.visibility</p:attrName>
                                        </p:attrNameLst>
                                      </p:cBhvr>
                                      <p:to>
                                        <p:strVal val="visible"/>
                                      </p:to>
                                    </p:set>
                                    <p:animEffect transition="in" filter="fade">
                                      <p:cBhvr>
                                        <p:cTn id="62" dur="500"/>
                                        <p:tgtEl>
                                          <p:spTgt spid="3">
                                            <p:txEl>
                                              <p:pRg st="8" end="8"/>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3">
                                            <p:txEl>
                                              <p:pRg st="9" end="9"/>
                                            </p:txEl>
                                          </p:spTgt>
                                        </p:tgtEl>
                                        <p:attrNameLst>
                                          <p:attrName>style.visibility</p:attrName>
                                        </p:attrNameLst>
                                      </p:cBhvr>
                                      <p:to>
                                        <p:strVal val="visible"/>
                                      </p:to>
                                    </p:set>
                                    <p:animEffect transition="in" filter="fade">
                                      <p:cBhvr>
                                        <p:cTn id="65" dur="500"/>
                                        <p:tgtEl>
                                          <p:spTgt spid="3">
                                            <p:txEl>
                                              <p:pRg st="9" end="9"/>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3">
                                            <p:txEl>
                                              <p:pRg st="10" end="10"/>
                                            </p:txEl>
                                          </p:spTgt>
                                        </p:tgtEl>
                                        <p:attrNameLst>
                                          <p:attrName>style.visibility</p:attrName>
                                        </p:attrNameLst>
                                      </p:cBhvr>
                                      <p:to>
                                        <p:strVal val="visible"/>
                                      </p:to>
                                    </p:set>
                                    <p:animEffect transition="in" filter="fade">
                                      <p:cBhvr>
                                        <p:cTn id="6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1CF72-5EE0-F2DD-E284-56E29D587CA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02E3AF3-5EB6-9335-1944-98B34DBDD04C}"/>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sp>
        <p:nvSpPr>
          <p:cNvPr id="9" name="Slide Number Placeholder 2">
            <a:extLst>
              <a:ext uri="{FF2B5EF4-FFF2-40B4-BE49-F238E27FC236}">
                <a16:creationId xmlns:a16="http://schemas.microsoft.com/office/drawing/2014/main" id="{5E72BF2D-5116-C2A8-F604-BE72C1516BE3}"/>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tx1">
                    <a:lumMod val="50000"/>
                    <a:lumOff val="50000"/>
                  </a:schemeClr>
                </a:solidFill>
              </a:rPr>
              <a:t>43</a:t>
            </a:fld>
            <a:endParaRPr lang="en-GB" noProof="0" dirty="0">
              <a:solidFill>
                <a:schemeClr val="tx1">
                  <a:lumMod val="50000"/>
                  <a:lumOff val="50000"/>
                </a:schemeClr>
              </a:solidFill>
            </a:endParaRPr>
          </a:p>
        </p:txBody>
      </p:sp>
      <p:sp>
        <p:nvSpPr>
          <p:cNvPr id="11" name="Date Placeholder 3">
            <a:extLst>
              <a:ext uri="{FF2B5EF4-FFF2-40B4-BE49-F238E27FC236}">
                <a16:creationId xmlns:a16="http://schemas.microsoft.com/office/drawing/2014/main" id="{AA0A9EF6-2976-8C82-1B63-D5DE6BF74CF0}"/>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6E845D0-70B0-405D-A6BF-798C9CBE9027}" type="datetime1">
              <a:rPr lang="en-GB" noProof="0" smtClean="0">
                <a:solidFill>
                  <a:schemeClr val="tx1">
                    <a:lumMod val="50000"/>
                    <a:lumOff val="50000"/>
                  </a:schemeClr>
                </a:solidFill>
              </a:rPr>
              <a:pPr/>
              <a:t>27/03/2026</a:t>
            </a:fld>
            <a:endParaRPr lang="en-GB" noProof="0" dirty="0">
              <a:solidFill>
                <a:schemeClr val="tx1">
                  <a:lumMod val="50000"/>
                  <a:lumOff val="50000"/>
                </a:schemeClr>
              </a:solidFill>
            </a:endParaRPr>
          </a:p>
        </p:txBody>
      </p:sp>
      <p:sp>
        <p:nvSpPr>
          <p:cNvPr id="15" name="TextBox 14">
            <a:extLst>
              <a:ext uri="{FF2B5EF4-FFF2-40B4-BE49-F238E27FC236}">
                <a16:creationId xmlns:a16="http://schemas.microsoft.com/office/drawing/2014/main" id="{48C8DB55-BFBF-D26A-820D-B63B2949E587}"/>
              </a:ext>
            </a:extLst>
          </p:cNvPr>
          <p:cNvSpPr txBox="1"/>
          <p:nvPr/>
        </p:nvSpPr>
        <p:spPr>
          <a:xfrm>
            <a:off x="974716" y="1470709"/>
            <a:ext cx="5845185" cy="461665"/>
          </a:xfrm>
          <a:prstGeom prst="rect">
            <a:avLst/>
          </a:prstGeom>
          <a:noFill/>
        </p:spPr>
        <p:txBody>
          <a:bodyPr wrap="square">
            <a:spAutoFit/>
          </a:bodyPr>
          <a:lstStyle/>
          <a:p>
            <a:r>
              <a:rPr lang="en-GB" sz="2400" b="1" noProof="0" dirty="0"/>
              <a:t>Quantitative</a:t>
            </a:r>
            <a:endParaRPr lang="en-GB" sz="2400" b="1" noProof="0" dirty="0">
              <a:latin typeface="Corbel" panose="020B0503020204020204" pitchFamily="34" charset="0"/>
            </a:endParaRPr>
          </a:p>
        </p:txBody>
      </p:sp>
      <p:sp>
        <p:nvSpPr>
          <p:cNvPr id="2" name="TextBox 1">
            <a:extLst>
              <a:ext uri="{FF2B5EF4-FFF2-40B4-BE49-F238E27FC236}">
                <a16:creationId xmlns:a16="http://schemas.microsoft.com/office/drawing/2014/main" id="{E0B2838D-0CFE-1EC5-5C99-85E969E75C91}"/>
              </a:ext>
            </a:extLst>
          </p:cNvPr>
          <p:cNvSpPr txBox="1"/>
          <p:nvPr/>
        </p:nvSpPr>
        <p:spPr>
          <a:xfrm>
            <a:off x="974716" y="2082870"/>
            <a:ext cx="10339606" cy="2769989"/>
          </a:xfrm>
          <a:prstGeom prst="rect">
            <a:avLst/>
          </a:prstGeom>
          <a:noFill/>
        </p:spPr>
        <p:txBody>
          <a:bodyPr wrap="square">
            <a:spAutoFit/>
          </a:bodyPr>
          <a:lstStyle/>
          <a:p>
            <a:r>
              <a:rPr lang="en-US" b="1" dirty="0">
                <a:highlight>
                  <a:srgbClr val="FFC000"/>
                </a:highlight>
              </a:rPr>
              <a:t>Non‑experimental quantitative</a:t>
            </a:r>
            <a:r>
              <a:rPr lang="en-US" dirty="0"/>
              <a:t> research includes causal‑comparative research, in which researchers compare groups based on an independent variable that has already been observed.</a:t>
            </a:r>
            <a:endParaRPr lang="en-US" b="1" dirty="0"/>
          </a:p>
          <a:p>
            <a:endParaRPr lang="en-US" b="1" dirty="0"/>
          </a:p>
          <a:p>
            <a:pPr marL="285750" indent="-285750">
              <a:buFont typeface="Arial" panose="020B0604020202020204" pitchFamily="34" charset="0"/>
              <a:buChar char="•"/>
            </a:pPr>
            <a:r>
              <a:rPr lang="en-US" sz="1200" dirty="0">
                <a:solidFill>
                  <a:schemeClr val="bg1">
                    <a:lumMod val="65000"/>
                  </a:schemeClr>
                </a:solidFill>
                <a:latin typeface="Aptos Light" panose="020B0004020202020204" pitchFamily="34" charset="0"/>
              </a:rPr>
              <a:t>It uses correlational statistics to describe and measure the relationships between variables. These designs may involve complex relationships between variables, employing techniques such as structural equation modelling, hierarchical linear modelling, and logistic regression.</a:t>
            </a:r>
            <a:br>
              <a:rPr lang="en-US" dirty="0"/>
            </a:br>
            <a:endParaRPr lang="en-US" dirty="0">
              <a:highlight>
                <a:srgbClr val="FFC000"/>
              </a:highlight>
            </a:endParaRPr>
          </a:p>
          <a:p>
            <a:r>
              <a:rPr lang="en-US" b="1" dirty="0">
                <a:highlight>
                  <a:srgbClr val="FFC000"/>
                </a:highlight>
              </a:rPr>
              <a:t>Recent quantitative strategies have incorporated complex experiments</a:t>
            </a:r>
            <a:r>
              <a:rPr lang="en-US" dirty="0"/>
              <a:t> with multiple variables and treatments, such as factorial designs and repeated‑measures designs.</a:t>
            </a:r>
          </a:p>
          <a:p>
            <a:pPr marL="285750" indent="-285750">
              <a:buFont typeface="Arial" panose="020B0604020202020204" pitchFamily="34" charset="0"/>
              <a:buChar char="•"/>
            </a:pPr>
            <a:endParaRPr lang="en-US" b="1" dirty="0"/>
          </a:p>
          <a:p>
            <a:pPr marL="742950" lvl="1" indent="-285750">
              <a:buFont typeface="Arial" panose="020B0604020202020204" pitchFamily="34" charset="0"/>
              <a:buChar char="•"/>
            </a:pPr>
            <a:r>
              <a:rPr lang="en-US" sz="1200" dirty="0">
                <a:solidFill>
                  <a:schemeClr val="bg1">
                    <a:lumMod val="65000"/>
                  </a:schemeClr>
                </a:solidFill>
                <a:latin typeface="Aptos Light" panose="020B0004020202020204" pitchFamily="34" charset="0"/>
              </a:rPr>
              <a:t>These designs frequently rely on longitudinal data collection to identify how ideas and trends develop over time and often include sophisticated structural equation models that identify causal pathways.</a:t>
            </a:r>
            <a:endParaRPr lang="en-GB" sz="1200" dirty="0">
              <a:solidFill>
                <a:schemeClr val="bg1">
                  <a:lumMod val="65000"/>
                </a:schemeClr>
              </a:solidFill>
              <a:latin typeface="Aptos Light" panose="020B0004020202020204" pitchFamily="34" charset="0"/>
            </a:endParaRPr>
          </a:p>
        </p:txBody>
      </p:sp>
      <p:sp>
        <p:nvSpPr>
          <p:cNvPr id="3" name="Título 1">
            <a:extLst>
              <a:ext uri="{FF2B5EF4-FFF2-40B4-BE49-F238E27FC236}">
                <a16:creationId xmlns:a16="http://schemas.microsoft.com/office/drawing/2014/main" id="{DA51A9DA-12C4-4D29-AA18-7873C7E3F197}"/>
              </a:ext>
            </a:extLst>
          </p:cNvPr>
          <p:cNvSpPr txBox="1">
            <a:spLocks/>
          </p:cNvSpPr>
          <p:nvPr/>
        </p:nvSpPr>
        <p:spPr>
          <a:xfrm>
            <a:off x="891591" y="501651"/>
            <a:ext cx="4082192" cy="5341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dirty="0">
                <a:solidFill>
                  <a:srgbClr val="FF0000"/>
                </a:solidFill>
                <a:latin typeface="Aptos SemiBold" panose="020F0502020204030204" pitchFamily="34" charset="0"/>
              </a:rPr>
              <a:t>Research designs </a:t>
            </a:r>
          </a:p>
        </p:txBody>
      </p:sp>
      <p:sp>
        <p:nvSpPr>
          <p:cNvPr id="5" name="Footer Placeholder 4">
            <a:extLst>
              <a:ext uri="{FF2B5EF4-FFF2-40B4-BE49-F238E27FC236}">
                <a16:creationId xmlns:a16="http://schemas.microsoft.com/office/drawing/2014/main" id="{A2EB257D-AD04-AADF-0E6D-96551AB8C9CA}"/>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2697863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4B28F-64CD-C278-F781-FBD0B76C4ED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92B62DF-EFBA-ABF7-E59A-86B4BF712DD2}"/>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sp>
        <p:nvSpPr>
          <p:cNvPr id="9" name="Slide Number Placeholder 2">
            <a:extLst>
              <a:ext uri="{FF2B5EF4-FFF2-40B4-BE49-F238E27FC236}">
                <a16:creationId xmlns:a16="http://schemas.microsoft.com/office/drawing/2014/main" id="{5750D792-BF1F-D1DB-3AD1-57292DF89F43}"/>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tx1">
                    <a:lumMod val="50000"/>
                    <a:lumOff val="50000"/>
                  </a:schemeClr>
                </a:solidFill>
              </a:rPr>
              <a:t>44</a:t>
            </a:fld>
            <a:endParaRPr lang="en-GB" noProof="0" dirty="0">
              <a:solidFill>
                <a:schemeClr val="tx1">
                  <a:lumMod val="50000"/>
                  <a:lumOff val="50000"/>
                </a:schemeClr>
              </a:solidFill>
            </a:endParaRPr>
          </a:p>
        </p:txBody>
      </p:sp>
      <p:sp>
        <p:nvSpPr>
          <p:cNvPr id="11" name="Date Placeholder 3">
            <a:extLst>
              <a:ext uri="{FF2B5EF4-FFF2-40B4-BE49-F238E27FC236}">
                <a16:creationId xmlns:a16="http://schemas.microsoft.com/office/drawing/2014/main" id="{CBE9D2A7-BA27-776C-8707-06A22A274081}"/>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6E845D0-70B0-405D-A6BF-798C9CBE9027}" type="datetime1">
              <a:rPr lang="en-GB" noProof="0" smtClean="0">
                <a:solidFill>
                  <a:schemeClr val="tx1">
                    <a:lumMod val="50000"/>
                    <a:lumOff val="50000"/>
                  </a:schemeClr>
                </a:solidFill>
              </a:rPr>
              <a:pPr/>
              <a:t>27/03/2026</a:t>
            </a:fld>
            <a:endParaRPr lang="en-GB" noProof="0" dirty="0">
              <a:solidFill>
                <a:schemeClr val="tx1">
                  <a:lumMod val="50000"/>
                  <a:lumOff val="50000"/>
                </a:schemeClr>
              </a:solidFill>
            </a:endParaRPr>
          </a:p>
        </p:txBody>
      </p:sp>
      <p:sp>
        <p:nvSpPr>
          <p:cNvPr id="15" name="TextBox 14">
            <a:extLst>
              <a:ext uri="{FF2B5EF4-FFF2-40B4-BE49-F238E27FC236}">
                <a16:creationId xmlns:a16="http://schemas.microsoft.com/office/drawing/2014/main" id="{D41B4498-F30A-28F3-B5FD-BDE521879ECF}"/>
              </a:ext>
            </a:extLst>
          </p:cNvPr>
          <p:cNvSpPr txBox="1"/>
          <p:nvPr/>
        </p:nvSpPr>
        <p:spPr>
          <a:xfrm>
            <a:off x="974716" y="1470709"/>
            <a:ext cx="5845185" cy="461665"/>
          </a:xfrm>
          <a:prstGeom prst="rect">
            <a:avLst/>
          </a:prstGeom>
          <a:noFill/>
        </p:spPr>
        <p:txBody>
          <a:bodyPr wrap="square">
            <a:spAutoFit/>
          </a:bodyPr>
          <a:lstStyle/>
          <a:p>
            <a:r>
              <a:rPr lang="en-GB" sz="2400" b="1" noProof="0" dirty="0"/>
              <a:t>Mixed</a:t>
            </a:r>
            <a:endParaRPr lang="en-GB" sz="2400" b="1" noProof="0" dirty="0">
              <a:latin typeface="Corbel" panose="020B0503020204020204" pitchFamily="34" charset="0"/>
            </a:endParaRPr>
          </a:p>
        </p:txBody>
      </p:sp>
      <p:sp>
        <p:nvSpPr>
          <p:cNvPr id="6" name="TextBox 5">
            <a:extLst>
              <a:ext uri="{FF2B5EF4-FFF2-40B4-BE49-F238E27FC236}">
                <a16:creationId xmlns:a16="http://schemas.microsoft.com/office/drawing/2014/main" id="{AC9F7D1E-2D1C-5E34-F556-FFF0BDDC7B0D}"/>
              </a:ext>
            </a:extLst>
          </p:cNvPr>
          <p:cNvSpPr txBox="1"/>
          <p:nvPr/>
        </p:nvSpPr>
        <p:spPr>
          <a:xfrm>
            <a:off x="974716" y="2082870"/>
            <a:ext cx="5121284" cy="3170099"/>
          </a:xfrm>
          <a:prstGeom prst="rect">
            <a:avLst/>
          </a:prstGeom>
          <a:noFill/>
        </p:spPr>
        <p:txBody>
          <a:bodyPr wrap="square">
            <a:spAutoFit/>
          </a:bodyPr>
          <a:lstStyle/>
          <a:p>
            <a:r>
              <a:rPr lang="en-US" dirty="0"/>
              <a:t>Mixed methods research </a:t>
            </a:r>
            <a:r>
              <a:rPr lang="en-US" b="1" dirty="0">
                <a:highlight>
                  <a:srgbClr val="FFC000"/>
                </a:highlight>
              </a:rPr>
              <a:t>involves the collection of both quantitative and qualitative </a:t>
            </a:r>
            <a:r>
              <a:rPr lang="en-US" dirty="0"/>
              <a:t>data and the combination or integration of these data to generate insights or inferences. </a:t>
            </a:r>
          </a:p>
          <a:p>
            <a:endParaRPr lang="en-US" sz="1600" noProof="0" dirty="0"/>
          </a:p>
          <a:p>
            <a:pPr marL="285750" indent="-285750">
              <a:buFont typeface="Arial" panose="020B0604020202020204" pitchFamily="34" charset="0"/>
              <a:buChar char="•"/>
            </a:pPr>
            <a:r>
              <a:rPr lang="en-US" sz="1600" dirty="0"/>
              <a:t>The joint use of quantitative and qualitative data helps </a:t>
            </a:r>
            <a:r>
              <a:rPr lang="en-US" sz="1600" dirty="0" err="1"/>
              <a:t>neutralise</a:t>
            </a:r>
            <a:r>
              <a:rPr lang="en-US" sz="1600" dirty="0"/>
              <a:t> the weaknesses of each type of data.</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combination of data sources therefore becomes a means of seeking convergence between qualitative and quantitative approaches.</a:t>
            </a:r>
            <a:endParaRPr lang="en-GB" sz="1600" b="1" u="sng" dirty="0">
              <a:solidFill>
                <a:srgbClr val="DF102C"/>
              </a:solidFill>
            </a:endParaRPr>
          </a:p>
        </p:txBody>
      </p:sp>
      <p:sp>
        <p:nvSpPr>
          <p:cNvPr id="12" name="TextBox 11">
            <a:extLst>
              <a:ext uri="{FF2B5EF4-FFF2-40B4-BE49-F238E27FC236}">
                <a16:creationId xmlns:a16="http://schemas.microsoft.com/office/drawing/2014/main" id="{BCA56D64-0682-EE15-9FBA-379EFD7BAABA}"/>
              </a:ext>
            </a:extLst>
          </p:cNvPr>
          <p:cNvSpPr txBox="1"/>
          <p:nvPr/>
        </p:nvSpPr>
        <p:spPr>
          <a:xfrm>
            <a:off x="7204084" y="2336393"/>
            <a:ext cx="4013200" cy="2062103"/>
          </a:xfrm>
          <a:prstGeom prst="rect">
            <a:avLst/>
          </a:prstGeom>
          <a:noFill/>
        </p:spPr>
        <p:txBody>
          <a:bodyPr wrap="square">
            <a:spAutoFit/>
          </a:bodyPr>
          <a:lstStyle/>
          <a:p>
            <a:pPr algn="ctr"/>
            <a:endParaRPr lang="en-GB" sz="2000" b="1" noProof="0" dirty="0">
              <a:solidFill>
                <a:srgbClr val="F26665"/>
              </a:solidFill>
            </a:endParaRPr>
          </a:p>
          <a:p>
            <a:pPr algn="ctr"/>
            <a:endParaRPr lang="en-GB" b="1" noProof="0" dirty="0">
              <a:solidFill>
                <a:srgbClr val="F26665"/>
              </a:solidFill>
            </a:endParaRPr>
          </a:p>
          <a:p>
            <a:pPr algn="ctr"/>
            <a:r>
              <a:rPr lang="en-US" b="1" dirty="0">
                <a:solidFill>
                  <a:srgbClr val="FF0000"/>
                </a:solidFill>
              </a:rPr>
              <a:t>Systematic integration of quantitative and qualitative data has led to the development of different ways of combining data across various kinds of research designs.</a:t>
            </a:r>
            <a:endParaRPr lang="en-GB" b="1" noProof="0" dirty="0">
              <a:solidFill>
                <a:srgbClr val="FF0000"/>
              </a:solidFill>
            </a:endParaRPr>
          </a:p>
        </p:txBody>
      </p:sp>
      <p:sp>
        <p:nvSpPr>
          <p:cNvPr id="13" name="Arrow: Up 12">
            <a:extLst>
              <a:ext uri="{FF2B5EF4-FFF2-40B4-BE49-F238E27FC236}">
                <a16:creationId xmlns:a16="http://schemas.microsoft.com/office/drawing/2014/main" id="{00140024-6144-108B-4B6C-65860826758A}"/>
              </a:ext>
            </a:extLst>
          </p:cNvPr>
          <p:cNvSpPr/>
          <p:nvPr/>
        </p:nvSpPr>
        <p:spPr>
          <a:xfrm rot="5400000">
            <a:off x="6388813" y="3425932"/>
            <a:ext cx="308789" cy="545529"/>
          </a:xfrm>
          <a:prstGeom prst="upArrow">
            <a:avLst/>
          </a:prstGeom>
          <a:solidFill>
            <a:srgbClr val="DF1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Star: 4 Points 1">
            <a:extLst>
              <a:ext uri="{FF2B5EF4-FFF2-40B4-BE49-F238E27FC236}">
                <a16:creationId xmlns:a16="http://schemas.microsoft.com/office/drawing/2014/main" id="{09775058-ADC9-23EE-926B-6E22BDB275E1}"/>
              </a:ext>
            </a:extLst>
          </p:cNvPr>
          <p:cNvSpPr/>
          <p:nvPr/>
        </p:nvSpPr>
        <p:spPr>
          <a:xfrm>
            <a:off x="9081936" y="2478881"/>
            <a:ext cx="385092" cy="385092"/>
          </a:xfrm>
          <a:prstGeom prst="star4">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noProof="0" dirty="0"/>
          </a:p>
        </p:txBody>
      </p:sp>
      <p:sp>
        <p:nvSpPr>
          <p:cNvPr id="3" name="Título 1">
            <a:extLst>
              <a:ext uri="{FF2B5EF4-FFF2-40B4-BE49-F238E27FC236}">
                <a16:creationId xmlns:a16="http://schemas.microsoft.com/office/drawing/2014/main" id="{24995816-34B3-282F-0138-D48DE5127219}"/>
              </a:ext>
            </a:extLst>
          </p:cNvPr>
          <p:cNvSpPr txBox="1">
            <a:spLocks/>
          </p:cNvSpPr>
          <p:nvPr/>
        </p:nvSpPr>
        <p:spPr>
          <a:xfrm>
            <a:off x="891591" y="501651"/>
            <a:ext cx="4082192" cy="5341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dirty="0">
                <a:solidFill>
                  <a:srgbClr val="FF0000"/>
                </a:solidFill>
                <a:latin typeface="Aptos SemiBold" panose="020F0502020204030204" pitchFamily="34" charset="0"/>
              </a:rPr>
              <a:t>Research designs </a:t>
            </a:r>
          </a:p>
        </p:txBody>
      </p:sp>
      <p:sp>
        <p:nvSpPr>
          <p:cNvPr id="5" name="Footer Placeholder 4">
            <a:extLst>
              <a:ext uri="{FF2B5EF4-FFF2-40B4-BE49-F238E27FC236}">
                <a16:creationId xmlns:a16="http://schemas.microsoft.com/office/drawing/2014/main" id="{435DD167-648A-1CD0-0D23-C854B556C039}"/>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2945265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80997-2E07-E8C9-4AE6-1B81CD5FD54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2C5DA50-022E-5B00-09F8-78DD60055A9E}"/>
              </a:ext>
            </a:extLst>
          </p:cNvPr>
          <p:cNvSpPr>
            <a:spLocks noGrp="1"/>
          </p:cNvSpPr>
          <p:nvPr>
            <p:ph type="dt" sz="half" idx="10"/>
          </p:nvPr>
        </p:nvSpPr>
        <p:spPr/>
        <p:txBody>
          <a:bodyPr/>
          <a:lstStyle/>
          <a:p>
            <a:fld id="{26E845D0-70B0-405D-A6BF-798C9CBE9027}" type="datetime1">
              <a:rPr lang="en-GB" noProof="0" smtClean="0">
                <a:solidFill>
                  <a:schemeClr val="bg1"/>
                </a:solidFill>
              </a:rPr>
              <a:t>27/03/2026</a:t>
            </a:fld>
            <a:endParaRPr lang="en-GB" noProof="0" dirty="0">
              <a:solidFill>
                <a:schemeClr val="bg1"/>
              </a:solidFill>
            </a:endParaRPr>
          </a:p>
        </p:txBody>
      </p:sp>
      <p:sp>
        <p:nvSpPr>
          <p:cNvPr id="9" name="Slide Number Placeholder 2">
            <a:extLst>
              <a:ext uri="{FF2B5EF4-FFF2-40B4-BE49-F238E27FC236}">
                <a16:creationId xmlns:a16="http://schemas.microsoft.com/office/drawing/2014/main" id="{B8E8E51F-4865-B6CD-9E53-F17006603439}"/>
              </a:ext>
            </a:extLst>
          </p:cNvPr>
          <p:cNvSpPr>
            <a:spLocks noGrp="1"/>
          </p:cNvSpPr>
          <p:nvPr>
            <p:ph type="sldNum" sz="quarter" idx="12"/>
          </p:nvPr>
        </p:nvSpPr>
        <p:spPr>
          <a:xfrm>
            <a:off x="8739389" y="6356348"/>
            <a:ext cx="2743200" cy="365125"/>
          </a:xfrm>
        </p:spPr>
        <p:txBody>
          <a:bodyPr/>
          <a:lstStyle/>
          <a:p>
            <a:fld id="{330EA680-D336-4FF7-8B7A-9848BB0A1C32}" type="slidenum">
              <a:rPr lang="en-GB" noProof="0" smtClean="0">
                <a:solidFill>
                  <a:schemeClr val="tx1">
                    <a:lumMod val="50000"/>
                    <a:lumOff val="50000"/>
                  </a:schemeClr>
                </a:solidFill>
              </a:rPr>
              <a:t>45</a:t>
            </a:fld>
            <a:endParaRPr lang="en-GB" noProof="0" dirty="0">
              <a:solidFill>
                <a:schemeClr val="tx1">
                  <a:lumMod val="50000"/>
                  <a:lumOff val="50000"/>
                </a:schemeClr>
              </a:solidFill>
            </a:endParaRPr>
          </a:p>
        </p:txBody>
      </p:sp>
      <p:sp>
        <p:nvSpPr>
          <p:cNvPr id="11" name="Date Placeholder 3">
            <a:extLst>
              <a:ext uri="{FF2B5EF4-FFF2-40B4-BE49-F238E27FC236}">
                <a16:creationId xmlns:a16="http://schemas.microsoft.com/office/drawing/2014/main" id="{F6B45485-7CB7-E77D-8DB2-D19E36F9E5BB}"/>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6E845D0-70B0-405D-A6BF-798C9CBE9027}" type="datetime1">
              <a:rPr lang="en-GB" noProof="0" smtClean="0">
                <a:solidFill>
                  <a:schemeClr val="tx1">
                    <a:lumMod val="50000"/>
                    <a:lumOff val="50000"/>
                  </a:schemeClr>
                </a:solidFill>
              </a:rPr>
              <a:pPr/>
              <a:t>27/03/2026</a:t>
            </a:fld>
            <a:endParaRPr lang="en-GB" noProof="0" dirty="0">
              <a:solidFill>
                <a:schemeClr val="tx1">
                  <a:lumMod val="50000"/>
                  <a:lumOff val="50000"/>
                </a:schemeClr>
              </a:solidFill>
            </a:endParaRPr>
          </a:p>
        </p:txBody>
      </p:sp>
      <p:sp>
        <p:nvSpPr>
          <p:cNvPr id="15" name="TextBox 14">
            <a:extLst>
              <a:ext uri="{FF2B5EF4-FFF2-40B4-BE49-F238E27FC236}">
                <a16:creationId xmlns:a16="http://schemas.microsoft.com/office/drawing/2014/main" id="{A0544CE9-B34F-5521-96BF-E1E11A7AAA9C}"/>
              </a:ext>
            </a:extLst>
          </p:cNvPr>
          <p:cNvSpPr txBox="1"/>
          <p:nvPr/>
        </p:nvSpPr>
        <p:spPr>
          <a:xfrm>
            <a:off x="974716" y="1470709"/>
            <a:ext cx="5845185" cy="461665"/>
          </a:xfrm>
          <a:prstGeom prst="rect">
            <a:avLst/>
          </a:prstGeom>
          <a:noFill/>
        </p:spPr>
        <p:txBody>
          <a:bodyPr wrap="square">
            <a:spAutoFit/>
          </a:bodyPr>
          <a:lstStyle/>
          <a:p>
            <a:r>
              <a:rPr lang="en-GB" sz="2400" b="1" noProof="0" dirty="0"/>
              <a:t>Mixed designs</a:t>
            </a:r>
            <a:endParaRPr lang="en-GB" sz="2400" b="1" noProof="0" dirty="0">
              <a:latin typeface="Corbel" panose="020B0503020204020204" pitchFamily="34" charset="0"/>
            </a:endParaRPr>
          </a:p>
        </p:txBody>
      </p:sp>
      <p:sp>
        <p:nvSpPr>
          <p:cNvPr id="6" name="Título 1">
            <a:extLst>
              <a:ext uri="{FF2B5EF4-FFF2-40B4-BE49-F238E27FC236}">
                <a16:creationId xmlns:a16="http://schemas.microsoft.com/office/drawing/2014/main" id="{AAD9A585-51AC-45EF-8F6B-D6DF06CEAEC1}"/>
              </a:ext>
            </a:extLst>
          </p:cNvPr>
          <p:cNvSpPr txBox="1">
            <a:spLocks/>
          </p:cNvSpPr>
          <p:nvPr/>
        </p:nvSpPr>
        <p:spPr>
          <a:xfrm>
            <a:off x="891591" y="501651"/>
            <a:ext cx="4082192" cy="5341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dirty="0">
                <a:solidFill>
                  <a:srgbClr val="FF0000"/>
                </a:solidFill>
                <a:latin typeface="Aptos SemiBold" panose="020F0502020204030204" pitchFamily="34" charset="0"/>
              </a:rPr>
              <a:t>Research designs </a:t>
            </a:r>
          </a:p>
        </p:txBody>
      </p:sp>
      <p:sp>
        <p:nvSpPr>
          <p:cNvPr id="7" name="TextBox 6">
            <a:extLst>
              <a:ext uri="{FF2B5EF4-FFF2-40B4-BE49-F238E27FC236}">
                <a16:creationId xmlns:a16="http://schemas.microsoft.com/office/drawing/2014/main" id="{598C3F1F-CF51-1004-0584-6C90E2AE9565}"/>
              </a:ext>
            </a:extLst>
          </p:cNvPr>
          <p:cNvSpPr txBox="1"/>
          <p:nvPr/>
        </p:nvSpPr>
        <p:spPr>
          <a:xfrm>
            <a:off x="974716" y="2082870"/>
            <a:ext cx="5016509" cy="3323987"/>
          </a:xfrm>
          <a:prstGeom prst="rect">
            <a:avLst/>
          </a:prstGeom>
          <a:noFill/>
        </p:spPr>
        <p:txBody>
          <a:bodyPr wrap="square">
            <a:spAutoFit/>
          </a:bodyPr>
          <a:lstStyle/>
          <a:p>
            <a:r>
              <a:rPr lang="en-GB" b="1" dirty="0">
                <a:solidFill>
                  <a:srgbClr val="FF0000"/>
                </a:solidFill>
              </a:rPr>
              <a:t>Convergent</a:t>
            </a:r>
          </a:p>
          <a:p>
            <a:r>
              <a:rPr lang="en-US" sz="1200" b="1" dirty="0">
                <a:latin typeface="Aptos Light" panose="020B0004020202020204" pitchFamily="34" charset="0"/>
              </a:rPr>
              <a:t>Focus</a:t>
            </a:r>
            <a:r>
              <a:rPr lang="en-US" sz="1200" dirty="0">
                <a:solidFill>
                  <a:schemeClr val="bg1">
                    <a:lumMod val="65000"/>
                  </a:schemeClr>
                </a:solidFill>
                <a:latin typeface="Aptos Light" panose="020B0004020202020204" pitchFamily="34" charset="0"/>
              </a:rPr>
              <a:t>: To integrate  quantitative and qualitative data collected in parallel.</a:t>
            </a:r>
          </a:p>
          <a:p>
            <a:r>
              <a:rPr lang="en-US" sz="1200" b="1" dirty="0">
                <a:latin typeface="Aptos Light" panose="020B0004020202020204" pitchFamily="34" charset="0"/>
              </a:rPr>
              <a:t>Purpose</a:t>
            </a:r>
            <a:r>
              <a:rPr lang="en-US" sz="1200" dirty="0">
                <a:solidFill>
                  <a:schemeClr val="bg1">
                    <a:lumMod val="65000"/>
                  </a:schemeClr>
                </a:solidFill>
                <a:latin typeface="Aptos Light" panose="020B0004020202020204" pitchFamily="34" charset="0"/>
              </a:rPr>
              <a:t>: To provide a comprehensive analysis of the research problem by </a:t>
            </a:r>
            <a:r>
              <a:rPr lang="en-US" sz="1200" dirty="0">
                <a:highlight>
                  <a:srgbClr val="FFC000"/>
                </a:highlight>
                <a:latin typeface="Aptos Light" panose="020B0004020202020204" pitchFamily="34" charset="0"/>
              </a:rPr>
              <a:t>identifying points of convergence and divergence between the two types of evidence</a:t>
            </a:r>
            <a:r>
              <a:rPr lang="en-US" sz="1200" dirty="0">
                <a:solidFill>
                  <a:schemeClr val="bg1">
                    <a:lumMod val="65000"/>
                  </a:schemeClr>
                </a:solidFill>
                <a:latin typeface="Aptos Light" panose="020B0004020202020204" pitchFamily="34" charset="0"/>
              </a:rPr>
              <a:t>.</a:t>
            </a:r>
          </a:p>
          <a:p>
            <a:endParaRPr lang="en-GB" noProof="0" dirty="0"/>
          </a:p>
          <a:p>
            <a:r>
              <a:rPr lang="en-GB" b="1" dirty="0">
                <a:solidFill>
                  <a:srgbClr val="FF0000"/>
                </a:solidFill>
              </a:rPr>
              <a:t>Sequential exploratory</a:t>
            </a:r>
          </a:p>
          <a:p>
            <a:r>
              <a:rPr lang="en-US" sz="1200" b="1" dirty="0">
                <a:latin typeface="Aptos Light" panose="020B0004020202020204" pitchFamily="34" charset="0"/>
              </a:rPr>
              <a:t>Focus: </a:t>
            </a:r>
            <a:r>
              <a:rPr lang="en-US" sz="1200" dirty="0">
                <a:solidFill>
                  <a:schemeClr val="bg1">
                    <a:lumMod val="65000"/>
                  </a:schemeClr>
                </a:solidFill>
                <a:latin typeface="Aptos Light" panose="020B0004020202020204" pitchFamily="34" charset="0"/>
              </a:rPr>
              <a:t>Qualitative research followed by quantitative research.</a:t>
            </a:r>
          </a:p>
          <a:p>
            <a:r>
              <a:rPr lang="en-US" sz="1200" b="1" dirty="0">
                <a:latin typeface="Aptos Light" panose="020B0004020202020204" pitchFamily="34" charset="0"/>
              </a:rPr>
              <a:t>Purpose: </a:t>
            </a:r>
            <a:r>
              <a:rPr lang="en-US" sz="1200" dirty="0">
                <a:solidFill>
                  <a:schemeClr val="bg1">
                    <a:lumMod val="65000"/>
                  </a:schemeClr>
                </a:solidFill>
                <a:latin typeface="Aptos Light" panose="020B0004020202020204" pitchFamily="34" charset="0"/>
              </a:rPr>
              <a:t>To use qualitative findings to inform and construct the subsequent quantitative phase.</a:t>
            </a:r>
          </a:p>
          <a:p>
            <a:endParaRPr lang="en-GB" b="1" noProof="0" dirty="0">
              <a:solidFill>
                <a:srgbClr val="DF102C"/>
              </a:solidFill>
            </a:endParaRPr>
          </a:p>
          <a:p>
            <a:r>
              <a:rPr lang="en-GB" b="1" dirty="0">
                <a:solidFill>
                  <a:srgbClr val="FF0000"/>
                </a:solidFill>
              </a:rPr>
              <a:t>Sequential explanatory</a:t>
            </a:r>
          </a:p>
          <a:p>
            <a:r>
              <a:rPr lang="en-US" sz="1200" b="1" dirty="0">
                <a:latin typeface="Aptos Light" panose="020B0004020202020204" pitchFamily="34" charset="0"/>
              </a:rPr>
              <a:t>Focus: </a:t>
            </a:r>
            <a:r>
              <a:rPr lang="en-US" sz="1200" dirty="0">
                <a:solidFill>
                  <a:schemeClr val="bg1">
                    <a:lumMod val="65000"/>
                  </a:schemeClr>
                </a:solidFill>
                <a:latin typeface="Aptos Light" panose="020B0004020202020204" pitchFamily="34" charset="0"/>
              </a:rPr>
              <a:t>Quantitative research followed by qualitative research.</a:t>
            </a:r>
          </a:p>
          <a:p>
            <a:r>
              <a:rPr lang="en-US" sz="1200" b="1" dirty="0">
                <a:latin typeface="Aptos Light" panose="020B0004020202020204" pitchFamily="34" charset="0"/>
              </a:rPr>
              <a:t>Purpose: </a:t>
            </a:r>
            <a:r>
              <a:rPr lang="en-US" sz="1200" dirty="0">
                <a:solidFill>
                  <a:schemeClr val="bg1">
                    <a:lumMod val="65000"/>
                  </a:schemeClr>
                </a:solidFill>
                <a:latin typeface="Aptos Light" panose="020B0004020202020204" pitchFamily="34" charset="0"/>
              </a:rPr>
              <a:t>To explain quantitative findings in greater depth through qualitative data.</a:t>
            </a:r>
            <a:endParaRPr lang="en-GB" sz="1200" dirty="0">
              <a:solidFill>
                <a:schemeClr val="bg1">
                  <a:lumMod val="65000"/>
                </a:schemeClr>
              </a:solidFill>
              <a:latin typeface="Aptos Light" panose="020B0004020202020204" pitchFamily="34" charset="0"/>
            </a:endParaRPr>
          </a:p>
        </p:txBody>
      </p:sp>
      <p:sp>
        <p:nvSpPr>
          <p:cNvPr id="8" name="TextBox 7">
            <a:extLst>
              <a:ext uri="{FF2B5EF4-FFF2-40B4-BE49-F238E27FC236}">
                <a16:creationId xmlns:a16="http://schemas.microsoft.com/office/drawing/2014/main" id="{0415DE8C-A29A-F6CF-C9F7-5AB6AFC021FA}"/>
              </a:ext>
            </a:extLst>
          </p:cNvPr>
          <p:cNvSpPr txBox="1"/>
          <p:nvPr/>
        </p:nvSpPr>
        <p:spPr>
          <a:xfrm>
            <a:off x="6466080" y="2063304"/>
            <a:ext cx="5016509" cy="1107996"/>
          </a:xfrm>
          <a:prstGeom prst="rect">
            <a:avLst/>
          </a:prstGeom>
          <a:noFill/>
        </p:spPr>
        <p:txBody>
          <a:bodyPr wrap="square">
            <a:spAutoFit/>
          </a:bodyPr>
          <a:lstStyle/>
          <a:p>
            <a:r>
              <a:rPr lang="en-GB" b="1" dirty="0">
                <a:solidFill>
                  <a:srgbClr val="FF0000"/>
                </a:solidFill>
              </a:rPr>
              <a:t>Complex (Embedded)</a:t>
            </a:r>
          </a:p>
          <a:p>
            <a:r>
              <a:rPr lang="en-US" sz="1200" b="1" dirty="0">
                <a:latin typeface="Aptos Light" panose="020B0004020202020204" pitchFamily="34" charset="0"/>
              </a:rPr>
              <a:t>Focus</a:t>
            </a:r>
            <a:r>
              <a:rPr lang="en-US" sz="1200" dirty="0">
                <a:solidFill>
                  <a:schemeClr val="bg1">
                    <a:lumMod val="65000"/>
                  </a:schemeClr>
                </a:solidFill>
                <a:latin typeface="Aptos Light" panose="020B0004020202020204" pitchFamily="34" charset="0"/>
              </a:rPr>
              <a:t>: The incorporation of core designs within a broader research framework or process.</a:t>
            </a:r>
          </a:p>
          <a:p>
            <a:r>
              <a:rPr lang="en-US" sz="1200" b="1" dirty="0">
                <a:latin typeface="Aptos Light" panose="020B0004020202020204" pitchFamily="34" charset="0"/>
              </a:rPr>
              <a:t>Purpose</a:t>
            </a:r>
            <a:r>
              <a:rPr lang="en-US" sz="1200" dirty="0">
                <a:solidFill>
                  <a:schemeClr val="bg1">
                    <a:lumMod val="65000"/>
                  </a:schemeClr>
                </a:solidFill>
                <a:latin typeface="Aptos Light" panose="020B0004020202020204" pitchFamily="34" charset="0"/>
              </a:rPr>
              <a:t>: To explain quantitative results using qualitative data, to document cases, or to generate cases for further analysis.</a:t>
            </a:r>
          </a:p>
        </p:txBody>
      </p:sp>
      <p:sp>
        <p:nvSpPr>
          <p:cNvPr id="12" name="Footer Placeholder 4">
            <a:extLst>
              <a:ext uri="{FF2B5EF4-FFF2-40B4-BE49-F238E27FC236}">
                <a16:creationId xmlns:a16="http://schemas.microsoft.com/office/drawing/2014/main" id="{DAF835B7-61B1-B29B-9DD9-9D01B4329963}"/>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100" noProof="0" dirty="0">
                <a:solidFill>
                  <a:schemeClr val="bg1">
                    <a:lumMod val="85000"/>
                  </a:schemeClr>
                </a:solidFill>
              </a:rPr>
              <a:t>Data analysis</a:t>
            </a:r>
          </a:p>
        </p:txBody>
      </p:sp>
    </p:spTree>
    <p:extLst>
      <p:ext uri="{BB962C8B-B14F-4D97-AF65-F5344CB8AC3E}">
        <p14:creationId xmlns:p14="http://schemas.microsoft.com/office/powerpoint/2010/main" val="238713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7">
                                            <p:txEl>
                                              <p:pRg st="6" end="6"/>
                                            </p:txEl>
                                          </p:spTgt>
                                        </p:tgtEl>
                                        <p:attrNameLst>
                                          <p:attrName>style.visibility</p:attrName>
                                        </p:attrNameLst>
                                      </p:cBhvr>
                                      <p:to>
                                        <p:strVal val="visible"/>
                                      </p:to>
                                    </p:set>
                                    <p:animEffect transition="in" filter="fade">
                                      <p:cBhvr>
                                        <p:cTn id="24" dur="500"/>
                                        <p:tgtEl>
                                          <p:spTgt spid="7">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xEl>
                                              <p:pRg st="8" end="8"/>
                                            </p:txEl>
                                          </p:spTgt>
                                        </p:tgtEl>
                                        <p:attrNameLst>
                                          <p:attrName>style.visibility</p:attrName>
                                        </p:attrNameLst>
                                      </p:cBhvr>
                                      <p:to>
                                        <p:strVal val="visible"/>
                                      </p:to>
                                    </p:set>
                                    <p:animEffect transition="in" filter="fade">
                                      <p:cBhvr>
                                        <p:cTn id="29" dur="500"/>
                                        <p:tgtEl>
                                          <p:spTgt spid="7">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
                                            <p:txEl>
                                              <p:pRg st="9" end="9"/>
                                            </p:txEl>
                                          </p:spTgt>
                                        </p:tgtEl>
                                        <p:attrNameLst>
                                          <p:attrName>style.visibility</p:attrName>
                                        </p:attrNameLst>
                                      </p:cBhvr>
                                      <p:to>
                                        <p:strVal val="visible"/>
                                      </p:to>
                                    </p:set>
                                    <p:animEffect transition="in" filter="fade">
                                      <p:cBhvr>
                                        <p:cTn id="32" dur="500"/>
                                        <p:tgtEl>
                                          <p:spTgt spid="7">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7">
                                            <p:txEl>
                                              <p:pRg st="10" end="10"/>
                                            </p:txEl>
                                          </p:spTgt>
                                        </p:tgtEl>
                                        <p:attrNameLst>
                                          <p:attrName>style.visibility</p:attrName>
                                        </p:attrNameLst>
                                      </p:cBhvr>
                                      <p:to>
                                        <p:strVal val="visible"/>
                                      </p:to>
                                    </p:set>
                                    <p:animEffect transition="in" filter="fade">
                                      <p:cBhvr>
                                        <p:cTn id="35" dur="500"/>
                                        <p:tgtEl>
                                          <p:spTgt spid="7">
                                            <p:txEl>
                                              <p:pRg st="10" end="1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
                                            <p:txEl>
                                              <p:pRg st="0" end="0"/>
                                            </p:txEl>
                                          </p:spTgt>
                                        </p:tgtEl>
                                        <p:attrNameLst>
                                          <p:attrName>style.visibility</p:attrName>
                                        </p:attrNameLst>
                                      </p:cBhvr>
                                      <p:to>
                                        <p:strVal val="visible"/>
                                      </p:to>
                                    </p:set>
                                    <p:animEffect transition="in" filter="fade">
                                      <p:cBhvr>
                                        <p:cTn id="40" dur="500"/>
                                        <p:tgtEl>
                                          <p:spTgt spid="8">
                                            <p:txEl>
                                              <p:pRg st="0" end="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8">
                                            <p:txEl>
                                              <p:pRg st="1" end="1"/>
                                            </p:txEl>
                                          </p:spTgt>
                                        </p:tgtEl>
                                        <p:attrNameLst>
                                          <p:attrName>style.visibility</p:attrName>
                                        </p:attrNameLst>
                                      </p:cBhvr>
                                      <p:to>
                                        <p:strVal val="visible"/>
                                      </p:to>
                                    </p:set>
                                    <p:animEffect transition="in" filter="fade">
                                      <p:cBhvr>
                                        <p:cTn id="43" dur="500"/>
                                        <p:tgtEl>
                                          <p:spTgt spid="8">
                                            <p:txEl>
                                              <p:pRg st="1" end="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8">
                                            <p:txEl>
                                              <p:pRg st="2" end="2"/>
                                            </p:txEl>
                                          </p:spTgt>
                                        </p:tgtEl>
                                        <p:attrNameLst>
                                          <p:attrName>style.visibility</p:attrName>
                                        </p:attrNameLst>
                                      </p:cBhvr>
                                      <p:to>
                                        <p:strVal val="visible"/>
                                      </p:to>
                                    </p:set>
                                    <p:animEffect transition="in" filter="fade">
                                      <p:cBhvr>
                                        <p:cTn id="46"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8A64-0ECE-2CC1-5C2E-75A22F86A44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30F2358-12D1-317E-C0D9-5EA7803E8D58}"/>
              </a:ext>
            </a:extLst>
          </p:cNvPr>
          <p:cNvSpPr>
            <a:spLocks noGrp="1"/>
          </p:cNvSpPr>
          <p:nvPr>
            <p:ph type="sldNum" sz="quarter" idx="12"/>
          </p:nvPr>
        </p:nvSpPr>
        <p:spPr/>
        <p:txBody>
          <a:bodyPr/>
          <a:lstStyle/>
          <a:p>
            <a:fld id="{330EA680-D336-4FF7-8B7A-9848BB0A1C32}" type="slidenum">
              <a:rPr lang="en-GB" noProof="0" smtClean="0"/>
              <a:t>46</a:t>
            </a:fld>
            <a:endParaRPr lang="en-GB" noProof="0" dirty="0"/>
          </a:p>
        </p:txBody>
      </p:sp>
      <p:sp>
        <p:nvSpPr>
          <p:cNvPr id="4" name="Date Placeholder 3">
            <a:extLst>
              <a:ext uri="{FF2B5EF4-FFF2-40B4-BE49-F238E27FC236}">
                <a16:creationId xmlns:a16="http://schemas.microsoft.com/office/drawing/2014/main" id="{57CDC3D8-ABD7-57D4-8446-833C6BF46DFF}"/>
              </a:ext>
            </a:extLst>
          </p:cNvPr>
          <p:cNvSpPr>
            <a:spLocks noGrp="1"/>
          </p:cNvSpPr>
          <p:nvPr>
            <p:ph type="dt" sz="half" idx="10"/>
          </p:nvPr>
        </p:nvSpPr>
        <p:spPr/>
        <p:txBody>
          <a:bodyPr/>
          <a:lstStyle/>
          <a:p>
            <a:fld id="{26E845D0-70B0-405D-A6BF-798C9CBE9027}" type="datetime1">
              <a:rPr lang="en-GB" noProof="0" smtClean="0"/>
              <a:t>27/03/2026</a:t>
            </a:fld>
            <a:endParaRPr lang="en-GB" noProof="0" dirty="0"/>
          </a:p>
        </p:txBody>
      </p:sp>
      <p:sp>
        <p:nvSpPr>
          <p:cNvPr id="8" name="Título 1">
            <a:extLst>
              <a:ext uri="{FF2B5EF4-FFF2-40B4-BE49-F238E27FC236}">
                <a16:creationId xmlns:a16="http://schemas.microsoft.com/office/drawing/2014/main" id="{2B50E1C5-3483-AC71-2906-C3A7695B3C7A}"/>
              </a:ext>
            </a:extLst>
          </p:cNvPr>
          <p:cNvSpPr txBox="1">
            <a:spLocks/>
          </p:cNvSpPr>
          <p:nvPr/>
        </p:nvSpPr>
        <p:spPr>
          <a:xfrm>
            <a:off x="891590" y="501651"/>
            <a:ext cx="5297731" cy="48658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r>
              <a:rPr lang="en-GB" sz="3200" b="1" dirty="0">
                <a:solidFill>
                  <a:srgbClr val="FF0000"/>
                </a:solidFill>
                <a:latin typeface="Aptos SemiBold" panose="020F0502020204030204" pitchFamily="34" charset="0"/>
              </a:rPr>
              <a:t>Research methods</a:t>
            </a:r>
          </a:p>
        </p:txBody>
      </p:sp>
      <p:cxnSp>
        <p:nvCxnSpPr>
          <p:cNvPr id="7" name="Straight Connector 6">
            <a:extLst>
              <a:ext uri="{FF2B5EF4-FFF2-40B4-BE49-F238E27FC236}">
                <a16:creationId xmlns:a16="http://schemas.microsoft.com/office/drawing/2014/main" id="{06AB56F2-4024-D47A-A02C-3C72C5CACF22}"/>
              </a:ext>
            </a:extLst>
          </p:cNvPr>
          <p:cNvCxnSpPr>
            <a:cxnSpLocks/>
          </p:cNvCxnSpPr>
          <p:nvPr/>
        </p:nvCxnSpPr>
        <p:spPr>
          <a:xfrm flipH="1">
            <a:off x="2971488" y="3428794"/>
            <a:ext cx="6412314" cy="405"/>
          </a:xfrm>
          <a:prstGeom prst="line">
            <a:avLst/>
          </a:prstGeom>
          <a:ln w="9525">
            <a:solidFill>
              <a:srgbClr val="F26665"/>
            </a:solidFill>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649FE7DE-8D63-69A4-5E10-7AAD48E4B7E6}"/>
              </a:ext>
            </a:extLst>
          </p:cNvPr>
          <p:cNvSpPr/>
          <p:nvPr/>
        </p:nvSpPr>
        <p:spPr>
          <a:xfrm>
            <a:off x="2513090" y="3213080"/>
            <a:ext cx="458398" cy="458398"/>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 name="Oval 13">
            <a:extLst>
              <a:ext uri="{FF2B5EF4-FFF2-40B4-BE49-F238E27FC236}">
                <a16:creationId xmlns:a16="http://schemas.microsoft.com/office/drawing/2014/main" id="{D4C13849-1CA3-6EA2-B61D-C4DE2EDFDBEC}"/>
              </a:ext>
            </a:extLst>
          </p:cNvPr>
          <p:cNvSpPr/>
          <p:nvPr/>
        </p:nvSpPr>
        <p:spPr>
          <a:xfrm>
            <a:off x="5866801" y="3199597"/>
            <a:ext cx="458398" cy="45839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TextBox 15">
            <a:extLst>
              <a:ext uri="{FF2B5EF4-FFF2-40B4-BE49-F238E27FC236}">
                <a16:creationId xmlns:a16="http://schemas.microsoft.com/office/drawing/2014/main" id="{5A24E3CA-FC1B-6325-01F1-88B1D13564F1}"/>
              </a:ext>
            </a:extLst>
          </p:cNvPr>
          <p:cNvSpPr txBox="1"/>
          <p:nvPr/>
        </p:nvSpPr>
        <p:spPr>
          <a:xfrm>
            <a:off x="8810376" y="2614086"/>
            <a:ext cx="1593604" cy="555345"/>
          </a:xfrm>
          <a:prstGeom prst="rect">
            <a:avLst/>
          </a:prstGeom>
          <a:noFill/>
        </p:spPr>
        <p:txBody>
          <a:bodyPr wrap="square">
            <a:spAutoFit/>
          </a:bodyPr>
          <a:lstStyle/>
          <a:p>
            <a:pPr algn="ctr">
              <a:lnSpc>
                <a:spcPts val="1800"/>
              </a:lnSpc>
            </a:pPr>
            <a:r>
              <a:rPr lang="en-US" altLang="en-US" b="1" dirty="0">
                <a:latin typeface="Segoe UI" panose="020B0502040204020203" pitchFamily="34" charset="0"/>
                <a:cs typeface="Segoe UI" panose="020B0502040204020203" pitchFamily="34" charset="0"/>
              </a:rPr>
              <a:t>Quantitative Methods</a:t>
            </a:r>
            <a:endParaRPr lang="en-GB" b="1" noProof="0" dirty="0">
              <a:solidFill>
                <a:schemeClr val="accent5"/>
              </a:solidFill>
              <a:latin typeface="Corbel" panose="020B0503020204020204" pitchFamily="34" charset="0"/>
            </a:endParaRPr>
          </a:p>
        </p:txBody>
      </p:sp>
      <p:sp>
        <p:nvSpPr>
          <p:cNvPr id="17" name="TextBox 16">
            <a:extLst>
              <a:ext uri="{FF2B5EF4-FFF2-40B4-BE49-F238E27FC236}">
                <a16:creationId xmlns:a16="http://schemas.microsoft.com/office/drawing/2014/main" id="{5C488EA6-9CDF-1370-4898-B78A3AEAC295}"/>
              </a:ext>
            </a:extLst>
          </p:cNvPr>
          <p:cNvSpPr txBox="1"/>
          <p:nvPr/>
        </p:nvSpPr>
        <p:spPr>
          <a:xfrm>
            <a:off x="1992240" y="2614085"/>
            <a:ext cx="1593604" cy="555345"/>
          </a:xfrm>
          <a:prstGeom prst="rect">
            <a:avLst/>
          </a:prstGeom>
          <a:noFill/>
        </p:spPr>
        <p:txBody>
          <a:bodyPr wrap="square">
            <a:spAutoFit/>
          </a:bodyPr>
          <a:lstStyle/>
          <a:p>
            <a:pPr algn="ctr">
              <a:lnSpc>
                <a:spcPts val="1800"/>
              </a:lnSpc>
            </a:pPr>
            <a:r>
              <a:rPr lang="en-US" altLang="en-US" b="1" dirty="0">
                <a:latin typeface="Segoe UI" panose="020B0502040204020203" pitchFamily="34" charset="0"/>
                <a:cs typeface="Segoe UI" panose="020B0502040204020203" pitchFamily="34" charset="0"/>
              </a:rPr>
              <a:t>Qualitative Methods</a:t>
            </a:r>
            <a:endParaRPr lang="en-GB" b="1" noProof="0" dirty="0">
              <a:solidFill>
                <a:schemeClr val="accent5"/>
              </a:solidFill>
              <a:latin typeface="Corbel" panose="020B0503020204020204" pitchFamily="34" charset="0"/>
            </a:endParaRPr>
          </a:p>
        </p:txBody>
      </p:sp>
      <p:sp>
        <p:nvSpPr>
          <p:cNvPr id="18" name="TextBox 17">
            <a:extLst>
              <a:ext uri="{FF2B5EF4-FFF2-40B4-BE49-F238E27FC236}">
                <a16:creationId xmlns:a16="http://schemas.microsoft.com/office/drawing/2014/main" id="{6C2282BE-1FC8-DC48-A0CE-F36EDA0DD8C4}"/>
              </a:ext>
            </a:extLst>
          </p:cNvPr>
          <p:cNvSpPr txBox="1"/>
          <p:nvPr/>
        </p:nvSpPr>
        <p:spPr>
          <a:xfrm>
            <a:off x="5340824" y="2638334"/>
            <a:ext cx="1593604" cy="555345"/>
          </a:xfrm>
          <a:prstGeom prst="rect">
            <a:avLst/>
          </a:prstGeom>
          <a:noFill/>
        </p:spPr>
        <p:txBody>
          <a:bodyPr wrap="square">
            <a:spAutoFit/>
          </a:bodyPr>
          <a:lstStyle/>
          <a:p>
            <a:pPr algn="ctr">
              <a:lnSpc>
                <a:spcPts val="1800"/>
              </a:lnSpc>
            </a:pPr>
            <a:r>
              <a:rPr lang="en-US" altLang="en-US" b="1" dirty="0">
                <a:latin typeface="Segoe UI" panose="020B0502040204020203" pitchFamily="34" charset="0"/>
                <a:cs typeface="Segoe UI" panose="020B0502040204020203" pitchFamily="34" charset="0"/>
              </a:rPr>
              <a:t>Mixed Methods</a:t>
            </a:r>
            <a:endParaRPr lang="en-GB" b="1" noProof="0" dirty="0">
              <a:solidFill>
                <a:schemeClr val="accent5"/>
              </a:solidFill>
              <a:latin typeface="Corbel" panose="020B0503020204020204" pitchFamily="34" charset="0"/>
            </a:endParaRPr>
          </a:p>
        </p:txBody>
      </p:sp>
      <p:sp>
        <p:nvSpPr>
          <p:cNvPr id="19" name="TextBox 18">
            <a:extLst>
              <a:ext uri="{FF2B5EF4-FFF2-40B4-BE49-F238E27FC236}">
                <a16:creationId xmlns:a16="http://schemas.microsoft.com/office/drawing/2014/main" id="{82CC6A27-838D-AECD-92F9-0979479ED3FA}"/>
              </a:ext>
            </a:extLst>
          </p:cNvPr>
          <p:cNvSpPr txBox="1"/>
          <p:nvPr/>
        </p:nvSpPr>
        <p:spPr>
          <a:xfrm>
            <a:off x="891589" y="3801705"/>
            <a:ext cx="4585285" cy="2031325"/>
          </a:xfrm>
          <a:prstGeom prst="rect">
            <a:avLst/>
          </a:prstGeom>
          <a:noFill/>
        </p:spPr>
        <p:txBody>
          <a:bodyPr wrap="square">
            <a:spAutoFit/>
          </a:bodyPr>
          <a:lstStyle>
            <a:defPPr>
              <a:defRPr lang="en-US"/>
            </a:defPPr>
            <a:lvl1pPr>
              <a:defRPr>
                <a:solidFill>
                  <a:schemeClr val="bg1">
                    <a:lumMod val="65000"/>
                  </a:schemeClr>
                </a:solidFill>
              </a:defRPr>
            </a:lvl1pPr>
          </a:lstStyle>
          <a:p>
            <a:pPr marL="285750" indent="-285750">
              <a:buFont typeface="Arial" panose="020B0604020202020204" pitchFamily="34" charset="0"/>
              <a:buChar char="•"/>
            </a:pPr>
            <a:r>
              <a:rPr lang="en-US" sz="1400" dirty="0">
                <a:latin typeface="Aptos Light" panose="020B0004020202020204" pitchFamily="34" charset="0"/>
              </a:rPr>
              <a:t>Data collection often involves </a:t>
            </a:r>
            <a:r>
              <a:rPr lang="en-US" sz="1400" dirty="0">
                <a:solidFill>
                  <a:schemeClr val="tx1"/>
                </a:solidFill>
                <a:highlight>
                  <a:srgbClr val="FFC000"/>
                </a:highlight>
                <a:latin typeface="Aptos Light" panose="020B0004020202020204" pitchFamily="34" charset="0"/>
              </a:rPr>
              <a:t>visiting the research site to observe participants</a:t>
            </a:r>
            <a:r>
              <a:rPr lang="en-US" sz="1400" dirty="0">
                <a:latin typeface="Aptos Light" panose="020B0004020202020204" pitchFamily="34" charset="0"/>
              </a:rPr>
              <a:t> or conducting interviews, generally without highly structured questions.</a:t>
            </a:r>
          </a:p>
          <a:p>
            <a:pPr marL="285750" indent="-285750">
              <a:buFont typeface="Arial" panose="020B0604020202020204" pitchFamily="34" charset="0"/>
              <a:buChar char="•"/>
            </a:pPr>
            <a:r>
              <a:rPr lang="en-US" sz="1400" dirty="0">
                <a:latin typeface="Aptos Light" panose="020B0004020202020204" pitchFamily="34" charset="0"/>
              </a:rPr>
              <a:t>Methods are </a:t>
            </a:r>
            <a:r>
              <a:rPr lang="en-US" sz="1400" dirty="0">
                <a:solidFill>
                  <a:schemeClr val="tx1"/>
                </a:solidFill>
                <a:highlight>
                  <a:srgbClr val="FFC000"/>
                </a:highlight>
                <a:latin typeface="Aptos Light" panose="020B0004020202020204" pitchFamily="34" charset="0"/>
              </a:rPr>
              <a:t>emergent</a:t>
            </a:r>
            <a:r>
              <a:rPr lang="en-US" sz="1400" dirty="0">
                <a:latin typeface="Aptos Light" panose="020B0004020202020204" pitchFamily="34" charset="0"/>
              </a:rPr>
              <a:t> rather than fixed.</a:t>
            </a:r>
          </a:p>
          <a:p>
            <a:pPr marL="285750" indent="-285750">
              <a:buFont typeface="Arial" panose="020B0604020202020204" pitchFamily="34" charset="0"/>
              <a:buChar char="•"/>
            </a:pPr>
            <a:r>
              <a:rPr lang="en-US" sz="1400" dirty="0">
                <a:latin typeface="Aptos Light" panose="020B0004020202020204" pitchFamily="34" charset="0"/>
              </a:rPr>
              <a:t>Questions are open‑ended.</a:t>
            </a:r>
          </a:p>
          <a:p>
            <a:pPr marL="285750" indent="-285750">
              <a:buFont typeface="Arial" panose="020B0604020202020204" pitchFamily="34" charset="0"/>
              <a:buChar char="•"/>
            </a:pPr>
            <a:r>
              <a:rPr lang="en-US" sz="1400" dirty="0">
                <a:latin typeface="Aptos Light" panose="020B0004020202020204" pitchFamily="34" charset="0"/>
              </a:rPr>
              <a:t>Data come from interviews, observations, documents, and audiovisual materials.</a:t>
            </a:r>
          </a:p>
          <a:p>
            <a:pPr marL="285750" indent="-285750">
              <a:buFont typeface="Arial" panose="020B0604020202020204" pitchFamily="34" charset="0"/>
              <a:buChar char="•"/>
            </a:pPr>
            <a:r>
              <a:rPr lang="en-US" sz="1400" dirty="0">
                <a:latin typeface="Aptos Light" panose="020B0004020202020204" pitchFamily="34" charset="0"/>
              </a:rPr>
              <a:t>Analysis focuses on text and images, identifying patterns and themes.</a:t>
            </a:r>
          </a:p>
        </p:txBody>
      </p:sp>
      <p:sp>
        <p:nvSpPr>
          <p:cNvPr id="11" name="Oval 10">
            <a:extLst>
              <a:ext uri="{FF2B5EF4-FFF2-40B4-BE49-F238E27FC236}">
                <a16:creationId xmlns:a16="http://schemas.microsoft.com/office/drawing/2014/main" id="{51B8F420-45FA-2478-BF62-9D90CC1B959E}"/>
              </a:ext>
            </a:extLst>
          </p:cNvPr>
          <p:cNvSpPr/>
          <p:nvPr/>
        </p:nvSpPr>
        <p:spPr>
          <a:xfrm>
            <a:off x="9377979" y="3199595"/>
            <a:ext cx="458398" cy="45839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extBox 1">
            <a:extLst>
              <a:ext uri="{FF2B5EF4-FFF2-40B4-BE49-F238E27FC236}">
                <a16:creationId xmlns:a16="http://schemas.microsoft.com/office/drawing/2014/main" id="{AE70C5D8-BE83-157F-74DE-707991CB03B7}"/>
              </a:ext>
            </a:extLst>
          </p:cNvPr>
          <p:cNvSpPr txBox="1"/>
          <p:nvPr/>
        </p:nvSpPr>
        <p:spPr>
          <a:xfrm>
            <a:off x="7200900" y="3801704"/>
            <a:ext cx="4361497" cy="1600438"/>
          </a:xfrm>
          <a:prstGeom prst="rect">
            <a:avLst/>
          </a:prstGeom>
          <a:noFill/>
        </p:spPr>
        <p:txBody>
          <a:bodyPr wrap="square">
            <a:spAutoFit/>
          </a:bodyPr>
          <a:lstStyle>
            <a:defPPr>
              <a:defRPr lang="en-US"/>
            </a:defPPr>
            <a:lvl1pPr>
              <a:defRPr>
                <a:solidFill>
                  <a:schemeClr val="bg1">
                    <a:lumMod val="65000"/>
                  </a:schemeClr>
                </a:solidFill>
              </a:defRPr>
            </a:lvl1pPr>
          </a:lstStyle>
          <a:p>
            <a:pPr marL="285750" indent="-285750">
              <a:buFont typeface="Arial" panose="020B0604020202020204" pitchFamily="34" charset="0"/>
              <a:buChar char="•"/>
            </a:pPr>
            <a:r>
              <a:rPr lang="en-US" sz="1400" dirty="0">
                <a:latin typeface="Aptos Light" panose="020B0004020202020204" pitchFamily="34" charset="0"/>
              </a:rPr>
              <a:t>Data are collected using instruments, tests, and </a:t>
            </a:r>
            <a:r>
              <a:rPr lang="en-US" sz="1400" dirty="0" err="1">
                <a:latin typeface="Aptos Light" panose="020B0004020202020204" pitchFamily="34" charset="0"/>
              </a:rPr>
              <a:t>behavioural</a:t>
            </a:r>
            <a:r>
              <a:rPr lang="en-US" sz="1400" dirty="0">
                <a:latin typeface="Aptos Light" panose="020B0004020202020204" pitchFamily="34" charset="0"/>
              </a:rPr>
              <a:t> checklists.</a:t>
            </a:r>
          </a:p>
          <a:p>
            <a:pPr marL="285750" indent="-285750">
              <a:buFont typeface="Arial" panose="020B0604020202020204" pitchFamily="34" charset="0"/>
              <a:buChar char="•"/>
            </a:pPr>
            <a:r>
              <a:rPr lang="en-US" sz="1400" dirty="0">
                <a:latin typeface="Aptos Light" panose="020B0004020202020204" pitchFamily="34" charset="0"/>
              </a:rPr>
              <a:t>Methods are </a:t>
            </a:r>
            <a:r>
              <a:rPr lang="en-US" sz="1400" dirty="0">
                <a:solidFill>
                  <a:schemeClr val="tx1"/>
                </a:solidFill>
                <a:highlight>
                  <a:srgbClr val="FFC000"/>
                </a:highlight>
                <a:latin typeface="Aptos Light" panose="020B0004020202020204" pitchFamily="34" charset="0"/>
              </a:rPr>
              <a:t>pre‑determined</a:t>
            </a:r>
            <a:r>
              <a:rPr lang="en-US" sz="1400" dirty="0">
                <a:latin typeface="Aptos Light" panose="020B0004020202020204" pitchFamily="34" charset="0"/>
              </a:rPr>
              <a:t>.</a:t>
            </a:r>
          </a:p>
          <a:p>
            <a:pPr marL="285750" indent="-285750">
              <a:buFont typeface="Arial" panose="020B0604020202020204" pitchFamily="34" charset="0"/>
              <a:buChar char="•"/>
            </a:pPr>
            <a:r>
              <a:rPr lang="en-US" sz="1400" dirty="0">
                <a:latin typeface="Aptos Light" panose="020B0004020202020204" pitchFamily="34" charset="0"/>
              </a:rPr>
              <a:t>Questions are typically closed‑ended and based on structured instruments.</a:t>
            </a:r>
          </a:p>
          <a:p>
            <a:pPr marL="285750" indent="-285750">
              <a:buFont typeface="Arial" panose="020B0604020202020204" pitchFamily="34" charset="0"/>
              <a:buChar char="•"/>
            </a:pPr>
            <a:r>
              <a:rPr lang="en-US" sz="1400" dirty="0">
                <a:latin typeface="Aptos Light" panose="020B0004020202020204" pitchFamily="34" charset="0"/>
              </a:rPr>
              <a:t>Analysis and interpretation rely on statistical procedures.</a:t>
            </a:r>
          </a:p>
        </p:txBody>
      </p:sp>
    </p:spTree>
    <p:extLst>
      <p:ext uri="{BB962C8B-B14F-4D97-AF65-F5344CB8AC3E}">
        <p14:creationId xmlns:p14="http://schemas.microsoft.com/office/powerpoint/2010/main" val="2968290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C2107A7F-7215-98DC-4CFB-792FD059F25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6774DE5-A17B-6136-27C3-369BB0A5BB59}"/>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1C5CFDA3-3E58-B8BF-8C20-93E19B56B73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1125F027-0AAB-55DF-CB30-828D715D4536}"/>
              </a:ext>
            </a:extLst>
          </p:cNvPr>
          <p:cNvSpPr txBox="1">
            <a:spLocks/>
          </p:cNvSpPr>
          <p:nvPr/>
        </p:nvSpPr>
        <p:spPr>
          <a:xfrm>
            <a:off x="891589" y="501651"/>
            <a:ext cx="4480511" cy="46174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dirty="0">
                <a:ln>
                  <a:noFill/>
                </a:ln>
                <a:solidFill>
                  <a:prstClr val="white">
                    <a:lumMod val="95000"/>
                  </a:prstClr>
                </a:solidFill>
                <a:effectLst/>
                <a:uLnTx/>
                <a:uFillTx/>
                <a:latin typeface="Aptos SemiBold" panose="020F0502020204030204" pitchFamily="34" charset="0"/>
                <a:ea typeface="+mj-ea"/>
                <a:cs typeface="+mj-cs"/>
              </a:rPr>
              <a:t>Research methods</a:t>
            </a:r>
          </a:p>
        </p:txBody>
      </p:sp>
      <p:graphicFrame>
        <p:nvGraphicFramePr>
          <p:cNvPr id="5" name="Table 4">
            <a:extLst>
              <a:ext uri="{FF2B5EF4-FFF2-40B4-BE49-F238E27FC236}">
                <a16:creationId xmlns:a16="http://schemas.microsoft.com/office/drawing/2014/main" id="{937F8CAA-8E2D-C5C1-6577-8B74F1DD4931}"/>
              </a:ext>
            </a:extLst>
          </p:cNvPr>
          <p:cNvGraphicFramePr>
            <a:graphicFrameLocks noGrp="1"/>
          </p:cNvGraphicFramePr>
          <p:nvPr>
            <p:extLst>
              <p:ext uri="{D42A27DB-BD31-4B8C-83A1-F6EECF244321}">
                <p14:modId xmlns:p14="http://schemas.microsoft.com/office/powerpoint/2010/main" val="30242719"/>
              </p:ext>
            </p:extLst>
          </p:nvPr>
        </p:nvGraphicFramePr>
        <p:xfrm>
          <a:off x="891589" y="1485170"/>
          <a:ext cx="10653138" cy="4409440"/>
        </p:xfrm>
        <a:graphic>
          <a:graphicData uri="http://schemas.openxmlformats.org/drawingml/2006/table">
            <a:tbl>
              <a:tblPr firstRow="1" bandRow="1">
                <a:tableStyleId>{5C22544A-7EE6-4342-B048-85BDC9FD1C3A}</a:tableStyleId>
              </a:tblPr>
              <a:tblGrid>
                <a:gridCol w="1686511">
                  <a:extLst>
                    <a:ext uri="{9D8B030D-6E8A-4147-A177-3AD203B41FA5}">
                      <a16:colId xmlns:a16="http://schemas.microsoft.com/office/drawing/2014/main" val="1283802510"/>
                    </a:ext>
                  </a:extLst>
                </a:gridCol>
                <a:gridCol w="3200400">
                  <a:extLst>
                    <a:ext uri="{9D8B030D-6E8A-4147-A177-3AD203B41FA5}">
                      <a16:colId xmlns:a16="http://schemas.microsoft.com/office/drawing/2014/main" val="2837925401"/>
                    </a:ext>
                  </a:extLst>
                </a:gridCol>
                <a:gridCol w="2806700">
                  <a:extLst>
                    <a:ext uri="{9D8B030D-6E8A-4147-A177-3AD203B41FA5}">
                      <a16:colId xmlns:a16="http://schemas.microsoft.com/office/drawing/2014/main" val="821230832"/>
                    </a:ext>
                  </a:extLst>
                </a:gridCol>
                <a:gridCol w="2959527">
                  <a:extLst>
                    <a:ext uri="{9D8B030D-6E8A-4147-A177-3AD203B41FA5}">
                      <a16:colId xmlns:a16="http://schemas.microsoft.com/office/drawing/2014/main" val="2729915486"/>
                    </a:ext>
                  </a:extLst>
                </a:gridCol>
              </a:tblGrid>
              <a:tr h="370840">
                <a:tc>
                  <a:txBody>
                    <a:bodyPr/>
                    <a:lstStyle/>
                    <a:p>
                      <a:endParaRPr lang="en-GB" sz="1600" noProof="0"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600" noProof="0" dirty="0">
                          <a:solidFill>
                            <a:schemeClr val="accent1">
                              <a:lumMod val="75000"/>
                            </a:schemeClr>
                          </a:solidFill>
                        </a:rPr>
                        <a:t>Qualitative</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600" noProof="0" dirty="0">
                          <a:solidFill>
                            <a:schemeClr val="accent1">
                              <a:lumMod val="75000"/>
                            </a:schemeClr>
                          </a:solidFill>
                        </a:rPr>
                        <a:t>Quantitative</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600" noProof="0" dirty="0">
                          <a:solidFill>
                            <a:schemeClr val="accent1">
                              <a:lumMod val="75000"/>
                            </a:schemeClr>
                          </a:solidFill>
                        </a:rPr>
                        <a:t>Mixed methods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1530951"/>
                  </a:ext>
                </a:extLst>
              </a:tr>
              <a:tr h="370840">
                <a:tc>
                  <a:txBody>
                    <a:bodyPr/>
                    <a:lstStyle/>
                    <a:p>
                      <a:r>
                        <a:rPr lang="en-GB" sz="1200" b="1" noProof="0" dirty="0">
                          <a:solidFill>
                            <a:schemeClr val="accent1">
                              <a:lumMod val="75000"/>
                            </a:schemeClr>
                          </a:solidFill>
                        </a:rPr>
                        <a:t>Worldviews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noProof="0" dirty="0">
                          <a:solidFill>
                            <a:schemeClr val="bg1"/>
                          </a:solidFill>
                        </a:rPr>
                        <a:t>Draws on constructivist and transformative philosophical assumptions.</a:t>
                      </a:r>
                      <a:endParaRPr lang="en-GB" sz="1200" noProof="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noProof="0" dirty="0">
                          <a:solidFill>
                            <a:schemeClr val="bg1"/>
                          </a:solidFill>
                        </a:rPr>
                        <a:t>Draws on positivism </a:t>
                      </a:r>
                      <a:endParaRPr lang="en-GB" sz="1200" noProof="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noProof="0" dirty="0">
                          <a:solidFill>
                            <a:schemeClr val="bg1"/>
                          </a:solidFill>
                        </a:rPr>
                        <a:t>Draws on </a:t>
                      </a:r>
                      <a:r>
                        <a:rPr lang="en-US" sz="1200" noProof="0" dirty="0" err="1">
                          <a:solidFill>
                            <a:schemeClr val="bg1"/>
                          </a:solidFill>
                        </a:rPr>
                        <a:t>pragmatisim</a:t>
                      </a:r>
                      <a:r>
                        <a:rPr lang="en-US" sz="1200" noProof="0" dirty="0">
                          <a:solidFill>
                            <a:schemeClr val="bg1"/>
                          </a:solidFill>
                        </a:rPr>
                        <a:t> </a:t>
                      </a:r>
                      <a:endParaRPr lang="en-GB" sz="1200" noProof="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7483057"/>
                  </a:ext>
                </a:extLst>
              </a:tr>
              <a:tr h="370840">
                <a:tc>
                  <a:txBody>
                    <a:bodyPr/>
                    <a:lstStyle/>
                    <a:p>
                      <a:r>
                        <a:rPr lang="en-GB" sz="1200" b="1" noProof="0" dirty="0">
                          <a:solidFill>
                            <a:schemeClr val="accent1">
                              <a:lumMod val="75000"/>
                            </a:schemeClr>
                          </a:solidFill>
                        </a:rPr>
                        <a:t>Designs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noProof="0" dirty="0">
                          <a:solidFill>
                            <a:schemeClr val="bg1"/>
                          </a:solidFill>
                        </a:rPr>
                        <a:t>Draws on constructivist and transformative philosophical assumptions.</a:t>
                      </a:r>
                      <a:endParaRPr lang="en-GB" sz="1200" noProof="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noProof="0" dirty="0">
                          <a:solidFill>
                            <a:schemeClr val="bg1"/>
                          </a:solidFill>
                        </a:rPr>
                        <a:t>Uses designs such as surveys and experiments (true experiments, quasi‑experiments, and single‑subject designs).</a:t>
                      </a:r>
                      <a:endParaRPr lang="en-GB" sz="1200" noProof="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noProof="0" dirty="0">
                          <a:solidFill>
                            <a:schemeClr val="bg1"/>
                          </a:solidFill>
                        </a:rPr>
                        <a:t>Uses sequential, convergent, or complex (embedded) designs.</a:t>
                      </a:r>
                      <a:endParaRPr lang="en-GB" sz="1200" noProof="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0903528"/>
                  </a:ext>
                </a:extLst>
              </a:tr>
              <a:tr h="473806">
                <a:tc>
                  <a:txBody>
                    <a:bodyPr/>
                    <a:lstStyle/>
                    <a:p>
                      <a:r>
                        <a:rPr lang="en-GB" sz="1200" b="1" noProof="0" dirty="0">
                          <a:solidFill>
                            <a:schemeClr val="accent1">
                              <a:lumMod val="75000"/>
                            </a:schemeClr>
                          </a:solidFill>
                        </a:rPr>
                        <a:t>Methods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noProof="0" dirty="0">
                          <a:solidFill>
                            <a:schemeClr val="bg1"/>
                          </a:solidFill>
                        </a:rPr>
                        <a:t>Employs open‑ended questions, emergent approaches, and textual or visual data.</a:t>
                      </a:r>
                      <a:endParaRPr lang="en-GB" sz="1200" noProof="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noProof="0" dirty="0">
                          <a:solidFill>
                            <a:schemeClr val="bg1"/>
                          </a:solidFill>
                        </a:rPr>
                        <a:t>Employs closed‑ended questions, pre‑determined procedures, and numeric data (sometimes with a small number of open‑ended items).</a:t>
                      </a:r>
                      <a:endParaRPr lang="en-GB" sz="1200" noProof="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noProof="0" dirty="0">
                          <a:solidFill>
                            <a:schemeClr val="bg1"/>
                          </a:solidFill>
                        </a:rPr>
                        <a:t>Combines open‑ and closed‑ended questions, emergent and pre‑determined procedures, and both quantitative and qualitative data.</a:t>
                      </a:r>
                      <a:endParaRPr lang="en-GB" sz="1200" noProof="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5699758"/>
                  </a:ext>
                </a:extLst>
              </a:tr>
              <a:tr h="370840">
                <a:tc>
                  <a:txBody>
                    <a:bodyPr/>
                    <a:lstStyle/>
                    <a:p>
                      <a:r>
                        <a:rPr lang="en-GB" sz="1200" b="1" noProof="0" dirty="0">
                          <a:solidFill>
                            <a:schemeClr val="accent1">
                              <a:lumMod val="75000"/>
                            </a:schemeClr>
                          </a:solidFill>
                        </a:rPr>
                        <a:t>Common practices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noProof="0" dirty="0">
                          <a:solidFill>
                            <a:schemeClr val="bg1"/>
                          </a:solidFill>
                        </a:rPr>
                        <a:t>Gathering participants’ meanings</a:t>
                      </a:r>
                    </a:p>
                    <a:p>
                      <a:pPr marL="171450" indent="-171450">
                        <a:buFont typeface="Arial" panose="020B0604020202020204" pitchFamily="34" charset="0"/>
                        <a:buChar char="•"/>
                      </a:pPr>
                      <a:r>
                        <a:rPr lang="en-US" sz="1100" noProof="0" dirty="0">
                          <a:solidFill>
                            <a:schemeClr val="bg1"/>
                          </a:solidFill>
                        </a:rPr>
                        <a:t>Focusing on a single concept or phenomenon</a:t>
                      </a:r>
                    </a:p>
                    <a:p>
                      <a:pPr marL="171450" indent="-171450">
                        <a:buFont typeface="Arial" panose="020B0604020202020204" pitchFamily="34" charset="0"/>
                        <a:buChar char="•"/>
                      </a:pPr>
                      <a:r>
                        <a:rPr lang="en-US" sz="1100" noProof="0" dirty="0">
                          <a:solidFill>
                            <a:schemeClr val="bg1"/>
                          </a:solidFill>
                        </a:rPr>
                        <a:t>Allowing the researcher’s values to be acknowledged within the study</a:t>
                      </a:r>
                    </a:p>
                    <a:p>
                      <a:pPr marL="171450" indent="-171450">
                        <a:buFont typeface="Arial" panose="020B0604020202020204" pitchFamily="34" charset="0"/>
                        <a:buChar char="•"/>
                      </a:pPr>
                      <a:r>
                        <a:rPr lang="en-US" sz="1100" noProof="0" dirty="0">
                          <a:solidFill>
                            <a:schemeClr val="bg1"/>
                          </a:solidFill>
                        </a:rPr>
                        <a:t>Studying participants within their broader context or environment</a:t>
                      </a:r>
                    </a:p>
                    <a:p>
                      <a:pPr marL="171450" indent="-171450">
                        <a:buFont typeface="Arial" panose="020B0604020202020204" pitchFamily="34" charset="0"/>
                        <a:buChar char="•"/>
                      </a:pPr>
                      <a:r>
                        <a:rPr lang="en-US" sz="1100" noProof="0" dirty="0">
                          <a:solidFill>
                            <a:schemeClr val="bg1"/>
                          </a:solidFill>
                        </a:rPr>
                        <a:t>Validating the accuracy of findings</a:t>
                      </a:r>
                    </a:p>
                    <a:p>
                      <a:pPr marL="171450" indent="-171450">
                        <a:buFont typeface="Arial" panose="020B0604020202020204" pitchFamily="34" charset="0"/>
                        <a:buChar char="•"/>
                      </a:pPr>
                      <a:r>
                        <a:rPr lang="en-US" sz="1100" noProof="0" dirty="0">
                          <a:solidFill>
                            <a:schemeClr val="bg1"/>
                          </a:solidFill>
                        </a:rPr>
                        <a:t>Interpreting data</a:t>
                      </a:r>
                    </a:p>
                    <a:p>
                      <a:pPr marL="171450" indent="-171450">
                        <a:buFont typeface="Arial" panose="020B0604020202020204" pitchFamily="34" charset="0"/>
                        <a:buChar char="•"/>
                      </a:pPr>
                      <a:r>
                        <a:rPr lang="en-US" sz="1100" noProof="0" dirty="0">
                          <a:solidFill>
                            <a:schemeClr val="bg1"/>
                          </a:solidFill>
                        </a:rPr>
                        <a:t>Creating an agenda for change or reform</a:t>
                      </a:r>
                    </a:p>
                    <a:p>
                      <a:pPr marL="171450" indent="-171450">
                        <a:buFont typeface="Arial" panose="020B0604020202020204" pitchFamily="34" charset="0"/>
                        <a:buChar char="•"/>
                      </a:pPr>
                      <a:r>
                        <a:rPr lang="en-US" sz="1100" noProof="0" dirty="0">
                          <a:solidFill>
                            <a:schemeClr val="bg1"/>
                          </a:solidFill>
                        </a:rPr>
                        <a:t>Using textual and thematic analysis procedures</a:t>
                      </a:r>
                      <a:endParaRPr lang="en-GB" sz="1100" noProof="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noProof="0" dirty="0">
                          <a:solidFill>
                            <a:schemeClr val="bg1"/>
                          </a:solidFill>
                        </a:rPr>
                        <a:t>Testing or verifying theories</a:t>
                      </a:r>
                    </a:p>
                    <a:p>
                      <a:pPr marL="171450" indent="-171450">
                        <a:buFont typeface="Arial" panose="020B0604020202020204" pitchFamily="34" charset="0"/>
                        <a:buChar char="•"/>
                      </a:pPr>
                      <a:r>
                        <a:rPr lang="en-US" sz="1100" noProof="0" dirty="0">
                          <a:solidFill>
                            <a:schemeClr val="bg1"/>
                          </a:solidFill>
                        </a:rPr>
                        <a:t>Identifying variables for study</a:t>
                      </a:r>
                    </a:p>
                    <a:p>
                      <a:pPr marL="171450" indent="-171450">
                        <a:buFont typeface="Arial" panose="020B0604020202020204" pitchFamily="34" charset="0"/>
                        <a:buChar char="•"/>
                      </a:pPr>
                      <a:r>
                        <a:rPr lang="en-US" sz="1100" noProof="0" dirty="0">
                          <a:solidFill>
                            <a:schemeClr val="bg1"/>
                          </a:solidFill>
                        </a:rPr>
                        <a:t>Examining relationships between variables in research questions or hypotheses</a:t>
                      </a:r>
                    </a:p>
                    <a:p>
                      <a:pPr marL="171450" indent="-171450">
                        <a:buFont typeface="Arial" panose="020B0604020202020204" pitchFamily="34" charset="0"/>
                        <a:buChar char="•"/>
                      </a:pPr>
                      <a:r>
                        <a:rPr lang="en-US" sz="1100" noProof="0" dirty="0">
                          <a:solidFill>
                            <a:schemeClr val="bg1"/>
                          </a:solidFill>
                        </a:rPr>
                        <a:t>Applying standards of validity and reliability</a:t>
                      </a:r>
                    </a:p>
                    <a:p>
                      <a:pPr marL="171450" indent="-171450">
                        <a:buFont typeface="Arial" panose="020B0604020202020204" pitchFamily="34" charset="0"/>
                        <a:buChar char="•"/>
                      </a:pPr>
                      <a:r>
                        <a:rPr lang="en-US" sz="1100" noProof="0" dirty="0">
                          <a:solidFill>
                            <a:schemeClr val="bg1"/>
                          </a:solidFill>
                        </a:rPr>
                        <a:t>Observing and measuring numerical information</a:t>
                      </a:r>
                    </a:p>
                    <a:p>
                      <a:pPr marL="171450" indent="-171450">
                        <a:buFont typeface="Arial" panose="020B0604020202020204" pitchFamily="34" charset="0"/>
                        <a:buChar char="•"/>
                      </a:pPr>
                      <a:r>
                        <a:rPr lang="en-US" sz="1100" noProof="0" dirty="0">
                          <a:solidFill>
                            <a:schemeClr val="bg1"/>
                          </a:solidFill>
                        </a:rPr>
                        <a:t>Using impartial, objective approaches</a:t>
                      </a:r>
                    </a:p>
                    <a:p>
                      <a:pPr marL="171450" indent="-171450">
                        <a:buFont typeface="Arial" panose="020B0604020202020204" pitchFamily="34" charset="0"/>
                        <a:buChar char="•"/>
                      </a:pPr>
                      <a:r>
                        <a:rPr lang="en-US" sz="1100" noProof="0" dirty="0">
                          <a:solidFill>
                            <a:schemeClr val="bg1"/>
                          </a:solidFill>
                        </a:rPr>
                        <a:t>Employing statistical procedures</a:t>
                      </a:r>
                      <a:endParaRPr lang="en-GB" sz="1100" noProof="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noProof="0" dirty="0">
                          <a:solidFill>
                            <a:schemeClr val="bg1"/>
                          </a:solidFill>
                        </a:rPr>
                        <a:t>Collecting both quantitative and qualitative data</a:t>
                      </a:r>
                    </a:p>
                    <a:p>
                      <a:pPr marL="171450" indent="-171450">
                        <a:buFont typeface="Arial" panose="020B0604020202020204" pitchFamily="34" charset="0"/>
                        <a:buChar char="•"/>
                      </a:pPr>
                      <a:r>
                        <a:rPr lang="en-US" sz="1100" noProof="0" dirty="0">
                          <a:solidFill>
                            <a:schemeClr val="bg1"/>
                          </a:solidFill>
                        </a:rPr>
                        <a:t>Developing a clear rationale for combining methods</a:t>
                      </a:r>
                    </a:p>
                    <a:p>
                      <a:pPr marL="171450" indent="-171450">
                        <a:buFont typeface="Arial" panose="020B0604020202020204" pitchFamily="34" charset="0"/>
                        <a:buChar char="•"/>
                      </a:pPr>
                      <a:r>
                        <a:rPr lang="en-US" sz="1100" noProof="0" dirty="0">
                          <a:solidFill>
                            <a:schemeClr val="bg1"/>
                          </a:solidFill>
                        </a:rPr>
                        <a:t>Integrating data at different stages of the research process</a:t>
                      </a:r>
                    </a:p>
                    <a:p>
                      <a:pPr marL="171450" indent="-171450">
                        <a:buFont typeface="Arial" panose="020B0604020202020204" pitchFamily="34" charset="0"/>
                        <a:buChar char="•"/>
                      </a:pPr>
                      <a:r>
                        <a:rPr lang="en-US" sz="1100" noProof="0" dirty="0">
                          <a:solidFill>
                            <a:schemeClr val="bg1"/>
                          </a:solidFill>
                        </a:rPr>
                        <a:t>Using visual representations to illustrate procedural steps in the study</a:t>
                      </a:r>
                    </a:p>
                    <a:p>
                      <a:pPr marL="171450" indent="-171450">
                        <a:buFont typeface="Arial" panose="020B0604020202020204" pitchFamily="34" charset="0"/>
                        <a:buChar char="•"/>
                      </a:pPr>
                      <a:r>
                        <a:rPr lang="en-US" sz="1100" noProof="0" dirty="0">
                          <a:solidFill>
                            <a:schemeClr val="bg1"/>
                          </a:solidFill>
                        </a:rPr>
                        <a:t>Implementing practices drawn from both qualitative and quantitative methods</a:t>
                      </a:r>
                      <a:endParaRPr lang="en-GB" sz="1100" noProof="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7472659"/>
                  </a:ext>
                </a:extLst>
              </a:tr>
            </a:tbl>
          </a:graphicData>
        </a:graphic>
      </p:graphicFrame>
      <p:sp>
        <p:nvSpPr>
          <p:cNvPr id="7" name="Rectangle 6">
            <a:extLst>
              <a:ext uri="{FF2B5EF4-FFF2-40B4-BE49-F238E27FC236}">
                <a16:creationId xmlns:a16="http://schemas.microsoft.com/office/drawing/2014/main" id="{6FE57ECD-A8D5-321C-935F-7FB6CCB6FE5D}"/>
              </a:ext>
            </a:extLst>
          </p:cNvPr>
          <p:cNvSpPr/>
          <p:nvPr/>
        </p:nvSpPr>
        <p:spPr>
          <a:xfrm>
            <a:off x="176555" y="6356348"/>
            <a:ext cx="2574266" cy="412752"/>
          </a:xfrm>
          <a:prstGeom prst="rect">
            <a:avLst/>
          </a:prstGeom>
          <a:solidFill>
            <a:srgbClr val="EA21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3927823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895B95FD-00A5-FE4D-FE5D-FE7EA1360B5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ADEF18F-44B2-83FC-E5A5-D3496AF3D4F0}"/>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074F3B1F-443B-9F45-E447-843888BF5F1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9C90C203-DC48-4837-204C-1350454E26AB}"/>
              </a:ext>
            </a:extLst>
          </p:cNvPr>
          <p:cNvSpPr txBox="1">
            <a:spLocks/>
          </p:cNvSpPr>
          <p:nvPr/>
        </p:nvSpPr>
        <p:spPr>
          <a:xfrm>
            <a:off x="891589" y="501650"/>
            <a:ext cx="4480511"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dirty="0">
                <a:solidFill>
                  <a:prstClr val="white">
                    <a:lumMod val="95000"/>
                  </a:prstClr>
                </a:solidFill>
                <a:latin typeface="Aptos SemiBold" panose="020F0502020204030204" pitchFamily="34" charset="0"/>
              </a:rPr>
              <a:t>Research approaches</a:t>
            </a:r>
          </a:p>
        </p:txBody>
      </p:sp>
      <p:sp>
        <p:nvSpPr>
          <p:cNvPr id="7" name="TextBox 6">
            <a:extLst>
              <a:ext uri="{FF2B5EF4-FFF2-40B4-BE49-F238E27FC236}">
                <a16:creationId xmlns:a16="http://schemas.microsoft.com/office/drawing/2014/main" id="{4B42BB14-3C40-E918-B296-28DBF842288A}"/>
              </a:ext>
            </a:extLst>
          </p:cNvPr>
          <p:cNvSpPr txBox="1"/>
          <p:nvPr/>
        </p:nvSpPr>
        <p:spPr>
          <a:xfrm>
            <a:off x="891589" y="1480445"/>
            <a:ext cx="593674" cy="584775"/>
          </a:xfrm>
          <a:prstGeom prst="rect">
            <a:avLst/>
          </a:prstGeom>
          <a:noFill/>
        </p:spPr>
        <p:txBody>
          <a:bodyPr wrap="square">
            <a:spAutoFit/>
          </a:bodyPr>
          <a:lstStyle/>
          <a:p>
            <a:r>
              <a:rPr lang="en-GB" sz="3200" noProof="0" dirty="0">
                <a:solidFill>
                  <a:schemeClr val="accent1">
                    <a:lumMod val="75000"/>
                  </a:schemeClr>
                </a:solidFill>
                <a:latin typeface="Aptos Black" panose="020B0004020202020204" pitchFamily="34" charset="0"/>
              </a:rPr>
              <a:t>1.</a:t>
            </a:r>
            <a:endParaRPr lang="en-GB" sz="3200" b="1" noProof="0" dirty="0">
              <a:solidFill>
                <a:schemeClr val="accent1">
                  <a:lumMod val="75000"/>
                </a:schemeClr>
              </a:solidFill>
              <a:latin typeface="Aptos Black" panose="020B0004020202020204" pitchFamily="34" charset="0"/>
            </a:endParaRPr>
          </a:p>
        </p:txBody>
      </p:sp>
      <p:sp>
        <p:nvSpPr>
          <p:cNvPr id="8" name="TextBox 7">
            <a:extLst>
              <a:ext uri="{FF2B5EF4-FFF2-40B4-BE49-F238E27FC236}">
                <a16:creationId xmlns:a16="http://schemas.microsoft.com/office/drawing/2014/main" id="{557DED75-53AB-2CEE-AF9B-D37CE6CF0AAD}"/>
              </a:ext>
            </a:extLst>
          </p:cNvPr>
          <p:cNvSpPr txBox="1"/>
          <p:nvPr/>
        </p:nvSpPr>
        <p:spPr>
          <a:xfrm>
            <a:off x="1370653" y="1529537"/>
            <a:ext cx="4480511" cy="707886"/>
          </a:xfrm>
          <a:prstGeom prst="rect">
            <a:avLst/>
          </a:prstGeom>
          <a:noFill/>
        </p:spPr>
        <p:txBody>
          <a:bodyPr wrap="square">
            <a:spAutoFit/>
          </a:bodyPr>
          <a:lstStyle/>
          <a:p>
            <a:pPr>
              <a:lnSpc>
                <a:spcPts val="1600"/>
              </a:lnSpc>
            </a:pPr>
            <a:r>
              <a:rPr lang="en-US" sz="1400" b="1" dirty="0">
                <a:solidFill>
                  <a:schemeClr val="accent1">
                    <a:lumMod val="75000"/>
                  </a:schemeClr>
                </a:solidFill>
              </a:rPr>
              <a:t>Quantitative Approach: </a:t>
            </a:r>
            <a:r>
              <a:rPr lang="en-US" sz="1400" dirty="0">
                <a:solidFill>
                  <a:schemeClr val="accent1">
                    <a:lumMod val="75000"/>
                  </a:schemeClr>
                </a:solidFill>
              </a:rPr>
              <a:t>Post‑positivist Perspective</a:t>
            </a:r>
          </a:p>
          <a:p>
            <a:pPr>
              <a:lnSpc>
                <a:spcPts val="1600"/>
              </a:lnSpc>
            </a:pPr>
            <a:r>
              <a:rPr lang="en-US" sz="1400" b="1" dirty="0">
                <a:solidFill>
                  <a:schemeClr val="accent1">
                    <a:lumMod val="75000"/>
                  </a:schemeClr>
                </a:solidFill>
              </a:rPr>
              <a:t>Design: </a:t>
            </a:r>
            <a:r>
              <a:rPr lang="en-US" sz="1400" dirty="0">
                <a:solidFill>
                  <a:schemeClr val="accent1">
                    <a:lumMod val="75000"/>
                  </a:schemeClr>
                </a:solidFill>
              </a:rPr>
              <a:t>Experimental design with pre‑test and post‑test measures of attitudes</a:t>
            </a:r>
            <a:endParaRPr lang="en-GB" sz="1400" noProof="0" dirty="0">
              <a:solidFill>
                <a:schemeClr val="accent1">
                  <a:lumMod val="75000"/>
                </a:schemeClr>
              </a:solidFill>
              <a:latin typeface="Corbel" panose="020B0503020204020204" pitchFamily="34" charset="0"/>
            </a:endParaRPr>
          </a:p>
        </p:txBody>
      </p:sp>
      <p:sp>
        <p:nvSpPr>
          <p:cNvPr id="9" name="TextBox 8">
            <a:extLst>
              <a:ext uri="{FF2B5EF4-FFF2-40B4-BE49-F238E27FC236}">
                <a16:creationId xmlns:a16="http://schemas.microsoft.com/office/drawing/2014/main" id="{65979E3C-F06E-3E7D-E504-469C8B5AACC0}"/>
              </a:ext>
            </a:extLst>
          </p:cNvPr>
          <p:cNvSpPr txBox="1"/>
          <p:nvPr/>
        </p:nvSpPr>
        <p:spPr>
          <a:xfrm>
            <a:off x="843835" y="2286515"/>
            <a:ext cx="4632291" cy="1754326"/>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dirty="0">
                <a:solidFill>
                  <a:schemeClr val="bg1"/>
                </a:solidFill>
              </a:rPr>
              <a:t>The researcher tests a theory by specifying </a:t>
            </a:r>
            <a:r>
              <a:rPr lang="en-US" sz="1200" dirty="0">
                <a:solidFill>
                  <a:schemeClr val="tx1"/>
                </a:solidFill>
                <a:highlight>
                  <a:srgbClr val="FFC000"/>
                </a:highlight>
              </a:rPr>
              <a:t>clear hypotheses and collecting data to support or refute them</a:t>
            </a:r>
            <a:r>
              <a:rPr lang="en-US" sz="1200" dirty="0">
                <a:solidFill>
                  <a:schemeClr val="bg1"/>
                </a:solidFill>
              </a:rPr>
              <a:t>.</a:t>
            </a:r>
          </a:p>
          <a:p>
            <a:endParaRPr lang="en-US" sz="1200" dirty="0">
              <a:solidFill>
                <a:schemeClr val="bg1"/>
              </a:solidFill>
            </a:endParaRPr>
          </a:p>
          <a:p>
            <a:r>
              <a:rPr lang="en-US" sz="1200" dirty="0">
                <a:solidFill>
                  <a:schemeClr val="bg1"/>
                </a:solidFill>
              </a:rPr>
              <a:t>An experimental design is used to assess participants’ attitudes before and after an experimental treatment.</a:t>
            </a:r>
          </a:p>
          <a:p>
            <a:endParaRPr lang="en-US" sz="1200" dirty="0">
              <a:solidFill>
                <a:schemeClr val="bg1"/>
              </a:solidFill>
            </a:endParaRPr>
          </a:p>
          <a:p>
            <a:r>
              <a:rPr lang="en-US" sz="1200" dirty="0">
                <a:solidFill>
                  <a:schemeClr val="bg1"/>
                </a:solidFill>
              </a:rPr>
              <a:t>Data are gathered using an instrument that measures attitudes, and the results are </a:t>
            </a:r>
            <a:r>
              <a:rPr lang="en-US" sz="1200" dirty="0" err="1">
                <a:solidFill>
                  <a:schemeClr val="bg1"/>
                </a:solidFill>
              </a:rPr>
              <a:t>analysed</a:t>
            </a:r>
            <a:r>
              <a:rPr lang="en-US" sz="1200" dirty="0">
                <a:solidFill>
                  <a:schemeClr val="bg1"/>
                </a:solidFill>
              </a:rPr>
              <a:t> using statistical procedures and hypothesis testing.</a:t>
            </a:r>
            <a:endParaRPr lang="en-GB" sz="1200" b="1" noProof="0" dirty="0">
              <a:solidFill>
                <a:schemeClr val="bg1"/>
              </a:solidFill>
            </a:endParaRPr>
          </a:p>
        </p:txBody>
      </p:sp>
      <p:sp>
        <p:nvSpPr>
          <p:cNvPr id="12" name="TextBox 11">
            <a:extLst>
              <a:ext uri="{FF2B5EF4-FFF2-40B4-BE49-F238E27FC236}">
                <a16:creationId xmlns:a16="http://schemas.microsoft.com/office/drawing/2014/main" id="{99E0AB97-6801-F816-1D51-812736151DB5}"/>
              </a:ext>
            </a:extLst>
          </p:cNvPr>
          <p:cNvSpPr txBox="1"/>
          <p:nvPr/>
        </p:nvSpPr>
        <p:spPr>
          <a:xfrm>
            <a:off x="6561211" y="1529537"/>
            <a:ext cx="593674" cy="584775"/>
          </a:xfrm>
          <a:prstGeom prst="rect">
            <a:avLst/>
          </a:prstGeom>
          <a:noFill/>
        </p:spPr>
        <p:txBody>
          <a:bodyPr wrap="square">
            <a:spAutoFit/>
          </a:bodyPr>
          <a:lstStyle/>
          <a:p>
            <a:r>
              <a:rPr lang="en-GB" sz="3200" noProof="0" dirty="0">
                <a:solidFill>
                  <a:schemeClr val="accent1">
                    <a:lumMod val="75000"/>
                  </a:schemeClr>
                </a:solidFill>
                <a:latin typeface="Aptos Black" panose="020B0004020202020204" pitchFamily="34" charset="0"/>
              </a:rPr>
              <a:t>2.</a:t>
            </a:r>
            <a:endParaRPr lang="en-GB" sz="3200" b="1" noProof="0" dirty="0">
              <a:solidFill>
                <a:schemeClr val="accent1">
                  <a:lumMod val="75000"/>
                </a:schemeClr>
              </a:solidFill>
              <a:latin typeface="Aptos Black" panose="020B0004020202020204" pitchFamily="34" charset="0"/>
            </a:endParaRPr>
          </a:p>
        </p:txBody>
      </p:sp>
      <p:sp>
        <p:nvSpPr>
          <p:cNvPr id="13" name="TextBox 12">
            <a:extLst>
              <a:ext uri="{FF2B5EF4-FFF2-40B4-BE49-F238E27FC236}">
                <a16:creationId xmlns:a16="http://schemas.microsoft.com/office/drawing/2014/main" id="{5B03E22C-36B1-BF5C-6D24-341B939E384D}"/>
              </a:ext>
            </a:extLst>
          </p:cNvPr>
          <p:cNvSpPr txBox="1"/>
          <p:nvPr/>
        </p:nvSpPr>
        <p:spPr>
          <a:xfrm>
            <a:off x="7040274" y="1578629"/>
            <a:ext cx="4480511" cy="707886"/>
          </a:xfrm>
          <a:prstGeom prst="rect">
            <a:avLst/>
          </a:prstGeom>
          <a:noFill/>
        </p:spPr>
        <p:txBody>
          <a:bodyPr wrap="square">
            <a:spAutoFit/>
          </a:bodyPr>
          <a:lstStyle/>
          <a:p>
            <a:pPr>
              <a:lnSpc>
                <a:spcPts val="1600"/>
              </a:lnSpc>
            </a:pPr>
            <a:r>
              <a:rPr lang="en-US" sz="1400" b="1" dirty="0">
                <a:solidFill>
                  <a:schemeClr val="accent1">
                    <a:lumMod val="75000"/>
                  </a:schemeClr>
                </a:solidFill>
              </a:rPr>
              <a:t>Qualitative Approach: </a:t>
            </a:r>
            <a:r>
              <a:rPr lang="en-US" sz="1400" dirty="0">
                <a:solidFill>
                  <a:schemeClr val="accent1">
                    <a:lumMod val="75000"/>
                  </a:schemeClr>
                </a:solidFill>
              </a:rPr>
              <a:t>Constructivist Perspective</a:t>
            </a:r>
          </a:p>
          <a:p>
            <a:pPr>
              <a:lnSpc>
                <a:spcPts val="1600"/>
              </a:lnSpc>
            </a:pPr>
            <a:r>
              <a:rPr lang="en-US" sz="1400" b="1" dirty="0">
                <a:solidFill>
                  <a:schemeClr val="accent1">
                    <a:lumMod val="75000"/>
                  </a:schemeClr>
                </a:solidFill>
              </a:rPr>
              <a:t>Design: </a:t>
            </a:r>
            <a:r>
              <a:rPr lang="en-US" sz="1400" dirty="0">
                <a:solidFill>
                  <a:schemeClr val="accent1">
                    <a:lumMod val="75000"/>
                  </a:schemeClr>
                </a:solidFill>
              </a:rPr>
              <a:t>Ethnographic design with </a:t>
            </a:r>
            <a:r>
              <a:rPr lang="en-US" sz="1400" dirty="0" err="1">
                <a:solidFill>
                  <a:schemeClr val="accent1">
                    <a:lumMod val="75000"/>
                  </a:schemeClr>
                </a:solidFill>
              </a:rPr>
              <a:t>behavioural</a:t>
            </a:r>
            <a:r>
              <a:rPr lang="en-US" sz="1400" dirty="0">
                <a:solidFill>
                  <a:schemeClr val="accent1">
                    <a:lumMod val="75000"/>
                  </a:schemeClr>
                </a:solidFill>
              </a:rPr>
              <a:t> observation</a:t>
            </a:r>
            <a:endParaRPr lang="en-GB" sz="1400" noProof="0" dirty="0">
              <a:solidFill>
                <a:schemeClr val="accent1">
                  <a:lumMod val="75000"/>
                </a:schemeClr>
              </a:solidFill>
              <a:latin typeface="Corbel" panose="020B0503020204020204" pitchFamily="34" charset="0"/>
            </a:endParaRPr>
          </a:p>
        </p:txBody>
      </p:sp>
      <p:sp>
        <p:nvSpPr>
          <p:cNvPr id="14" name="TextBox 13">
            <a:extLst>
              <a:ext uri="{FF2B5EF4-FFF2-40B4-BE49-F238E27FC236}">
                <a16:creationId xmlns:a16="http://schemas.microsoft.com/office/drawing/2014/main" id="{DB4CD813-79B6-7BC4-E49D-F7EE92C34354}"/>
              </a:ext>
            </a:extLst>
          </p:cNvPr>
          <p:cNvSpPr txBox="1"/>
          <p:nvPr/>
        </p:nvSpPr>
        <p:spPr>
          <a:xfrm>
            <a:off x="6513457" y="2335607"/>
            <a:ext cx="4632291" cy="1569660"/>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dirty="0">
                <a:solidFill>
                  <a:schemeClr val="bg1"/>
                </a:solidFill>
              </a:rPr>
              <a:t>The researcher </a:t>
            </a:r>
            <a:r>
              <a:rPr lang="en-US" sz="1200" dirty="0">
                <a:solidFill>
                  <a:schemeClr val="tx1"/>
                </a:solidFill>
                <a:highlight>
                  <a:srgbClr val="FFC000"/>
                </a:highlight>
              </a:rPr>
              <a:t>seeks to understand the meaning of a phenomenon from the perspectives of participants</a:t>
            </a:r>
            <a:r>
              <a:rPr lang="en-US" sz="1200" dirty="0">
                <a:solidFill>
                  <a:schemeClr val="bg1"/>
                </a:solidFill>
              </a:rPr>
              <a:t>.</a:t>
            </a:r>
          </a:p>
          <a:p>
            <a:endParaRPr lang="en-US" sz="1200" dirty="0">
              <a:solidFill>
                <a:schemeClr val="bg1"/>
              </a:solidFill>
            </a:endParaRPr>
          </a:p>
          <a:p>
            <a:r>
              <a:rPr lang="en-US" sz="1200" dirty="0">
                <a:solidFill>
                  <a:schemeClr val="bg1"/>
                </a:solidFill>
              </a:rPr>
              <a:t>This involves identifying a group that shares a common culture and studying how shared </a:t>
            </a:r>
            <a:r>
              <a:rPr lang="en-US" sz="1200" dirty="0" err="1">
                <a:solidFill>
                  <a:schemeClr val="bg1"/>
                </a:solidFill>
              </a:rPr>
              <a:t>behavioural</a:t>
            </a:r>
            <a:r>
              <a:rPr lang="en-US" sz="1200" dirty="0">
                <a:solidFill>
                  <a:schemeClr val="bg1"/>
                </a:solidFill>
              </a:rPr>
              <a:t> patterns develop over time.</a:t>
            </a:r>
          </a:p>
          <a:p>
            <a:endParaRPr lang="en-US" sz="1200" dirty="0">
              <a:solidFill>
                <a:schemeClr val="bg1"/>
              </a:solidFill>
            </a:endParaRPr>
          </a:p>
          <a:p>
            <a:r>
              <a:rPr lang="en-US" sz="1200" dirty="0">
                <a:solidFill>
                  <a:schemeClr val="bg1"/>
                </a:solidFill>
              </a:rPr>
              <a:t>A key component of this design is the direct observation of participants as they take part in relevant activities.</a:t>
            </a:r>
            <a:endParaRPr lang="en-GB" sz="1200" noProof="0" dirty="0">
              <a:solidFill>
                <a:schemeClr val="bg1"/>
              </a:solidFill>
            </a:endParaRPr>
          </a:p>
        </p:txBody>
      </p:sp>
      <p:sp>
        <p:nvSpPr>
          <p:cNvPr id="15" name="TextBox 14">
            <a:extLst>
              <a:ext uri="{FF2B5EF4-FFF2-40B4-BE49-F238E27FC236}">
                <a16:creationId xmlns:a16="http://schemas.microsoft.com/office/drawing/2014/main" id="{49258B35-99F7-826F-3A58-50DE3F2860F7}"/>
              </a:ext>
            </a:extLst>
          </p:cNvPr>
          <p:cNvSpPr txBox="1"/>
          <p:nvPr/>
        </p:nvSpPr>
        <p:spPr>
          <a:xfrm>
            <a:off x="787563" y="4380727"/>
            <a:ext cx="593674" cy="584775"/>
          </a:xfrm>
          <a:prstGeom prst="rect">
            <a:avLst/>
          </a:prstGeom>
          <a:noFill/>
        </p:spPr>
        <p:txBody>
          <a:bodyPr wrap="square">
            <a:spAutoFit/>
          </a:bodyPr>
          <a:lstStyle/>
          <a:p>
            <a:r>
              <a:rPr lang="en-GB" sz="3200" noProof="0" dirty="0">
                <a:solidFill>
                  <a:schemeClr val="accent1">
                    <a:lumMod val="75000"/>
                  </a:schemeClr>
                </a:solidFill>
                <a:latin typeface="Aptos Black" panose="020B0004020202020204" pitchFamily="34" charset="0"/>
              </a:rPr>
              <a:t>3.</a:t>
            </a:r>
            <a:endParaRPr lang="en-GB" sz="3200" b="1" noProof="0" dirty="0">
              <a:solidFill>
                <a:schemeClr val="accent1">
                  <a:lumMod val="75000"/>
                </a:schemeClr>
              </a:solidFill>
              <a:latin typeface="Aptos Black" panose="020B0004020202020204" pitchFamily="34" charset="0"/>
            </a:endParaRPr>
          </a:p>
        </p:txBody>
      </p:sp>
      <p:sp>
        <p:nvSpPr>
          <p:cNvPr id="16" name="TextBox 15">
            <a:extLst>
              <a:ext uri="{FF2B5EF4-FFF2-40B4-BE49-F238E27FC236}">
                <a16:creationId xmlns:a16="http://schemas.microsoft.com/office/drawing/2014/main" id="{C223466D-1D7E-5396-0569-36F81859B218}"/>
              </a:ext>
            </a:extLst>
          </p:cNvPr>
          <p:cNvSpPr txBox="1"/>
          <p:nvPr/>
        </p:nvSpPr>
        <p:spPr>
          <a:xfrm>
            <a:off x="1266627" y="4429819"/>
            <a:ext cx="4715073" cy="502702"/>
          </a:xfrm>
          <a:prstGeom prst="rect">
            <a:avLst/>
          </a:prstGeom>
          <a:noFill/>
        </p:spPr>
        <p:txBody>
          <a:bodyPr wrap="square">
            <a:spAutoFit/>
          </a:bodyPr>
          <a:lstStyle/>
          <a:p>
            <a:pPr>
              <a:lnSpc>
                <a:spcPts val="1600"/>
              </a:lnSpc>
            </a:pPr>
            <a:r>
              <a:rPr lang="en-US" sz="1400" b="1" dirty="0">
                <a:solidFill>
                  <a:schemeClr val="accent1">
                    <a:lumMod val="75000"/>
                  </a:schemeClr>
                </a:solidFill>
              </a:rPr>
              <a:t>Mixed Methods Approach: </a:t>
            </a:r>
            <a:r>
              <a:rPr lang="en-US" sz="1400" dirty="0">
                <a:solidFill>
                  <a:schemeClr val="accent1">
                    <a:lumMod val="75000"/>
                  </a:schemeClr>
                </a:solidFill>
              </a:rPr>
              <a:t>Pragmatic</a:t>
            </a:r>
            <a:r>
              <a:rPr lang="en-US" sz="1400" b="1" dirty="0">
                <a:solidFill>
                  <a:schemeClr val="accent1">
                    <a:lumMod val="75000"/>
                  </a:schemeClr>
                </a:solidFill>
              </a:rPr>
              <a:t> </a:t>
            </a:r>
            <a:r>
              <a:rPr lang="en-US" sz="1400" dirty="0">
                <a:solidFill>
                  <a:schemeClr val="accent1">
                    <a:lumMod val="75000"/>
                  </a:schemeClr>
                </a:solidFill>
              </a:rPr>
              <a:t>Perspective</a:t>
            </a:r>
          </a:p>
          <a:p>
            <a:pPr>
              <a:lnSpc>
                <a:spcPts val="1600"/>
              </a:lnSpc>
            </a:pPr>
            <a:r>
              <a:rPr lang="en-US" sz="1400" b="1" dirty="0">
                <a:solidFill>
                  <a:schemeClr val="accent1">
                    <a:lumMod val="75000"/>
                  </a:schemeClr>
                </a:solidFill>
              </a:rPr>
              <a:t>Design: </a:t>
            </a:r>
            <a:r>
              <a:rPr lang="en-US" sz="1400" dirty="0">
                <a:solidFill>
                  <a:schemeClr val="accent1">
                    <a:lumMod val="75000"/>
                  </a:schemeClr>
                </a:solidFill>
              </a:rPr>
              <a:t>Sequential explanatory design</a:t>
            </a:r>
            <a:endParaRPr lang="en-GB" sz="1400" noProof="0" dirty="0">
              <a:solidFill>
                <a:schemeClr val="accent1">
                  <a:lumMod val="75000"/>
                </a:schemeClr>
              </a:solidFill>
              <a:latin typeface="Corbel" panose="020B0503020204020204" pitchFamily="34" charset="0"/>
            </a:endParaRPr>
          </a:p>
        </p:txBody>
      </p:sp>
      <p:sp>
        <p:nvSpPr>
          <p:cNvPr id="19" name="TextBox 18">
            <a:extLst>
              <a:ext uri="{FF2B5EF4-FFF2-40B4-BE49-F238E27FC236}">
                <a16:creationId xmlns:a16="http://schemas.microsoft.com/office/drawing/2014/main" id="{757C62BC-45D9-0A34-5931-6D54672958FE}"/>
              </a:ext>
            </a:extLst>
          </p:cNvPr>
          <p:cNvSpPr txBox="1"/>
          <p:nvPr/>
        </p:nvSpPr>
        <p:spPr>
          <a:xfrm>
            <a:off x="891589" y="5014594"/>
            <a:ext cx="10254159" cy="1200329"/>
          </a:xfrm>
          <a:prstGeom prst="rect">
            <a:avLst/>
          </a:prstGeom>
          <a:noFill/>
        </p:spPr>
        <p:txBody>
          <a:bodyPr wrap="square">
            <a:spAutoFit/>
          </a:bodyPr>
          <a:lstStyle>
            <a:defPPr>
              <a:defRPr lang="en-US"/>
            </a:defPPr>
            <a:lvl1pPr>
              <a:defRPr>
                <a:solidFill>
                  <a:schemeClr val="bg1">
                    <a:lumMod val="65000"/>
                  </a:schemeClr>
                </a:solidFill>
              </a:defRPr>
            </a:lvl1pPr>
          </a:lstStyle>
          <a:p>
            <a:r>
              <a:rPr lang="en-US" sz="1200" dirty="0">
                <a:solidFill>
                  <a:schemeClr val="bg1"/>
                </a:solidFill>
              </a:rPr>
              <a:t>Mixed methods research </a:t>
            </a:r>
            <a:r>
              <a:rPr lang="en-US" sz="1200" dirty="0">
                <a:solidFill>
                  <a:schemeClr val="tx1"/>
                </a:solidFill>
                <a:highlight>
                  <a:srgbClr val="FFC000"/>
                </a:highlight>
              </a:rPr>
              <a:t>assumes that collecting multiple types of data provides a more complete understanding of a research problem than relying solely on quantitative or qualitative evidence</a:t>
            </a:r>
            <a:r>
              <a:rPr lang="en-US" sz="1200" dirty="0">
                <a:solidFill>
                  <a:schemeClr val="bg1"/>
                </a:solidFill>
              </a:rPr>
              <a:t>.</a:t>
            </a:r>
          </a:p>
          <a:p>
            <a:endParaRPr lang="en-US" sz="1200" dirty="0">
              <a:solidFill>
                <a:schemeClr val="bg1"/>
              </a:solidFill>
            </a:endParaRPr>
          </a:p>
          <a:p>
            <a:pPr marL="171450" indent="-171450">
              <a:buFont typeface="Arial" panose="020B0604020202020204" pitchFamily="34" charset="0"/>
              <a:buChar char="•"/>
            </a:pPr>
            <a:r>
              <a:rPr lang="en-US" sz="1200" dirty="0">
                <a:solidFill>
                  <a:schemeClr val="bg1"/>
                </a:solidFill>
              </a:rPr>
              <a:t>The study begins with a broad survey, allowing the researcher to </a:t>
            </a:r>
            <a:r>
              <a:rPr lang="en-US" sz="1200" dirty="0" err="1">
                <a:solidFill>
                  <a:schemeClr val="bg1"/>
                </a:solidFill>
              </a:rPr>
              <a:t>generalise</a:t>
            </a:r>
            <a:r>
              <a:rPr lang="en-US" sz="1200" dirty="0">
                <a:solidFill>
                  <a:schemeClr val="bg1"/>
                </a:solidFill>
              </a:rPr>
              <a:t> findings to a population.</a:t>
            </a:r>
          </a:p>
          <a:p>
            <a:pPr marL="171450" indent="-171450">
              <a:buFont typeface="Arial" panose="020B0604020202020204" pitchFamily="34" charset="0"/>
              <a:buChar char="•"/>
            </a:pPr>
            <a:r>
              <a:rPr lang="en-US" sz="1200" dirty="0">
                <a:solidFill>
                  <a:schemeClr val="bg1"/>
                </a:solidFill>
              </a:rPr>
              <a:t>In a second phase, open‑ended qualitative interviews are conducted to obtain detailed perspectives that help explain the results of the initial quantitative phase.</a:t>
            </a:r>
            <a:endParaRPr lang="en-GB" sz="1200" b="1" noProof="0" dirty="0">
              <a:solidFill>
                <a:schemeClr val="bg1"/>
              </a:solidFill>
            </a:endParaRPr>
          </a:p>
        </p:txBody>
      </p:sp>
      <p:sp>
        <p:nvSpPr>
          <p:cNvPr id="5" name="Rectangle 4">
            <a:extLst>
              <a:ext uri="{FF2B5EF4-FFF2-40B4-BE49-F238E27FC236}">
                <a16:creationId xmlns:a16="http://schemas.microsoft.com/office/drawing/2014/main" id="{DDF74147-1D20-AFE0-32D5-5B26BE7A9FDE}"/>
              </a:ext>
            </a:extLst>
          </p:cNvPr>
          <p:cNvSpPr/>
          <p:nvPr/>
        </p:nvSpPr>
        <p:spPr>
          <a:xfrm>
            <a:off x="176555" y="6356348"/>
            <a:ext cx="2574266" cy="412752"/>
          </a:xfrm>
          <a:prstGeom prst="rect">
            <a:avLst/>
          </a:prstGeom>
          <a:solidFill>
            <a:srgbClr val="EA21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978374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2" grpId="0"/>
      <p:bldP spid="13" grpId="0"/>
      <p:bldP spid="14" grpId="0"/>
      <p:bldP spid="15" grpId="0"/>
      <p:bldP spid="16" grpId="0"/>
      <p:bldP spid="19"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6F36F319-5759-61DF-D604-616C2605572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EB5044-0CA5-7FF1-7F1F-A7A8E43D2B9D}"/>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23B1FE4F-79D7-A2B1-0EE5-4A41F50D5F8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27/03/2026</a:t>
            </a:fld>
            <a:endParaRPr kumimoji="0" lang="en-GB"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B730748B-3982-AE4F-855B-A34A70D22D9A}"/>
              </a:ext>
            </a:extLst>
          </p:cNvPr>
          <p:cNvSpPr txBox="1">
            <a:spLocks/>
          </p:cNvSpPr>
          <p:nvPr/>
        </p:nvSpPr>
        <p:spPr>
          <a:xfrm>
            <a:off x="891589" y="501650"/>
            <a:ext cx="4480511" cy="63182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dirty="0">
                <a:solidFill>
                  <a:prstClr val="white">
                    <a:lumMod val="95000"/>
                  </a:prstClr>
                </a:solidFill>
                <a:latin typeface="Aptos SemiBold" panose="020F0502020204030204" pitchFamily="34" charset="0"/>
              </a:rPr>
              <a:t>Research approaches</a:t>
            </a:r>
          </a:p>
        </p:txBody>
      </p:sp>
      <p:sp>
        <p:nvSpPr>
          <p:cNvPr id="11" name="TextBox 10">
            <a:extLst>
              <a:ext uri="{FF2B5EF4-FFF2-40B4-BE49-F238E27FC236}">
                <a16:creationId xmlns:a16="http://schemas.microsoft.com/office/drawing/2014/main" id="{ACAF52B2-0F6D-BA5E-6681-7DE644EC0FBA}"/>
              </a:ext>
            </a:extLst>
          </p:cNvPr>
          <p:cNvSpPr txBox="1"/>
          <p:nvPr/>
        </p:nvSpPr>
        <p:spPr>
          <a:xfrm>
            <a:off x="7315368" y="1012954"/>
            <a:ext cx="4343611" cy="4832092"/>
          </a:xfrm>
          <a:prstGeom prst="rect">
            <a:avLst/>
          </a:prstGeom>
          <a:noFill/>
        </p:spPr>
        <p:txBody>
          <a:bodyPr wrap="square">
            <a:spAutoFit/>
          </a:bodyPr>
          <a:lstStyle/>
          <a:p>
            <a:r>
              <a:rPr lang="en-GB" sz="3200" b="1" noProof="0" dirty="0">
                <a:solidFill>
                  <a:srgbClr val="DF102C"/>
                </a:solidFill>
              </a:rPr>
              <a:t>📑 </a:t>
            </a:r>
            <a:r>
              <a:rPr lang="en-GB" b="1" noProof="0" dirty="0">
                <a:solidFill>
                  <a:schemeClr val="bg1"/>
                </a:solidFill>
              </a:rPr>
              <a:t>week 2 reading:</a:t>
            </a:r>
            <a:br>
              <a:rPr lang="en-GB" b="1" noProof="0" dirty="0">
                <a:solidFill>
                  <a:schemeClr val="bg1"/>
                </a:solidFill>
              </a:rPr>
            </a:br>
            <a:br>
              <a:rPr lang="en-GB" b="1" noProof="0" dirty="0">
                <a:solidFill>
                  <a:schemeClr val="bg1"/>
                </a:solidFill>
              </a:rPr>
            </a:br>
            <a:r>
              <a:rPr lang="en-GB" sz="1600" b="1" noProof="0" dirty="0">
                <a:solidFill>
                  <a:schemeClr val="accent1">
                    <a:lumMod val="75000"/>
                  </a:schemeClr>
                </a:solidFill>
                <a:hlinkClick r:id="rId3">
                  <a:extLst>
                    <a:ext uri="{A12FA001-AC4F-418D-AE19-62706E023703}">
                      <ahyp:hlinkClr xmlns:ahyp="http://schemas.microsoft.com/office/drawing/2018/hyperlinkcolor" val="tx"/>
                    </a:ext>
                  </a:extLst>
                </a:hlinkClick>
              </a:rPr>
              <a:t>The Dictatorship of the Problem Choosing Research Methods</a:t>
            </a:r>
            <a:endParaRPr lang="en-GB" sz="1600" b="1" noProof="0" dirty="0">
              <a:solidFill>
                <a:schemeClr val="accent1">
                  <a:lumMod val="75000"/>
                </a:schemeClr>
              </a:solidFill>
            </a:endParaRPr>
          </a:p>
          <a:p>
            <a:endParaRPr lang="en-GB" sz="1600" b="1" noProof="0" dirty="0">
              <a:solidFill>
                <a:schemeClr val="accent1">
                  <a:lumMod val="75000"/>
                </a:schemeClr>
              </a:solidFill>
            </a:endParaRPr>
          </a:p>
          <a:p>
            <a:pPr marL="342900" indent="-342900">
              <a:buFont typeface="+mj-lt"/>
              <a:buAutoNum type="arabicPeriod"/>
            </a:pPr>
            <a:r>
              <a:rPr lang="en-US" sz="1400" b="1" noProof="0" dirty="0">
                <a:solidFill>
                  <a:schemeClr val="bg1"/>
                </a:solidFill>
              </a:rPr>
              <a:t>What kinds of perspectives are present within your group that might influence your choice of research methodology?</a:t>
            </a:r>
          </a:p>
          <a:p>
            <a:pPr marL="342900" indent="-342900">
              <a:buFont typeface="+mj-lt"/>
              <a:buAutoNum type="arabicPeriod"/>
            </a:pPr>
            <a:endParaRPr lang="en-GB" sz="1400" noProof="0" dirty="0">
              <a:solidFill>
                <a:schemeClr val="bg1"/>
              </a:solidFill>
            </a:endParaRPr>
          </a:p>
          <a:p>
            <a:pPr marL="342900" indent="-342900">
              <a:buFont typeface="+mj-lt"/>
              <a:buAutoNum type="arabicPeriod"/>
            </a:pPr>
            <a:r>
              <a:rPr lang="en-US" sz="1400" noProof="0" dirty="0">
                <a:solidFill>
                  <a:schemeClr val="bg1"/>
                </a:solidFill>
              </a:rPr>
              <a:t>Vogt suggests six guiding questions to help select an appropriate research design. </a:t>
            </a:r>
            <a:r>
              <a:rPr lang="en-US" sz="1400" noProof="0" dirty="0">
                <a:highlight>
                  <a:srgbClr val="FFC000"/>
                </a:highlight>
              </a:rPr>
              <a:t>Based on your current topic drafts and project ideas</a:t>
            </a:r>
            <a:r>
              <a:rPr lang="en-US" sz="1400" noProof="0" dirty="0">
                <a:solidFill>
                  <a:schemeClr val="bg1"/>
                </a:solidFill>
              </a:rPr>
              <a:t>, why would the other approaches not be suitable for your research?</a:t>
            </a:r>
          </a:p>
          <a:p>
            <a:pPr marL="342900" indent="-342900">
              <a:buFont typeface="+mj-lt"/>
              <a:buAutoNum type="arabicPeriod"/>
            </a:pPr>
            <a:endParaRPr lang="en-GB" sz="1400" noProof="0" dirty="0">
              <a:solidFill>
                <a:schemeClr val="bg1"/>
              </a:solidFill>
            </a:endParaRPr>
          </a:p>
          <a:p>
            <a:pPr marL="342900" indent="-342900">
              <a:buFont typeface="+mj-lt"/>
              <a:buAutoNum type="arabicPeriod"/>
            </a:pPr>
            <a:r>
              <a:rPr lang="en-US" sz="1400" noProof="0" dirty="0">
                <a:solidFill>
                  <a:schemeClr val="bg1"/>
                </a:solidFill>
              </a:rPr>
              <a:t>The author argues that research design is the first stage in a natural sequence of methodological decision‑making. </a:t>
            </a:r>
            <a:r>
              <a:rPr lang="en-US" sz="1400" noProof="0" dirty="0">
                <a:highlight>
                  <a:srgbClr val="FFC000"/>
                </a:highlight>
              </a:rPr>
              <a:t>Given this, which approach would be most effective for communicating with your intended audience, and why?</a:t>
            </a:r>
            <a:endParaRPr lang="en-GB" sz="1400" b="1" noProof="0" dirty="0">
              <a:highlight>
                <a:srgbClr val="FFC000"/>
              </a:highlight>
            </a:endParaRPr>
          </a:p>
        </p:txBody>
      </p:sp>
      <p:sp>
        <p:nvSpPr>
          <p:cNvPr id="5" name="Rectangle 4">
            <a:extLst>
              <a:ext uri="{FF2B5EF4-FFF2-40B4-BE49-F238E27FC236}">
                <a16:creationId xmlns:a16="http://schemas.microsoft.com/office/drawing/2014/main" id="{BB3B6F18-18F8-7A24-ABBC-090ABEB70CC5}"/>
              </a:ext>
            </a:extLst>
          </p:cNvPr>
          <p:cNvSpPr/>
          <p:nvPr/>
        </p:nvSpPr>
        <p:spPr>
          <a:xfrm>
            <a:off x="176555" y="6356348"/>
            <a:ext cx="2574266" cy="412752"/>
          </a:xfrm>
          <a:prstGeom prst="rect">
            <a:avLst/>
          </a:prstGeom>
          <a:solidFill>
            <a:srgbClr val="EA21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nvGrpSpPr>
          <p:cNvPr id="12" name="Group 11">
            <a:extLst>
              <a:ext uri="{FF2B5EF4-FFF2-40B4-BE49-F238E27FC236}">
                <a16:creationId xmlns:a16="http://schemas.microsoft.com/office/drawing/2014/main" id="{5759FD4F-1745-C51C-3D15-6CF60C41F8C0}"/>
              </a:ext>
            </a:extLst>
          </p:cNvPr>
          <p:cNvGrpSpPr/>
          <p:nvPr/>
        </p:nvGrpSpPr>
        <p:grpSpPr>
          <a:xfrm>
            <a:off x="533021" y="2068132"/>
            <a:ext cx="6399254" cy="3353558"/>
            <a:chOff x="533021" y="2068132"/>
            <a:chExt cx="6399254" cy="3353558"/>
          </a:xfrm>
        </p:grpSpPr>
        <p:sp>
          <p:nvSpPr>
            <p:cNvPr id="9" name="Rectangle: Rounded Corners 8">
              <a:extLst>
                <a:ext uri="{FF2B5EF4-FFF2-40B4-BE49-F238E27FC236}">
                  <a16:creationId xmlns:a16="http://schemas.microsoft.com/office/drawing/2014/main" id="{47CF86F3-EAB5-73BF-CD35-F05288157EC2}"/>
                </a:ext>
              </a:extLst>
            </p:cNvPr>
            <p:cNvSpPr/>
            <p:nvPr/>
          </p:nvSpPr>
          <p:spPr>
            <a:xfrm>
              <a:off x="644651" y="2211384"/>
              <a:ext cx="6186677" cy="3067051"/>
            </a:xfrm>
            <a:prstGeom prst="roundRect">
              <a:avLst>
                <a:gd name="adj" fmla="val 1027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hlinkClick r:id="rId4"/>
              <a:extLst>
                <a:ext uri="{FF2B5EF4-FFF2-40B4-BE49-F238E27FC236}">
                  <a16:creationId xmlns:a16="http://schemas.microsoft.com/office/drawing/2014/main" id="{1ECD2DF5-5B3C-D876-9631-F883575CC6C8}"/>
                </a:ext>
              </a:extLst>
            </p:cNvPr>
            <p:cNvPicPr>
              <a:picLocks noChangeAspect="1"/>
            </p:cNvPicPr>
            <p:nvPr/>
          </p:nvPicPr>
          <p:blipFill>
            <a:blip r:embed="rId5"/>
            <a:stretch>
              <a:fillRect/>
            </a:stretch>
          </p:blipFill>
          <p:spPr>
            <a:xfrm>
              <a:off x="1609346" y="2133808"/>
              <a:ext cx="4581903" cy="3222204"/>
            </a:xfrm>
            <a:prstGeom prst="roundRect">
              <a:avLst>
                <a:gd name="adj" fmla="val 7503"/>
              </a:avLst>
            </a:prstGeom>
          </p:spPr>
        </p:pic>
        <p:pic>
          <p:nvPicPr>
            <p:cNvPr id="8" name="Picture 7">
              <a:hlinkClick r:id="rId3"/>
              <a:extLst>
                <a:ext uri="{FF2B5EF4-FFF2-40B4-BE49-F238E27FC236}">
                  <a16:creationId xmlns:a16="http://schemas.microsoft.com/office/drawing/2014/main" id="{81AC352A-B8C6-9816-4B86-A6BF63B04628}"/>
                </a:ext>
              </a:extLst>
            </p:cNvPr>
            <p:cNvPicPr/>
            <p:nvPr/>
          </p:nvPicPr>
          <p:blipFill>
            <a:blip r:embed="rId6">
              <a:clrChange>
                <a:clrFrom>
                  <a:srgbClr val="FFFFFF"/>
                </a:clrFrom>
                <a:clrTo>
                  <a:srgbClr val="FFFFFF">
                    <a:alpha val="0"/>
                  </a:srgbClr>
                </a:clrTo>
              </a:clrChange>
            </a:blip>
            <a:stretch>
              <a:fillRect/>
            </a:stretch>
          </p:blipFill>
          <p:spPr>
            <a:xfrm rot="16200000">
              <a:off x="2055869" y="545284"/>
              <a:ext cx="3353558" cy="6399254"/>
            </a:xfrm>
            <a:prstGeom prst="rect">
              <a:avLst/>
            </a:prstGeom>
          </p:spPr>
        </p:pic>
      </p:grpSp>
    </p:spTree>
    <p:extLst>
      <p:ext uri="{BB962C8B-B14F-4D97-AF65-F5344CB8AC3E}">
        <p14:creationId xmlns:p14="http://schemas.microsoft.com/office/powerpoint/2010/main" val="2151296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797</TotalTime>
  <Words>5731</Words>
  <Application>Microsoft Office PowerPoint</Application>
  <PresentationFormat>Widescreen</PresentationFormat>
  <Paragraphs>811</Paragraphs>
  <Slides>49</Slides>
  <Notes>34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49</vt:i4>
      </vt:variant>
    </vt:vector>
  </HeadingPairs>
  <TitlesOfParts>
    <vt:vector size="62" baseType="lpstr">
      <vt:lpstr>Aptos</vt:lpstr>
      <vt:lpstr>Aptos Black</vt:lpstr>
      <vt:lpstr>Aptos Display</vt:lpstr>
      <vt:lpstr>Aptos Light</vt:lpstr>
      <vt:lpstr>Aptos SemiBold</vt:lpstr>
      <vt:lpstr>Arial</vt:lpstr>
      <vt:lpstr>Cambria Math</vt:lpstr>
      <vt:lpstr>Corbel</vt:lpstr>
      <vt:lpstr>Corbel Light</vt:lpstr>
      <vt:lpstr>Open Sans</vt:lpstr>
      <vt:lpstr>Roboto</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Luis Carlos Guevara</cp:lastModifiedBy>
  <cp:revision>9</cp:revision>
  <dcterms:created xsi:type="dcterms:W3CDTF">2024-06-30T19:22:33Z</dcterms:created>
  <dcterms:modified xsi:type="dcterms:W3CDTF">2026-03-27T16:23:24Z</dcterms:modified>
</cp:coreProperties>
</file>